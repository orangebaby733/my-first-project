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313" r:id="rId2"/>
    <p:sldId id="314" r:id="rId3"/>
    <p:sldId id="315" r:id="rId4"/>
    <p:sldId id="259" r:id="rId5"/>
    <p:sldId id="260" r:id="rId6"/>
    <p:sldId id="261" r:id="rId7"/>
    <p:sldId id="262" r:id="rId8"/>
    <p:sldId id="318" r:id="rId9"/>
    <p:sldId id="263" r:id="rId10"/>
    <p:sldId id="264" r:id="rId11"/>
    <p:sldId id="265" r:id="rId12"/>
    <p:sldId id="266" r:id="rId13"/>
    <p:sldId id="267" r:id="rId14"/>
    <p:sldId id="268" r:id="rId15"/>
    <p:sldId id="269" r:id="rId16"/>
    <p:sldId id="317" r:id="rId17"/>
    <p:sldId id="270" r:id="rId18"/>
    <p:sldId id="271" r:id="rId19"/>
    <p:sldId id="272" r:id="rId20"/>
    <p:sldId id="273" r:id="rId21"/>
    <p:sldId id="274" r:id="rId22"/>
    <p:sldId id="275" r:id="rId23"/>
    <p:sldId id="277" r:id="rId24"/>
    <p:sldId id="278" r:id="rId25"/>
    <p:sldId id="279" r:id="rId26"/>
    <p:sldId id="280" r:id="rId27"/>
    <p:sldId id="319"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320" r:id="rId46"/>
    <p:sldId id="300" r:id="rId47"/>
    <p:sldId id="301" r:id="rId48"/>
    <p:sldId id="302" r:id="rId49"/>
    <p:sldId id="303" r:id="rId50"/>
    <p:sldId id="304" r:id="rId51"/>
    <p:sldId id="305" r:id="rId52"/>
    <p:sldId id="321" r:id="rId53"/>
    <p:sldId id="307" r:id="rId54"/>
    <p:sldId id="308" r:id="rId55"/>
    <p:sldId id="309" r:id="rId56"/>
    <p:sldId id="310" r:id="rId57"/>
    <p:sldId id="311" r:id="rId58"/>
    <p:sldId id="312" r:id="rId59"/>
  </p:sldIdLst>
  <p:sldSz cx="12192000" cy="6864350"/>
  <p:notesSz cx="6858000" cy="9144000"/>
  <p:defaultText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defaultTextStyle>
  <p:extLst>
    <p:ext uri="{521415D9-36F7-43E2-AB2F-B90AF26B5E84}">
      <p14:sectionLst xmlns:p14="http://schemas.microsoft.com/office/powerpoint/2010/main">
        <p14:section name="第一课时｜原理与基本知识" id="{AB47F524-1083-43D9-9076-AB3536C03301}">
          <p14:sldIdLst>
            <p14:sldId id="313"/>
            <p14:sldId id="314"/>
            <p14:sldId id="315"/>
            <p14:sldId id="259"/>
            <p14:sldId id="260"/>
            <p14:sldId id="261"/>
            <p14:sldId id="262"/>
            <p14:sldId id="318"/>
            <p14:sldId id="263"/>
            <p14:sldId id="264"/>
            <p14:sldId id="265"/>
            <p14:sldId id="266"/>
            <p14:sldId id="267"/>
            <p14:sldId id="268"/>
            <p14:sldId id="269"/>
            <p14:sldId id="317"/>
            <p14:sldId id="270"/>
            <p14:sldId id="271"/>
            <p14:sldId id="272"/>
            <p14:sldId id="273"/>
            <p14:sldId id="274"/>
            <p14:sldId id="275"/>
            <p14:sldId id="277"/>
            <p14:sldId id="278"/>
            <p14:sldId id="279"/>
            <p14:sldId id="280"/>
          </p14:sldIdLst>
        </p14:section>
        <p14:section name="第二课时｜数据中心应用与液冷融合" id="{AB47F524-1083-43D9-9076-AB3536C03302}">
          <p14:sldIdLst>
            <p14:sldId id="319"/>
            <p14:sldId id="282"/>
            <p14:sldId id="283"/>
            <p14:sldId id="284"/>
            <p14:sldId id="285"/>
            <p14:sldId id="286"/>
            <p14:sldId id="287"/>
            <p14:sldId id="288"/>
            <p14:sldId id="289"/>
            <p14:sldId id="290"/>
            <p14:sldId id="291"/>
            <p14:sldId id="292"/>
            <p14:sldId id="293"/>
            <p14:sldId id="294"/>
            <p14:sldId id="295"/>
            <p14:sldId id="296"/>
            <p14:sldId id="297"/>
            <p14:sldId id="298"/>
            <p14:sldId id="320"/>
            <p14:sldId id="300"/>
            <p14:sldId id="301"/>
            <p14:sldId id="302"/>
            <p14:sldId id="303"/>
            <p14:sldId id="304"/>
            <p14:sldId id="305"/>
            <p14:sldId id="321"/>
            <p14:sldId id="307"/>
            <p14:sldId id="308"/>
            <p14:sldId id="309"/>
            <p14:sldId id="310"/>
            <p14:sldId id="311"/>
            <p14:sldId id="31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DBEEF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417" autoAdjust="0"/>
  </p:normalViewPr>
  <p:slideViewPr>
    <p:cSldViewPr snapToGrid="0" snapToObjects="1">
      <p:cViewPr varScale="1">
        <p:scale>
          <a:sx n="75" d="100"/>
          <a:sy n="75" d="100"/>
        </p:scale>
        <p:origin x="123" y="2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0856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同学们好，今天这次课的主题是间接蒸发冷却技术，以及它在数据中心中的应用。大家已经学过湿空气、传热和空调系统，今天我们把这些知识放到一个具体场景里，看看服务器产生的热量怎样一步一步排到室外。</a:t>
            </a:r>
            <a:endParaRPr lang="zh-CN" sz="1200"/>
          </a:p>
          <a:p>
            <a:pPr algn="l"/>
            <a:r>
              <a:rPr lang="zh-CN" sz="1200">
                <a:latin typeface="Times New Roman"/>
                <a:ea typeface="Microsoft YaHei"/>
                <a:cs typeface="Times New Roman"/>
              </a:rPr>
              <a:t>数据中心有一个很突出的特点：只要服务器在工作，散热就不能停。冷却系统既要把热量带走，又要尽量少用电，而且还得应对设备故障、停水和极端天气。这也正是蒸发冷却值得研究的原因。</a:t>
            </a:r>
            <a:endParaRPr lang="zh-CN" sz="1200"/>
          </a:p>
          <a:p>
            <a:pPr algn="l"/>
            <a:r>
              <a:rPr lang="zh-CN" sz="1200">
                <a:latin typeface="Times New Roman"/>
                <a:ea typeface="Microsoft YaHei"/>
                <a:cs typeface="Times New Roman"/>
              </a:rPr>
              <a:t>这次课中的部分图示和案例参考了黄翔教授的相关研究报告。我们先从蒸发过程讲起，再看设备和系统怎样组合，最后讨论蒸发冷却与液冷如何配合。</a:t>
            </a:r>
            <a:endParaRPr lang="zh-CN" sz="120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蒸发冷却在国内的研究已经有较长时间。这里展示的是陈沛霖教授早期开展相关研究和交流的资料。这些工作推动了蒸发冷却在国内空调领域的研究和应用，也让大家逐渐认识到，室外空气除了有温度高低的差别，还有干燥程度的差别，而后者同样可以成为利用自然冷源的条件。</a:t>
            </a:r>
            <a:endParaRPr lang="zh-CN" sz="1200"/>
          </a:p>
          <a:p>
            <a:pPr algn="l"/>
            <a:r>
              <a:rPr lang="zh-CN" sz="1200">
                <a:latin typeface="Times New Roman"/>
                <a:ea typeface="Microsoft YaHei"/>
                <a:cs typeface="Times New Roman"/>
              </a:rPr>
              <a:t>这项技术的基本物理过程并不新。水蒸发要吸热，这是大家熟悉的常识。真正落实到空调工程，需要把空气、水和换热表面组织起来，让过程稳定发生，并获得足够的冷量。</a:t>
            </a:r>
            <a:endParaRPr lang="zh-CN" sz="1200"/>
          </a:p>
          <a:p>
            <a:pPr algn="l"/>
            <a:r>
              <a:rPr lang="zh-CN" sz="1200">
                <a:latin typeface="Times New Roman"/>
                <a:ea typeface="Microsoft YaHei"/>
                <a:cs typeface="Times New Roman"/>
              </a:rPr>
              <a:t>因此，今天讲的新技术，主要体现在换热器结构、设备集成和系统运行上。我们既要关心一次试验能降多少度，也要关心长期运行以后性能还能保持多少，以及维护和用水是否可接受。</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这页列出了早期关于蒸发冷却的研究资料。可以看到，当时已经开始讨论这项技术在不同地区的应用，并提出要开发高效、实用的间接蒸发冷却设备。</a:t>
            </a:r>
            <a:endParaRPr lang="zh-CN" sz="1200"/>
          </a:p>
          <a:p>
            <a:pPr algn="l"/>
            <a:r>
              <a:rPr lang="zh-CN" sz="1200">
                <a:latin typeface="Times New Roman"/>
                <a:ea typeface="Microsoft YaHei"/>
                <a:cs typeface="Times New Roman"/>
              </a:rPr>
              <a:t>大家以后查文献时，也会遇到这种情况：一个原理很早就被认识到了，但工程问题并没有因此全部解决。比如，同样利用水蒸发，不同换热器的润湿程度、风阻和占地可能差很多；同一台设备换一个地方，室外湿球温度不同，全年运行表现也会不同。</a:t>
            </a:r>
            <a:endParaRPr lang="zh-CN" sz="1200"/>
          </a:p>
          <a:p>
            <a:pPr algn="l"/>
            <a:r>
              <a:rPr lang="zh-CN" sz="1200">
                <a:latin typeface="Times New Roman"/>
                <a:ea typeface="Microsoft YaHei"/>
                <a:cs typeface="Times New Roman"/>
              </a:rPr>
              <a:t>所以，理解研究进展不能只看设备名称有没有变化。要看它解决了什么问题，改善来自哪里，又付出了哪些代价。对蒸发冷却来说，换热效率、风机功、水耗、设备体积和性能衰减，都是需要放在一起考察的量。后面读案例时，我们也按这个顺序来判断。</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这里用到了“干空气能”这个说法。它所描述的，是不饱和空气具有接纳水蒸气的能力。液态水变成水蒸气需要吸收汽化潜热，热量可以来自空气、水和与它接触的物体，于是我们就有机会利用蒸发来降温。</a:t>
            </a:r>
            <a:endParaRPr lang="zh-CN" sz="1200"/>
          </a:p>
          <a:p>
            <a:pPr algn="l"/>
            <a:r>
              <a:rPr lang="zh-CN" sz="1200">
                <a:latin typeface="Times New Roman"/>
                <a:ea typeface="Microsoft YaHei"/>
                <a:cs typeface="Times New Roman"/>
              </a:rPr>
              <a:t>大家在生活中应该有体会：同样很热，干燥天气和闷热天气，湿毛巾或湿皮肤的蒸发感觉很不一样。干燥空气距离饱和状态较远，水更容易继续蒸发；闷热天气下空气本来就比较潮湿，继续接纳水蒸气的能力减弱，蒸发降温的效果也会受到限制。</a:t>
            </a:r>
            <a:endParaRPr lang="zh-CN" sz="1200"/>
          </a:p>
          <a:p>
            <a:pPr algn="l"/>
            <a:r>
              <a:rPr lang="zh-CN" sz="1200">
                <a:latin typeface="Times New Roman"/>
                <a:ea typeface="Microsoft YaHei"/>
                <a:cs typeface="Times New Roman"/>
              </a:rPr>
              <a:t>因此，仅知道室外是三十五度，还不足以判断蒸发冷却效果。还要看它的湿球温度，以及干球和湿球之间有多大差距。常见条件下，这个差距越大，可利用的蒸发降温潜力通常越大。当然，设备面积、流量和运行状态还会决定这份潜力最终能利用多少。</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把这个过程和大家熟悉的湿空气知识联系起来，就更容易理解了。干球温度表示空气本身的温度；湿球温度与空气通过近似绝热蒸发所能接近的状态有关；露点温度则表示空气在含湿量不变的情况下，冷却到什么时候开始凝结出水。</a:t>
            </a:r>
            <a:endParaRPr lang="zh-CN" sz="1200"/>
          </a:p>
          <a:p>
            <a:pPr algn="l"/>
            <a:r>
              <a:rPr lang="zh-CN" sz="1200">
                <a:latin typeface="Times New Roman"/>
                <a:ea typeface="Microsoft YaHei"/>
                <a:cs typeface="Times New Roman"/>
              </a:rPr>
              <a:t>这三个温度不能混用。对于通常的不饱和空气，露点低于湿球，湿球低于干球；到了饱和状态，它们才会相等。</a:t>
            </a:r>
            <a:endParaRPr lang="zh-CN" sz="1200"/>
          </a:p>
          <a:p>
            <a:pPr algn="l"/>
            <a:r>
              <a:rPr lang="zh-CN" sz="1200">
                <a:latin typeface="Times New Roman"/>
                <a:ea typeface="Microsoft YaHei"/>
                <a:cs typeface="Times New Roman"/>
              </a:rPr>
              <a:t>图里也把冷媒循环和湿表面换热放在了一起。无论采用哪种方式，热量都要有最终去向。直接蒸发时，水在湿表面蒸发，处理空气同时降温、加湿。间接蒸发则把产品空气和湿侧工作空气分开，让工作空气带着水蒸气排出去。</a:t>
            </a:r>
            <a:endParaRPr lang="zh-CN" sz="1200"/>
          </a:p>
          <a:p>
            <a:pPr algn="l"/>
            <a:r>
              <a:rPr lang="zh-CN" sz="1200">
                <a:latin typeface="Times New Roman"/>
                <a:ea typeface="Microsoft YaHei"/>
                <a:cs typeface="Times New Roman"/>
              </a:rPr>
              <a:t>空气越接近饱和，继续蒸发的驱动力通常越小。这说明蒸发冷却的能力受空气状态约束。设备能够改善过程的组织方式，却不能绕开环境条件本身。</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蒸发冷却受到关注，一个主要原因是它能利用环境空气的蒸发潜力，减少某些工况下对压缩式制冷的依赖。室外条件合适时，设备可以主要依靠风机、水泵和换热过程供冷，压缩机的运行时间就有机会减少。</a:t>
            </a:r>
            <a:endParaRPr lang="zh-CN" sz="1200"/>
          </a:p>
          <a:p>
            <a:pPr algn="l"/>
            <a:r>
              <a:rPr lang="zh-CN" sz="1200">
                <a:latin typeface="Times New Roman"/>
                <a:ea typeface="Microsoft YaHei"/>
                <a:cs typeface="Times New Roman"/>
              </a:rPr>
              <a:t>不过，节能效果要放在完整系统里看。风机需要克服风道、过滤器和换热器的阻力，水泵需要维持布水和循环。为了控制盐分，还要补水、排污和清洗。因此，采用水蒸发，并不意味着系统没有电耗、没有用水，也不能直接等同于全生命周期零碳排放。</a:t>
            </a:r>
            <a:endParaRPr lang="zh-CN" sz="1200"/>
          </a:p>
          <a:p>
            <a:pPr algn="l"/>
            <a:r>
              <a:rPr lang="zh-CN" sz="1200">
                <a:latin typeface="Times New Roman"/>
                <a:ea typeface="Microsoft YaHei"/>
                <a:cs typeface="Times New Roman"/>
              </a:rPr>
              <a:t>比如，室外湿球过高，会使可用温降减小；换热器压降过大，会增加风机耗电；长期结垢或布水不均，会让原来测到的性能逐渐下降。判断一个方案是否划算，要把这些因素一起算进去。图上的优点需要通过合适的气候条件、设备设计和运行维护来实现。</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先看直接蒸发冷却。空气通过湿填料或其他湿表面，与水直接接触，一部分水蒸发到空气中，空气的显热转化为与水蒸气增加有关的能量，干球温度随之下降。这个过程通常可以近似看作等焓处理，但实际仍会受到补水和周围传热等因素影响。</a:t>
            </a:r>
            <a:endParaRPr lang="zh-CN" sz="1200"/>
          </a:p>
          <a:p>
            <a:pPr algn="l"/>
            <a:r>
              <a:rPr lang="zh-CN" sz="1200">
                <a:latin typeface="Times New Roman"/>
                <a:ea typeface="Microsoft YaHei"/>
                <a:cs typeface="Times New Roman"/>
              </a:rPr>
              <a:t>这一页中的送风来自室外空气。它经过蒸发处理以后进入机房，因此出口温度降低的同时，含湿量也会上升。对于能够接受这种湿度变化的工况，这是一个比较直接的处理方式。</a:t>
            </a:r>
            <a:endParaRPr lang="zh-CN" sz="1200"/>
          </a:p>
          <a:p>
            <a:pPr algn="l"/>
            <a:r>
              <a:rPr lang="zh-CN" sz="1200">
                <a:latin typeface="Times New Roman"/>
                <a:ea typeface="Microsoft YaHei"/>
                <a:cs typeface="Times New Roman"/>
              </a:rPr>
              <a:t>数据中心使用时，还必须检查服务器入口的温湿度、露点和空气品质。室外空气中的颗粒物、污染物以及天气变化，都可能影响运行，所以过滤和监测不能省掉。我们读这类方案时，既要看空气有没有降温，也要看处理后的空气能不能长期稳定地满足设备要求。</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这一页把直接蒸发冷却段与建筑空间结合起来了。空气沿风道进入处理区域，通过湿填料后，再送向机房。外形虽然和前面的独立机组不一样，空气接触水、降温并增加含湿量的基本过程是一样的。</a:t>
            </a:r>
            <a:endParaRPr lang="zh-CN" sz="1200"/>
          </a:p>
          <a:p>
            <a:pPr algn="l"/>
            <a:r>
              <a:rPr lang="zh-CN" sz="1200">
                <a:latin typeface="Times New Roman"/>
                <a:ea typeface="Microsoft YaHei"/>
                <a:cs typeface="Times New Roman"/>
              </a:rPr>
              <a:t>这种布置使土建空间成为空气处理系统的一部分。它会影响填料尺寸、迎面风速、风道阻力和检修方式，也关系到后期能否方便地清洗、换料和处理漏水。</a:t>
            </a:r>
            <a:endParaRPr lang="zh-CN" sz="1200"/>
          </a:p>
          <a:p>
            <a:pPr algn="l"/>
            <a:r>
              <a:rPr lang="zh-CN" sz="1200">
                <a:latin typeface="Times New Roman"/>
                <a:ea typeface="Microsoft YaHei"/>
                <a:cs typeface="Times New Roman"/>
              </a:rPr>
              <a:t>从设计上说，风道截面和设备空间要与需要的风量匹配。风量很大而处理空间过小，风速和阻力可能上升，风机功也会增加。布置更紧凑并不一定意味着运行更省。与此同时，直接引入室外空气的湿度和空气品质要求仍然存在，土建集成并不会改变这些边界条件。</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再看间接蒸发冷却。这里有两股需要分清的空气：一股是我们希望冷却的产品空气，在数据中心里通常对应机房循环空气；另一股是湿侧工作空气，通常来自室外。</a:t>
            </a:r>
            <a:endParaRPr lang="zh-CN" sz="1200"/>
          </a:p>
          <a:p>
            <a:pPr algn="l"/>
            <a:r>
              <a:rPr lang="zh-CN" sz="1200">
                <a:latin typeface="Times New Roman"/>
                <a:ea typeface="Microsoft YaHei"/>
                <a:cs typeface="Times New Roman"/>
              </a:rPr>
              <a:t>两股空气在隔板的两侧流动。产品空气把热量传给隔板，热量再传到湿侧，由水蒸发和工作空气的状态变化带走。湿热的工作空气随后排向室外。这样，我们可以利用室外空气的蒸发潜力，而不用把这股湿空气直接送进机房。</a:t>
            </a:r>
            <a:endParaRPr lang="zh-CN" sz="1200"/>
          </a:p>
          <a:p>
            <a:pPr algn="l"/>
            <a:r>
              <a:rPr lang="zh-CN" sz="1200">
                <a:latin typeface="Times New Roman"/>
                <a:ea typeface="Microsoft YaHei"/>
                <a:cs typeface="Times New Roman"/>
              </a:rPr>
              <a:t>在隔板完整、没有串漏和透湿，并且干侧没有凝露的情况下，产品空气可以近似等含湿量降温。这里说的是含湿量不变，相对湿度仍会随着温度降低而升高。</a:t>
            </a:r>
            <a:endParaRPr lang="zh-CN" sz="1200"/>
          </a:p>
          <a:p>
            <a:pPr algn="l"/>
            <a:r>
              <a:rPr lang="zh-CN" sz="1200">
                <a:latin typeface="Times New Roman"/>
                <a:ea typeface="Microsoft YaHei"/>
                <a:cs typeface="Times New Roman"/>
              </a:rPr>
              <a:t>所以，间接方式的一个重要作用，是把降温过程与产品空气的加湿过程隔开。真正选型时，还要检查密封、泄漏、凝露和排风布置，才能让这份隔离在实际运行中成立。</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从这张剖面图可以看到，间接蒸发冷却器装进空调机组以后，还需要配合风机、喷水或循环水系统，以及相应的风道和阀件。只看机组外壳，很难判断它的工作方式，还是要沿气流路径把各个处理段读清楚。</a:t>
            </a:r>
            <a:endParaRPr lang="zh-CN" sz="1200"/>
          </a:p>
          <a:p>
            <a:pPr algn="l"/>
            <a:r>
              <a:rPr lang="zh-CN" sz="1200">
                <a:latin typeface="Times New Roman"/>
                <a:ea typeface="Microsoft YaHei"/>
                <a:cs typeface="Times New Roman"/>
              </a:rPr>
              <a:t>产品空气在干侧被冷却，湿侧空气吸热、吸湿以后排走。对机房来说，这相当于利用了室外环境，却保留了空气回路的隔离。直接新风方案则把处理后的室外空气送入室内，两者在湿度控制和空气品质管理上有明显差别。</a:t>
            </a:r>
            <a:endParaRPr lang="zh-CN" sz="1200"/>
          </a:p>
          <a:p>
            <a:pPr algn="l"/>
            <a:r>
              <a:rPr lang="zh-CN" sz="1200">
                <a:latin typeface="Times New Roman"/>
                <a:ea typeface="Microsoft YaHei"/>
                <a:cs typeface="Times New Roman"/>
              </a:rPr>
              <a:t>隔离换热也有代价。隔板和有限换热面积会带来温差损失，流道会带来阻力，二次侧还需要自己的风机和水系统。设备性能要同时看净冷量和这些辅助功率，不能只凭出口温度低了多少来判断。</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这台模块化机组把几种运行模式放在了一起。室外比较冷时，干球温差已经足够，可以主要依靠空气之间的显热交换来冷却机房回风。此时喷淋和相关水泵可以停用，风机按需要运行。</a:t>
            </a:r>
            <a:endParaRPr lang="zh-CN" sz="1200"/>
          </a:p>
          <a:p>
            <a:pPr algn="l"/>
            <a:r>
              <a:rPr lang="zh-CN" sz="1200">
                <a:latin typeface="Times New Roman"/>
                <a:ea typeface="Microsoft YaHei"/>
                <a:cs typeface="Times New Roman"/>
              </a:rPr>
              <a:t>当干式换热不能满足要求，但室外还有足够的蒸发潜力时，就投入湿侧布水和循环水泵。水蒸发以后，湿侧的冷却能力增强，产品空气能够得到进一步降温。</a:t>
            </a:r>
            <a:endParaRPr lang="zh-CN" sz="1200"/>
          </a:p>
          <a:p>
            <a:pPr algn="l"/>
            <a:r>
              <a:rPr lang="zh-CN" sz="1200">
                <a:latin typeface="Times New Roman"/>
                <a:ea typeface="Microsoft YaHei"/>
                <a:cs typeface="Times New Roman"/>
              </a:rPr>
              <a:t>如果湿式处理以后，送风仍达不到要求，就需要机械补冷，或者切换到其他有足够能力的排热路径。这就是复合运行的意义：环境条件好的时候充分利用自然冷源，条件不足时把缺口补上。</a:t>
            </a:r>
            <a:endParaRPr lang="zh-CN" sz="1200"/>
          </a:p>
          <a:p>
            <a:pPr algn="l"/>
            <a:r>
              <a:rPr lang="zh-CN" sz="1200">
                <a:latin typeface="Times New Roman"/>
                <a:ea typeface="Microsoft YaHei"/>
                <a:cs typeface="Times New Roman"/>
              </a:rPr>
              <a:t>这些模式不能简单按月份固定下来。室外干湿球、机房负荷、风量和设备性能都在变化，控制器需要根据当前条件判断，还要设置合理的切换回差和运行时间，避免设备反复启停。</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露点型间接蒸发冷却更进一步地利用了内部气流组织。大家看产品空气和工作空气的路径：空气先在干通道中得到预冷，其中一部分再被分流，进入湿通道成为工作空气；剩下的部分作为产品空气送出。</a:t>
            </a:r>
            <a:endParaRPr lang="zh-CN" sz="1200"/>
          </a:p>
          <a:p>
            <a:pPr algn="l"/>
            <a:r>
              <a:rPr lang="zh-CN" sz="1200">
                <a:latin typeface="Times New Roman"/>
                <a:ea typeface="Microsoft YaHei"/>
                <a:cs typeface="Times New Roman"/>
              </a:rPr>
              <a:t>工作空气在进入湿侧之前已经被预冷，它的状态与原始室外入口状态不同。这样，湿侧能够提供更低的冷源温度，合理的再生式结构就有可能使产品空气低于原始入口空气的湿球温度。这并没有违反热力学规律，因为内部过程和参照状态发生了变化。</a:t>
            </a:r>
            <a:endParaRPr lang="zh-CN" sz="1200"/>
          </a:p>
          <a:p>
            <a:pPr algn="l"/>
            <a:r>
              <a:rPr lang="zh-CN" sz="1200">
                <a:latin typeface="Times New Roman"/>
                <a:ea typeface="Microsoft YaHei"/>
                <a:cs typeface="Times New Roman"/>
              </a:rPr>
              <a:t>不过，达到更低温度需要付出代价。分出去的工作空气不再成为净送风，更多换热面积也可能带来体积和压降。比较设备时，必须看最后能送出去多少空气、提供多少净冷量，以及风机和水泵用了多少电。</a:t>
            </a:r>
            <a:endParaRPr lang="zh-CN" sz="1200"/>
          </a:p>
          <a:p>
            <a:pPr algn="l"/>
            <a:r>
              <a:rPr lang="zh-CN" sz="1200">
                <a:latin typeface="Times New Roman"/>
                <a:ea typeface="Microsoft YaHei"/>
                <a:cs typeface="Times New Roman"/>
              </a:rPr>
              <a:t>因此，露点型的价值不能只用最低出风温度来表达。它需要在温度、风量、阻力和空间之间找到适合具体应用的组合。</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这张图把室内到室外的温度关系画得很直观。机房的热量要排向室外，沿途每一级换热都需要一定温差。经过空气换热器、水侧换热器或末端盘管时，可用的温度裕量会逐级被消耗。</a:t>
            </a:r>
            <a:endParaRPr lang="zh-CN" sz="1200"/>
          </a:p>
          <a:p>
            <a:pPr algn="l"/>
            <a:r>
              <a:rPr lang="zh-CN" sz="1200">
                <a:latin typeface="Times New Roman"/>
                <a:ea typeface="Microsoft YaHei"/>
                <a:cs typeface="Times New Roman"/>
              </a:rPr>
              <a:t>这也解释了，为什么在设备允许的范围内提高冷却温度，往往有利于自然冷却利用。比如，末端能够接受更高的供水温度，室外冷源就不必总是制取很低温的水，自然冷却可以在更多气象条件下发挥作用。</a:t>
            </a:r>
            <a:endParaRPr lang="zh-CN" sz="1200"/>
          </a:p>
          <a:p>
            <a:pPr algn="l"/>
            <a:r>
              <a:rPr lang="zh-CN" sz="1200">
                <a:latin typeface="Times New Roman"/>
                <a:ea typeface="Microsoft YaHei"/>
                <a:cs typeface="Times New Roman"/>
              </a:rPr>
              <a:t>这里的温度不能随意提高。服务器入口、芯片温度、换热器端差、输送温升和安全余量，都要同时满足。另一方面，增加换热环节虽然能改善隔离与保护，也可能把本来不多的温差消耗掉。</a:t>
            </a:r>
            <a:endParaRPr lang="zh-CN" sz="1200"/>
          </a:p>
          <a:p>
            <a:pPr algn="l"/>
            <a:r>
              <a:rPr lang="zh-CN" sz="1200">
                <a:latin typeface="Times New Roman"/>
                <a:ea typeface="Microsoft YaHei"/>
                <a:cs typeface="Times New Roman"/>
              </a:rPr>
              <a:t>所以，系统图里的每一个换热器都应当有明确作用，并核对它需要多少端差。温度等级匹配得好，往往比单纯追求某一台设备的极低出口温度更有意义。</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沿着这个时间轴，可以看到数据中心冷却从分散式机房空调，逐步发展出水侧自然冷却、直接和间接新风、液冷，以及多种复合方案。</a:t>
            </a:r>
            <a:endParaRPr lang="zh-CN" sz="1200"/>
          </a:p>
          <a:p>
            <a:pPr algn="l"/>
            <a:r>
              <a:rPr lang="zh-CN" sz="1200">
                <a:latin typeface="Times New Roman"/>
                <a:ea typeface="Microsoft YaHei"/>
                <a:cs typeface="Times New Roman"/>
              </a:rPr>
              <a:t>这种变化与机柜功率密度、设备允许温度、气流组织和设施规模都有关系。原来适合小机房的配置，扩大到大规模园区以后，管路、维护和冗余就会成为更明显的问题。高密度算力进一步发展，又推动了靠近热源的取热方式。</a:t>
            </a:r>
            <a:endParaRPr lang="zh-CN" sz="1200"/>
          </a:p>
          <a:p>
            <a:pPr algn="l"/>
            <a:r>
              <a:rPr lang="zh-CN" sz="1200">
                <a:latin typeface="Times New Roman"/>
                <a:ea typeface="Microsoft YaHei"/>
                <a:cs typeface="Times New Roman"/>
              </a:rPr>
              <a:t>这些技术通常会在一段时间内共存。既有数据中心要考虑改造条件，新建项目也要匹配负荷和气候。风冷、水冷和液冷各自对应不同的温度等级与工程约束，实际选择往往是组合，而不是沿着时间轴依次把前一种全部淘汰。后面介绍的融合系统，就建立在这种配合关系上。</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这里展示了风侧直接蒸发冷却的工程应用。它把室外空气经过处理后送入机房，利用当地适合的气象条件，减少机械制冷运行。</a:t>
            </a:r>
            <a:endParaRPr lang="zh-CN" sz="1200"/>
          </a:p>
          <a:p>
            <a:pPr algn="l"/>
            <a:r>
              <a:rPr lang="zh-CN" sz="1200">
                <a:latin typeface="Times New Roman"/>
                <a:ea typeface="Microsoft YaHei"/>
                <a:cs typeface="Times New Roman"/>
              </a:rPr>
              <a:t>这种方案的吸引力比较容易理解：空气直接承担送风和排热任务，中间换热环节可以较少。相应地，室外空气状态对机房的影响也更直接，温湿度、污染物、过滤和运行切换都需要持续管理。</a:t>
            </a:r>
            <a:endParaRPr lang="zh-CN" sz="1200"/>
          </a:p>
          <a:p>
            <a:pPr algn="l"/>
            <a:r>
              <a:rPr lang="zh-CN" sz="1200">
                <a:latin typeface="Times New Roman"/>
                <a:ea typeface="Microsoft YaHei"/>
                <a:cs typeface="Times New Roman"/>
              </a:rPr>
              <a:t>读这种项目资料时，具体的规模和性能应当与当地气象、送风要求和备份条件一起看。某个项目能够长时间利用直接蒸发冷却，说明它的条件与方案匹配得比较好；把同一套设备移到湿热或污染条件不同的地区，就需要重新检查全年可用时数和保障能力。</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这些设备的外形差别较大，但判断方法是相同的。先找到机房空气的入口和出口，再找到室外工作空气的路径，确认两股气流在哪里隔离，湿热排风怎样排出。</a:t>
            </a:r>
            <a:endParaRPr lang="zh-CN" sz="1200"/>
          </a:p>
          <a:p>
            <a:pPr algn="l"/>
            <a:r>
              <a:rPr lang="zh-CN" sz="1200">
                <a:latin typeface="Times New Roman"/>
                <a:ea typeface="Microsoft YaHei"/>
                <a:cs typeface="Times New Roman"/>
              </a:rPr>
              <a:t>不同厂家会把换热芯体、风机、喷淋、水槽和补冷部件组合成不同形式。它们在风阻、检修空间、运输安装和容量分段上可能有很大差别。同样采用间接蒸发冷却，运行表现也可能不同。</a:t>
            </a:r>
            <a:endParaRPr lang="zh-CN" sz="1200"/>
          </a:p>
          <a:p>
            <a:pPr algn="l"/>
            <a:r>
              <a:rPr lang="zh-CN" sz="1200">
                <a:latin typeface="Times New Roman"/>
                <a:ea typeface="Microsoft YaHei"/>
                <a:cs typeface="Times New Roman"/>
              </a:rPr>
              <a:t>对于需要连续运行的数据中心，检修隔离尤其重要。单台机组退出以后，剩余设备是否够用，旁通会不会造成冷热短路，清洗时会不会影响其他模块，都要提前考虑。换热原理决定了它能做什么，设备集成和系统布置则决定了这些能力在现场能否稳定发挥。</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水侧方案把冷源和机房末端分开了。室外设备利用空气和蒸发过程制取冷水，水再通过管路送到机房盘管或其他末端，把机房空气中的热量带出来。</a:t>
            </a:r>
            <a:endParaRPr lang="zh-CN" sz="1200"/>
          </a:p>
          <a:p>
            <a:pPr algn="l"/>
            <a:r>
              <a:rPr lang="zh-CN" sz="1200">
                <a:latin typeface="Times New Roman"/>
                <a:ea typeface="Microsoft YaHei"/>
                <a:cs typeface="Times New Roman"/>
              </a:rPr>
              <a:t>这样做以后，机房内部可以保留循环空气，室外空气不必直接进入机房。冷源与末端在空间上的布置也更灵活，多个机房可以按需要组合供冷。</a:t>
            </a:r>
            <a:endParaRPr lang="zh-CN" sz="1200"/>
          </a:p>
          <a:p>
            <a:pPr algn="l"/>
            <a:r>
              <a:rPr lang="zh-CN" sz="1200">
                <a:latin typeface="Times New Roman"/>
                <a:ea typeface="Microsoft YaHei"/>
                <a:cs typeface="Times New Roman"/>
              </a:rPr>
              <a:t>同时，系统增加了水泵、管路和相应换热环节。我们需要核对供回水温度、流量、泵功、水质和防冻，还要考虑漏水和检修隔离。水温越低，末端换热可能越容易满足，但室外冷源的自然冷却机会也可能减少。</a:t>
            </a:r>
            <a:endParaRPr lang="zh-CN" sz="1200"/>
          </a:p>
          <a:p>
            <a:pPr algn="l"/>
            <a:r>
              <a:rPr lang="zh-CN" sz="1200">
                <a:latin typeface="Times New Roman"/>
                <a:ea typeface="Microsoft YaHei"/>
                <a:cs typeface="Times New Roman"/>
              </a:rPr>
              <a:t>因此，室外机组和室内末端不能分开选完以后再简单拼接。两边的温度与流量要匹配，控制和备用方式也要一起确定。下面的工程案例就是沿着这条路径展开的。</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这一页把几种复合冷却形式放在了一起，包括不同工质的循环、热管以及与空气处理机组配合的方案。它们都在完成同一件事：从机房取热，再把热量送向室外。</a:t>
            </a:r>
            <a:endParaRPr lang="zh-CN" sz="1200"/>
          </a:p>
          <a:p>
            <a:pPr algn="l"/>
            <a:r>
              <a:rPr lang="zh-CN" sz="1200">
                <a:latin typeface="Times New Roman"/>
                <a:ea typeface="Microsoft YaHei"/>
                <a:cs typeface="Times New Roman"/>
              </a:rPr>
              <a:t>差别主要在于用什么介质搬运热量，经过几级换热，以及设备如何隔离和维护。空气侧需要关注过滤、风道阻力和气流串漏；液体回路需要关注水质、泵功和泄漏；热管则还要看工质回路、适用温差以及安装条件。</a:t>
            </a:r>
            <a:endParaRPr lang="zh-CN" sz="1200"/>
          </a:p>
          <a:p>
            <a:pPr algn="l"/>
            <a:r>
              <a:rPr lang="zh-CN" sz="1200">
                <a:latin typeface="Times New Roman"/>
                <a:ea typeface="Microsoft YaHei"/>
                <a:cs typeface="Times New Roman"/>
              </a:rPr>
              <a:t>复合系统可以让不同技术在适合的工况下工作。例如，低温时充分利用干式自然冷却，温度升高后再投入蒸发或机械制冷。但环节增加以后，控制和故障判断也会复杂起来。</a:t>
            </a:r>
            <a:endParaRPr lang="zh-CN" sz="1200"/>
          </a:p>
          <a:p>
            <a:pPr algn="l"/>
            <a:r>
              <a:rPr lang="zh-CN" sz="1200">
                <a:latin typeface="Times New Roman"/>
                <a:ea typeface="Microsoft YaHei"/>
                <a:cs typeface="Times New Roman"/>
              </a:rPr>
              <a:t>所以，系统组合应当对应明确的工况需求。每增加一个部件，都要说明它改善了什么，并把新增的温差损失、输送能耗和维护要求一起核对。</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这套系统把直接蒸发冷却、间接蒸发冷却和乙二醇自然冷却组合在了一起。图上区分了主导冷源、备份冷源和机房显热末端，说明它已经从单台设备进入到完整供冷系统的层面。</a:t>
            </a:r>
            <a:endParaRPr lang="zh-CN" sz="1200"/>
          </a:p>
          <a:p>
            <a:pPr algn="l"/>
            <a:r>
              <a:rPr lang="zh-CN" sz="1200">
                <a:latin typeface="Times New Roman"/>
                <a:ea typeface="Microsoft YaHei"/>
                <a:cs typeface="Times New Roman"/>
              </a:rPr>
              <a:t>主导冷源负责常用工况下的供冷，备份路径则用来覆盖故障、检修和部分环境越界情况。备份是否有效，要看它有没有足够容量，还要看它与主系统有没有共用的薄弱环节。</a:t>
            </a:r>
            <a:endParaRPr lang="zh-CN" sz="1200"/>
          </a:p>
          <a:p>
            <a:pPr algn="l"/>
            <a:r>
              <a:rPr lang="zh-CN" sz="1200">
                <a:latin typeface="Times New Roman"/>
                <a:ea typeface="Microsoft YaHei"/>
                <a:cs typeface="Times New Roman"/>
              </a:rPr>
              <a:t>比如，增加几台同类设备可以缓解单台故障，但如果所有设备都依赖同一条供水管、同一段电源或同一个控制环节，资源中断时仍可能一起失去能力。冗余数量与真正的系统容错，需要分别核对。</a:t>
            </a:r>
            <a:endParaRPr lang="zh-CN" sz="1200"/>
          </a:p>
          <a:p>
            <a:pPr algn="l"/>
            <a:r>
              <a:rPr lang="zh-CN" sz="1200">
                <a:latin typeface="Times New Roman"/>
                <a:ea typeface="Microsoft YaHei"/>
                <a:cs typeface="Times New Roman"/>
              </a:rPr>
              <a:t>图中提出了全年利用自然冷源的运行思路。它成立的条件来自当地气象、系统温度和保障设计。我们接下来要沿着季节变化，看这几种冷源怎样接替工作。</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这条技术路线从换热器开始，经过设备开发，最后落到整套系统。三个层次需要解决的问题并不完全相同。</a:t>
            </a:r>
            <a:endParaRPr lang="zh-CN" sz="1200"/>
          </a:p>
          <a:p>
            <a:pPr algn="l"/>
            <a:r>
              <a:rPr lang="zh-CN" sz="1200">
                <a:latin typeface="Times New Roman"/>
                <a:ea typeface="Microsoft YaHei"/>
                <a:cs typeface="Times New Roman"/>
              </a:rPr>
              <a:t>在换热器层面，我们关心传热传质是否充分、布水是否均匀、压降是否合适。装成机组以后，还要加入风机、水泵、过滤和控制，检查净冷量与整机耗电。到了系统层面，又要考虑末端、管路、逐时负荷、运行切换以及故障保障。</a:t>
            </a:r>
            <a:endParaRPr lang="zh-CN" sz="1200"/>
          </a:p>
          <a:p>
            <a:pPr algn="l"/>
            <a:r>
              <a:rPr lang="zh-CN" sz="1200">
                <a:latin typeface="Times New Roman"/>
                <a:ea typeface="Microsoft YaHei"/>
                <a:cs typeface="Times New Roman"/>
              </a:rPr>
              <a:t>因此，一块换热芯体在实验台上表现很好，并不自动意味着全年运行费用就一定低。它可能在进入机组后增加了风阻，也可能在系统里受到温差和水质的限制。</a:t>
            </a:r>
            <a:endParaRPr lang="zh-CN" sz="1200"/>
          </a:p>
          <a:p>
            <a:pPr algn="l"/>
            <a:r>
              <a:rPr lang="zh-CN" sz="1200">
                <a:latin typeface="Times New Roman"/>
                <a:ea typeface="Microsoft YaHei"/>
                <a:cs typeface="Times New Roman"/>
              </a:rPr>
              <a:t>我们做研究或毕业设计时，需要把改进对应到具体层次，并选取能够验证效果的指标。只有把局部性能与系统运行接起来，才能判断改进在工程上有没有价值。</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看春夏秋工况时，可以顺着两套液体回路来读。一次侧使用水，二次侧使用乙二醇溶液，两者通过板式换热器连接，二次侧再向机房显热末端供冷。</a:t>
            </a:r>
            <a:endParaRPr lang="zh-CN" sz="1200"/>
          </a:p>
          <a:p>
            <a:pPr algn="l"/>
            <a:r>
              <a:rPr lang="zh-CN" sz="1200">
                <a:latin typeface="Times New Roman"/>
                <a:ea typeface="Microsoft YaHei"/>
                <a:cs typeface="Times New Roman"/>
              </a:rPr>
              <a:t>把回路分开，主要是为了匹配不同介质和保护要求。机房侧、室外侧的防冻、水质和设备条件并不完全相同，板换提供了隔离，也便于各自管理。</a:t>
            </a:r>
            <a:endParaRPr lang="zh-CN" sz="1200"/>
          </a:p>
          <a:p>
            <a:pPr algn="l"/>
            <a:r>
              <a:rPr lang="zh-CN" sz="1200">
                <a:latin typeface="Times New Roman"/>
                <a:ea typeface="Microsoft YaHei"/>
                <a:cs typeface="Times New Roman"/>
              </a:rPr>
              <a:t>隔离换热需要有限端差。冷量从一次侧传到二次侧时，供液温度会有差别；板换和额外管路还会增加流动阻力，需要水泵来克服。因此，设计时要把温度、流量和泵功同时核对。</a:t>
            </a:r>
            <a:endParaRPr lang="zh-CN" sz="1200"/>
          </a:p>
          <a:p>
            <a:pPr algn="l"/>
            <a:r>
              <a:rPr lang="zh-CN" sz="1200">
                <a:latin typeface="Times New Roman"/>
                <a:ea typeface="Microsoft YaHei"/>
                <a:cs typeface="Times New Roman"/>
              </a:rPr>
              <a:t>图中的湿球范围与乙二醇浓度属于这个案例的条件，不能直接拿去作为其他项目的控制设定。真正运行时，还要根据送回液温度、机房需求、设备能力和水系统状态来判断当前模式是否合适。</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冬季室外空气足够冷以后，系统可以主要利用干球温差供冷。乙二醇回路把室外干冷段与机房显热末端连通，不再以春夏秋的板换中转路径作为主要供冷路线，具体阀位和启停顺序要与设备控制图对应。</a:t>
            </a:r>
            <a:endParaRPr lang="zh-CN" sz="1200"/>
          </a:p>
          <a:p>
            <a:pPr algn="l"/>
            <a:r>
              <a:rPr lang="zh-CN" sz="1200">
                <a:latin typeface="Times New Roman"/>
                <a:ea typeface="Microsoft YaHei"/>
                <a:cs typeface="Times New Roman"/>
              </a:rPr>
              <a:t>这个时候，低温空气本身已经能提供足够的冷却条件，相应蒸发喷淋通常可以停止。这样有机会减少用水和部分辅助能耗，不过防冻、防过冷和低负荷调节仍然要做好。介质采用乙二醇，也并不意味着所有部位都天然具备足够的防冻保护。</a:t>
            </a:r>
            <a:endParaRPr lang="zh-CN" sz="1200"/>
          </a:p>
          <a:p>
            <a:pPr algn="l"/>
            <a:r>
              <a:rPr lang="zh-CN" sz="1200">
                <a:latin typeface="Times New Roman"/>
                <a:ea typeface="Microsoft YaHei"/>
                <a:cs typeface="Times New Roman"/>
              </a:rPr>
              <a:t>到这里，三种过程可以区分开了：直接蒸发使产品空气降温加湿；间接蒸发把湿侧工作空气与产品空气隔开；冬季干冷则主要依靠显热温差。它们可以服务于同一个机房，但所需条件、设备状态和控制重点各不相同。</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这个项目位于乌鲁木齐，案例来自黄翔教授的研究报告。建筑共五层，原资料给出的一期机房总负荷为二千七百六十七千瓦。不同楼层布置了通信、传输和数据机房，冷却系统需要适应它们的空间和运行要求。</a:t>
            </a:r>
            <a:endParaRPr lang="zh-CN" sz="1200"/>
          </a:p>
          <a:p>
            <a:pPr algn="l"/>
            <a:r>
              <a:rPr lang="zh-CN" sz="1200">
                <a:latin typeface="Times New Roman"/>
                <a:ea typeface="Microsoft YaHei"/>
                <a:cs typeface="Times New Roman"/>
              </a:rPr>
              <a:t>在选设备之前，至少要把负荷、允许温湿度和当地逐时气象弄清楚。负荷决定需要带走多少热量，设备允许条件决定冷却温度能设到哪里，气象则决定自然冷源在什么时段可用。</a:t>
            </a:r>
            <a:endParaRPr lang="zh-CN" sz="1200"/>
          </a:p>
          <a:p>
            <a:pPr algn="l"/>
            <a:r>
              <a:rPr lang="zh-CN" sz="1200">
                <a:latin typeface="Times New Roman"/>
                <a:ea typeface="Microsoft YaHei"/>
                <a:cs typeface="Times New Roman"/>
              </a:rPr>
              <a:t>除此之外，还要核对用水保障、水质、供电和检修条件。干燥气候给蒸发冷却提供了较好的潜力，但项目能不能长期运行，还取决于这些配套条件。</a:t>
            </a:r>
            <a:endParaRPr lang="zh-CN" sz="1200"/>
          </a:p>
          <a:p>
            <a:pPr algn="l"/>
            <a:r>
              <a:rPr lang="zh-CN" sz="1200">
                <a:latin typeface="Times New Roman"/>
                <a:ea typeface="Microsoft YaHei"/>
                <a:cs typeface="Times New Roman"/>
              </a:rPr>
              <a:t>所以，读案例先读工程约束，再看设备数量。图上的规模参数服务于这个项目，不能直接拿一个总负荷去对应其他项目的机组配置。</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原资料给出的主导冷源，是十六台立管式蒸发冷却冷水机组，并标注了增加三台备用能力的冗余配置。设备冗余的作用，是在单台机组检修或故障时，仍能由其他可用设备承担需要的负荷。</a:t>
            </a:r>
            <a:endParaRPr lang="zh-CN" sz="1200"/>
          </a:p>
          <a:p>
            <a:pPr algn="l"/>
            <a:r>
              <a:rPr lang="zh-CN" sz="1200">
                <a:latin typeface="Times New Roman"/>
                <a:ea typeface="Microsoft YaHei"/>
                <a:cs typeface="Times New Roman"/>
              </a:rPr>
              <a:t>旁边这座蓄水池同样重要。资料中的容积是三百二十立方米，按市政停水后的持续供水需求配置。对湿模式来说，水的连续供应直接关系到蒸发能力，增加冷却机组数量并不能代替水源保障。</a:t>
            </a:r>
            <a:endParaRPr lang="zh-CN" sz="1200"/>
          </a:p>
          <a:p>
            <a:pPr algn="l"/>
            <a:r>
              <a:rPr lang="zh-CN" sz="1200">
                <a:latin typeface="Times New Roman"/>
                <a:ea typeface="Microsoft YaHei"/>
                <a:cs typeface="Times New Roman"/>
              </a:rPr>
              <a:t>实际能够维持多长时间，要结合可用储水容积、当时的蒸发量、排污和运行方式核算。还要检查补水泵、液位监测和切换是否可靠。</a:t>
            </a:r>
            <a:endParaRPr lang="zh-CN" sz="1200"/>
          </a:p>
          <a:p>
            <a:pPr algn="l"/>
            <a:r>
              <a:rPr lang="zh-CN" sz="1200">
                <a:latin typeface="Times New Roman"/>
                <a:ea typeface="Microsoft YaHei"/>
                <a:cs typeface="Times New Roman"/>
              </a:rPr>
              <a:t>这里可以看到两类不同的保障：机组冗余主要应对设备退出，蓄水主要缓解资源中断。完整方案需要把两者配合起来，并检查有没有共同的供电或控制薄弱点。</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这套系统还配置了备份新风冷源，与主冷源形成另一条供冷路径。原资料给出的总数量为四十四台，不同机房分别采用相应的冗余配置。</a:t>
            </a:r>
            <a:endParaRPr lang="zh-CN" sz="1200"/>
          </a:p>
          <a:p>
            <a:pPr algn="l"/>
            <a:r>
              <a:rPr lang="zh-CN" sz="1200">
                <a:latin typeface="Times New Roman"/>
                <a:ea typeface="Microsoft YaHei"/>
                <a:cs typeface="Times New Roman"/>
              </a:rPr>
              <a:t>备份的作用要结合故障类型来理解。主泵故障时，首先影响的是它所服务的液体回路；单台冷水机组退出时，可以由可用冗余容量补足；停水则会影响需要持续补水的湿模式。</a:t>
            </a:r>
            <a:endParaRPr lang="zh-CN" sz="1200"/>
          </a:p>
          <a:p>
            <a:pPr algn="l"/>
            <a:r>
              <a:rPr lang="zh-CN" sz="1200">
                <a:latin typeface="Times New Roman"/>
                <a:ea typeface="Microsoft YaHei"/>
                <a:cs typeface="Times New Roman"/>
              </a:rPr>
              <a:t>因此，一条备份路径能够覆盖哪些故障，要看它使用的资源是否独立。如果两条路径都离不开同一处水源或电源，它们对某些共同故障的抵御能力仍然有限。</a:t>
            </a:r>
            <a:endParaRPr lang="zh-CN" sz="1200"/>
          </a:p>
          <a:p>
            <a:pPr algn="l"/>
            <a:r>
              <a:rPr lang="zh-CN" sz="1200">
                <a:latin typeface="Times New Roman"/>
                <a:ea typeface="Microsoft YaHei"/>
                <a:cs typeface="Times New Roman"/>
              </a:rPr>
              <a:t>数据中心还关心切换速度。备用设备有足够容量，只是其中一个条件；切换期间机柜入口温度会不会越界，阀门和风机能不能按顺序动作，也需要验证。容错能力最终要落实到具体故障情景里。</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这里是机房侧的高温冷冻水显热末端。它的任务是让机房循环空气经过盘管，把空气中的热量传给水，再由水回路带回室外冷源。</a:t>
            </a:r>
            <a:endParaRPr lang="zh-CN" sz="1200"/>
          </a:p>
          <a:p>
            <a:pPr algn="l"/>
            <a:r>
              <a:rPr lang="zh-CN" sz="1200">
                <a:latin typeface="Times New Roman"/>
                <a:ea typeface="Microsoft YaHei"/>
                <a:cs typeface="Times New Roman"/>
              </a:rPr>
              <a:t>图中给出单台末端的额定显冷量约为一百六十点八千瓦，额定输入功率为八千瓦。读这种参数时，需要分清设备边界。这部分输入主要对应末端自身的风机等用电，室外制取冷水和系统输送的能耗，并没有全部包含在这里。</a:t>
            </a:r>
            <a:endParaRPr lang="zh-CN" sz="1200"/>
          </a:p>
          <a:p>
            <a:pPr algn="l"/>
            <a:r>
              <a:rPr lang="zh-CN" sz="1200">
                <a:latin typeface="Times New Roman"/>
                <a:ea typeface="Microsoft YaHei"/>
                <a:cs typeface="Times New Roman"/>
              </a:rPr>
              <a:t>所以，不能直接用这台末端的冷量和自身功率，代表整套冷源系统的效率。设备额定值也要与进出水温、空气状态和风量一起看。</a:t>
            </a:r>
            <a:endParaRPr lang="zh-CN" sz="1200"/>
          </a:p>
          <a:p>
            <a:pPr algn="l"/>
            <a:r>
              <a:rPr lang="zh-CN" sz="1200">
                <a:latin typeface="Times New Roman"/>
                <a:ea typeface="Microsoft YaHei"/>
                <a:cs typeface="Times New Roman"/>
              </a:rPr>
              <a:t>末端与冷源的匹配关系同样重要。冷源给出的供水温度、现场流量和机房回风状态，都会影响末端实际能提供多少冷量，不能只按铭牌数值简单相加。</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沿着蓝色和红色箭头，可以看到机房内循环怎样把冷空气送到机柜附近，再把服务器排出的热空气带回末端。机组有足够冷量以后，还需要这条气流路径真正有效。</a:t>
            </a:r>
            <a:endParaRPr lang="zh-CN" sz="1200"/>
          </a:p>
          <a:p>
            <a:pPr algn="l"/>
            <a:r>
              <a:rPr lang="zh-CN" sz="1200">
                <a:latin typeface="Times New Roman"/>
                <a:ea typeface="Microsoft YaHei"/>
                <a:cs typeface="Times New Roman"/>
              </a:rPr>
              <a:t>如果冷空气没有经过服务器就直接回到末端，就发生了短路；如果热排风绕回机柜入口，就会形成热回流。两种情况都可能让部分机柜过热，同时让另一部分送风白白消耗掉。</a:t>
            </a:r>
            <a:endParaRPr lang="zh-CN" sz="1200"/>
          </a:p>
          <a:p>
            <a:pPr algn="l"/>
            <a:r>
              <a:rPr lang="zh-CN" sz="1200">
                <a:latin typeface="Times New Roman"/>
                <a:ea typeface="Microsoft YaHei"/>
                <a:cs typeface="Times New Roman"/>
              </a:rPr>
              <a:t>机柜空位、未封堵的孔洞、通道端部以及送回风路径之间，都是常见的混流位置。盲板、孔洞封堵、合理通道封闭和压差控制，可以减少这种无效混合。</a:t>
            </a:r>
            <a:endParaRPr lang="zh-CN" sz="1200"/>
          </a:p>
          <a:p>
            <a:pPr algn="l"/>
            <a:r>
              <a:rPr lang="zh-CN" sz="1200">
                <a:latin typeface="Times New Roman"/>
                <a:ea typeface="Microsoft YaHei"/>
                <a:cs typeface="Times New Roman"/>
              </a:rPr>
              <a:t>最后仍然要看机柜入口测点。房间平均温度看起来正常，不代表每台服务器入口都合格。气流组织的效果，应当用入口温度分布和局部热点来检验。</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和上一页相比，这里展示的是外循环或相应备份运行时的气流路径。它说明同一个机房可以在不同工况下采用不同的空气组织方式，而这些路径并不一定在同一时刻全部开启。</a:t>
            </a:r>
            <a:endParaRPr lang="zh-CN" sz="1200"/>
          </a:p>
          <a:p>
            <a:pPr algn="l"/>
            <a:r>
              <a:rPr lang="zh-CN" sz="1200">
                <a:latin typeface="Times New Roman"/>
                <a:ea typeface="Microsoft YaHei"/>
                <a:cs typeface="Times New Roman"/>
              </a:rPr>
              <a:t>切换以后，需要重新核对服务器入口条件。温度是一项，含湿量、露点、相对湿度和颗粒物等空气品质也要满足要求。室外空气进入后，天气变化和过滤状态对机房的影响会更直接。</a:t>
            </a:r>
            <a:endParaRPr lang="zh-CN" sz="1200"/>
          </a:p>
          <a:p>
            <a:pPr algn="l"/>
            <a:r>
              <a:rPr lang="zh-CN" sz="1200">
                <a:latin typeface="Times New Roman"/>
                <a:ea typeface="Microsoft YaHei"/>
                <a:cs typeface="Times New Roman"/>
              </a:rPr>
              <a:t>同时还要确认需要的风量能够送到位。过滤器压差上升、风阀开度不合适，或者切换后局部气流分配改变，都可能使原来认为足够的风量打折扣。</a:t>
            </a:r>
            <a:endParaRPr lang="zh-CN" sz="1200"/>
          </a:p>
          <a:p>
            <a:pPr algn="l"/>
            <a:r>
              <a:rPr lang="zh-CN" sz="1200">
                <a:latin typeface="Times New Roman"/>
                <a:ea typeface="Microsoft YaHei"/>
                <a:cs typeface="Times New Roman"/>
              </a:rPr>
              <a:t>因此，运行切换需要温湿度、压差和设备状态的反馈来验证，不能只根据风机已经启动，就认定备份供冷已经有效建立。</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再看另一类机房的内循环。机柜和末端的相对位置变了，判断气流组织的原则仍然相同：冷空气要到达设备入口，热空气要沿预定路径被收集和排走。</a:t>
            </a:r>
            <a:endParaRPr lang="zh-CN" sz="1200"/>
          </a:p>
          <a:p>
            <a:pPr algn="l"/>
            <a:r>
              <a:rPr lang="zh-CN" sz="1200">
                <a:latin typeface="Times New Roman"/>
                <a:ea typeface="Microsoft YaHei"/>
                <a:cs typeface="Times New Roman"/>
              </a:rPr>
              <a:t>高负荷机柜附近更容易出现局部问题。如果某个区域送风不足，单纯增加全机房总风量，有时会让本来已经富余的区域得到更多风，而热点仍然存在。把局部路径和阻力分配调整好，通常比只看总量更直接。</a:t>
            </a:r>
            <a:endParaRPr lang="zh-CN" sz="1200"/>
          </a:p>
          <a:p>
            <a:pPr algn="l"/>
            <a:r>
              <a:rPr lang="zh-CN" sz="1200">
                <a:latin typeface="Times New Roman"/>
                <a:ea typeface="Microsoft YaHei"/>
                <a:cs typeface="Times New Roman"/>
              </a:rPr>
              <a:t>图中的设备布置也关系到检修和扩容。新增机柜或更换末端以后，原来的流路可能发生变化，不能把最初验收时的气流状态一直当作后续运行条件。</a:t>
            </a:r>
            <a:endParaRPr lang="zh-CN" sz="1200"/>
          </a:p>
          <a:p>
            <a:pPr algn="l"/>
            <a:r>
              <a:rPr lang="zh-CN" sz="1200">
                <a:latin typeface="Times New Roman"/>
                <a:ea typeface="Microsoft YaHei"/>
                <a:cs typeface="Times New Roman"/>
              </a:rPr>
              <a:t>所以，机房气流需要随着负荷和布置变化持续核验。冷源能力、末端能力和空气分配，三者要共同满足，局部散热才有保障。</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外循环路径改变以后，监测点也要能够反映实际供冷效果。机柜入口的上、中、下部，负荷较密集的区域，以及过去出现过热点的位置，通常都值得布置代表测点。</a:t>
            </a:r>
            <a:endParaRPr lang="zh-CN" sz="1200"/>
          </a:p>
          <a:p>
            <a:pPr algn="l"/>
            <a:r>
              <a:rPr lang="zh-CN" sz="1200">
                <a:latin typeface="Times New Roman"/>
                <a:ea typeface="Microsoft YaHei"/>
                <a:cs typeface="Times New Roman"/>
              </a:rPr>
              <a:t>如果只在房间中央放一个温度传感器，读数容易被周围空气平均化。它可能反映总体状态，却看不到机柜上部的热回流，或者某一排设备的局部缺风。</a:t>
            </a:r>
            <a:endParaRPr lang="zh-CN" sz="1200"/>
          </a:p>
          <a:p>
            <a:pPr algn="l"/>
            <a:r>
              <a:rPr lang="zh-CN" sz="1200">
                <a:latin typeface="Times New Roman"/>
                <a:ea typeface="Microsoft YaHei"/>
                <a:cs typeface="Times New Roman"/>
              </a:rPr>
              <a:t>除了入口温度，还要配合送回风、关键水路和设备状态信息。这样才能分辨问题来自冷源温度、末端换热，还是气流没有送到需要的位置。</a:t>
            </a:r>
            <a:endParaRPr lang="zh-CN" sz="1200"/>
          </a:p>
          <a:p>
            <a:pPr algn="l"/>
            <a:r>
              <a:rPr lang="zh-CN" sz="1200">
                <a:latin typeface="Times New Roman"/>
                <a:ea typeface="Microsoft YaHei"/>
                <a:cs typeface="Times New Roman"/>
              </a:rPr>
              <a:t>对自控系统来说，这些测点也是判断切换是否成功的依据。模式指令发出以后，入口条件应当按预期得到控制；如果设备反馈正常而热点仍在，就需要继续检查实际的热量和空气路径。</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里的一次、二次系统，是两套液体回路的命名，和前面的一次空气、二次空气不是一回事。图中一次侧介质为水，供回水温度为十六度和二十一度；二次侧采用百分之四十五浓度的乙二醇溶液，供回液温度为十七度和二十二度。</a:t>
            </a:r>
            <a:endParaRPr lang="zh-CN" sz="1200"/>
          </a:p>
          <a:p>
            <a:pPr algn="l"/>
            <a:r>
              <a:rPr lang="zh-CN" sz="1200">
                <a:latin typeface="Times New Roman"/>
                <a:ea typeface="Microsoft YaHei"/>
                <a:cs typeface="Times New Roman"/>
              </a:rPr>
              <a:t>这两组温度相差约一度，体现了回路之间换热需要端差。介质分开以后，可以分别满足水质、防冻和设备保护要求，但板换与管路也会带来额外阻力。</a:t>
            </a:r>
            <a:endParaRPr lang="zh-CN" sz="1200"/>
          </a:p>
          <a:p>
            <a:pPr algn="l"/>
            <a:r>
              <a:rPr lang="zh-CN" sz="1200">
                <a:latin typeface="Times New Roman"/>
                <a:ea typeface="Microsoft YaHei"/>
                <a:cs typeface="Times New Roman"/>
              </a:rPr>
              <a:t>乙二醇浓度会影响黏度、比热和换热系数。防冻要求满足以后，水泵和换热器还要按实际介质性能校核，不能一直采用纯水参数。</a:t>
            </a:r>
            <a:endParaRPr lang="zh-CN" sz="1200"/>
          </a:p>
          <a:p>
            <a:pPr algn="l"/>
            <a:r>
              <a:rPr lang="zh-CN" sz="1200">
                <a:latin typeface="Times New Roman"/>
                <a:ea typeface="Microsoft YaHei"/>
                <a:cs typeface="Times New Roman"/>
              </a:rPr>
              <a:t>另外，末端额定工况与系统接口参数需要逐项对应。原报告中不同位置出现的温度，要先分清属于哪台设备、哪个运行条件，再用于计算，避免把不同边界下的数据直接拼在一起。</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这套自控系统分成监控管理、控制和执行三个层次。上位监控负责收集信息、显示趋势和下达运行要求；控制层根据温度、压力、液位等信号判断当前状态；执行层则让风机、水泵和阀门完成相应动作。</a:t>
            </a:r>
            <a:endParaRPr lang="zh-CN" sz="1200"/>
          </a:p>
          <a:p>
            <a:pPr algn="l"/>
            <a:r>
              <a:rPr lang="zh-CN" sz="1200">
                <a:latin typeface="Times New Roman"/>
                <a:ea typeface="Microsoft YaHei"/>
                <a:cs typeface="Times New Roman"/>
              </a:rPr>
              <a:t>比如，控制器判断需要从干式转入湿式运行，接下来还要确认水路具备条件、泵和布水正常，风机处于合适状态，并观察出口和机房入口温度是否按预期变化。</a:t>
            </a:r>
            <a:endParaRPr lang="zh-CN" sz="1200"/>
          </a:p>
          <a:p>
            <a:pPr algn="l"/>
            <a:r>
              <a:rPr lang="zh-CN" sz="1200">
                <a:latin typeface="Times New Roman"/>
                <a:ea typeface="Microsoft YaHei"/>
                <a:cs typeface="Times New Roman"/>
              </a:rPr>
              <a:t>这就说明，发出指令和建立有效供冷之间，还有设备动作及其反馈过程。传感器、联锁和故障判断都需要参与。</a:t>
            </a:r>
            <a:endParaRPr lang="zh-CN" sz="1200"/>
          </a:p>
          <a:p>
            <a:pPr algn="l"/>
            <a:r>
              <a:rPr lang="zh-CN" sz="1200">
                <a:latin typeface="Times New Roman"/>
                <a:ea typeface="Microsoft YaHei"/>
                <a:cs typeface="Times New Roman"/>
              </a:rPr>
              <a:t>节能优化应当在温湿度和安全条件满足以后进行。遇到缺水、设备异常或入口温度越界时，系统首先要保证可用的排热路径，再去比较哪一种模式的功率更低。</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从这个拓扑图可以看到，很多设备通过控制器和通信网络接入统一监控。集中管理便于协调多台机组，也便于分析运行趋势、用能和告警。</a:t>
            </a:r>
            <a:endParaRPr lang="zh-CN" sz="1200"/>
          </a:p>
          <a:p>
            <a:pPr algn="l"/>
            <a:r>
              <a:rPr lang="zh-CN" sz="1200">
                <a:latin typeface="Times New Roman"/>
                <a:ea typeface="Microsoft YaHei"/>
                <a:cs typeface="Times New Roman"/>
              </a:rPr>
              <a:t>现场仍然需要必要的独立保护。上位机或通信链路失效时，设备不能因此失去所有安全动作。低液位、异常温度、关键泵故障等条件，应当有与风险相适应的联锁和处理方式。</a:t>
            </a:r>
            <a:endParaRPr lang="zh-CN" sz="1200"/>
          </a:p>
          <a:p>
            <a:pPr algn="l"/>
            <a:r>
              <a:rPr lang="zh-CN" sz="1200">
                <a:latin typeface="Times New Roman"/>
                <a:ea typeface="Microsoft YaHei"/>
                <a:cs typeface="Times New Roman"/>
              </a:rPr>
              <a:t>因此，我们既要看监控页面是否在线，也要看现场设备到底有没有动作、流量有没有建立，以及机柜入口条件是否得到控制。一个正常显示的通信状态，不能代替这些实际反馈。</a:t>
            </a:r>
            <a:endParaRPr lang="zh-CN" sz="1200"/>
          </a:p>
          <a:p>
            <a:pPr algn="l"/>
            <a:r>
              <a:rPr lang="zh-CN" sz="1200">
                <a:latin typeface="Times New Roman"/>
                <a:ea typeface="Microsoft YaHei"/>
                <a:cs typeface="Times New Roman"/>
              </a:rPr>
              <a:t>对故障分析来说，把指令、设备状态和温度变化放在同一时间轴上，会更容易判断问题发生在哪一层。系统运行久了，这些记录也是调整控制策略和检修计划的依据。</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这套工程把蒸发冷却设备的排污水集中收集，再与园区绿化灌溉系统结合起来。它体现的是水系统之间的协调利用。</a:t>
            </a:r>
            <a:endParaRPr lang="zh-CN" sz="1200"/>
          </a:p>
          <a:p>
            <a:pPr algn="l"/>
            <a:r>
              <a:rPr lang="zh-CN" sz="1200">
                <a:latin typeface="Times New Roman"/>
                <a:ea typeface="Microsoft YaHei"/>
                <a:cs typeface="Times New Roman"/>
              </a:rPr>
              <a:t>需要分清的是，设备内部循环水量和真正的耗水量不同。循环水可以反复经过湿表面，补水主要补偿蒸发、排污及其他损失。水蒸发以后，盐分会在循环水里逐步浓缩，所以通常需要一定排污来控制水质。</a:t>
            </a:r>
            <a:endParaRPr lang="zh-CN" sz="1200"/>
          </a:p>
          <a:p>
            <a:pPr algn="l"/>
            <a:r>
              <a:rPr lang="zh-CN" sz="1200">
                <a:latin typeface="Times New Roman"/>
                <a:ea typeface="Microsoft YaHei"/>
                <a:cs typeface="Times New Roman"/>
              </a:rPr>
              <a:t>排污水能否用于绿化，还要看盐分、加药、水质要求和具体用途，不能仅凭它已经被收集起来，就判断适合回用。水量管理与水质管理应当一起做。</a:t>
            </a:r>
            <a:endParaRPr lang="zh-CN" sz="1200"/>
          </a:p>
          <a:p>
            <a:pPr algn="l"/>
            <a:r>
              <a:rPr lang="zh-CN" sz="1200">
                <a:latin typeface="Times New Roman"/>
                <a:ea typeface="Microsoft YaHei"/>
                <a:cs typeface="Times New Roman"/>
              </a:rPr>
              <a:t>这样看，蒸发冷却的节能评价就需要进一步扩展到用水。全年用多少水、峰值补水有多大、当地水源能否保障，都与设备的实际应用有关。</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这页列出了几种设备和系统的能效参数。大家读这些数字时，需要先看分子、分母和统计范围。单台新风机组的能效比、蒸发冷却冷水机组的能效比，以及整个系统的季节性能，代表的是不同层次的结果。</a:t>
            </a:r>
            <a:endParaRPr lang="zh-CN" sz="1200"/>
          </a:p>
          <a:p>
            <a:pPr algn="l"/>
            <a:r>
              <a:rPr lang="zh-CN" sz="1200">
                <a:latin typeface="Times New Roman"/>
                <a:ea typeface="Microsoft YaHei"/>
                <a:cs typeface="Times New Roman"/>
              </a:rPr>
              <a:t>某台设备的辅助功率比较小，并不意味着整套系统也有同样的效率。一次侧和二次侧风机、水泵、补冷设备以及相关输送环节，都要按统一边界计入。</a:t>
            </a:r>
            <a:endParaRPr lang="zh-CN" sz="1200"/>
          </a:p>
          <a:p>
            <a:pPr algn="l"/>
            <a:r>
              <a:rPr lang="zh-CN" sz="1200">
                <a:latin typeface="Times New Roman"/>
                <a:ea typeface="Microsoft YaHei"/>
                <a:cs typeface="Times New Roman"/>
              </a:rPr>
              <a:t>还要区分额定运行点和全年运行。设备在某个入口状态下表现很好，换成其他湿球温度或负荷率以后，功率和冷量都会变化。</a:t>
            </a:r>
            <a:endParaRPr lang="zh-CN" sz="1200"/>
          </a:p>
          <a:p>
            <a:pPr algn="l"/>
            <a:r>
              <a:rPr lang="zh-CN" sz="1200">
                <a:latin typeface="Times New Roman"/>
                <a:ea typeface="Microsoft YaHei"/>
                <a:cs typeface="Times New Roman"/>
              </a:rPr>
              <a:t>所以，合理的做法是先把边界统一，再比较同一需求下的电耗、用水和约束满足情况。原案例的数值可以帮助我们理解数量级，但真正设计另一个项目时，仍需要它自己的气象、负荷与设备性能数据。</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这里比较了三种冷源方案的初投资。按原案例给出的数据，三者都在一千四百多万元到一千五百多万元这个范围，差距并不是特别悬殊。</a:t>
            </a:r>
            <a:endParaRPr lang="zh-CN" sz="1200"/>
          </a:p>
          <a:p>
            <a:pPr algn="l"/>
            <a:r>
              <a:rPr lang="zh-CN" sz="1200">
                <a:latin typeface="Times New Roman"/>
                <a:ea typeface="Microsoft YaHei"/>
                <a:cs typeface="Times New Roman"/>
              </a:rPr>
              <a:t>只看初投资，很容易忽略后续运行差别。相同的供冷需求下，全年压缩机、风机和水泵的用电，补水和排污费用，以及清洗维护，都可能累积成比较明显的成本。</a:t>
            </a:r>
            <a:endParaRPr lang="zh-CN" sz="1200"/>
          </a:p>
          <a:p>
            <a:pPr algn="l"/>
            <a:r>
              <a:rPr lang="zh-CN" sz="1200">
                <a:latin typeface="Times New Roman"/>
                <a:ea typeface="Microsoft YaHei"/>
                <a:cs typeface="Times New Roman"/>
              </a:rPr>
              <a:t>这些价格属于原报告时期和当时的设备方案，不能直接作为现在的报价。换一个项目以后，电价、水价、气象、负荷率、温度目标和备用要求发生变化，都需要重新计算。</a:t>
            </a:r>
            <a:endParaRPr lang="zh-CN" sz="1200"/>
          </a:p>
          <a:p>
            <a:pPr algn="l"/>
            <a:r>
              <a:rPr lang="zh-CN" sz="1200">
                <a:latin typeface="Times New Roman"/>
                <a:ea typeface="Microsoft YaHei"/>
                <a:cs typeface="Times New Roman"/>
              </a:rPr>
              <a:t>经济性比较的第一步，是让方案提供相同的服务：同样的可用冷量、入口条件和可靠性。否则，一个方案因为少配了保障能力而显得便宜，另一个方案因为边界更完整而显得贵，比较就失去了基础。</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把运行时间拉长以后，初投资与运行费用的相对关系就会改变。图中的曲线展示了原案例几种方案随投资期变化的累计费用。</a:t>
            </a:r>
            <a:endParaRPr lang="zh-CN" sz="1200"/>
          </a:p>
          <a:p>
            <a:pPr algn="l"/>
            <a:r>
              <a:rPr lang="zh-CN" sz="1200">
                <a:latin typeface="Times New Roman"/>
                <a:ea typeface="Microsoft YaHei"/>
                <a:cs typeface="Times New Roman"/>
              </a:rPr>
              <a:t>前期少花一些设备费，如果伴随较高的年度运行费用，若干年后总支出可能反而更多。相反，初投资略高的方案，只要运行节省能够持续实现，就可能在后续年份逐步体现优势。</a:t>
            </a:r>
            <a:endParaRPr lang="zh-CN" sz="1200"/>
          </a:p>
          <a:p>
            <a:pPr algn="l"/>
            <a:r>
              <a:rPr lang="zh-CN" sz="1200">
                <a:latin typeface="Times New Roman"/>
                <a:ea typeface="Microsoft YaHei"/>
                <a:cs typeface="Times New Roman"/>
              </a:rPr>
              <a:t>这类计算要明确设备寿命、维护更新、价格假设和统计边界。若采用全寿命经济性分析，还应按项目要求处理不同时期费用的折现。原图的回收期和百分比，对应的是它自己的比较条件。</a:t>
            </a:r>
            <a:endParaRPr lang="zh-CN" sz="1200"/>
          </a:p>
          <a:p>
            <a:pPr algn="l"/>
            <a:r>
              <a:rPr lang="zh-CN" sz="1200">
                <a:latin typeface="Times New Roman"/>
                <a:ea typeface="Microsoft YaHei"/>
                <a:cs typeface="Times New Roman"/>
              </a:rPr>
              <a:t>工程上更有价值的结果，往往包括条件变化后的敏感性。比如，电价上升或湿式运行小时数减少，方案排序会不会改变。把这些变化看清楚，比只给出一个回收年限更能支持决策。</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这页把案例的创新分成设备、系统、显热末端和运行模式几个层次。它们分别对应局部过程、部件组合、机房取热以及全年运行方式。</a:t>
            </a:r>
            <a:endParaRPr lang="zh-CN" sz="1200"/>
          </a:p>
          <a:p>
            <a:pPr algn="l"/>
            <a:r>
              <a:rPr lang="zh-CN" sz="1200">
                <a:latin typeface="Times New Roman"/>
                <a:ea typeface="Microsoft YaHei"/>
                <a:cs typeface="Times New Roman"/>
              </a:rPr>
              <a:t>验证设备改进时，可以在相同入口状态、风量和供水条件下，比较净冷量、压降、风机泵功和补水量。还需要观察结垢、布水变化和长期衰减，避免只在刚清洗好的状态下评价。</a:t>
            </a:r>
            <a:endParaRPr lang="zh-CN" sz="1200"/>
          </a:p>
          <a:p>
            <a:pPr algn="l"/>
            <a:r>
              <a:rPr lang="zh-CN" sz="1200">
                <a:latin typeface="Times New Roman"/>
                <a:ea typeface="Microsoft YaHei"/>
                <a:cs typeface="Times New Roman"/>
              </a:rPr>
              <a:t>验证系统控制时，则应在一致的气象和负荷条件下，比较全年用电、用水和温湿度约束是否满足。备用和故障切换能力也应纳入验证，不能在正常工况下省了电，却削弱了关键时刻的排热能力。</a:t>
            </a:r>
            <a:endParaRPr lang="zh-CN" sz="1200"/>
          </a:p>
          <a:p>
            <a:pPr algn="l"/>
            <a:r>
              <a:rPr lang="zh-CN" sz="1200">
                <a:latin typeface="Times New Roman"/>
                <a:ea typeface="Microsoft YaHei"/>
                <a:cs typeface="Times New Roman"/>
              </a:rPr>
              <a:t>大家以后做毕业设计，可以从其中一个层次切入。把改进对象和对照基准先确定好，后面的计算、试验和评价才容易对应起来。</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原报告在介绍这套系统以后，也列出了不足和改进方向。这里强调了当地气候、自然条件、用户需求，以及设备体积与冷量之间的关系。</a:t>
            </a:r>
            <a:endParaRPr lang="zh-CN" sz="1200"/>
          </a:p>
          <a:p>
            <a:pPr algn="l"/>
            <a:r>
              <a:rPr lang="zh-CN" sz="1200">
                <a:latin typeface="Times New Roman"/>
                <a:ea typeface="Microsoft YaHei"/>
                <a:cs typeface="Times New Roman"/>
              </a:rPr>
              <a:t>这和前面提到的全年自然冷却目标应当放在一起理解。一个项目在特定气象和温度条件下有较好的运行机会，并不代表同样配置能够直接适用于所有地区。湿热条件、用水限制、极端天气和未来负荷增长，都可能改变需要的冷源组合。</a:t>
            </a:r>
            <a:endParaRPr lang="zh-CN" sz="1200"/>
          </a:p>
          <a:p>
            <a:pPr algn="l"/>
            <a:r>
              <a:rPr lang="zh-CN" sz="1200">
                <a:latin typeface="Times New Roman"/>
                <a:ea typeface="Microsoft YaHei"/>
                <a:cs typeface="Times New Roman"/>
              </a:rPr>
              <a:t>报告也提出，可以结合具体条件适当配置压缩式制冷备份。备份容量需要根据峰值和故障情景确定，不能只凭某个平均年运行结果决定。</a:t>
            </a:r>
            <a:endParaRPr lang="zh-CN" sz="1200"/>
          </a:p>
          <a:p>
            <a:pPr algn="l"/>
            <a:r>
              <a:rPr lang="zh-CN" sz="1200">
                <a:latin typeface="Times New Roman"/>
                <a:ea typeface="Microsoft YaHei"/>
                <a:cs typeface="Times New Roman"/>
              </a:rPr>
              <a:t>推广一项技术时，优点和边界要同时讲清。对实际工程来说，能够稳定满足需求，再在这个基础上减少用电和用水，方案才有持续应用的条件。</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这张图回顾了绿色算力评价的发展。早期更多关注设施能效，后来逐步把用水、碳排放和计算效率等问题放到同一张图里。</a:t>
            </a:r>
            <a:endParaRPr lang="zh-CN" sz="1200"/>
          </a:p>
          <a:p>
            <a:pPr algn="l"/>
            <a:r>
              <a:rPr lang="zh-CN" sz="1200">
                <a:latin typeface="Times New Roman"/>
                <a:ea typeface="Microsoft YaHei"/>
                <a:cs typeface="Times New Roman"/>
              </a:rPr>
              <a:t>以PUE为例，它反映的是同期设施总用电与IT设备用电之间的关系。冷却系统省电，有机会改善这个指标；但IT负荷率变化，也会影响它。因此，比较之前需要统一统计期和边界。</a:t>
            </a:r>
            <a:endParaRPr lang="zh-CN" sz="1200"/>
          </a:p>
          <a:p>
            <a:pPr algn="l"/>
            <a:r>
              <a:rPr lang="zh-CN" sz="1200">
                <a:latin typeface="Times New Roman"/>
                <a:ea typeface="Microsoft YaHei"/>
                <a:cs typeface="Times New Roman"/>
              </a:rPr>
              <a:t>同时，PUE不能单独回答用了多少水，也不能直接代表完成一次有效计算需要多少资源。当地供电结构不同，相近的用电量还可能对应不同的碳排放。</a:t>
            </a:r>
            <a:endParaRPr lang="zh-CN" sz="1200"/>
          </a:p>
          <a:p>
            <a:pPr algn="l"/>
            <a:r>
              <a:rPr lang="zh-CN" sz="1200">
                <a:latin typeface="Times New Roman"/>
                <a:ea typeface="Microsoft YaHei"/>
                <a:cs typeface="Times New Roman"/>
              </a:rPr>
              <a:t>对建环专业来说，我们熟悉的冷量、温度、风量和泵功仍然是基础，只是需要进一步把它们接到设施评价里。最后应当能说明，在满足相同计算服务和运行要求的条件下，方案实际节省了什么，又增加了哪些资源需求。</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从这张层次图可以看到，冷却只是算力基础设施中的一部分。服务器需要建筑空间、电力、网络、给排水和环境控制共同支持，任何一个环节受到限制，计算设备的能力都可能无法充分发挥。</a:t>
            </a:r>
            <a:endParaRPr lang="zh-CN" sz="1200"/>
          </a:p>
          <a:p>
            <a:pPr algn="l"/>
            <a:r>
              <a:rPr lang="zh-CN" sz="1200">
                <a:latin typeface="Times New Roman"/>
                <a:ea typeface="Microsoft YaHei"/>
                <a:cs typeface="Times New Roman"/>
              </a:rPr>
              <a:t>高密度算力带来的变化，也不只是给机房多加几台空调。机柜局部负荷增大以后，空气输送、液体管路、配电、层高和检修空间都可能需要调整。设施各专业之间的接口会更紧密。</a:t>
            </a:r>
            <a:endParaRPr lang="zh-CN" sz="1200"/>
          </a:p>
          <a:p>
            <a:pPr algn="l"/>
            <a:r>
              <a:rPr lang="zh-CN" sz="1200">
                <a:latin typeface="Times New Roman"/>
                <a:ea typeface="Microsoft YaHei"/>
                <a:cs typeface="Times New Roman"/>
              </a:rPr>
              <a:t>比如，一台冷源设备名义冷量足够，现场仍可能因为管路流量不足、末端温度不匹配，或者气流没有送到热点而达不到要求。设备层面的能力，需要通过系统才能落实到芯片或服务器入口。</a:t>
            </a:r>
            <a:endParaRPr lang="zh-CN" sz="1200"/>
          </a:p>
          <a:p>
            <a:pPr algn="l"/>
            <a:r>
              <a:rPr lang="zh-CN" sz="1200">
                <a:latin typeface="Times New Roman"/>
                <a:ea typeface="Microsoft YaHei"/>
                <a:cs typeface="Times New Roman"/>
              </a:rPr>
              <a:t>所以，新型冷却方案应当尽早与建筑、电气、IT和给排水条件协调。把接口留到设备安装以后再处理，往往会增加改造难度和运行损失。</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不同类型的计算负荷，对设施的要求并不相同。通用计算、超算和智算在设备构成、负荷变化及功率密度上存在差异，局部散热条件也会不同。</a:t>
            </a:r>
            <a:endParaRPr lang="zh-CN" sz="1200"/>
          </a:p>
          <a:p>
            <a:pPr algn="l"/>
            <a:r>
              <a:rPr lang="zh-CN" sz="1200">
                <a:latin typeface="Times New Roman"/>
                <a:ea typeface="Microsoft YaHei"/>
                <a:cs typeface="Times New Roman"/>
              </a:rPr>
              <a:t>机柜功率提高以后，同样的空气温升范围内，需要搬运的空气量通常会增加；如果空间和风道受到限制，单纯继续增加风量就会越来越困难。与此同时，局部芯片的热流密度，也可能推动取热方式向更靠近热源的位置发展。</a:t>
            </a:r>
            <a:endParaRPr lang="zh-CN" sz="1200"/>
          </a:p>
          <a:p>
            <a:pPr algn="l"/>
            <a:r>
              <a:rPr lang="zh-CN" sz="1200">
                <a:latin typeface="Times New Roman"/>
                <a:ea typeface="Microsoft YaHei"/>
                <a:cs typeface="Times New Roman"/>
              </a:rPr>
              <a:t>图中的参数范围来自原报告，可以帮助理解不同需求的差别。实际选型仍要以所用服务器的功率、允许温度和厂商要求为准，不能只根据一个机柜功率数字就把方案固定下来。</a:t>
            </a:r>
            <a:endParaRPr lang="zh-CN" sz="1200"/>
          </a:p>
          <a:p>
            <a:pPr algn="l"/>
            <a:r>
              <a:rPr lang="zh-CN" sz="1200">
                <a:latin typeface="Times New Roman"/>
                <a:ea typeface="Microsoft YaHei"/>
                <a:cs typeface="Times New Roman"/>
              </a:rPr>
              <a:t>还要考虑负荷今后怎样变化。建设初期合适的配置，在设备升级以后可能需要更高的液体输送能力或更多残余风冷，因此设施的可扩展性应当一起评估。</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风冷在不少数据中心中仍然有适用空间。图中根据不同机柜功率条件，展示了列间空调和通道组织的布置思路。</a:t>
            </a:r>
            <a:endParaRPr lang="zh-CN" sz="1200"/>
          </a:p>
          <a:p>
            <a:pPr algn="l"/>
            <a:r>
              <a:rPr lang="zh-CN" sz="1200">
                <a:latin typeface="Times New Roman"/>
                <a:ea typeface="Microsoft YaHei"/>
                <a:cs typeface="Times New Roman"/>
              </a:rPr>
              <a:t>靠近机柜布置末端，可以缩短空气搬运路径；配合封闭热通道等措施，可以减少冷热混合。不过，机组、机柜和检修空间之间也要留出合适关系，不能只追求设备摆得更密。</a:t>
            </a:r>
            <a:endParaRPr lang="zh-CN" sz="1200"/>
          </a:p>
          <a:p>
            <a:pPr algn="l"/>
            <a:r>
              <a:rPr lang="zh-CN" sz="1200">
                <a:latin typeface="Times New Roman"/>
                <a:ea typeface="Microsoft YaHei"/>
                <a:cs typeface="Times New Roman"/>
              </a:rPr>
              <a:t>随着单柜负荷提高，同样的送回风温差下，需要的风量会增大。局部送风分配、噪声和风机功，就可能逐渐成为限制。能否继续采用风冷，需要结合这些实际条件判断。</a:t>
            </a:r>
            <a:endParaRPr lang="zh-CN" sz="1200"/>
          </a:p>
          <a:p>
            <a:pPr algn="l"/>
            <a:r>
              <a:rPr lang="zh-CN" sz="1200">
                <a:latin typeface="Times New Roman"/>
                <a:ea typeface="Microsoft YaHei"/>
                <a:cs typeface="Times New Roman"/>
              </a:rPr>
              <a:t>图上的功率分段是对应方案的经验条件，并不是所有数据中心统一的技术分界。评价时还是要回到设备允许入口状态、现场空间和气流路径，核对热点能否稳定受控。</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液冷又可以分成不同形式。冷板式通常把液体限制在冷板和管路内部，通过固体界面从芯片取热；浸没和喷淋等形式，则涉及冷却介质与电子组件更直接的接触。</a:t>
            </a:r>
            <a:endParaRPr lang="zh-CN" sz="1200"/>
          </a:p>
          <a:p>
            <a:pPr algn="l"/>
            <a:r>
              <a:rPr lang="zh-CN" sz="1200">
                <a:latin typeface="Times New Roman"/>
                <a:ea typeface="Microsoft YaHei"/>
                <a:cs typeface="Times New Roman"/>
              </a:rPr>
              <a:t>因此，各种形式需要关注的工程问题不一样。冷板式要重视接头、密封和管路泄漏，浸没与喷淋则更强调介质和材料兼容、维护工艺以及流体管理。表中的设备功率和覆盖比例，也都对应各自的方案条件。</a:t>
            </a:r>
            <a:endParaRPr lang="zh-CN" sz="1200"/>
          </a:p>
          <a:p>
            <a:pPr algn="l"/>
            <a:r>
              <a:rPr lang="zh-CN" sz="1200">
                <a:latin typeface="Times New Roman"/>
                <a:ea typeface="Microsoft YaHei"/>
                <a:cs typeface="Times New Roman"/>
              </a:rPr>
              <a:t>采用液冷以后，部分热量可以不再先经过机房空气，而是直接进入液体回路。这有助于应对较高的局部热负荷，但这部分热量最终仍然要排到室外。</a:t>
            </a:r>
            <a:endParaRPr lang="zh-CN" sz="1200"/>
          </a:p>
          <a:p>
            <a:pPr algn="l"/>
            <a:r>
              <a:rPr lang="zh-CN" sz="1200">
                <a:latin typeface="Times New Roman"/>
                <a:ea typeface="Microsoft YaHei"/>
                <a:cs typeface="Times New Roman"/>
              </a:rPr>
              <a:t>另外，冷板通常不会自动带走所有机房热量。内存、供电部件和其他残余负荷，仍可能需要风侧末端。因此，液冷系统和残余风冷应当共同设计，避免只解决芯片附近的取热而遗漏其他区域。</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这页讨论的是从初期配置到后续升级的适配。数据中心投入运行以后，机柜功率、服务器类型和计算任务可能继续变化，冷却设施需要留出合理的扩展能力。</a:t>
            </a:r>
            <a:endParaRPr lang="zh-CN" sz="1200"/>
          </a:p>
          <a:p>
            <a:pPr algn="l"/>
            <a:r>
              <a:rPr lang="zh-CN" sz="1200">
                <a:latin typeface="Times New Roman"/>
                <a:ea typeface="Microsoft YaHei"/>
                <a:cs typeface="Times New Roman"/>
              </a:rPr>
              <a:t>预留设备位置只是一部分。冷源温度等级、管径、泵的能力、分配单元、残余风冷和检修空间，都可能影响以后能否顺利改造。负荷还没到设计值时，系统也要能在部分负荷下有效运行。</a:t>
            </a:r>
            <a:endParaRPr lang="zh-CN" sz="1200"/>
          </a:p>
          <a:p>
            <a:pPr algn="l"/>
            <a:r>
              <a:rPr lang="zh-CN" sz="1200">
                <a:latin typeface="Times New Roman"/>
                <a:ea typeface="Microsoft YaHei"/>
                <a:cs typeface="Times New Roman"/>
              </a:rPr>
              <a:t>扩容还会改变冗余关系。原来一台备用设备足以覆盖的缺口，负荷增加以后可能就不够了。控制策略、流量分配和故障切换，应当随分期建设重新核对。</a:t>
            </a:r>
            <a:endParaRPr lang="zh-CN" sz="1200"/>
          </a:p>
          <a:p>
            <a:pPr algn="l"/>
            <a:r>
              <a:rPr lang="zh-CN" sz="1200">
                <a:latin typeface="Times New Roman"/>
                <a:ea typeface="Microsoft YaHei"/>
                <a:cs typeface="Times New Roman"/>
              </a:rPr>
              <a:t>图中给出了几种建设和升级思路。它们帮助我们认识规划阶段需要留哪些接口，而具体采用哪一种，还要由目标设备、建设节奏和运行保障要求共同确定。</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这张图把取热位置从房间、行和机柜，逐步推进到芯片附近。越靠近热源取热，通常越有机会减少空气混合和大空间输送带来的损失，也更容易针对局部高热负荷安排冷却。</a:t>
            </a:r>
            <a:endParaRPr lang="zh-CN" sz="1200"/>
          </a:p>
          <a:p>
            <a:pPr algn="l"/>
            <a:r>
              <a:rPr lang="zh-CN" sz="1200">
                <a:latin typeface="Times New Roman"/>
                <a:ea typeface="Microsoft YaHei"/>
                <a:cs typeface="Times New Roman"/>
              </a:rPr>
              <a:t>与此同时，工程要求也会改变。液体走得更靠近电子设备，接头、介质、监测和维护就需要更细致地管理；回路温度和流量，也要与芯片的热设计要求相匹配。</a:t>
            </a:r>
            <a:endParaRPr lang="zh-CN" sz="1200"/>
          </a:p>
          <a:p>
            <a:pPr algn="l"/>
            <a:r>
              <a:rPr lang="zh-CN" sz="1200">
                <a:latin typeface="Times New Roman"/>
                <a:ea typeface="Microsoft YaHei"/>
                <a:cs typeface="Times New Roman"/>
              </a:rPr>
              <a:t>因此，取热位置的变化带来了新的设计自由度，也增加了接口要求。我们需要核对真正被液体带走的热量比例，以及剩余热量由哪套末端承担。</a:t>
            </a:r>
            <a:endParaRPr lang="zh-CN" sz="1200"/>
          </a:p>
          <a:p>
            <a:pPr algn="l"/>
            <a:r>
              <a:rPr lang="zh-CN" sz="1200">
                <a:latin typeface="Times New Roman"/>
                <a:ea typeface="Microsoft YaHei"/>
                <a:cs typeface="Times New Roman"/>
              </a:rPr>
              <a:t>图里的功率范围和能效标签，反映的是原报告采用的比较条件。实际方案应当把负荷、温度等级和整套系统能耗一起看，避免把取热位置变近直接等同于所有工况下都会得到同样的节能比例。</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现在顺着这张图，把热量完整追踪一遍。芯片把热量传给冷板，冷板内的液体吸热以后流向分配和热交换单元，再把热量交给设施侧回路。设施侧把这部分热量送到室外，由蒸发冷却冷水机组或其他合适冷源排出。</a:t>
            </a:r>
            <a:endParaRPr lang="zh-CN" sz="1200"/>
          </a:p>
          <a:p>
            <a:pPr algn="l"/>
            <a:r>
              <a:rPr lang="zh-CN" sz="1200">
                <a:latin typeface="Times New Roman"/>
                <a:ea typeface="Microsoft YaHei"/>
                <a:cs typeface="Times New Roman"/>
              </a:rPr>
              <a:t>典型冷板系统会在冷却液分配单元，也就是CDU，或者相应的热交换单元处，实现IT侧与设施侧回路隔离。这样，两侧可以采用各自需要的介质、水质和运行压力。</a:t>
            </a:r>
            <a:endParaRPr lang="zh-CN" sz="1200"/>
          </a:p>
          <a:p>
            <a:pPr algn="l"/>
            <a:r>
              <a:rPr lang="zh-CN" sz="1200">
                <a:latin typeface="Times New Roman"/>
                <a:ea typeface="Microsoft YaHei"/>
                <a:cs typeface="Times New Roman"/>
              </a:rPr>
              <a:t>每经过一级换热，都需要足够温差。图中的供回液温度反映了这一安排，但具体温度要服从芯片、冷板和冷却液的要求。设施侧允许温度较高时，通常有利于增加自然冷却利用机会，仍然需要把端差和输送温升算进去。</a:t>
            </a:r>
            <a:endParaRPr lang="zh-CN" sz="1200"/>
          </a:p>
          <a:p>
            <a:pPr algn="l"/>
            <a:r>
              <a:rPr lang="zh-CN" sz="1200">
                <a:latin typeface="Times New Roman"/>
                <a:ea typeface="Microsoft YaHei"/>
                <a:cs typeface="Times New Roman"/>
              </a:rPr>
              <a:t>未由液冷带走的热量，还要靠风侧或其他末端处理。最终形成的是芯片取热、液体输送、回路隔离和室外排热共同工作的系统，而不是只安装一个冷板就完成了冷却。</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图中的风墙与不同温度盘管，展示了风侧末端和水侧冷源的另一种配合。它也提醒我们，液冷投入以后，机房里往往仍然有需要由空气带走的热量。</a:t>
            </a:r>
            <a:endParaRPr lang="zh-CN" sz="1200"/>
          </a:p>
          <a:p>
            <a:pPr algn="l"/>
            <a:r>
              <a:rPr lang="zh-CN" sz="1200">
                <a:latin typeface="Times New Roman"/>
                <a:ea typeface="Microsoft YaHei"/>
                <a:cs typeface="Times New Roman"/>
              </a:rPr>
              <a:t>不同末端对供液温度和流量的要求可能不同。可以通过温度等级匹配、回路分开和换热隔离等方式安排，再由共同冷源协调供冷。</a:t>
            </a:r>
            <a:endParaRPr lang="zh-CN" sz="1200"/>
          </a:p>
          <a:p>
            <a:pPr algn="l"/>
            <a:r>
              <a:rPr lang="zh-CN" sz="1200">
                <a:latin typeface="Times New Roman"/>
                <a:ea typeface="Microsoft YaHei"/>
                <a:cs typeface="Times New Roman"/>
              </a:rPr>
              <a:t>设计时不能只把各末端所需冷量相加，还要看它们能否在同一套供液条件下工作。某一末端需要更低温度时，可能影响共同冷源的自然冷却时数；表面温度偏低时，还要检查凝露条件。</a:t>
            </a:r>
            <a:endParaRPr lang="zh-CN" sz="1200"/>
          </a:p>
          <a:p>
            <a:pPr algn="l"/>
            <a:r>
              <a:rPr lang="zh-CN" sz="1200">
                <a:latin typeface="Times New Roman"/>
                <a:ea typeface="Microsoft YaHei"/>
                <a:cs typeface="Times New Roman"/>
              </a:rPr>
              <a:t>因此，风侧和液侧协同的重点，是温度、流量、剩余负荷与控制方式都能对应起来。正常运行满足要求以后，还需要检查一条回路退出时，其他路径是否有能力承担必要的排热任务。</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从这张平面和剖面图可以看到，冷却方案会直接影响建筑空间。原方案涉及层高、机组基础、上方检修以及管路布置，图中给出了对应的尺寸安排。</a:t>
            </a:r>
            <a:endParaRPr lang="zh-CN" sz="1200"/>
          </a:p>
          <a:p>
            <a:pPr algn="l"/>
            <a:r>
              <a:rPr lang="zh-CN" sz="1200">
                <a:latin typeface="Times New Roman"/>
                <a:ea typeface="Microsoft YaHei"/>
                <a:cs typeface="Times New Roman"/>
              </a:rPr>
              <a:t>对于液冷或复合冷却，新增管路、分配单元和检修路径，都需要提前留位置。如果空间只按设备本体高度来安排，后期再补阀件、保温、支吊架和维护空间，往往就会比较被动。</a:t>
            </a:r>
            <a:endParaRPr lang="zh-CN" sz="1200"/>
          </a:p>
          <a:p>
            <a:pPr algn="l"/>
            <a:r>
              <a:rPr lang="zh-CN" sz="1200">
                <a:latin typeface="Times New Roman"/>
                <a:ea typeface="Microsoft YaHei"/>
                <a:cs typeface="Times New Roman"/>
              </a:rPr>
              <a:t>因此，在比较不同冷却技术时，除了电耗和设备价格，也要看层高、建筑面积、运输安装和后续改造。某些设备本体看起来紧凑，进入建筑以后需要的总空间未必小。</a:t>
            </a:r>
            <a:endParaRPr lang="zh-CN" sz="1200"/>
          </a:p>
          <a:p>
            <a:pPr algn="l"/>
            <a:r>
              <a:rPr lang="zh-CN" sz="1200">
                <a:latin typeface="Times New Roman"/>
                <a:ea typeface="Microsoft YaHei"/>
                <a:cs typeface="Times New Roman"/>
              </a:rPr>
              <a:t>图中的尺寸对应这套具体方案，实际项目要根据机柜高度、结构梁、风道和液体管路重新协调。建筑与设备条件尽早对应，可以减少后期为满足某一个接口而反复调整。</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这一页把前面几条技术路径放在了一起。空气侧、液体侧和不同室外冷源都可以组合，选择时需要把温度等级、系统边界、控制和可靠性统一起来。</a:t>
            </a:r>
            <a:endParaRPr lang="zh-CN" sz="1200"/>
          </a:p>
          <a:p>
            <a:pPr algn="l"/>
            <a:r>
              <a:rPr lang="zh-CN" sz="1200">
                <a:latin typeface="Times New Roman"/>
                <a:ea typeface="Microsoft YaHei"/>
                <a:cs typeface="Times New Roman"/>
              </a:rPr>
              <a:t>从研究角度看，还有不少具体问题可以继续做。例如，润湿换热器怎样在较低压降下保持足够传热，结垢和布水变化怎样影响长期性能，以及怎样根据天气和负荷调整风量与供水。</a:t>
            </a:r>
            <a:endParaRPr lang="zh-CN" sz="1200"/>
          </a:p>
          <a:p>
            <a:pPr algn="l"/>
            <a:r>
              <a:rPr lang="zh-CN" sz="1200">
                <a:latin typeface="Times New Roman"/>
                <a:ea typeface="Microsoft YaHei"/>
                <a:cs typeface="Times New Roman"/>
              </a:rPr>
              <a:t>这些问题都需要可测量的量来回答。净冷量、压降、风机泵功、补水量、润湿均匀性和性能衰减，可以用来评价设备；逐时电耗、用水和入口条件，可以用来评价系统。</a:t>
            </a:r>
            <a:endParaRPr lang="zh-CN" sz="1200"/>
          </a:p>
          <a:p>
            <a:pPr algn="l"/>
            <a:r>
              <a:rPr lang="zh-CN" sz="1200">
                <a:latin typeface="Times New Roman"/>
                <a:ea typeface="Microsoft YaHei"/>
                <a:cs typeface="Times New Roman"/>
              </a:rPr>
              <a:t>有了明确对照，才容易分辨节省来自哪里。把某个部件的性能改善接到全年运行结果上，再把维护和故障条件放进去，这样的研究结论才更容易转化成可用的工程方案。</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今天从水蒸发的吸热过程，一直讲到了数据中心中的风液融合。最后再把几条关系连起来。</a:t>
            </a:r>
            <a:endParaRPr lang="zh-CN" sz="1200"/>
          </a:p>
          <a:p>
            <a:pPr algn="l"/>
            <a:r>
              <a:rPr lang="zh-CN" sz="1200">
                <a:latin typeface="Times New Roman"/>
                <a:ea typeface="Microsoft YaHei"/>
                <a:cs typeface="Times New Roman"/>
              </a:rPr>
              <a:t>直接蒸发让产品空气接触水，通常会降温加湿；间接蒸发用隔板把产品空气和湿侧工作空气分开，在合适条件下实现近似等含湿量降温。能降到什么程度，要看空气状态、结构和运行条件。</a:t>
            </a:r>
            <a:endParaRPr lang="zh-CN" sz="1200"/>
          </a:p>
          <a:p>
            <a:pPr algn="l"/>
            <a:r>
              <a:rPr lang="zh-CN" sz="1200">
                <a:latin typeface="Times New Roman"/>
                <a:ea typeface="Microsoft YaHei"/>
                <a:cs typeface="Times New Roman"/>
              </a:rPr>
              <a:t>进入工程以后，设备冷量还要通过回路、末端和气流组织，真正送到服务器需要的位置。控制、用水、维护和备用路径，也会影响方案能否长期运行。干燥地区的经验迁移到湿热地区，需要重新核对逐时气象、负荷、温度要求和保障条件。</a:t>
            </a:r>
            <a:endParaRPr lang="zh-CN" sz="1200"/>
          </a:p>
          <a:p>
            <a:pPr algn="l"/>
            <a:r>
              <a:rPr lang="zh-CN" sz="1200">
                <a:latin typeface="Times New Roman"/>
                <a:ea typeface="Microsoft YaHei"/>
                <a:cs typeface="Times New Roman"/>
              </a:rPr>
              <a:t>液冷改变了近热源的取热方式，蒸发冷却仍然可以在设施侧参与排热。把这条热量路径看清楚，后面遇到新的设备或方案，就能够判断它利用了什么条件、解决了哪个环节，以及还需要哪些配套。今天的课就讲到这里，谢谢大家。</a:t>
            </a:r>
            <a:endParaRPr lang="zh-CN" sz="1200"/>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今天的内容分成六部分。前半节先讲蒸发冷却的基础，弄清水蒸发为什么能降温，以及空气状态怎样影响降温效果；接着比较直接、间接和露点型技术，再看设备形式和季节运行模式。</a:t>
            </a:r>
            <a:endParaRPr lang="zh-CN" sz="1200"/>
          </a:p>
          <a:p>
            <a:pPr algn="l"/>
            <a:r>
              <a:rPr lang="zh-CN" sz="1200">
                <a:latin typeface="Times New Roman"/>
                <a:ea typeface="Microsoft YaHei"/>
                <a:cs typeface="Times New Roman"/>
              </a:rPr>
              <a:t>后半节转到工程应用。我们会结合一个干燥地区的数据中心项目，顺着冷源、水系统和机房空气的路径，把整套系统读一遍。随后讨论控制、能耗、用水和经济性，最后把话题延伸到高密度算力需求，以及蒸发冷却与液冷的融合。</a:t>
            </a:r>
            <a:endParaRPr lang="zh-CN" sz="120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先从最基本的蒸发过程讲起。这一部分需要建立两个判断：一是水蒸发时从哪里吸热，二是环境空气还能接纳多少水蒸气。这两个条件决定了蒸发冷却有没有潜力，也决定了后面的设备设计能够做到什么程度。</a:t>
            </a:r>
            <a:endParaRPr lang="zh-CN" sz="120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有了前面的基础，下面比较几种具体技术。接下来读图时，我们沿着产品空气的路径看：它经过哪些处理段，有没有直接接触水，最后含湿量发生了什么变化。用这条线索，直接、间接和露点型之间的区别就比较清楚了。</a:t>
            </a:r>
            <a:endParaRPr lang="zh-CN" sz="120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前面已经分清了几种技术的热湿过程。下面把范围扩大到设备和系统，看看空气侧、水侧以及复合冷源怎样组织起来。这里需要继续注意每一级换热的温差，同时把风机、泵和冬季防冻等运行条件算进去。</a:t>
            </a:r>
            <a:endParaRPr lang="zh-CN" sz="120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前面讲的是原理、设备和几种运行路径。下面结合乌鲁木齐的工程，把这些环节串起来。我们沿着冷源、液体回路、显热末端和机房气流往下看，同时留意设备冗余、蓄水和备份排热方式。这些保障条件也属于系统设计的一部分。</a:t>
            </a:r>
            <a:endParaRPr lang="zh-CN" sz="120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前面的案例让我们看到了设备怎样组成系统。接下来进一步看运行评价，同时把冷却要求与算力需求联系起来。随着机柜功率密度提高，供冷能力、控制方式和后续扩容都需要一起考虑，评价范围也要从单台设备扩大到整座设施。</a:t>
            </a:r>
            <a:endParaRPr lang="zh-CN" sz="120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pPr algn="l"/>
            <a:r>
              <a:rPr lang="zh-CN" sz="1200">
                <a:latin typeface="Times New Roman"/>
                <a:ea typeface="Microsoft YaHei"/>
                <a:cs typeface="Times New Roman"/>
              </a:rPr>
              <a:t>最后这一部分，把前面讲过的取热方式和室外冷源接起来。液冷解决芯片或服务器附近的取热，蒸发冷却可以在设施侧承担排热。两者处在不同环节，能够配合使用。接下来沿着完整热流看它们怎样连接。</a:t>
            </a:r>
            <a:endParaRPr lang="zh-CN" sz="120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atin typeface="Times New Roman"/>
              </a:rPr>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atin typeface="Times New Roman"/>
              </a:rPr>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rPr>
              <a:t>Click to edit Master title style</a:t>
            </a:r>
            <a:endParaRPr lang="en-US"/>
          </a:p>
        </p:txBody>
      </p:sp>
      <p:sp>
        <p:nvSpPr>
          <p:cNvPr id="3" name="Content Placeholder 2"/>
          <p:cNvSpPr>
            <a:spLocks noGrp="1"/>
          </p:cNvSpPr>
          <p:nvPr>
            <p:ph idx="1"/>
          </p:nvPr>
        </p:nvSpPr>
        <p:spPr/>
        <p:txBody>
          <a:bodyPr/>
          <a:lstStyle/>
          <a:p>
            <a:pPr lvl="0"/>
            <a:r>
              <a:rPr lang="en-US">
                <a:latin typeface="Times New Roman"/>
              </a:rPr>
              <a:t>Click to edit Master text styles</a:t>
            </a:r>
          </a:p>
          <a:p>
            <a:pPr lvl="1"/>
            <a:r>
              <a:rPr lang="en-US">
                <a:latin typeface="Times New Roman"/>
              </a:rPr>
              <a:t>Second level</a:t>
            </a:r>
          </a:p>
          <a:p>
            <a:pPr lvl="2"/>
            <a:r>
              <a:rPr lang="en-US">
                <a:latin typeface="Times New Roman"/>
              </a:rPr>
              <a:t>Third level</a:t>
            </a:r>
          </a:p>
          <a:p>
            <a:pPr lvl="3"/>
            <a:r>
              <a:rPr lang="en-US">
                <a:latin typeface="Times New Roman"/>
              </a:rPr>
              <a:t>Fourth level</a:t>
            </a:r>
          </a:p>
          <a:p>
            <a:pPr lvl="4"/>
            <a:r>
              <a:rPr lang="en-US">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atin typeface="Times New Roman"/>
              </a:rPr>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atin typeface="Times New Roman"/>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rP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atin typeface="Times New Roman"/>
              </a:rPr>
              <a:t>Click to edit Master text styles</a:t>
            </a:r>
          </a:p>
          <a:p>
            <a:pPr lvl="1"/>
            <a:r>
              <a:rPr lang="en-US">
                <a:latin typeface="Times New Roman"/>
              </a:rPr>
              <a:t>Second level</a:t>
            </a:r>
          </a:p>
          <a:p>
            <a:pPr lvl="2"/>
            <a:r>
              <a:rPr lang="en-US">
                <a:latin typeface="Times New Roman"/>
              </a:rPr>
              <a:t>Third level</a:t>
            </a:r>
          </a:p>
          <a:p>
            <a:pPr lvl="3"/>
            <a:r>
              <a:rPr lang="en-US">
                <a:latin typeface="Times New Roman"/>
              </a:rPr>
              <a:t>Fourth level</a:t>
            </a:r>
          </a:p>
          <a:p>
            <a:pPr lvl="4"/>
            <a:r>
              <a:rPr lang="en-US">
                <a:latin typeface="Times New Roman"/>
              </a:rPr>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atin typeface="Times New Roman"/>
              </a:rPr>
              <a:t>Click to edit Master text styles</a:t>
            </a:r>
          </a:p>
          <a:p>
            <a:pPr lvl="1"/>
            <a:r>
              <a:rPr lang="en-US">
                <a:latin typeface="Times New Roman"/>
              </a:rPr>
              <a:t>Second level</a:t>
            </a:r>
          </a:p>
          <a:p>
            <a:pPr lvl="2"/>
            <a:r>
              <a:rPr lang="en-US">
                <a:latin typeface="Times New Roman"/>
              </a:rPr>
              <a:t>Third level</a:t>
            </a:r>
          </a:p>
          <a:p>
            <a:pPr lvl="3"/>
            <a:r>
              <a:rPr lang="en-US">
                <a:latin typeface="Times New Roman"/>
              </a:rPr>
              <a:t>Fourth level</a:t>
            </a:r>
          </a:p>
          <a:p>
            <a:pPr lvl="4"/>
            <a:r>
              <a:rPr lang="en-US">
                <a:latin typeface="Times New Roman"/>
              </a:rPr>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atin typeface="Times New Roman"/>
              </a:rPr>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atin typeface="Times New Roman"/>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atin typeface="Times New Roman"/>
              </a:rPr>
              <a:t>Click to edit Master text styles</a:t>
            </a:r>
          </a:p>
          <a:p>
            <a:pPr lvl="1"/>
            <a:r>
              <a:rPr lang="en-US">
                <a:latin typeface="Times New Roman"/>
              </a:rPr>
              <a:t>Second level</a:t>
            </a:r>
          </a:p>
          <a:p>
            <a:pPr lvl="2"/>
            <a:r>
              <a:rPr lang="en-US">
                <a:latin typeface="Times New Roman"/>
              </a:rPr>
              <a:t>Third level</a:t>
            </a:r>
          </a:p>
          <a:p>
            <a:pPr lvl="3"/>
            <a:r>
              <a:rPr lang="en-US">
                <a:latin typeface="Times New Roman"/>
              </a:rPr>
              <a:t>Fourth level</a:t>
            </a:r>
          </a:p>
          <a:p>
            <a:pPr lvl="4"/>
            <a:r>
              <a:rPr lang="en-US">
                <a:latin typeface="Times New Roman"/>
              </a:rPr>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atin typeface="Times New Roman"/>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atin typeface="Times New Roman"/>
              </a:rPr>
              <a:t>Click to edit Master text styles</a:t>
            </a:r>
          </a:p>
          <a:p>
            <a:pPr lvl="1"/>
            <a:r>
              <a:rPr lang="en-US">
                <a:latin typeface="Times New Roman"/>
              </a:rPr>
              <a:t>Second level</a:t>
            </a:r>
          </a:p>
          <a:p>
            <a:pPr lvl="2"/>
            <a:r>
              <a:rPr lang="en-US">
                <a:latin typeface="Times New Roman"/>
              </a:rPr>
              <a:t>Third level</a:t>
            </a:r>
          </a:p>
          <a:p>
            <a:pPr lvl="3"/>
            <a:r>
              <a:rPr lang="en-US">
                <a:latin typeface="Times New Roman"/>
              </a:rPr>
              <a:t>Fourth level</a:t>
            </a:r>
          </a:p>
          <a:p>
            <a:pPr lvl="4"/>
            <a:r>
              <a:rPr lang="en-US">
                <a:latin typeface="Times New Roman"/>
              </a:rPr>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rPr>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atin typeface="Times New Roman"/>
              </a:rPr>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atin typeface="Times New Roman"/>
              </a:rPr>
              <a:t>Click to edit Master text styles</a:t>
            </a:r>
          </a:p>
          <a:p>
            <a:pPr lvl="1"/>
            <a:r>
              <a:rPr lang="en-US">
                <a:latin typeface="Times New Roman"/>
              </a:rPr>
              <a:t>Second level</a:t>
            </a:r>
          </a:p>
          <a:p>
            <a:pPr lvl="2"/>
            <a:r>
              <a:rPr lang="en-US">
                <a:latin typeface="Times New Roman"/>
              </a:rPr>
              <a:t>Third level</a:t>
            </a:r>
          </a:p>
          <a:p>
            <a:pPr lvl="3"/>
            <a:r>
              <a:rPr lang="en-US">
                <a:latin typeface="Times New Roman"/>
              </a:rPr>
              <a:t>Fourth level</a:t>
            </a:r>
          </a:p>
          <a:p>
            <a:pPr lvl="4"/>
            <a:r>
              <a:rPr lang="en-US">
                <a:latin typeface="Times New Roman"/>
              </a:rPr>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atin typeface="Times New Roman"/>
              </a:rPr>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rPr>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atin typeface="Times New Roman"/>
              </a:rPr>
              <a:t>Click to edit Master text styles</a:t>
            </a:r>
          </a:p>
          <a:p>
            <a:pPr lvl="1"/>
            <a:r>
              <a:rPr lang="en-US">
                <a:latin typeface="Times New Roman"/>
              </a:rPr>
              <a:t>Second level</a:t>
            </a:r>
          </a:p>
          <a:p>
            <a:pPr lvl="2"/>
            <a:r>
              <a:rPr lang="en-US">
                <a:latin typeface="Times New Roman"/>
              </a:rPr>
              <a:t>Third level</a:t>
            </a:r>
          </a:p>
          <a:p>
            <a:pPr lvl="3"/>
            <a:r>
              <a:rPr lang="en-US">
                <a:latin typeface="Times New Roman"/>
              </a:rPr>
              <a:t>Fourth level</a:t>
            </a:r>
          </a:p>
          <a:p>
            <a:pPr lvl="4"/>
            <a:r>
              <a:rPr lang="en-US">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atin typeface="Times New Roman"/>
              </a:rPr>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atin typeface="Times New Roman"/>
              </a:rPr>
              <a:t>Click to edit Master text styles</a:t>
            </a:r>
          </a:p>
          <a:p>
            <a:pPr lvl="1"/>
            <a:r>
              <a:rPr lang="en-US">
                <a:latin typeface="Times New Roman"/>
              </a:rPr>
              <a:t>Second level</a:t>
            </a:r>
          </a:p>
          <a:p>
            <a:pPr lvl="2"/>
            <a:r>
              <a:rPr lang="en-US">
                <a:latin typeface="Times New Roman"/>
              </a:rPr>
              <a:t>Third level</a:t>
            </a:r>
          </a:p>
          <a:p>
            <a:pPr lvl="3"/>
            <a:r>
              <a:rPr lang="en-US">
                <a:latin typeface="Times New Roman"/>
              </a:rPr>
              <a:t>Fourth level</a:t>
            </a:r>
          </a:p>
          <a:p>
            <a:pPr lvl="4"/>
            <a:r>
              <a:rPr lang="en-US">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页-蓝">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任意多边形: 形状 6"/>
          <p:cNvSpPr/>
          <p:nvPr userDrawn="1"/>
        </p:nvSpPr>
        <p:spPr>
          <a:xfrm>
            <a:off x="0" y="5329406"/>
            <a:ext cx="12192000" cy="1538071"/>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任意多边形: 形状 7"/>
          <p:cNvSpPr/>
          <p:nvPr userDrawn="1"/>
        </p:nvSpPr>
        <p:spPr>
          <a:xfrm>
            <a:off x="0" y="5586818"/>
            <a:ext cx="12192000" cy="1280657"/>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00377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任意多边形: 形状 8"/>
          <p:cNvSpPr/>
          <p:nvPr userDrawn="1"/>
        </p:nvSpPr>
        <p:spPr>
          <a:xfrm>
            <a:off x="0" y="5813559"/>
            <a:ext cx="12192000" cy="1053917"/>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任意多边形: 形状 9"/>
          <p:cNvSpPr/>
          <p:nvPr userDrawn="1"/>
        </p:nvSpPr>
        <p:spPr>
          <a:xfrm>
            <a:off x="0" y="0"/>
            <a:ext cx="12192000" cy="1920503"/>
          </a:xfrm>
          <a:custGeom>
            <a:avLst/>
            <a:gdLst>
              <a:gd name="connsiteX0" fmla="*/ 0 w 12192000"/>
              <a:gd name="connsiteY0" fmla="*/ 0 h 1918726"/>
              <a:gd name="connsiteX1" fmla="*/ 12192000 w 12192000"/>
              <a:gd name="connsiteY1" fmla="*/ 0 h 1918726"/>
              <a:gd name="connsiteX2" fmla="*/ 12192000 w 12192000"/>
              <a:gd name="connsiteY2" fmla="*/ 1258815 h 1918726"/>
              <a:gd name="connsiteX3" fmla="*/ 0 w 12192000"/>
              <a:gd name="connsiteY3" fmla="*/ 1258815 h 1918726"/>
            </a:gdLst>
            <a:ahLst/>
            <a:cxnLst>
              <a:cxn ang="0">
                <a:pos x="connsiteX0" y="connsiteY0"/>
              </a:cxn>
              <a:cxn ang="0">
                <a:pos x="connsiteX1" y="connsiteY1"/>
              </a:cxn>
              <a:cxn ang="0">
                <a:pos x="connsiteX2" y="connsiteY2"/>
              </a:cxn>
              <a:cxn ang="0">
                <a:pos x="connsiteX3" y="connsiteY3"/>
              </a:cxn>
            </a:cxnLst>
            <a:rect l="l" t="t" r="r" b="b"/>
            <a:pathLst>
              <a:path w="12192000" h="1918726">
                <a:moveTo>
                  <a:pt x="0" y="0"/>
                </a:moveTo>
                <a:lnTo>
                  <a:pt x="12192000" y="0"/>
                </a:lnTo>
                <a:lnTo>
                  <a:pt x="12192000" y="1258815"/>
                </a:lnTo>
                <a:cubicBezTo>
                  <a:pt x="8128000" y="3544815"/>
                  <a:pt x="4064000" y="-1027185"/>
                  <a:pt x="0" y="1258815"/>
                </a:cubicBezTo>
                <a:close/>
              </a:path>
            </a:pathLst>
          </a:cu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任意多边形: 形状 10"/>
          <p:cNvSpPr/>
          <p:nvPr userDrawn="1"/>
        </p:nvSpPr>
        <p:spPr>
          <a:xfrm>
            <a:off x="0" y="1"/>
            <a:ext cx="12192000" cy="1687486"/>
          </a:xfrm>
          <a:custGeom>
            <a:avLst/>
            <a:gdLst>
              <a:gd name="connsiteX0" fmla="*/ 0 w 12192000"/>
              <a:gd name="connsiteY0" fmla="*/ 0 h 1918726"/>
              <a:gd name="connsiteX1" fmla="*/ 12192000 w 12192000"/>
              <a:gd name="connsiteY1" fmla="*/ 0 h 1918726"/>
              <a:gd name="connsiteX2" fmla="*/ 12192000 w 12192000"/>
              <a:gd name="connsiteY2" fmla="*/ 1258815 h 1918726"/>
              <a:gd name="connsiteX3" fmla="*/ 0 w 12192000"/>
              <a:gd name="connsiteY3" fmla="*/ 1258815 h 1918726"/>
            </a:gdLst>
            <a:ahLst/>
            <a:cxnLst>
              <a:cxn ang="0">
                <a:pos x="connsiteX0" y="connsiteY0"/>
              </a:cxn>
              <a:cxn ang="0">
                <a:pos x="connsiteX1" y="connsiteY1"/>
              </a:cxn>
              <a:cxn ang="0">
                <a:pos x="connsiteX2" y="connsiteY2"/>
              </a:cxn>
              <a:cxn ang="0">
                <a:pos x="connsiteX3" y="connsiteY3"/>
              </a:cxn>
            </a:cxnLst>
            <a:rect l="l" t="t" r="r" b="b"/>
            <a:pathLst>
              <a:path w="12192000" h="1918726">
                <a:moveTo>
                  <a:pt x="0" y="0"/>
                </a:moveTo>
                <a:lnTo>
                  <a:pt x="12192000" y="0"/>
                </a:lnTo>
                <a:lnTo>
                  <a:pt x="12192000" y="1258815"/>
                </a:lnTo>
                <a:cubicBezTo>
                  <a:pt x="8128000" y="3544815"/>
                  <a:pt x="4064000" y="-1027185"/>
                  <a:pt x="0" y="1258815"/>
                </a:cubicBezTo>
                <a:close/>
              </a:path>
            </a:pathLst>
          </a:cu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732596" y="301396"/>
            <a:ext cx="3400425" cy="734592"/>
          </a:xfrm>
          <a:prstGeom prst="rect">
            <a:avLst/>
          </a:prstGeom>
        </p:spPr>
      </p:pic>
      <p:grpSp>
        <p:nvGrpSpPr>
          <p:cNvPr id="13" name="组合 12"/>
          <p:cNvGrpSpPr/>
          <p:nvPr userDrawn="1"/>
        </p:nvGrpSpPr>
        <p:grpSpPr>
          <a:xfrm>
            <a:off x="361950" y="303367"/>
            <a:ext cx="1714500" cy="162075"/>
            <a:chOff x="361950" y="208200"/>
            <a:chExt cx="1714500" cy="161925"/>
          </a:xfrm>
        </p:grpSpPr>
        <p:sp>
          <p:nvSpPr>
            <p:cNvPr id="14" name="椭圆 13"/>
            <p:cNvSpPr/>
            <p:nvPr/>
          </p:nvSpPr>
          <p:spPr>
            <a:xfrm>
              <a:off x="361950"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椭圆 14"/>
            <p:cNvSpPr/>
            <p:nvPr/>
          </p:nvSpPr>
          <p:spPr>
            <a:xfrm>
              <a:off x="620713"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椭圆 15"/>
            <p:cNvSpPr/>
            <p:nvPr/>
          </p:nvSpPr>
          <p:spPr>
            <a:xfrm>
              <a:off x="879476"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椭圆 16"/>
            <p:cNvSpPr/>
            <p:nvPr/>
          </p:nvSpPr>
          <p:spPr>
            <a:xfrm>
              <a:off x="1138239"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8" name="椭圆 17"/>
            <p:cNvSpPr/>
            <p:nvPr/>
          </p:nvSpPr>
          <p:spPr>
            <a:xfrm>
              <a:off x="1397002"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9" name="椭圆 18"/>
            <p:cNvSpPr/>
            <p:nvPr/>
          </p:nvSpPr>
          <p:spPr>
            <a:xfrm>
              <a:off x="165576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椭圆 19"/>
            <p:cNvSpPr/>
            <p:nvPr/>
          </p:nvSpPr>
          <p:spPr>
            <a:xfrm>
              <a:off x="191452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grpSp>
        <p:nvGrpSpPr>
          <p:cNvPr id="21" name="组合 20"/>
          <p:cNvGrpSpPr/>
          <p:nvPr userDrawn="1"/>
        </p:nvGrpSpPr>
        <p:grpSpPr>
          <a:xfrm>
            <a:off x="10161468" y="6441694"/>
            <a:ext cx="1714500" cy="162075"/>
            <a:chOff x="361950" y="208200"/>
            <a:chExt cx="1714500" cy="161925"/>
          </a:xfrm>
        </p:grpSpPr>
        <p:sp>
          <p:nvSpPr>
            <p:cNvPr id="22" name="椭圆 21"/>
            <p:cNvSpPr/>
            <p:nvPr/>
          </p:nvSpPr>
          <p:spPr>
            <a:xfrm>
              <a:off x="361950"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3" name="椭圆 22"/>
            <p:cNvSpPr/>
            <p:nvPr/>
          </p:nvSpPr>
          <p:spPr>
            <a:xfrm>
              <a:off x="620713"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4" name="椭圆 23"/>
            <p:cNvSpPr/>
            <p:nvPr/>
          </p:nvSpPr>
          <p:spPr>
            <a:xfrm>
              <a:off x="879476"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5" name="椭圆 24"/>
            <p:cNvSpPr/>
            <p:nvPr/>
          </p:nvSpPr>
          <p:spPr>
            <a:xfrm>
              <a:off x="1138239"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椭圆 25"/>
            <p:cNvSpPr/>
            <p:nvPr/>
          </p:nvSpPr>
          <p:spPr>
            <a:xfrm>
              <a:off x="1397002"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7" name="椭圆 26"/>
            <p:cNvSpPr/>
            <p:nvPr/>
          </p:nvSpPr>
          <p:spPr>
            <a:xfrm>
              <a:off x="165576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8" name="椭圆 27"/>
            <p:cNvSpPr/>
            <p:nvPr/>
          </p:nvSpPr>
          <p:spPr>
            <a:xfrm>
              <a:off x="191452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grpSp>
        <p:nvGrpSpPr>
          <p:cNvPr id="29" name="组合 28"/>
          <p:cNvGrpSpPr/>
          <p:nvPr userDrawn="1"/>
        </p:nvGrpSpPr>
        <p:grpSpPr>
          <a:xfrm>
            <a:off x="615213" y="6227147"/>
            <a:ext cx="1633536" cy="300672"/>
            <a:chOff x="614365" y="6160955"/>
            <a:chExt cx="1633536" cy="300394"/>
          </a:xfrm>
        </p:grpSpPr>
        <p:sp>
          <p:nvSpPr>
            <p:cNvPr id="30" name="Freeform 6"/>
            <p:cNvSpPr/>
            <p:nvPr/>
          </p:nvSpPr>
          <p:spPr bwMode="auto">
            <a:xfrm>
              <a:off x="1074556" y="6170554"/>
              <a:ext cx="286843" cy="62112"/>
            </a:xfrm>
            <a:custGeom>
              <a:avLst/>
              <a:gdLst>
                <a:gd name="T0" fmla="*/ 98 w 214"/>
                <a:gd name="T1" fmla="*/ 0 h 46"/>
                <a:gd name="T2" fmla="*/ 108 w 214"/>
                <a:gd name="T3" fmla="*/ 3 h 46"/>
                <a:gd name="T4" fmla="*/ 127 w 214"/>
                <a:gd name="T5" fmla="*/ 17 h 46"/>
                <a:gd name="T6" fmla="*/ 137 w 214"/>
                <a:gd name="T7" fmla="*/ 19 h 46"/>
                <a:gd name="T8" fmla="*/ 139 w 214"/>
                <a:gd name="T9" fmla="*/ 19 h 46"/>
                <a:gd name="T10" fmla="*/ 162 w 214"/>
                <a:gd name="T11" fmla="*/ 19 h 46"/>
                <a:gd name="T12" fmla="*/ 176 w 214"/>
                <a:gd name="T13" fmla="*/ 19 h 46"/>
                <a:gd name="T14" fmla="*/ 188 w 214"/>
                <a:gd name="T15" fmla="*/ 19 h 46"/>
                <a:gd name="T16" fmla="*/ 202 w 214"/>
                <a:gd name="T17" fmla="*/ 18 h 46"/>
                <a:gd name="T18" fmla="*/ 210 w 214"/>
                <a:gd name="T19" fmla="*/ 31 h 46"/>
                <a:gd name="T20" fmla="*/ 200 w 214"/>
                <a:gd name="T21" fmla="*/ 34 h 46"/>
                <a:gd name="T22" fmla="*/ 193 w 214"/>
                <a:gd name="T23" fmla="*/ 35 h 46"/>
                <a:gd name="T24" fmla="*/ 183 w 214"/>
                <a:gd name="T25" fmla="*/ 35 h 46"/>
                <a:gd name="T26" fmla="*/ 165 w 214"/>
                <a:gd name="T27" fmla="*/ 36 h 46"/>
                <a:gd name="T28" fmla="*/ 129 w 214"/>
                <a:gd name="T29" fmla="*/ 36 h 46"/>
                <a:gd name="T30" fmla="*/ 121 w 214"/>
                <a:gd name="T31" fmla="*/ 36 h 46"/>
                <a:gd name="T32" fmla="*/ 118 w 214"/>
                <a:gd name="T33" fmla="*/ 38 h 46"/>
                <a:gd name="T34" fmla="*/ 114 w 214"/>
                <a:gd name="T35" fmla="*/ 38 h 46"/>
                <a:gd name="T36" fmla="*/ 94 w 214"/>
                <a:gd name="T37" fmla="*/ 36 h 46"/>
                <a:gd name="T38" fmla="*/ 80 w 214"/>
                <a:gd name="T39" fmla="*/ 36 h 46"/>
                <a:gd name="T40" fmla="*/ 71 w 214"/>
                <a:gd name="T41" fmla="*/ 37 h 46"/>
                <a:gd name="T42" fmla="*/ 41 w 214"/>
                <a:gd name="T43" fmla="*/ 39 h 46"/>
                <a:gd name="T44" fmla="*/ 34 w 214"/>
                <a:gd name="T45" fmla="*/ 39 h 46"/>
                <a:gd name="T46" fmla="*/ 3 w 214"/>
                <a:gd name="T47" fmla="*/ 39 h 46"/>
                <a:gd name="T48" fmla="*/ 0 w 214"/>
                <a:gd name="T49" fmla="*/ 30 h 46"/>
                <a:gd name="T50" fmla="*/ 5 w 214"/>
                <a:gd name="T51" fmla="*/ 25 h 46"/>
                <a:gd name="T52" fmla="*/ 17 w 214"/>
                <a:gd name="T53" fmla="*/ 23 h 46"/>
                <a:gd name="T54" fmla="*/ 46 w 214"/>
                <a:gd name="T55" fmla="*/ 25 h 46"/>
                <a:gd name="T56" fmla="*/ 61 w 214"/>
                <a:gd name="T57" fmla="*/ 23 h 46"/>
                <a:gd name="T58" fmla="*/ 74 w 214"/>
                <a:gd name="T59" fmla="*/ 21 h 46"/>
                <a:gd name="T60" fmla="*/ 84 w 214"/>
                <a:gd name="T61" fmla="*/ 20 h 46"/>
                <a:gd name="T62" fmla="*/ 88 w 214"/>
                <a:gd name="T63" fmla="*/ 19 h 46"/>
                <a:gd name="T64" fmla="*/ 88 w 214"/>
                <a:gd name="T65" fmla="*/ 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4" h="46">
                  <a:moveTo>
                    <a:pt x="93" y="0"/>
                  </a:moveTo>
                  <a:cubicBezTo>
                    <a:pt x="94" y="1"/>
                    <a:pt x="96" y="0"/>
                    <a:pt x="98" y="0"/>
                  </a:cubicBezTo>
                  <a:cubicBezTo>
                    <a:pt x="101" y="1"/>
                    <a:pt x="101" y="2"/>
                    <a:pt x="104" y="3"/>
                  </a:cubicBezTo>
                  <a:cubicBezTo>
                    <a:pt x="105" y="1"/>
                    <a:pt x="108" y="4"/>
                    <a:pt x="108" y="3"/>
                  </a:cubicBezTo>
                  <a:cubicBezTo>
                    <a:pt x="113" y="5"/>
                    <a:pt x="118" y="8"/>
                    <a:pt x="122" y="11"/>
                  </a:cubicBezTo>
                  <a:cubicBezTo>
                    <a:pt x="124" y="12"/>
                    <a:pt x="125" y="16"/>
                    <a:pt x="127" y="17"/>
                  </a:cubicBezTo>
                  <a:cubicBezTo>
                    <a:pt x="129" y="18"/>
                    <a:pt x="133" y="18"/>
                    <a:pt x="135" y="20"/>
                  </a:cubicBezTo>
                  <a:cubicBezTo>
                    <a:pt x="135" y="20"/>
                    <a:pt x="136" y="19"/>
                    <a:pt x="137" y="19"/>
                  </a:cubicBezTo>
                  <a:cubicBezTo>
                    <a:pt x="137" y="19"/>
                    <a:pt x="137" y="19"/>
                    <a:pt x="137" y="20"/>
                  </a:cubicBezTo>
                  <a:cubicBezTo>
                    <a:pt x="138" y="19"/>
                    <a:pt x="138" y="19"/>
                    <a:pt x="139" y="19"/>
                  </a:cubicBezTo>
                  <a:cubicBezTo>
                    <a:pt x="139" y="18"/>
                    <a:pt x="146" y="21"/>
                    <a:pt x="148" y="19"/>
                  </a:cubicBezTo>
                  <a:cubicBezTo>
                    <a:pt x="151" y="21"/>
                    <a:pt x="156" y="18"/>
                    <a:pt x="162" y="19"/>
                  </a:cubicBezTo>
                  <a:cubicBezTo>
                    <a:pt x="164" y="20"/>
                    <a:pt x="171" y="20"/>
                    <a:pt x="174" y="18"/>
                  </a:cubicBezTo>
                  <a:cubicBezTo>
                    <a:pt x="175" y="19"/>
                    <a:pt x="176" y="19"/>
                    <a:pt x="176" y="19"/>
                  </a:cubicBezTo>
                  <a:cubicBezTo>
                    <a:pt x="177" y="19"/>
                    <a:pt x="180" y="18"/>
                    <a:pt x="182" y="19"/>
                  </a:cubicBezTo>
                  <a:cubicBezTo>
                    <a:pt x="182" y="20"/>
                    <a:pt x="186" y="19"/>
                    <a:pt x="188" y="19"/>
                  </a:cubicBezTo>
                  <a:cubicBezTo>
                    <a:pt x="190" y="19"/>
                    <a:pt x="192" y="18"/>
                    <a:pt x="195" y="18"/>
                  </a:cubicBezTo>
                  <a:cubicBezTo>
                    <a:pt x="196" y="18"/>
                    <a:pt x="201" y="19"/>
                    <a:pt x="202" y="18"/>
                  </a:cubicBezTo>
                  <a:cubicBezTo>
                    <a:pt x="206" y="20"/>
                    <a:pt x="212" y="21"/>
                    <a:pt x="214" y="23"/>
                  </a:cubicBezTo>
                  <a:cubicBezTo>
                    <a:pt x="214" y="26"/>
                    <a:pt x="213" y="30"/>
                    <a:pt x="210" y="31"/>
                  </a:cubicBezTo>
                  <a:cubicBezTo>
                    <a:pt x="209" y="32"/>
                    <a:pt x="206" y="31"/>
                    <a:pt x="205" y="31"/>
                  </a:cubicBezTo>
                  <a:cubicBezTo>
                    <a:pt x="204" y="32"/>
                    <a:pt x="202" y="34"/>
                    <a:pt x="200" y="34"/>
                  </a:cubicBezTo>
                  <a:cubicBezTo>
                    <a:pt x="198" y="35"/>
                    <a:pt x="195" y="34"/>
                    <a:pt x="194" y="36"/>
                  </a:cubicBezTo>
                  <a:cubicBezTo>
                    <a:pt x="194" y="36"/>
                    <a:pt x="193" y="35"/>
                    <a:pt x="193" y="35"/>
                  </a:cubicBezTo>
                  <a:cubicBezTo>
                    <a:pt x="192" y="35"/>
                    <a:pt x="184" y="35"/>
                    <a:pt x="184" y="35"/>
                  </a:cubicBezTo>
                  <a:cubicBezTo>
                    <a:pt x="183" y="35"/>
                    <a:pt x="183" y="35"/>
                    <a:pt x="183" y="35"/>
                  </a:cubicBezTo>
                  <a:cubicBezTo>
                    <a:pt x="183" y="35"/>
                    <a:pt x="171" y="36"/>
                    <a:pt x="169" y="35"/>
                  </a:cubicBezTo>
                  <a:cubicBezTo>
                    <a:pt x="167" y="35"/>
                    <a:pt x="166" y="35"/>
                    <a:pt x="165" y="36"/>
                  </a:cubicBezTo>
                  <a:cubicBezTo>
                    <a:pt x="159" y="33"/>
                    <a:pt x="147" y="34"/>
                    <a:pt x="141" y="36"/>
                  </a:cubicBezTo>
                  <a:cubicBezTo>
                    <a:pt x="138" y="36"/>
                    <a:pt x="129" y="36"/>
                    <a:pt x="129" y="36"/>
                  </a:cubicBezTo>
                  <a:cubicBezTo>
                    <a:pt x="129" y="36"/>
                    <a:pt x="128" y="37"/>
                    <a:pt x="128" y="37"/>
                  </a:cubicBezTo>
                  <a:cubicBezTo>
                    <a:pt x="125" y="36"/>
                    <a:pt x="123" y="36"/>
                    <a:pt x="121" y="36"/>
                  </a:cubicBezTo>
                  <a:cubicBezTo>
                    <a:pt x="119" y="36"/>
                    <a:pt x="119" y="37"/>
                    <a:pt x="118" y="38"/>
                  </a:cubicBezTo>
                  <a:cubicBezTo>
                    <a:pt x="118" y="38"/>
                    <a:pt x="118" y="38"/>
                    <a:pt x="118" y="38"/>
                  </a:cubicBezTo>
                  <a:cubicBezTo>
                    <a:pt x="117" y="37"/>
                    <a:pt x="116" y="37"/>
                    <a:pt x="115" y="37"/>
                  </a:cubicBezTo>
                  <a:cubicBezTo>
                    <a:pt x="115" y="38"/>
                    <a:pt x="114" y="38"/>
                    <a:pt x="114" y="38"/>
                  </a:cubicBezTo>
                  <a:cubicBezTo>
                    <a:pt x="112" y="38"/>
                    <a:pt x="109" y="37"/>
                    <a:pt x="107" y="36"/>
                  </a:cubicBezTo>
                  <a:cubicBezTo>
                    <a:pt x="104" y="37"/>
                    <a:pt x="98" y="37"/>
                    <a:pt x="94" y="36"/>
                  </a:cubicBezTo>
                  <a:cubicBezTo>
                    <a:pt x="93" y="36"/>
                    <a:pt x="87" y="37"/>
                    <a:pt x="86" y="38"/>
                  </a:cubicBezTo>
                  <a:cubicBezTo>
                    <a:pt x="85" y="38"/>
                    <a:pt x="81" y="37"/>
                    <a:pt x="80" y="36"/>
                  </a:cubicBezTo>
                  <a:cubicBezTo>
                    <a:pt x="78" y="37"/>
                    <a:pt x="77" y="37"/>
                    <a:pt x="75" y="38"/>
                  </a:cubicBezTo>
                  <a:cubicBezTo>
                    <a:pt x="73" y="38"/>
                    <a:pt x="72" y="37"/>
                    <a:pt x="71" y="37"/>
                  </a:cubicBezTo>
                  <a:cubicBezTo>
                    <a:pt x="66" y="39"/>
                    <a:pt x="55" y="36"/>
                    <a:pt x="51" y="39"/>
                  </a:cubicBezTo>
                  <a:cubicBezTo>
                    <a:pt x="49" y="40"/>
                    <a:pt x="44" y="38"/>
                    <a:pt x="41" y="39"/>
                  </a:cubicBezTo>
                  <a:cubicBezTo>
                    <a:pt x="40" y="39"/>
                    <a:pt x="38" y="39"/>
                    <a:pt x="36" y="40"/>
                  </a:cubicBezTo>
                  <a:cubicBezTo>
                    <a:pt x="36" y="40"/>
                    <a:pt x="35" y="39"/>
                    <a:pt x="34" y="39"/>
                  </a:cubicBezTo>
                  <a:cubicBezTo>
                    <a:pt x="30" y="41"/>
                    <a:pt x="20" y="42"/>
                    <a:pt x="18" y="46"/>
                  </a:cubicBezTo>
                  <a:cubicBezTo>
                    <a:pt x="14" y="45"/>
                    <a:pt x="6" y="43"/>
                    <a:pt x="3" y="39"/>
                  </a:cubicBezTo>
                  <a:cubicBezTo>
                    <a:pt x="2" y="38"/>
                    <a:pt x="3" y="35"/>
                    <a:pt x="2" y="34"/>
                  </a:cubicBezTo>
                  <a:cubicBezTo>
                    <a:pt x="1" y="32"/>
                    <a:pt x="0" y="33"/>
                    <a:pt x="0" y="30"/>
                  </a:cubicBezTo>
                  <a:cubicBezTo>
                    <a:pt x="1" y="28"/>
                    <a:pt x="2" y="27"/>
                    <a:pt x="3" y="25"/>
                  </a:cubicBezTo>
                  <a:cubicBezTo>
                    <a:pt x="4" y="25"/>
                    <a:pt x="4" y="26"/>
                    <a:pt x="5" y="25"/>
                  </a:cubicBezTo>
                  <a:cubicBezTo>
                    <a:pt x="8" y="25"/>
                    <a:pt x="10" y="24"/>
                    <a:pt x="13" y="23"/>
                  </a:cubicBezTo>
                  <a:cubicBezTo>
                    <a:pt x="14" y="23"/>
                    <a:pt x="16" y="24"/>
                    <a:pt x="17" y="23"/>
                  </a:cubicBezTo>
                  <a:cubicBezTo>
                    <a:pt x="23" y="23"/>
                    <a:pt x="28" y="23"/>
                    <a:pt x="34" y="23"/>
                  </a:cubicBezTo>
                  <a:cubicBezTo>
                    <a:pt x="35" y="23"/>
                    <a:pt x="43" y="26"/>
                    <a:pt x="46" y="25"/>
                  </a:cubicBezTo>
                  <a:cubicBezTo>
                    <a:pt x="48" y="24"/>
                    <a:pt x="52" y="23"/>
                    <a:pt x="52" y="23"/>
                  </a:cubicBezTo>
                  <a:cubicBezTo>
                    <a:pt x="53" y="23"/>
                    <a:pt x="59" y="23"/>
                    <a:pt x="61" y="23"/>
                  </a:cubicBezTo>
                  <a:cubicBezTo>
                    <a:pt x="63" y="22"/>
                    <a:pt x="68" y="23"/>
                    <a:pt x="70" y="23"/>
                  </a:cubicBezTo>
                  <a:cubicBezTo>
                    <a:pt x="71" y="22"/>
                    <a:pt x="73" y="21"/>
                    <a:pt x="74" y="21"/>
                  </a:cubicBezTo>
                  <a:cubicBezTo>
                    <a:pt x="77" y="21"/>
                    <a:pt x="79" y="21"/>
                    <a:pt x="82" y="21"/>
                  </a:cubicBezTo>
                  <a:cubicBezTo>
                    <a:pt x="83" y="21"/>
                    <a:pt x="83" y="21"/>
                    <a:pt x="84" y="20"/>
                  </a:cubicBezTo>
                  <a:cubicBezTo>
                    <a:pt x="85" y="21"/>
                    <a:pt x="84" y="21"/>
                    <a:pt x="86" y="21"/>
                  </a:cubicBezTo>
                  <a:cubicBezTo>
                    <a:pt x="86" y="21"/>
                    <a:pt x="87" y="20"/>
                    <a:pt x="88" y="19"/>
                  </a:cubicBezTo>
                  <a:cubicBezTo>
                    <a:pt x="88" y="18"/>
                    <a:pt x="89" y="17"/>
                    <a:pt x="89" y="16"/>
                  </a:cubicBezTo>
                  <a:cubicBezTo>
                    <a:pt x="86" y="13"/>
                    <a:pt x="90" y="5"/>
                    <a:pt x="88" y="4"/>
                  </a:cubicBezTo>
                  <a:cubicBezTo>
                    <a:pt x="89" y="2"/>
                    <a:pt x="91" y="1"/>
                    <a:pt x="93"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sz="1800"/>
            </a:p>
          </p:txBody>
        </p:sp>
        <p:sp>
          <p:nvSpPr>
            <p:cNvPr id="31" name="Freeform 7"/>
            <p:cNvSpPr>
              <a:spLocks noEditPoints="1"/>
            </p:cNvSpPr>
            <p:nvPr/>
          </p:nvSpPr>
          <p:spPr bwMode="auto">
            <a:xfrm>
              <a:off x="1047452" y="6228149"/>
              <a:ext cx="364765" cy="232071"/>
            </a:xfrm>
            <a:custGeom>
              <a:avLst/>
              <a:gdLst>
                <a:gd name="T0" fmla="*/ 257 w 272"/>
                <a:gd name="T1" fmla="*/ 115 h 172"/>
                <a:gd name="T2" fmla="*/ 219 w 272"/>
                <a:gd name="T3" fmla="*/ 115 h 172"/>
                <a:gd name="T4" fmla="*/ 187 w 272"/>
                <a:gd name="T5" fmla="*/ 113 h 172"/>
                <a:gd name="T6" fmla="*/ 171 w 272"/>
                <a:gd name="T7" fmla="*/ 112 h 172"/>
                <a:gd name="T8" fmla="*/ 125 w 272"/>
                <a:gd name="T9" fmla="*/ 112 h 172"/>
                <a:gd name="T10" fmla="*/ 139 w 272"/>
                <a:gd name="T11" fmla="*/ 100 h 172"/>
                <a:gd name="T12" fmla="*/ 162 w 272"/>
                <a:gd name="T13" fmla="*/ 101 h 172"/>
                <a:gd name="T14" fmla="*/ 183 w 272"/>
                <a:gd name="T15" fmla="*/ 101 h 172"/>
                <a:gd name="T16" fmla="*/ 185 w 272"/>
                <a:gd name="T17" fmla="*/ 58 h 172"/>
                <a:gd name="T18" fmla="*/ 186 w 272"/>
                <a:gd name="T19" fmla="*/ 32 h 172"/>
                <a:gd name="T20" fmla="*/ 194 w 272"/>
                <a:gd name="T21" fmla="*/ 0 h 172"/>
                <a:gd name="T22" fmla="*/ 168 w 272"/>
                <a:gd name="T23" fmla="*/ 1 h 172"/>
                <a:gd name="T24" fmla="*/ 143 w 272"/>
                <a:gd name="T25" fmla="*/ 3 h 172"/>
                <a:gd name="T26" fmla="*/ 114 w 272"/>
                <a:gd name="T27" fmla="*/ 4 h 172"/>
                <a:gd name="T28" fmla="*/ 95 w 272"/>
                <a:gd name="T29" fmla="*/ 2 h 172"/>
                <a:gd name="T30" fmla="*/ 63 w 272"/>
                <a:gd name="T31" fmla="*/ 5 h 172"/>
                <a:gd name="T32" fmla="*/ 62 w 272"/>
                <a:gd name="T33" fmla="*/ 22 h 172"/>
                <a:gd name="T34" fmla="*/ 67 w 272"/>
                <a:gd name="T35" fmla="*/ 50 h 172"/>
                <a:gd name="T36" fmla="*/ 66 w 272"/>
                <a:gd name="T37" fmla="*/ 63 h 172"/>
                <a:gd name="T38" fmla="*/ 67 w 272"/>
                <a:gd name="T39" fmla="*/ 82 h 172"/>
                <a:gd name="T40" fmla="*/ 62 w 272"/>
                <a:gd name="T41" fmla="*/ 106 h 172"/>
                <a:gd name="T42" fmla="*/ 75 w 272"/>
                <a:gd name="T43" fmla="*/ 101 h 172"/>
                <a:gd name="T44" fmla="*/ 109 w 272"/>
                <a:gd name="T45" fmla="*/ 102 h 172"/>
                <a:gd name="T46" fmla="*/ 99 w 272"/>
                <a:gd name="T47" fmla="*/ 112 h 172"/>
                <a:gd name="T48" fmla="*/ 71 w 272"/>
                <a:gd name="T49" fmla="*/ 116 h 172"/>
                <a:gd name="T50" fmla="*/ 43 w 272"/>
                <a:gd name="T51" fmla="*/ 120 h 172"/>
                <a:gd name="T52" fmla="*/ 23 w 272"/>
                <a:gd name="T53" fmla="*/ 122 h 172"/>
                <a:gd name="T54" fmla="*/ 4 w 272"/>
                <a:gd name="T55" fmla="*/ 129 h 172"/>
                <a:gd name="T56" fmla="*/ 28 w 272"/>
                <a:gd name="T57" fmla="*/ 143 h 172"/>
                <a:gd name="T58" fmla="*/ 42 w 272"/>
                <a:gd name="T59" fmla="*/ 138 h 172"/>
                <a:gd name="T60" fmla="*/ 62 w 272"/>
                <a:gd name="T61" fmla="*/ 133 h 172"/>
                <a:gd name="T62" fmla="*/ 93 w 272"/>
                <a:gd name="T63" fmla="*/ 127 h 172"/>
                <a:gd name="T64" fmla="*/ 92 w 272"/>
                <a:gd name="T65" fmla="*/ 141 h 172"/>
                <a:gd name="T66" fmla="*/ 86 w 272"/>
                <a:gd name="T67" fmla="*/ 156 h 172"/>
                <a:gd name="T68" fmla="*/ 100 w 272"/>
                <a:gd name="T69" fmla="*/ 153 h 172"/>
                <a:gd name="T70" fmla="*/ 119 w 272"/>
                <a:gd name="T71" fmla="*/ 126 h 172"/>
                <a:gd name="T72" fmla="*/ 138 w 272"/>
                <a:gd name="T73" fmla="*/ 130 h 172"/>
                <a:gd name="T74" fmla="*/ 150 w 272"/>
                <a:gd name="T75" fmla="*/ 150 h 172"/>
                <a:gd name="T76" fmla="*/ 170 w 272"/>
                <a:gd name="T77" fmla="*/ 159 h 172"/>
                <a:gd name="T78" fmla="*/ 172 w 272"/>
                <a:gd name="T79" fmla="*/ 128 h 172"/>
                <a:gd name="T80" fmla="*/ 209 w 272"/>
                <a:gd name="T81" fmla="*/ 134 h 172"/>
                <a:gd name="T82" fmla="*/ 229 w 272"/>
                <a:gd name="T83" fmla="*/ 144 h 172"/>
                <a:gd name="T84" fmla="*/ 238 w 272"/>
                <a:gd name="T85" fmla="*/ 146 h 172"/>
                <a:gd name="T86" fmla="*/ 266 w 272"/>
                <a:gd name="T87" fmla="*/ 140 h 172"/>
                <a:gd name="T88" fmla="*/ 170 w 272"/>
                <a:gd name="T89" fmla="*/ 55 h 172"/>
                <a:gd name="T90" fmla="*/ 139 w 272"/>
                <a:gd name="T91" fmla="*/ 55 h 172"/>
                <a:gd name="T92" fmla="*/ 107 w 272"/>
                <a:gd name="T93" fmla="*/ 58 h 172"/>
                <a:gd name="T94" fmla="*/ 87 w 272"/>
                <a:gd name="T95" fmla="*/ 60 h 172"/>
                <a:gd name="T96" fmla="*/ 104 w 272"/>
                <a:gd name="T97" fmla="*/ 48 h 172"/>
                <a:gd name="T98" fmla="*/ 135 w 272"/>
                <a:gd name="T99" fmla="*/ 45 h 172"/>
                <a:gd name="T100" fmla="*/ 166 w 272"/>
                <a:gd name="T101" fmla="*/ 44 h 172"/>
                <a:gd name="T102" fmla="*/ 94 w 272"/>
                <a:gd name="T103" fmla="*/ 23 h 172"/>
                <a:gd name="T104" fmla="*/ 135 w 272"/>
                <a:gd name="T105" fmla="*/ 20 h 172"/>
                <a:gd name="T106" fmla="*/ 174 w 272"/>
                <a:gd name="T107" fmla="*/ 19 h 172"/>
                <a:gd name="T108" fmla="*/ 102 w 272"/>
                <a:gd name="T109" fmla="*/ 32 h 172"/>
                <a:gd name="T110" fmla="*/ 94 w 272"/>
                <a:gd name="T111" fmla="*/ 23 h 172"/>
                <a:gd name="T112" fmla="*/ 95 w 272"/>
                <a:gd name="T113" fmla="*/ 85 h 172"/>
                <a:gd name="T114" fmla="*/ 82 w 272"/>
                <a:gd name="T115" fmla="*/ 82 h 172"/>
                <a:gd name="T116" fmla="*/ 106 w 272"/>
                <a:gd name="T117" fmla="*/ 75 h 172"/>
                <a:gd name="T118" fmla="*/ 149 w 272"/>
                <a:gd name="T119" fmla="*/ 71 h 172"/>
                <a:gd name="T120" fmla="*/ 170 w 272"/>
                <a:gd name="T121" fmla="*/ 81 h 172"/>
                <a:gd name="T122" fmla="*/ 133 w 272"/>
                <a:gd name="T123" fmla="*/ 8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2" h="172">
                  <a:moveTo>
                    <a:pt x="270" y="130"/>
                  </a:moveTo>
                  <a:cubicBezTo>
                    <a:pt x="272" y="123"/>
                    <a:pt x="264" y="119"/>
                    <a:pt x="266" y="115"/>
                  </a:cubicBezTo>
                  <a:cubicBezTo>
                    <a:pt x="265" y="114"/>
                    <a:pt x="264" y="112"/>
                    <a:pt x="262" y="112"/>
                  </a:cubicBezTo>
                  <a:cubicBezTo>
                    <a:pt x="261" y="112"/>
                    <a:pt x="258" y="115"/>
                    <a:pt x="257" y="115"/>
                  </a:cubicBezTo>
                  <a:cubicBezTo>
                    <a:pt x="255" y="116"/>
                    <a:pt x="241" y="114"/>
                    <a:pt x="239" y="113"/>
                  </a:cubicBezTo>
                  <a:cubicBezTo>
                    <a:pt x="237" y="113"/>
                    <a:pt x="237" y="115"/>
                    <a:pt x="235" y="115"/>
                  </a:cubicBezTo>
                  <a:cubicBezTo>
                    <a:pt x="234" y="116"/>
                    <a:pt x="231" y="115"/>
                    <a:pt x="231" y="115"/>
                  </a:cubicBezTo>
                  <a:cubicBezTo>
                    <a:pt x="230" y="114"/>
                    <a:pt x="220" y="116"/>
                    <a:pt x="219" y="115"/>
                  </a:cubicBezTo>
                  <a:cubicBezTo>
                    <a:pt x="218" y="115"/>
                    <a:pt x="218" y="114"/>
                    <a:pt x="217" y="114"/>
                  </a:cubicBezTo>
                  <a:cubicBezTo>
                    <a:pt x="213" y="117"/>
                    <a:pt x="206" y="114"/>
                    <a:pt x="202" y="113"/>
                  </a:cubicBezTo>
                  <a:cubicBezTo>
                    <a:pt x="200" y="114"/>
                    <a:pt x="193" y="113"/>
                    <a:pt x="193" y="113"/>
                  </a:cubicBezTo>
                  <a:cubicBezTo>
                    <a:pt x="191" y="113"/>
                    <a:pt x="189" y="113"/>
                    <a:pt x="187" y="113"/>
                  </a:cubicBezTo>
                  <a:cubicBezTo>
                    <a:pt x="186" y="113"/>
                    <a:pt x="186" y="112"/>
                    <a:pt x="185" y="112"/>
                  </a:cubicBezTo>
                  <a:cubicBezTo>
                    <a:pt x="184" y="114"/>
                    <a:pt x="183" y="112"/>
                    <a:pt x="181" y="113"/>
                  </a:cubicBezTo>
                  <a:cubicBezTo>
                    <a:pt x="180" y="113"/>
                    <a:pt x="179" y="113"/>
                    <a:pt x="179" y="113"/>
                  </a:cubicBezTo>
                  <a:cubicBezTo>
                    <a:pt x="176" y="112"/>
                    <a:pt x="175" y="113"/>
                    <a:pt x="171" y="112"/>
                  </a:cubicBezTo>
                  <a:cubicBezTo>
                    <a:pt x="169" y="112"/>
                    <a:pt x="166" y="112"/>
                    <a:pt x="164" y="112"/>
                  </a:cubicBezTo>
                  <a:cubicBezTo>
                    <a:pt x="164" y="112"/>
                    <a:pt x="155" y="110"/>
                    <a:pt x="154" y="110"/>
                  </a:cubicBezTo>
                  <a:cubicBezTo>
                    <a:pt x="153" y="111"/>
                    <a:pt x="153" y="112"/>
                    <a:pt x="151" y="111"/>
                  </a:cubicBezTo>
                  <a:cubicBezTo>
                    <a:pt x="144" y="109"/>
                    <a:pt x="131" y="110"/>
                    <a:pt x="125" y="112"/>
                  </a:cubicBezTo>
                  <a:cubicBezTo>
                    <a:pt x="125" y="112"/>
                    <a:pt x="124" y="111"/>
                    <a:pt x="124" y="111"/>
                  </a:cubicBezTo>
                  <a:cubicBezTo>
                    <a:pt x="124" y="108"/>
                    <a:pt x="125" y="101"/>
                    <a:pt x="129" y="100"/>
                  </a:cubicBezTo>
                  <a:cubicBezTo>
                    <a:pt x="132" y="99"/>
                    <a:pt x="132" y="100"/>
                    <a:pt x="135" y="101"/>
                  </a:cubicBezTo>
                  <a:cubicBezTo>
                    <a:pt x="137" y="101"/>
                    <a:pt x="138" y="100"/>
                    <a:pt x="139" y="100"/>
                  </a:cubicBezTo>
                  <a:cubicBezTo>
                    <a:pt x="140" y="100"/>
                    <a:pt x="140" y="100"/>
                    <a:pt x="141" y="100"/>
                  </a:cubicBezTo>
                  <a:cubicBezTo>
                    <a:pt x="141" y="100"/>
                    <a:pt x="142" y="100"/>
                    <a:pt x="142" y="100"/>
                  </a:cubicBezTo>
                  <a:cubicBezTo>
                    <a:pt x="147" y="101"/>
                    <a:pt x="147" y="101"/>
                    <a:pt x="147" y="101"/>
                  </a:cubicBezTo>
                  <a:cubicBezTo>
                    <a:pt x="149" y="101"/>
                    <a:pt x="161" y="101"/>
                    <a:pt x="162" y="101"/>
                  </a:cubicBezTo>
                  <a:cubicBezTo>
                    <a:pt x="165" y="101"/>
                    <a:pt x="168" y="101"/>
                    <a:pt x="170" y="101"/>
                  </a:cubicBezTo>
                  <a:cubicBezTo>
                    <a:pt x="173" y="103"/>
                    <a:pt x="174" y="105"/>
                    <a:pt x="175" y="106"/>
                  </a:cubicBezTo>
                  <a:cubicBezTo>
                    <a:pt x="175" y="106"/>
                    <a:pt x="176" y="106"/>
                    <a:pt x="177" y="106"/>
                  </a:cubicBezTo>
                  <a:cubicBezTo>
                    <a:pt x="179" y="104"/>
                    <a:pt x="181" y="102"/>
                    <a:pt x="183" y="101"/>
                  </a:cubicBezTo>
                  <a:cubicBezTo>
                    <a:pt x="185" y="99"/>
                    <a:pt x="186" y="91"/>
                    <a:pt x="185" y="87"/>
                  </a:cubicBezTo>
                  <a:cubicBezTo>
                    <a:pt x="185" y="86"/>
                    <a:pt x="181" y="84"/>
                    <a:pt x="183" y="81"/>
                  </a:cubicBezTo>
                  <a:cubicBezTo>
                    <a:pt x="183" y="80"/>
                    <a:pt x="183" y="75"/>
                    <a:pt x="183" y="75"/>
                  </a:cubicBezTo>
                  <a:cubicBezTo>
                    <a:pt x="185" y="72"/>
                    <a:pt x="186" y="61"/>
                    <a:pt x="185" y="58"/>
                  </a:cubicBezTo>
                  <a:cubicBezTo>
                    <a:pt x="185" y="57"/>
                    <a:pt x="184" y="56"/>
                    <a:pt x="184" y="55"/>
                  </a:cubicBezTo>
                  <a:cubicBezTo>
                    <a:pt x="184" y="55"/>
                    <a:pt x="184" y="50"/>
                    <a:pt x="184" y="49"/>
                  </a:cubicBezTo>
                  <a:cubicBezTo>
                    <a:pt x="185" y="47"/>
                    <a:pt x="186" y="44"/>
                    <a:pt x="186" y="41"/>
                  </a:cubicBezTo>
                  <a:cubicBezTo>
                    <a:pt x="187" y="37"/>
                    <a:pt x="185" y="36"/>
                    <a:pt x="186" y="32"/>
                  </a:cubicBezTo>
                  <a:cubicBezTo>
                    <a:pt x="187" y="32"/>
                    <a:pt x="186" y="31"/>
                    <a:pt x="187" y="31"/>
                  </a:cubicBezTo>
                  <a:cubicBezTo>
                    <a:pt x="187" y="28"/>
                    <a:pt x="189" y="27"/>
                    <a:pt x="191" y="25"/>
                  </a:cubicBezTo>
                  <a:cubicBezTo>
                    <a:pt x="194" y="21"/>
                    <a:pt x="198" y="15"/>
                    <a:pt x="199" y="9"/>
                  </a:cubicBezTo>
                  <a:cubicBezTo>
                    <a:pt x="197" y="6"/>
                    <a:pt x="197" y="2"/>
                    <a:pt x="194" y="0"/>
                  </a:cubicBezTo>
                  <a:cubicBezTo>
                    <a:pt x="193" y="0"/>
                    <a:pt x="192" y="0"/>
                    <a:pt x="191" y="0"/>
                  </a:cubicBezTo>
                  <a:cubicBezTo>
                    <a:pt x="190" y="2"/>
                    <a:pt x="188" y="1"/>
                    <a:pt x="187" y="1"/>
                  </a:cubicBezTo>
                  <a:cubicBezTo>
                    <a:pt x="184" y="4"/>
                    <a:pt x="180" y="4"/>
                    <a:pt x="176" y="3"/>
                  </a:cubicBezTo>
                  <a:cubicBezTo>
                    <a:pt x="174" y="5"/>
                    <a:pt x="169" y="2"/>
                    <a:pt x="168" y="1"/>
                  </a:cubicBezTo>
                  <a:cubicBezTo>
                    <a:pt x="168" y="2"/>
                    <a:pt x="165" y="2"/>
                    <a:pt x="164" y="2"/>
                  </a:cubicBezTo>
                  <a:cubicBezTo>
                    <a:pt x="164" y="2"/>
                    <a:pt x="161" y="1"/>
                    <a:pt x="161" y="2"/>
                  </a:cubicBezTo>
                  <a:cubicBezTo>
                    <a:pt x="158" y="2"/>
                    <a:pt x="151" y="2"/>
                    <a:pt x="148" y="4"/>
                  </a:cubicBezTo>
                  <a:cubicBezTo>
                    <a:pt x="146" y="4"/>
                    <a:pt x="145" y="3"/>
                    <a:pt x="143" y="3"/>
                  </a:cubicBezTo>
                  <a:cubicBezTo>
                    <a:pt x="140" y="2"/>
                    <a:pt x="140" y="4"/>
                    <a:pt x="137" y="3"/>
                  </a:cubicBezTo>
                  <a:cubicBezTo>
                    <a:pt x="137" y="3"/>
                    <a:pt x="137" y="3"/>
                    <a:pt x="137" y="3"/>
                  </a:cubicBezTo>
                  <a:cubicBezTo>
                    <a:pt x="134" y="3"/>
                    <a:pt x="131" y="1"/>
                    <a:pt x="128" y="2"/>
                  </a:cubicBezTo>
                  <a:cubicBezTo>
                    <a:pt x="124" y="3"/>
                    <a:pt x="117" y="3"/>
                    <a:pt x="114" y="4"/>
                  </a:cubicBezTo>
                  <a:cubicBezTo>
                    <a:pt x="113" y="3"/>
                    <a:pt x="113" y="3"/>
                    <a:pt x="112" y="3"/>
                  </a:cubicBezTo>
                  <a:cubicBezTo>
                    <a:pt x="109" y="4"/>
                    <a:pt x="108" y="4"/>
                    <a:pt x="106" y="4"/>
                  </a:cubicBezTo>
                  <a:cubicBezTo>
                    <a:pt x="104" y="4"/>
                    <a:pt x="100" y="3"/>
                    <a:pt x="100" y="2"/>
                  </a:cubicBezTo>
                  <a:cubicBezTo>
                    <a:pt x="98" y="2"/>
                    <a:pt x="96" y="2"/>
                    <a:pt x="95" y="2"/>
                  </a:cubicBezTo>
                  <a:cubicBezTo>
                    <a:pt x="94" y="3"/>
                    <a:pt x="84" y="2"/>
                    <a:pt x="82" y="4"/>
                  </a:cubicBezTo>
                  <a:cubicBezTo>
                    <a:pt x="80" y="4"/>
                    <a:pt x="78" y="4"/>
                    <a:pt x="76" y="4"/>
                  </a:cubicBezTo>
                  <a:cubicBezTo>
                    <a:pt x="73" y="4"/>
                    <a:pt x="71" y="4"/>
                    <a:pt x="67" y="6"/>
                  </a:cubicBezTo>
                  <a:cubicBezTo>
                    <a:pt x="66" y="6"/>
                    <a:pt x="65" y="5"/>
                    <a:pt x="63" y="5"/>
                  </a:cubicBezTo>
                  <a:cubicBezTo>
                    <a:pt x="61" y="7"/>
                    <a:pt x="58" y="9"/>
                    <a:pt x="55" y="10"/>
                  </a:cubicBezTo>
                  <a:cubicBezTo>
                    <a:pt x="55" y="12"/>
                    <a:pt x="55" y="13"/>
                    <a:pt x="56" y="14"/>
                  </a:cubicBezTo>
                  <a:cubicBezTo>
                    <a:pt x="57" y="14"/>
                    <a:pt x="61" y="18"/>
                    <a:pt x="62" y="19"/>
                  </a:cubicBezTo>
                  <a:cubicBezTo>
                    <a:pt x="62" y="20"/>
                    <a:pt x="62" y="22"/>
                    <a:pt x="62" y="22"/>
                  </a:cubicBezTo>
                  <a:cubicBezTo>
                    <a:pt x="63" y="23"/>
                    <a:pt x="63" y="26"/>
                    <a:pt x="63" y="26"/>
                  </a:cubicBezTo>
                  <a:cubicBezTo>
                    <a:pt x="66" y="29"/>
                    <a:pt x="65" y="31"/>
                    <a:pt x="66" y="35"/>
                  </a:cubicBezTo>
                  <a:cubicBezTo>
                    <a:pt x="65" y="41"/>
                    <a:pt x="65" y="41"/>
                    <a:pt x="65" y="41"/>
                  </a:cubicBezTo>
                  <a:cubicBezTo>
                    <a:pt x="65" y="45"/>
                    <a:pt x="66" y="49"/>
                    <a:pt x="67" y="50"/>
                  </a:cubicBezTo>
                  <a:cubicBezTo>
                    <a:pt x="67" y="51"/>
                    <a:pt x="66" y="52"/>
                    <a:pt x="66" y="52"/>
                  </a:cubicBezTo>
                  <a:cubicBezTo>
                    <a:pt x="67" y="54"/>
                    <a:pt x="67" y="56"/>
                    <a:pt x="67" y="58"/>
                  </a:cubicBezTo>
                  <a:cubicBezTo>
                    <a:pt x="67" y="58"/>
                    <a:pt x="67" y="59"/>
                    <a:pt x="67" y="59"/>
                  </a:cubicBezTo>
                  <a:cubicBezTo>
                    <a:pt x="67" y="60"/>
                    <a:pt x="67" y="62"/>
                    <a:pt x="66" y="63"/>
                  </a:cubicBezTo>
                  <a:cubicBezTo>
                    <a:pt x="66" y="64"/>
                    <a:pt x="67" y="65"/>
                    <a:pt x="67" y="66"/>
                  </a:cubicBezTo>
                  <a:cubicBezTo>
                    <a:pt x="66" y="66"/>
                    <a:pt x="66" y="67"/>
                    <a:pt x="65" y="68"/>
                  </a:cubicBezTo>
                  <a:cubicBezTo>
                    <a:pt x="66" y="71"/>
                    <a:pt x="68" y="80"/>
                    <a:pt x="66" y="82"/>
                  </a:cubicBezTo>
                  <a:cubicBezTo>
                    <a:pt x="67" y="82"/>
                    <a:pt x="66" y="82"/>
                    <a:pt x="67" y="82"/>
                  </a:cubicBezTo>
                  <a:cubicBezTo>
                    <a:pt x="67" y="83"/>
                    <a:pt x="66" y="87"/>
                    <a:pt x="66" y="88"/>
                  </a:cubicBezTo>
                  <a:cubicBezTo>
                    <a:pt x="66" y="88"/>
                    <a:pt x="66" y="88"/>
                    <a:pt x="66" y="88"/>
                  </a:cubicBezTo>
                  <a:cubicBezTo>
                    <a:pt x="66" y="88"/>
                    <a:pt x="66" y="93"/>
                    <a:pt x="66" y="93"/>
                  </a:cubicBezTo>
                  <a:cubicBezTo>
                    <a:pt x="65" y="98"/>
                    <a:pt x="64" y="102"/>
                    <a:pt x="62" y="106"/>
                  </a:cubicBezTo>
                  <a:cubicBezTo>
                    <a:pt x="62" y="107"/>
                    <a:pt x="62" y="113"/>
                    <a:pt x="62" y="113"/>
                  </a:cubicBezTo>
                  <a:cubicBezTo>
                    <a:pt x="63" y="114"/>
                    <a:pt x="64" y="114"/>
                    <a:pt x="65" y="114"/>
                  </a:cubicBezTo>
                  <a:cubicBezTo>
                    <a:pt x="65" y="114"/>
                    <a:pt x="67" y="114"/>
                    <a:pt x="67" y="113"/>
                  </a:cubicBezTo>
                  <a:cubicBezTo>
                    <a:pt x="70" y="112"/>
                    <a:pt x="74" y="103"/>
                    <a:pt x="75" y="101"/>
                  </a:cubicBezTo>
                  <a:cubicBezTo>
                    <a:pt x="79" y="102"/>
                    <a:pt x="80" y="107"/>
                    <a:pt x="87" y="106"/>
                  </a:cubicBezTo>
                  <a:cubicBezTo>
                    <a:pt x="90" y="105"/>
                    <a:pt x="91" y="106"/>
                    <a:pt x="94" y="105"/>
                  </a:cubicBezTo>
                  <a:cubicBezTo>
                    <a:pt x="95" y="105"/>
                    <a:pt x="97" y="103"/>
                    <a:pt x="98" y="102"/>
                  </a:cubicBezTo>
                  <a:cubicBezTo>
                    <a:pt x="101" y="101"/>
                    <a:pt x="107" y="101"/>
                    <a:pt x="109" y="102"/>
                  </a:cubicBezTo>
                  <a:cubicBezTo>
                    <a:pt x="111" y="102"/>
                    <a:pt x="113" y="100"/>
                    <a:pt x="116" y="102"/>
                  </a:cubicBezTo>
                  <a:cubicBezTo>
                    <a:pt x="116" y="102"/>
                    <a:pt x="116" y="102"/>
                    <a:pt x="116" y="102"/>
                  </a:cubicBezTo>
                  <a:cubicBezTo>
                    <a:pt x="114" y="104"/>
                    <a:pt x="109" y="110"/>
                    <a:pt x="108" y="111"/>
                  </a:cubicBezTo>
                  <a:cubicBezTo>
                    <a:pt x="105" y="112"/>
                    <a:pt x="101" y="112"/>
                    <a:pt x="99" y="112"/>
                  </a:cubicBezTo>
                  <a:cubicBezTo>
                    <a:pt x="98" y="112"/>
                    <a:pt x="96" y="112"/>
                    <a:pt x="96" y="112"/>
                  </a:cubicBezTo>
                  <a:cubicBezTo>
                    <a:pt x="95" y="113"/>
                    <a:pt x="92" y="113"/>
                    <a:pt x="90" y="114"/>
                  </a:cubicBezTo>
                  <a:cubicBezTo>
                    <a:pt x="86" y="115"/>
                    <a:pt x="83" y="112"/>
                    <a:pt x="80" y="113"/>
                  </a:cubicBezTo>
                  <a:cubicBezTo>
                    <a:pt x="76" y="115"/>
                    <a:pt x="73" y="115"/>
                    <a:pt x="71" y="116"/>
                  </a:cubicBezTo>
                  <a:cubicBezTo>
                    <a:pt x="70" y="116"/>
                    <a:pt x="69" y="116"/>
                    <a:pt x="68" y="116"/>
                  </a:cubicBezTo>
                  <a:cubicBezTo>
                    <a:pt x="67" y="117"/>
                    <a:pt x="64" y="118"/>
                    <a:pt x="62" y="118"/>
                  </a:cubicBezTo>
                  <a:cubicBezTo>
                    <a:pt x="58" y="119"/>
                    <a:pt x="55" y="118"/>
                    <a:pt x="53" y="119"/>
                  </a:cubicBezTo>
                  <a:cubicBezTo>
                    <a:pt x="49" y="120"/>
                    <a:pt x="46" y="119"/>
                    <a:pt x="43" y="120"/>
                  </a:cubicBezTo>
                  <a:cubicBezTo>
                    <a:pt x="43" y="120"/>
                    <a:pt x="42" y="120"/>
                    <a:pt x="41" y="120"/>
                  </a:cubicBezTo>
                  <a:cubicBezTo>
                    <a:pt x="39" y="120"/>
                    <a:pt x="35" y="120"/>
                    <a:pt x="34" y="121"/>
                  </a:cubicBezTo>
                  <a:cubicBezTo>
                    <a:pt x="33" y="121"/>
                    <a:pt x="32" y="122"/>
                    <a:pt x="31" y="123"/>
                  </a:cubicBezTo>
                  <a:cubicBezTo>
                    <a:pt x="29" y="123"/>
                    <a:pt x="24" y="122"/>
                    <a:pt x="23" y="122"/>
                  </a:cubicBezTo>
                  <a:cubicBezTo>
                    <a:pt x="22" y="123"/>
                    <a:pt x="19" y="122"/>
                    <a:pt x="17" y="123"/>
                  </a:cubicBezTo>
                  <a:cubicBezTo>
                    <a:pt x="12" y="124"/>
                    <a:pt x="10" y="124"/>
                    <a:pt x="6" y="124"/>
                  </a:cubicBezTo>
                  <a:cubicBezTo>
                    <a:pt x="5" y="125"/>
                    <a:pt x="5" y="125"/>
                    <a:pt x="4" y="126"/>
                  </a:cubicBezTo>
                  <a:cubicBezTo>
                    <a:pt x="4" y="127"/>
                    <a:pt x="4" y="128"/>
                    <a:pt x="4" y="129"/>
                  </a:cubicBezTo>
                  <a:cubicBezTo>
                    <a:pt x="3" y="130"/>
                    <a:pt x="2" y="132"/>
                    <a:pt x="2" y="133"/>
                  </a:cubicBezTo>
                  <a:cubicBezTo>
                    <a:pt x="0" y="139"/>
                    <a:pt x="4" y="143"/>
                    <a:pt x="7" y="147"/>
                  </a:cubicBezTo>
                  <a:cubicBezTo>
                    <a:pt x="12" y="147"/>
                    <a:pt x="19" y="146"/>
                    <a:pt x="23" y="143"/>
                  </a:cubicBezTo>
                  <a:cubicBezTo>
                    <a:pt x="23" y="143"/>
                    <a:pt x="28" y="143"/>
                    <a:pt x="28" y="143"/>
                  </a:cubicBezTo>
                  <a:cubicBezTo>
                    <a:pt x="29" y="143"/>
                    <a:pt x="31" y="141"/>
                    <a:pt x="32" y="140"/>
                  </a:cubicBezTo>
                  <a:cubicBezTo>
                    <a:pt x="32" y="140"/>
                    <a:pt x="32" y="140"/>
                    <a:pt x="32" y="140"/>
                  </a:cubicBezTo>
                  <a:cubicBezTo>
                    <a:pt x="35" y="140"/>
                    <a:pt x="37" y="139"/>
                    <a:pt x="39" y="138"/>
                  </a:cubicBezTo>
                  <a:cubicBezTo>
                    <a:pt x="40" y="138"/>
                    <a:pt x="41" y="138"/>
                    <a:pt x="42" y="138"/>
                  </a:cubicBezTo>
                  <a:cubicBezTo>
                    <a:pt x="43" y="138"/>
                    <a:pt x="44" y="137"/>
                    <a:pt x="45" y="137"/>
                  </a:cubicBezTo>
                  <a:cubicBezTo>
                    <a:pt x="46" y="136"/>
                    <a:pt x="49" y="137"/>
                    <a:pt x="49" y="137"/>
                  </a:cubicBezTo>
                  <a:cubicBezTo>
                    <a:pt x="51" y="136"/>
                    <a:pt x="53" y="135"/>
                    <a:pt x="55" y="134"/>
                  </a:cubicBezTo>
                  <a:cubicBezTo>
                    <a:pt x="55" y="134"/>
                    <a:pt x="62" y="134"/>
                    <a:pt x="62" y="133"/>
                  </a:cubicBezTo>
                  <a:cubicBezTo>
                    <a:pt x="62" y="133"/>
                    <a:pt x="63" y="133"/>
                    <a:pt x="63" y="133"/>
                  </a:cubicBezTo>
                  <a:cubicBezTo>
                    <a:pt x="65" y="132"/>
                    <a:pt x="68" y="132"/>
                    <a:pt x="70" y="131"/>
                  </a:cubicBezTo>
                  <a:cubicBezTo>
                    <a:pt x="74" y="130"/>
                    <a:pt x="82" y="127"/>
                    <a:pt x="88" y="128"/>
                  </a:cubicBezTo>
                  <a:cubicBezTo>
                    <a:pt x="90" y="128"/>
                    <a:pt x="92" y="126"/>
                    <a:pt x="93" y="127"/>
                  </a:cubicBezTo>
                  <a:cubicBezTo>
                    <a:pt x="94" y="127"/>
                    <a:pt x="96" y="128"/>
                    <a:pt x="97" y="128"/>
                  </a:cubicBezTo>
                  <a:cubicBezTo>
                    <a:pt x="98" y="129"/>
                    <a:pt x="97" y="128"/>
                    <a:pt x="98" y="129"/>
                  </a:cubicBezTo>
                  <a:cubicBezTo>
                    <a:pt x="98" y="130"/>
                    <a:pt x="96" y="131"/>
                    <a:pt x="96" y="133"/>
                  </a:cubicBezTo>
                  <a:cubicBezTo>
                    <a:pt x="94" y="136"/>
                    <a:pt x="94" y="138"/>
                    <a:pt x="92" y="141"/>
                  </a:cubicBezTo>
                  <a:cubicBezTo>
                    <a:pt x="91" y="142"/>
                    <a:pt x="90" y="142"/>
                    <a:pt x="90" y="143"/>
                  </a:cubicBezTo>
                  <a:cubicBezTo>
                    <a:pt x="90" y="144"/>
                    <a:pt x="90" y="145"/>
                    <a:pt x="90" y="145"/>
                  </a:cubicBezTo>
                  <a:cubicBezTo>
                    <a:pt x="89" y="146"/>
                    <a:pt x="88" y="148"/>
                    <a:pt x="87" y="149"/>
                  </a:cubicBezTo>
                  <a:cubicBezTo>
                    <a:pt x="87" y="151"/>
                    <a:pt x="87" y="155"/>
                    <a:pt x="86" y="156"/>
                  </a:cubicBezTo>
                  <a:cubicBezTo>
                    <a:pt x="87" y="158"/>
                    <a:pt x="87" y="159"/>
                    <a:pt x="88" y="160"/>
                  </a:cubicBezTo>
                  <a:cubicBezTo>
                    <a:pt x="90" y="161"/>
                    <a:pt x="92" y="163"/>
                    <a:pt x="94" y="163"/>
                  </a:cubicBezTo>
                  <a:cubicBezTo>
                    <a:pt x="95" y="160"/>
                    <a:pt x="97" y="157"/>
                    <a:pt x="98" y="155"/>
                  </a:cubicBezTo>
                  <a:cubicBezTo>
                    <a:pt x="99" y="154"/>
                    <a:pt x="100" y="153"/>
                    <a:pt x="100" y="153"/>
                  </a:cubicBezTo>
                  <a:cubicBezTo>
                    <a:pt x="100" y="153"/>
                    <a:pt x="100" y="152"/>
                    <a:pt x="100" y="151"/>
                  </a:cubicBezTo>
                  <a:cubicBezTo>
                    <a:pt x="102" y="149"/>
                    <a:pt x="107" y="146"/>
                    <a:pt x="108" y="144"/>
                  </a:cubicBezTo>
                  <a:cubicBezTo>
                    <a:pt x="111" y="141"/>
                    <a:pt x="110" y="137"/>
                    <a:pt x="112" y="134"/>
                  </a:cubicBezTo>
                  <a:cubicBezTo>
                    <a:pt x="114" y="131"/>
                    <a:pt x="118" y="129"/>
                    <a:pt x="119" y="126"/>
                  </a:cubicBezTo>
                  <a:cubicBezTo>
                    <a:pt x="120" y="126"/>
                    <a:pt x="121" y="126"/>
                    <a:pt x="122" y="126"/>
                  </a:cubicBezTo>
                  <a:cubicBezTo>
                    <a:pt x="122" y="126"/>
                    <a:pt x="130" y="125"/>
                    <a:pt x="131" y="125"/>
                  </a:cubicBezTo>
                  <a:cubicBezTo>
                    <a:pt x="133" y="126"/>
                    <a:pt x="135" y="127"/>
                    <a:pt x="136" y="127"/>
                  </a:cubicBezTo>
                  <a:cubicBezTo>
                    <a:pt x="137" y="127"/>
                    <a:pt x="138" y="130"/>
                    <a:pt x="138" y="130"/>
                  </a:cubicBezTo>
                  <a:cubicBezTo>
                    <a:pt x="140" y="132"/>
                    <a:pt x="141" y="131"/>
                    <a:pt x="142" y="133"/>
                  </a:cubicBezTo>
                  <a:cubicBezTo>
                    <a:pt x="144" y="133"/>
                    <a:pt x="145" y="139"/>
                    <a:pt x="146" y="141"/>
                  </a:cubicBezTo>
                  <a:cubicBezTo>
                    <a:pt x="147" y="143"/>
                    <a:pt x="149" y="145"/>
                    <a:pt x="150" y="147"/>
                  </a:cubicBezTo>
                  <a:cubicBezTo>
                    <a:pt x="150" y="148"/>
                    <a:pt x="150" y="149"/>
                    <a:pt x="150" y="150"/>
                  </a:cubicBezTo>
                  <a:cubicBezTo>
                    <a:pt x="152" y="154"/>
                    <a:pt x="155" y="159"/>
                    <a:pt x="158" y="162"/>
                  </a:cubicBezTo>
                  <a:cubicBezTo>
                    <a:pt x="161" y="165"/>
                    <a:pt x="159" y="169"/>
                    <a:pt x="166" y="172"/>
                  </a:cubicBezTo>
                  <a:cubicBezTo>
                    <a:pt x="167" y="170"/>
                    <a:pt x="169" y="169"/>
                    <a:pt x="170" y="167"/>
                  </a:cubicBezTo>
                  <a:cubicBezTo>
                    <a:pt x="172" y="165"/>
                    <a:pt x="170" y="161"/>
                    <a:pt x="170" y="159"/>
                  </a:cubicBezTo>
                  <a:cubicBezTo>
                    <a:pt x="171" y="153"/>
                    <a:pt x="167" y="148"/>
                    <a:pt x="165" y="142"/>
                  </a:cubicBezTo>
                  <a:cubicBezTo>
                    <a:pt x="165" y="141"/>
                    <a:pt x="165" y="139"/>
                    <a:pt x="164" y="137"/>
                  </a:cubicBezTo>
                  <a:cubicBezTo>
                    <a:pt x="161" y="133"/>
                    <a:pt x="161" y="133"/>
                    <a:pt x="163" y="127"/>
                  </a:cubicBezTo>
                  <a:cubicBezTo>
                    <a:pt x="167" y="127"/>
                    <a:pt x="170" y="127"/>
                    <a:pt x="172" y="128"/>
                  </a:cubicBezTo>
                  <a:cubicBezTo>
                    <a:pt x="173" y="127"/>
                    <a:pt x="182" y="129"/>
                    <a:pt x="183" y="129"/>
                  </a:cubicBezTo>
                  <a:cubicBezTo>
                    <a:pt x="185" y="128"/>
                    <a:pt x="198" y="130"/>
                    <a:pt x="200" y="131"/>
                  </a:cubicBezTo>
                  <a:cubicBezTo>
                    <a:pt x="201" y="131"/>
                    <a:pt x="202" y="132"/>
                    <a:pt x="203" y="133"/>
                  </a:cubicBezTo>
                  <a:cubicBezTo>
                    <a:pt x="205" y="133"/>
                    <a:pt x="207" y="133"/>
                    <a:pt x="209" y="134"/>
                  </a:cubicBezTo>
                  <a:cubicBezTo>
                    <a:pt x="209" y="134"/>
                    <a:pt x="209" y="135"/>
                    <a:pt x="210" y="136"/>
                  </a:cubicBezTo>
                  <a:cubicBezTo>
                    <a:pt x="211" y="136"/>
                    <a:pt x="212" y="137"/>
                    <a:pt x="213" y="137"/>
                  </a:cubicBezTo>
                  <a:cubicBezTo>
                    <a:pt x="214" y="137"/>
                    <a:pt x="215" y="137"/>
                    <a:pt x="216" y="137"/>
                  </a:cubicBezTo>
                  <a:cubicBezTo>
                    <a:pt x="220" y="139"/>
                    <a:pt x="225" y="141"/>
                    <a:pt x="229" y="144"/>
                  </a:cubicBezTo>
                  <a:cubicBezTo>
                    <a:pt x="229" y="144"/>
                    <a:pt x="229" y="144"/>
                    <a:pt x="229" y="143"/>
                  </a:cubicBezTo>
                  <a:cubicBezTo>
                    <a:pt x="230" y="144"/>
                    <a:pt x="232" y="144"/>
                    <a:pt x="233" y="144"/>
                  </a:cubicBezTo>
                  <a:cubicBezTo>
                    <a:pt x="233" y="144"/>
                    <a:pt x="234" y="143"/>
                    <a:pt x="235" y="143"/>
                  </a:cubicBezTo>
                  <a:cubicBezTo>
                    <a:pt x="236" y="144"/>
                    <a:pt x="237" y="145"/>
                    <a:pt x="238" y="146"/>
                  </a:cubicBezTo>
                  <a:cubicBezTo>
                    <a:pt x="239" y="144"/>
                    <a:pt x="244" y="147"/>
                    <a:pt x="245" y="147"/>
                  </a:cubicBezTo>
                  <a:cubicBezTo>
                    <a:pt x="247" y="148"/>
                    <a:pt x="249" y="146"/>
                    <a:pt x="250" y="146"/>
                  </a:cubicBezTo>
                  <a:cubicBezTo>
                    <a:pt x="251" y="146"/>
                    <a:pt x="251" y="147"/>
                    <a:pt x="253" y="147"/>
                  </a:cubicBezTo>
                  <a:cubicBezTo>
                    <a:pt x="259" y="145"/>
                    <a:pt x="262" y="142"/>
                    <a:pt x="266" y="140"/>
                  </a:cubicBezTo>
                  <a:cubicBezTo>
                    <a:pt x="267" y="136"/>
                    <a:pt x="271" y="133"/>
                    <a:pt x="271" y="131"/>
                  </a:cubicBezTo>
                  <a:cubicBezTo>
                    <a:pt x="271" y="131"/>
                    <a:pt x="271" y="130"/>
                    <a:pt x="271" y="130"/>
                  </a:cubicBezTo>
                  <a:cubicBezTo>
                    <a:pt x="271" y="130"/>
                    <a:pt x="271" y="130"/>
                    <a:pt x="270" y="130"/>
                  </a:cubicBezTo>
                  <a:close/>
                  <a:moveTo>
                    <a:pt x="170" y="55"/>
                  </a:moveTo>
                  <a:cubicBezTo>
                    <a:pt x="168" y="56"/>
                    <a:pt x="168" y="55"/>
                    <a:pt x="166" y="55"/>
                  </a:cubicBezTo>
                  <a:cubicBezTo>
                    <a:pt x="164" y="55"/>
                    <a:pt x="159" y="55"/>
                    <a:pt x="156" y="55"/>
                  </a:cubicBezTo>
                  <a:cubicBezTo>
                    <a:pt x="154" y="55"/>
                    <a:pt x="151" y="55"/>
                    <a:pt x="149" y="54"/>
                  </a:cubicBezTo>
                  <a:cubicBezTo>
                    <a:pt x="146" y="57"/>
                    <a:pt x="143" y="54"/>
                    <a:pt x="139" y="55"/>
                  </a:cubicBezTo>
                  <a:cubicBezTo>
                    <a:pt x="136" y="56"/>
                    <a:pt x="133" y="57"/>
                    <a:pt x="130" y="57"/>
                  </a:cubicBezTo>
                  <a:cubicBezTo>
                    <a:pt x="130" y="57"/>
                    <a:pt x="129" y="56"/>
                    <a:pt x="129" y="56"/>
                  </a:cubicBezTo>
                  <a:cubicBezTo>
                    <a:pt x="125" y="59"/>
                    <a:pt x="115" y="57"/>
                    <a:pt x="110" y="56"/>
                  </a:cubicBezTo>
                  <a:cubicBezTo>
                    <a:pt x="108" y="56"/>
                    <a:pt x="108" y="57"/>
                    <a:pt x="107" y="58"/>
                  </a:cubicBezTo>
                  <a:cubicBezTo>
                    <a:pt x="106" y="58"/>
                    <a:pt x="104" y="57"/>
                    <a:pt x="103" y="58"/>
                  </a:cubicBezTo>
                  <a:cubicBezTo>
                    <a:pt x="100" y="60"/>
                    <a:pt x="95" y="61"/>
                    <a:pt x="92" y="62"/>
                  </a:cubicBezTo>
                  <a:cubicBezTo>
                    <a:pt x="91" y="62"/>
                    <a:pt x="89" y="61"/>
                    <a:pt x="88" y="61"/>
                  </a:cubicBezTo>
                  <a:cubicBezTo>
                    <a:pt x="88" y="61"/>
                    <a:pt x="87" y="60"/>
                    <a:pt x="87" y="60"/>
                  </a:cubicBezTo>
                  <a:cubicBezTo>
                    <a:pt x="87" y="58"/>
                    <a:pt x="90" y="55"/>
                    <a:pt x="92" y="54"/>
                  </a:cubicBezTo>
                  <a:cubicBezTo>
                    <a:pt x="92" y="54"/>
                    <a:pt x="93" y="53"/>
                    <a:pt x="94" y="53"/>
                  </a:cubicBezTo>
                  <a:cubicBezTo>
                    <a:pt x="95" y="52"/>
                    <a:pt x="96" y="52"/>
                    <a:pt x="96" y="51"/>
                  </a:cubicBezTo>
                  <a:cubicBezTo>
                    <a:pt x="99" y="49"/>
                    <a:pt x="102" y="49"/>
                    <a:pt x="104" y="48"/>
                  </a:cubicBezTo>
                  <a:cubicBezTo>
                    <a:pt x="106" y="48"/>
                    <a:pt x="108" y="47"/>
                    <a:pt x="110" y="47"/>
                  </a:cubicBezTo>
                  <a:cubicBezTo>
                    <a:pt x="111" y="46"/>
                    <a:pt x="117" y="47"/>
                    <a:pt x="117" y="47"/>
                  </a:cubicBezTo>
                  <a:cubicBezTo>
                    <a:pt x="120" y="46"/>
                    <a:pt x="125" y="47"/>
                    <a:pt x="126" y="46"/>
                  </a:cubicBezTo>
                  <a:cubicBezTo>
                    <a:pt x="129" y="45"/>
                    <a:pt x="132" y="44"/>
                    <a:pt x="135" y="45"/>
                  </a:cubicBezTo>
                  <a:cubicBezTo>
                    <a:pt x="139" y="46"/>
                    <a:pt x="142" y="45"/>
                    <a:pt x="148" y="45"/>
                  </a:cubicBezTo>
                  <a:cubicBezTo>
                    <a:pt x="151" y="45"/>
                    <a:pt x="154" y="45"/>
                    <a:pt x="156" y="45"/>
                  </a:cubicBezTo>
                  <a:cubicBezTo>
                    <a:pt x="157" y="45"/>
                    <a:pt x="158" y="44"/>
                    <a:pt x="160" y="44"/>
                  </a:cubicBezTo>
                  <a:cubicBezTo>
                    <a:pt x="162" y="44"/>
                    <a:pt x="163" y="46"/>
                    <a:pt x="166" y="44"/>
                  </a:cubicBezTo>
                  <a:cubicBezTo>
                    <a:pt x="167" y="45"/>
                    <a:pt x="169" y="45"/>
                    <a:pt x="170" y="46"/>
                  </a:cubicBezTo>
                  <a:cubicBezTo>
                    <a:pt x="172" y="47"/>
                    <a:pt x="172" y="51"/>
                    <a:pt x="172" y="53"/>
                  </a:cubicBezTo>
                  <a:cubicBezTo>
                    <a:pt x="172" y="54"/>
                    <a:pt x="171" y="54"/>
                    <a:pt x="170" y="55"/>
                  </a:cubicBezTo>
                  <a:close/>
                  <a:moveTo>
                    <a:pt x="94" y="23"/>
                  </a:moveTo>
                  <a:cubicBezTo>
                    <a:pt x="95" y="22"/>
                    <a:pt x="96" y="21"/>
                    <a:pt x="96" y="21"/>
                  </a:cubicBezTo>
                  <a:cubicBezTo>
                    <a:pt x="97" y="20"/>
                    <a:pt x="99" y="21"/>
                    <a:pt x="100" y="21"/>
                  </a:cubicBezTo>
                  <a:cubicBezTo>
                    <a:pt x="104" y="19"/>
                    <a:pt x="109" y="19"/>
                    <a:pt x="113" y="19"/>
                  </a:cubicBezTo>
                  <a:cubicBezTo>
                    <a:pt x="122" y="18"/>
                    <a:pt x="130" y="21"/>
                    <a:pt x="135" y="20"/>
                  </a:cubicBezTo>
                  <a:cubicBezTo>
                    <a:pt x="140" y="19"/>
                    <a:pt x="156" y="16"/>
                    <a:pt x="159" y="17"/>
                  </a:cubicBezTo>
                  <a:cubicBezTo>
                    <a:pt x="159" y="16"/>
                    <a:pt x="159" y="16"/>
                    <a:pt x="159" y="16"/>
                  </a:cubicBezTo>
                  <a:cubicBezTo>
                    <a:pt x="161" y="17"/>
                    <a:pt x="164" y="17"/>
                    <a:pt x="166" y="18"/>
                  </a:cubicBezTo>
                  <a:cubicBezTo>
                    <a:pt x="168" y="17"/>
                    <a:pt x="173" y="19"/>
                    <a:pt x="174" y="19"/>
                  </a:cubicBezTo>
                  <a:cubicBezTo>
                    <a:pt x="175" y="20"/>
                    <a:pt x="175" y="21"/>
                    <a:pt x="176" y="21"/>
                  </a:cubicBezTo>
                  <a:cubicBezTo>
                    <a:pt x="176" y="22"/>
                    <a:pt x="175" y="27"/>
                    <a:pt x="174" y="28"/>
                  </a:cubicBezTo>
                  <a:cubicBezTo>
                    <a:pt x="174" y="29"/>
                    <a:pt x="174" y="29"/>
                    <a:pt x="174" y="29"/>
                  </a:cubicBezTo>
                  <a:cubicBezTo>
                    <a:pt x="148" y="29"/>
                    <a:pt x="120" y="27"/>
                    <a:pt x="102" y="32"/>
                  </a:cubicBezTo>
                  <a:cubicBezTo>
                    <a:pt x="102" y="32"/>
                    <a:pt x="97" y="32"/>
                    <a:pt x="96" y="32"/>
                  </a:cubicBezTo>
                  <a:cubicBezTo>
                    <a:pt x="96" y="32"/>
                    <a:pt x="88" y="33"/>
                    <a:pt x="87" y="33"/>
                  </a:cubicBezTo>
                  <a:cubicBezTo>
                    <a:pt x="86" y="32"/>
                    <a:pt x="85" y="31"/>
                    <a:pt x="84" y="30"/>
                  </a:cubicBezTo>
                  <a:cubicBezTo>
                    <a:pt x="85" y="27"/>
                    <a:pt x="91" y="24"/>
                    <a:pt x="94" y="23"/>
                  </a:cubicBezTo>
                  <a:close/>
                  <a:moveTo>
                    <a:pt x="121" y="83"/>
                  </a:moveTo>
                  <a:cubicBezTo>
                    <a:pt x="119" y="84"/>
                    <a:pt x="113" y="84"/>
                    <a:pt x="111" y="84"/>
                  </a:cubicBezTo>
                  <a:cubicBezTo>
                    <a:pt x="107" y="84"/>
                    <a:pt x="103" y="85"/>
                    <a:pt x="100" y="85"/>
                  </a:cubicBezTo>
                  <a:cubicBezTo>
                    <a:pt x="98" y="85"/>
                    <a:pt x="96" y="85"/>
                    <a:pt x="95" y="85"/>
                  </a:cubicBezTo>
                  <a:cubicBezTo>
                    <a:pt x="94" y="86"/>
                    <a:pt x="94" y="86"/>
                    <a:pt x="94" y="86"/>
                  </a:cubicBezTo>
                  <a:cubicBezTo>
                    <a:pt x="93" y="86"/>
                    <a:pt x="92" y="86"/>
                    <a:pt x="90" y="86"/>
                  </a:cubicBezTo>
                  <a:cubicBezTo>
                    <a:pt x="86" y="88"/>
                    <a:pt x="85" y="89"/>
                    <a:pt x="80" y="88"/>
                  </a:cubicBezTo>
                  <a:cubicBezTo>
                    <a:pt x="80" y="86"/>
                    <a:pt x="82" y="83"/>
                    <a:pt x="82" y="82"/>
                  </a:cubicBezTo>
                  <a:cubicBezTo>
                    <a:pt x="83" y="78"/>
                    <a:pt x="90" y="77"/>
                    <a:pt x="94" y="75"/>
                  </a:cubicBezTo>
                  <a:cubicBezTo>
                    <a:pt x="95" y="75"/>
                    <a:pt x="96" y="75"/>
                    <a:pt x="98" y="75"/>
                  </a:cubicBezTo>
                  <a:cubicBezTo>
                    <a:pt x="98" y="75"/>
                    <a:pt x="103" y="74"/>
                    <a:pt x="103" y="74"/>
                  </a:cubicBezTo>
                  <a:cubicBezTo>
                    <a:pt x="103" y="74"/>
                    <a:pt x="105" y="75"/>
                    <a:pt x="106" y="75"/>
                  </a:cubicBezTo>
                  <a:cubicBezTo>
                    <a:pt x="110" y="74"/>
                    <a:pt x="118" y="74"/>
                    <a:pt x="122" y="72"/>
                  </a:cubicBezTo>
                  <a:cubicBezTo>
                    <a:pt x="123" y="72"/>
                    <a:pt x="131" y="73"/>
                    <a:pt x="132" y="73"/>
                  </a:cubicBezTo>
                  <a:cubicBezTo>
                    <a:pt x="133" y="74"/>
                    <a:pt x="148" y="72"/>
                    <a:pt x="148" y="72"/>
                  </a:cubicBezTo>
                  <a:cubicBezTo>
                    <a:pt x="149" y="72"/>
                    <a:pt x="149" y="72"/>
                    <a:pt x="149" y="71"/>
                  </a:cubicBezTo>
                  <a:cubicBezTo>
                    <a:pt x="149" y="71"/>
                    <a:pt x="149" y="71"/>
                    <a:pt x="149" y="71"/>
                  </a:cubicBezTo>
                  <a:cubicBezTo>
                    <a:pt x="149" y="71"/>
                    <a:pt x="153" y="73"/>
                    <a:pt x="153" y="73"/>
                  </a:cubicBezTo>
                  <a:cubicBezTo>
                    <a:pt x="159" y="70"/>
                    <a:pt x="164" y="72"/>
                    <a:pt x="169" y="73"/>
                  </a:cubicBezTo>
                  <a:cubicBezTo>
                    <a:pt x="171" y="75"/>
                    <a:pt x="170" y="79"/>
                    <a:pt x="170" y="81"/>
                  </a:cubicBezTo>
                  <a:cubicBezTo>
                    <a:pt x="169" y="82"/>
                    <a:pt x="168" y="82"/>
                    <a:pt x="168" y="83"/>
                  </a:cubicBezTo>
                  <a:cubicBezTo>
                    <a:pt x="162" y="83"/>
                    <a:pt x="154" y="82"/>
                    <a:pt x="148" y="83"/>
                  </a:cubicBezTo>
                  <a:cubicBezTo>
                    <a:pt x="147" y="83"/>
                    <a:pt x="142" y="82"/>
                    <a:pt x="142" y="82"/>
                  </a:cubicBezTo>
                  <a:cubicBezTo>
                    <a:pt x="140" y="83"/>
                    <a:pt x="135" y="83"/>
                    <a:pt x="133" y="82"/>
                  </a:cubicBezTo>
                  <a:cubicBezTo>
                    <a:pt x="130" y="84"/>
                    <a:pt x="122" y="83"/>
                    <a:pt x="121" y="83"/>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sz="1800"/>
            </a:p>
          </p:txBody>
        </p:sp>
        <p:sp>
          <p:nvSpPr>
            <p:cNvPr id="32" name="Freeform 8"/>
            <p:cNvSpPr/>
            <p:nvPr/>
          </p:nvSpPr>
          <p:spPr bwMode="auto">
            <a:xfrm>
              <a:off x="1468682" y="6171684"/>
              <a:ext cx="98249" cy="289665"/>
            </a:xfrm>
            <a:custGeom>
              <a:avLst/>
              <a:gdLst>
                <a:gd name="T0" fmla="*/ 67 w 73"/>
                <a:gd name="T1" fmla="*/ 1 h 215"/>
                <a:gd name="T2" fmla="*/ 69 w 73"/>
                <a:gd name="T3" fmla="*/ 18 h 215"/>
                <a:gd name="T4" fmla="*/ 65 w 73"/>
                <a:gd name="T5" fmla="*/ 37 h 215"/>
                <a:gd name="T6" fmla="*/ 67 w 73"/>
                <a:gd name="T7" fmla="*/ 53 h 215"/>
                <a:gd name="T8" fmla="*/ 68 w 73"/>
                <a:gd name="T9" fmla="*/ 65 h 215"/>
                <a:gd name="T10" fmla="*/ 68 w 73"/>
                <a:gd name="T11" fmla="*/ 74 h 215"/>
                <a:gd name="T12" fmla="*/ 67 w 73"/>
                <a:gd name="T13" fmla="*/ 91 h 215"/>
                <a:gd name="T14" fmla="*/ 69 w 73"/>
                <a:gd name="T15" fmla="*/ 99 h 215"/>
                <a:gd name="T16" fmla="*/ 71 w 73"/>
                <a:gd name="T17" fmla="*/ 107 h 215"/>
                <a:gd name="T18" fmla="*/ 73 w 73"/>
                <a:gd name="T19" fmla="*/ 114 h 215"/>
                <a:gd name="T20" fmla="*/ 69 w 73"/>
                <a:gd name="T21" fmla="*/ 118 h 215"/>
                <a:gd name="T22" fmla="*/ 68 w 73"/>
                <a:gd name="T23" fmla="*/ 130 h 215"/>
                <a:gd name="T24" fmla="*/ 67 w 73"/>
                <a:gd name="T25" fmla="*/ 137 h 215"/>
                <a:gd name="T26" fmla="*/ 67 w 73"/>
                <a:gd name="T27" fmla="*/ 148 h 215"/>
                <a:gd name="T28" fmla="*/ 65 w 73"/>
                <a:gd name="T29" fmla="*/ 157 h 215"/>
                <a:gd name="T30" fmla="*/ 64 w 73"/>
                <a:gd name="T31" fmla="*/ 159 h 215"/>
                <a:gd name="T32" fmla="*/ 63 w 73"/>
                <a:gd name="T33" fmla="*/ 160 h 215"/>
                <a:gd name="T34" fmla="*/ 63 w 73"/>
                <a:gd name="T35" fmla="*/ 168 h 215"/>
                <a:gd name="T36" fmla="*/ 64 w 73"/>
                <a:gd name="T37" fmla="*/ 186 h 215"/>
                <a:gd name="T38" fmla="*/ 65 w 73"/>
                <a:gd name="T39" fmla="*/ 197 h 215"/>
                <a:gd name="T40" fmla="*/ 65 w 73"/>
                <a:gd name="T41" fmla="*/ 208 h 215"/>
                <a:gd name="T42" fmla="*/ 61 w 73"/>
                <a:gd name="T43" fmla="*/ 215 h 215"/>
                <a:gd name="T44" fmla="*/ 55 w 73"/>
                <a:gd name="T45" fmla="*/ 208 h 215"/>
                <a:gd name="T46" fmla="*/ 53 w 73"/>
                <a:gd name="T47" fmla="*/ 204 h 215"/>
                <a:gd name="T48" fmla="*/ 48 w 73"/>
                <a:gd name="T49" fmla="*/ 186 h 215"/>
                <a:gd name="T50" fmla="*/ 48 w 73"/>
                <a:gd name="T51" fmla="*/ 178 h 215"/>
                <a:gd name="T52" fmla="*/ 45 w 73"/>
                <a:gd name="T53" fmla="*/ 147 h 215"/>
                <a:gd name="T54" fmla="*/ 33 w 73"/>
                <a:gd name="T55" fmla="*/ 153 h 215"/>
                <a:gd name="T56" fmla="*/ 18 w 73"/>
                <a:gd name="T57" fmla="*/ 161 h 215"/>
                <a:gd name="T58" fmla="*/ 11 w 73"/>
                <a:gd name="T59" fmla="*/ 163 h 215"/>
                <a:gd name="T60" fmla="*/ 4 w 73"/>
                <a:gd name="T61" fmla="*/ 155 h 215"/>
                <a:gd name="T62" fmla="*/ 0 w 73"/>
                <a:gd name="T63" fmla="*/ 147 h 215"/>
                <a:gd name="T64" fmla="*/ 0 w 73"/>
                <a:gd name="T65" fmla="*/ 138 h 215"/>
                <a:gd name="T66" fmla="*/ 0 w 73"/>
                <a:gd name="T67" fmla="*/ 127 h 215"/>
                <a:gd name="T68" fmla="*/ 8 w 73"/>
                <a:gd name="T69" fmla="*/ 112 h 215"/>
                <a:gd name="T70" fmla="*/ 12 w 73"/>
                <a:gd name="T71" fmla="*/ 90 h 215"/>
                <a:gd name="T72" fmla="*/ 12 w 73"/>
                <a:gd name="T73" fmla="*/ 73 h 215"/>
                <a:gd name="T74" fmla="*/ 13 w 73"/>
                <a:gd name="T75" fmla="*/ 64 h 215"/>
                <a:gd name="T76" fmla="*/ 18 w 73"/>
                <a:gd name="T77" fmla="*/ 47 h 215"/>
                <a:gd name="T78" fmla="*/ 24 w 73"/>
                <a:gd name="T79" fmla="*/ 41 h 215"/>
                <a:gd name="T80" fmla="*/ 32 w 73"/>
                <a:gd name="T81" fmla="*/ 39 h 215"/>
                <a:gd name="T82" fmla="*/ 38 w 73"/>
                <a:gd name="T83" fmla="*/ 47 h 215"/>
                <a:gd name="T84" fmla="*/ 28 w 73"/>
                <a:gd name="T85" fmla="*/ 62 h 215"/>
                <a:gd name="T86" fmla="*/ 31 w 73"/>
                <a:gd name="T87" fmla="*/ 81 h 215"/>
                <a:gd name="T88" fmla="*/ 31 w 73"/>
                <a:gd name="T89" fmla="*/ 89 h 215"/>
                <a:gd name="T90" fmla="*/ 30 w 73"/>
                <a:gd name="T91" fmla="*/ 99 h 215"/>
                <a:gd name="T92" fmla="*/ 48 w 73"/>
                <a:gd name="T93" fmla="*/ 115 h 215"/>
                <a:gd name="T94" fmla="*/ 50 w 73"/>
                <a:gd name="T95" fmla="*/ 115 h 215"/>
                <a:gd name="T96" fmla="*/ 51 w 73"/>
                <a:gd name="T97" fmla="*/ 109 h 215"/>
                <a:gd name="T98" fmla="*/ 55 w 73"/>
                <a:gd name="T99" fmla="*/ 79 h 215"/>
                <a:gd name="T100" fmla="*/ 53 w 73"/>
                <a:gd name="T101" fmla="*/ 35 h 215"/>
                <a:gd name="T102" fmla="*/ 60 w 73"/>
                <a:gd name="T103" fmla="*/ 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3" h="215">
                  <a:moveTo>
                    <a:pt x="65" y="0"/>
                  </a:moveTo>
                  <a:cubicBezTo>
                    <a:pt x="66" y="0"/>
                    <a:pt x="67" y="0"/>
                    <a:pt x="67" y="1"/>
                  </a:cubicBezTo>
                  <a:cubicBezTo>
                    <a:pt x="70" y="3"/>
                    <a:pt x="68" y="10"/>
                    <a:pt x="69" y="15"/>
                  </a:cubicBezTo>
                  <a:cubicBezTo>
                    <a:pt x="69" y="16"/>
                    <a:pt x="69" y="17"/>
                    <a:pt x="69" y="18"/>
                  </a:cubicBezTo>
                  <a:cubicBezTo>
                    <a:pt x="71" y="22"/>
                    <a:pt x="69" y="30"/>
                    <a:pt x="67" y="34"/>
                  </a:cubicBezTo>
                  <a:cubicBezTo>
                    <a:pt x="66" y="35"/>
                    <a:pt x="66" y="37"/>
                    <a:pt x="65" y="37"/>
                  </a:cubicBezTo>
                  <a:cubicBezTo>
                    <a:pt x="64" y="39"/>
                    <a:pt x="65" y="45"/>
                    <a:pt x="66" y="46"/>
                  </a:cubicBezTo>
                  <a:cubicBezTo>
                    <a:pt x="66" y="47"/>
                    <a:pt x="66" y="51"/>
                    <a:pt x="67" y="53"/>
                  </a:cubicBezTo>
                  <a:cubicBezTo>
                    <a:pt x="67" y="55"/>
                    <a:pt x="67" y="57"/>
                    <a:pt x="67" y="59"/>
                  </a:cubicBezTo>
                  <a:cubicBezTo>
                    <a:pt x="67" y="61"/>
                    <a:pt x="67" y="63"/>
                    <a:pt x="68" y="65"/>
                  </a:cubicBezTo>
                  <a:cubicBezTo>
                    <a:pt x="68" y="67"/>
                    <a:pt x="67" y="70"/>
                    <a:pt x="67" y="71"/>
                  </a:cubicBezTo>
                  <a:cubicBezTo>
                    <a:pt x="67" y="71"/>
                    <a:pt x="68" y="73"/>
                    <a:pt x="68" y="74"/>
                  </a:cubicBezTo>
                  <a:cubicBezTo>
                    <a:pt x="69" y="76"/>
                    <a:pt x="67" y="82"/>
                    <a:pt x="68" y="85"/>
                  </a:cubicBezTo>
                  <a:cubicBezTo>
                    <a:pt x="68" y="86"/>
                    <a:pt x="65" y="89"/>
                    <a:pt x="67" y="91"/>
                  </a:cubicBezTo>
                  <a:cubicBezTo>
                    <a:pt x="67" y="92"/>
                    <a:pt x="66" y="94"/>
                    <a:pt x="67" y="95"/>
                  </a:cubicBezTo>
                  <a:cubicBezTo>
                    <a:pt x="68" y="97"/>
                    <a:pt x="68" y="98"/>
                    <a:pt x="69" y="99"/>
                  </a:cubicBezTo>
                  <a:cubicBezTo>
                    <a:pt x="69" y="101"/>
                    <a:pt x="69" y="104"/>
                    <a:pt x="69" y="106"/>
                  </a:cubicBezTo>
                  <a:cubicBezTo>
                    <a:pt x="70" y="106"/>
                    <a:pt x="71" y="107"/>
                    <a:pt x="71" y="107"/>
                  </a:cubicBezTo>
                  <a:cubicBezTo>
                    <a:pt x="72" y="109"/>
                    <a:pt x="71" y="110"/>
                    <a:pt x="72" y="112"/>
                  </a:cubicBezTo>
                  <a:cubicBezTo>
                    <a:pt x="72" y="113"/>
                    <a:pt x="73" y="112"/>
                    <a:pt x="73" y="114"/>
                  </a:cubicBezTo>
                  <a:cubicBezTo>
                    <a:pt x="72" y="114"/>
                    <a:pt x="71" y="116"/>
                    <a:pt x="72" y="117"/>
                  </a:cubicBezTo>
                  <a:cubicBezTo>
                    <a:pt x="71" y="117"/>
                    <a:pt x="70" y="118"/>
                    <a:pt x="69" y="118"/>
                  </a:cubicBezTo>
                  <a:cubicBezTo>
                    <a:pt x="69" y="119"/>
                    <a:pt x="67" y="127"/>
                    <a:pt x="67" y="127"/>
                  </a:cubicBezTo>
                  <a:cubicBezTo>
                    <a:pt x="67" y="128"/>
                    <a:pt x="68" y="129"/>
                    <a:pt x="68" y="130"/>
                  </a:cubicBezTo>
                  <a:cubicBezTo>
                    <a:pt x="68" y="132"/>
                    <a:pt x="68" y="133"/>
                    <a:pt x="68" y="134"/>
                  </a:cubicBezTo>
                  <a:cubicBezTo>
                    <a:pt x="68" y="135"/>
                    <a:pt x="67" y="138"/>
                    <a:pt x="67" y="137"/>
                  </a:cubicBezTo>
                  <a:cubicBezTo>
                    <a:pt x="67" y="138"/>
                    <a:pt x="67" y="138"/>
                    <a:pt x="67" y="139"/>
                  </a:cubicBezTo>
                  <a:cubicBezTo>
                    <a:pt x="67" y="139"/>
                    <a:pt x="66" y="148"/>
                    <a:pt x="67" y="148"/>
                  </a:cubicBezTo>
                  <a:cubicBezTo>
                    <a:pt x="67" y="148"/>
                    <a:pt x="67" y="149"/>
                    <a:pt x="67" y="149"/>
                  </a:cubicBezTo>
                  <a:cubicBezTo>
                    <a:pt x="66" y="152"/>
                    <a:pt x="64" y="155"/>
                    <a:pt x="65" y="157"/>
                  </a:cubicBezTo>
                  <a:cubicBezTo>
                    <a:pt x="65" y="157"/>
                    <a:pt x="65" y="158"/>
                    <a:pt x="65" y="158"/>
                  </a:cubicBezTo>
                  <a:cubicBezTo>
                    <a:pt x="65" y="158"/>
                    <a:pt x="65" y="158"/>
                    <a:pt x="64" y="159"/>
                  </a:cubicBezTo>
                  <a:cubicBezTo>
                    <a:pt x="64" y="159"/>
                    <a:pt x="64" y="159"/>
                    <a:pt x="64" y="159"/>
                  </a:cubicBezTo>
                  <a:cubicBezTo>
                    <a:pt x="64" y="160"/>
                    <a:pt x="64" y="160"/>
                    <a:pt x="63" y="160"/>
                  </a:cubicBezTo>
                  <a:cubicBezTo>
                    <a:pt x="63" y="162"/>
                    <a:pt x="63" y="164"/>
                    <a:pt x="63" y="166"/>
                  </a:cubicBezTo>
                  <a:cubicBezTo>
                    <a:pt x="63" y="167"/>
                    <a:pt x="63" y="167"/>
                    <a:pt x="63" y="168"/>
                  </a:cubicBezTo>
                  <a:cubicBezTo>
                    <a:pt x="61" y="173"/>
                    <a:pt x="64" y="179"/>
                    <a:pt x="65" y="181"/>
                  </a:cubicBezTo>
                  <a:cubicBezTo>
                    <a:pt x="65" y="183"/>
                    <a:pt x="65" y="184"/>
                    <a:pt x="64" y="186"/>
                  </a:cubicBezTo>
                  <a:cubicBezTo>
                    <a:pt x="64" y="186"/>
                    <a:pt x="64" y="186"/>
                    <a:pt x="64" y="186"/>
                  </a:cubicBezTo>
                  <a:cubicBezTo>
                    <a:pt x="64" y="186"/>
                    <a:pt x="65" y="197"/>
                    <a:pt x="65" y="197"/>
                  </a:cubicBezTo>
                  <a:cubicBezTo>
                    <a:pt x="65" y="197"/>
                    <a:pt x="64" y="201"/>
                    <a:pt x="64" y="201"/>
                  </a:cubicBezTo>
                  <a:cubicBezTo>
                    <a:pt x="65" y="202"/>
                    <a:pt x="65" y="207"/>
                    <a:pt x="65" y="208"/>
                  </a:cubicBezTo>
                  <a:cubicBezTo>
                    <a:pt x="65" y="209"/>
                    <a:pt x="64" y="209"/>
                    <a:pt x="63" y="209"/>
                  </a:cubicBezTo>
                  <a:cubicBezTo>
                    <a:pt x="63" y="211"/>
                    <a:pt x="63" y="214"/>
                    <a:pt x="61" y="215"/>
                  </a:cubicBezTo>
                  <a:cubicBezTo>
                    <a:pt x="60" y="215"/>
                    <a:pt x="61" y="215"/>
                    <a:pt x="60" y="215"/>
                  </a:cubicBezTo>
                  <a:cubicBezTo>
                    <a:pt x="57" y="213"/>
                    <a:pt x="58" y="210"/>
                    <a:pt x="55" y="208"/>
                  </a:cubicBezTo>
                  <a:cubicBezTo>
                    <a:pt x="55" y="208"/>
                    <a:pt x="56" y="208"/>
                    <a:pt x="56" y="207"/>
                  </a:cubicBezTo>
                  <a:cubicBezTo>
                    <a:pt x="56" y="206"/>
                    <a:pt x="54" y="205"/>
                    <a:pt x="53" y="204"/>
                  </a:cubicBezTo>
                  <a:cubicBezTo>
                    <a:pt x="52" y="202"/>
                    <a:pt x="53" y="199"/>
                    <a:pt x="52" y="197"/>
                  </a:cubicBezTo>
                  <a:cubicBezTo>
                    <a:pt x="51" y="194"/>
                    <a:pt x="50" y="188"/>
                    <a:pt x="48" y="186"/>
                  </a:cubicBezTo>
                  <a:cubicBezTo>
                    <a:pt x="48" y="185"/>
                    <a:pt x="49" y="183"/>
                    <a:pt x="49" y="182"/>
                  </a:cubicBezTo>
                  <a:cubicBezTo>
                    <a:pt x="48" y="181"/>
                    <a:pt x="48" y="179"/>
                    <a:pt x="48" y="178"/>
                  </a:cubicBezTo>
                  <a:cubicBezTo>
                    <a:pt x="48" y="174"/>
                    <a:pt x="49" y="168"/>
                    <a:pt x="48" y="166"/>
                  </a:cubicBezTo>
                  <a:cubicBezTo>
                    <a:pt x="46" y="163"/>
                    <a:pt x="51" y="148"/>
                    <a:pt x="45" y="147"/>
                  </a:cubicBezTo>
                  <a:cubicBezTo>
                    <a:pt x="43" y="148"/>
                    <a:pt x="40" y="148"/>
                    <a:pt x="38" y="149"/>
                  </a:cubicBezTo>
                  <a:cubicBezTo>
                    <a:pt x="37" y="150"/>
                    <a:pt x="35" y="152"/>
                    <a:pt x="33" y="153"/>
                  </a:cubicBezTo>
                  <a:cubicBezTo>
                    <a:pt x="33" y="153"/>
                    <a:pt x="23" y="157"/>
                    <a:pt x="23" y="157"/>
                  </a:cubicBezTo>
                  <a:cubicBezTo>
                    <a:pt x="21" y="158"/>
                    <a:pt x="20" y="160"/>
                    <a:pt x="18" y="161"/>
                  </a:cubicBezTo>
                  <a:cubicBezTo>
                    <a:pt x="16" y="161"/>
                    <a:pt x="15" y="161"/>
                    <a:pt x="13" y="161"/>
                  </a:cubicBezTo>
                  <a:cubicBezTo>
                    <a:pt x="13" y="162"/>
                    <a:pt x="12" y="162"/>
                    <a:pt x="11" y="163"/>
                  </a:cubicBezTo>
                  <a:cubicBezTo>
                    <a:pt x="8" y="164"/>
                    <a:pt x="5" y="159"/>
                    <a:pt x="4" y="157"/>
                  </a:cubicBezTo>
                  <a:cubicBezTo>
                    <a:pt x="4" y="156"/>
                    <a:pt x="4" y="156"/>
                    <a:pt x="4" y="155"/>
                  </a:cubicBezTo>
                  <a:cubicBezTo>
                    <a:pt x="2" y="152"/>
                    <a:pt x="2" y="150"/>
                    <a:pt x="0" y="148"/>
                  </a:cubicBezTo>
                  <a:cubicBezTo>
                    <a:pt x="1" y="147"/>
                    <a:pt x="0" y="146"/>
                    <a:pt x="0" y="147"/>
                  </a:cubicBezTo>
                  <a:cubicBezTo>
                    <a:pt x="0" y="147"/>
                    <a:pt x="0" y="144"/>
                    <a:pt x="0" y="144"/>
                  </a:cubicBezTo>
                  <a:cubicBezTo>
                    <a:pt x="0" y="142"/>
                    <a:pt x="0" y="138"/>
                    <a:pt x="0" y="138"/>
                  </a:cubicBezTo>
                  <a:cubicBezTo>
                    <a:pt x="2" y="137"/>
                    <a:pt x="1" y="129"/>
                    <a:pt x="0" y="127"/>
                  </a:cubicBezTo>
                  <a:cubicBezTo>
                    <a:pt x="0" y="127"/>
                    <a:pt x="0" y="127"/>
                    <a:pt x="0" y="127"/>
                  </a:cubicBezTo>
                  <a:cubicBezTo>
                    <a:pt x="0" y="126"/>
                    <a:pt x="1" y="124"/>
                    <a:pt x="0" y="123"/>
                  </a:cubicBezTo>
                  <a:cubicBezTo>
                    <a:pt x="2" y="119"/>
                    <a:pt x="7" y="115"/>
                    <a:pt x="8" y="112"/>
                  </a:cubicBezTo>
                  <a:cubicBezTo>
                    <a:pt x="8" y="111"/>
                    <a:pt x="8" y="110"/>
                    <a:pt x="8" y="109"/>
                  </a:cubicBezTo>
                  <a:cubicBezTo>
                    <a:pt x="10" y="104"/>
                    <a:pt x="10" y="93"/>
                    <a:pt x="12" y="90"/>
                  </a:cubicBezTo>
                  <a:cubicBezTo>
                    <a:pt x="12" y="87"/>
                    <a:pt x="12" y="85"/>
                    <a:pt x="12" y="83"/>
                  </a:cubicBezTo>
                  <a:cubicBezTo>
                    <a:pt x="12" y="79"/>
                    <a:pt x="11" y="76"/>
                    <a:pt x="12" y="73"/>
                  </a:cubicBezTo>
                  <a:cubicBezTo>
                    <a:pt x="13" y="70"/>
                    <a:pt x="13" y="66"/>
                    <a:pt x="14" y="65"/>
                  </a:cubicBezTo>
                  <a:cubicBezTo>
                    <a:pt x="14" y="64"/>
                    <a:pt x="14" y="64"/>
                    <a:pt x="13" y="64"/>
                  </a:cubicBezTo>
                  <a:cubicBezTo>
                    <a:pt x="13" y="63"/>
                    <a:pt x="15" y="60"/>
                    <a:pt x="14" y="58"/>
                  </a:cubicBezTo>
                  <a:cubicBezTo>
                    <a:pt x="16" y="55"/>
                    <a:pt x="17" y="50"/>
                    <a:pt x="18" y="47"/>
                  </a:cubicBezTo>
                  <a:cubicBezTo>
                    <a:pt x="19" y="47"/>
                    <a:pt x="20" y="46"/>
                    <a:pt x="21" y="45"/>
                  </a:cubicBezTo>
                  <a:cubicBezTo>
                    <a:pt x="23" y="44"/>
                    <a:pt x="21" y="42"/>
                    <a:pt x="24" y="41"/>
                  </a:cubicBezTo>
                  <a:cubicBezTo>
                    <a:pt x="24" y="41"/>
                    <a:pt x="24" y="40"/>
                    <a:pt x="24" y="40"/>
                  </a:cubicBezTo>
                  <a:cubicBezTo>
                    <a:pt x="26" y="40"/>
                    <a:pt x="31" y="38"/>
                    <a:pt x="32" y="39"/>
                  </a:cubicBezTo>
                  <a:cubicBezTo>
                    <a:pt x="33" y="40"/>
                    <a:pt x="33" y="41"/>
                    <a:pt x="34" y="43"/>
                  </a:cubicBezTo>
                  <a:cubicBezTo>
                    <a:pt x="35" y="44"/>
                    <a:pt x="37" y="45"/>
                    <a:pt x="38" y="47"/>
                  </a:cubicBezTo>
                  <a:cubicBezTo>
                    <a:pt x="39" y="48"/>
                    <a:pt x="39" y="49"/>
                    <a:pt x="38" y="50"/>
                  </a:cubicBezTo>
                  <a:cubicBezTo>
                    <a:pt x="37" y="59"/>
                    <a:pt x="31" y="56"/>
                    <a:pt x="28" y="62"/>
                  </a:cubicBezTo>
                  <a:cubicBezTo>
                    <a:pt x="27" y="65"/>
                    <a:pt x="30" y="74"/>
                    <a:pt x="31" y="76"/>
                  </a:cubicBezTo>
                  <a:cubicBezTo>
                    <a:pt x="32" y="78"/>
                    <a:pt x="31" y="80"/>
                    <a:pt x="31" y="81"/>
                  </a:cubicBezTo>
                  <a:cubicBezTo>
                    <a:pt x="31" y="82"/>
                    <a:pt x="31" y="84"/>
                    <a:pt x="30" y="85"/>
                  </a:cubicBezTo>
                  <a:cubicBezTo>
                    <a:pt x="30" y="86"/>
                    <a:pt x="31" y="88"/>
                    <a:pt x="31" y="89"/>
                  </a:cubicBezTo>
                  <a:cubicBezTo>
                    <a:pt x="31" y="92"/>
                    <a:pt x="30" y="93"/>
                    <a:pt x="30" y="94"/>
                  </a:cubicBezTo>
                  <a:cubicBezTo>
                    <a:pt x="29" y="95"/>
                    <a:pt x="30" y="99"/>
                    <a:pt x="30" y="99"/>
                  </a:cubicBezTo>
                  <a:cubicBezTo>
                    <a:pt x="28" y="100"/>
                    <a:pt x="27" y="110"/>
                    <a:pt x="28" y="111"/>
                  </a:cubicBezTo>
                  <a:cubicBezTo>
                    <a:pt x="30" y="115"/>
                    <a:pt x="41" y="114"/>
                    <a:pt x="48" y="115"/>
                  </a:cubicBezTo>
                  <a:cubicBezTo>
                    <a:pt x="48" y="114"/>
                    <a:pt x="48" y="115"/>
                    <a:pt x="49" y="114"/>
                  </a:cubicBezTo>
                  <a:cubicBezTo>
                    <a:pt x="49" y="115"/>
                    <a:pt x="49" y="115"/>
                    <a:pt x="50" y="115"/>
                  </a:cubicBezTo>
                  <a:cubicBezTo>
                    <a:pt x="51" y="113"/>
                    <a:pt x="51" y="113"/>
                    <a:pt x="52" y="111"/>
                  </a:cubicBezTo>
                  <a:cubicBezTo>
                    <a:pt x="51" y="111"/>
                    <a:pt x="51" y="111"/>
                    <a:pt x="51" y="109"/>
                  </a:cubicBezTo>
                  <a:cubicBezTo>
                    <a:pt x="56" y="105"/>
                    <a:pt x="55" y="98"/>
                    <a:pt x="56" y="90"/>
                  </a:cubicBezTo>
                  <a:cubicBezTo>
                    <a:pt x="56" y="87"/>
                    <a:pt x="55" y="83"/>
                    <a:pt x="55" y="79"/>
                  </a:cubicBezTo>
                  <a:cubicBezTo>
                    <a:pt x="57" y="77"/>
                    <a:pt x="56" y="67"/>
                    <a:pt x="56" y="63"/>
                  </a:cubicBezTo>
                  <a:cubicBezTo>
                    <a:pt x="56" y="50"/>
                    <a:pt x="57" y="44"/>
                    <a:pt x="53" y="35"/>
                  </a:cubicBezTo>
                  <a:cubicBezTo>
                    <a:pt x="53" y="30"/>
                    <a:pt x="53" y="25"/>
                    <a:pt x="53" y="19"/>
                  </a:cubicBezTo>
                  <a:cubicBezTo>
                    <a:pt x="57" y="17"/>
                    <a:pt x="58" y="5"/>
                    <a:pt x="60" y="4"/>
                  </a:cubicBezTo>
                  <a:cubicBezTo>
                    <a:pt x="61" y="2"/>
                    <a:pt x="64" y="2"/>
                    <a:pt x="65"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sz="1800"/>
            </a:p>
          </p:txBody>
        </p:sp>
        <p:sp>
          <p:nvSpPr>
            <p:cNvPr id="33" name="Freeform 9"/>
            <p:cNvSpPr/>
            <p:nvPr/>
          </p:nvSpPr>
          <p:spPr bwMode="auto">
            <a:xfrm>
              <a:off x="1579918" y="6178459"/>
              <a:ext cx="33879" cy="192546"/>
            </a:xfrm>
            <a:custGeom>
              <a:avLst/>
              <a:gdLst>
                <a:gd name="T0" fmla="*/ 10 w 25"/>
                <a:gd name="T1" fmla="*/ 0 h 143"/>
                <a:gd name="T2" fmla="*/ 16 w 25"/>
                <a:gd name="T3" fmla="*/ 0 h 143"/>
                <a:gd name="T4" fmla="*/ 24 w 25"/>
                <a:gd name="T5" fmla="*/ 12 h 143"/>
                <a:gd name="T6" fmla="*/ 25 w 25"/>
                <a:gd name="T7" fmla="*/ 18 h 143"/>
                <a:gd name="T8" fmla="*/ 23 w 25"/>
                <a:gd name="T9" fmla="*/ 24 h 143"/>
                <a:gd name="T10" fmla="*/ 22 w 25"/>
                <a:gd name="T11" fmla="*/ 26 h 143"/>
                <a:gd name="T12" fmla="*/ 22 w 25"/>
                <a:gd name="T13" fmla="*/ 26 h 143"/>
                <a:gd name="T14" fmla="*/ 21 w 25"/>
                <a:gd name="T15" fmla="*/ 29 h 143"/>
                <a:gd name="T16" fmla="*/ 19 w 25"/>
                <a:gd name="T17" fmla="*/ 32 h 143"/>
                <a:gd name="T18" fmla="*/ 21 w 25"/>
                <a:gd name="T19" fmla="*/ 48 h 143"/>
                <a:gd name="T20" fmla="*/ 21 w 25"/>
                <a:gd name="T21" fmla="*/ 64 h 143"/>
                <a:gd name="T22" fmla="*/ 21 w 25"/>
                <a:gd name="T23" fmla="*/ 64 h 143"/>
                <a:gd name="T24" fmla="*/ 17 w 25"/>
                <a:gd name="T25" fmla="*/ 69 h 143"/>
                <a:gd name="T26" fmla="*/ 17 w 25"/>
                <a:gd name="T27" fmla="*/ 76 h 143"/>
                <a:gd name="T28" fmla="*/ 17 w 25"/>
                <a:gd name="T29" fmla="*/ 76 h 143"/>
                <a:gd name="T30" fmla="*/ 17 w 25"/>
                <a:gd name="T31" fmla="*/ 81 h 143"/>
                <a:gd name="T32" fmla="*/ 17 w 25"/>
                <a:gd name="T33" fmla="*/ 90 h 143"/>
                <a:gd name="T34" fmla="*/ 17 w 25"/>
                <a:gd name="T35" fmla="*/ 91 h 143"/>
                <a:gd name="T36" fmla="*/ 18 w 25"/>
                <a:gd name="T37" fmla="*/ 97 h 143"/>
                <a:gd name="T38" fmla="*/ 17 w 25"/>
                <a:gd name="T39" fmla="*/ 100 h 143"/>
                <a:gd name="T40" fmla="*/ 17 w 25"/>
                <a:gd name="T41" fmla="*/ 100 h 143"/>
                <a:gd name="T42" fmla="*/ 18 w 25"/>
                <a:gd name="T43" fmla="*/ 100 h 143"/>
                <a:gd name="T44" fmla="*/ 18 w 25"/>
                <a:gd name="T45" fmla="*/ 102 h 143"/>
                <a:gd name="T46" fmla="*/ 18 w 25"/>
                <a:gd name="T47" fmla="*/ 108 h 143"/>
                <a:gd name="T48" fmla="*/ 17 w 25"/>
                <a:gd name="T49" fmla="*/ 108 h 143"/>
                <a:gd name="T50" fmla="*/ 17 w 25"/>
                <a:gd name="T51" fmla="*/ 113 h 143"/>
                <a:gd name="T52" fmla="*/ 16 w 25"/>
                <a:gd name="T53" fmla="*/ 117 h 143"/>
                <a:gd name="T54" fmla="*/ 16 w 25"/>
                <a:gd name="T55" fmla="*/ 118 h 143"/>
                <a:gd name="T56" fmla="*/ 15 w 25"/>
                <a:gd name="T57" fmla="*/ 119 h 143"/>
                <a:gd name="T58" fmla="*/ 15 w 25"/>
                <a:gd name="T59" fmla="*/ 121 h 143"/>
                <a:gd name="T60" fmla="*/ 12 w 25"/>
                <a:gd name="T61" fmla="*/ 130 h 143"/>
                <a:gd name="T62" fmla="*/ 5 w 25"/>
                <a:gd name="T63" fmla="*/ 142 h 143"/>
                <a:gd name="T64" fmla="*/ 3 w 25"/>
                <a:gd name="T65" fmla="*/ 141 h 143"/>
                <a:gd name="T66" fmla="*/ 0 w 25"/>
                <a:gd name="T67" fmla="*/ 129 h 143"/>
                <a:gd name="T68" fmla="*/ 1 w 25"/>
                <a:gd name="T69" fmla="*/ 127 h 143"/>
                <a:gd name="T70" fmla="*/ 4 w 25"/>
                <a:gd name="T71" fmla="*/ 126 h 143"/>
                <a:gd name="T72" fmla="*/ 5 w 25"/>
                <a:gd name="T73" fmla="*/ 126 h 143"/>
                <a:gd name="T74" fmla="*/ 8 w 25"/>
                <a:gd name="T75" fmla="*/ 123 h 143"/>
                <a:gd name="T76" fmla="*/ 9 w 25"/>
                <a:gd name="T77" fmla="*/ 114 h 143"/>
                <a:gd name="T78" fmla="*/ 9 w 25"/>
                <a:gd name="T79" fmla="*/ 104 h 143"/>
                <a:gd name="T80" fmla="*/ 9 w 25"/>
                <a:gd name="T81" fmla="*/ 92 h 143"/>
                <a:gd name="T82" fmla="*/ 8 w 25"/>
                <a:gd name="T83" fmla="*/ 83 h 143"/>
                <a:gd name="T84" fmla="*/ 9 w 25"/>
                <a:gd name="T85" fmla="*/ 62 h 143"/>
                <a:gd name="T86" fmla="*/ 8 w 25"/>
                <a:gd name="T87" fmla="*/ 58 h 143"/>
                <a:gd name="T88" fmla="*/ 8 w 25"/>
                <a:gd name="T89" fmla="*/ 57 h 143"/>
                <a:gd name="T90" fmla="*/ 9 w 25"/>
                <a:gd name="T91" fmla="*/ 52 h 143"/>
                <a:gd name="T92" fmla="*/ 10 w 25"/>
                <a:gd name="T93" fmla="*/ 52 h 143"/>
                <a:gd name="T94" fmla="*/ 9 w 25"/>
                <a:gd name="T95" fmla="*/ 48 h 143"/>
                <a:gd name="T96" fmla="*/ 9 w 25"/>
                <a:gd name="T97" fmla="*/ 34 h 143"/>
                <a:gd name="T98" fmla="*/ 9 w 25"/>
                <a:gd name="T99" fmla="*/ 25 h 143"/>
                <a:gd name="T100" fmla="*/ 8 w 25"/>
                <a:gd name="T101" fmla="*/ 20 h 143"/>
                <a:gd name="T102" fmla="*/ 9 w 25"/>
                <a:gd name="T103" fmla="*/ 11 h 143"/>
                <a:gd name="T104" fmla="*/ 10 w 25"/>
                <a:gd name="T105"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 h="143">
                  <a:moveTo>
                    <a:pt x="10" y="0"/>
                  </a:moveTo>
                  <a:cubicBezTo>
                    <a:pt x="11" y="0"/>
                    <a:pt x="16" y="0"/>
                    <a:pt x="16" y="0"/>
                  </a:cubicBezTo>
                  <a:cubicBezTo>
                    <a:pt x="20" y="0"/>
                    <a:pt x="23" y="10"/>
                    <a:pt x="24" y="12"/>
                  </a:cubicBezTo>
                  <a:cubicBezTo>
                    <a:pt x="24" y="12"/>
                    <a:pt x="24" y="17"/>
                    <a:pt x="25" y="18"/>
                  </a:cubicBezTo>
                  <a:cubicBezTo>
                    <a:pt x="23" y="19"/>
                    <a:pt x="24" y="22"/>
                    <a:pt x="23" y="24"/>
                  </a:cubicBezTo>
                  <a:cubicBezTo>
                    <a:pt x="23" y="25"/>
                    <a:pt x="22" y="25"/>
                    <a:pt x="22" y="26"/>
                  </a:cubicBezTo>
                  <a:cubicBezTo>
                    <a:pt x="22" y="26"/>
                    <a:pt x="22" y="26"/>
                    <a:pt x="22" y="26"/>
                  </a:cubicBezTo>
                  <a:cubicBezTo>
                    <a:pt x="21" y="27"/>
                    <a:pt x="21" y="28"/>
                    <a:pt x="21" y="29"/>
                  </a:cubicBezTo>
                  <a:cubicBezTo>
                    <a:pt x="20" y="30"/>
                    <a:pt x="19" y="31"/>
                    <a:pt x="19" y="32"/>
                  </a:cubicBezTo>
                  <a:cubicBezTo>
                    <a:pt x="17" y="37"/>
                    <a:pt x="20" y="46"/>
                    <a:pt x="21" y="48"/>
                  </a:cubicBezTo>
                  <a:cubicBezTo>
                    <a:pt x="22" y="49"/>
                    <a:pt x="21" y="62"/>
                    <a:pt x="21" y="64"/>
                  </a:cubicBezTo>
                  <a:cubicBezTo>
                    <a:pt x="21" y="64"/>
                    <a:pt x="21" y="64"/>
                    <a:pt x="21" y="64"/>
                  </a:cubicBezTo>
                  <a:cubicBezTo>
                    <a:pt x="20" y="66"/>
                    <a:pt x="19" y="67"/>
                    <a:pt x="17" y="69"/>
                  </a:cubicBezTo>
                  <a:cubicBezTo>
                    <a:pt x="17" y="69"/>
                    <a:pt x="17" y="76"/>
                    <a:pt x="17" y="76"/>
                  </a:cubicBezTo>
                  <a:cubicBezTo>
                    <a:pt x="17" y="76"/>
                    <a:pt x="17" y="76"/>
                    <a:pt x="17" y="76"/>
                  </a:cubicBezTo>
                  <a:cubicBezTo>
                    <a:pt x="16" y="77"/>
                    <a:pt x="17" y="81"/>
                    <a:pt x="17" y="81"/>
                  </a:cubicBezTo>
                  <a:cubicBezTo>
                    <a:pt x="17" y="82"/>
                    <a:pt x="17" y="88"/>
                    <a:pt x="17" y="90"/>
                  </a:cubicBezTo>
                  <a:cubicBezTo>
                    <a:pt x="17" y="91"/>
                    <a:pt x="18" y="91"/>
                    <a:pt x="17" y="91"/>
                  </a:cubicBezTo>
                  <a:cubicBezTo>
                    <a:pt x="16" y="93"/>
                    <a:pt x="18" y="97"/>
                    <a:pt x="18" y="97"/>
                  </a:cubicBezTo>
                  <a:cubicBezTo>
                    <a:pt x="18" y="98"/>
                    <a:pt x="18" y="99"/>
                    <a:pt x="17" y="100"/>
                  </a:cubicBezTo>
                  <a:cubicBezTo>
                    <a:pt x="17" y="100"/>
                    <a:pt x="17" y="100"/>
                    <a:pt x="17" y="100"/>
                  </a:cubicBezTo>
                  <a:cubicBezTo>
                    <a:pt x="18" y="100"/>
                    <a:pt x="18" y="100"/>
                    <a:pt x="18" y="100"/>
                  </a:cubicBezTo>
                  <a:cubicBezTo>
                    <a:pt x="18" y="101"/>
                    <a:pt x="18" y="102"/>
                    <a:pt x="18" y="102"/>
                  </a:cubicBezTo>
                  <a:cubicBezTo>
                    <a:pt x="17" y="104"/>
                    <a:pt x="18" y="106"/>
                    <a:pt x="18" y="108"/>
                  </a:cubicBezTo>
                  <a:cubicBezTo>
                    <a:pt x="18" y="108"/>
                    <a:pt x="18" y="108"/>
                    <a:pt x="17" y="108"/>
                  </a:cubicBezTo>
                  <a:cubicBezTo>
                    <a:pt x="17" y="110"/>
                    <a:pt x="17" y="112"/>
                    <a:pt x="17" y="113"/>
                  </a:cubicBezTo>
                  <a:cubicBezTo>
                    <a:pt x="17" y="115"/>
                    <a:pt x="16" y="116"/>
                    <a:pt x="16" y="117"/>
                  </a:cubicBezTo>
                  <a:cubicBezTo>
                    <a:pt x="16" y="118"/>
                    <a:pt x="16" y="118"/>
                    <a:pt x="16" y="118"/>
                  </a:cubicBezTo>
                  <a:cubicBezTo>
                    <a:pt x="15" y="118"/>
                    <a:pt x="15" y="119"/>
                    <a:pt x="15" y="119"/>
                  </a:cubicBezTo>
                  <a:cubicBezTo>
                    <a:pt x="15" y="119"/>
                    <a:pt x="15" y="120"/>
                    <a:pt x="15" y="121"/>
                  </a:cubicBezTo>
                  <a:cubicBezTo>
                    <a:pt x="16" y="126"/>
                    <a:pt x="15" y="128"/>
                    <a:pt x="12" y="130"/>
                  </a:cubicBezTo>
                  <a:cubicBezTo>
                    <a:pt x="13" y="136"/>
                    <a:pt x="10" y="143"/>
                    <a:pt x="5" y="142"/>
                  </a:cubicBezTo>
                  <a:cubicBezTo>
                    <a:pt x="4" y="142"/>
                    <a:pt x="4" y="141"/>
                    <a:pt x="3" y="141"/>
                  </a:cubicBezTo>
                  <a:cubicBezTo>
                    <a:pt x="5" y="136"/>
                    <a:pt x="3" y="132"/>
                    <a:pt x="0" y="129"/>
                  </a:cubicBezTo>
                  <a:cubicBezTo>
                    <a:pt x="1" y="128"/>
                    <a:pt x="1" y="128"/>
                    <a:pt x="1" y="127"/>
                  </a:cubicBezTo>
                  <a:cubicBezTo>
                    <a:pt x="3" y="126"/>
                    <a:pt x="3" y="127"/>
                    <a:pt x="4" y="126"/>
                  </a:cubicBezTo>
                  <a:cubicBezTo>
                    <a:pt x="4" y="126"/>
                    <a:pt x="4" y="126"/>
                    <a:pt x="5" y="126"/>
                  </a:cubicBezTo>
                  <a:cubicBezTo>
                    <a:pt x="5" y="125"/>
                    <a:pt x="7" y="125"/>
                    <a:pt x="8" y="123"/>
                  </a:cubicBezTo>
                  <a:cubicBezTo>
                    <a:pt x="9" y="120"/>
                    <a:pt x="8" y="116"/>
                    <a:pt x="9" y="114"/>
                  </a:cubicBezTo>
                  <a:cubicBezTo>
                    <a:pt x="10" y="113"/>
                    <a:pt x="9" y="105"/>
                    <a:pt x="9" y="104"/>
                  </a:cubicBezTo>
                  <a:cubicBezTo>
                    <a:pt x="9" y="104"/>
                    <a:pt x="9" y="92"/>
                    <a:pt x="9" y="92"/>
                  </a:cubicBezTo>
                  <a:cubicBezTo>
                    <a:pt x="9" y="91"/>
                    <a:pt x="8" y="86"/>
                    <a:pt x="8" y="83"/>
                  </a:cubicBezTo>
                  <a:cubicBezTo>
                    <a:pt x="10" y="76"/>
                    <a:pt x="7" y="65"/>
                    <a:pt x="9" y="62"/>
                  </a:cubicBezTo>
                  <a:cubicBezTo>
                    <a:pt x="9" y="61"/>
                    <a:pt x="9" y="58"/>
                    <a:pt x="8" y="58"/>
                  </a:cubicBezTo>
                  <a:cubicBezTo>
                    <a:pt x="8" y="58"/>
                    <a:pt x="8" y="58"/>
                    <a:pt x="8" y="57"/>
                  </a:cubicBezTo>
                  <a:cubicBezTo>
                    <a:pt x="8" y="57"/>
                    <a:pt x="9" y="52"/>
                    <a:pt x="9" y="52"/>
                  </a:cubicBezTo>
                  <a:cubicBezTo>
                    <a:pt x="9" y="52"/>
                    <a:pt x="9" y="52"/>
                    <a:pt x="10" y="52"/>
                  </a:cubicBezTo>
                  <a:cubicBezTo>
                    <a:pt x="10" y="51"/>
                    <a:pt x="9" y="49"/>
                    <a:pt x="9" y="48"/>
                  </a:cubicBezTo>
                  <a:cubicBezTo>
                    <a:pt x="12" y="44"/>
                    <a:pt x="9" y="37"/>
                    <a:pt x="9" y="34"/>
                  </a:cubicBezTo>
                  <a:cubicBezTo>
                    <a:pt x="10" y="32"/>
                    <a:pt x="9" y="27"/>
                    <a:pt x="9" y="25"/>
                  </a:cubicBezTo>
                  <a:cubicBezTo>
                    <a:pt x="9" y="24"/>
                    <a:pt x="9" y="21"/>
                    <a:pt x="8" y="20"/>
                  </a:cubicBezTo>
                  <a:cubicBezTo>
                    <a:pt x="7" y="19"/>
                    <a:pt x="9" y="14"/>
                    <a:pt x="9" y="11"/>
                  </a:cubicBezTo>
                  <a:cubicBezTo>
                    <a:pt x="8" y="5"/>
                    <a:pt x="5" y="6"/>
                    <a:pt x="10"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sz="1800"/>
            </a:p>
          </p:txBody>
        </p:sp>
        <p:sp>
          <p:nvSpPr>
            <p:cNvPr id="34" name="Freeform 10"/>
            <p:cNvSpPr>
              <a:spLocks noEditPoints="1"/>
            </p:cNvSpPr>
            <p:nvPr/>
          </p:nvSpPr>
          <p:spPr bwMode="auto">
            <a:xfrm>
              <a:off x="1616621" y="6175636"/>
              <a:ext cx="229248" cy="284584"/>
            </a:xfrm>
            <a:custGeom>
              <a:avLst/>
              <a:gdLst>
                <a:gd name="T0" fmla="*/ 167 w 171"/>
                <a:gd name="T1" fmla="*/ 161 h 211"/>
                <a:gd name="T2" fmla="*/ 143 w 171"/>
                <a:gd name="T3" fmla="*/ 165 h 211"/>
                <a:gd name="T4" fmla="*/ 111 w 171"/>
                <a:gd name="T5" fmla="*/ 167 h 211"/>
                <a:gd name="T6" fmla="*/ 85 w 171"/>
                <a:gd name="T7" fmla="*/ 159 h 211"/>
                <a:gd name="T8" fmla="*/ 84 w 171"/>
                <a:gd name="T9" fmla="*/ 147 h 211"/>
                <a:gd name="T10" fmla="*/ 109 w 171"/>
                <a:gd name="T11" fmla="*/ 141 h 211"/>
                <a:gd name="T12" fmla="*/ 137 w 171"/>
                <a:gd name="T13" fmla="*/ 128 h 211"/>
                <a:gd name="T14" fmla="*/ 105 w 171"/>
                <a:gd name="T15" fmla="*/ 123 h 211"/>
                <a:gd name="T16" fmla="*/ 108 w 171"/>
                <a:gd name="T17" fmla="*/ 102 h 211"/>
                <a:gd name="T18" fmla="*/ 139 w 171"/>
                <a:gd name="T19" fmla="*/ 103 h 211"/>
                <a:gd name="T20" fmla="*/ 124 w 171"/>
                <a:gd name="T21" fmla="*/ 90 h 211"/>
                <a:gd name="T22" fmla="*/ 101 w 171"/>
                <a:gd name="T23" fmla="*/ 90 h 211"/>
                <a:gd name="T24" fmla="*/ 80 w 171"/>
                <a:gd name="T25" fmla="*/ 79 h 211"/>
                <a:gd name="T26" fmla="*/ 49 w 171"/>
                <a:gd name="T27" fmla="*/ 91 h 211"/>
                <a:gd name="T28" fmla="*/ 20 w 171"/>
                <a:gd name="T29" fmla="*/ 54 h 211"/>
                <a:gd name="T30" fmla="*/ 35 w 171"/>
                <a:gd name="T31" fmla="*/ 43 h 211"/>
                <a:gd name="T32" fmla="*/ 54 w 171"/>
                <a:gd name="T33" fmla="*/ 33 h 211"/>
                <a:gd name="T34" fmla="*/ 88 w 171"/>
                <a:gd name="T35" fmla="*/ 30 h 211"/>
                <a:gd name="T36" fmla="*/ 86 w 171"/>
                <a:gd name="T37" fmla="*/ 44 h 211"/>
                <a:gd name="T38" fmla="*/ 47 w 171"/>
                <a:gd name="T39" fmla="*/ 60 h 211"/>
                <a:gd name="T40" fmla="*/ 49 w 171"/>
                <a:gd name="T41" fmla="*/ 67 h 211"/>
                <a:gd name="T42" fmla="*/ 67 w 171"/>
                <a:gd name="T43" fmla="*/ 69 h 211"/>
                <a:gd name="T44" fmla="*/ 99 w 171"/>
                <a:gd name="T45" fmla="*/ 68 h 211"/>
                <a:gd name="T46" fmla="*/ 133 w 171"/>
                <a:gd name="T47" fmla="*/ 67 h 211"/>
                <a:gd name="T48" fmla="*/ 149 w 171"/>
                <a:gd name="T49" fmla="*/ 61 h 211"/>
                <a:gd name="T50" fmla="*/ 125 w 171"/>
                <a:gd name="T51" fmla="*/ 57 h 211"/>
                <a:gd name="T52" fmla="*/ 94 w 171"/>
                <a:gd name="T53" fmla="*/ 56 h 211"/>
                <a:gd name="T54" fmla="*/ 108 w 171"/>
                <a:gd name="T55" fmla="*/ 38 h 211"/>
                <a:gd name="T56" fmla="*/ 91 w 171"/>
                <a:gd name="T57" fmla="*/ 8 h 211"/>
                <a:gd name="T58" fmla="*/ 75 w 171"/>
                <a:gd name="T59" fmla="*/ 3 h 211"/>
                <a:gd name="T60" fmla="*/ 67 w 171"/>
                <a:gd name="T61" fmla="*/ 0 h 211"/>
                <a:gd name="T62" fmla="*/ 56 w 171"/>
                <a:gd name="T63" fmla="*/ 14 h 211"/>
                <a:gd name="T64" fmla="*/ 47 w 171"/>
                <a:gd name="T65" fmla="*/ 21 h 211"/>
                <a:gd name="T66" fmla="*/ 36 w 171"/>
                <a:gd name="T67" fmla="*/ 28 h 211"/>
                <a:gd name="T68" fmla="*/ 17 w 171"/>
                <a:gd name="T69" fmla="*/ 37 h 211"/>
                <a:gd name="T70" fmla="*/ 0 w 171"/>
                <a:gd name="T71" fmla="*/ 47 h 211"/>
                <a:gd name="T72" fmla="*/ 10 w 171"/>
                <a:gd name="T73" fmla="*/ 52 h 211"/>
                <a:gd name="T74" fmla="*/ 13 w 171"/>
                <a:gd name="T75" fmla="*/ 64 h 211"/>
                <a:gd name="T76" fmla="*/ 15 w 171"/>
                <a:gd name="T77" fmla="*/ 87 h 211"/>
                <a:gd name="T78" fmla="*/ 15 w 171"/>
                <a:gd name="T79" fmla="*/ 106 h 211"/>
                <a:gd name="T80" fmla="*/ 14 w 171"/>
                <a:gd name="T81" fmla="*/ 130 h 211"/>
                <a:gd name="T82" fmla="*/ 12 w 171"/>
                <a:gd name="T83" fmla="*/ 149 h 211"/>
                <a:gd name="T84" fmla="*/ 10 w 171"/>
                <a:gd name="T85" fmla="*/ 183 h 211"/>
                <a:gd name="T86" fmla="*/ 10 w 171"/>
                <a:gd name="T87" fmla="*/ 196 h 211"/>
                <a:gd name="T88" fmla="*/ 18 w 171"/>
                <a:gd name="T89" fmla="*/ 205 h 211"/>
                <a:gd name="T90" fmla="*/ 37 w 171"/>
                <a:gd name="T91" fmla="*/ 195 h 211"/>
                <a:gd name="T92" fmla="*/ 55 w 171"/>
                <a:gd name="T93" fmla="*/ 191 h 211"/>
                <a:gd name="T94" fmla="*/ 67 w 171"/>
                <a:gd name="T95" fmla="*/ 191 h 211"/>
                <a:gd name="T96" fmla="*/ 79 w 171"/>
                <a:gd name="T97" fmla="*/ 192 h 211"/>
                <a:gd name="T98" fmla="*/ 114 w 171"/>
                <a:gd name="T99" fmla="*/ 195 h 211"/>
                <a:gd name="T100" fmla="*/ 147 w 171"/>
                <a:gd name="T101" fmla="*/ 202 h 211"/>
                <a:gd name="T102" fmla="*/ 70 w 171"/>
                <a:gd name="T103" fmla="*/ 155 h 211"/>
                <a:gd name="T104" fmla="*/ 32 w 171"/>
                <a:gd name="T105" fmla="*/ 172 h 211"/>
                <a:gd name="T106" fmla="*/ 23 w 171"/>
                <a:gd name="T107" fmla="*/ 160 h 211"/>
                <a:gd name="T108" fmla="*/ 32 w 171"/>
                <a:gd name="T109" fmla="*/ 146 h 211"/>
                <a:gd name="T110" fmla="*/ 67 w 171"/>
                <a:gd name="T111" fmla="*/ 141 h 211"/>
                <a:gd name="T112" fmla="*/ 70 w 171"/>
                <a:gd name="T113" fmla="*/ 124 h 211"/>
                <a:gd name="T114" fmla="*/ 54 w 171"/>
                <a:gd name="T115" fmla="*/ 129 h 211"/>
                <a:gd name="T116" fmla="*/ 25 w 171"/>
                <a:gd name="T117" fmla="*/ 121 h 211"/>
                <a:gd name="T118" fmla="*/ 42 w 171"/>
                <a:gd name="T119" fmla="*/ 105 h 211"/>
                <a:gd name="T120" fmla="*/ 69 w 171"/>
                <a:gd name="T121" fmla="*/ 103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1" h="211">
                  <a:moveTo>
                    <a:pt x="167" y="171"/>
                  </a:moveTo>
                  <a:cubicBezTo>
                    <a:pt x="167" y="168"/>
                    <a:pt x="166" y="166"/>
                    <a:pt x="167" y="165"/>
                  </a:cubicBezTo>
                  <a:cubicBezTo>
                    <a:pt x="167" y="165"/>
                    <a:pt x="168" y="162"/>
                    <a:pt x="168" y="161"/>
                  </a:cubicBezTo>
                  <a:cubicBezTo>
                    <a:pt x="168" y="161"/>
                    <a:pt x="168" y="161"/>
                    <a:pt x="167" y="161"/>
                  </a:cubicBezTo>
                  <a:cubicBezTo>
                    <a:pt x="164" y="161"/>
                    <a:pt x="163" y="162"/>
                    <a:pt x="162" y="163"/>
                  </a:cubicBezTo>
                  <a:cubicBezTo>
                    <a:pt x="161" y="164"/>
                    <a:pt x="158" y="164"/>
                    <a:pt x="158" y="164"/>
                  </a:cubicBezTo>
                  <a:cubicBezTo>
                    <a:pt x="155" y="165"/>
                    <a:pt x="154" y="161"/>
                    <a:pt x="151" y="162"/>
                  </a:cubicBezTo>
                  <a:cubicBezTo>
                    <a:pt x="148" y="163"/>
                    <a:pt x="146" y="163"/>
                    <a:pt x="143" y="165"/>
                  </a:cubicBezTo>
                  <a:cubicBezTo>
                    <a:pt x="142" y="164"/>
                    <a:pt x="140" y="164"/>
                    <a:pt x="139" y="164"/>
                  </a:cubicBezTo>
                  <a:cubicBezTo>
                    <a:pt x="138" y="164"/>
                    <a:pt x="138" y="165"/>
                    <a:pt x="137" y="166"/>
                  </a:cubicBezTo>
                  <a:cubicBezTo>
                    <a:pt x="135" y="167"/>
                    <a:pt x="133" y="164"/>
                    <a:pt x="130" y="165"/>
                  </a:cubicBezTo>
                  <a:cubicBezTo>
                    <a:pt x="124" y="166"/>
                    <a:pt x="118" y="167"/>
                    <a:pt x="111" y="167"/>
                  </a:cubicBezTo>
                  <a:cubicBezTo>
                    <a:pt x="110" y="167"/>
                    <a:pt x="109" y="168"/>
                    <a:pt x="108" y="168"/>
                  </a:cubicBezTo>
                  <a:cubicBezTo>
                    <a:pt x="105" y="168"/>
                    <a:pt x="103" y="168"/>
                    <a:pt x="100" y="168"/>
                  </a:cubicBezTo>
                  <a:cubicBezTo>
                    <a:pt x="95" y="170"/>
                    <a:pt x="88" y="169"/>
                    <a:pt x="84" y="167"/>
                  </a:cubicBezTo>
                  <a:cubicBezTo>
                    <a:pt x="84" y="165"/>
                    <a:pt x="86" y="162"/>
                    <a:pt x="85" y="159"/>
                  </a:cubicBezTo>
                  <a:cubicBezTo>
                    <a:pt x="85" y="159"/>
                    <a:pt x="84" y="158"/>
                    <a:pt x="84" y="157"/>
                  </a:cubicBezTo>
                  <a:cubicBezTo>
                    <a:pt x="83" y="156"/>
                    <a:pt x="84" y="153"/>
                    <a:pt x="84" y="152"/>
                  </a:cubicBezTo>
                  <a:cubicBezTo>
                    <a:pt x="83" y="151"/>
                    <a:pt x="84" y="149"/>
                    <a:pt x="84" y="147"/>
                  </a:cubicBezTo>
                  <a:cubicBezTo>
                    <a:pt x="84" y="147"/>
                    <a:pt x="84" y="147"/>
                    <a:pt x="84" y="147"/>
                  </a:cubicBezTo>
                  <a:cubicBezTo>
                    <a:pt x="86" y="145"/>
                    <a:pt x="87" y="142"/>
                    <a:pt x="88" y="139"/>
                  </a:cubicBezTo>
                  <a:cubicBezTo>
                    <a:pt x="92" y="137"/>
                    <a:pt x="97" y="139"/>
                    <a:pt x="100" y="140"/>
                  </a:cubicBezTo>
                  <a:cubicBezTo>
                    <a:pt x="102" y="140"/>
                    <a:pt x="103" y="140"/>
                    <a:pt x="104" y="140"/>
                  </a:cubicBezTo>
                  <a:cubicBezTo>
                    <a:pt x="104" y="140"/>
                    <a:pt x="107" y="141"/>
                    <a:pt x="109" y="141"/>
                  </a:cubicBezTo>
                  <a:cubicBezTo>
                    <a:pt x="116" y="138"/>
                    <a:pt x="131" y="140"/>
                    <a:pt x="141" y="140"/>
                  </a:cubicBezTo>
                  <a:cubicBezTo>
                    <a:pt x="142" y="139"/>
                    <a:pt x="142" y="137"/>
                    <a:pt x="144" y="136"/>
                  </a:cubicBezTo>
                  <a:cubicBezTo>
                    <a:pt x="144" y="135"/>
                    <a:pt x="144" y="135"/>
                    <a:pt x="143" y="134"/>
                  </a:cubicBezTo>
                  <a:cubicBezTo>
                    <a:pt x="142" y="133"/>
                    <a:pt x="138" y="129"/>
                    <a:pt x="137" y="128"/>
                  </a:cubicBezTo>
                  <a:cubicBezTo>
                    <a:pt x="137" y="128"/>
                    <a:pt x="137" y="128"/>
                    <a:pt x="137" y="128"/>
                  </a:cubicBezTo>
                  <a:cubicBezTo>
                    <a:pt x="135" y="128"/>
                    <a:pt x="133" y="127"/>
                    <a:pt x="132" y="126"/>
                  </a:cubicBezTo>
                  <a:cubicBezTo>
                    <a:pt x="131" y="127"/>
                    <a:pt x="121" y="124"/>
                    <a:pt x="118" y="123"/>
                  </a:cubicBezTo>
                  <a:cubicBezTo>
                    <a:pt x="113" y="123"/>
                    <a:pt x="109" y="123"/>
                    <a:pt x="105" y="123"/>
                  </a:cubicBezTo>
                  <a:cubicBezTo>
                    <a:pt x="100" y="124"/>
                    <a:pt x="91" y="125"/>
                    <a:pt x="87" y="124"/>
                  </a:cubicBezTo>
                  <a:cubicBezTo>
                    <a:pt x="85" y="117"/>
                    <a:pt x="85" y="109"/>
                    <a:pt x="88" y="103"/>
                  </a:cubicBezTo>
                  <a:cubicBezTo>
                    <a:pt x="92" y="102"/>
                    <a:pt x="98" y="101"/>
                    <a:pt x="102" y="103"/>
                  </a:cubicBezTo>
                  <a:cubicBezTo>
                    <a:pt x="102" y="103"/>
                    <a:pt x="108" y="102"/>
                    <a:pt x="108" y="102"/>
                  </a:cubicBezTo>
                  <a:cubicBezTo>
                    <a:pt x="110" y="104"/>
                    <a:pt x="119" y="103"/>
                    <a:pt x="119" y="103"/>
                  </a:cubicBezTo>
                  <a:cubicBezTo>
                    <a:pt x="120" y="103"/>
                    <a:pt x="120" y="103"/>
                    <a:pt x="120" y="103"/>
                  </a:cubicBezTo>
                  <a:cubicBezTo>
                    <a:pt x="121" y="103"/>
                    <a:pt x="121" y="103"/>
                    <a:pt x="121" y="103"/>
                  </a:cubicBezTo>
                  <a:cubicBezTo>
                    <a:pt x="127" y="103"/>
                    <a:pt x="133" y="103"/>
                    <a:pt x="139" y="103"/>
                  </a:cubicBezTo>
                  <a:cubicBezTo>
                    <a:pt x="140" y="102"/>
                    <a:pt x="141" y="102"/>
                    <a:pt x="141" y="101"/>
                  </a:cubicBezTo>
                  <a:cubicBezTo>
                    <a:pt x="141" y="97"/>
                    <a:pt x="138" y="93"/>
                    <a:pt x="135" y="91"/>
                  </a:cubicBezTo>
                  <a:cubicBezTo>
                    <a:pt x="133" y="90"/>
                    <a:pt x="131" y="92"/>
                    <a:pt x="128" y="91"/>
                  </a:cubicBezTo>
                  <a:cubicBezTo>
                    <a:pt x="128" y="91"/>
                    <a:pt x="125" y="90"/>
                    <a:pt x="124" y="90"/>
                  </a:cubicBezTo>
                  <a:cubicBezTo>
                    <a:pt x="124" y="90"/>
                    <a:pt x="123" y="89"/>
                    <a:pt x="123" y="89"/>
                  </a:cubicBezTo>
                  <a:cubicBezTo>
                    <a:pt x="122" y="89"/>
                    <a:pt x="122" y="90"/>
                    <a:pt x="122" y="90"/>
                  </a:cubicBezTo>
                  <a:cubicBezTo>
                    <a:pt x="120" y="91"/>
                    <a:pt x="118" y="89"/>
                    <a:pt x="117" y="89"/>
                  </a:cubicBezTo>
                  <a:cubicBezTo>
                    <a:pt x="116" y="89"/>
                    <a:pt x="102" y="90"/>
                    <a:pt x="101" y="90"/>
                  </a:cubicBezTo>
                  <a:cubicBezTo>
                    <a:pt x="99" y="90"/>
                    <a:pt x="90" y="91"/>
                    <a:pt x="88" y="91"/>
                  </a:cubicBezTo>
                  <a:cubicBezTo>
                    <a:pt x="85" y="89"/>
                    <a:pt x="83" y="86"/>
                    <a:pt x="82" y="84"/>
                  </a:cubicBezTo>
                  <a:cubicBezTo>
                    <a:pt x="82" y="82"/>
                    <a:pt x="82" y="80"/>
                    <a:pt x="81" y="79"/>
                  </a:cubicBezTo>
                  <a:cubicBezTo>
                    <a:pt x="80" y="79"/>
                    <a:pt x="80" y="79"/>
                    <a:pt x="80" y="79"/>
                  </a:cubicBezTo>
                  <a:cubicBezTo>
                    <a:pt x="78" y="82"/>
                    <a:pt x="75" y="83"/>
                    <a:pt x="73" y="86"/>
                  </a:cubicBezTo>
                  <a:cubicBezTo>
                    <a:pt x="72" y="87"/>
                    <a:pt x="73" y="90"/>
                    <a:pt x="72" y="91"/>
                  </a:cubicBezTo>
                  <a:cubicBezTo>
                    <a:pt x="68" y="93"/>
                    <a:pt x="59" y="90"/>
                    <a:pt x="55" y="91"/>
                  </a:cubicBezTo>
                  <a:cubicBezTo>
                    <a:pt x="54" y="91"/>
                    <a:pt x="51" y="90"/>
                    <a:pt x="49" y="91"/>
                  </a:cubicBezTo>
                  <a:cubicBezTo>
                    <a:pt x="41" y="93"/>
                    <a:pt x="34" y="93"/>
                    <a:pt x="28" y="89"/>
                  </a:cubicBezTo>
                  <a:cubicBezTo>
                    <a:pt x="26" y="88"/>
                    <a:pt x="25" y="89"/>
                    <a:pt x="24" y="86"/>
                  </a:cubicBezTo>
                  <a:cubicBezTo>
                    <a:pt x="24" y="86"/>
                    <a:pt x="24" y="78"/>
                    <a:pt x="25" y="76"/>
                  </a:cubicBezTo>
                  <a:cubicBezTo>
                    <a:pt x="26" y="67"/>
                    <a:pt x="23" y="61"/>
                    <a:pt x="20" y="54"/>
                  </a:cubicBezTo>
                  <a:cubicBezTo>
                    <a:pt x="19" y="53"/>
                    <a:pt x="21" y="50"/>
                    <a:pt x="21" y="48"/>
                  </a:cubicBezTo>
                  <a:cubicBezTo>
                    <a:pt x="22" y="48"/>
                    <a:pt x="22" y="46"/>
                    <a:pt x="23" y="45"/>
                  </a:cubicBezTo>
                  <a:cubicBezTo>
                    <a:pt x="24" y="45"/>
                    <a:pt x="27" y="45"/>
                    <a:pt x="28" y="44"/>
                  </a:cubicBezTo>
                  <a:cubicBezTo>
                    <a:pt x="30" y="43"/>
                    <a:pt x="34" y="43"/>
                    <a:pt x="35" y="43"/>
                  </a:cubicBezTo>
                  <a:cubicBezTo>
                    <a:pt x="37" y="42"/>
                    <a:pt x="46" y="38"/>
                    <a:pt x="46" y="37"/>
                  </a:cubicBezTo>
                  <a:cubicBezTo>
                    <a:pt x="47" y="37"/>
                    <a:pt x="47" y="37"/>
                    <a:pt x="48" y="37"/>
                  </a:cubicBezTo>
                  <a:cubicBezTo>
                    <a:pt x="49" y="37"/>
                    <a:pt x="50" y="34"/>
                    <a:pt x="52" y="33"/>
                  </a:cubicBezTo>
                  <a:cubicBezTo>
                    <a:pt x="53" y="33"/>
                    <a:pt x="53" y="33"/>
                    <a:pt x="54" y="33"/>
                  </a:cubicBezTo>
                  <a:cubicBezTo>
                    <a:pt x="54" y="32"/>
                    <a:pt x="54" y="32"/>
                    <a:pt x="55" y="31"/>
                  </a:cubicBezTo>
                  <a:cubicBezTo>
                    <a:pt x="56" y="31"/>
                    <a:pt x="56" y="31"/>
                    <a:pt x="57" y="30"/>
                  </a:cubicBezTo>
                  <a:cubicBezTo>
                    <a:pt x="66" y="24"/>
                    <a:pt x="76" y="24"/>
                    <a:pt x="87" y="26"/>
                  </a:cubicBezTo>
                  <a:cubicBezTo>
                    <a:pt x="87" y="27"/>
                    <a:pt x="88" y="28"/>
                    <a:pt x="88" y="30"/>
                  </a:cubicBezTo>
                  <a:cubicBezTo>
                    <a:pt x="90" y="31"/>
                    <a:pt x="91" y="32"/>
                    <a:pt x="93" y="33"/>
                  </a:cubicBezTo>
                  <a:cubicBezTo>
                    <a:pt x="92" y="34"/>
                    <a:pt x="92" y="35"/>
                    <a:pt x="92" y="36"/>
                  </a:cubicBezTo>
                  <a:cubicBezTo>
                    <a:pt x="91" y="37"/>
                    <a:pt x="88" y="38"/>
                    <a:pt x="88" y="40"/>
                  </a:cubicBezTo>
                  <a:cubicBezTo>
                    <a:pt x="87" y="41"/>
                    <a:pt x="87" y="43"/>
                    <a:pt x="86" y="44"/>
                  </a:cubicBezTo>
                  <a:cubicBezTo>
                    <a:pt x="84" y="48"/>
                    <a:pt x="78" y="55"/>
                    <a:pt x="74" y="57"/>
                  </a:cubicBezTo>
                  <a:cubicBezTo>
                    <a:pt x="71" y="58"/>
                    <a:pt x="68" y="56"/>
                    <a:pt x="65" y="57"/>
                  </a:cubicBezTo>
                  <a:cubicBezTo>
                    <a:pt x="65" y="57"/>
                    <a:pt x="58" y="57"/>
                    <a:pt x="56" y="57"/>
                  </a:cubicBezTo>
                  <a:cubicBezTo>
                    <a:pt x="53" y="58"/>
                    <a:pt x="50" y="59"/>
                    <a:pt x="47" y="60"/>
                  </a:cubicBezTo>
                  <a:cubicBezTo>
                    <a:pt x="44" y="61"/>
                    <a:pt x="41" y="59"/>
                    <a:pt x="39" y="61"/>
                  </a:cubicBezTo>
                  <a:cubicBezTo>
                    <a:pt x="38" y="62"/>
                    <a:pt x="37" y="62"/>
                    <a:pt x="36" y="63"/>
                  </a:cubicBezTo>
                  <a:cubicBezTo>
                    <a:pt x="36" y="64"/>
                    <a:pt x="37" y="65"/>
                    <a:pt x="37" y="65"/>
                  </a:cubicBezTo>
                  <a:cubicBezTo>
                    <a:pt x="39" y="66"/>
                    <a:pt x="48" y="66"/>
                    <a:pt x="49" y="67"/>
                  </a:cubicBezTo>
                  <a:cubicBezTo>
                    <a:pt x="50" y="67"/>
                    <a:pt x="51" y="69"/>
                    <a:pt x="52" y="69"/>
                  </a:cubicBezTo>
                  <a:cubicBezTo>
                    <a:pt x="54" y="71"/>
                    <a:pt x="60" y="69"/>
                    <a:pt x="62" y="69"/>
                  </a:cubicBezTo>
                  <a:cubicBezTo>
                    <a:pt x="63" y="69"/>
                    <a:pt x="63" y="69"/>
                    <a:pt x="64" y="69"/>
                  </a:cubicBezTo>
                  <a:cubicBezTo>
                    <a:pt x="65" y="69"/>
                    <a:pt x="66" y="69"/>
                    <a:pt x="67" y="69"/>
                  </a:cubicBezTo>
                  <a:cubicBezTo>
                    <a:pt x="70" y="69"/>
                    <a:pt x="73" y="67"/>
                    <a:pt x="78" y="68"/>
                  </a:cubicBezTo>
                  <a:cubicBezTo>
                    <a:pt x="81" y="69"/>
                    <a:pt x="84" y="68"/>
                    <a:pt x="88" y="68"/>
                  </a:cubicBezTo>
                  <a:cubicBezTo>
                    <a:pt x="89" y="68"/>
                    <a:pt x="91" y="68"/>
                    <a:pt x="92" y="68"/>
                  </a:cubicBezTo>
                  <a:cubicBezTo>
                    <a:pt x="94" y="69"/>
                    <a:pt x="96" y="67"/>
                    <a:pt x="99" y="68"/>
                  </a:cubicBezTo>
                  <a:cubicBezTo>
                    <a:pt x="104" y="70"/>
                    <a:pt x="120" y="68"/>
                    <a:pt x="124" y="67"/>
                  </a:cubicBezTo>
                  <a:cubicBezTo>
                    <a:pt x="125" y="67"/>
                    <a:pt x="126" y="68"/>
                    <a:pt x="127" y="68"/>
                  </a:cubicBezTo>
                  <a:cubicBezTo>
                    <a:pt x="129" y="67"/>
                    <a:pt x="130" y="67"/>
                    <a:pt x="133" y="67"/>
                  </a:cubicBezTo>
                  <a:cubicBezTo>
                    <a:pt x="133" y="67"/>
                    <a:pt x="133" y="67"/>
                    <a:pt x="133" y="67"/>
                  </a:cubicBezTo>
                  <a:cubicBezTo>
                    <a:pt x="135" y="66"/>
                    <a:pt x="141" y="66"/>
                    <a:pt x="144" y="65"/>
                  </a:cubicBezTo>
                  <a:cubicBezTo>
                    <a:pt x="148" y="64"/>
                    <a:pt x="149" y="67"/>
                    <a:pt x="151" y="63"/>
                  </a:cubicBezTo>
                  <a:cubicBezTo>
                    <a:pt x="151" y="63"/>
                    <a:pt x="151" y="63"/>
                    <a:pt x="151" y="63"/>
                  </a:cubicBezTo>
                  <a:cubicBezTo>
                    <a:pt x="150" y="62"/>
                    <a:pt x="150" y="62"/>
                    <a:pt x="149" y="61"/>
                  </a:cubicBezTo>
                  <a:cubicBezTo>
                    <a:pt x="148" y="61"/>
                    <a:pt x="148" y="61"/>
                    <a:pt x="147" y="61"/>
                  </a:cubicBezTo>
                  <a:cubicBezTo>
                    <a:pt x="146" y="61"/>
                    <a:pt x="146" y="58"/>
                    <a:pt x="145" y="58"/>
                  </a:cubicBezTo>
                  <a:cubicBezTo>
                    <a:pt x="140" y="55"/>
                    <a:pt x="132" y="56"/>
                    <a:pt x="129" y="57"/>
                  </a:cubicBezTo>
                  <a:cubicBezTo>
                    <a:pt x="129" y="58"/>
                    <a:pt x="126" y="56"/>
                    <a:pt x="125" y="57"/>
                  </a:cubicBezTo>
                  <a:cubicBezTo>
                    <a:pt x="123" y="57"/>
                    <a:pt x="124" y="56"/>
                    <a:pt x="122" y="56"/>
                  </a:cubicBezTo>
                  <a:cubicBezTo>
                    <a:pt x="121" y="55"/>
                    <a:pt x="111" y="57"/>
                    <a:pt x="110" y="57"/>
                  </a:cubicBezTo>
                  <a:cubicBezTo>
                    <a:pt x="110" y="57"/>
                    <a:pt x="96" y="56"/>
                    <a:pt x="96" y="56"/>
                  </a:cubicBezTo>
                  <a:cubicBezTo>
                    <a:pt x="95" y="56"/>
                    <a:pt x="95" y="56"/>
                    <a:pt x="94" y="56"/>
                  </a:cubicBezTo>
                  <a:cubicBezTo>
                    <a:pt x="93" y="55"/>
                    <a:pt x="92" y="54"/>
                    <a:pt x="90" y="54"/>
                  </a:cubicBezTo>
                  <a:cubicBezTo>
                    <a:pt x="90" y="53"/>
                    <a:pt x="90" y="53"/>
                    <a:pt x="90" y="53"/>
                  </a:cubicBezTo>
                  <a:cubicBezTo>
                    <a:pt x="90" y="50"/>
                    <a:pt x="99" y="43"/>
                    <a:pt x="102" y="43"/>
                  </a:cubicBezTo>
                  <a:cubicBezTo>
                    <a:pt x="105" y="42"/>
                    <a:pt x="108" y="41"/>
                    <a:pt x="108" y="38"/>
                  </a:cubicBezTo>
                  <a:cubicBezTo>
                    <a:pt x="109" y="38"/>
                    <a:pt x="111" y="37"/>
                    <a:pt x="112" y="37"/>
                  </a:cubicBezTo>
                  <a:cubicBezTo>
                    <a:pt x="113" y="36"/>
                    <a:pt x="113" y="34"/>
                    <a:pt x="113" y="33"/>
                  </a:cubicBezTo>
                  <a:cubicBezTo>
                    <a:pt x="119" y="24"/>
                    <a:pt x="103" y="13"/>
                    <a:pt x="97" y="9"/>
                  </a:cubicBezTo>
                  <a:cubicBezTo>
                    <a:pt x="97" y="9"/>
                    <a:pt x="92" y="8"/>
                    <a:pt x="91" y="8"/>
                  </a:cubicBezTo>
                  <a:cubicBezTo>
                    <a:pt x="91" y="9"/>
                    <a:pt x="90" y="8"/>
                    <a:pt x="90" y="8"/>
                  </a:cubicBezTo>
                  <a:cubicBezTo>
                    <a:pt x="89" y="7"/>
                    <a:pt x="80" y="6"/>
                    <a:pt x="80" y="5"/>
                  </a:cubicBezTo>
                  <a:cubicBezTo>
                    <a:pt x="78" y="4"/>
                    <a:pt x="79" y="3"/>
                    <a:pt x="78" y="3"/>
                  </a:cubicBezTo>
                  <a:cubicBezTo>
                    <a:pt x="77" y="3"/>
                    <a:pt x="76" y="3"/>
                    <a:pt x="75" y="3"/>
                  </a:cubicBezTo>
                  <a:cubicBezTo>
                    <a:pt x="74" y="2"/>
                    <a:pt x="73" y="1"/>
                    <a:pt x="71" y="0"/>
                  </a:cubicBezTo>
                  <a:cubicBezTo>
                    <a:pt x="71" y="0"/>
                    <a:pt x="70" y="0"/>
                    <a:pt x="70" y="0"/>
                  </a:cubicBezTo>
                  <a:cubicBezTo>
                    <a:pt x="70" y="0"/>
                    <a:pt x="69" y="1"/>
                    <a:pt x="69" y="1"/>
                  </a:cubicBezTo>
                  <a:cubicBezTo>
                    <a:pt x="68" y="1"/>
                    <a:pt x="68" y="1"/>
                    <a:pt x="67" y="0"/>
                  </a:cubicBezTo>
                  <a:cubicBezTo>
                    <a:pt x="67" y="1"/>
                    <a:pt x="62" y="1"/>
                    <a:pt x="60" y="1"/>
                  </a:cubicBezTo>
                  <a:cubicBezTo>
                    <a:pt x="59" y="2"/>
                    <a:pt x="58" y="4"/>
                    <a:pt x="56" y="5"/>
                  </a:cubicBezTo>
                  <a:cubicBezTo>
                    <a:pt x="56" y="7"/>
                    <a:pt x="56" y="10"/>
                    <a:pt x="58" y="10"/>
                  </a:cubicBezTo>
                  <a:cubicBezTo>
                    <a:pt x="57" y="12"/>
                    <a:pt x="57" y="13"/>
                    <a:pt x="56" y="14"/>
                  </a:cubicBezTo>
                  <a:cubicBezTo>
                    <a:pt x="56" y="15"/>
                    <a:pt x="51" y="17"/>
                    <a:pt x="50" y="19"/>
                  </a:cubicBezTo>
                  <a:cubicBezTo>
                    <a:pt x="50" y="19"/>
                    <a:pt x="50" y="19"/>
                    <a:pt x="50" y="19"/>
                  </a:cubicBezTo>
                  <a:cubicBezTo>
                    <a:pt x="49" y="20"/>
                    <a:pt x="48" y="19"/>
                    <a:pt x="47" y="20"/>
                  </a:cubicBezTo>
                  <a:cubicBezTo>
                    <a:pt x="47" y="20"/>
                    <a:pt x="47" y="21"/>
                    <a:pt x="47" y="21"/>
                  </a:cubicBezTo>
                  <a:cubicBezTo>
                    <a:pt x="46" y="21"/>
                    <a:pt x="44" y="21"/>
                    <a:pt x="43" y="22"/>
                  </a:cubicBezTo>
                  <a:cubicBezTo>
                    <a:pt x="43" y="23"/>
                    <a:pt x="42" y="24"/>
                    <a:pt x="41" y="24"/>
                  </a:cubicBezTo>
                  <a:cubicBezTo>
                    <a:pt x="41" y="25"/>
                    <a:pt x="37" y="25"/>
                    <a:pt x="36" y="26"/>
                  </a:cubicBezTo>
                  <a:cubicBezTo>
                    <a:pt x="36" y="27"/>
                    <a:pt x="36" y="27"/>
                    <a:pt x="36" y="28"/>
                  </a:cubicBezTo>
                  <a:cubicBezTo>
                    <a:pt x="35" y="28"/>
                    <a:pt x="30" y="30"/>
                    <a:pt x="30" y="31"/>
                  </a:cubicBezTo>
                  <a:cubicBezTo>
                    <a:pt x="29" y="32"/>
                    <a:pt x="28" y="34"/>
                    <a:pt x="27" y="34"/>
                  </a:cubicBezTo>
                  <a:cubicBezTo>
                    <a:pt x="24" y="36"/>
                    <a:pt x="22" y="37"/>
                    <a:pt x="19" y="38"/>
                  </a:cubicBezTo>
                  <a:cubicBezTo>
                    <a:pt x="17" y="38"/>
                    <a:pt x="17" y="38"/>
                    <a:pt x="17" y="37"/>
                  </a:cubicBezTo>
                  <a:cubicBezTo>
                    <a:pt x="16" y="38"/>
                    <a:pt x="9" y="42"/>
                    <a:pt x="9" y="43"/>
                  </a:cubicBezTo>
                  <a:cubicBezTo>
                    <a:pt x="6" y="43"/>
                    <a:pt x="3" y="44"/>
                    <a:pt x="1" y="46"/>
                  </a:cubicBezTo>
                  <a:cubicBezTo>
                    <a:pt x="0" y="46"/>
                    <a:pt x="0" y="46"/>
                    <a:pt x="0" y="46"/>
                  </a:cubicBezTo>
                  <a:cubicBezTo>
                    <a:pt x="0" y="46"/>
                    <a:pt x="0" y="47"/>
                    <a:pt x="0" y="47"/>
                  </a:cubicBezTo>
                  <a:cubicBezTo>
                    <a:pt x="2" y="47"/>
                    <a:pt x="2" y="47"/>
                    <a:pt x="3" y="47"/>
                  </a:cubicBezTo>
                  <a:cubicBezTo>
                    <a:pt x="4" y="48"/>
                    <a:pt x="4" y="49"/>
                    <a:pt x="4" y="49"/>
                  </a:cubicBezTo>
                  <a:cubicBezTo>
                    <a:pt x="4" y="50"/>
                    <a:pt x="8" y="51"/>
                    <a:pt x="9" y="51"/>
                  </a:cubicBezTo>
                  <a:cubicBezTo>
                    <a:pt x="10" y="51"/>
                    <a:pt x="10" y="51"/>
                    <a:pt x="10" y="52"/>
                  </a:cubicBezTo>
                  <a:cubicBezTo>
                    <a:pt x="12" y="51"/>
                    <a:pt x="13" y="50"/>
                    <a:pt x="14" y="50"/>
                  </a:cubicBezTo>
                  <a:cubicBezTo>
                    <a:pt x="14" y="50"/>
                    <a:pt x="15" y="50"/>
                    <a:pt x="15" y="50"/>
                  </a:cubicBezTo>
                  <a:cubicBezTo>
                    <a:pt x="15" y="51"/>
                    <a:pt x="15" y="50"/>
                    <a:pt x="15" y="51"/>
                  </a:cubicBezTo>
                  <a:cubicBezTo>
                    <a:pt x="15" y="56"/>
                    <a:pt x="14" y="62"/>
                    <a:pt x="13" y="64"/>
                  </a:cubicBezTo>
                  <a:cubicBezTo>
                    <a:pt x="13" y="67"/>
                    <a:pt x="13" y="69"/>
                    <a:pt x="13" y="72"/>
                  </a:cubicBezTo>
                  <a:cubicBezTo>
                    <a:pt x="12" y="75"/>
                    <a:pt x="14" y="76"/>
                    <a:pt x="14" y="78"/>
                  </a:cubicBezTo>
                  <a:cubicBezTo>
                    <a:pt x="15" y="80"/>
                    <a:pt x="14" y="84"/>
                    <a:pt x="15" y="86"/>
                  </a:cubicBezTo>
                  <a:cubicBezTo>
                    <a:pt x="15" y="86"/>
                    <a:pt x="15" y="87"/>
                    <a:pt x="15" y="87"/>
                  </a:cubicBezTo>
                  <a:cubicBezTo>
                    <a:pt x="15" y="87"/>
                    <a:pt x="13" y="96"/>
                    <a:pt x="13" y="97"/>
                  </a:cubicBezTo>
                  <a:cubicBezTo>
                    <a:pt x="14" y="98"/>
                    <a:pt x="14" y="99"/>
                    <a:pt x="15" y="99"/>
                  </a:cubicBezTo>
                  <a:cubicBezTo>
                    <a:pt x="15" y="100"/>
                    <a:pt x="14" y="103"/>
                    <a:pt x="14" y="104"/>
                  </a:cubicBezTo>
                  <a:cubicBezTo>
                    <a:pt x="14" y="104"/>
                    <a:pt x="15" y="105"/>
                    <a:pt x="15" y="106"/>
                  </a:cubicBezTo>
                  <a:cubicBezTo>
                    <a:pt x="15" y="106"/>
                    <a:pt x="14" y="110"/>
                    <a:pt x="14" y="111"/>
                  </a:cubicBezTo>
                  <a:cubicBezTo>
                    <a:pt x="14" y="111"/>
                    <a:pt x="15" y="111"/>
                    <a:pt x="15" y="112"/>
                  </a:cubicBezTo>
                  <a:cubicBezTo>
                    <a:pt x="16" y="112"/>
                    <a:pt x="14" y="115"/>
                    <a:pt x="15" y="117"/>
                  </a:cubicBezTo>
                  <a:cubicBezTo>
                    <a:pt x="16" y="120"/>
                    <a:pt x="16" y="127"/>
                    <a:pt x="14" y="130"/>
                  </a:cubicBezTo>
                  <a:cubicBezTo>
                    <a:pt x="14" y="131"/>
                    <a:pt x="15" y="133"/>
                    <a:pt x="15" y="134"/>
                  </a:cubicBezTo>
                  <a:cubicBezTo>
                    <a:pt x="14" y="134"/>
                    <a:pt x="13" y="135"/>
                    <a:pt x="14" y="136"/>
                  </a:cubicBezTo>
                  <a:cubicBezTo>
                    <a:pt x="14" y="138"/>
                    <a:pt x="13" y="138"/>
                    <a:pt x="13" y="139"/>
                  </a:cubicBezTo>
                  <a:cubicBezTo>
                    <a:pt x="14" y="143"/>
                    <a:pt x="13" y="147"/>
                    <a:pt x="12" y="149"/>
                  </a:cubicBezTo>
                  <a:cubicBezTo>
                    <a:pt x="13" y="153"/>
                    <a:pt x="12" y="157"/>
                    <a:pt x="12" y="159"/>
                  </a:cubicBezTo>
                  <a:cubicBezTo>
                    <a:pt x="12" y="161"/>
                    <a:pt x="13" y="164"/>
                    <a:pt x="11" y="165"/>
                  </a:cubicBezTo>
                  <a:cubicBezTo>
                    <a:pt x="11" y="168"/>
                    <a:pt x="13" y="172"/>
                    <a:pt x="10" y="174"/>
                  </a:cubicBezTo>
                  <a:cubicBezTo>
                    <a:pt x="12" y="177"/>
                    <a:pt x="11" y="180"/>
                    <a:pt x="10" y="183"/>
                  </a:cubicBezTo>
                  <a:cubicBezTo>
                    <a:pt x="10" y="183"/>
                    <a:pt x="10" y="183"/>
                    <a:pt x="10" y="184"/>
                  </a:cubicBezTo>
                  <a:cubicBezTo>
                    <a:pt x="11" y="184"/>
                    <a:pt x="11" y="185"/>
                    <a:pt x="11" y="186"/>
                  </a:cubicBezTo>
                  <a:cubicBezTo>
                    <a:pt x="11" y="188"/>
                    <a:pt x="10" y="189"/>
                    <a:pt x="10" y="191"/>
                  </a:cubicBezTo>
                  <a:cubicBezTo>
                    <a:pt x="10" y="192"/>
                    <a:pt x="9" y="194"/>
                    <a:pt x="10" y="196"/>
                  </a:cubicBezTo>
                  <a:cubicBezTo>
                    <a:pt x="11" y="200"/>
                    <a:pt x="12" y="206"/>
                    <a:pt x="13" y="211"/>
                  </a:cubicBezTo>
                  <a:cubicBezTo>
                    <a:pt x="14" y="211"/>
                    <a:pt x="14" y="211"/>
                    <a:pt x="14" y="211"/>
                  </a:cubicBezTo>
                  <a:cubicBezTo>
                    <a:pt x="16" y="210"/>
                    <a:pt x="15" y="210"/>
                    <a:pt x="16" y="208"/>
                  </a:cubicBezTo>
                  <a:cubicBezTo>
                    <a:pt x="16" y="207"/>
                    <a:pt x="18" y="206"/>
                    <a:pt x="18" y="205"/>
                  </a:cubicBezTo>
                  <a:cubicBezTo>
                    <a:pt x="19" y="204"/>
                    <a:pt x="19" y="203"/>
                    <a:pt x="19" y="202"/>
                  </a:cubicBezTo>
                  <a:cubicBezTo>
                    <a:pt x="21" y="200"/>
                    <a:pt x="25" y="198"/>
                    <a:pt x="27" y="196"/>
                  </a:cubicBezTo>
                  <a:cubicBezTo>
                    <a:pt x="29" y="196"/>
                    <a:pt x="33" y="196"/>
                    <a:pt x="34" y="194"/>
                  </a:cubicBezTo>
                  <a:cubicBezTo>
                    <a:pt x="36" y="194"/>
                    <a:pt x="36" y="195"/>
                    <a:pt x="37" y="195"/>
                  </a:cubicBezTo>
                  <a:cubicBezTo>
                    <a:pt x="39" y="195"/>
                    <a:pt x="39" y="194"/>
                    <a:pt x="40" y="193"/>
                  </a:cubicBezTo>
                  <a:cubicBezTo>
                    <a:pt x="43" y="192"/>
                    <a:pt x="46" y="193"/>
                    <a:pt x="48" y="191"/>
                  </a:cubicBezTo>
                  <a:cubicBezTo>
                    <a:pt x="51" y="190"/>
                    <a:pt x="51" y="193"/>
                    <a:pt x="53" y="193"/>
                  </a:cubicBezTo>
                  <a:cubicBezTo>
                    <a:pt x="54" y="192"/>
                    <a:pt x="55" y="192"/>
                    <a:pt x="55" y="191"/>
                  </a:cubicBezTo>
                  <a:cubicBezTo>
                    <a:pt x="55" y="191"/>
                    <a:pt x="56" y="191"/>
                    <a:pt x="56" y="191"/>
                  </a:cubicBezTo>
                  <a:cubicBezTo>
                    <a:pt x="56" y="192"/>
                    <a:pt x="56" y="192"/>
                    <a:pt x="56" y="192"/>
                  </a:cubicBezTo>
                  <a:cubicBezTo>
                    <a:pt x="58" y="191"/>
                    <a:pt x="64" y="190"/>
                    <a:pt x="66" y="191"/>
                  </a:cubicBezTo>
                  <a:cubicBezTo>
                    <a:pt x="66" y="191"/>
                    <a:pt x="67" y="191"/>
                    <a:pt x="67" y="191"/>
                  </a:cubicBezTo>
                  <a:cubicBezTo>
                    <a:pt x="67" y="191"/>
                    <a:pt x="67" y="191"/>
                    <a:pt x="67" y="191"/>
                  </a:cubicBezTo>
                  <a:cubicBezTo>
                    <a:pt x="68" y="191"/>
                    <a:pt x="68" y="191"/>
                    <a:pt x="68" y="191"/>
                  </a:cubicBezTo>
                  <a:cubicBezTo>
                    <a:pt x="70" y="191"/>
                    <a:pt x="71" y="191"/>
                    <a:pt x="72" y="192"/>
                  </a:cubicBezTo>
                  <a:cubicBezTo>
                    <a:pt x="73" y="191"/>
                    <a:pt x="79" y="192"/>
                    <a:pt x="79" y="192"/>
                  </a:cubicBezTo>
                  <a:cubicBezTo>
                    <a:pt x="81" y="192"/>
                    <a:pt x="90" y="192"/>
                    <a:pt x="91" y="191"/>
                  </a:cubicBezTo>
                  <a:cubicBezTo>
                    <a:pt x="93" y="191"/>
                    <a:pt x="94" y="194"/>
                    <a:pt x="97" y="193"/>
                  </a:cubicBezTo>
                  <a:cubicBezTo>
                    <a:pt x="100" y="192"/>
                    <a:pt x="108" y="195"/>
                    <a:pt x="111" y="196"/>
                  </a:cubicBezTo>
                  <a:cubicBezTo>
                    <a:pt x="112" y="196"/>
                    <a:pt x="113" y="195"/>
                    <a:pt x="114" y="195"/>
                  </a:cubicBezTo>
                  <a:cubicBezTo>
                    <a:pt x="116" y="196"/>
                    <a:pt x="117" y="197"/>
                    <a:pt x="119" y="196"/>
                  </a:cubicBezTo>
                  <a:cubicBezTo>
                    <a:pt x="122" y="195"/>
                    <a:pt x="128" y="200"/>
                    <a:pt x="130" y="200"/>
                  </a:cubicBezTo>
                  <a:cubicBezTo>
                    <a:pt x="132" y="199"/>
                    <a:pt x="142" y="200"/>
                    <a:pt x="144" y="202"/>
                  </a:cubicBezTo>
                  <a:cubicBezTo>
                    <a:pt x="145" y="202"/>
                    <a:pt x="146" y="202"/>
                    <a:pt x="147" y="202"/>
                  </a:cubicBezTo>
                  <a:cubicBezTo>
                    <a:pt x="149" y="202"/>
                    <a:pt x="152" y="204"/>
                    <a:pt x="155" y="203"/>
                  </a:cubicBezTo>
                  <a:cubicBezTo>
                    <a:pt x="160" y="201"/>
                    <a:pt x="161" y="200"/>
                    <a:pt x="166" y="197"/>
                  </a:cubicBezTo>
                  <a:cubicBezTo>
                    <a:pt x="171" y="193"/>
                    <a:pt x="166" y="176"/>
                    <a:pt x="167" y="171"/>
                  </a:cubicBezTo>
                  <a:close/>
                  <a:moveTo>
                    <a:pt x="70" y="155"/>
                  </a:moveTo>
                  <a:cubicBezTo>
                    <a:pt x="70" y="157"/>
                    <a:pt x="70" y="159"/>
                    <a:pt x="70" y="161"/>
                  </a:cubicBezTo>
                  <a:cubicBezTo>
                    <a:pt x="70" y="162"/>
                    <a:pt x="69" y="167"/>
                    <a:pt x="69" y="168"/>
                  </a:cubicBezTo>
                  <a:cubicBezTo>
                    <a:pt x="64" y="172"/>
                    <a:pt x="49" y="171"/>
                    <a:pt x="42" y="171"/>
                  </a:cubicBezTo>
                  <a:cubicBezTo>
                    <a:pt x="38" y="172"/>
                    <a:pt x="36" y="173"/>
                    <a:pt x="32" y="172"/>
                  </a:cubicBezTo>
                  <a:cubicBezTo>
                    <a:pt x="32" y="172"/>
                    <a:pt x="32" y="172"/>
                    <a:pt x="32" y="172"/>
                  </a:cubicBezTo>
                  <a:cubicBezTo>
                    <a:pt x="30" y="171"/>
                    <a:pt x="30" y="169"/>
                    <a:pt x="30" y="168"/>
                  </a:cubicBezTo>
                  <a:cubicBezTo>
                    <a:pt x="29" y="167"/>
                    <a:pt x="26" y="166"/>
                    <a:pt x="25" y="165"/>
                  </a:cubicBezTo>
                  <a:cubicBezTo>
                    <a:pt x="25" y="163"/>
                    <a:pt x="24" y="161"/>
                    <a:pt x="23" y="160"/>
                  </a:cubicBezTo>
                  <a:cubicBezTo>
                    <a:pt x="23" y="159"/>
                    <a:pt x="23" y="159"/>
                    <a:pt x="23" y="159"/>
                  </a:cubicBezTo>
                  <a:cubicBezTo>
                    <a:pt x="24" y="158"/>
                    <a:pt x="23" y="154"/>
                    <a:pt x="23" y="152"/>
                  </a:cubicBezTo>
                  <a:cubicBezTo>
                    <a:pt x="25" y="151"/>
                    <a:pt x="24" y="149"/>
                    <a:pt x="26" y="148"/>
                  </a:cubicBezTo>
                  <a:cubicBezTo>
                    <a:pt x="26" y="149"/>
                    <a:pt x="29" y="146"/>
                    <a:pt x="32" y="146"/>
                  </a:cubicBezTo>
                  <a:cubicBezTo>
                    <a:pt x="34" y="146"/>
                    <a:pt x="35" y="143"/>
                    <a:pt x="37" y="143"/>
                  </a:cubicBezTo>
                  <a:cubicBezTo>
                    <a:pt x="40" y="142"/>
                    <a:pt x="42" y="143"/>
                    <a:pt x="45" y="143"/>
                  </a:cubicBezTo>
                  <a:cubicBezTo>
                    <a:pt x="47" y="142"/>
                    <a:pt x="50" y="142"/>
                    <a:pt x="51" y="142"/>
                  </a:cubicBezTo>
                  <a:cubicBezTo>
                    <a:pt x="56" y="141"/>
                    <a:pt x="65" y="144"/>
                    <a:pt x="67" y="141"/>
                  </a:cubicBezTo>
                  <a:cubicBezTo>
                    <a:pt x="68" y="141"/>
                    <a:pt x="68" y="141"/>
                    <a:pt x="69" y="141"/>
                  </a:cubicBezTo>
                  <a:cubicBezTo>
                    <a:pt x="70" y="144"/>
                    <a:pt x="70" y="146"/>
                    <a:pt x="71" y="149"/>
                  </a:cubicBezTo>
                  <a:cubicBezTo>
                    <a:pt x="72" y="152"/>
                    <a:pt x="69" y="153"/>
                    <a:pt x="70" y="155"/>
                  </a:cubicBezTo>
                  <a:close/>
                  <a:moveTo>
                    <a:pt x="70" y="124"/>
                  </a:moveTo>
                  <a:cubicBezTo>
                    <a:pt x="70" y="123"/>
                    <a:pt x="70" y="123"/>
                    <a:pt x="70" y="123"/>
                  </a:cubicBezTo>
                  <a:cubicBezTo>
                    <a:pt x="70" y="123"/>
                    <a:pt x="70" y="124"/>
                    <a:pt x="70" y="124"/>
                  </a:cubicBezTo>
                  <a:cubicBezTo>
                    <a:pt x="70" y="124"/>
                    <a:pt x="62" y="127"/>
                    <a:pt x="62" y="127"/>
                  </a:cubicBezTo>
                  <a:cubicBezTo>
                    <a:pt x="62" y="127"/>
                    <a:pt x="55" y="128"/>
                    <a:pt x="54" y="129"/>
                  </a:cubicBezTo>
                  <a:cubicBezTo>
                    <a:pt x="54" y="129"/>
                    <a:pt x="53" y="129"/>
                    <a:pt x="53" y="129"/>
                  </a:cubicBezTo>
                  <a:cubicBezTo>
                    <a:pt x="45" y="129"/>
                    <a:pt x="37" y="132"/>
                    <a:pt x="30" y="127"/>
                  </a:cubicBezTo>
                  <a:cubicBezTo>
                    <a:pt x="30" y="127"/>
                    <a:pt x="30" y="126"/>
                    <a:pt x="30" y="126"/>
                  </a:cubicBezTo>
                  <a:cubicBezTo>
                    <a:pt x="28" y="125"/>
                    <a:pt x="28" y="124"/>
                    <a:pt x="25" y="121"/>
                  </a:cubicBezTo>
                  <a:cubicBezTo>
                    <a:pt x="26" y="120"/>
                    <a:pt x="25" y="118"/>
                    <a:pt x="25" y="118"/>
                  </a:cubicBezTo>
                  <a:cubicBezTo>
                    <a:pt x="25" y="113"/>
                    <a:pt x="29" y="110"/>
                    <a:pt x="32" y="109"/>
                  </a:cubicBezTo>
                  <a:cubicBezTo>
                    <a:pt x="33" y="108"/>
                    <a:pt x="35" y="108"/>
                    <a:pt x="36" y="108"/>
                  </a:cubicBezTo>
                  <a:cubicBezTo>
                    <a:pt x="38" y="107"/>
                    <a:pt x="40" y="106"/>
                    <a:pt x="42" y="105"/>
                  </a:cubicBezTo>
                  <a:cubicBezTo>
                    <a:pt x="43" y="105"/>
                    <a:pt x="49" y="105"/>
                    <a:pt x="49" y="104"/>
                  </a:cubicBezTo>
                  <a:cubicBezTo>
                    <a:pt x="51" y="104"/>
                    <a:pt x="58" y="105"/>
                    <a:pt x="59" y="105"/>
                  </a:cubicBezTo>
                  <a:cubicBezTo>
                    <a:pt x="61" y="105"/>
                    <a:pt x="65" y="103"/>
                    <a:pt x="68" y="104"/>
                  </a:cubicBezTo>
                  <a:cubicBezTo>
                    <a:pt x="68" y="104"/>
                    <a:pt x="69" y="103"/>
                    <a:pt x="69" y="103"/>
                  </a:cubicBezTo>
                  <a:cubicBezTo>
                    <a:pt x="69" y="103"/>
                    <a:pt x="71" y="104"/>
                    <a:pt x="71" y="104"/>
                  </a:cubicBezTo>
                  <a:cubicBezTo>
                    <a:pt x="73" y="105"/>
                    <a:pt x="72" y="110"/>
                    <a:pt x="72" y="112"/>
                  </a:cubicBezTo>
                  <a:cubicBezTo>
                    <a:pt x="71" y="115"/>
                    <a:pt x="73" y="121"/>
                    <a:pt x="70" y="124"/>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sz="1800"/>
            </a:p>
          </p:txBody>
        </p:sp>
        <p:sp>
          <p:nvSpPr>
            <p:cNvPr id="35" name="Freeform 11"/>
            <p:cNvSpPr/>
            <p:nvPr/>
          </p:nvSpPr>
          <p:spPr bwMode="auto">
            <a:xfrm>
              <a:off x="614365" y="6160955"/>
              <a:ext cx="182383" cy="300394"/>
            </a:xfrm>
            <a:custGeom>
              <a:avLst/>
              <a:gdLst>
                <a:gd name="T0" fmla="*/ 103 w 136"/>
                <a:gd name="T1" fmla="*/ 7 h 223"/>
                <a:gd name="T2" fmla="*/ 106 w 136"/>
                <a:gd name="T3" fmla="*/ 25 h 223"/>
                <a:gd name="T4" fmla="*/ 103 w 136"/>
                <a:gd name="T5" fmla="*/ 38 h 223"/>
                <a:gd name="T6" fmla="*/ 94 w 136"/>
                <a:gd name="T7" fmla="*/ 60 h 223"/>
                <a:gd name="T8" fmla="*/ 105 w 136"/>
                <a:gd name="T9" fmla="*/ 71 h 223"/>
                <a:gd name="T10" fmla="*/ 116 w 136"/>
                <a:gd name="T11" fmla="*/ 53 h 223"/>
                <a:gd name="T12" fmla="*/ 119 w 136"/>
                <a:gd name="T13" fmla="*/ 38 h 223"/>
                <a:gd name="T14" fmla="*/ 124 w 136"/>
                <a:gd name="T15" fmla="*/ 9 h 223"/>
                <a:gd name="T16" fmla="*/ 135 w 136"/>
                <a:gd name="T17" fmla="*/ 25 h 223"/>
                <a:gd name="T18" fmla="*/ 128 w 136"/>
                <a:gd name="T19" fmla="*/ 42 h 223"/>
                <a:gd name="T20" fmla="*/ 124 w 136"/>
                <a:gd name="T21" fmla="*/ 63 h 223"/>
                <a:gd name="T22" fmla="*/ 96 w 136"/>
                <a:gd name="T23" fmla="*/ 85 h 223"/>
                <a:gd name="T24" fmla="*/ 92 w 136"/>
                <a:gd name="T25" fmla="*/ 129 h 223"/>
                <a:gd name="T26" fmla="*/ 86 w 136"/>
                <a:gd name="T27" fmla="*/ 160 h 223"/>
                <a:gd name="T28" fmla="*/ 79 w 136"/>
                <a:gd name="T29" fmla="*/ 176 h 223"/>
                <a:gd name="T30" fmla="*/ 69 w 136"/>
                <a:gd name="T31" fmla="*/ 162 h 223"/>
                <a:gd name="T32" fmla="*/ 61 w 136"/>
                <a:gd name="T33" fmla="*/ 174 h 223"/>
                <a:gd name="T34" fmla="*/ 52 w 136"/>
                <a:gd name="T35" fmla="*/ 223 h 223"/>
                <a:gd name="T36" fmla="*/ 45 w 136"/>
                <a:gd name="T37" fmla="*/ 211 h 223"/>
                <a:gd name="T38" fmla="*/ 46 w 136"/>
                <a:gd name="T39" fmla="*/ 152 h 223"/>
                <a:gd name="T40" fmla="*/ 27 w 136"/>
                <a:gd name="T41" fmla="*/ 153 h 223"/>
                <a:gd name="T42" fmla="*/ 2 w 136"/>
                <a:gd name="T43" fmla="*/ 149 h 223"/>
                <a:gd name="T44" fmla="*/ 2 w 136"/>
                <a:gd name="T45" fmla="*/ 126 h 223"/>
                <a:gd name="T46" fmla="*/ 7 w 136"/>
                <a:gd name="T47" fmla="*/ 95 h 223"/>
                <a:gd name="T48" fmla="*/ 11 w 136"/>
                <a:gd name="T49" fmla="*/ 68 h 223"/>
                <a:gd name="T50" fmla="*/ 15 w 136"/>
                <a:gd name="T51" fmla="*/ 50 h 223"/>
                <a:gd name="T52" fmla="*/ 30 w 136"/>
                <a:gd name="T53" fmla="*/ 65 h 223"/>
                <a:gd name="T54" fmla="*/ 28 w 136"/>
                <a:gd name="T55" fmla="*/ 74 h 223"/>
                <a:gd name="T56" fmla="*/ 29 w 136"/>
                <a:gd name="T57" fmla="*/ 100 h 223"/>
                <a:gd name="T58" fmla="*/ 47 w 136"/>
                <a:gd name="T59" fmla="*/ 90 h 223"/>
                <a:gd name="T60" fmla="*/ 49 w 136"/>
                <a:gd name="T61" fmla="*/ 64 h 223"/>
                <a:gd name="T62" fmla="*/ 50 w 136"/>
                <a:gd name="T63" fmla="*/ 31 h 223"/>
                <a:gd name="T64" fmla="*/ 66 w 136"/>
                <a:gd name="T65" fmla="*/ 4 h 223"/>
                <a:gd name="T66" fmla="*/ 69 w 136"/>
                <a:gd name="T67" fmla="*/ 34 h 223"/>
                <a:gd name="T68" fmla="*/ 65 w 136"/>
                <a:gd name="T69" fmla="*/ 55 h 223"/>
                <a:gd name="T70" fmla="*/ 65 w 136"/>
                <a:gd name="T71" fmla="*/ 97 h 223"/>
                <a:gd name="T72" fmla="*/ 69 w 136"/>
                <a:gd name="T73" fmla="*/ 126 h 223"/>
                <a:gd name="T74" fmla="*/ 62 w 136"/>
                <a:gd name="T75" fmla="*/ 139 h 223"/>
                <a:gd name="T76" fmla="*/ 74 w 136"/>
                <a:gd name="T77" fmla="*/ 153 h 223"/>
                <a:gd name="T78" fmla="*/ 82 w 136"/>
                <a:gd name="T79" fmla="*/ 139 h 223"/>
                <a:gd name="T80" fmla="*/ 85 w 136"/>
                <a:gd name="T81" fmla="*/ 97 h 223"/>
                <a:gd name="T82" fmla="*/ 75 w 136"/>
                <a:gd name="T83" fmla="*/ 85 h 223"/>
                <a:gd name="T84" fmla="*/ 66 w 136"/>
                <a:gd name="T85" fmla="*/ 91 h 223"/>
                <a:gd name="T86" fmla="*/ 69 w 136"/>
                <a:gd name="T87" fmla="*/ 81 h 223"/>
                <a:gd name="T88" fmla="*/ 87 w 136"/>
                <a:gd name="T89" fmla="*/ 54 h 223"/>
                <a:gd name="T90" fmla="*/ 91 w 136"/>
                <a:gd name="T91" fmla="*/ 1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223">
                  <a:moveTo>
                    <a:pt x="94" y="2"/>
                  </a:moveTo>
                  <a:cubicBezTo>
                    <a:pt x="96" y="3"/>
                    <a:pt x="100" y="3"/>
                    <a:pt x="101" y="4"/>
                  </a:cubicBezTo>
                  <a:cubicBezTo>
                    <a:pt x="102" y="5"/>
                    <a:pt x="102" y="6"/>
                    <a:pt x="103" y="7"/>
                  </a:cubicBezTo>
                  <a:cubicBezTo>
                    <a:pt x="104" y="9"/>
                    <a:pt x="106" y="12"/>
                    <a:pt x="106" y="13"/>
                  </a:cubicBezTo>
                  <a:cubicBezTo>
                    <a:pt x="107" y="15"/>
                    <a:pt x="106" y="19"/>
                    <a:pt x="106" y="20"/>
                  </a:cubicBezTo>
                  <a:cubicBezTo>
                    <a:pt x="106" y="22"/>
                    <a:pt x="106" y="23"/>
                    <a:pt x="106" y="25"/>
                  </a:cubicBezTo>
                  <a:cubicBezTo>
                    <a:pt x="105" y="27"/>
                    <a:pt x="105" y="29"/>
                    <a:pt x="104" y="31"/>
                  </a:cubicBezTo>
                  <a:cubicBezTo>
                    <a:pt x="104" y="33"/>
                    <a:pt x="104" y="35"/>
                    <a:pt x="104" y="36"/>
                  </a:cubicBezTo>
                  <a:cubicBezTo>
                    <a:pt x="103" y="37"/>
                    <a:pt x="103" y="37"/>
                    <a:pt x="103" y="38"/>
                  </a:cubicBezTo>
                  <a:cubicBezTo>
                    <a:pt x="102" y="39"/>
                    <a:pt x="103" y="41"/>
                    <a:pt x="103" y="42"/>
                  </a:cubicBezTo>
                  <a:cubicBezTo>
                    <a:pt x="103" y="43"/>
                    <a:pt x="103" y="44"/>
                    <a:pt x="103" y="46"/>
                  </a:cubicBezTo>
                  <a:cubicBezTo>
                    <a:pt x="100" y="51"/>
                    <a:pt x="96" y="54"/>
                    <a:pt x="94" y="60"/>
                  </a:cubicBezTo>
                  <a:cubicBezTo>
                    <a:pt x="94" y="62"/>
                    <a:pt x="96" y="72"/>
                    <a:pt x="96" y="73"/>
                  </a:cubicBezTo>
                  <a:cubicBezTo>
                    <a:pt x="99" y="73"/>
                    <a:pt x="100" y="73"/>
                    <a:pt x="102" y="72"/>
                  </a:cubicBezTo>
                  <a:cubicBezTo>
                    <a:pt x="103" y="72"/>
                    <a:pt x="104" y="72"/>
                    <a:pt x="105" y="71"/>
                  </a:cubicBezTo>
                  <a:cubicBezTo>
                    <a:pt x="110" y="70"/>
                    <a:pt x="110" y="66"/>
                    <a:pt x="112" y="60"/>
                  </a:cubicBezTo>
                  <a:cubicBezTo>
                    <a:pt x="112" y="58"/>
                    <a:pt x="115" y="56"/>
                    <a:pt x="116" y="54"/>
                  </a:cubicBezTo>
                  <a:cubicBezTo>
                    <a:pt x="116" y="54"/>
                    <a:pt x="116" y="53"/>
                    <a:pt x="116" y="53"/>
                  </a:cubicBezTo>
                  <a:cubicBezTo>
                    <a:pt x="116" y="53"/>
                    <a:pt x="118" y="48"/>
                    <a:pt x="117" y="47"/>
                  </a:cubicBezTo>
                  <a:cubicBezTo>
                    <a:pt x="118" y="47"/>
                    <a:pt x="119" y="47"/>
                    <a:pt x="119" y="45"/>
                  </a:cubicBezTo>
                  <a:cubicBezTo>
                    <a:pt x="119" y="43"/>
                    <a:pt x="119" y="41"/>
                    <a:pt x="119" y="38"/>
                  </a:cubicBezTo>
                  <a:cubicBezTo>
                    <a:pt x="118" y="35"/>
                    <a:pt x="120" y="23"/>
                    <a:pt x="122" y="19"/>
                  </a:cubicBezTo>
                  <a:cubicBezTo>
                    <a:pt x="122" y="18"/>
                    <a:pt x="122" y="18"/>
                    <a:pt x="121" y="19"/>
                  </a:cubicBezTo>
                  <a:cubicBezTo>
                    <a:pt x="119" y="13"/>
                    <a:pt x="118" y="11"/>
                    <a:pt x="124" y="9"/>
                  </a:cubicBezTo>
                  <a:cubicBezTo>
                    <a:pt x="126" y="9"/>
                    <a:pt x="126" y="8"/>
                    <a:pt x="128" y="9"/>
                  </a:cubicBezTo>
                  <a:cubicBezTo>
                    <a:pt x="132" y="11"/>
                    <a:pt x="134" y="17"/>
                    <a:pt x="135" y="22"/>
                  </a:cubicBezTo>
                  <a:cubicBezTo>
                    <a:pt x="135" y="23"/>
                    <a:pt x="135" y="24"/>
                    <a:pt x="135" y="25"/>
                  </a:cubicBezTo>
                  <a:cubicBezTo>
                    <a:pt x="135" y="26"/>
                    <a:pt x="136" y="27"/>
                    <a:pt x="136" y="29"/>
                  </a:cubicBezTo>
                  <a:cubicBezTo>
                    <a:pt x="135" y="29"/>
                    <a:pt x="135" y="29"/>
                    <a:pt x="134" y="30"/>
                  </a:cubicBezTo>
                  <a:cubicBezTo>
                    <a:pt x="135" y="35"/>
                    <a:pt x="130" y="39"/>
                    <a:pt x="128" y="42"/>
                  </a:cubicBezTo>
                  <a:cubicBezTo>
                    <a:pt x="128" y="44"/>
                    <a:pt x="127" y="46"/>
                    <a:pt x="127" y="48"/>
                  </a:cubicBezTo>
                  <a:cubicBezTo>
                    <a:pt x="127" y="48"/>
                    <a:pt x="126" y="49"/>
                    <a:pt x="126" y="50"/>
                  </a:cubicBezTo>
                  <a:cubicBezTo>
                    <a:pt x="128" y="53"/>
                    <a:pt x="126" y="59"/>
                    <a:pt x="124" y="63"/>
                  </a:cubicBezTo>
                  <a:cubicBezTo>
                    <a:pt x="123" y="66"/>
                    <a:pt x="124" y="69"/>
                    <a:pt x="123" y="74"/>
                  </a:cubicBezTo>
                  <a:cubicBezTo>
                    <a:pt x="122" y="78"/>
                    <a:pt x="117" y="84"/>
                    <a:pt x="114" y="85"/>
                  </a:cubicBezTo>
                  <a:cubicBezTo>
                    <a:pt x="109" y="88"/>
                    <a:pt x="100" y="78"/>
                    <a:pt x="96" y="85"/>
                  </a:cubicBezTo>
                  <a:cubicBezTo>
                    <a:pt x="95" y="86"/>
                    <a:pt x="95" y="89"/>
                    <a:pt x="94" y="91"/>
                  </a:cubicBezTo>
                  <a:cubicBezTo>
                    <a:pt x="94" y="98"/>
                    <a:pt x="94" y="106"/>
                    <a:pt x="94" y="113"/>
                  </a:cubicBezTo>
                  <a:cubicBezTo>
                    <a:pt x="94" y="119"/>
                    <a:pt x="93" y="124"/>
                    <a:pt x="92" y="129"/>
                  </a:cubicBezTo>
                  <a:cubicBezTo>
                    <a:pt x="92" y="130"/>
                    <a:pt x="92" y="142"/>
                    <a:pt x="92" y="142"/>
                  </a:cubicBezTo>
                  <a:cubicBezTo>
                    <a:pt x="92" y="143"/>
                    <a:pt x="89" y="153"/>
                    <a:pt x="90" y="154"/>
                  </a:cubicBezTo>
                  <a:cubicBezTo>
                    <a:pt x="88" y="155"/>
                    <a:pt x="87" y="158"/>
                    <a:pt x="86" y="160"/>
                  </a:cubicBezTo>
                  <a:cubicBezTo>
                    <a:pt x="86" y="162"/>
                    <a:pt x="86" y="164"/>
                    <a:pt x="86" y="166"/>
                  </a:cubicBezTo>
                  <a:cubicBezTo>
                    <a:pt x="84" y="168"/>
                    <a:pt x="84" y="170"/>
                    <a:pt x="83" y="172"/>
                  </a:cubicBezTo>
                  <a:cubicBezTo>
                    <a:pt x="83" y="173"/>
                    <a:pt x="80" y="175"/>
                    <a:pt x="79" y="176"/>
                  </a:cubicBezTo>
                  <a:cubicBezTo>
                    <a:pt x="78" y="177"/>
                    <a:pt x="72" y="173"/>
                    <a:pt x="71" y="171"/>
                  </a:cubicBezTo>
                  <a:cubicBezTo>
                    <a:pt x="71" y="170"/>
                    <a:pt x="69" y="168"/>
                    <a:pt x="69" y="166"/>
                  </a:cubicBezTo>
                  <a:cubicBezTo>
                    <a:pt x="68" y="165"/>
                    <a:pt x="68" y="163"/>
                    <a:pt x="69" y="162"/>
                  </a:cubicBezTo>
                  <a:cubicBezTo>
                    <a:pt x="67" y="158"/>
                    <a:pt x="65" y="149"/>
                    <a:pt x="61" y="149"/>
                  </a:cubicBezTo>
                  <a:cubicBezTo>
                    <a:pt x="61" y="156"/>
                    <a:pt x="61" y="162"/>
                    <a:pt x="60" y="169"/>
                  </a:cubicBezTo>
                  <a:cubicBezTo>
                    <a:pt x="61" y="171"/>
                    <a:pt x="61" y="172"/>
                    <a:pt x="61" y="174"/>
                  </a:cubicBezTo>
                  <a:cubicBezTo>
                    <a:pt x="60" y="177"/>
                    <a:pt x="59" y="180"/>
                    <a:pt x="58" y="183"/>
                  </a:cubicBezTo>
                  <a:cubicBezTo>
                    <a:pt x="58" y="188"/>
                    <a:pt x="58" y="194"/>
                    <a:pt x="58" y="199"/>
                  </a:cubicBezTo>
                  <a:cubicBezTo>
                    <a:pt x="58" y="209"/>
                    <a:pt x="61" y="222"/>
                    <a:pt x="52" y="223"/>
                  </a:cubicBezTo>
                  <a:cubicBezTo>
                    <a:pt x="51" y="221"/>
                    <a:pt x="48" y="222"/>
                    <a:pt x="47" y="220"/>
                  </a:cubicBezTo>
                  <a:cubicBezTo>
                    <a:pt x="47" y="218"/>
                    <a:pt x="47" y="217"/>
                    <a:pt x="47" y="215"/>
                  </a:cubicBezTo>
                  <a:cubicBezTo>
                    <a:pt x="46" y="213"/>
                    <a:pt x="45" y="212"/>
                    <a:pt x="45" y="211"/>
                  </a:cubicBezTo>
                  <a:cubicBezTo>
                    <a:pt x="43" y="207"/>
                    <a:pt x="45" y="202"/>
                    <a:pt x="44" y="198"/>
                  </a:cubicBezTo>
                  <a:cubicBezTo>
                    <a:pt x="43" y="190"/>
                    <a:pt x="43" y="178"/>
                    <a:pt x="44" y="170"/>
                  </a:cubicBezTo>
                  <a:cubicBezTo>
                    <a:pt x="46" y="163"/>
                    <a:pt x="43" y="156"/>
                    <a:pt x="46" y="152"/>
                  </a:cubicBezTo>
                  <a:cubicBezTo>
                    <a:pt x="45" y="150"/>
                    <a:pt x="44" y="148"/>
                    <a:pt x="41" y="148"/>
                  </a:cubicBezTo>
                  <a:cubicBezTo>
                    <a:pt x="39" y="148"/>
                    <a:pt x="37" y="150"/>
                    <a:pt x="36" y="150"/>
                  </a:cubicBezTo>
                  <a:cubicBezTo>
                    <a:pt x="33" y="151"/>
                    <a:pt x="29" y="151"/>
                    <a:pt x="27" y="153"/>
                  </a:cubicBezTo>
                  <a:cubicBezTo>
                    <a:pt x="26" y="157"/>
                    <a:pt x="10" y="158"/>
                    <a:pt x="6" y="155"/>
                  </a:cubicBezTo>
                  <a:cubicBezTo>
                    <a:pt x="5" y="154"/>
                    <a:pt x="5" y="153"/>
                    <a:pt x="5" y="151"/>
                  </a:cubicBezTo>
                  <a:cubicBezTo>
                    <a:pt x="4" y="151"/>
                    <a:pt x="3" y="150"/>
                    <a:pt x="2" y="149"/>
                  </a:cubicBezTo>
                  <a:cubicBezTo>
                    <a:pt x="1" y="146"/>
                    <a:pt x="2" y="142"/>
                    <a:pt x="1" y="139"/>
                  </a:cubicBezTo>
                  <a:cubicBezTo>
                    <a:pt x="1" y="136"/>
                    <a:pt x="0" y="134"/>
                    <a:pt x="0" y="132"/>
                  </a:cubicBezTo>
                  <a:cubicBezTo>
                    <a:pt x="1" y="130"/>
                    <a:pt x="2" y="127"/>
                    <a:pt x="2" y="126"/>
                  </a:cubicBezTo>
                  <a:cubicBezTo>
                    <a:pt x="2" y="125"/>
                    <a:pt x="2" y="116"/>
                    <a:pt x="2" y="115"/>
                  </a:cubicBezTo>
                  <a:cubicBezTo>
                    <a:pt x="3" y="111"/>
                    <a:pt x="5" y="107"/>
                    <a:pt x="7" y="105"/>
                  </a:cubicBezTo>
                  <a:cubicBezTo>
                    <a:pt x="7" y="102"/>
                    <a:pt x="7" y="98"/>
                    <a:pt x="7" y="95"/>
                  </a:cubicBezTo>
                  <a:cubicBezTo>
                    <a:pt x="8" y="94"/>
                    <a:pt x="9" y="93"/>
                    <a:pt x="10" y="92"/>
                  </a:cubicBezTo>
                  <a:cubicBezTo>
                    <a:pt x="11" y="89"/>
                    <a:pt x="10" y="86"/>
                    <a:pt x="11" y="84"/>
                  </a:cubicBezTo>
                  <a:cubicBezTo>
                    <a:pt x="12" y="82"/>
                    <a:pt x="10" y="71"/>
                    <a:pt x="11" y="68"/>
                  </a:cubicBezTo>
                  <a:cubicBezTo>
                    <a:pt x="11" y="66"/>
                    <a:pt x="11" y="64"/>
                    <a:pt x="10" y="62"/>
                  </a:cubicBezTo>
                  <a:cubicBezTo>
                    <a:pt x="11" y="61"/>
                    <a:pt x="14" y="51"/>
                    <a:pt x="14" y="50"/>
                  </a:cubicBezTo>
                  <a:cubicBezTo>
                    <a:pt x="15" y="50"/>
                    <a:pt x="15" y="50"/>
                    <a:pt x="15" y="50"/>
                  </a:cubicBezTo>
                  <a:cubicBezTo>
                    <a:pt x="17" y="47"/>
                    <a:pt x="23" y="32"/>
                    <a:pt x="30" y="38"/>
                  </a:cubicBezTo>
                  <a:cubicBezTo>
                    <a:pt x="37" y="45"/>
                    <a:pt x="27" y="48"/>
                    <a:pt x="29" y="53"/>
                  </a:cubicBezTo>
                  <a:cubicBezTo>
                    <a:pt x="30" y="57"/>
                    <a:pt x="31" y="60"/>
                    <a:pt x="30" y="65"/>
                  </a:cubicBezTo>
                  <a:cubicBezTo>
                    <a:pt x="30" y="66"/>
                    <a:pt x="30" y="66"/>
                    <a:pt x="30" y="66"/>
                  </a:cubicBezTo>
                  <a:cubicBezTo>
                    <a:pt x="30" y="68"/>
                    <a:pt x="29" y="69"/>
                    <a:pt x="28" y="70"/>
                  </a:cubicBezTo>
                  <a:cubicBezTo>
                    <a:pt x="28" y="71"/>
                    <a:pt x="28" y="73"/>
                    <a:pt x="28" y="74"/>
                  </a:cubicBezTo>
                  <a:cubicBezTo>
                    <a:pt x="27" y="80"/>
                    <a:pt x="28" y="80"/>
                    <a:pt x="25" y="84"/>
                  </a:cubicBezTo>
                  <a:cubicBezTo>
                    <a:pt x="25" y="86"/>
                    <a:pt x="26" y="87"/>
                    <a:pt x="27" y="88"/>
                  </a:cubicBezTo>
                  <a:cubicBezTo>
                    <a:pt x="27" y="90"/>
                    <a:pt x="28" y="98"/>
                    <a:pt x="29" y="100"/>
                  </a:cubicBezTo>
                  <a:cubicBezTo>
                    <a:pt x="31" y="100"/>
                    <a:pt x="34" y="99"/>
                    <a:pt x="35" y="98"/>
                  </a:cubicBezTo>
                  <a:cubicBezTo>
                    <a:pt x="36" y="98"/>
                    <a:pt x="37" y="98"/>
                    <a:pt x="38" y="98"/>
                  </a:cubicBezTo>
                  <a:cubicBezTo>
                    <a:pt x="40" y="95"/>
                    <a:pt x="45" y="93"/>
                    <a:pt x="47" y="90"/>
                  </a:cubicBezTo>
                  <a:cubicBezTo>
                    <a:pt x="48" y="89"/>
                    <a:pt x="51" y="87"/>
                    <a:pt x="49" y="86"/>
                  </a:cubicBezTo>
                  <a:cubicBezTo>
                    <a:pt x="50" y="85"/>
                    <a:pt x="51" y="84"/>
                    <a:pt x="52" y="82"/>
                  </a:cubicBezTo>
                  <a:cubicBezTo>
                    <a:pt x="53" y="76"/>
                    <a:pt x="50" y="69"/>
                    <a:pt x="49" y="64"/>
                  </a:cubicBezTo>
                  <a:cubicBezTo>
                    <a:pt x="49" y="64"/>
                    <a:pt x="49" y="55"/>
                    <a:pt x="49" y="54"/>
                  </a:cubicBezTo>
                  <a:cubicBezTo>
                    <a:pt x="48" y="51"/>
                    <a:pt x="51" y="44"/>
                    <a:pt x="51" y="41"/>
                  </a:cubicBezTo>
                  <a:cubicBezTo>
                    <a:pt x="52" y="37"/>
                    <a:pt x="50" y="34"/>
                    <a:pt x="50" y="31"/>
                  </a:cubicBezTo>
                  <a:cubicBezTo>
                    <a:pt x="50" y="29"/>
                    <a:pt x="52" y="28"/>
                    <a:pt x="50" y="26"/>
                  </a:cubicBezTo>
                  <a:cubicBezTo>
                    <a:pt x="50" y="25"/>
                    <a:pt x="52" y="18"/>
                    <a:pt x="52" y="18"/>
                  </a:cubicBezTo>
                  <a:cubicBezTo>
                    <a:pt x="54" y="13"/>
                    <a:pt x="58" y="0"/>
                    <a:pt x="66" y="4"/>
                  </a:cubicBezTo>
                  <a:cubicBezTo>
                    <a:pt x="68" y="5"/>
                    <a:pt x="69" y="7"/>
                    <a:pt x="70" y="10"/>
                  </a:cubicBezTo>
                  <a:cubicBezTo>
                    <a:pt x="71" y="11"/>
                    <a:pt x="72" y="13"/>
                    <a:pt x="72" y="14"/>
                  </a:cubicBezTo>
                  <a:cubicBezTo>
                    <a:pt x="74" y="21"/>
                    <a:pt x="69" y="27"/>
                    <a:pt x="69" y="34"/>
                  </a:cubicBezTo>
                  <a:cubicBezTo>
                    <a:pt x="69" y="36"/>
                    <a:pt x="68" y="40"/>
                    <a:pt x="67" y="43"/>
                  </a:cubicBezTo>
                  <a:cubicBezTo>
                    <a:pt x="66" y="45"/>
                    <a:pt x="67" y="50"/>
                    <a:pt x="66" y="53"/>
                  </a:cubicBezTo>
                  <a:cubicBezTo>
                    <a:pt x="66" y="54"/>
                    <a:pt x="65" y="55"/>
                    <a:pt x="65" y="55"/>
                  </a:cubicBezTo>
                  <a:cubicBezTo>
                    <a:pt x="64" y="60"/>
                    <a:pt x="64" y="64"/>
                    <a:pt x="64" y="68"/>
                  </a:cubicBezTo>
                  <a:cubicBezTo>
                    <a:pt x="63" y="70"/>
                    <a:pt x="63" y="71"/>
                    <a:pt x="62" y="73"/>
                  </a:cubicBezTo>
                  <a:cubicBezTo>
                    <a:pt x="60" y="80"/>
                    <a:pt x="63" y="94"/>
                    <a:pt x="65" y="97"/>
                  </a:cubicBezTo>
                  <a:cubicBezTo>
                    <a:pt x="68" y="97"/>
                    <a:pt x="68" y="102"/>
                    <a:pt x="69" y="105"/>
                  </a:cubicBezTo>
                  <a:cubicBezTo>
                    <a:pt x="71" y="109"/>
                    <a:pt x="75" y="116"/>
                    <a:pt x="72" y="121"/>
                  </a:cubicBezTo>
                  <a:cubicBezTo>
                    <a:pt x="71" y="123"/>
                    <a:pt x="70" y="124"/>
                    <a:pt x="69" y="126"/>
                  </a:cubicBezTo>
                  <a:cubicBezTo>
                    <a:pt x="69" y="128"/>
                    <a:pt x="69" y="129"/>
                    <a:pt x="69" y="131"/>
                  </a:cubicBezTo>
                  <a:cubicBezTo>
                    <a:pt x="68" y="132"/>
                    <a:pt x="67" y="133"/>
                    <a:pt x="67" y="135"/>
                  </a:cubicBezTo>
                  <a:cubicBezTo>
                    <a:pt x="66" y="137"/>
                    <a:pt x="63" y="138"/>
                    <a:pt x="62" y="139"/>
                  </a:cubicBezTo>
                  <a:cubicBezTo>
                    <a:pt x="61" y="143"/>
                    <a:pt x="68" y="149"/>
                    <a:pt x="70" y="151"/>
                  </a:cubicBezTo>
                  <a:cubicBezTo>
                    <a:pt x="71" y="151"/>
                    <a:pt x="72" y="151"/>
                    <a:pt x="72" y="151"/>
                  </a:cubicBezTo>
                  <a:cubicBezTo>
                    <a:pt x="72" y="152"/>
                    <a:pt x="73" y="153"/>
                    <a:pt x="74" y="153"/>
                  </a:cubicBezTo>
                  <a:cubicBezTo>
                    <a:pt x="74" y="153"/>
                    <a:pt x="74" y="153"/>
                    <a:pt x="74" y="153"/>
                  </a:cubicBezTo>
                  <a:cubicBezTo>
                    <a:pt x="75" y="154"/>
                    <a:pt x="76" y="156"/>
                    <a:pt x="78" y="155"/>
                  </a:cubicBezTo>
                  <a:cubicBezTo>
                    <a:pt x="78" y="150"/>
                    <a:pt x="81" y="144"/>
                    <a:pt x="82" y="139"/>
                  </a:cubicBezTo>
                  <a:cubicBezTo>
                    <a:pt x="83" y="135"/>
                    <a:pt x="83" y="121"/>
                    <a:pt x="83" y="114"/>
                  </a:cubicBezTo>
                  <a:cubicBezTo>
                    <a:pt x="82" y="111"/>
                    <a:pt x="84" y="107"/>
                    <a:pt x="85" y="105"/>
                  </a:cubicBezTo>
                  <a:cubicBezTo>
                    <a:pt x="85" y="102"/>
                    <a:pt x="85" y="100"/>
                    <a:pt x="85" y="97"/>
                  </a:cubicBezTo>
                  <a:cubicBezTo>
                    <a:pt x="86" y="96"/>
                    <a:pt x="86" y="94"/>
                    <a:pt x="86" y="93"/>
                  </a:cubicBezTo>
                  <a:cubicBezTo>
                    <a:pt x="87" y="90"/>
                    <a:pt x="85" y="86"/>
                    <a:pt x="85" y="84"/>
                  </a:cubicBezTo>
                  <a:cubicBezTo>
                    <a:pt x="82" y="83"/>
                    <a:pt x="77" y="83"/>
                    <a:pt x="75" y="85"/>
                  </a:cubicBezTo>
                  <a:cubicBezTo>
                    <a:pt x="73" y="86"/>
                    <a:pt x="74" y="87"/>
                    <a:pt x="72" y="88"/>
                  </a:cubicBezTo>
                  <a:cubicBezTo>
                    <a:pt x="70" y="89"/>
                    <a:pt x="70" y="87"/>
                    <a:pt x="69" y="89"/>
                  </a:cubicBezTo>
                  <a:cubicBezTo>
                    <a:pt x="69" y="90"/>
                    <a:pt x="67" y="91"/>
                    <a:pt x="66" y="91"/>
                  </a:cubicBezTo>
                  <a:cubicBezTo>
                    <a:pt x="65" y="91"/>
                    <a:pt x="64" y="91"/>
                    <a:pt x="64" y="90"/>
                  </a:cubicBezTo>
                  <a:cubicBezTo>
                    <a:pt x="63" y="88"/>
                    <a:pt x="64" y="87"/>
                    <a:pt x="64" y="85"/>
                  </a:cubicBezTo>
                  <a:cubicBezTo>
                    <a:pt x="66" y="85"/>
                    <a:pt x="67" y="83"/>
                    <a:pt x="69" y="81"/>
                  </a:cubicBezTo>
                  <a:cubicBezTo>
                    <a:pt x="70" y="81"/>
                    <a:pt x="71" y="81"/>
                    <a:pt x="71" y="81"/>
                  </a:cubicBezTo>
                  <a:cubicBezTo>
                    <a:pt x="76" y="80"/>
                    <a:pt x="82" y="80"/>
                    <a:pt x="85" y="76"/>
                  </a:cubicBezTo>
                  <a:cubicBezTo>
                    <a:pt x="84" y="72"/>
                    <a:pt x="86" y="59"/>
                    <a:pt x="87" y="54"/>
                  </a:cubicBezTo>
                  <a:cubicBezTo>
                    <a:pt x="87" y="52"/>
                    <a:pt x="87" y="49"/>
                    <a:pt x="87" y="47"/>
                  </a:cubicBezTo>
                  <a:cubicBezTo>
                    <a:pt x="88" y="40"/>
                    <a:pt x="86" y="30"/>
                    <a:pt x="87" y="24"/>
                  </a:cubicBezTo>
                  <a:cubicBezTo>
                    <a:pt x="87" y="20"/>
                    <a:pt x="90" y="16"/>
                    <a:pt x="91" y="12"/>
                  </a:cubicBezTo>
                  <a:cubicBezTo>
                    <a:pt x="89" y="10"/>
                    <a:pt x="89" y="8"/>
                    <a:pt x="89" y="4"/>
                  </a:cubicBezTo>
                  <a:cubicBezTo>
                    <a:pt x="90" y="3"/>
                    <a:pt x="93" y="3"/>
                    <a:pt x="94" y="2"/>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sz="1800"/>
            </a:p>
          </p:txBody>
        </p:sp>
        <p:sp>
          <p:nvSpPr>
            <p:cNvPr id="36" name="Freeform 12"/>
            <p:cNvSpPr/>
            <p:nvPr/>
          </p:nvSpPr>
          <p:spPr bwMode="auto">
            <a:xfrm>
              <a:off x="788842" y="6168860"/>
              <a:ext cx="158102" cy="103896"/>
            </a:xfrm>
            <a:custGeom>
              <a:avLst/>
              <a:gdLst>
                <a:gd name="T0" fmla="*/ 47 w 118"/>
                <a:gd name="T1" fmla="*/ 0 h 77"/>
                <a:gd name="T2" fmla="*/ 52 w 118"/>
                <a:gd name="T3" fmla="*/ 3 h 77"/>
                <a:gd name="T4" fmla="*/ 53 w 118"/>
                <a:gd name="T5" fmla="*/ 4 h 77"/>
                <a:gd name="T6" fmla="*/ 65 w 118"/>
                <a:gd name="T7" fmla="*/ 8 h 77"/>
                <a:gd name="T8" fmla="*/ 71 w 118"/>
                <a:gd name="T9" fmla="*/ 9 h 77"/>
                <a:gd name="T10" fmla="*/ 74 w 118"/>
                <a:gd name="T11" fmla="*/ 11 h 77"/>
                <a:gd name="T12" fmla="*/ 88 w 118"/>
                <a:gd name="T13" fmla="*/ 19 h 77"/>
                <a:gd name="T14" fmla="*/ 88 w 118"/>
                <a:gd name="T15" fmla="*/ 38 h 77"/>
                <a:gd name="T16" fmla="*/ 79 w 118"/>
                <a:gd name="T17" fmla="*/ 48 h 77"/>
                <a:gd name="T18" fmla="*/ 65 w 118"/>
                <a:gd name="T19" fmla="*/ 57 h 77"/>
                <a:gd name="T20" fmla="*/ 70 w 118"/>
                <a:gd name="T21" fmla="*/ 59 h 77"/>
                <a:gd name="T22" fmla="*/ 86 w 118"/>
                <a:gd name="T23" fmla="*/ 60 h 77"/>
                <a:gd name="T24" fmla="*/ 93 w 118"/>
                <a:gd name="T25" fmla="*/ 59 h 77"/>
                <a:gd name="T26" fmla="*/ 113 w 118"/>
                <a:gd name="T27" fmla="*/ 64 h 77"/>
                <a:gd name="T28" fmla="*/ 116 w 118"/>
                <a:gd name="T29" fmla="*/ 75 h 77"/>
                <a:gd name="T30" fmla="*/ 101 w 118"/>
                <a:gd name="T31" fmla="*/ 75 h 77"/>
                <a:gd name="T32" fmla="*/ 88 w 118"/>
                <a:gd name="T33" fmla="*/ 76 h 77"/>
                <a:gd name="T34" fmla="*/ 76 w 118"/>
                <a:gd name="T35" fmla="*/ 75 h 77"/>
                <a:gd name="T36" fmla="*/ 50 w 118"/>
                <a:gd name="T37" fmla="*/ 75 h 77"/>
                <a:gd name="T38" fmla="*/ 44 w 118"/>
                <a:gd name="T39" fmla="*/ 75 h 77"/>
                <a:gd name="T40" fmla="*/ 34 w 118"/>
                <a:gd name="T41" fmla="*/ 77 h 77"/>
                <a:gd name="T42" fmla="*/ 23 w 118"/>
                <a:gd name="T43" fmla="*/ 75 h 77"/>
                <a:gd name="T44" fmla="*/ 16 w 118"/>
                <a:gd name="T45" fmla="*/ 69 h 77"/>
                <a:gd name="T46" fmla="*/ 18 w 118"/>
                <a:gd name="T47" fmla="*/ 65 h 77"/>
                <a:gd name="T48" fmla="*/ 56 w 118"/>
                <a:gd name="T49" fmla="*/ 54 h 77"/>
                <a:gd name="T50" fmla="*/ 61 w 118"/>
                <a:gd name="T51" fmla="*/ 48 h 77"/>
                <a:gd name="T52" fmla="*/ 68 w 118"/>
                <a:gd name="T53" fmla="*/ 42 h 77"/>
                <a:gd name="T54" fmla="*/ 60 w 118"/>
                <a:gd name="T55" fmla="*/ 29 h 77"/>
                <a:gd name="T56" fmla="*/ 50 w 118"/>
                <a:gd name="T57" fmla="*/ 26 h 77"/>
                <a:gd name="T58" fmla="*/ 48 w 118"/>
                <a:gd name="T59" fmla="*/ 25 h 77"/>
                <a:gd name="T60" fmla="*/ 40 w 118"/>
                <a:gd name="T61" fmla="*/ 31 h 77"/>
                <a:gd name="T62" fmla="*/ 20 w 118"/>
                <a:gd name="T63" fmla="*/ 47 h 77"/>
                <a:gd name="T64" fmla="*/ 9 w 118"/>
                <a:gd name="T65" fmla="*/ 53 h 77"/>
                <a:gd name="T66" fmla="*/ 3 w 118"/>
                <a:gd name="T67" fmla="*/ 53 h 77"/>
                <a:gd name="T68" fmla="*/ 0 w 118"/>
                <a:gd name="T69" fmla="*/ 48 h 77"/>
                <a:gd name="T70" fmla="*/ 18 w 118"/>
                <a:gd name="T71" fmla="*/ 33 h 77"/>
                <a:gd name="T72" fmla="*/ 21 w 118"/>
                <a:gd name="T73" fmla="*/ 30 h 77"/>
                <a:gd name="T74" fmla="*/ 24 w 118"/>
                <a:gd name="T75" fmla="*/ 29 h 77"/>
                <a:gd name="T76" fmla="*/ 26 w 118"/>
                <a:gd name="T77" fmla="*/ 27 h 77"/>
                <a:gd name="T78" fmla="*/ 34 w 118"/>
                <a:gd name="T79" fmla="*/ 14 h 77"/>
                <a:gd name="T80" fmla="*/ 31 w 118"/>
                <a:gd name="T81" fmla="*/ 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8" h="77">
                  <a:moveTo>
                    <a:pt x="38" y="0"/>
                  </a:moveTo>
                  <a:cubicBezTo>
                    <a:pt x="42" y="1"/>
                    <a:pt x="44" y="0"/>
                    <a:pt x="47" y="0"/>
                  </a:cubicBezTo>
                  <a:cubicBezTo>
                    <a:pt x="49" y="1"/>
                    <a:pt x="50" y="2"/>
                    <a:pt x="51" y="3"/>
                  </a:cubicBezTo>
                  <a:cubicBezTo>
                    <a:pt x="52" y="3"/>
                    <a:pt x="52" y="3"/>
                    <a:pt x="52" y="3"/>
                  </a:cubicBezTo>
                  <a:cubicBezTo>
                    <a:pt x="53" y="3"/>
                    <a:pt x="52" y="4"/>
                    <a:pt x="53" y="4"/>
                  </a:cubicBezTo>
                  <a:cubicBezTo>
                    <a:pt x="53" y="4"/>
                    <a:pt x="53" y="4"/>
                    <a:pt x="53" y="4"/>
                  </a:cubicBezTo>
                  <a:cubicBezTo>
                    <a:pt x="55" y="4"/>
                    <a:pt x="61" y="6"/>
                    <a:pt x="62" y="6"/>
                  </a:cubicBezTo>
                  <a:cubicBezTo>
                    <a:pt x="63" y="6"/>
                    <a:pt x="64" y="8"/>
                    <a:pt x="65" y="8"/>
                  </a:cubicBezTo>
                  <a:cubicBezTo>
                    <a:pt x="66" y="8"/>
                    <a:pt x="70" y="9"/>
                    <a:pt x="70" y="9"/>
                  </a:cubicBezTo>
                  <a:cubicBezTo>
                    <a:pt x="70" y="9"/>
                    <a:pt x="70" y="9"/>
                    <a:pt x="71" y="9"/>
                  </a:cubicBezTo>
                  <a:cubicBezTo>
                    <a:pt x="71" y="9"/>
                    <a:pt x="72" y="10"/>
                    <a:pt x="72" y="11"/>
                  </a:cubicBezTo>
                  <a:cubicBezTo>
                    <a:pt x="73" y="11"/>
                    <a:pt x="73" y="10"/>
                    <a:pt x="74" y="11"/>
                  </a:cubicBezTo>
                  <a:cubicBezTo>
                    <a:pt x="75" y="12"/>
                    <a:pt x="76" y="13"/>
                    <a:pt x="78" y="14"/>
                  </a:cubicBezTo>
                  <a:cubicBezTo>
                    <a:pt x="80" y="15"/>
                    <a:pt x="86" y="16"/>
                    <a:pt x="88" y="19"/>
                  </a:cubicBezTo>
                  <a:cubicBezTo>
                    <a:pt x="89" y="21"/>
                    <a:pt x="88" y="30"/>
                    <a:pt x="88" y="31"/>
                  </a:cubicBezTo>
                  <a:cubicBezTo>
                    <a:pt x="88" y="33"/>
                    <a:pt x="88" y="36"/>
                    <a:pt x="88" y="38"/>
                  </a:cubicBezTo>
                  <a:cubicBezTo>
                    <a:pt x="87" y="40"/>
                    <a:pt x="86" y="43"/>
                    <a:pt x="84" y="44"/>
                  </a:cubicBezTo>
                  <a:cubicBezTo>
                    <a:pt x="82" y="46"/>
                    <a:pt x="80" y="45"/>
                    <a:pt x="79" y="48"/>
                  </a:cubicBezTo>
                  <a:cubicBezTo>
                    <a:pt x="77" y="48"/>
                    <a:pt x="65" y="53"/>
                    <a:pt x="65" y="57"/>
                  </a:cubicBezTo>
                  <a:cubicBezTo>
                    <a:pt x="65" y="57"/>
                    <a:pt x="65" y="57"/>
                    <a:pt x="65" y="57"/>
                  </a:cubicBezTo>
                  <a:cubicBezTo>
                    <a:pt x="65" y="58"/>
                    <a:pt x="65" y="58"/>
                    <a:pt x="66" y="59"/>
                  </a:cubicBezTo>
                  <a:cubicBezTo>
                    <a:pt x="66" y="59"/>
                    <a:pt x="70" y="59"/>
                    <a:pt x="70" y="59"/>
                  </a:cubicBezTo>
                  <a:cubicBezTo>
                    <a:pt x="72" y="60"/>
                    <a:pt x="81" y="57"/>
                    <a:pt x="85" y="59"/>
                  </a:cubicBezTo>
                  <a:cubicBezTo>
                    <a:pt x="85" y="59"/>
                    <a:pt x="86" y="59"/>
                    <a:pt x="86" y="60"/>
                  </a:cubicBezTo>
                  <a:cubicBezTo>
                    <a:pt x="92" y="59"/>
                    <a:pt x="92" y="59"/>
                    <a:pt x="92" y="59"/>
                  </a:cubicBezTo>
                  <a:cubicBezTo>
                    <a:pt x="92" y="59"/>
                    <a:pt x="92" y="59"/>
                    <a:pt x="93" y="59"/>
                  </a:cubicBezTo>
                  <a:cubicBezTo>
                    <a:pt x="94" y="61"/>
                    <a:pt x="100" y="62"/>
                    <a:pt x="102" y="60"/>
                  </a:cubicBezTo>
                  <a:cubicBezTo>
                    <a:pt x="105" y="61"/>
                    <a:pt x="110" y="61"/>
                    <a:pt x="113" y="64"/>
                  </a:cubicBezTo>
                  <a:cubicBezTo>
                    <a:pt x="114" y="65"/>
                    <a:pt x="116" y="69"/>
                    <a:pt x="118" y="71"/>
                  </a:cubicBezTo>
                  <a:cubicBezTo>
                    <a:pt x="117" y="72"/>
                    <a:pt x="116" y="74"/>
                    <a:pt x="116" y="75"/>
                  </a:cubicBezTo>
                  <a:cubicBezTo>
                    <a:pt x="114" y="76"/>
                    <a:pt x="108" y="76"/>
                    <a:pt x="106" y="75"/>
                  </a:cubicBezTo>
                  <a:cubicBezTo>
                    <a:pt x="104" y="75"/>
                    <a:pt x="103" y="75"/>
                    <a:pt x="101" y="75"/>
                  </a:cubicBezTo>
                  <a:cubicBezTo>
                    <a:pt x="101" y="75"/>
                    <a:pt x="100" y="74"/>
                    <a:pt x="99" y="75"/>
                  </a:cubicBezTo>
                  <a:cubicBezTo>
                    <a:pt x="97" y="76"/>
                    <a:pt x="90" y="76"/>
                    <a:pt x="88" y="76"/>
                  </a:cubicBezTo>
                  <a:cubicBezTo>
                    <a:pt x="87" y="76"/>
                    <a:pt x="83" y="75"/>
                    <a:pt x="82" y="76"/>
                  </a:cubicBezTo>
                  <a:cubicBezTo>
                    <a:pt x="81" y="76"/>
                    <a:pt x="78" y="74"/>
                    <a:pt x="76" y="75"/>
                  </a:cubicBezTo>
                  <a:cubicBezTo>
                    <a:pt x="74" y="75"/>
                    <a:pt x="65" y="74"/>
                    <a:pt x="61" y="75"/>
                  </a:cubicBezTo>
                  <a:cubicBezTo>
                    <a:pt x="60" y="75"/>
                    <a:pt x="53" y="74"/>
                    <a:pt x="50" y="75"/>
                  </a:cubicBezTo>
                  <a:cubicBezTo>
                    <a:pt x="49" y="75"/>
                    <a:pt x="48" y="75"/>
                    <a:pt x="47" y="76"/>
                  </a:cubicBezTo>
                  <a:cubicBezTo>
                    <a:pt x="46" y="75"/>
                    <a:pt x="45" y="75"/>
                    <a:pt x="44" y="75"/>
                  </a:cubicBezTo>
                  <a:cubicBezTo>
                    <a:pt x="43" y="76"/>
                    <a:pt x="42" y="76"/>
                    <a:pt x="41" y="77"/>
                  </a:cubicBezTo>
                  <a:cubicBezTo>
                    <a:pt x="40" y="77"/>
                    <a:pt x="34" y="77"/>
                    <a:pt x="34" y="77"/>
                  </a:cubicBezTo>
                  <a:cubicBezTo>
                    <a:pt x="33" y="77"/>
                    <a:pt x="33" y="77"/>
                    <a:pt x="32" y="76"/>
                  </a:cubicBezTo>
                  <a:cubicBezTo>
                    <a:pt x="32" y="76"/>
                    <a:pt x="24" y="74"/>
                    <a:pt x="23" y="75"/>
                  </a:cubicBezTo>
                  <a:cubicBezTo>
                    <a:pt x="22" y="74"/>
                    <a:pt x="21" y="74"/>
                    <a:pt x="19" y="72"/>
                  </a:cubicBezTo>
                  <a:cubicBezTo>
                    <a:pt x="17" y="72"/>
                    <a:pt x="18" y="70"/>
                    <a:pt x="16" y="69"/>
                  </a:cubicBezTo>
                  <a:cubicBezTo>
                    <a:pt x="16" y="68"/>
                    <a:pt x="16" y="68"/>
                    <a:pt x="16" y="67"/>
                  </a:cubicBezTo>
                  <a:cubicBezTo>
                    <a:pt x="17" y="67"/>
                    <a:pt x="17" y="66"/>
                    <a:pt x="18" y="65"/>
                  </a:cubicBezTo>
                  <a:cubicBezTo>
                    <a:pt x="23" y="67"/>
                    <a:pt x="40" y="61"/>
                    <a:pt x="44" y="58"/>
                  </a:cubicBezTo>
                  <a:cubicBezTo>
                    <a:pt x="47" y="59"/>
                    <a:pt x="53" y="56"/>
                    <a:pt x="56" y="54"/>
                  </a:cubicBezTo>
                  <a:cubicBezTo>
                    <a:pt x="56" y="53"/>
                    <a:pt x="56" y="52"/>
                    <a:pt x="57" y="51"/>
                  </a:cubicBezTo>
                  <a:cubicBezTo>
                    <a:pt x="58" y="50"/>
                    <a:pt x="60" y="49"/>
                    <a:pt x="61" y="48"/>
                  </a:cubicBezTo>
                  <a:cubicBezTo>
                    <a:pt x="62" y="48"/>
                    <a:pt x="62" y="47"/>
                    <a:pt x="62" y="46"/>
                  </a:cubicBezTo>
                  <a:cubicBezTo>
                    <a:pt x="64" y="45"/>
                    <a:pt x="66" y="43"/>
                    <a:pt x="68" y="42"/>
                  </a:cubicBezTo>
                  <a:cubicBezTo>
                    <a:pt x="70" y="40"/>
                    <a:pt x="71" y="38"/>
                    <a:pt x="72" y="37"/>
                  </a:cubicBezTo>
                  <a:cubicBezTo>
                    <a:pt x="69" y="31"/>
                    <a:pt x="62" y="32"/>
                    <a:pt x="60" y="29"/>
                  </a:cubicBezTo>
                  <a:cubicBezTo>
                    <a:pt x="59" y="29"/>
                    <a:pt x="58" y="28"/>
                    <a:pt x="58" y="28"/>
                  </a:cubicBezTo>
                  <a:cubicBezTo>
                    <a:pt x="54" y="26"/>
                    <a:pt x="53" y="29"/>
                    <a:pt x="50" y="26"/>
                  </a:cubicBezTo>
                  <a:cubicBezTo>
                    <a:pt x="50" y="25"/>
                    <a:pt x="50" y="26"/>
                    <a:pt x="50" y="25"/>
                  </a:cubicBezTo>
                  <a:cubicBezTo>
                    <a:pt x="49" y="25"/>
                    <a:pt x="49" y="25"/>
                    <a:pt x="48" y="25"/>
                  </a:cubicBezTo>
                  <a:cubicBezTo>
                    <a:pt x="47" y="27"/>
                    <a:pt x="44" y="29"/>
                    <a:pt x="42" y="30"/>
                  </a:cubicBezTo>
                  <a:cubicBezTo>
                    <a:pt x="41" y="30"/>
                    <a:pt x="41" y="31"/>
                    <a:pt x="40" y="31"/>
                  </a:cubicBezTo>
                  <a:cubicBezTo>
                    <a:pt x="40" y="35"/>
                    <a:pt x="35" y="36"/>
                    <a:pt x="32" y="37"/>
                  </a:cubicBezTo>
                  <a:cubicBezTo>
                    <a:pt x="27" y="40"/>
                    <a:pt x="24" y="44"/>
                    <a:pt x="20" y="47"/>
                  </a:cubicBezTo>
                  <a:cubicBezTo>
                    <a:pt x="19" y="48"/>
                    <a:pt x="18" y="47"/>
                    <a:pt x="17" y="48"/>
                  </a:cubicBezTo>
                  <a:cubicBezTo>
                    <a:pt x="14" y="49"/>
                    <a:pt x="11" y="50"/>
                    <a:pt x="9" y="53"/>
                  </a:cubicBezTo>
                  <a:cubicBezTo>
                    <a:pt x="7" y="53"/>
                    <a:pt x="7" y="53"/>
                    <a:pt x="6" y="52"/>
                  </a:cubicBezTo>
                  <a:cubicBezTo>
                    <a:pt x="5" y="52"/>
                    <a:pt x="4" y="53"/>
                    <a:pt x="3" y="53"/>
                  </a:cubicBezTo>
                  <a:cubicBezTo>
                    <a:pt x="2" y="53"/>
                    <a:pt x="2" y="53"/>
                    <a:pt x="1" y="52"/>
                  </a:cubicBezTo>
                  <a:cubicBezTo>
                    <a:pt x="1" y="51"/>
                    <a:pt x="0" y="48"/>
                    <a:pt x="0" y="48"/>
                  </a:cubicBezTo>
                  <a:cubicBezTo>
                    <a:pt x="3" y="45"/>
                    <a:pt x="13" y="41"/>
                    <a:pt x="14" y="38"/>
                  </a:cubicBezTo>
                  <a:cubicBezTo>
                    <a:pt x="15" y="38"/>
                    <a:pt x="17" y="34"/>
                    <a:pt x="18" y="33"/>
                  </a:cubicBezTo>
                  <a:cubicBezTo>
                    <a:pt x="19" y="33"/>
                    <a:pt x="19" y="33"/>
                    <a:pt x="20" y="32"/>
                  </a:cubicBezTo>
                  <a:cubicBezTo>
                    <a:pt x="21" y="32"/>
                    <a:pt x="20" y="31"/>
                    <a:pt x="21" y="30"/>
                  </a:cubicBezTo>
                  <a:cubicBezTo>
                    <a:pt x="21" y="30"/>
                    <a:pt x="23" y="30"/>
                    <a:pt x="24" y="29"/>
                  </a:cubicBezTo>
                  <a:cubicBezTo>
                    <a:pt x="24" y="29"/>
                    <a:pt x="24" y="29"/>
                    <a:pt x="24" y="29"/>
                  </a:cubicBezTo>
                  <a:cubicBezTo>
                    <a:pt x="23" y="28"/>
                    <a:pt x="24" y="28"/>
                    <a:pt x="25" y="27"/>
                  </a:cubicBezTo>
                  <a:cubicBezTo>
                    <a:pt x="25" y="27"/>
                    <a:pt x="25" y="27"/>
                    <a:pt x="26" y="27"/>
                  </a:cubicBezTo>
                  <a:cubicBezTo>
                    <a:pt x="26" y="25"/>
                    <a:pt x="30" y="23"/>
                    <a:pt x="31" y="22"/>
                  </a:cubicBezTo>
                  <a:cubicBezTo>
                    <a:pt x="32" y="19"/>
                    <a:pt x="33" y="16"/>
                    <a:pt x="34" y="14"/>
                  </a:cubicBezTo>
                  <a:cubicBezTo>
                    <a:pt x="34" y="14"/>
                    <a:pt x="34" y="13"/>
                    <a:pt x="34" y="13"/>
                  </a:cubicBezTo>
                  <a:cubicBezTo>
                    <a:pt x="35" y="10"/>
                    <a:pt x="30" y="7"/>
                    <a:pt x="31" y="3"/>
                  </a:cubicBezTo>
                  <a:cubicBezTo>
                    <a:pt x="32" y="2"/>
                    <a:pt x="38" y="0"/>
                    <a:pt x="38"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sz="1800"/>
            </a:p>
          </p:txBody>
        </p:sp>
        <p:sp>
          <p:nvSpPr>
            <p:cNvPr id="37" name="Freeform 13"/>
            <p:cNvSpPr>
              <a:spLocks noEditPoints="1"/>
            </p:cNvSpPr>
            <p:nvPr/>
          </p:nvSpPr>
          <p:spPr bwMode="auto">
            <a:xfrm>
              <a:off x="772467" y="6252428"/>
              <a:ext cx="209486" cy="203839"/>
            </a:xfrm>
            <a:custGeom>
              <a:avLst/>
              <a:gdLst>
                <a:gd name="T0" fmla="*/ 150 w 156"/>
                <a:gd name="T1" fmla="*/ 104 h 151"/>
                <a:gd name="T2" fmla="*/ 142 w 156"/>
                <a:gd name="T3" fmla="*/ 107 h 151"/>
                <a:gd name="T4" fmla="*/ 118 w 156"/>
                <a:gd name="T5" fmla="*/ 108 h 151"/>
                <a:gd name="T6" fmla="*/ 95 w 156"/>
                <a:gd name="T7" fmla="*/ 111 h 151"/>
                <a:gd name="T8" fmla="*/ 83 w 156"/>
                <a:gd name="T9" fmla="*/ 110 h 151"/>
                <a:gd name="T10" fmla="*/ 72 w 156"/>
                <a:gd name="T11" fmla="*/ 107 h 151"/>
                <a:gd name="T12" fmla="*/ 91 w 156"/>
                <a:gd name="T13" fmla="*/ 86 h 151"/>
                <a:gd name="T14" fmla="*/ 125 w 156"/>
                <a:gd name="T15" fmla="*/ 82 h 151"/>
                <a:gd name="T16" fmla="*/ 126 w 156"/>
                <a:gd name="T17" fmla="*/ 73 h 151"/>
                <a:gd name="T18" fmla="*/ 112 w 156"/>
                <a:gd name="T19" fmla="*/ 64 h 151"/>
                <a:gd name="T20" fmla="*/ 98 w 156"/>
                <a:gd name="T21" fmla="*/ 64 h 151"/>
                <a:gd name="T22" fmla="*/ 74 w 156"/>
                <a:gd name="T23" fmla="*/ 64 h 151"/>
                <a:gd name="T24" fmla="*/ 75 w 156"/>
                <a:gd name="T25" fmla="*/ 51 h 151"/>
                <a:gd name="T26" fmla="*/ 122 w 156"/>
                <a:gd name="T27" fmla="*/ 47 h 151"/>
                <a:gd name="T28" fmla="*/ 122 w 156"/>
                <a:gd name="T29" fmla="*/ 37 h 151"/>
                <a:gd name="T30" fmla="*/ 84 w 156"/>
                <a:gd name="T31" fmla="*/ 31 h 151"/>
                <a:gd name="T32" fmla="*/ 70 w 156"/>
                <a:gd name="T33" fmla="*/ 28 h 151"/>
                <a:gd name="T34" fmla="*/ 63 w 156"/>
                <a:gd name="T35" fmla="*/ 22 h 151"/>
                <a:gd name="T36" fmla="*/ 45 w 156"/>
                <a:gd name="T37" fmla="*/ 33 h 151"/>
                <a:gd name="T38" fmla="*/ 19 w 156"/>
                <a:gd name="T39" fmla="*/ 31 h 151"/>
                <a:gd name="T40" fmla="*/ 20 w 156"/>
                <a:gd name="T41" fmla="*/ 20 h 151"/>
                <a:gd name="T42" fmla="*/ 18 w 156"/>
                <a:gd name="T43" fmla="*/ 5 h 151"/>
                <a:gd name="T44" fmla="*/ 11 w 156"/>
                <a:gd name="T45" fmla="*/ 0 h 151"/>
                <a:gd name="T46" fmla="*/ 8 w 156"/>
                <a:gd name="T47" fmla="*/ 27 h 151"/>
                <a:gd name="T48" fmla="*/ 8 w 156"/>
                <a:gd name="T49" fmla="*/ 41 h 151"/>
                <a:gd name="T50" fmla="*/ 5 w 156"/>
                <a:gd name="T51" fmla="*/ 68 h 151"/>
                <a:gd name="T52" fmla="*/ 5 w 156"/>
                <a:gd name="T53" fmla="*/ 82 h 151"/>
                <a:gd name="T54" fmla="*/ 1 w 156"/>
                <a:gd name="T55" fmla="*/ 119 h 151"/>
                <a:gd name="T56" fmla="*/ 5 w 156"/>
                <a:gd name="T57" fmla="*/ 150 h 151"/>
                <a:gd name="T58" fmla="*/ 11 w 156"/>
                <a:gd name="T59" fmla="*/ 148 h 151"/>
                <a:gd name="T60" fmla="*/ 13 w 156"/>
                <a:gd name="T61" fmla="*/ 143 h 151"/>
                <a:gd name="T62" fmla="*/ 25 w 156"/>
                <a:gd name="T63" fmla="*/ 137 h 151"/>
                <a:gd name="T64" fmla="*/ 39 w 156"/>
                <a:gd name="T65" fmla="*/ 134 h 151"/>
                <a:gd name="T66" fmla="*/ 58 w 156"/>
                <a:gd name="T67" fmla="*/ 134 h 151"/>
                <a:gd name="T68" fmla="*/ 82 w 156"/>
                <a:gd name="T69" fmla="*/ 135 h 151"/>
                <a:gd name="T70" fmla="*/ 113 w 156"/>
                <a:gd name="T71" fmla="*/ 142 h 151"/>
                <a:gd name="T72" fmla="*/ 131 w 156"/>
                <a:gd name="T73" fmla="*/ 147 h 151"/>
                <a:gd name="T74" fmla="*/ 147 w 156"/>
                <a:gd name="T75" fmla="*/ 143 h 151"/>
                <a:gd name="T76" fmla="*/ 153 w 156"/>
                <a:gd name="T77" fmla="*/ 133 h 151"/>
                <a:gd name="T78" fmla="*/ 56 w 156"/>
                <a:gd name="T79" fmla="*/ 109 h 151"/>
                <a:gd name="T80" fmla="*/ 46 w 156"/>
                <a:gd name="T81" fmla="*/ 112 h 151"/>
                <a:gd name="T82" fmla="*/ 20 w 156"/>
                <a:gd name="T83" fmla="*/ 114 h 151"/>
                <a:gd name="T84" fmla="*/ 28 w 156"/>
                <a:gd name="T85" fmla="*/ 92 h 151"/>
                <a:gd name="T86" fmla="*/ 44 w 156"/>
                <a:gd name="T87" fmla="*/ 87 h 151"/>
                <a:gd name="T88" fmla="*/ 60 w 156"/>
                <a:gd name="T89" fmla="*/ 60 h 151"/>
                <a:gd name="T90" fmla="*/ 43 w 156"/>
                <a:gd name="T91" fmla="*/ 67 h 151"/>
                <a:gd name="T92" fmla="*/ 20 w 156"/>
                <a:gd name="T93" fmla="*/ 71 h 151"/>
                <a:gd name="T94" fmla="*/ 46 w 156"/>
                <a:gd name="T95" fmla="*/ 51 h 151"/>
                <a:gd name="T96" fmla="*/ 59 w 156"/>
                <a:gd name="T97" fmla="*/ 4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6" h="151">
                  <a:moveTo>
                    <a:pt x="156" y="123"/>
                  </a:moveTo>
                  <a:cubicBezTo>
                    <a:pt x="156" y="122"/>
                    <a:pt x="155" y="117"/>
                    <a:pt x="155" y="117"/>
                  </a:cubicBezTo>
                  <a:cubicBezTo>
                    <a:pt x="154" y="115"/>
                    <a:pt x="149" y="107"/>
                    <a:pt x="150" y="104"/>
                  </a:cubicBezTo>
                  <a:cubicBezTo>
                    <a:pt x="149" y="103"/>
                    <a:pt x="149" y="103"/>
                    <a:pt x="147" y="103"/>
                  </a:cubicBezTo>
                  <a:cubicBezTo>
                    <a:pt x="147" y="105"/>
                    <a:pt x="145" y="106"/>
                    <a:pt x="143" y="108"/>
                  </a:cubicBezTo>
                  <a:cubicBezTo>
                    <a:pt x="142" y="108"/>
                    <a:pt x="142" y="108"/>
                    <a:pt x="142" y="107"/>
                  </a:cubicBezTo>
                  <a:cubicBezTo>
                    <a:pt x="142" y="106"/>
                    <a:pt x="141" y="106"/>
                    <a:pt x="141" y="106"/>
                  </a:cubicBezTo>
                  <a:cubicBezTo>
                    <a:pt x="139" y="109"/>
                    <a:pt x="123" y="105"/>
                    <a:pt x="120" y="109"/>
                  </a:cubicBezTo>
                  <a:cubicBezTo>
                    <a:pt x="119" y="109"/>
                    <a:pt x="119" y="109"/>
                    <a:pt x="118" y="108"/>
                  </a:cubicBezTo>
                  <a:cubicBezTo>
                    <a:pt x="115" y="110"/>
                    <a:pt x="105" y="112"/>
                    <a:pt x="103" y="110"/>
                  </a:cubicBezTo>
                  <a:cubicBezTo>
                    <a:pt x="103" y="110"/>
                    <a:pt x="102" y="111"/>
                    <a:pt x="102" y="111"/>
                  </a:cubicBezTo>
                  <a:cubicBezTo>
                    <a:pt x="102" y="110"/>
                    <a:pt x="96" y="111"/>
                    <a:pt x="95" y="111"/>
                  </a:cubicBezTo>
                  <a:cubicBezTo>
                    <a:pt x="94" y="110"/>
                    <a:pt x="89" y="110"/>
                    <a:pt x="88" y="110"/>
                  </a:cubicBezTo>
                  <a:cubicBezTo>
                    <a:pt x="87" y="110"/>
                    <a:pt x="87" y="111"/>
                    <a:pt x="86" y="111"/>
                  </a:cubicBezTo>
                  <a:cubicBezTo>
                    <a:pt x="85" y="111"/>
                    <a:pt x="84" y="110"/>
                    <a:pt x="83" y="110"/>
                  </a:cubicBezTo>
                  <a:cubicBezTo>
                    <a:pt x="83" y="110"/>
                    <a:pt x="82" y="111"/>
                    <a:pt x="81" y="111"/>
                  </a:cubicBezTo>
                  <a:cubicBezTo>
                    <a:pt x="81" y="111"/>
                    <a:pt x="81" y="111"/>
                    <a:pt x="80" y="111"/>
                  </a:cubicBezTo>
                  <a:cubicBezTo>
                    <a:pt x="78" y="109"/>
                    <a:pt x="75" y="109"/>
                    <a:pt x="72" y="107"/>
                  </a:cubicBezTo>
                  <a:cubicBezTo>
                    <a:pt x="74" y="101"/>
                    <a:pt x="76" y="97"/>
                    <a:pt x="75" y="89"/>
                  </a:cubicBezTo>
                  <a:cubicBezTo>
                    <a:pt x="76" y="89"/>
                    <a:pt x="76" y="88"/>
                    <a:pt x="77" y="87"/>
                  </a:cubicBezTo>
                  <a:cubicBezTo>
                    <a:pt x="78" y="87"/>
                    <a:pt x="90" y="86"/>
                    <a:pt x="91" y="86"/>
                  </a:cubicBezTo>
                  <a:cubicBezTo>
                    <a:pt x="97" y="87"/>
                    <a:pt x="109" y="90"/>
                    <a:pt x="113" y="87"/>
                  </a:cubicBezTo>
                  <a:cubicBezTo>
                    <a:pt x="115" y="87"/>
                    <a:pt x="117" y="88"/>
                    <a:pt x="119" y="88"/>
                  </a:cubicBezTo>
                  <a:cubicBezTo>
                    <a:pt x="121" y="87"/>
                    <a:pt x="124" y="84"/>
                    <a:pt x="125" y="82"/>
                  </a:cubicBezTo>
                  <a:cubicBezTo>
                    <a:pt x="126" y="80"/>
                    <a:pt x="124" y="77"/>
                    <a:pt x="126" y="76"/>
                  </a:cubicBezTo>
                  <a:cubicBezTo>
                    <a:pt x="125" y="75"/>
                    <a:pt x="126" y="75"/>
                    <a:pt x="125" y="75"/>
                  </a:cubicBezTo>
                  <a:cubicBezTo>
                    <a:pt x="125" y="74"/>
                    <a:pt x="125" y="73"/>
                    <a:pt x="126" y="73"/>
                  </a:cubicBezTo>
                  <a:cubicBezTo>
                    <a:pt x="128" y="70"/>
                    <a:pt x="118" y="66"/>
                    <a:pt x="117" y="65"/>
                  </a:cubicBezTo>
                  <a:cubicBezTo>
                    <a:pt x="117" y="65"/>
                    <a:pt x="117" y="65"/>
                    <a:pt x="117" y="65"/>
                  </a:cubicBezTo>
                  <a:cubicBezTo>
                    <a:pt x="116" y="65"/>
                    <a:pt x="113" y="64"/>
                    <a:pt x="112" y="64"/>
                  </a:cubicBezTo>
                  <a:cubicBezTo>
                    <a:pt x="100" y="64"/>
                    <a:pt x="100" y="64"/>
                    <a:pt x="100" y="64"/>
                  </a:cubicBezTo>
                  <a:cubicBezTo>
                    <a:pt x="100" y="64"/>
                    <a:pt x="99" y="64"/>
                    <a:pt x="99" y="64"/>
                  </a:cubicBezTo>
                  <a:cubicBezTo>
                    <a:pt x="98" y="64"/>
                    <a:pt x="99" y="64"/>
                    <a:pt x="98" y="64"/>
                  </a:cubicBezTo>
                  <a:cubicBezTo>
                    <a:pt x="88" y="63"/>
                    <a:pt x="88" y="63"/>
                    <a:pt x="88" y="63"/>
                  </a:cubicBezTo>
                  <a:cubicBezTo>
                    <a:pt x="87" y="64"/>
                    <a:pt x="84" y="65"/>
                    <a:pt x="83" y="65"/>
                  </a:cubicBezTo>
                  <a:cubicBezTo>
                    <a:pt x="80" y="66"/>
                    <a:pt x="78" y="64"/>
                    <a:pt x="74" y="64"/>
                  </a:cubicBezTo>
                  <a:cubicBezTo>
                    <a:pt x="73" y="61"/>
                    <a:pt x="71" y="60"/>
                    <a:pt x="73" y="57"/>
                  </a:cubicBezTo>
                  <a:cubicBezTo>
                    <a:pt x="73" y="56"/>
                    <a:pt x="73" y="55"/>
                    <a:pt x="73" y="54"/>
                  </a:cubicBezTo>
                  <a:cubicBezTo>
                    <a:pt x="74" y="53"/>
                    <a:pt x="75" y="52"/>
                    <a:pt x="75" y="51"/>
                  </a:cubicBezTo>
                  <a:cubicBezTo>
                    <a:pt x="77" y="51"/>
                    <a:pt x="83" y="50"/>
                    <a:pt x="84" y="50"/>
                  </a:cubicBezTo>
                  <a:cubicBezTo>
                    <a:pt x="90" y="53"/>
                    <a:pt x="116" y="51"/>
                    <a:pt x="122" y="48"/>
                  </a:cubicBezTo>
                  <a:cubicBezTo>
                    <a:pt x="121" y="48"/>
                    <a:pt x="122" y="47"/>
                    <a:pt x="122" y="47"/>
                  </a:cubicBezTo>
                  <a:cubicBezTo>
                    <a:pt x="124" y="44"/>
                    <a:pt x="123" y="42"/>
                    <a:pt x="124" y="39"/>
                  </a:cubicBezTo>
                  <a:cubicBezTo>
                    <a:pt x="124" y="39"/>
                    <a:pt x="124" y="39"/>
                    <a:pt x="124" y="39"/>
                  </a:cubicBezTo>
                  <a:cubicBezTo>
                    <a:pt x="123" y="38"/>
                    <a:pt x="122" y="38"/>
                    <a:pt x="122" y="37"/>
                  </a:cubicBezTo>
                  <a:cubicBezTo>
                    <a:pt x="121" y="36"/>
                    <a:pt x="122" y="35"/>
                    <a:pt x="121" y="34"/>
                  </a:cubicBezTo>
                  <a:cubicBezTo>
                    <a:pt x="118" y="33"/>
                    <a:pt x="112" y="34"/>
                    <a:pt x="110" y="33"/>
                  </a:cubicBezTo>
                  <a:cubicBezTo>
                    <a:pt x="105" y="30"/>
                    <a:pt x="87" y="30"/>
                    <a:pt x="84" y="31"/>
                  </a:cubicBezTo>
                  <a:cubicBezTo>
                    <a:pt x="79" y="33"/>
                    <a:pt x="76" y="31"/>
                    <a:pt x="73" y="31"/>
                  </a:cubicBezTo>
                  <a:cubicBezTo>
                    <a:pt x="72" y="30"/>
                    <a:pt x="71" y="29"/>
                    <a:pt x="70" y="29"/>
                  </a:cubicBezTo>
                  <a:cubicBezTo>
                    <a:pt x="70" y="29"/>
                    <a:pt x="70" y="29"/>
                    <a:pt x="70" y="28"/>
                  </a:cubicBezTo>
                  <a:cubicBezTo>
                    <a:pt x="69" y="27"/>
                    <a:pt x="68" y="26"/>
                    <a:pt x="68" y="24"/>
                  </a:cubicBezTo>
                  <a:cubicBezTo>
                    <a:pt x="67" y="23"/>
                    <a:pt x="66" y="22"/>
                    <a:pt x="65" y="22"/>
                  </a:cubicBezTo>
                  <a:cubicBezTo>
                    <a:pt x="64" y="22"/>
                    <a:pt x="64" y="22"/>
                    <a:pt x="63" y="22"/>
                  </a:cubicBezTo>
                  <a:cubicBezTo>
                    <a:pt x="62" y="24"/>
                    <a:pt x="59" y="27"/>
                    <a:pt x="57" y="30"/>
                  </a:cubicBezTo>
                  <a:cubicBezTo>
                    <a:pt x="58" y="31"/>
                    <a:pt x="53" y="32"/>
                    <a:pt x="52" y="32"/>
                  </a:cubicBezTo>
                  <a:cubicBezTo>
                    <a:pt x="51" y="31"/>
                    <a:pt x="47" y="33"/>
                    <a:pt x="45" y="33"/>
                  </a:cubicBezTo>
                  <a:cubicBezTo>
                    <a:pt x="45" y="32"/>
                    <a:pt x="42" y="32"/>
                    <a:pt x="41" y="33"/>
                  </a:cubicBezTo>
                  <a:cubicBezTo>
                    <a:pt x="36" y="34"/>
                    <a:pt x="27" y="35"/>
                    <a:pt x="23" y="35"/>
                  </a:cubicBezTo>
                  <a:cubicBezTo>
                    <a:pt x="23" y="34"/>
                    <a:pt x="20" y="31"/>
                    <a:pt x="19" y="31"/>
                  </a:cubicBezTo>
                  <a:cubicBezTo>
                    <a:pt x="19" y="30"/>
                    <a:pt x="19" y="29"/>
                    <a:pt x="19" y="28"/>
                  </a:cubicBezTo>
                  <a:cubicBezTo>
                    <a:pt x="20" y="25"/>
                    <a:pt x="20" y="23"/>
                    <a:pt x="20" y="20"/>
                  </a:cubicBezTo>
                  <a:cubicBezTo>
                    <a:pt x="20" y="21"/>
                    <a:pt x="20" y="20"/>
                    <a:pt x="20" y="20"/>
                  </a:cubicBezTo>
                  <a:cubicBezTo>
                    <a:pt x="20" y="19"/>
                    <a:pt x="21" y="16"/>
                    <a:pt x="21" y="14"/>
                  </a:cubicBezTo>
                  <a:cubicBezTo>
                    <a:pt x="20" y="13"/>
                    <a:pt x="20" y="13"/>
                    <a:pt x="19" y="12"/>
                  </a:cubicBezTo>
                  <a:cubicBezTo>
                    <a:pt x="18" y="9"/>
                    <a:pt x="19" y="7"/>
                    <a:pt x="18" y="5"/>
                  </a:cubicBezTo>
                  <a:cubicBezTo>
                    <a:pt x="18" y="5"/>
                    <a:pt x="18" y="5"/>
                    <a:pt x="18" y="5"/>
                  </a:cubicBezTo>
                  <a:cubicBezTo>
                    <a:pt x="17" y="4"/>
                    <a:pt x="14" y="2"/>
                    <a:pt x="13" y="0"/>
                  </a:cubicBezTo>
                  <a:cubicBezTo>
                    <a:pt x="12" y="0"/>
                    <a:pt x="12" y="0"/>
                    <a:pt x="11" y="0"/>
                  </a:cubicBezTo>
                  <a:cubicBezTo>
                    <a:pt x="10" y="2"/>
                    <a:pt x="12" y="5"/>
                    <a:pt x="11" y="8"/>
                  </a:cubicBezTo>
                  <a:cubicBezTo>
                    <a:pt x="8" y="13"/>
                    <a:pt x="8" y="19"/>
                    <a:pt x="7" y="24"/>
                  </a:cubicBezTo>
                  <a:cubicBezTo>
                    <a:pt x="7" y="25"/>
                    <a:pt x="8" y="26"/>
                    <a:pt x="8" y="27"/>
                  </a:cubicBezTo>
                  <a:cubicBezTo>
                    <a:pt x="8" y="27"/>
                    <a:pt x="8" y="32"/>
                    <a:pt x="8" y="32"/>
                  </a:cubicBezTo>
                  <a:cubicBezTo>
                    <a:pt x="8" y="32"/>
                    <a:pt x="8" y="33"/>
                    <a:pt x="8" y="34"/>
                  </a:cubicBezTo>
                  <a:cubicBezTo>
                    <a:pt x="7" y="37"/>
                    <a:pt x="8" y="39"/>
                    <a:pt x="8" y="41"/>
                  </a:cubicBezTo>
                  <a:cubicBezTo>
                    <a:pt x="9" y="44"/>
                    <a:pt x="7" y="46"/>
                    <a:pt x="7" y="48"/>
                  </a:cubicBezTo>
                  <a:cubicBezTo>
                    <a:pt x="6" y="50"/>
                    <a:pt x="8" y="54"/>
                    <a:pt x="7" y="55"/>
                  </a:cubicBezTo>
                  <a:cubicBezTo>
                    <a:pt x="5" y="60"/>
                    <a:pt x="6" y="64"/>
                    <a:pt x="5" y="68"/>
                  </a:cubicBezTo>
                  <a:cubicBezTo>
                    <a:pt x="6" y="69"/>
                    <a:pt x="6" y="70"/>
                    <a:pt x="6" y="71"/>
                  </a:cubicBezTo>
                  <a:cubicBezTo>
                    <a:pt x="6" y="71"/>
                    <a:pt x="6" y="71"/>
                    <a:pt x="6" y="71"/>
                  </a:cubicBezTo>
                  <a:cubicBezTo>
                    <a:pt x="5" y="74"/>
                    <a:pt x="4" y="79"/>
                    <a:pt x="5" y="82"/>
                  </a:cubicBezTo>
                  <a:cubicBezTo>
                    <a:pt x="5" y="90"/>
                    <a:pt x="3" y="97"/>
                    <a:pt x="5" y="100"/>
                  </a:cubicBezTo>
                  <a:cubicBezTo>
                    <a:pt x="5" y="102"/>
                    <a:pt x="2" y="106"/>
                    <a:pt x="2" y="108"/>
                  </a:cubicBezTo>
                  <a:cubicBezTo>
                    <a:pt x="3" y="113"/>
                    <a:pt x="1" y="118"/>
                    <a:pt x="1" y="119"/>
                  </a:cubicBezTo>
                  <a:cubicBezTo>
                    <a:pt x="0" y="126"/>
                    <a:pt x="1" y="139"/>
                    <a:pt x="2" y="142"/>
                  </a:cubicBezTo>
                  <a:cubicBezTo>
                    <a:pt x="2" y="142"/>
                    <a:pt x="4" y="144"/>
                    <a:pt x="4" y="144"/>
                  </a:cubicBezTo>
                  <a:cubicBezTo>
                    <a:pt x="5" y="145"/>
                    <a:pt x="4" y="148"/>
                    <a:pt x="5" y="150"/>
                  </a:cubicBezTo>
                  <a:cubicBezTo>
                    <a:pt x="5" y="150"/>
                    <a:pt x="6" y="150"/>
                    <a:pt x="6" y="151"/>
                  </a:cubicBezTo>
                  <a:cubicBezTo>
                    <a:pt x="7" y="151"/>
                    <a:pt x="8" y="150"/>
                    <a:pt x="10" y="150"/>
                  </a:cubicBezTo>
                  <a:cubicBezTo>
                    <a:pt x="10" y="149"/>
                    <a:pt x="11" y="149"/>
                    <a:pt x="11" y="148"/>
                  </a:cubicBezTo>
                  <a:cubicBezTo>
                    <a:pt x="11" y="147"/>
                    <a:pt x="11" y="146"/>
                    <a:pt x="11" y="145"/>
                  </a:cubicBezTo>
                  <a:cubicBezTo>
                    <a:pt x="11" y="145"/>
                    <a:pt x="11" y="145"/>
                    <a:pt x="11" y="145"/>
                  </a:cubicBezTo>
                  <a:cubicBezTo>
                    <a:pt x="12" y="144"/>
                    <a:pt x="13" y="144"/>
                    <a:pt x="13" y="143"/>
                  </a:cubicBezTo>
                  <a:cubicBezTo>
                    <a:pt x="14" y="142"/>
                    <a:pt x="13" y="141"/>
                    <a:pt x="14" y="141"/>
                  </a:cubicBezTo>
                  <a:cubicBezTo>
                    <a:pt x="15" y="138"/>
                    <a:pt x="21" y="139"/>
                    <a:pt x="21" y="139"/>
                  </a:cubicBezTo>
                  <a:cubicBezTo>
                    <a:pt x="23" y="138"/>
                    <a:pt x="24" y="137"/>
                    <a:pt x="25" y="137"/>
                  </a:cubicBezTo>
                  <a:cubicBezTo>
                    <a:pt x="26" y="137"/>
                    <a:pt x="27" y="138"/>
                    <a:pt x="28" y="137"/>
                  </a:cubicBezTo>
                  <a:cubicBezTo>
                    <a:pt x="30" y="136"/>
                    <a:pt x="32" y="135"/>
                    <a:pt x="33" y="134"/>
                  </a:cubicBezTo>
                  <a:cubicBezTo>
                    <a:pt x="35" y="134"/>
                    <a:pt x="38" y="134"/>
                    <a:pt x="39" y="134"/>
                  </a:cubicBezTo>
                  <a:cubicBezTo>
                    <a:pt x="41" y="133"/>
                    <a:pt x="50" y="134"/>
                    <a:pt x="51" y="134"/>
                  </a:cubicBezTo>
                  <a:cubicBezTo>
                    <a:pt x="51" y="134"/>
                    <a:pt x="52" y="134"/>
                    <a:pt x="52" y="134"/>
                  </a:cubicBezTo>
                  <a:cubicBezTo>
                    <a:pt x="53" y="133"/>
                    <a:pt x="58" y="134"/>
                    <a:pt x="58" y="134"/>
                  </a:cubicBezTo>
                  <a:cubicBezTo>
                    <a:pt x="59" y="134"/>
                    <a:pt x="63" y="134"/>
                    <a:pt x="64" y="134"/>
                  </a:cubicBezTo>
                  <a:cubicBezTo>
                    <a:pt x="68" y="134"/>
                    <a:pt x="69" y="134"/>
                    <a:pt x="73" y="135"/>
                  </a:cubicBezTo>
                  <a:cubicBezTo>
                    <a:pt x="74" y="135"/>
                    <a:pt x="81" y="135"/>
                    <a:pt x="82" y="135"/>
                  </a:cubicBezTo>
                  <a:cubicBezTo>
                    <a:pt x="84" y="137"/>
                    <a:pt x="87" y="137"/>
                    <a:pt x="89" y="139"/>
                  </a:cubicBezTo>
                  <a:cubicBezTo>
                    <a:pt x="90" y="137"/>
                    <a:pt x="101" y="140"/>
                    <a:pt x="103" y="140"/>
                  </a:cubicBezTo>
                  <a:cubicBezTo>
                    <a:pt x="107" y="139"/>
                    <a:pt x="112" y="142"/>
                    <a:pt x="113" y="142"/>
                  </a:cubicBezTo>
                  <a:cubicBezTo>
                    <a:pt x="116" y="141"/>
                    <a:pt x="116" y="143"/>
                    <a:pt x="117" y="144"/>
                  </a:cubicBezTo>
                  <a:cubicBezTo>
                    <a:pt x="119" y="144"/>
                    <a:pt x="120" y="144"/>
                    <a:pt x="121" y="144"/>
                  </a:cubicBezTo>
                  <a:cubicBezTo>
                    <a:pt x="125" y="146"/>
                    <a:pt x="127" y="147"/>
                    <a:pt x="131" y="147"/>
                  </a:cubicBezTo>
                  <a:cubicBezTo>
                    <a:pt x="133" y="148"/>
                    <a:pt x="138" y="148"/>
                    <a:pt x="138" y="148"/>
                  </a:cubicBezTo>
                  <a:cubicBezTo>
                    <a:pt x="139" y="147"/>
                    <a:pt x="143" y="146"/>
                    <a:pt x="144" y="146"/>
                  </a:cubicBezTo>
                  <a:cubicBezTo>
                    <a:pt x="145" y="145"/>
                    <a:pt x="146" y="144"/>
                    <a:pt x="147" y="143"/>
                  </a:cubicBezTo>
                  <a:cubicBezTo>
                    <a:pt x="147" y="143"/>
                    <a:pt x="147" y="142"/>
                    <a:pt x="147" y="142"/>
                  </a:cubicBezTo>
                  <a:cubicBezTo>
                    <a:pt x="147" y="141"/>
                    <a:pt x="150" y="140"/>
                    <a:pt x="150" y="140"/>
                  </a:cubicBezTo>
                  <a:cubicBezTo>
                    <a:pt x="152" y="138"/>
                    <a:pt x="151" y="135"/>
                    <a:pt x="153" y="133"/>
                  </a:cubicBezTo>
                  <a:cubicBezTo>
                    <a:pt x="154" y="132"/>
                    <a:pt x="155" y="132"/>
                    <a:pt x="155" y="130"/>
                  </a:cubicBezTo>
                  <a:cubicBezTo>
                    <a:pt x="154" y="129"/>
                    <a:pt x="156" y="124"/>
                    <a:pt x="156" y="123"/>
                  </a:cubicBezTo>
                  <a:close/>
                  <a:moveTo>
                    <a:pt x="56" y="109"/>
                  </a:moveTo>
                  <a:cubicBezTo>
                    <a:pt x="54" y="111"/>
                    <a:pt x="52" y="110"/>
                    <a:pt x="49" y="111"/>
                  </a:cubicBezTo>
                  <a:cubicBezTo>
                    <a:pt x="49" y="111"/>
                    <a:pt x="48" y="111"/>
                    <a:pt x="47" y="111"/>
                  </a:cubicBezTo>
                  <a:cubicBezTo>
                    <a:pt x="47" y="111"/>
                    <a:pt x="47" y="111"/>
                    <a:pt x="46" y="112"/>
                  </a:cubicBezTo>
                  <a:cubicBezTo>
                    <a:pt x="45" y="112"/>
                    <a:pt x="43" y="112"/>
                    <a:pt x="42" y="112"/>
                  </a:cubicBezTo>
                  <a:cubicBezTo>
                    <a:pt x="40" y="112"/>
                    <a:pt x="39" y="112"/>
                    <a:pt x="37" y="112"/>
                  </a:cubicBezTo>
                  <a:cubicBezTo>
                    <a:pt x="33" y="114"/>
                    <a:pt x="25" y="114"/>
                    <a:pt x="20" y="114"/>
                  </a:cubicBezTo>
                  <a:cubicBezTo>
                    <a:pt x="20" y="114"/>
                    <a:pt x="19" y="113"/>
                    <a:pt x="19" y="112"/>
                  </a:cubicBezTo>
                  <a:cubicBezTo>
                    <a:pt x="18" y="111"/>
                    <a:pt x="18" y="98"/>
                    <a:pt x="19" y="97"/>
                  </a:cubicBezTo>
                  <a:cubicBezTo>
                    <a:pt x="19" y="97"/>
                    <a:pt x="28" y="92"/>
                    <a:pt x="28" y="92"/>
                  </a:cubicBezTo>
                  <a:cubicBezTo>
                    <a:pt x="29" y="92"/>
                    <a:pt x="29" y="92"/>
                    <a:pt x="30" y="92"/>
                  </a:cubicBezTo>
                  <a:cubicBezTo>
                    <a:pt x="31" y="91"/>
                    <a:pt x="32" y="90"/>
                    <a:pt x="34" y="89"/>
                  </a:cubicBezTo>
                  <a:cubicBezTo>
                    <a:pt x="36" y="88"/>
                    <a:pt x="42" y="89"/>
                    <a:pt x="44" y="87"/>
                  </a:cubicBezTo>
                  <a:cubicBezTo>
                    <a:pt x="48" y="88"/>
                    <a:pt x="55" y="87"/>
                    <a:pt x="59" y="89"/>
                  </a:cubicBezTo>
                  <a:cubicBezTo>
                    <a:pt x="61" y="95"/>
                    <a:pt x="59" y="107"/>
                    <a:pt x="56" y="109"/>
                  </a:cubicBezTo>
                  <a:close/>
                  <a:moveTo>
                    <a:pt x="60" y="60"/>
                  </a:moveTo>
                  <a:cubicBezTo>
                    <a:pt x="60" y="62"/>
                    <a:pt x="60" y="64"/>
                    <a:pt x="59" y="64"/>
                  </a:cubicBezTo>
                  <a:cubicBezTo>
                    <a:pt x="57" y="66"/>
                    <a:pt x="53" y="68"/>
                    <a:pt x="49" y="67"/>
                  </a:cubicBezTo>
                  <a:cubicBezTo>
                    <a:pt x="48" y="67"/>
                    <a:pt x="45" y="67"/>
                    <a:pt x="43" y="67"/>
                  </a:cubicBezTo>
                  <a:cubicBezTo>
                    <a:pt x="42" y="67"/>
                    <a:pt x="40" y="68"/>
                    <a:pt x="39" y="68"/>
                  </a:cubicBezTo>
                  <a:cubicBezTo>
                    <a:pt x="38" y="68"/>
                    <a:pt x="37" y="68"/>
                    <a:pt x="36" y="68"/>
                  </a:cubicBezTo>
                  <a:cubicBezTo>
                    <a:pt x="29" y="70"/>
                    <a:pt x="27" y="71"/>
                    <a:pt x="20" y="71"/>
                  </a:cubicBezTo>
                  <a:cubicBezTo>
                    <a:pt x="15" y="59"/>
                    <a:pt x="24" y="56"/>
                    <a:pt x="33" y="51"/>
                  </a:cubicBezTo>
                  <a:cubicBezTo>
                    <a:pt x="35" y="50"/>
                    <a:pt x="38" y="52"/>
                    <a:pt x="40" y="52"/>
                  </a:cubicBezTo>
                  <a:cubicBezTo>
                    <a:pt x="42" y="51"/>
                    <a:pt x="44" y="52"/>
                    <a:pt x="46" y="51"/>
                  </a:cubicBezTo>
                  <a:cubicBezTo>
                    <a:pt x="47" y="51"/>
                    <a:pt x="49" y="49"/>
                    <a:pt x="50" y="49"/>
                  </a:cubicBezTo>
                  <a:cubicBezTo>
                    <a:pt x="51" y="48"/>
                    <a:pt x="53" y="49"/>
                    <a:pt x="54" y="48"/>
                  </a:cubicBezTo>
                  <a:cubicBezTo>
                    <a:pt x="56" y="48"/>
                    <a:pt x="57" y="49"/>
                    <a:pt x="59" y="49"/>
                  </a:cubicBezTo>
                  <a:cubicBezTo>
                    <a:pt x="62" y="52"/>
                    <a:pt x="61" y="55"/>
                    <a:pt x="60" y="6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sz="1800"/>
            </a:p>
          </p:txBody>
        </p:sp>
        <p:sp>
          <p:nvSpPr>
            <p:cNvPr id="38" name="Freeform 14"/>
            <p:cNvSpPr>
              <a:spLocks noEditPoints="1"/>
            </p:cNvSpPr>
            <p:nvPr/>
          </p:nvSpPr>
          <p:spPr bwMode="auto">
            <a:xfrm>
              <a:off x="1879184" y="6167731"/>
              <a:ext cx="368717" cy="153585"/>
            </a:xfrm>
            <a:custGeom>
              <a:avLst/>
              <a:gdLst>
                <a:gd name="T0" fmla="*/ 262 w 275"/>
                <a:gd name="T1" fmla="*/ 71 h 114"/>
                <a:gd name="T2" fmla="*/ 242 w 275"/>
                <a:gd name="T3" fmla="*/ 70 h 114"/>
                <a:gd name="T4" fmla="*/ 227 w 275"/>
                <a:gd name="T5" fmla="*/ 69 h 114"/>
                <a:gd name="T6" fmla="*/ 178 w 275"/>
                <a:gd name="T7" fmla="*/ 63 h 114"/>
                <a:gd name="T8" fmla="*/ 186 w 275"/>
                <a:gd name="T9" fmla="*/ 34 h 114"/>
                <a:gd name="T10" fmla="*/ 121 w 275"/>
                <a:gd name="T11" fmla="*/ 40 h 114"/>
                <a:gd name="T12" fmla="*/ 96 w 275"/>
                <a:gd name="T13" fmla="*/ 36 h 114"/>
                <a:gd name="T14" fmla="*/ 104 w 275"/>
                <a:gd name="T15" fmla="*/ 28 h 114"/>
                <a:gd name="T16" fmla="*/ 126 w 275"/>
                <a:gd name="T17" fmla="*/ 32 h 114"/>
                <a:gd name="T18" fmla="*/ 144 w 275"/>
                <a:gd name="T19" fmla="*/ 31 h 114"/>
                <a:gd name="T20" fmla="*/ 178 w 275"/>
                <a:gd name="T21" fmla="*/ 29 h 114"/>
                <a:gd name="T22" fmla="*/ 208 w 275"/>
                <a:gd name="T23" fmla="*/ 40 h 114"/>
                <a:gd name="T24" fmla="*/ 229 w 275"/>
                <a:gd name="T25" fmla="*/ 34 h 114"/>
                <a:gd name="T26" fmla="*/ 217 w 275"/>
                <a:gd name="T27" fmla="*/ 20 h 114"/>
                <a:gd name="T28" fmla="*/ 198 w 275"/>
                <a:gd name="T29" fmla="*/ 17 h 114"/>
                <a:gd name="T30" fmla="*/ 161 w 275"/>
                <a:gd name="T31" fmla="*/ 15 h 114"/>
                <a:gd name="T32" fmla="*/ 146 w 275"/>
                <a:gd name="T33" fmla="*/ 9 h 114"/>
                <a:gd name="T34" fmla="*/ 118 w 275"/>
                <a:gd name="T35" fmla="*/ 1 h 114"/>
                <a:gd name="T36" fmla="*/ 96 w 275"/>
                <a:gd name="T37" fmla="*/ 15 h 114"/>
                <a:gd name="T38" fmla="*/ 56 w 275"/>
                <a:gd name="T39" fmla="*/ 19 h 114"/>
                <a:gd name="T40" fmla="*/ 40 w 275"/>
                <a:gd name="T41" fmla="*/ 32 h 114"/>
                <a:gd name="T42" fmla="*/ 30 w 275"/>
                <a:gd name="T43" fmla="*/ 53 h 114"/>
                <a:gd name="T44" fmla="*/ 36 w 275"/>
                <a:gd name="T45" fmla="*/ 63 h 114"/>
                <a:gd name="T46" fmla="*/ 50 w 275"/>
                <a:gd name="T47" fmla="*/ 61 h 114"/>
                <a:gd name="T48" fmla="*/ 58 w 275"/>
                <a:gd name="T49" fmla="*/ 34 h 114"/>
                <a:gd name="T50" fmla="*/ 87 w 275"/>
                <a:gd name="T51" fmla="*/ 54 h 114"/>
                <a:gd name="T52" fmla="*/ 52 w 275"/>
                <a:gd name="T53" fmla="*/ 69 h 114"/>
                <a:gd name="T54" fmla="*/ 0 w 275"/>
                <a:gd name="T55" fmla="*/ 80 h 114"/>
                <a:gd name="T56" fmla="*/ 46 w 275"/>
                <a:gd name="T57" fmla="*/ 86 h 114"/>
                <a:gd name="T58" fmla="*/ 56 w 275"/>
                <a:gd name="T59" fmla="*/ 97 h 114"/>
                <a:gd name="T60" fmla="*/ 49 w 275"/>
                <a:gd name="T61" fmla="*/ 113 h 114"/>
                <a:gd name="T62" fmla="*/ 73 w 275"/>
                <a:gd name="T63" fmla="*/ 98 h 114"/>
                <a:gd name="T64" fmla="*/ 112 w 275"/>
                <a:gd name="T65" fmla="*/ 98 h 114"/>
                <a:gd name="T66" fmla="*/ 150 w 275"/>
                <a:gd name="T67" fmla="*/ 99 h 114"/>
                <a:gd name="T68" fmla="*/ 175 w 275"/>
                <a:gd name="T69" fmla="*/ 100 h 114"/>
                <a:gd name="T70" fmla="*/ 213 w 275"/>
                <a:gd name="T71" fmla="*/ 103 h 114"/>
                <a:gd name="T72" fmla="*/ 185 w 275"/>
                <a:gd name="T73" fmla="*/ 88 h 114"/>
                <a:gd name="T74" fmla="*/ 189 w 275"/>
                <a:gd name="T75" fmla="*/ 78 h 114"/>
                <a:gd name="T76" fmla="*/ 215 w 275"/>
                <a:gd name="T77" fmla="*/ 83 h 114"/>
                <a:gd name="T78" fmla="*/ 232 w 275"/>
                <a:gd name="T79" fmla="*/ 89 h 114"/>
                <a:gd name="T80" fmla="*/ 259 w 275"/>
                <a:gd name="T81" fmla="*/ 91 h 114"/>
                <a:gd name="T82" fmla="*/ 273 w 275"/>
                <a:gd name="T83" fmla="*/ 80 h 114"/>
                <a:gd name="T84" fmla="*/ 115 w 275"/>
                <a:gd name="T85" fmla="*/ 80 h 114"/>
                <a:gd name="T86" fmla="*/ 91 w 275"/>
                <a:gd name="T87" fmla="*/ 88 h 114"/>
                <a:gd name="T88" fmla="*/ 85 w 275"/>
                <a:gd name="T89" fmla="*/ 80 h 114"/>
                <a:gd name="T90" fmla="*/ 114 w 275"/>
                <a:gd name="T91" fmla="*/ 74 h 114"/>
                <a:gd name="T92" fmla="*/ 125 w 275"/>
                <a:gd name="T93" fmla="*/ 60 h 114"/>
                <a:gd name="T94" fmla="*/ 98 w 275"/>
                <a:gd name="T95" fmla="*/ 63 h 114"/>
                <a:gd name="T96" fmla="*/ 118 w 275"/>
                <a:gd name="T97" fmla="*/ 52 h 114"/>
                <a:gd name="T98" fmla="*/ 125 w 275"/>
                <a:gd name="T99" fmla="*/ 60 h 114"/>
                <a:gd name="T100" fmla="*/ 150 w 275"/>
                <a:gd name="T101" fmla="*/ 84 h 114"/>
                <a:gd name="T102" fmla="*/ 132 w 275"/>
                <a:gd name="T103" fmla="*/ 76 h 114"/>
                <a:gd name="T104" fmla="*/ 161 w 275"/>
                <a:gd name="T105" fmla="*/ 75 h 114"/>
                <a:gd name="T106" fmla="*/ 140 w 275"/>
                <a:gd name="T107" fmla="*/ 61 h 114"/>
                <a:gd name="T108" fmla="*/ 167 w 275"/>
                <a:gd name="T109" fmla="*/ 5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5" h="114">
                  <a:moveTo>
                    <a:pt x="271" y="73"/>
                  </a:moveTo>
                  <a:cubicBezTo>
                    <a:pt x="271" y="73"/>
                    <a:pt x="271" y="73"/>
                    <a:pt x="270" y="72"/>
                  </a:cubicBezTo>
                  <a:cubicBezTo>
                    <a:pt x="270" y="72"/>
                    <a:pt x="267" y="73"/>
                    <a:pt x="267" y="74"/>
                  </a:cubicBezTo>
                  <a:cubicBezTo>
                    <a:pt x="265" y="73"/>
                    <a:pt x="263" y="72"/>
                    <a:pt x="262" y="71"/>
                  </a:cubicBezTo>
                  <a:cubicBezTo>
                    <a:pt x="261" y="71"/>
                    <a:pt x="261" y="71"/>
                    <a:pt x="261" y="71"/>
                  </a:cubicBezTo>
                  <a:cubicBezTo>
                    <a:pt x="259" y="72"/>
                    <a:pt x="252" y="68"/>
                    <a:pt x="251" y="68"/>
                  </a:cubicBezTo>
                  <a:cubicBezTo>
                    <a:pt x="249" y="69"/>
                    <a:pt x="247" y="70"/>
                    <a:pt x="244" y="70"/>
                  </a:cubicBezTo>
                  <a:cubicBezTo>
                    <a:pt x="244" y="69"/>
                    <a:pt x="243" y="71"/>
                    <a:pt x="242" y="70"/>
                  </a:cubicBezTo>
                  <a:cubicBezTo>
                    <a:pt x="241" y="70"/>
                    <a:pt x="238" y="68"/>
                    <a:pt x="236" y="68"/>
                  </a:cubicBezTo>
                  <a:cubicBezTo>
                    <a:pt x="235" y="69"/>
                    <a:pt x="234" y="69"/>
                    <a:pt x="233" y="70"/>
                  </a:cubicBezTo>
                  <a:cubicBezTo>
                    <a:pt x="233" y="70"/>
                    <a:pt x="232" y="69"/>
                    <a:pt x="232" y="69"/>
                  </a:cubicBezTo>
                  <a:cubicBezTo>
                    <a:pt x="231" y="68"/>
                    <a:pt x="229" y="70"/>
                    <a:pt x="227" y="69"/>
                  </a:cubicBezTo>
                  <a:cubicBezTo>
                    <a:pt x="222" y="66"/>
                    <a:pt x="216" y="68"/>
                    <a:pt x="209" y="68"/>
                  </a:cubicBezTo>
                  <a:cubicBezTo>
                    <a:pt x="207" y="66"/>
                    <a:pt x="203" y="68"/>
                    <a:pt x="202" y="67"/>
                  </a:cubicBezTo>
                  <a:cubicBezTo>
                    <a:pt x="198" y="64"/>
                    <a:pt x="190" y="67"/>
                    <a:pt x="185" y="64"/>
                  </a:cubicBezTo>
                  <a:cubicBezTo>
                    <a:pt x="183" y="66"/>
                    <a:pt x="178" y="63"/>
                    <a:pt x="178" y="63"/>
                  </a:cubicBezTo>
                  <a:cubicBezTo>
                    <a:pt x="176" y="63"/>
                    <a:pt x="177" y="60"/>
                    <a:pt x="178" y="58"/>
                  </a:cubicBezTo>
                  <a:cubicBezTo>
                    <a:pt x="179" y="56"/>
                    <a:pt x="190" y="48"/>
                    <a:pt x="192" y="48"/>
                  </a:cubicBezTo>
                  <a:cubicBezTo>
                    <a:pt x="193" y="45"/>
                    <a:pt x="193" y="38"/>
                    <a:pt x="190" y="36"/>
                  </a:cubicBezTo>
                  <a:cubicBezTo>
                    <a:pt x="189" y="35"/>
                    <a:pt x="186" y="34"/>
                    <a:pt x="186" y="34"/>
                  </a:cubicBezTo>
                  <a:cubicBezTo>
                    <a:pt x="185" y="34"/>
                    <a:pt x="174" y="39"/>
                    <a:pt x="174" y="40"/>
                  </a:cubicBezTo>
                  <a:cubicBezTo>
                    <a:pt x="163" y="39"/>
                    <a:pt x="149" y="41"/>
                    <a:pt x="141" y="40"/>
                  </a:cubicBezTo>
                  <a:cubicBezTo>
                    <a:pt x="138" y="39"/>
                    <a:pt x="129" y="41"/>
                    <a:pt x="127" y="40"/>
                  </a:cubicBezTo>
                  <a:cubicBezTo>
                    <a:pt x="125" y="40"/>
                    <a:pt x="123" y="40"/>
                    <a:pt x="121" y="40"/>
                  </a:cubicBezTo>
                  <a:cubicBezTo>
                    <a:pt x="120" y="40"/>
                    <a:pt x="118" y="41"/>
                    <a:pt x="116" y="40"/>
                  </a:cubicBezTo>
                  <a:cubicBezTo>
                    <a:pt x="113" y="40"/>
                    <a:pt x="108" y="40"/>
                    <a:pt x="105" y="39"/>
                  </a:cubicBezTo>
                  <a:cubicBezTo>
                    <a:pt x="104" y="40"/>
                    <a:pt x="103" y="40"/>
                    <a:pt x="102" y="40"/>
                  </a:cubicBezTo>
                  <a:cubicBezTo>
                    <a:pt x="100" y="38"/>
                    <a:pt x="98" y="37"/>
                    <a:pt x="96" y="36"/>
                  </a:cubicBezTo>
                  <a:cubicBezTo>
                    <a:pt x="92" y="34"/>
                    <a:pt x="87" y="35"/>
                    <a:pt x="85" y="32"/>
                  </a:cubicBezTo>
                  <a:cubicBezTo>
                    <a:pt x="85" y="32"/>
                    <a:pt x="85" y="32"/>
                    <a:pt x="85" y="31"/>
                  </a:cubicBezTo>
                  <a:cubicBezTo>
                    <a:pt x="84" y="30"/>
                    <a:pt x="91" y="28"/>
                    <a:pt x="93" y="29"/>
                  </a:cubicBezTo>
                  <a:cubicBezTo>
                    <a:pt x="93" y="29"/>
                    <a:pt x="102" y="29"/>
                    <a:pt x="104" y="28"/>
                  </a:cubicBezTo>
                  <a:cubicBezTo>
                    <a:pt x="106" y="28"/>
                    <a:pt x="108" y="26"/>
                    <a:pt x="111" y="27"/>
                  </a:cubicBezTo>
                  <a:cubicBezTo>
                    <a:pt x="113" y="27"/>
                    <a:pt x="115" y="29"/>
                    <a:pt x="118" y="30"/>
                  </a:cubicBezTo>
                  <a:cubicBezTo>
                    <a:pt x="120" y="30"/>
                    <a:pt x="122" y="28"/>
                    <a:pt x="125" y="29"/>
                  </a:cubicBezTo>
                  <a:cubicBezTo>
                    <a:pt x="125" y="30"/>
                    <a:pt x="125" y="31"/>
                    <a:pt x="126" y="32"/>
                  </a:cubicBezTo>
                  <a:cubicBezTo>
                    <a:pt x="126" y="33"/>
                    <a:pt x="128" y="31"/>
                    <a:pt x="128" y="32"/>
                  </a:cubicBezTo>
                  <a:cubicBezTo>
                    <a:pt x="129" y="33"/>
                    <a:pt x="129" y="33"/>
                    <a:pt x="130" y="33"/>
                  </a:cubicBezTo>
                  <a:cubicBezTo>
                    <a:pt x="130" y="33"/>
                    <a:pt x="130" y="33"/>
                    <a:pt x="130" y="33"/>
                  </a:cubicBezTo>
                  <a:cubicBezTo>
                    <a:pt x="134" y="31"/>
                    <a:pt x="140" y="33"/>
                    <a:pt x="144" y="31"/>
                  </a:cubicBezTo>
                  <a:cubicBezTo>
                    <a:pt x="143" y="30"/>
                    <a:pt x="148" y="31"/>
                    <a:pt x="148" y="31"/>
                  </a:cubicBezTo>
                  <a:cubicBezTo>
                    <a:pt x="151" y="29"/>
                    <a:pt x="153" y="28"/>
                    <a:pt x="157" y="29"/>
                  </a:cubicBezTo>
                  <a:cubicBezTo>
                    <a:pt x="158" y="29"/>
                    <a:pt x="163" y="26"/>
                    <a:pt x="165" y="28"/>
                  </a:cubicBezTo>
                  <a:cubicBezTo>
                    <a:pt x="169" y="29"/>
                    <a:pt x="177" y="28"/>
                    <a:pt x="178" y="29"/>
                  </a:cubicBezTo>
                  <a:cubicBezTo>
                    <a:pt x="179" y="29"/>
                    <a:pt x="192" y="28"/>
                    <a:pt x="195" y="27"/>
                  </a:cubicBezTo>
                  <a:cubicBezTo>
                    <a:pt x="196" y="27"/>
                    <a:pt x="198" y="28"/>
                    <a:pt x="199" y="28"/>
                  </a:cubicBezTo>
                  <a:cubicBezTo>
                    <a:pt x="205" y="28"/>
                    <a:pt x="212" y="28"/>
                    <a:pt x="213" y="35"/>
                  </a:cubicBezTo>
                  <a:cubicBezTo>
                    <a:pt x="211" y="37"/>
                    <a:pt x="209" y="39"/>
                    <a:pt x="208" y="40"/>
                  </a:cubicBezTo>
                  <a:cubicBezTo>
                    <a:pt x="205" y="45"/>
                    <a:pt x="208" y="56"/>
                    <a:pt x="209" y="61"/>
                  </a:cubicBezTo>
                  <a:cubicBezTo>
                    <a:pt x="212" y="62"/>
                    <a:pt x="217" y="59"/>
                    <a:pt x="220" y="56"/>
                  </a:cubicBezTo>
                  <a:cubicBezTo>
                    <a:pt x="221" y="57"/>
                    <a:pt x="224" y="52"/>
                    <a:pt x="224" y="51"/>
                  </a:cubicBezTo>
                  <a:cubicBezTo>
                    <a:pt x="227" y="48"/>
                    <a:pt x="231" y="40"/>
                    <a:pt x="229" y="34"/>
                  </a:cubicBezTo>
                  <a:cubicBezTo>
                    <a:pt x="228" y="32"/>
                    <a:pt x="226" y="31"/>
                    <a:pt x="225" y="30"/>
                  </a:cubicBezTo>
                  <a:cubicBezTo>
                    <a:pt x="225" y="29"/>
                    <a:pt x="224" y="28"/>
                    <a:pt x="224" y="27"/>
                  </a:cubicBezTo>
                  <a:cubicBezTo>
                    <a:pt x="223" y="26"/>
                    <a:pt x="221" y="24"/>
                    <a:pt x="221" y="23"/>
                  </a:cubicBezTo>
                  <a:cubicBezTo>
                    <a:pt x="219" y="22"/>
                    <a:pt x="219" y="21"/>
                    <a:pt x="217" y="20"/>
                  </a:cubicBezTo>
                  <a:cubicBezTo>
                    <a:pt x="216" y="21"/>
                    <a:pt x="209" y="16"/>
                    <a:pt x="206" y="18"/>
                  </a:cubicBezTo>
                  <a:cubicBezTo>
                    <a:pt x="206" y="18"/>
                    <a:pt x="205" y="18"/>
                    <a:pt x="205" y="18"/>
                  </a:cubicBezTo>
                  <a:cubicBezTo>
                    <a:pt x="203" y="18"/>
                    <a:pt x="201" y="17"/>
                    <a:pt x="198" y="17"/>
                  </a:cubicBezTo>
                  <a:cubicBezTo>
                    <a:pt x="198" y="17"/>
                    <a:pt x="198" y="17"/>
                    <a:pt x="198" y="17"/>
                  </a:cubicBezTo>
                  <a:cubicBezTo>
                    <a:pt x="197" y="16"/>
                    <a:pt x="187" y="15"/>
                    <a:pt x="184" y="14"/>
                  </a:cubicBezTo>
                  <a:cubicBezTo>
                    <a:pt x="178" y="13"/>
                    <a:pt x="174" y="16"/>
                    <a:pt x="170" y="16"/>
                  </a:cubicBezTo>
                  <a:cubicBezTo>
                    <a:pt x="169" y="16"/>
                    <a:pt x="166" y="18"/>
                    <a:pt x="165" y="17"/>
                  </a:cubicBezTo>
                  <a:cubicBezTo>
                    <a:pt x="164" y="17"/>
                    <a:pt x="161" y="15"/>
                    <a:pt x="161" y="15"/>
                  </a:cubicBezTo>
                  <a:cubicBezTo>
                    <a:pt x="160" y="15"/>
                    <a:pt x="160" y="16"/>
                    <a:pt x="159" y="15"/>
                  </a:cubicBezTo>
                  <a:cubicBezTo>
                    <a:pt x="158" y="15"/>
                    <a:pt x="156" y="14"/>
                    <a:pt x="155" y="13"/>
                  </a:cubicBezTo>
                  <a:cubicBezTo>
                    <a:pt x="155" y="13"/>
                    <a:pt x="150" y="13"/>
                    <a:pt x="150" y="12"/>
                  </a:cubicBezTo>
                  <a:cubicBezTo>
                    <a:pt x="149" y="11"/>
                    <a:pt x="147" y="9"/>
                    <a:pt x="146" y="9"/>
                  </a:cubicBezTo>
                  <a:cubicBezTo>
                    <a:pt x="143" y="8"/>
                    <a:pt x="139" y="7"/>
                    <a:pt x="137" y="5"/>
                  </a:cubicBezTo>
                  <a:cubicBezTo>
                    <a:pt x="137" y="5"/>
                    <a:pt x="136" y="4"/>
                    <a:pt x="136" y="4"/>
                  </a:cubicBezTo>
                  <a:cubicBezTo>
                    <a:pt x="132" y="2"/>
                    <a:pt x="129" y="5"/>
                    <a:pt x="125" y="3"/>
                  </a:cubicBezTo>
                  <a:cubicBezTo>
                    <a:pt x="126" y="3"/>
                    <a:pt x="118" y="1"/>
                    <a:pt x="118" y="1"/>
                  </a:cubicBezTo>
                  <a:cubicBezTo>
                    <a:pt x="117" y="0"/>
                    <a:pt x="117" y="0"/>
                    <a:pt x="116" y="0"/>
                  </a:cubicBezTo>
                  <a:cubicBezTo>
                    <a:pt x="116" y="1"/>
                    <a:pt x="114" y="1"/>
                    <a:pt x="113" y="2"/>
                  </a:cubicBezTo>
                  <a:cubicBezTo>
                    <a:pt x="113" y="2"/>
                    <a:pt x="112" y="8"/>
                    <a:pt x="110" y="9"/>
                  </a:cubicBezTo>
                  <a:cubicBezTo>
                    <a:pt x="105" y="11"/>
                    <a:pt x="101" y="13"/>
                    <a:pt x="96" y="15"/>
                  </a:cubicBezTo>
                  <a:cubicBezTo>
                    <a:pt x="94" y="15"/>
                    <a:pt x="92" y="16"/>
                    <a:pt x="90" y="16"/>
                  </a:cubicBezTo>
                  <a:cubicBezTo>
                    <a:pt x="87" y="18"/>
                    <a:pt x="83" y="17"/>
                    <a:pt x="79" y="18"/>
                  </a:cubicBezTo>
                  <a:cubicBezTo>
                    <a:pt x="78" y="19"/>
                    <a:pt x="76" y="18"/>
                    <a:pt x="75" y="18"/>
                  </a:cubicBezTo>
                  <a:cubicBezTo>
                    <a:pt x="69" y="19"/>
                    <a:pt x="63" y="16"/>
                    <a:pt x="56" y="19"/>
                  </a:cubicBezTo>
                  <a:cubicBezTo>
                    <a:pt x="53" y="20"/>
                    <a:pt x="50" y="22"/>
                    <a:pt x="48" y="24"/>
                  </a:cubicBezTo>
                  <a:cubicBezTo>
                    <a:pt x="48" y="25"/>
                    <a:pt x="47" y="26"/>
                    <a:pt x="47" y="27"/>
                  </a:cubicBezTo>
                  <a:cubicBezTo>
                    <a:pt x="45" y="28"/>
                    <a:pt x="44" y="30"/>
                    <a:pt x="42" y="32"/>
                  </a:cubicBezTo>
                  <a:cubicBezTo>
                    <a:pt x="41" y="32"/>
                    <a:pt x="40" y="32"/>
                    <a:pt x="40" y="32"/>
                  </a:cubicBezTo>
                  <a:cubicBezTo>
                    <a:pt x="39" y="33"/>
                    <a:pt x="36" y="36"/>
                    <a:pt x="36" y="38"/>
                  </a:cubicBezTo>
                  <a:cubicBezTo>
                    <a:pt x="36" y="38"/>
                    <a:pt x="36" y="39"/>
                    <a:pt x="36" y="39"/>
                  </a:cubicBezTo>
                  <a:cubicBezTo>
                    <a:pt x="34" y="42"/>
                    <a:pt x="31" y="44"/>
                    <a:pt x="30" y="47"/>
                  </a:cubicBezTo>
                  <a:cubicBezTo>
                    <a:pt x="30" y="49"/>
                    <a:pt x="30" y="51"/>
                    <a:pt x="30" y="53"/>
                  </a:cubicBezTo>
                  <a:cubicBezTo>
                    <a:pt x="29" y="54"/>
                    <a:pt x="29" y="55"/>
                    <a:pt x="29" y="57"/>
                  </a:cubicBezTo>
                  <a:cubicBezTo>
                    <a:pt x="30" y="57"/>
                    <a:pt x="30" y="58"/>
                    <a:pt x="30" y="59"/>
                  </a:cubicBezTo>
                  <a:cubicBezTo>
                    <a:pt x="31" y="59"/>
                    <a:pt x="31" y="59"/>
                    <a:pt x="31" y="59"/>
                  </a:cubicBezTo>
                  <a:cubicBezTo>
                    <a:pt x="34" y="60"/>
                    <a:pt x="34" y="61"/>
                    <a:pt x="36" y="63"/>
                  </a:cubicBezTo>
                  <a:cubicBezTo>
                    <a:pt x="37" y="62"/>
                    <a:pt x="42" y="65"/>
                    <a:pt x="43" y="65"/>
                  </a:cubicBezTo>
                  <a:cubicBezTo>
                    <a:pt x="45" y="66"/>
                    <a:pt x="48" y="64"/>
                    <a:pt x="49" y="62"/>
                  </a:cubicBezTo>
                  <a:cubicBezTo>
                    <a:pt x="50" y="62"/>
                    <a:pt x="50" y="62"/>
                    <a:pt x="50" y="61"/>
                  </a:cubicBezTo>
                  <a:cubicBezTo>
                    <a:pt x="50" y="61"/>
                    <a:pt x="50" y="61"/>
                    <a:pt x="50" y="61"/>
                  </a:cubicBezTo>
                  <a:cubicBezTo>
                    <a:pt x="50" y="61"/>
                    <a:pt x="50" y="61"/>
                    <a:pt x="50" y="61"/>
                  </a:cubicBezTo>
                  <a:cubicBezTo>
                    <a:pt x="50" y="61"/>
                    <a:pt x="52" y="56"/>
                    <a:pt x="52" y="56"/>
                  </a:cubicBezTo>
                  <a:cubicBezTo>
                    <a:pt x="52" y="55"/>
                    <a:pt x="52" y="54"/>
                    <a:pt x="52" y="53"/>
                  </a:cubicBezTo>
                  <a:cubicBezTo>
                    <a:pt x="56" y="47"/>
                    <a:pt x="56" y="40"/>
                    <a:pt x="58" y="34"/>
                  </a:cubicBezTo>
                  <a:cubicBezTo>
                    <a:pt x="61" y="33"/>
                    <a:pt x="70" y="31"/>
                    <a:pt x="73" y="32"/>
                  </a:cubicBezTo>
                  <a:cubicBezTo>
                    <a:pt x="77" y="34"/>
                    <a:pt x="85" y="45"/>
                    <a:pt x="85" y="51"/>
                  </a:cubicBezTo>
                  <a:cubicBezTo>
                    <a:pt x="86" y="52"/>
                    <a:pt x="86" y="53"/>
                    <a:pt x="87" y="54"/>
                  </a:cubicBezTo>
                  <a:cubicBezTo>
                    <a:pt x="87" y="54"/>
                    <a:pt x="87" y="54"/>
                    <a:pt x="87" y="54"/>
                  </a:cubicBezTo>
                  <a:cubicBezTo>
                    <a:pt x="86" y="54"/>
                    <a:pt x="84" y="60"/>
                    <a:pt x="83" y="61"/>
                  </a:cubicBezTo>
                  <a:cubicBezTo>
                    <a:pt x="81" y="63"/>
                    <a:pt x="73" y="66"/>
                    <a:pt x="69" y="66"/>
                  </a:cubicBezTo>
                  <a:cubicBezTo>
                    <a:pt x="65" y="65"/>
                    <a:pt x="60" y="67"/>
                    <a:pt x="56" y="67"/>
                  </a:cubicBezTo>
                  <a:cubicBezTo>
                    <a:pt x="54" y="67"/>
                    <a:pt x="53" y="68"/>
                    <a:pt x="52" y="69"/>
                  </a:cubicBezTo>
                  <a:cubicBezTo>
                    <a:pt x="40" y="69"/>
                    <a:pt x="27" y="70"/>
                    <a:pt x="15" y="75"/>
                  </a:cubicBezTo>
                  <a:cubicBezTo>
                    <a:pt x="14" y="76"/>
                    <a:pt x="12" y="75"/>
                    <a:pt x="12" y="75"/>
                  </a:cubicBezTo>
                  <a:cubicBezTo>
                    <a:pt x="9" y="76"/>
                    <a:pt x="7" y="75"/>
                    <a:pt x="5" y="76"/>
                  </a:cubicBezTo>
                  <a:cubicBezTo>
                    <a:pt x="3" y="77"/>
                    <a:pt x="2" y="79"/>
                    <a:pt x="0" y="80"/>
                  </a:cubicBezTo>
                  <a:cubicBezTo>
                    <a:pt x="0" y="91"/>
                    <a:pt x="3" y="91"/>
                    <a:pt x="7" y="97"/>
                  </a:cubicBezTo>
                  <a:cubicBezTo>
                    <a:pt x="17" y="97"/>
                    <a:pt x="21" y="95"/>
                    <a:pt x="30" y="91"/>
                  </a:cubicBezTo>
                  <a:cubicBezTo>
                    <a:pt x="31" y="90"/>
                    <a:pt x="33" y="91"/>
                    <a:pt x="34" y="91"/>
                  </a:cubicBezTo>
                  <a:cubicBezTo>
                    <a:pt x="38" y="89"/>
                    <a:pt x="42" y="88"/>
                    <a:pt x="46" y="86"/>
                  </a:cubicBezTo>
                  <a:cubicBezTo>
                    <a:pt x="48" y="85"/>
                    <a:pt x="57" y="79"/>
                    <a:pt x="59" y="82"/>
                  </a:cubicBezTo>
                  <a:cubicBezTo>
                    <a:pt x="60" y="81"/>
                    <a:pt x="67" y="80"/>
                    <a:pt x="69" y="80"/>
                  </a:cubicBezTo>
                  <a:cubicBezTo>
                    <a:pt x="69" y="80"/>
                    <a:pt x="68" y="80"/>
                    <a:pt x="69" y="80"/>
                  </a:cubicBezTo>
                  <a:cubicBezTo>
                    <a:pt x="69" y="84"/>
                    <a:pt x="59" y="95"/>
                    <a:pt x="56" y="97"/>
                  </a:cubicBezTo>
                  <a:cubicBezTo>
                    <a:pt x="55" y="97"/>
                    <a:pt x="55" y="100"/>
                    <a:pt x="53" y="101"/>
                  </a:cubicBezTo>
                  <a:cubicBezTo>
                    <a:pt x="53" y="102"/>
                    <a:pt x="54" y="103"/>
                    <a:pt x="53" y="105"/>
                  </a:cubicBezTo>
                  <a:cubicBezTo>
                    <a:pt x="53" y="106"/>
                    <a:pt x="52" y="106"/>
                    <a:pt x="51" y="107"/>
                  </a:cubicBezTo>
                  <a:cubicBezTo>
                    <a:pt x="50" y="108"/>
                    <a:pt x="50" y="111"/>
                    <a:pt x="49" y="113"/>
                  </a:cubicBezTo>
                  <a:cubicBezTo>
                    <a:pt x="49" y="113"/>
                    <a:pt x="49" y="114"/>
                    <a:pt x="50" y="114"/>
                  </a:cubicBezTo>
                  <a:cubicBezTo>
                    <a:pt x="50" y="114"/>
                    <a:pt x="54" y="112"/>
                    <a:pt x="55" y="112"/>
                  </a:cubicBezTo>
                  <a:cubicBezTo>
                    <a:pt x="57" y="110"/>
                    <a:pt x="71" y="99"/>
                    <a:pt x="71" y="99"/>
                  </a:cubicBezTo>
                  <a:cubicBezTo>
                    <a:pt x="72" y="98"/>
                    <a:pt x="72" y="98"/>
                    <a:pt x="73" y="98"/>
                  </a:cubicBezTo>
                  <a:cubicBezTo>
                    <a:pt x="79" y="103"/>
                    <a:pt x="86" y="102"/>
                    <a:pt x="93" y="100"/>
                  </a:cubicBezTo>
                  <a:cubicBezTo>
                    <a:pt x="95" y="99"/>
                    <a:pt x="100" y="100"/>
                    <a:pt x="101" y="100"/>
                  </a:cubicBezTo>
                  <a:cubicBezTo>
                    <a:pt x="101" y="99"/>
                    <a:pt x="107" y="99"/>
                    <a:pt x="107" y="99"/>
                  </a:cubicBezTo>
                  <a:cubicBezTo>
                    <a:pt x="108" y="100"/>
                    <a:pt x="110" y="97"/>
                    <a:pt x="112" y="98"/>
                  </a:cubicBezTo>
                  <a:cubicBezTo>
                    <a:pt x="123" y="99"/>
                    <a:pt x="123" y="99"/>
                    <a:pt x="123" y="99"/>
                  </a:cubicBezTo>
                  <a:cubicBezTo>
                    <a:pt x="124" y="98"/>
                    <a:pt x="130" y="97"/>
                    <a:pt x="130" y="97"/>
                  </a:cubicBezTo>
                  <a:cubicBezTo>
                    <a:pt x="132" y="97"/>
                    <a:pt x="134" y="97"/>
                    <a:pt x="136" y="97"/>
                  </a:cubicBezTo>
                  <a:cubicBezTo>
                    <a:pt x="139" y="99"/>
                    <a:pt x="149" y="97"/>
                    <a:pt x="150" y="99"/>
                  </a:cubicBezTo>
                  <a:cubicBezTo>
                    <a:pt x="150" y="98"/>
                    <a:pt x="155" y="98"/>
                    <a:pt x="156" y="99"/>
                  </a:cubicBezTo>
                  <a:cubicBezTo>
                    <a:pt x="156" y="99"/>
                    <a:pt x="159" y="98"/>
                    <a:pt x="160" y="99"/>
                  </a:cubicBezTo>
                  <a:cubicBezTo>
                    <a:pt x="160" y="99"/>
                    <a:pt x="161" y="99"/>
                    <a:pt x="161" y="99"/>
                  </a:cubicBezTo>
                  <a:cubicBezTo>
                    <a:pt x="162" y="99"/>
                    <a:pt x="173" y="99"/>
                    <a:pt x="175" y="100"/>
                  </a:cubicBezTo>
                  <a:cubicBezTo>
                    <a:pt x="175" y="100"/>
                    <a:pt x="177" y="99"/>
                    <a:pt x="179" y="100"/>
                  </a:cubicBezTo>
                  <a:cubicBezTo>
                    <a:pt x="186" y="103"/>
                    <a:pt x="194" y="103"/>
                    <a:pt x="202" y="104"/>
                  </a:cubicBezTo>
                  <a:cubicBezTo>
                    <a:pt x="203" y="105"/>
                    <a:pt x="204" y="103"/>
                    <a:pt x="207" y="104"/>
                  </a:cubicBezTo>
                  <a:cubicBezTo>
                    <a:pt x="208" y="103"/>
                    <a:pt x="211" y="103"/>
                    <a:pt x="213" y="103"/>
                  </a:cubicBezTo>
                  <a:cubicBezTo>
                    <a:pt x="214" y="101"/>
                    <a:pt x="213" y="98"/>
                    <a:pt x="213" y="96"/>
                  </a:cubicBezTo>
                  <a:cubicBezTo>
                    <a:pt x="208" y="93"/>
                    <a:pt x="204" y="88"/>
                    <a:pt x="196" y="90"/>
                  </a:cubicBezTo>
                  <a:cubicBezTo>
                    <a:pt x="196" y="89"/>
                    <a:pt x="191" y="88"/>
                    <a:pt x="190" y="88"/>
                  </a:cubicBezTo>
                  <a:cubicBezTo>
                    <a:pt x="188" y="88"/>
                    <a:pt x="187" y="88"/>
                    <a:pt x="185" y="88"/>
                  </a:cubicBezTo>
                  <a:cubicBezTo>
                    <a:pt x="180" y="85"/>
                    <a:pt x="172" y="86"/>
                    <a:pt x="165" y="85"/>
                  </a:cubicBezTo>
                  <a:cubicBezTo>
                    <a:pt x="164" y="82"/>
                    <a:pt x="168" y="81"/>
                    <a:pt x="169" y="79"/>
                  </a:cubicBezTo>
                  <a:cubicBezTo>
                    <a:pt x="168" y="78"/>
                    <a:pt x="170" y="77"/>
                    <a:pt x="170" y="76"/>
                  </a:cubicBezTo>
                  <a:cubicBezTo>
                    <a:pt x="176" y="76"/>
                    <a:pt x="184" y="74"/>
                    <a:pt x="189" y="78"/>
                  </a:cubicBezTo>
                  <a:cubicBezTo>
                    <a:pt x="190" y="76"/>
                    <a:pt x="197" y="80"/>
                    <a:pt x="198" y="80"/>
                  </a:cubicBezTo>
                  <a:cubicBezTo>
                    <a:pt x="200" y="79"/>
                    <a:pt x="203" y="81"/>
                    <a:pt x="204" y="82"/>
                  </a:cubicBezTo>
                  <a:cubicBezTo>
                    <a:pt x="206" y="79"/>
                    <a:pt x="210" y="83"/>
                    <a:pt x="213" y="83"/>
                  </a:cubicBezTo>
                  <a:cubicBezTo>
                    <a:pt x="214" y="83"/>
                    <a:pt x="214" y="83"/>
                    <a:pt x="215" y="83"/>
                  </a:cubicBezTo>
                  <a:cubicBezTo>
                    <a:pt x="216" y="84"/>
                    <a:pt x="216" y="85"/>
                    <a:pt x="217" y="86"/>
                  </a:cubicBezTo>
                  <a:cubicBezTo>
                    <a:pt x="218" y="85"/>
                    <a:pt x="221" y="87"/>
                    <a:pt x="222" y="87"/>
                  </a:cubicBezTo>
                  <a:cubicBezTo>
                    <a:pt x="223" y="87"/>
                    <a:pt x="227" y="88"/>
                    <a:pt x="228" y="89"/>
                  </a:cubicBezTo>
                  <a:cubicBezTo>
                    <a:pt x="229" y="89"/>
                    <a:pt x="231" y="89"/>
                    <a:pt x="232" y="89"/>
                  </a:cubicBezTo>
                  <a:cubicBezTo>
                    <a:pt x="233" y="89"/>
                    <a:pt x="234" y="90"/>
                    <a:pt x="235" y="90"/>
                  </a:cubicBezTo>
                  <a:cubicBezTo>
                    <a:pt x="236" y="90"/>
                    <a:pt x="235" y="90"/>
                    <a:pt x="235" y="90"/>
                  </a:cubicBezTo>
                  <a:cubicBezTo>
                    <a:pt x="239" y="91"/>
                    <a:pt x="253" y="93"/>
                    <a:pt x="255" y="90"/>
                  </a:cubicBezTo>
                  <a:cubicBezTo>
                    <a:pt x="257" y="91"/>
                    <a:pt x="258" y="91"/>
                    <a:pt x="259" y="91"/>
                  </a:cubicBezTo>
                  <a:cubicBezTo>
                    <a:pt x="259" y="90"/>
                    <a:pt x="260" y="89"/>
                    <a:pt x="261" y="88"/>
                  </a:cubicBezTo>
                  <a:cubicBezTo>
                    <a:pt x="263" y="87"/>
                    <a:pt x="268" y="87"/>
                    <a:pt x="270" y="85"/>
                  </a:cubicBezTo>
                  <a:cubicBezTo>
                    <a:pt x="270" y="84"/>
                    <a:pt x="271" y="83"/>
                    <a:pt x="271" y="82"/>
                  </a:cubicBezTo>
                  <a:cubicBezTo>
                    <a:pt x="272" y="81"/>
                    <a:pt x="273" y="81"/>
                    <a:pt x="273" y="80"/>
                  </a:cubicBezTo>
                  <a:cubicBezTo>
                    <a:pt x="275" y="77"/>
                    <a:pt x="271" y="75"/>
                    <a:pt x="271" y="73"/>
                  </a:cubicBezTo>
                  <a:close/>
                  <a:moveTo>
                    <a:pt x="119" y="76"/>
                  </a:moveTo>
                  <a:cubicBezTo>
                    <a:pt x="119" y="76"/>
                    <a:pt x="119" y="76"/>
                    <a:pt x="119" y="77"/>
                  </a:cubicBezTo>
                  <a:cubicBezTo>
                    <a:pt x="118" y="78"/>
                    <a:pt x="117" y="79"/>
                    <a:pt x="115" y="80"/>
                  </a:cubicBezTo>
                  <a:cubicBezTo>
                    <a:pt x="115" y="81"/>
                    <a:pt x="115" y="82"/>
                    <a:pt x="115" y="83"/>
                  </a:cubicBezTo>
                  <a:cubicBezTo>
                    <a:pt x="114" y="84"/>
                    <a:pt x="112" y="84"/>
                    <a:pt x="111" y="85"/>
                  </a:cubicBezTo>
                  <a:cubicBezTo>
                    <a:pt x="110" y="85"/>
                    <a:pt x="110" y="85"/>
                    <a:pt x="109" y="85"/>
                  </a:cubicBezTo>
                  <a:cubicBezTo>
                    <a:pt x="109" y="85"/>
                    <a:pt x="93" y="87"/>
                    <a:pt x="91" y="88"/>
                  </a:cubicBezTo>
                  <a:cubicBezTo>
                    <a:pt x="89" y="89"/>
                    <a:pt x="87" y="88"/>
                    <a:pt x="87" y="88"/>
                  </a:cubicBezTo>
                  <a:cubicBezTo>
                    <a:pt x="85" y="89"/>
                    <a:pt x="83" y="89"/>
                    <a:pt x="81" y="90"/>
                  </a:cubicBezTo>
                  <a:cubicBezTo>
                    <a:pt x="80" y="90"/>
                    <a:pt x="80" y="90"/>
                    <a:pt x="79" y="89"/>
                  </a:cubicBezTo>
                  <a:cubicBezTo>
                    <a:pt x="79" y="88"/>
                    <a:pt x="84" y="82"/>
                    <a:pt x="85" y="80"/>
                  </a:cubicBezTo>
                  <a:cubicBezTo>
                    <a:pt x="90" y="81"/>
                    <a:pt x="95" y="78"/>
                    <a:pt x="98" y="76"/>
                  </a:cubicBezTo>
                  <a:cubicBezTo>
                    <a:pt x="98" y="76"/>
                    <a:pt x="101" y="77"/>
                    <a:pt x="101" y="77"/>
                  </a:cubicBezTo>
                  <a:cubicBezTo>
                    <a:pt x="101" y="76"/>
                    <a:pt x="105" y="75"/>
                    <a:pt x="105" y="75"/>
                  </a:cubicBezTo>
                  <a:cubicBezTo>
                    <a:pt x="108" y="74"/>
                    <a:pt x="113" y="76"/>
                    <a:pt x="114" y="74"/>
                  </a:cubicBezTo>
                  <a:cubicBezTo>
                    <a:pt x="115" y="74"/>
                    <a:pt x="115" y="74"/>
                    <a:pt x="115" y="75"/>
                  </a:cubicBezTo>
                  <a:cubicBezTo>
                    <a:pt x="117" y="74"/>
                    <a:pt x="118" y="75"/>
                    <a:pt x="119" y="75"/>
                  </a:cubicBezTo>
                  <a:cubicBezTo>
                    <a:pt x="119" y="76"/>
                    <a:pt x="119" y="76"/>
                    <a:pt x="119" y="76"/>
                  </a:cubicBezTo>
                  <a:close/>
                  <a:moveTo>
                    <a:pt x="125" y="60"/>
                  </a:moveTo>
                  <a:cubicBezTo>
                    <a:pt x="124" y="61"/>
                    <a:pt x="122" y="63"/>
                    <a:pt x="120" y="63"/>
                  </a:cubicBezTo>
                  <a:cubicBezTo>
                    <a:pt x="120" y="62"/>
                    <a:pt x="120" y="62"/>
                    <a:pt x="120" y="63"/>
                  </a:cubicBezTo>
                  <a:cubicBezTo>
                    <a:pt x="116" y="64"/>
                    <a:pt x="110" y="60"/>
                    <a:pt x="106" y="62"/>
                  </a:cubicBezTo>
                  <a:cubicBezTo>
                    <a:pt x="104" y="63"/>
                    <a:pt x="100" y="64"/>
                    <a:pt x="98" y="63"/>
                  </a:cubicBezTo>
                  <a:cubicBezTo>
                    <a:pt x="97" y="63"/>
                    <a:pt x="97" y="63"/>
                    <a:pt x="97" y="63"/>
                  </a:cubicBezTo>
                  <a:cubicBezTo>
                    <a:pt x="97" y="60"/>
                    <a:pt x="97" y="60"/>
                    <a:pt x="98" y="58"/>
                  </a:cubicBezTo>
                  <a:cubicBezTo>
                    <a:pt x="102" y="56"/>
                    <a:pt x="112" y="51"/>
                    <a:pt x="117" y="53"/>
                  </a:cubicBezTo>
                  <a:cubicBezTo>
                    <a:pt x="118" y="53"/>
                    <a:pt x="118" y="52"/>
                    <a:pt x="118" y="52"/>
                  </a:cubicBezTo>
                  <a:cubicBezTo>
                    <a:pt x="122" y="53"/>
                    <a:pt x="125" y="54"/>
                    <a:pt x="127" y="54"/>
                  </a:cubicBezTo>
                  <a:cubicBezTo>
                    <a:pt x="127" y="54"/>
                    <a:pt x="128" y="55"/>
                    <a:pt x="128" y="55"/>
                  </a:cubicBezTo>
                  <a:cubicBezTo>
                    <a:pt x="128" y="57"/>
                    <a:pt x="127" y="59"/>
                    <a:pt x="125" y="60"/>
                  </a:cubicBezTo>
                  <a:cubicBezTo>
                    <a:pt x="125" y="60"/>
                    <a:pt x="125" y="60"/>
                    <a:pt x="125" y="60"/>
                  </a:cubicBezTo>
                  <a:close/>
                  <a:moveTo>
                    <a:pt x="161" y="75"/>
                  </a:moveTo>
                  <a:cubicBezTo>
                    <a:pt x="159" y="77"/>
                    <a:pt x="158" y="79"/>
                    <a:pt x="157" y="81"/>
                  </a:cubicBezTo>
                  <a:cubicBezTo>
                    <a:pt x="157" y="82"/>
                    <a:pt x="157" y="82"/>
                    <a:pt x="158" y="83"/>
                  </a:cubicBezTo>
                  <a:cubicBezTo>
                    <a:pt x="157" y="86"/>
                    <a:pt x="152" y="85"/>
                    <a:pt x="150" y="84"/>
                  </a:cubicBezTo>
                  <a:cubicBezTo>
                    <a:pt x="149" y="84"/>
                    <a:pt x="148" y="85"/>
                    <a:pt x="147" y="85"/>
                  </a:cubicBezTo>
                  <a:cubicBezTo>
                    <a:pt x="147" y="85"/>
                    <a:pt x="129" y="85"/>
                    <a:pt x="126" y="83"/>
                  </a:cubicBezTo>
                  <a:cubicBezTo>
                    <a:pt x="126" y="81"/>
                    <a:pt x="129" y="79"/>
                    <a:pt x="131" y="78"/>
                  </a:cubicBezTo>
                  <a:cubicBezTo>
                    <a:pt x="132" y="77"/>
                    <a:pt x="131" y="76"/>
                    <a:pt x="132" y="76"/>
                  </a:cubicBezTo>
                  <a:cubicBezTo>
                    <a:pt x="134" y="74"/>
                    <a:pt x="149" y="73"/>
                    <a:pt x="152" y="73"/>
                  </a:cubicBezTo>
                  <a:cubicBezTo>
                    <a:pt x="152" y="73"/>
                    <a:pt x="152" y="73"/>
                    <a:pt x="152" y="73"/>
                  </a:cubicBezTo>
                  <a:cubicBezTo>
                    <a:pt x="156" y="73"/>
                    <a:pt x="158" y="73"/>
                    <a:pt x="161" y="74"/>
                  </a:cubicBezTo>
                  <a:cubicBezTo>
                    <a:pt x="161" y="74"/>
                    <a:pt x="161" y="75"/>
                    <a:pt x="161" y="75"/>
                  </a:cubicBezTo>
                  <a:close/>
                  <a:moveTo>
                    <a:pt x="168" y="56"/>
                  </a:moveTo>
                  <a:cubicBezTo>
                    <a:pt x="169" y="56"/>
                    <a:pt x="166" y="61"/>
                    <a:pt x="165" y="61"/>
                  </a:cubicBezTo>
                  <a:cubicBezTo>
                    <a:pt x="163" y="60"/>
                    <a:pt x="152" y="62"/>
                    <a:pt x="149" y="62"/>
                  </a:cubicBezTo>
                  <a:cubicBezTo>
                    <a:pt x="146" y="63"/>
                    <a:pt x="141" y="60"/>
                    <a:pt x="140" y="61"/>
                  </a:cubicBezTo>
                  <a:cubicBezTo>
                    <a:pt x="139" y="61"/>
                    <a:pt x="139" y="61"/>
                    <a:pt x="138" y="61"/>
                  </a:cubicBezTo>
                  <a:cubicBezTo>
                    <a:pt x="138" y="60"/>
                    <a:pt x="138" y="60"/>
                    <a:pt x="138" y="59"/>
                  </a:cubicBezTo>
                  <a:cubicBezTo>
                    <a:pt x="140" y="57"/>
                    <a:pt x="144" y="56"/>
                    <a:pt x="145" y="53"/>
                  </a:cubicBezTo>
                  <a:cubicBezTo>
                    <a:pt x="150" y="50"/>
                    <a:pt x="162" y="55"/>
                    <a:pt x="167" y="51"/>
                  </a:cubicBezTo>
                  <a:cubicBezTo>
                    <a:pt x="168" y="51"/>
                    <a:pt x="168" y="51"/>
                    <a:pt x="170" y="51"/>
                  </a:cubicBezTo>
                  <a:cubicBezTo>
                    <a:pt x="170" y="52"/>
                    <a:pt x="171" y="52"/>
                    <a:pt x="171" y="52"/>
                  </a:cubicBezTo>
                  <a:cubicBezTo>
                    <a:pt x="171" y="55"/>
                    <a:pt x="170" y="55"/>
                    <a:pt x="168" y="56"/>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sz="1800"/>
            </a:p>
          </p:txBody>
        </p:sp>
        <p:sp>
          <p:nvSpPr>
            <p:cNvPr id="39" name="Freeform 15"/>
            <p:cNvSpPr>
              <a:spLocks noEditPoints="1"/>
            </p:cNvSpPr>
            <p:nvPr/>
          </p:nvSpPr>
          <p:spPr bwMode="auto">
            <a:xfrm>
              <a:off x="1968963" y="6306635"/>
              <a:ext cx="195934" cy="152456"/>
            </a:xfrm>
            <a:custGeom>
              <a:avLst/>
              <a:gdLst>
                <a:gd name="T0" fmla="*/ 142 w 146"/>
                <a:gd name="T1" fmla="*/ 77 h 113"/>
                <a:gd name="T2" fmla="*/ 130 w 146"/>
                <a:gd name="T3" fmla="*/ 78 h 113"/>
                <a:gd name="T4" fmla="*/ 120 w 146"/>
                <a:gd name="T5" fmla="*/ 74 h 113"/>
                <a:gd name="T6" fmla="*/ 108 w 146"/>
                <a:gd name="T7" fmla="*/ 55 h 113"/>
                <a:gd name="T8" fmla="*/ 107 w 146"/>
                <a:gd name="T9" fmla="*/ 38 h 113"/>
                <a:gd name="T10" fmla="*/ 108 w 146"/>
                <a:gd name="T11" fmla="*/ 23 h 113"/>
                <a:gd name="T12" fmla="*/ 113 w 146"/>
                <a:gd name="T13" fmla="*/ 8 h 113"/>
                <a:gd name="T14" fmla="*/ 79 w 146"/>
                <a:gd name="T15" fmla="*/ 2 h 113"/>
                <a:gd name="T16" fmla="*/ 62 w 146"/>
                <a:gd name="T17" fmla="*/ 2 h 113"/>
                <a:gd name="T18" fmla="*/ 41 w 146"/>
                <a:gd name="T19" fmla="*/ 4 h 113"/>
                <a:gd name="T20" fmla="*/ 23 w 146"/>
                <a:gd name="T21" fmla="*/ 7 h 113"/>
                <a:gd name="T22" fmla="*/ 9 w 146"/>
                <a:gd name="T23" fmla="*/ 21 h 113"/>
                <a:gd name="T24" fmla="*/ 12 w 146"/>
                <a:gd name="T25" fmla="*/ 41 h 113"/>
                <a:gd name="T26" fmla="*/ 9 w 146"/>
                <a:gd name="T27" fmla="*/ 68 h 113"/>
                <a:gd name="T28" fmla="*/ 11 w 146"/>
                <a:gd name="T29" fmla="*/ 81 h 113"/>
                <a:gd name="T30" fmla="*/ 20 w 146"/>
                <a:gd name="T31" fmla="*/ 87 h 113"/>
                <a:gd name="T32" fmla="*/ 30 w 146"/>
                <a:gd name="T33" fmla="*/ 87 h 113"/>
                <a:gd name="T34" fmla="*/ 33 w 146"/>
                <a:gd name="T35" fmla="*/ 87 h 113"/>
                <a:gd name="T36" fmla="*/ 43 w 146"/>
                <a:gd name="T37" fmla="*/ 86 h 113"/>
                <a:gd name="T38" fmla="*/ 57 w 146"/>
                <a:gd name="T39" fmla="*/ 85 h 113"/>
                <a:gd name="T40" fmla="*/ 63 w 146"/>
                <a:gd name="T41" fmla="*/ 85 h 113"/>
                <a:gd name="T42" fmla="*/ 71 w 146"/>
                <a:gd name="T43" fmla="*/ 85 h 113"/>
                <a:gd name="T44" fmla="*/ 76 w 146"/>
                <a:gd name="T45" fmla="*/ 84 h 113"/>
                <a:gd name="T46" fmla="*/ 101 w 146"/>
                <a:gd name="T47" fmla="*/ 87 h 113"/>
                <a:gd name="T48" fmla="*/ 107 w 146"/>
                <a:gd name="T49" fmla="*/ 97 h 113"/>
                <a:gd name="T50" fmla="*/ 118 w 146"/>
                <a:gd name="T51" fmla="*/ 112 h 113"/>
                <a:gd name="T52" fmla="*/ 145 w 146"/>
                <a:gd name="T53" fmla="*/ 88 h 113"/>
                <a:gd name="T54" fmla="*/ 48 w 146"/>
                <a:gd name="T55" fmla="*/ 71 h 113"/>
                <a:gd name="T56" fmla="*/ 35 w 146"/>
                <a:gd name="T57" fmla="*/ 73 h 113"/>
                <a:gd name="T58" fmla="*/ 17 w 146"/>
                <a:gd name="T59" fmla="*/ 77 h 113"/>
                <a:gd name="T60" fmla="*/ 46 w 146"/>
                <a:gd name="T61" fmla="*/ 62 h 113"/>
                <a:gd name="T62" fmla="*/ 69 w 146"/>
                <a:gd name="T63" fmla="*/ 61 h 113"/>
                <a:gd name="T64" fmla="*/ 95 w 146"/>
                <a:gd name="T65" fmla="*/ 61 h 113"/>
                <a:gd name="T66" fmla="*/ 57 w 146"/>
                <a:gd name="T67" fmla="*/ 46 h 113"/>
                <a:gd name="T68" fmla="*/ 42 w 146"/>
                <a:gd name="T69" fmla="*/ 48 h 113"/>
                <a:gd name="T70" fmla="*/ 26 w 146"/>
                <a:gd name="T71" fmla="*/ 44 h 113"/>
                <a:gd name="T72" fmla="*/ 43 w 146"/>
                <a:gd name="T73" fmla="*/ 39 h 113"/>
                <a:gd name="T74" fmla="*/ 54 w 146"/>
                <a:gd name="T75" fmla="*/ 39 h 113"/>
                <a:gd name="T76" fmla="*/ 84 w 146"/>
                <a:gd name="T77" fmla="*/ 39 h 113"/>
                <a:gd name="T78" fmla="*/ 92 w 146"/>
                <a:gd name="T79" fmla="*/ 48 h 113"/>
                <a:gd name="T80" fmla="*/ 66 w 146"/>
                <a:gd name="T81" fmla="*/ 25 h 113"/>
                <a:gd name="T82" fmla="*/ 54 w 146"/>
                <a:gd name="T83" fmla="*/ 25 h 113"/>
                <a:gd name="T84" fmla="*/ 30 w 146"/>
                <a:gd name="T85" fmla="*/ 29 h 113"/>
                <a:gd name="T86" fmla="*/ 31 w 146"/>
                <a:gd name="T87" fmla="*/ 21 h 113"/>
                <a:gd name="T88" fmla="*/ 46 w 146"/>
                <a:gd name="T89" fmla="*/ 18 h 113"/>
                <a:gd name="T90" fmla="*/ 67 w 146"/>
                <a:gd name="T91" fmla="*/ 18 h 113"/>
                <a:gd name="T92" fmla="*/ 80 w 146"/>
                <a:gd name="T93" fmla="*/ 16 h 113"/>
                <a:gd name="T94" fmla="*/ 95 w 146"/>
                <a:gd name="T95" fmla="*/ 18 h 113"/>
                <a:gd name="T96" fmla="*/ 97 w 146"/>
                <a:gd name="T97" fmla="*/ 25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6" h="113">
                  <a:moveTo>
                    <a:pt x="145" y="88"/>
                  </a:moveTo>
                  <a:cubicBezTo>
                    <a:pt x="143" y="84"/>
                    <a:pt x="140" y="83"/>
                    <a:pt x="142" y="78"/>
                  </a:cubicBezTo>
                  <a:cubicBezTo>
                    <a:pt x="142" y="77"/>
                    <a:pt x="142" y="78"/>
                    <a:pt x="142" y="77"/>
                  </a:cubicBezTo>
                  <a:cubicBezTo>
                    <a:pt x="139" y="77"/>
                    <a:pt x="138" y="80"/>
                    <a:pt x="137" y="81"/>
                  </a:cubicBezTo>
                  <a:cubicBezTo>
                    <a:pt x="135" y="81"/>
                    <a:pt x="135" y="81"/>
                    <a:pt x="135" y="81"/>
                  </a:cubicBezTo>
                  <a:cubicBezTo>
                    <a:pt x="133" y="81"/>
                    <a:pt x="132" y="79"/>
                    <a:pt x="130" y="78"/>
                  </a:cubicBezTo>
                  <a:cubicBezTo>
                    <a:pt x="128" y="76"/>
                    <a:pt x="126" y="77"/>
                    <a:pt x="123" y="75"/>
                  </a:cubicBezTo>
                  <a:cubicBezTo>
                    <a:pt x="123" y="75"/>
                    <a:pt x="122" y="75"/>
                    <a:pt x="122" y="76"/>
                  </a:cubicBezTo>
                  <a:cubicBezTo>
                    <a:pt x="122" y="76"/>
                    <a:pt x="120" y="74"/>
                    <a:pt x="120" y="74"/>
                  </a:cubicBezTo>
                  <a:cubicBezTo>
                    <a:pt x="118" y="74"/>
                    <a:pt x="115" y="75"/>
                    <a:pt x="114" y="75"/>
                  </a:cubicBezTo>
                  <a:cubicBezTo>
                    <a:pt x="112" y="74"/>
                    <a:pt x="111" y="72"/>
                    <a:pt x="108" y="71"/>
                  </a:cubicBezTo>
                  <a:cubicBezTo>
                    <a:pt x="106" y="68"/>
                    <a:pt x="107" y="59"/>
                    <a:pt x="108" y="55"/>
                  </a:cubicBezTo>
                  <a:cubicBezTo>
                    <a:pt x="107" y="53"/>
                    <a:pt x="107" y="50"/>
                    <a:pt x="107" y="48"/>
                  </a:cubicBezTo>
                  <a:cubicBezTo>
                    <a:pt x="107" y="47"/>
                    <a:pt x="107" y="47"/>
                    <a:pt x="107" y="46"/>
                  </a:cubicBezTo>
                  <a:cubicBezTo>
                    <a:pt x="108" y="45"/>
                    <a:pt x="108" y="39"/>
                    <a:pt x="107" y="38"/>
                  </a:cubicBezTo>
                  <a:cubicBezTo>
                    <a:pt x="108" y="37"/>
                    <a:pt x="108" y="37"/>
                    <a:pt x="109" y="36"/>
                  </a:cubicBezTo>
                  <a:cubicBezTo>
                    <a:pt x="109" y="34"/>
                    <a:pt x="108" y="33"/>
                    <a:pt x="108" y="32"/>
                  </a:cubicBezTo>
                  <a:cubicBezTo>
                    <a:pt x="109" y="31"/>
                    <a:pt x="107" y="24"/>
                    <a:pt x="108" y="23"/>
                  </a:cubicBezTo>
                  <a:cubicBezTo>
                    <a:pt x="108" y="22"/>
                    <a:pt x="110" y="21"/>
                    <a:pt x="110" y="21"/>
                  </a:cubicBezTo>
                  <a:cubicBezTo>
                    <a:pt x="110" y="21"/>
                    <a:pt x="111" y="18"/>
                    <a:pt x="112" y="18"/>
                  </a:cubicBezTo>
                  <a:cubicBezTo>
                    <a:pt x="115" y="15"/>
                    <a:pt x="114" y="11"/>
                    <a:pt x="113" y="8"/>
                  </a:cubicBezTo>
                  <a:cubicBezTo>
                    <a:pt x="112" y="7"/>
                    <a:pt x="111" y="6"/>
                    <a:pt x="110" y="5"/>
                  </a:cubicBezTo>
                  <a:cubicBezTo>
                    <a:pt x="107" y="4"/>
                    <a:pt x="102" y="3"/>
                    <a:pt x="97" y="2"/>
                  </a:cubicBezTo>
                  <a:cubicBezTo>
                    <a:pt x="91" y="0"/>
                    <a:pt x="83" y="5"/>
                    <a:pt x="79" y="2"/>
                  </a:cubicBezTo>
                  <a:cubicBezTo>
                    <a:pt x="77" y="3"/>
                    <a:pt x="74" y="2"/>
                    <a:pt x="74" y="1"/>
                  </a:cubicBezTo>
                  <a:cubicBezTo>
                    <a:pt x="73" y="2"/>
                    <a:pt x="69" y="2"/>
                    <a:pt x="68" y="1"/>
                  </a:cubicBezTo>
                  <a:cubicBezTo>
                    <a:pt x="67" y="3"/>
                    <a:pt x="64" y="1"/>
                    <a:pt x="62" y="2"/>
                  </a:cubicBezTo>
                  <a:cubicBezTo>
                    <a:pt x="60" y="2"/>
                    <a:pt x="58" y="3"/>
                    <a:pt x="56" y="4"/>
                  </a:cubicBezTo>
                  <a:cubicBezTo>
                    <a:pt x="56" y="3"/>
                    <a:pt x="53" y="3"/>
                    <a:pt x="52" y="3"/>
                  </a:cubicBezTo>
                  <a:cubicBezTo>
                    <a:pt x="49" y="5"/>
                    <a:pt x="46" y="3"/>
                    <a:pt x="41" y="4"/>
                  </a:cubicBezTo>
                  <a:cubicBezTo>
                    <a:pt x="41" y="4"/>
                    <a:pt x="38" y="5"/>
                    <a:pt x="36" y="5"/>
                  </a:cubicBezTo>
                  <a:cubicBezTo>
                    <a:pt x="36" y="5"/>
                    <a:pt x="36" y="4"/>
                    <a:pt x="36" y="4"/>
                  </a:cubicBezTo>
                  <a:cubicBezTo>
                    <a:pt x="35" y="6"/>
                    <a:pt x="25" y="6"/>
                    <a:pt x="23" y="7"/>
                  </a:cubicBezTo>
                  <a:cubicBezTo>
                    <a:pt x="17" y="7"/>
                    <a:pt x="10" y="4"/>
                    <a:pt x="7" y="6"/>
                  </a:cubicBezTo>
                  <a:cubicBezTo>
                    <a:pt x="0" y="11"/>
                    <a:pt x="6" y="13"/>
                    <a:pt x="9" y="19"/>
                  </a:cubicBezTo>
                  <a:cubicBezTo>
                    <a:pt x="10" y="20"/>
                    <a:pt x="9" y="21"/>
                    <a:pt x="9" y="21"/>
                  </a:cubicBezTo>
                  <a:cubicBezTo>
                    <a:pt x="10" y="22"/>
                    <a:pt x="11" y="23"/>
                    <a:pt x="11" y="24"/>
                  </a:cubicBezTo>
                  <a:cubicBezTo>
                    <a:pt x="11" y="24"/>
                    <a:pt x="14" y="31"/>
                    <a:pt x="13" y="32"/>
                  </a:cubicBezTo>
                  <a:cubicBezTo>
                    <a:pt x="11" y="35"/>
                    <a:pt x="12" y="36"/>
                    <a:pt x="12" y="41"/>
                  </a:cubicBezTo>
                  <a:cubicBezTo>
                    <a:pt x="12" y="44"/>
                    <a:pt x="12" y="44"/>
                    <a:pt x="12" y="44"/>
                  </a:cubicBezTo>
                  <a:cubicBezTo>
                    <a:pt x="11" y="46"/>
                    <a:pt x="9" y="56"/>
                    <a:pt x="9" y="56"/>
                  </a:cubicBezTo>
                  <a:cubicBezTo>
                    <a:pt x="10" y="60"/>
                    <a:pt x="10" y="67"/>
                    <a:pt x="9" y="68"/>
                  </a:cubicBezTo>
                  <a:cubicBezTo>
                    <a:pt x="9" y="71"/>
                    <a:pt x="10" y="75"/>
                    <a:pt x="10" y="76"/>
                  </a:cubicBezTo>
                  <a:cubicBezTo>
                    <a:pt x="9" y="77"/>
                    <a:pt x="9" y="79"/>
                    <a:pt x="9" y="81"/>
                  </a:cubicBezTo>
                  <a:cubicBezTo>
                    <a:pt x="10" y="81"/>
                    <a:pt x="11" y="81"/>
                    <a:pt x="11" y="81"/>
                  </a:cubicBezTo>
                  <a:cubicBezTo>
                    <a:pt x="13" y="82"/>
                    <a:pt x="13" y="84"/>
                    <a:pt x="15" y="85"/>
                  </a:cubicBezTo>
                  <a:cubicBezTo>
                    <a:pt x="16" y="87"/>
                    <a:pt x="19" y="86"/>
                    <a:pt x="20" y="87"/>
                  </a:cubicBezTo>
                  <a:cubicBezTo>
                    <a:pt x="20" y="87"/>
                    <a:pt x="20" y="87"/>
                    <a:pt x="20" y="87"/>
                  </a:cubicBezTo>
                  <a:cubicBezTo>
                    <a:pt x="21" y="87"/>
                    <a:pt x="20" y="87"/>
                    <a:pt x="21" y="87"/>
                  </a:cubicBezTo>
                  <a:cubicBezTo>
                    <a:pt x="24" y="87"/>
                    <a:pt x="25" y="87"/>
                    <a:pt x="27" y="86"/>
                  </a:cubicBezTo>
                  <a:cubicBezTo>
                    <a:pt x="28" y="86"/>
                    <a:pt x="29" y="86"/>
                    <a:pt x="30" y="87"/>
                  </a:cubicBezTo>
                  <a:cubicBezTo>
                    <a:pt x="30" y="86"/>
                    <a:pt x="30" y="86"/>
                    <a:pt x="31" y="86"/>
                  </a:cubicBezTo>
                  <a:cubicBezTo>
                    <a:pt x="32" y="86"/>
                    <a:pt x="32" y="86"/>
                    <a:pt x="32" y="86"/>
                  </a:cubicBezTo>
                  <a:cubicBezTo>
                    <a:pt x="32" y="86"/>
                    <a:pt x="33" y="87"/>
                    <a:pt x="33" y="87"/>
                  </a:cubicBezTo>
                  <a:cubicBezTo>
                    <a:pt x="33" y="87"/>
                    <a:pt x="33" y="87"/>
                    <a:pt x="33" y="87"/>
                  </a:cubicBezTo>
                  <a:cubicBezTo>
                    <a:pt x="36" y="87"/>
                    <a:pt x="40" y="85"/>
                    <a:pt x="43" y="85"/>
                  </a:cubicBezTo>
                  <a:cubicBezTo>
                    <a:pt x="43" y="86"/>
                    <a:pt x="43" y="86"/>
                    <a:pt x="43" y="86"/>
                  </a:cubicBezTo>
                  <a:cubicBezTo>
                    <a:pt x="44" y="85"/>
                    <a:pt x="46" y="84"/>
                    <a:pt x="46" y="84"/>
                  </a:cubicBezTo>
                  <a:cubicBezTo>
                    <a:pt x="46" y="84"/>
                    <a:pt x="49" y="85"/>
                    <a:pt x="50" y="86"/>
                  </a:cubicBezTo>
                  <a:cubicBezTo>
                    <a:pt x="52" y="85"/>
                    <a:pt x="55" y="85"/>
                    <a:pt x="57" y="85"/>
                  </a:cubicBezTo>
                  <a:cubicBezTo>
                    <a:pt x="57" y="85"/>
                    <a:pt x="57" y="86"/>
                    <a:pt x="58" y="86"/>
                  </a:cubicBezTo>
                  <a:cubicBezTo>
                    <a:pt x="59" y="86"/>
                    <a:pt x="61" y="85"/>
                    <a:pt x="62" y="85"/>
                  </a:cubicBezTo>
                  <a:cubicBezTo>
                    <a:pt x="63" y="84"/>
                    <a:pt x="62" y="85"/>
                    <a:pt x="63" y="85"/>
                  </a:cubicBezTo>
                  <a:cubicBezTo>
                    <a:pt x="63" y="85"/>
                    <a:pt x="63" y="85"/>
                    <a:pt x="63" y="85"/>
                  </a:cubicBezTo>
                  <a:cubicBezTo>
                    <a:pt x="65" y="85"/>
                    <a:pt x="69" y="84"/>
                    <a:pt x="70" y="85"/>
                  </a:cubicBezTo>
                  <a:cubicBezTo>
                    <a:pt x="71" y="85"/>
                    <a:pt x="71" y="85"/>
                    <a:pt x="71" y="85"/>
                  </a:cubicBezTo>
                  <a:cubicBezTo>
                    <a:pt x="72" y="85"/>
                    <a:pt x="72" y="84"/>
                    <a:pt x="72" y="84"/>
                  </a:cubicBezTo>
                  <a:cubicBezTo>
                    <a:pt x="72" y="85"/>
                    <a:pt x="72" y="85"/>
                    <a:pt x="72" y="85"/>
                  </a:cubicBezTo>
                  <a:cubicBezTo>
                    <a:pt x="74" y="85"/>
                    <a:pt x="75" y="83"/>
                    <a:pt x="76" y="84"/>
                  </a:cubicBezTo>
                  <a:cubicBezTo>
                    <a:pt x="77" y="85"/>
                    <a:pt x="82" y="84"/>
                    <a:pt x="83" y="84"/>
                  </a:cubicBezTo>
                  <a:cubicBezTo>
                    <a:pt x="89" y="87"/>
                    <a:pt x="97" y="86"/>
                    <a:pt x="99" y="88"/>
                  </a:cubicBezTo>
                  <a:cubicBezTo>
                    <a:pt x="99" y="87"/>
                    <a:pt x="100" y="87"/>
                    <a:pt x="101" y="87"/>
                  </a:cubicBezTo>
                  <a:cubicBezTo>
                    <a:pt x="102" y="88"/>
                    <a:pt x="104" y="91"/>
                    <a:pt x="105" y="91"/>
                  </a:cubicBezTo>
                  <a:cubicBezTo>
                    <a:pt x="105" y="94"/>
                    <a:pt x="105" y="95"/>
                    <a:pt x="106" y="97"/>
                  </a:cubicBezTo>
                  <a:cubicBezTo>
                    <a:pt x="106" y="97"/>
                    <a:pt x="106" y="97"/>
                    <a:pt x="107" y="97"/>
                  </a:cubicBezTo>
                  <a:cubicBezTo>
                    <a:pt x="106" y="99"/>
                    <a:pt x="112" y="108"/>
                    <a:pt x="113" y="110"/>
                  </a:cubicBezTo>
                  <a:cubicBezTo>
                    <a:pt x="114" y="110"/>
                    <a:pt x="116" y="110"/>
                    <a:pt x="117" y="111"/>
                  </a:cubicBezTo>
                  <a:cubicBezTo>
                    <a:pt x="117" y="111"/>
                    <a:pt x="118" y="112"/>
                    <a:pt x="118" y="112"/>
                  </a:cubicBezTo>
                  <a:cubicBezTo>
                    <a:pt x="119" y="112"/>
                    <a:pt x="123" y="113"/>
                    <a:pt x="125" y="112"/>
                  </a:cubicBezTo>
                  <a:cubicBezTo>
                    <a:pt x="130" y="109"/>
                    <a:pt x="145" y="99"/>
                    <a:pt x="146" y="91"/>
                  </a:cubicBezTo>
                  <a:cubicBezTo>
                    <a:pt x="145" y="90"/>
                    <a:pt x="146" y="89"/>
                    <a:pt x="145" y="88"/>
                  </a:cubicBezTo>
                  <a:close/>
                  <a:moveTo>
                    <a:pt x="97" y="69"/>
                  </a:moveTo>
                  <a:cubicBezTo>
                    <a:pt x="96" y="72"/>
                    <a:pt x="88" y="72"/>
                    <a:pt x="85" y="71"/>
                  </a:cubicBezTo>
                  <a:cubicBezTo>
                    <a:pt x="78" y="70"/>
                    <a:pt x="53" y="69"/>
                    <a:pt x="48" y="71"/>
                  </a:cubicBezTo>
                  <a:cubicBezTo>
                    <a:pt x="37" y="71"/>
                    <a:pt x="37" y="71"/>
                    <a:pt x="37" y="71"/>
                  </a:cubicBezTo>
                  <a:cubicBezTo>
                    <a:pt x="37" y="72"/>
                    <a:pt x="37" y="72"/>
                    <a:pt x="37" y="72"/>
                  </a:cubicBezTo>
                  <a:cubicBezTo>
                    <a:pt x="36" y="73"/>
                    <a:pt x="35" y="71"/>
                    <a:pt x="35" y="73"/>
                  </a:cubicBezTo>
                  <a:cubicBezTo>
                    <a:pt x="34" y="73"/>
                    <a:pt x="34" y="72"/>
                    <a:pt x="33" y="72"/>
                  </a:cubicBezTo>
                  <a:cubicBezTo>
                    <a:pt x="33" y="72"/>
                    <a:pt x="19" y="78"/>
                    <a:pt x="18" y="78"/>
                  </a:cubicBezTo>
                  <a:cubicBezTo>
                    <a:pt x="18" y="78"/>
                    <a:pt x="17" y="77"/>
                    <a:pt x="17" y="77"/>
                  </a:cubicBezTo>
                  <a:cubicBezTo>
                    <a:pt x="17" y="64"/>
                    <a:pt x="29" y="66"/>
                    <a:pt x="38" y="61"/>
                  </a:cubicBezTo>
                  <a:cubicBezTo>
                    <a:pt x="40" y="62"/>
                    <a:pt x="41" y="62"/>
                    <a:pt x="43" y="62"/>
                  </a:cubicBezTo>
                  <a:cubicBezTo>
                    <a:pt x="43" y="61"/>
                    <a:pt x="46" y="62"/>
                    <a:pt x="46" y="62"/>
                  </a:cubicBezTo>
                  <a:cubicBezTo>
                    <a:pt x="46" y="61"/>
                    <a:pt x="53" y="60"/>
                    <a:pt x="53" y="60"/>
                  </a:cubicBezTo>
                  <a:cubicBezTo>
                    <a:pt x="57" y="58"/>
                    <a:pt x="61" y="62"/>
                    <a:pt x="65" y="60"/>
                  </a:cubicBezTo>
                  <a:cubicBezTo>
                    <a:pt x="65" y="60"/>
                    <a:pt x="68" y="60"/>
                    <a:pt x="69" y="61"/>
                  </a:cubicBezTo>
                  <a:cubicBezTo>
                    <a:pt x="70" y="59"/>
                    <a:pt x="79" y="62"/>
                    <a:pt x="80" y="60"/>
                  </a:cubicBezTo>
                  <a:cubicBezTo>
                    <a:pt x="81" y="60"/>
                    <a:pt x="89" y="60"/>
                    <a:pt x="90" y="60"/>
                  </a:cubicBezTo>
                  <a:cubicBezTo>
                    <a:pt x="91" y="60"/>
                    <a:pt x="93" y="61"/>
                    <a:pt x="95" y="61"/>
                  </a:cubicBezTo>
                  <a:cubicBezTo>
                    <a:pt x="94" y="62"/>
                    <a:pt x="98" y="66"/>
                    <a:pt x="97" y="69"/>
                  </a:cubicBezTo>
                  <a:close/>
                  <a:moveTo>
                    <a:pt x="92" y="48"/>
                  </a:moveTo>
                  <a:cubicBezTo>
                    <a:pt x="84" y="44"/>
                    <a:pt x="59" y="48"/>
                    <a:pt x="57" y="46"/>
                  </a:cubicBezTo>
                  <a:cubicBezTo>
                    <a:pt x="54" y="47"/>
                    <a:pt x="51" y="47"/>
                    <a:pt x="48" y="48"/>
                  </a:cubicBezTo>
                  <a:cubicBezTo>
                    <a:pt x="49" y="47"/>
                    <a:pt x="43" y="49"/>
                    <a:pt x="42" y="48"/>
                  </a:cubicBezTo>
                  <a:cubicBezTo>
                    <a:pt x="42" y="48"/>
                    <a:pt x="42" y="48"/>
                    <a:pt x="42" y="48"/>
                  </a:cubicBezTo>
                  <a:cubicBezTo>
                    <a:pt x="39" y="50"/>
                    <a:pt x="27" y="53"/>
                    <a:pt x="23" y="51"/>
                  </a:cubicBezTo>
                  <a:cubicBezTo>
                    <a:pt x="23" y="50"/>
                    <a:pt x="23" y="48"/>
                    <a:pt x="23" y="47"/>
                  </a:cubicBezTo>
                  <a:cubicBezTo>
                    <a:pt x="24" y="46"/>
                    <a:pt x="25" y="45"/>
                    <a:pt x="26" y="44"/>
                  </a:cubicBezTo>
                  <a:cubicBezTo>
                    <a:pt x="27" y="44"/>
                    <a:pt x="28" y="44"/>
                    <a:pt x="30" y="44"/>
                  </a:cubicBezTo>
                  <a:cubicBezTo>
                    <a:pt x="31" y="42"/>
                    <a:pt x="33" y="42"/>
                    <a:pt x="35" y="42"/>
                  </a:cubicBezTo>
                  <a:cubicBezTo>
                    <a:pt x="37" y="41"/>
                    <a:pt x="40" y="40"/>
                    <a:pt x="43" y="39"/>
                  </a:cubicBezTo>
                  <a:cubicBezTo>
                    <a:pt x="44" y="39"/>
                    <a:pt x="45" y="39"/>
                    <a:pt x="46" y="40"/>
                  </a:cubicBezTo>
                  <a:cubicBezTo>
                    <a:pt x="48" y="39"/>
                    <a:pt x="51" y="39"/>
                    <a:pt x="52" y="38"/>
                  </a:cubicBezTo>
                  <a:cubicBezTo>
                    <a:pt x="52" y="38"/>
                    <a:pt x="54" y="39"/>
                    <a:pt x="54" y="39"/>
                  </a:cubicBezTo>
                  <a:cubicBezTo>
                    <a:pt x="55" y="39"/>
                    <a:pt x="64" y="38"/>
                    <a:pt x="64" y="37"/>
                  </a:cubicBezTo>
                  <a:cubicBezTo>
                    <a:pt x="67" y="37"/>
                    <a:pt x="77" y="38"/>
                    <a:pt x="78" y="39"/>
                  </a:cubicBezTo>
                  <a:cubicBezTo>
                    <a:pt x="79" y="38"/>
                    <a:pt x="84" y="39"/>
                    <a:pt x="84" y="39"/>
                  </a:cubicBezTo>
                  <a:cubicBezTo>
                    <a:pt x="85" y="39"/>
                    <a:pt x="95" y="39"/>
                    <a:pt x="96" y="40"/>
                  </a:cubicBezTo>
                  <a:cubicBezTo>
                    <a:pt x="98" y="41"/>
                    <a:pt x="96" y="45"/>
                    <a:pt x="97" y="46"/>
                  </a:cubicBezTo>
                  <a:cubicBezTo>
                    <a:pt x="97" y="46"/>
                    <a:pt x="93" y="49"/>
                    <a:pt x="92" y="48"/>
                  </a:cubicBezTo>
                  <a:close/>
                  <a:moveTo>
                    <a:pt x="97" y="25"/>
                  </a:moveTo>
                  <a:cubicBezTo>
                    <a:pt x="91" y="29"/>
                    <a:pt x="82" y="22"/>
                    <a:pt x="78" y="24"/>
                  </a:cubicBezTo>
                  <a:cubicBezTo>
                    <a:pt x="75" y="25"/>
                    <a:pt x="70" y="24"/>
                    <a:pt x="66" y="25"/>
                  </a:cubicBezTo>
                  <a:cubicBezTo>
                    <a:pt x="65" y="25"/>
                    <a:pt x="64" y="25"/>
                    <a:pt x="63" y="25"/>
                  </a:cubicBezTo>
                  <a:cubicBezTo>
                    <a:pt x="62" y="25"/>
                    <a:pt x="57" y="26"/>
                    <a:pt x="56" y="26"/>
                  </a:cubicBezTo>
                  <a:cubicBezTo>
                    <a:pt x="55" y="26"/>
                    <a:pt x="55" y="25"/>
                    <a:pt x="54" y="25"/>
                  </a:cubicBezTo>
                  <a:cubicBezTo>
                    <a:pt x="50" y="26"/>
                    <a:pt x="48" y="27"/>
                    <a:pt x="42" y="27"/>
                  </a:cubicBezTo>
                  <a:cubicBezTo>
                    <a:pt x="41" y="27"/>
                    <a:pt x="41" y="28"/>
                    <a:pt x="40" y="28"/>
                  </a:cubicBezTo>
                  <a:cubicBezTo>
                    <a:pt x="30" y="29"/>
                    <a:pt x="30" y="29"/>
                    <a:pt x="30" y="29"/>
                  </a:cubicBezTo>
                  <a:cubicBezTo>
                    <a:pt x="28" y="29"/>
                    <a:pt x="26" y="26"/>
                    <a:pt x="25" y="26"/>
                  </a:cubicBezTo>
                  <a:cubicBezTo>
                    <a:pt x="25" y="24"/>
                    <a:pt x="26" y="25"/>
                    <a:pt x="27" y="24"/>
                  </a:cubicBezTo>
                  <a:cubicBezTo>
                    <a:pt x="29" y="23"/>
                    <a:pt x="29" y="22"/>
                    <a:pt x="31" y="21"/>
                  </a:cubicBezTo>
                  <a:cubicBezTo>
                    <a:pt x="33" y="21"/>
                    <a:pt x="33" y="21"/>
                    <a:pt x="33" y="21"/>
                  </a:cubicBezTo>
                  <a:cubicBezTo>
                    <a:pt x="35" y="20"/>
                    <a:pt x="38" y="20"/>
                    <a:pt x="42" y="18"/>
                  </a:cubicBezTo>
                  <a:cubicBezTo>
                    <a:pt x="42" y="17"/>
                    <a:pt x="45" y="18"/>
                    <a:pt x="46" y="18"/>
                  </a:cubicBezTo>
                  <a:cubicBezTo>
                    <a:pt x="46" y="17"/>
                    <a:pt x="50" y="17"/>
                    <a:pt x="51" y="17"/>
                  </a:cubicBezTo>
                  <a:cubicBezTo>
                    <a:pt x="53" y="16"/>
                    <a:pt x="59" y="17"/>
                    <a:pt x="61" y="17"/>
                  </a:cubicBezTo>
                  <a:cubicBezTo>
                    <a:pt x="64" y="16"/>
                    <a:pt x="66" y="17"/>
                    <a:pt x="67" y="18"/>
                  </a:cubicBezTo>
                  <a:cubicBezTo>
                    <a:pt x="70" y="18"/>
                    <a:pt x="74" y="17"/>
                    <a:pt x="75" y="17"/>
                  </a:cubicBezTo>
                  <a:cubicBezTo>
                    <a:pt x="77" y="16"/>
                    <a:pt x="79" y="18"/>
                    <a:pt x="80" y="17"/>
                  </a:cubicBezTo>
                  <a:cubicBezTo>
                    <a:pt x="80" y="17"/>
                    <a:pt x="80" y="17"/>
                    <a:pt x="80" y="16"/>
                  </a:cubicBezTo>
                  <a:cubicBezTo>
                    <a:pt x="81" y="16"/>
                    <a:pt x="83" y="17"/>
                    <a:pt x="83" y="17"/>
                  </a:cubicBezTo>
                  <a:cubicBezTo>
                    <a:pt x="83" y="17"/>
                    <a:pt x="88" y="16"/>
                    <a:pt x="89" y="17"/>
                  </a:cubicBezTo>
                  <a:cubicBezTo>
                    <a:pt x="89" y="17"/>
                    <a:pt x="94" y="18"/>
                    <a:pt x="95" y="18"/>
                  </a:cubicBezTo>
                  <a:cubicBezTo>
                    <a:pt x="96" y="18"/>
                    <a:pt x="96" y="19"/>
                    <a:pt x="96" y="18"/>
                  </a:cubicBezTo>
                  <a:cubicBezTo>
                    <a:pt x="97" y="19"/>
                    <a:pt x="98" y="19"/>
                    <a:pt x="99" y="20"/>
                  </a:cubicBezTo>
                  <a:cubicBezTo>
                    <a:pt x="99" y="22"/>
                    <a:pt x="98" y="23"/>
                    <a:pt x="97" y="25"/>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sz="1800"/>
            </a:p>
          </p:txBody>
        </p:sp>
        <p:sp>
          <p:nvSpPr>
            <p:cNvPr id="40" name="Freeform 16"/>
            <p:cNvSpPr/>
            <p:nvPr/>
          </p:nvSpPr>
          <p:spPr bwMode="auto">
            <a:xfrm>
              <a:off x="1943554" y="6403755"/>
              <a:ext cx="32185" cy="52512"/>
            </a:xfrm>
            <a:custGeom>
              <a:avLst/>
              <a:gdLst>
                <a:gd name="T0" fmla="*/ 6 w 24"/>
                <a:gd name="T1" fmla="*/ 0 h 39"/>
                <a:gd name="T2" fmla="*/ 8 w 24"/>
                <a:gd name="T3" fmla="*/ 0 h 39"/>
                <a:gd name="T4" fmla="*/ 8 w 24"/>
                <a:gd name="T5" fmla="*/ 1 h 39"/>
                <a:gd name="T6" fmla="*/ 13 w 24"/>
                <a:gd name="T7" fmla="*/ 16 h 39"/>
                <a:gd name="T8" fmla="*/ 16 w 24"/>
                <a:gd name="T9" fmla="*/ 18 h 39"/>
                <a:gd name="T10" fmla="*/ 17 w 24"/>
                <a:gd name="T11" fmla="*/ 18 h 39"/>
                <a:gd name="T12" fmla="*/ 23 w 24"/>
                <a:gd name="T13" fmla="*/ 15 h 39"/>
                <a:gd name="T14" fmla="*/ 24 w 24"/>
                <a:gd name="T15" fmla="*/ 25 h 39"/>
                <a:gd name="T16" fmla="*/ 24 w 24"/>
                <a:gd name="T17" fmla="*/ 33 h 39"/>
                <a:gd name="T18" fmla="*/ 21 w 24"/>
                <a:gd name="T19" fmla="*/ 37 h 39"/>
                <a:gd name="T20" fmla="*/ 18 w 24"/>
                <a:gd name="T21" fmla="*/ 39 h 39"/>
                <a:gd name="T22" fmla="*/ 3 w 24"/>
                <a:gd name="T23" fmla="*/ 26 h 39"/>
                <a:gd name="T24" fmla="*/ 3 w 24"/>
                <a:gd name="T25" fmla="*/ 24 h 39"/>
                <a:gd name="T26" fmla="*/ 1 w 24"/>
                <a:gd name="T27" fmla="*/ 20 h 39"/>
                <a:gd name="T28" fmla="*/ 2 w 24"/>
                <a:gd name="T29" fmla="*/ 17 h 39"/>
                <a:gd name="T30" fmla="*/ 0 w 24"/>
                <a:gd name="T31" fmla="*/ 10 h 39"/>
                <a:gd name="T32" fmla="*/ 3 w 24"/>
                <a:gd name="T33" fmla="*/ 5 h 39"/>
                <a:gd name="T34" fmla="*/ 6 w 24"/>
                <a:gd name="T3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39">
                  <a:moveTo>
                    <a:pt x="6" y="0"/>
                  </a:moveTo>
                  <a:cubicBezTo>
                    <a:pt x="7" y="0"/>
                    <a:pt x="7" y="0"/>
                    <a:pt x="8" y="0"/>
                  </a:cubicBezTo>
                  <a:cubicBezTo>
                    <a:pt x="8" y="1"/>
                    <a:pt x="8" y="1"/>
                    <a:pt x="8" y="1"/>
                  </a:cubicBezTo>
                  <a:cubicBezTo>
                    <a:pt x="5" y="5"/>
                    <a:pt x="12" y="13"/>
                    <a:pt x="13" y="16"/>
                  </a:cubicBezTo>
                  <a:cubicBezTo>
                    <a:pt x="14" y="17"/>
                    <a:pt x="15" y="16"/>
                    <a:pt x="16" y="18"/>
                  </a:cubicBezTo>
                  <a:cubicBezTo>
                    <a:pt x="16" y="18"/>
                    <a:pt x="17" y="18"/>
                    <a:pt x="17" y="18"/>
                  </a:cubicBezTo>
                  <a:cubicBezTo>
                    <a:pt x="18" y="16"/>
                    <a:pt x="21" y="15"/>
                    <a:pt x="23" y="15"/>
                  </a:cubicBezTo>
                  <a:cubicBezTo>
                    <a:pt x="24" y="19"/>
                    <a:pt x="20" y="21"/>
                    <a:pt x="24" y="25"/>
                  </a:cubicBezTo>
                  <a:cubicBezTo>
                    <a:pt x="24" y="28"/>
                    <a:pt x="24" y="30"/>
                    <a:pt x="24" y="33"/>
                  </a:cubicBezTo>
                  <a:cubicBezTo>
                    <a:pt x="23" y="34"/>
                    <a:pt x="22" y="36"/>
                    <a:pt x="21" y="37"/>
                  </a:cubicBezTo>
                  <a:cubicBezTo>
                    <a:pt x="20" y="38"/>
                    <a:pt x="19" y="38"/>
                    <a:pt x="18" y="39"/>
                  </a:cubicBezTo>
                  <a:cubicBezTo>
                    <a:pt x="12" y="37"/>
                    <a:pt x="6" y="31"/>
                    <a:pt x="3" y="26"/>
                  </a:cubicBezTo>
                  <a:cubicBezTo>
                    <a:pt x="3" y="26"/>
                    <a:pt x="4" y="25"/>
                    <a:pt x="3" y="24"/>
                  </a:cubicBezTo>
                  <a:cubicBezTo>
                    <a:pt x="3" y="23"/>
                    <a:pt x="2" y="21"/>
                    <a:pt x="1" y="20"/>
                  </a:cubicBezTo>
                  <a:cubicBezTo>
                    <a:pt x="1" y="19"/>
                    <a:pt x="2" y="18"/>
                    <a:pt x="2" y="17"/>
                  </a:cubicBezTo>
                  <a:cubicBezTo>
                    <a:pt x="1" y="15"/>
                    <a:pt x="0" y="13"/>
                    <a:pt x="0" y="10"/>
                  </a:cubicBezTo>
                  <a:cubicBezTo>
                    <a:pt x="1" y="9"/>
                    <a:pt x="2" y="7"/>
                    <a:pt x="3" y="5"/>
                  </a:cubicBezTo>
                  <a:cubicBezTo>
                    <a:pt x="4" y="3"/>
                    <a:pt x="4" y="2"/>
                    <a:pt x="6"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sz="1800"/>
            </a:p>
          </p:txBody>
        </p:sp>
      </p:grpSp>
      <p:sp>
        <p:nvSpPr>
          <p:cNvPr id="42" name="矩形: 圆角 41"/>
          <p:cNvSpPr/>
          <p:nvPr userDrawn="1"/>
        </p:nvSpPr>
        <p:spPr>
          <a:xfrm>
            <a:off x="1074557" y="1385745"/>
            <a:ext cx="1203325" cy="452740"/>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3" name="矩形: 圆角 42"/>
          <p:cNvSpPr/>
          <p:nvPr userDrawn="1"/>
        </p:nvSpPr>
        <p:spPr>
          <a:xfrm>
            <a:off x="1872409" y="1631011"/>
            <a:ext cx="752680" cy="358218"/>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4" name="矩形: 圆角 43"/>
          <p:cNvSpPr/>
          <p:nvPr userDrawn="1"/>
        </p:nvSpPr>
        <p:spPr>
          <a:xfrm>
            <a:off x="2403746" y="1932752"/>
            <a:ext cx="872855" cy="139738"/>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6" name="矩形 45"/>
          <p:cNvSpPr/>
          <p:nvPr/>
        </p:nvSpPr>
        <p:spPr>
          <a:xfrm>
            <a:off x="4240725" y="3777015"/>
            <a:ext cx="142876" cy="1104539"/>
          </a:xfrm>
          <a:prstGeom prst="rect">
            <a:avLst/>
          </a:pr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7" name="矩形 46"/>
          <p:cNvSpPr/>
          <p:nvPr/>
        </p:nvSpPr>
        <p:spPr>
          <a:xfrm>
            <a:off x="4417500" y="3777015"/>
            <a:ext cx="72000" cy="110453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48" name="文本框 47"/>
          <p:cNvSpPr txBox="1"/>
          <p:nvPr/>
        </p:nvSpPr>
        <p:spPr>
          <a:xfrm>
            <a:off x="4569901" y="3728439"/>
            <a:ext cx="1266825" cy="369674"/>
          </a:xfrm>
          <a:prstGeom prst="rect">
            <a:avLst/>
          </a:prstGeom>
          <a:noFill/>
        </p:spPr>
        <p:txBody>
          <a:bodyPr wrap="square" rtlCol="0">
            <a:spAutoFit/>
          </a:bodyPr>
          <a:lstStyle/>
          <a:p>
            <a:r>
              <a:rPr sz="1800">
                <a:latin typeface="Microsoft YaHei"/>
              </a:rPr>
              <a:t>授课对象</a:t>
            </a:r>
          </a:p>
        </p:txBody>
      </p:sp>
      <p:sp>
        <p:nvSpPr>
          <p:cNvPr id="49" name="文本框 48"/>
          <p:cNvSpPr txBox="1"/>
          <p:nvPr/>
        </p:nvSpPr>
        <p:spPr>
          <a:xfrm>
            <a:off x="4569901" y="4128920"/>
            <a:ext cx="1266825" cy="369674"/>
          </a:xfrm>
          <a:prstGeom prst="rect">
            <a:avLst/>
          </a:prstGeom>
          <a:noFill/>
        </p:spPr>
        <p:txBody>
          <a:bodyPr wrap="square" rtlCol="0">
            <a:spAutoFit/>
          </a:bodyPr>
          <a:lstStyle/>
          <a:p>
            <a:r>
              <a:rPr sz="1800">
                <a:latin typeface="Microsoft YaHei"/>
              </a:rPr>
              <a:t>课程专题</a:t>
            </a:r>
          </a:p>
        </p:txBody>
      </p:sp>
      <p:sp>
        <p:nvSpPr>
          <p:cNvPr id="50" name="文本框 49"/>
          <p:cNvSpPr txBox="1"/>
          <p:nvPr/>
        </p:nvSpPr>
        <p:spPr>
          <a:xfrm>
            <a:off x="4569901" y="4511881"/>
            <a:ext cx="1266825" cy="369674"/>
          </a:xfrm>
          <a:prstGeom prst="rect">
            <a:avLst/>
          </a:prstGeom>
          <a:noFill/>
        </p:spPr>
        <p:txBody>
          <a:bodyPr wrap="square" rtlCol="0">
            <a:spAutoFit/>
          </a:bodyPr>
          <a:lstStyle/>
          <a:p>
            <a:r>
              <a:rPr sz="1800">
                <a:latin typeface="Microsoft YaHei"/>
              </a:rPr>
              <a:t>授课日期</a:t>
            </a:r>
          </a:p>
        </p:txBody>
      </p:sp>
      <p:cxnSp>
        <p:nvCxnSpPr>
          <p:cNvPr id="51" name="直接连接符 50"/>
          <p:cNvCxnSpPr/>
          <p:nvPr/>
        </p:nvCxnSpPr>
        <p:spPr>
          <a:xfrm>
            <a:off x="5836725" y="4031376"/>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5836725" y="4431731"/>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5836725" y="4832085"/>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55" name="文本占位符 54"/>
          <p:cNvSpPr>
            <a:spLocks noGrp="1"/>
          </p:cNvSpPr>
          <p:nvPr userDrawn="1">
            <p:ph type="body" sz="quarter" idx="10" hasCustomPrompt="1"/>
          </p:nvPr>
        </p:nvSpPr>
        <p:spPr>
          <a:xfrm>
            <a:off x="587375" y="2568830"/>
            <a:ext cx="11017250" cy="606987"/>
          </a:xfrm>
        </p:spPr>
        <p:txBody>
          <a:bodyPr>
            <a:normAutofit/>
          </a:bodyPr>
          <a:lstStyle>
            <a:lvl1pPr marL="0" indent="0" algn="ctr">
              <a:lnSpc>
                <a:spcPct val="100000"/>
              </a:lnSpc>
              <a:spcBef>
                <a:spcPts val="0"/>
              </a:spcBef>
              <a:buNone/>
              <a:defRPr sz="3200" b="1">
                <a:solidFill>
                  <a:srgbClr val="003778"/>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a:t>
            </a:r>
            <a:r>
              <a:rPr lang="en-US" altLang="zh-CN" dirty="0">
                <a:latin typeface="Microsoft YaHei"/>
              </a:rPr>
              <a:t>PPT</a:t>
            </a:r>
            <a:r>
              <a:rPr lang="zh-CN" altLang="en-US" dirty="0">
                <a:latin typeface="Microsoft YaHei"/>
              </a:rPr>
              <a:t>标题内容文本</a:t>
            </a:r>
            <a:endParaRPr lang="zh-CN" altLang="en-US" dirty="0"/>
          </a:p>
        </p:txBody>
      </p:sp>
      <p:sp>
        <p:nvSpPr>
          <p:cNvPr id="57" name="文本占位符 56"/>
          <p:cNvSpPr>
            <a:spLocks noGrp="1"/>
          </p:cNvSpPr>
          <p:nvPr userDrawn="1">
            <p:ph type="body" sz="quarter" idx="11" hasCustomPrompt="1"/>
          </p:nvPr>
        </p:nvSpPr>
        <p:spPr>
          <a:xfrm>
            <a:off x="5951538" y="3759714"/>
            <a:ext cx="2114549" cy="254235"/>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10800040101010101" pitchFamily="2" charset="-122"/>
                <a:ea typeface="Microsoft YaHei" panose="02010800040101010101" pitchFamily="2" charset="-122"/>
              </a:defRPr>
            </a:lvl1pPr>
          </a:lstStyle>
          <a:p>
            <a:pPr lvl="0"/>
            <a:r>
              <a:rPr lang="zh-CN" altLang="en-US" dirty="0">
                <a:latin typeface="Microsoft YaHei"/>
              </a:rPr>
              <a:t>插入姓名</a:t>
            </a:r>
            <a:endParaRPr lang="zh-CN" altLang="en-US" dirty="0"/>
          </a:p>
        </p:txBody>
      </p:sp>
      <p:sp>
        <p:nvSpPr>
          <p:cNvPr id="58" name="文本占位符 56"/>
          <p:cNvSpPr>
            <a:spLocks noGrp="1"/>
          </p:cNvSpPr>
          <p:nvPr userDrawn="1">
            <p:ph type="body" sz="quarter" idx="12" hasCustomPrompt="1"/>
          </p:nvPr>
        </p:nvSpPr>
        <p:spPr>
          <a:xfrm>
            <a:off x="5951538" y="4153471"/>
            <a:ext cx="2114549" cy="254235"/>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插入单位名称</a:t>
            </a:r>
            <a:endParaRPr lang="zh-CN" altLang="en-US" dirty="0"/>
          </a:p>
        </p:txBody>
      </p:sp>
      <p:sp>
        <p:nvSpPr>
          <p:cNvPr id="59" name="文本占位符 56"/>
          <p:cNvSpPr>
            <a:spLocks noGrp="1"/>
          </p:cNvSpPr>
          <p:nvPr userDrawn="1">
            <p:ph type="body" sz="quarter" idx="13" hasCustomPrompt="1"/>
          </p:nvPr>
        </p:nvSpPr>
        <p:spPr>
          <a:xfrm>
            <a:off x="5951538" y="4547228"/>
            <a:ext cx="2114549" cy="254235"/>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插入具体日期</a:t>
            </a:r>
            <a:endParaRPr lang="zh-CN" altLang="en-US" dirty="0"/>
          </a:p>
        </p:txBody>
      </p:sp>
    </p:spTree>
    <p:extLst>
      <p:ext uri="{BB962C8B-B14F-4D97-AF65-F5344CB8AC3E}">
        <p14:creationId xmlns:p14="http://schemas.microsoft.com/office/powerpoint/2010/main" val="964942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页-蓝">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1" name="任意多边形: 形状 20"/>
          <p:cNvSpPr/>
          <p:nvPr userDrawn="1"/>
        </p:nvSpPr>
        <p:spPr>
          <a:xfrm>
            <a:off x="0" y="0"/>
            <a:ext cx="12192000" cy="6864350"/>
          </a:xfrm>
          <a:custGeom>
            <a:avLst/>
            <a:gdLst>
              <a:gd name="connsiteX0" fmla="*/ 6223018 w 12192000"/>
              <a:gd name="connsiteY0" fmla="*/ 902473 h 6858000"/>
              <a:gd name="connsiteX1" fmla="*/ 5314950 w 12192000"/>
              <a:gd name="connsiteY1" fmla="*/ 1810541 h 6858000"/>
              <a:gd name="connsiteX2" fmla="*/ 5314950 w 12192000"/>
              <a:gd name="connsiteY2" fmla="*/ 3902848 h 6858000"/>
              <a:gd name="connsiteX3" fmla="*/ 5314950 w 12192000"/>
              <a:gd name="connsiteY3" fmla="*/ 5442705 h 6858000"/>
              <a:gd name="connsiteX4" fmla="*/ 5314950 w 12192000"/>
              <a:gd name="connsiteY4" fmla="*/ 6350773 h 6858000"/>
              <a:gd name="connsiteX5" fmla="*/ 6223018 w 12192000"/>
              <a:gd name="connsiteY5" fmla="*/ 6350773 h 6858000"/>
              <a:gd name="connsiteX6" fmla="*/ 7296150 w 12192000"/>
              <a:gd name="connsiteY6" fmla="*/ 6350773 h 6858000"/>
              <a:gd name="connsiteX7" fmla="*/ 10696557 w 12192000"/>
              <a:gd name="connsiteY7" fmla="*/ 6350773 h 6858000"/>
              <a:gd name="connsiteX8" fmla="*/ 11604625 w 12192000"/>
              <a:gd name="connsiteY8" fmla="*/ 5442705 h 6858000"/>
              <a:gd name="connsiteX9" fmla="*/ 11604625 w 12192000"/>
              <a:gd name="connsiteY9" fmla="*/ 2352675 h 6858000"/>
              <a:gd name="connsiteX10" fmla="*/ 11604625 w 12192000"/>
              <a:gd name="connsiteY10" fmla="*/ 1810541 h 6858000"/>
              <a:gd name="connsiteX11" fmla="*/ 11604625 w 12192000"/>
              <a:gd name="connsiteY11" fmla="*/ 902473 h 6858000"/>
              <a:gd name="connsiteX12" fmla="*/ 10696557 w 12192000"/>
              <a:gd name="connsiteY12" fmla="*/ 902473 h 6858000"/>
              <a:gd name="connsiteX13" fmla="*/ 7600950 w 12192000"/>
              <a:gd name="connsiteY13" fmla="*/ 902473 h 6858000"/>
              <a:gd name="connsiteX14" fmla="*/ 0 w 12192000"/>
              <a:gd name="connsiteY14" fmla="*/ 0 h 6858000"/>
              <a:gd name="connsiteX15" fmla="*/ 12192000 w 12192000"/>
              <a:gd name="connsiteY15" fmla="*/ 0 h 6858000"/>
              <a:gd name="connsiteX16" fmla="*/ 12192000 w 12192000"/>
              <a:gd name="connsiteY16" fmla="*/ 6858000 h 6858000"/>
              <a:gd name="connsiteX17" fmla="*/ 0 w 12192000"/>
              <a:gd name="connsiteY1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6223018" y="902473"/>
                </a:moveTo>
                <a:cubicBezTo>
                  <a:pt x="5721506" y="902473"/>
                  <a:pt x="5314950" y="1309029"/>
                  <a:pt x="5314950" y="1810541"/>
                </a:cubicBezTo>
                <a:lnTo>
                  <a:pt x="5314950" y="3902848"/>
                </a:lnTo>
                <a:lnTo>
                  <a:pt x="5314950" y="5442705"/>
                </a:lnTo>
                <a:lnTo>
                  <a:pt x="5314950" y="6350773"/>
                </a:lnTo>
                <a:lnTo>
                  <a:pt x="6223018" y="6350773"/>
                </a:lnTo>
                <a:lnTo>
                  <a:pt x="7296150" y="6350773"/>
                </a:lnTo>
                <a:lnTo>
                  <a:pt x="10696557" y="6350773"/>
                </a:lnTo>
                <a:cubicBezTo>
                  <a:pt x="11198069" y="6350773"/>
                  <a:pt x="11604625" y="5944217"/>
                  <a:pt x="11604625" y="5442705"/>
                </a:cubicBezTo>
                <a:lnTo>
                  <a:pt x="11604625" y="2352675"/>
                </a:lnTo>
                <a:lnTo>
                  <a:pt x="11604625" y="1810541"/>
                </a:lnTo>
                <a:lnTo>
                  <a:pt x="11604625" y="902473"/>
                </a:lnTo>
                <a:lnTo>
                  <a:pt x="10696557" y="902473"/>
                </a:lnTo>
                <a:lnTo>
                  <a:pt x="7600950" y="902473"/>
                </a:lnTo>
                <a:close/>
                <a:moveTo>
                  <a:pt x="0" y="0"/>
                </a:moveTo>
                <a:lnTo>
                  <a:pt x="12192000" y="0"/>
                </a:lnTo>
                <a:lnTo>
                  <a:pt x="12192000" y="6858000"/>
                </a:lnTo>
                <a:lnTo>
                  <a:pt x="0" y="6858000"/>
                </a:lnTo>
                <a:close/>
              </a:path>
            </a:pathLst>
          </a:cu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7" name="菱形 36"/>
          <p:cNvSpPr/>
          <p:nvPr userDrawn="1"/>
        </p:nvSpPr>
        <p:spPr>
          <a:xfrm>
            <a:off x="0" y="0"/>
            <a:ext cx="5275616" cy="6864350"/>
          </a:xfrm>
          <a:prstGeom prst="diamond">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8" name="菱形 37"/>
          <p:cNvSpPr/>
          <p:nvPr userDrawn="1"/>
        </p:nvSpPr>
        <p:spPr>
          <a:xfrm>
            <a:off x="356395" y="729081"/>
            <a:ext cx="4562829" cy="5406189"/>
          </a:xfrm>
          <a:prstGeom prst="diamond">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文本框 14"/>
          <p:cNvSpPr txBox="1"/>
          <p:nvPr userDrawn="1"/>
        </p:nvSpPr>
        <p:spPr>
          <a:xfrm>
            <a:off x="4077042" y="39274"/>
            <a:ext cx="1770966" cy="831766"/>
          </a:xfrm>
          <a:prstGeom prst="rect">
            <a:avLst/>
          </a:prstGeom>
          <a:noFill/>
        </p:spPr>
        <p:txBody>
          <a:bodyPr wrap="square" rtlCol="0">
            <a:spAutoFit/>
          </a:bodyPr>
          <a:lstStyle/>
          <a:p>
            <a:pPr algn="dist"/>
            <a:r>
              <a:rPr lang="zh-CN" altLang="en-US" sz="4800" b="1" dirty="0">
                <a:solidFill>
                  <a:schemeClr val="bg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目录</a:t>
            </a:r>
          </a:p>
        </p:txBody>
      </p:sp>
      <p:sp>
        <p:nvSpPr>
          <p:cNvPr id="16" name="文本框 15"/>
          <p:cNvSpPr txBox="1"/>
          <p:nvPr userDrawn="1"/>
        </p:nvSpPr>
        <p:spPr>
          <a:xfrm>
            <a:off x="5988405" y="261962"/>
            <a:ext cx="3031599" cy="646929"/>
          </a:xfrm>
          <a:prstGeom prst="rect">
            <a:avLst/>
          </a:prstGeom>
          <a:noFill/>
        </p:spPr>
        <p:txBody>
          <a:bodyPr wrap="none" rtlCol="0">
            <a:spAutoFit/>
          </a:bodyPr>
          <a:lstStyle/>
          <a:p>
            <a:r>
              <a:rPr lang="en-US" altLang="zh-CN" sz="3600" i="1" dirty="0">
                <a:ln>
                  <a:solidFill>
                    <a:schemeClr val="bg2"/>
                  </a:solidFill>
                </a:ln>
                <a:noFill/>
                <a:effectLst>
                  <a:outerShdw blurRad="50800" dist="38100" dir="2700000" algn="tl" rotWithShape="0">
                    <a:prstClr val="black">
                      <a:alpha val="40000"/>
                    </a:prstClr>
                  </a:outerShdw>
                </a:effectLst>
                <a:latin typeface="Arial Black" panose="020B0A04020102020204" pitchFamily="34" charset="0"/>
              </a:rPr>
              <a:t>CONTENTS</a:t>
            </a:r>
            <a:endParaRPr lang="zh-CN" altLang="en-US" sz="3600" i="1" dirty="0">
              <a:ln>
                <a:solidFill>
                  <a:schemeClr val="bg2"/>
                </a:solidFill>
              </a:ln>
              <a:noFill/>
              <a:effectLst>
                <a:outerShdw blurRad="50800" dist="38100" dir="2700000" algn="tl" rotWithShape="0">
                  <a:prstClr val="black">
                    <a:alpha val="40000"/>
                  </a:prstClr>
                </a:outerShdw>
              </a:effectLst>
              <a:latin typeface="Arial Black" panose="020B0A04020102020204" pitchFamily="34" charset="0"/>
            </a:endParaRPr>
          </a:p>
        </p:txBody>
      </p:sp>
      <p:sp>
        <p:nvSpPr>
          <p:cNvPr id="10" name="矩形: 圆角 9"/>
          <p:cNvSpPr/>
          <p:nvPr userDrawn="1"/>
        </p:nvSpPr>
        <p:spPr>
          <a:xfrm>
            <a:off x="5848008" y="1506060"/>
            <a:ext cx="676617" cy="365463"/>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01</a:t>
            </a:r>
            <a:endParaRPr lang="zh-CN" altLang="en-US" sz="2800" dirty="0">
              <a:latin typeface="Impact" panose="020B0806030902050204" pitchFamily="34" charset="0"/>
            </a:endParaRPr>
          </a:p>
        </p:txBody>
      </p:sp>
      <p:sp>
        <p:nvSpPr>
          <p:cNvPr id="12" name="文本占位符 11"/>
          <p:cNvSpPr>
            <a:spLocks noGrp="1"/>
          </p:cNvSpPr>
          <p:nvPr>
            <p:ph type="body" sz="quarter" idx="13" hasCustomPrompt="1"/>
          </p:nvPr>
        </p:nvSpPr>
        <p:spPr>
          <a:xfrm>
            <a:off x="6648450" y="1506344"/>
            <a:ext cx="4705350" cy="365463"/>
          </a:xfrm>
        </p:spPr>
        <p:txBody>
          <a:bodyPr>
            <a:noAutofit/>
          </a:bodyPr>
          <a:lstStyle>
            <a:lvl1pPr marL="0" indent="0">
              <a:buNone/>
              <a:defRPr sz="24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此处插入标题文本内容</a:t>
            </a:r>
          </a:p>
        </p:txBody>
      </p:sp>
      <p:sp>
        <p:nvSpPr>
          <p:cNvPr id="22" name="矩形: 圆角 21"/>
          <p:cNvSpPr/>
          <p:nvPr userDrawn="1"/>
        </p:nvSpPr>
        <p:spPr>
          <a:xfrm>
            <a:off x="5848008" y="3097800"/>
            <a:ext cx="676617" cy="365463"/>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03</a:t>
            </a:r>
            <a:endParaRPr lang="zh-CN" altLang="en-US" sz="2800" dirty="0">
              <a:latin typeface="Impact" panose="020B0806030902050204" pitchFamily="34" charset="0"/>
            </a:endParaRPr>
          </a:p>
        </p:txBody>
      </p:sp>
      <p:sp>
        <p:nvSpPr>
          <p:cNvPr id="23" name="文本占位符 11"/>
          <p:cNvSpPr>
            <a:spLocks noGrp="1"/>
          </p:cNvSpPr>
          <p:nvPr>
            <p:ph type="body" sz="quarter" idx="14" hasCustomPrompt="1"/>
          </p:nvPr>
        </p:nvSpPr>
        <p:spPr>
          <a:xfrm>
            <a:off x="6648450" y="3100172"/>
            <a:ext cx="4705350" cy="365463"/>
          </a:xfrm>
        </p:spPr>
        <p:txBody>
          <a:bodyPr>
            <a:noAutofit/>
          </a:bodyPr>
          <a:lstStyle>
            <a:lvl1pPr marL="0" indent="0">
              <a:buNone/>
              <a:defRPr sz="24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此处插入标题文本内容</a:t>
            </a:r>
          </a:p>
        </p:txBody>
      </p:sp>
      <p:sp>
        <p:nvSpPr>
          <p:cNvPr id="24" name="矩形: 圆角 23"/>
          <p:cNvSpPr/>
          <p:nvPr userDrawn="1"/>
        </p:nvSpPr>
        <p:spPr>
          <a:xfrm>
            <a:off x="5848008" y="2301930"/>
            <a:ext cx="676617" cy="365463"/>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02</a:t>
            </a:r>
            <a:endParaRPr lang="zh-CN" altLang="en-US" sz="2800" dirty="0">
              <a:latin typeface="Impact" panose="020B0806030902050204" pitchFamily="34" charset="0"/>
            </a:endParaRPr>
          </a:p>
        </p:txBody>
      </p:sp>
      <p:sp>
        <p:nvSpPr>
          <p:cNvPr id="25" name="文本占位符 11"/>
          <p:cNvSpPr>
            <a:spLocks noGrp="1"/>
          </p:cNvSpPr>
          <p:nvPr>
            <p:ph type="body" sz="quarter" idx="15" hasCustomPrompt="1"/>
          </p:nvPr>
        </p:nvSpPr>
        <p:spPr>
          <a:xfrm>
            <a:off x="6648450" y="2303258"/>
            <a:ext cx="4705350" cy="365463"/>
          </a:xfrm>
        </p:spPr>
        <p:txBody>
          <a:bodyPr>
            <a:noAutofit/>
          </a:bodyPr>
          <a:lstStyle>
            <a:lvl1pPr marL="0" indent="0">
              <a:buNone/>
              <a:defRPr sz="24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此处插入标题文本内容</a:t>
            </a:r>
          </a:p>
        </p:txBody>
      </p:sp>
      <p:sp>
        <p:nvSpPr>
          <p:cNvPr id="26" name="矩形: 圆角 25"/>
          <p:cNvSpPr/>
          <p:nvPr userDrawn="1"/>
        </p:nvSpPr>
        <p:spPr>
          <a:xfrm>
            <a:off x="5848008" y="3893670"/>
            <a:ext cx="676617" cy="365463"/>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04</a:t>
            </a:r>
            <a:endParaRPr lang="zh-CN" altLang="en-US" sz="2800" dirty="0">
              <a:latin typeface="Impact" panose="020B0806030902050204" pitchFamily="34" charset="0"/>
            </a:endParaRPr>
          </a:p>
        </p:txBody>
      </p:sp>
      <p:sp>
        <p:nvSpPr>
          <p:cNvPr id="27" name="文本占位符 11"/>
          <p:cNvSpPr>
            <a:spLocks noGrp="1"/>
          </p:cNvSpPr>
          <p:nvPr>
            <p:ph type="body" sz="quarter" idx="16" hasCustomPrompt="1"/>
          </p:nvPr>
        </p:nvSpPr>
        <p:spPr>
          <a:xfrm>
            <a:off x="6648450" y="3897087"/>
            <a:ext cx="4705350" cy="365463"/>
          </a:xfrm>
        </p:spPr>
        <p:txBody>
          <a:bodyPr>
            <a:noAutofit/>
          </a:bodyPr>
          <a:lstStyle>
            <a:lvl1pPr marL="0" indent="0">
              <a:buNone/>
              <a:defRPr sz="24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此处插入标题文本内容</a:t>
            </a:r>
          </a:p>
        </p:txBody>
      </p:sp>
      <p:sp>
        <p:nvSpPr>
          <p:cNvPr id="28" name="矩形: 圆角 27"/>
          <p:cNvSpPr/>
          <p:nvPr userDrawn="1"/>
        </p:nvSpPr>
        <p:spPr>
          <a:xfrm>
            <a:off x="5848008" y="5485410"/>
            <a:ext cx="676617" cy="365463"/>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06</a:t>
            </a:r>
            <a:endParaRPr lang="zh-CN" altLang="en-US" sz="2800" dirty="0">
              <a:latin typeface="Impact" panose="020B0806030902050204" pitchFamily="34" charset="0"/>
            </a:endParaRPr>
          </a:p>
        </p:txBody>
      </p:sp>
      <p:sp>
        <p:nvSpPr>
          <p:cNvPr id="29" name="文本占位符 11"/>
          <p:cNvSpPr>
            <a:spLocks noGrp="1"/>
          </p:cNvSpPr>
          <p:nvPr>
            <p:ph type="body" sz="quarter" idx="17" hasCustomPrompt="1"/>
          </p:nvPr>
        </p:nvSpPr>
        <p:spPr>
          <a:xfrm>
            <a:off x="6648450" y="5490913"/>
            <a:ext cx="4705350" cy="365463"/>
          </a:xfrm>
        </p:spPr>
        <p:txBody>
          <a:bodyPr>
            <a:noAutofit/>
          </a:bodyPr>
          <a:lstStyle>
            <a:lvl1pPr marL="0" indent="0">
              <a:buNone/>
              <a:defRPr sz="24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此处插入标题文本内容</a:t>
            </a:r>
          </a:p>
        </p:txBody>
      </p:sp>
      <p:sp>
        <p:nvSpPr>
          <p:cNvPr id="30" name="矩形: 圆角 29"/>
          <p:cNvSpPr/>
          <p:nvPr userDrawn="1"/>
        </p:nvSpPr>
        <p:spPr>
          <a:xfrm>
            <a:off x="5848008" y="4689541"/>
            <a:ext cx="676617" cy="365463"/>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05</a:t>
            </a:r>
            <a:endParaRPr lang="zh-CN" altLang="en-US" sz="2800" dirty="0">
              <a:latin typeface="Impact" panose="020B0806030902050204" pitchFamily="34" charset="0"/>
            </a:endParaRPr>
          </a:p>
        </p:txBody>
      </p:sp>
      <p:sp>
        <p:nvSpPr>
          <p:cNvPr id="31" name="文本占位符 11"/>
          <p:cNvSpPr>
            <a:spLocks noGrp="1"/>
          </p:cNvSpPr>
          <p:nvPr>
            <p:ph type="body" sz="quarter" idx="18" hasCustomPrompt="1"/>
          </p:nvPr>
        </p:nvSpPr>
        <p:spPr>
          <a:xfrm>
            <a:off x="6648450" y="4694001"/>
            <a:ext cx="4705350" cy="365463"/>
          </a:xfrm>
        </p:spPr>
        <p:txBody>
          <a:bodyPr>
            <a:noAutofit/>
          </a:bodyPr>
          <a:lstStyle>
            <a:lvl1pPr marL="0" indent="0">
              <a:buNone/>
              <a:defRPr sz="24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此处插入标题文本内容</a:t>
            </a:r>
          </a:p>
        </p:txBody>
      </p:sp>
      <p:sp>
        <p:nvSpPr>
          <p:cNvPr id="32" name="矩形 31"/>
          <p:cNvSpPr/>
          <p:nvPr userDrawn="1"/>
        </p:nvSpPr>
        <p:spPr>
          <a:xfrm>
            <a:off x="2162175" y="908891"/>
            <a:ext cx="3600000" cy="36033"/>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3" name="矩形 32"/>
          <p:cNvSpPr/>
          <p:nvPr userDrawn="1"/>
        </p:nvSpPr>
        <p:spPr>
          <a:xfrm>
            <a:off x="4142175" y="835007"/>
            <a:ext cx="1620000" cy="36033"/>
          </a:xfrm>
          <a:prstGeom prst="rect">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9" name="菱形 38"/>
          <p:cNvSpPr/>
          <p:nvPr userDrawn="1"/>
        </p:nvSpPr>
        <p:spPr>
          <a:xfrm>
            <a:off x="876639" y="1345485"/>
            <a:ext cx="3522338" cy="4173382"/>
          </a:xfrm>
          <a:prstGeom prst="diamond">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0" name="菱形 39"/>
          <p:cNvSpPr/>
          <p:nvPr userDrawn="1"/>
        </p:nvSpPr>
        <p:spPr>
          <a:xfrm>
            <a:off x="1326733" y="1878772"/>
            <a:ext cx="2622150" cy="3106809"/>
          </a:xfrm>
          <a:prstGeom prst="diamond">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aphicFrame>
        <p:nvGraphicFramePr>
          <p:cNvPr id="41" name="表格 40"/>
          <p:cNvGraphicFramePr>
            <a:graphicFrameLocks noGrp="1"/>
          </p:cNvGraphicFramePr>
          <p:nvPr userDrawn="1"/>
        </p:nvGraphicFramePr>
        <p:xfrm>
          <a:off x="596900" y="4683820"/>
          <a:ext cx="4365624" cy="874396"/>
        </p:xfrm>
        <a:graphic>
          <a:graphicData uri="http://schemas.openxmlformats.org/drawingml/2006/table">
            <a:tbl>
              <a:tblPr firstRow="1" bandRow="1">
                <a:tableStyleId>{5C22544A-7EE6-4342-B048-85BDC9FD1C3A}</a:tableStyleId>
              </a:tblPr>
              <a:tblGrid>
                <a:gridCol w="545703">
                  <a:extLst>
                    <a:ext uri="{9D8B030D-6E8A-4147-A177-3AD203B41FA5}">
                      <a16:colId xmlns:a16="http://schemas.microsoft.com/office/drawing/2014/main" val="20000"/>
                    </a:ext>
                  </a:extLst>
                </a:gridCol>
                <a:gridCol w="545703">
                  <a:extLst>
                    <a:ext uri="{9D8B030D-6E8A-4147-A177-3AD203B41FA5}">
                      <a16:colId xmlns:a16="http://schemas.microsoft.com/office/drawing/2014/main" val="20001"/>
                    </a:ext>
                  </a:extLst>
                </a:gridCol>
                <a:gridCol w="545703">
                  <a:extLst>
                    <a:ext uri="{9D8B030D-6E8A-4147-A177-3AD203B41FA5}">
                      <a16:colId xmlns:a16="http://schemas.microsoft.com/office/drawing/2014/main" val="20002"/>
                    </a:ext>
                  </a:extLst>
                </a:gridCol>
                <a:gridCol w="545703">
                  <a:extLst>
                    <a:ext uri="{9D8B030D-6E8A-4147-A177-3AD203B41FA5}">
                      <a16:colId xmlns:a16="http://schemas.microsoft.com/office/drawing/2014/main" val="20003"/>
                    </a:ext>
                  </a:extLst>
                </a:gridCol>
                <a:gridCol w="545703">
                  <a:extLst>
                    <a:ext uri="{9D8B030D-6E8A-4147-A177-3AD203B41FA5}">
                      <a16:colId xmlns:a16="http://schemas.microsoft.com/office/drawing/2014/main" val="20004"/>
                    </a:ext>
                  </a:extLst>
                </a:gridCol>
                <a:gridCol w="545703">
                  <a:extLst>
                    <a:ext uri="{9D8B030D-6E8A-4147-A177-3AD203B41FA5}">
                      <a16:colId xmlns:a16="http://schemas.microsoft.com/office/drawing/2014/main" val="20005"/>
                    </a:ext>
                  </a:extLst>
                </a:gridCol>
                <a:gridCol w="545703">
                  <a:extLst>
                    <a:ext uri="{9D8B030D-6E8A-4147-A177-3AD203B41FA5}">
                      <a16:colId xmlns:a16="http://schemas.microsoft.com/office/drawing/2014/main" val="20006"/>
                    </a:ext>
                  </a:extLst>
                </a:gridCol>
                <a:gridCol w="545703">
                  <a:extLst>
                    <a:ext uri="{9D8B030D-6E8A-4147-A177-3AD203B41FA5}">
                      <a16:colId xmlns:a16="http://schemas.microsoft.com/office/drawing/2014/main" val="20007"/>
                    </a:ext>
                  </a:extLst>
                </a:gridCol>
              </a:tblGrid>
              <a:tr h="437198">
                <a:tc>
                  <a:txBody>
                    <a:bodyPr/>
                    <a:lstStyle/>
                    <a:p>
                      <a:endParaRPr lang="zh-CN" altLang="en-US" sz="1800" dirty="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extLst>
                  <a:ext uri="{0D108BD9-81ED-4DB2-BD59-A6C34878D82A}">
                    <a16:rowId xmlns:a16="http://schemas.microsoft.com/office/drawing/2014/main" val="10000"/>
                  </a:ext>
                </a:extLst>
              </a:tr>
              <a:tr h="437198">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sz="1800" dirty="0"/>
                    </a:p>
                  </a:txBody>
                  <a:tcPr marT="45762" marB="45762">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extLst>
                  <a:ext uri="{0D108BD9-81ED-4DB2-BD59-A6C34878D82A}">
                    <a16:rowId xmlns:a16="http://schemas.microsoft.com/office/drawing/2014/main" val="10001"/>
                  </a:ext>
                </a:extLst>
              </a:tr>
            </a:tbl>
          </a:graphicData>
        </a:graphic>
      </p:graphicFrame>
      <p:grpSp>
        <p:nvGrpSpPr>
          <p:cNvPr id="35" name="组合 34"/>
          <p:cNvGrpSpPr/>
          <p:nvPr userDrawn="1"/>
        </p:nvGrpSpPr>
        <p:grpSpPr>
          <a:xfrm>
            <a:off x="1102279" y="4864084"/>
            <a:ext cx="3345340" cy="513869"/>
            <a:chOff x="2885412" y="1892618"/>
            <a:chExt cx="4489451" cy="688975"/>
          </a:xfrm>
          <a:solidFill>
            <a:schemeClr val="bg1">
              <a:lumMod val="65000"/>
            </a:schemeClr>
          </a:solidFill>
        </p:grpSpPr>
        <p:sp>
          <p:nvSpPr>
            <p:cNvPr id="36" name="Freeform 5"/>
            <p:cNvSpPr/>
            <p:nvPr/>
          </p:nvSpPr>
          <p:spPr bwMode="auto">
            <a:xfrm>
              <a:off x="6922425" y="1914843"/>
              <a:ext cx="452438" cy="650875"/>
            </a:xfrm>
            <a:custGeom>
              <a:avLst/>
              <a:gdLst>
                <a:gd name="T0" fmla="*/ 72 w 120"/>
                <a:gd name="T1" fmla="*/ 57 h 170"/>
                <a:gd name="T2" fmla="*/ 54 w 120"/>
                <a:gd name="T3" fmla="*/ 68 h 170"/>
                <a:gd name="T4" fmla="*/ 67 w 120"/>
                <a:gd name="T5" fmla="*/ 91 h 170"/>
                <a:gd name="T6" fmla="*/ 55 w 120"/>
                <a:gd name="T7" fmla="*/ 90 h 170"/>
                <a:gd name="T8" fmla="*/ 53 w 120"/>
                <a:gd name="T9" fmla="*/ 85 h 170"/>
                <a:gd name="T10" fmla="*/ 47 w 120"/>
                <a:gd name="T11" fmla="*/ 118 h 170"/>
                <a:gd name="T12" fmla="*/ 23 w 120"/>
                <a:gd name="T13" fmla="*/ 102 h 170"/>
                <a:gd name="T14" fmla="*/ 30 w 120"/>
                <a:gd name="T15" fmla="*/ 82 h 170"/>
                <a:gd name="T16" fmla="*/ 34 w 120"/>
                <a:gd name="T17" fmla="*/ 87 h 170"/>
                <a:gd name="T18" fmla="*/ 35 w 120"/>
                <a:gd name="T19" fmla="*/ 100 h 170"/>
                <a:gd name="T20" fmla="*/ 46 w 120"/>
                <a:gd name="T21" fmla="*/ 81 h 170"/>
                <a:gd name="T22" fmla="*/ 45 w 120"/>
                <a:gd name="T23" fmla="*/ 72 h 170"/>
                <a:gd name="T24" fmla="*/ 11 w 120"/>
                <a:gd name="T25" fmla="*/ 87 h 170"/>
                <a:gd name="T26" fmla="*/ 1 w 120"/>
                <a:gd name="T27" fmla="*/ 78 h 170"/>
                <a:gd name="T28" fmla="*/ 12 w 120"/>
                <a:gd name="T29" fmla="*/ 74 h 170"/>
                <a:gd name="T30" fmla="*/ 44 w 120"/>
                <a:gd name="T31" fmla="*/ 61 h 170"/>
                <a:gd name="T32" fmla="*/ 30 w 120"/>
                <a:gd name="T33" fmla="*/ 60 h 170"/>
                <a:gd name="T34" fmla="*/ 35 w 120"/>
                <a:gd name="T35" fmla="*/ 43 h 170"/>
                <a:gd name="T36" fmla="*/ 38 w 120"/>
                <a:gd name="T37" fmla="*/ 31 h 170"/>
                <a:gd name="T38" fmla="*/ 16 w 120"/>
                <a:gd name="T39" fmla="*/ 24 h 170"/>
                <a:gd name="T40" fmla="*/ 33 w 120"/>
                <a:gd name="T41" fmla="*/ 18 h 170"/>
                <a:gd name="T42" fmla="*/ 43 w 120"/>
                <a:gd name="T43" fmla="*/ 2 h 170"/>
                <a:gd name="T44" fmla="*/ 60 w 120"/>
                <a:gd name="T45" fmla="*/ 12 h 170"/>
                <a:gd name="T46" fmla="*/ 72 w 120"/>
                <a:gd name="T47" fmla="*/ 13 h 170"/>
                <a:gd name="T48" fmla="*/ 72 w 120"/>
                <a:gd name="T49" fmla="*/ 17 h 170"/>
                <a:gd name="T50" fmla="*/ 62 w 120"/>
                <a:gd name="T51" fmla="*/ 17 h 170"/>
                <a:gd name="T52" fmla="*/ 69 w 120"/>
                <a:gd name="T53" fmla="*/ 29 h 170"/>
                <a:gd name="T54" fmla="*/ 60 w 120"/>
                <a:gd name="T55" fmla="*/ 39 h 170"/>
                <a:gd name="T56" fmla="*/ 63 w 120"/>
                <a:gd name="T57" fmla="*/ 47 h 170"/>
                <a:gd name="T58" fmla="*/ 53 w 120"/>
                <a:gd name="T59" fmla="*/ 53 h 170"/>
                <a:gd name="T60" fmla="*/ 74 w 120"/>
                <a:gd name="T61" fmla="*/ 48 h 170"/>
                <a:gd name="T62" fmla="*/ 80 w 120"/>
                <a:gd name="T63" fmla="*/ 42 h 170"/>
                <a:gd name="T64" fmla="*/ 96 w 120"/>
                <a:gd name="T65" fmla="*/ 25 h 170"/>
                <a:gd name="T66" fmla="*/ 104 w 120"/>
                <a:gd name="T67" fmla="*/ 15 h 170"/>
                <a:gd name="T68" fmla="*/ 98 w 120"/>
                <a:gd name="T69" fmla="*/ 34 h 170"/>
                <a:gd name="T70" fmla="*/ 78 w 120"/>
                <a:gd name="T71" fmla="*/ 67 h 170"/>
                <a:gd name="T72" fmla="*/ 91 w 120"/>
                <a:gd name="T73" fmla="*/ 58 h 170"/>
                <a:gd name="T74" fmla="*/ 109 w 120"/>
                <a:gd name="T75" fmla="*/ 60 h 170"/>
                <a:gd name="T76" fmla="*/ 120 w 120"/>
                <a:gd name="T77" fmla="*/ 62 h 170"/>
                <a:gd name="T78" fmla="*/ 102 w 120"/>
                <a:gd name="T79" fmla="*/ 99 h 170"/>
                <a:gd name="T80" fmla="*/ 105 w 120"/>
                <a:gd name="T81" fmla="*/ 152 h 170"/>
                <a:gd name="T82" fmla="*/ 99 w 120"/>
                <a:gd name="T83" fmla="*/ 170 h 170"/>
                <a:gd name="T84" fmla="*/ 93 w 120"/>
                <a:gd name="T85" fmla="*/ 127 h 170"/>
                <a:gd name="T86" fmla="*/ 93 w 120"/>
                <a:gd name="T87" fmla="*/ 94 h 170"/>
                <a:gd name="T88" fmla="*/ 77 w 120"/>
                <a:gd name="T89" fmla="*/ 73 h 170"/>
                <a:gd name="T90" fmla="*/ 71 w 120"/>
                <a:gd name="T91" fmla="*/ 119 h 170"/>
                <a:gd name="T92" fmla="*/ 60 w 120"/>
                <a:gd name="T93" fmla="*/ 117 h 170"/>
                <a:gd name="T94" fmla="*/ 60 w 120"/>
                <a:gd name="T95" fmla="*/ 115 h 170"/>
                <a:gd name="T96" fmla="*/ 66 w 120"/>
                <a:gd name="T97" fmla="*/ 113 h 170"/>
                <a:gd name="T98" fmla="*/ 72 w 120"/>
                <a:gd name="T99" fmla="*/ 85 h 170"/>
                <a:gd name="T100" fmla="*/ 66 w 120"/>
                <a:gd name="T101" fmla="*/ 72 h 170"/>
                <a:gd name="T102" fmla="*/ 73 w 120"/>
                <a:gd name="T103" fmla="*/ 68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0" h="170">
                  <a:moveTo>
                    <a:pt x="74" y="56"/>
                  </a:moveTo>
                  <a:cubicBezTo>
                    <a:pt x="73" y="56"/>
                    <a:pt x="72" y="56"/>
                    <a:pt x="72" y="57"/>
                  </a:cubicBezTo>
                  <a:cubicBezTo>
                    <a:pt x="71" y="59"/>
                    <a:pt x="72" y="61"/>
                    <a:pt x="72" y="63"/>
                  </a:cubicBezTo>
                  <a:cubicBezTo>
                    <a:pt x="67" y="65"/>
                    <a:pt x="60" y="66"/>
                    <a:pt x="54" y="68"/>
                  </a:cubicBezTo>
                  <a:cubicBezTo>
                    <a:pt x="54" y="72"/>
                    <a:pt x="51" y="80"/>
                    <a:pt x="54" y="83"/>
                  </a:cubicBezTo>
                  <a:cubicBezTo>
                    <a:pt x="59" y="85"/>
                    <a:pt x="67" y="83"/>
                    <a:pt x="67" y="91"/>
                  </a:cubicBezTo>
                  <a:cubicBezTo>
                    <a:pt x="66" y="93"/>
                    <a:pt x="65" y="94"/>
                    <a:pt x="64" y="96"/>
                  </a:cubicBezTo>
                  <a:cubicBezTo>
                    <a:pt x="61" y="97"/>
                    <a:pt x="56" y="92"/>
                    <a:pt x="55" y="90"/>
                  </a:cubicBezTo>
                  <a:cubicBezTo>
                    <a:pt x="54" y="88"/>
                    <a:pt x="54" y="87"/>
                    <a:pt x="54" y="85"/>
                  </a:cubicBezTo>
                  <a:cubicBezTo>
                    <a:pt x="54" y="85"/>
                    <a:pt x="54" y="85"/>
                    <a:pt x="53" y="85"/>
                  </a:cubicBezTo>
                  <a:cubicBezTo>
                    <a:pt x="54" y="95"/>
                    <a:pt x="56" y="109"/>
                    <a:pt x="51" y="117"/>
                  </a:cubicBezTo>
                  <a:cubicBezTo>
                    <a:pt x="50" y="117"/>
                    <a:pt x="49" y="118"/>
                    <a:pt x="47" y="118"/>
                  </a:cubicBezTo>
                  <a:cubicBezTo>
                    <a:pt x="41" y="117"/>
                    <a:pt x="37" y="107"/>
                    <a:pt x="32" y="103"/>
                  </a:cubicBezTo>
                  <a:cubicBezTo>
                    <a:pt x="29" y="104"/>
                    <a:pt x="24" y="104"/>
                    <a:pt x="23" y="102"/>
                  </a:cubicBezTo>
                  <a:cubicBezTo>
                    <a:pt x="19" y="98"/>
                    <a:pt x="27" y="84"/>
                    <a:pt x="28" y="82"/>
                  </a:cubicBezTo>
                  <a:cubicBezTo>
                    <a:pt x="29" y="82"/>
                    <a:pt x="29" y="82"/>
                    <a:pt x="30" y="82"/>
                  </a:cubicBezTo>
                  <a:cubicBezTo>
                    <a:pt x="31" y="84"/>
                    <a:pt x="32" y="85"/>
                    <a:pt x="33" y="87"/>
                  </a:cubicBezTo>
                  <a:cubicBezTo>
                    <a:pt x="33" y="87"/>
                    <a:pt x="34" y="87"/>
                    <a:pt x="34" y="87"/>
                  </a:cubicBezTo>
                  <a:cubicBezTo>
                    <a:pt x="35" y="86"/>
                    <a:pt x="40" y="80"/>
                    <a:pt x="41" y="82"/>
                  </a:cubicBezTo>
                  <a:cubicBezTo>
                    <a:pt x="40" y="83"/>
                    <a:pt x="35" y="97"/>
                    <a:pt x="35" y="100"/>
                  </a:cubicBezTo>
                  <a:cubicBezTo>
                    <a:pt x="38" y="102"/>
                    <a:pt x="42" y="106"/>
                    <a:pt x="45" y="107"/>
                  </a:cubicBezTo>
                  <a:cubicBezTo>
                    <a:pt x="46" y="98"/>
                    <a:pt x="46" y="90"/>
                    <a:pt x="46" y="81"/>
                  </a:cubicBezTo>
                  <a:cubicBezTo>
                    <a:pt x="46" y="77"/>
                    <a:pt x="47" y="74"/>
                    <a:pt x="46" y="72"/>
                  </a:cubicBezTo>
                  <a:cubicBezTo>
                    <a:pt x="45" y="72"/>
                    <a:pt x="45" y="72"/>
                    <a:pt x="45" y="72"/>
                  </a:cubicBezTo>
                  <a:cubicBezTo>
                    <a:pt x="36" y="75"/>
                    <a:pt x="29" y="79"/>
                    <a:pt x="21" y="83"/>
                  </a:cubicBezTo>
                  <a:cubicBezTo>
                    <a:pt x="19" y="84"/>
                    <a:pt x="14" y="88"/>
                    <a:pt x="11" y="87"/>
                  </a:cubicBezTo>
                  <a:cubicBezTo>
                    <a:pt x="5" y="85"/>
                    <a:pt x="3" y="83"/>
                    <a:pt x="0" y="79"/>
                  </a:cubicBezTo>
                  <a:cubicBezTo>
                    <a:pt x="0" y="79"/>
                    <a:pt x="1" y="78"/>
                    <a:pt x="1" y="78"/>
                  </a:cubicBezTo>
                  <a:cubicBezTo>
                    <a:pt x="3" y="77"/>
                    <a:pt x="5" y="75"/>
                    <a:pt x="6" y="74"/>
                  </a:cubicBezTo>
                  <a:cubicBezTo>
                    <a:pt x="8" y="74"/>
                    <a:pt x="10" y="74"/>
                    <a:pt x="12" y="74"/>
                  </a:cubicBezTo>
                  <a:cubicBezTo>
                    <a:pt x="19" y="72"/>
                    <a:pt x="28" y="69"/>
                    <a:pt x="35" y="65"/>
                  </a:cubicBezTo>
                  <a:cubicBezTo>
                    <a:pt x="37" y="64"/>
                    <a:pt x="43" y="64"/>
                    <a:pt x="44" y="61"/>
                  </a:cubicBezTo>
                  <a:cubicBezTo>
                    <a:pt x="43" y="60"/>
                    <a:pt x="42" y="59"/>
                    <a:pt x="42" y="57"/>
                  </a:cubicBezTo>
                  <a:cubicBezTo>
                    <a:pt x="39" y="59"/>
                    <a:pt x="33" y="61"/>
                    <a:pt x="30" y="60"/>
                  </a:cubicBezTo>
                  <a:cubicBezTo>
                    <a:pt x="26" y="59"/>
                    <a:pt x="25" y="55"/>
                    <a:pt x="24" y="51"/>
                  </a:cubicBezTo>
                  <a:cubicBezTo>
                    <a:pt x="26" y="50"/>
                    <a:pt x="35" y="45"/>
                    <a:pt x="35" y="43"/>
                  </a:cubicBezTo>
                  <a:cubicBezTo>
                    <a:pt x="36" y="40"/>
                    <a:pt x="35" y="38"/>
                    <a:pt x="36" y="35"/>
                  </a:cubicBezTo>
                  <a:cubicBezTo>
                    <a:pt x="36" y="34"/>
                    <a:pt x="38" y="34"/>
                    <a:pt x="38" y="31"/>
                  </a:cubicBezTo>
                  <a:cubicBezTo>
                    <a:pt x="38" y="32"/>
                    <a:pt x="37" y="32"/>
                    <a:pt x="37" y="32"/>
                  </a:cubicBezTo>
                  <a:cubicBezTo>
                    <a:pt x="29" y="36"/>
                    <a:pt x="16" y="35"/>
                    <a:pt x="16" y="24"/>
                  </a:cubicBezTo>
                  <a:cubicBezTo>
                    <a:pt x="17" y="23"/>
                    <a:pt x="17" y="21"/>
                    <a:pt x="19" y="21"/>
                  </a:cubicBezTo>
                  <a:cubicBezTo>
                    <a:pt x="21" y="24"/>
                    <a:pt x="31" y="19"/>
                    <a:pt x="33" y="18"/>
                  </a:cubicBezTo>
                  <a:cubicBezTo>
                    <a:pt x="35" y="17"/>
                    <a:pt x="44" y="16"/>
                    <a:pt x="47" y="16"/>
                  </a:cubicBezTo>
                  <a:cubicBezTo>
                    <a:pt x="47" y="10"/>
                    <a:pt x="42" y="6"/>
                    <a:pt x="43" y="2"/>
                  </a:cubicBezTo>
                  <a:cubicBezTo>
                    <a:pt x="44" y="0"/>
                    <a:pt x="46" y="0"/>
                    <a:pt x="48" y="0"/>
                  </a:cubicBezTo>
                  <a:cubicBezTo>
                    <a:pt x="57" y="0"/>
                    <a:pt x="58" y="4"/>
                    <a:pt x="60" y="12"/>
                  </a:cubicBezTo>
                  <a:cubicBezTo>
                    <a:pt x="60" y="12"/>
                    <a:pt x="60" y="12"/>
                    <a:pt x="60" y="13"/>
                  </a:cubicBezTo>
                  <a:cubicBezTo>
                    <a:pt x="66" y="11"/>
                    <a:pt x="68" y="11"/>
                    <a:pt x="72" y="13"/>
                  </a:cubicBezTo>
                  <a:cubicBezTo>
                    <a:pt x="73" y="15"/>
                    <a:pt x="73" y="16"/>
                    <a:pt x="72" y="17"/>
                  </a:cubicBezTo>
                  <a:cubicBezTo>
                    <a:pt x="72" y="17"/>
                    <a:pt x="72" y="17"/>
                    <a:pt x="72" y="17"/>
                  </a:cubicBezTo>
                  <a:cubicBezTo>
                    <a:pt x="69" y="17"/>
                    <a:pt x="67" y="17"/>
                    <a:pt x="64" y="16"/>
                  </a:cubicBezTo>
                  <a:cubicBezTo>
                    <a:pt x="63" y="16"/>
                    <a:pt x="63" y="17"/>
                    <a:pt x="62" y="17"/>
                  </a:cubicBezTo>
                  <a:cubicBezTo>
                    <a:pt x="61" y="22"/>
                    <a:pt x="65" y="23"/>
                    <a:pt x="69" y="26"/>
                  </a:cubicBezTo>
                  <a:cubicBezTo>
                    <a:pt x="69" y="27"/>
                    <a:pt x="69" y="28"/>
                    <a:pt x="69" y="29"/>
                  </a:cubicBezTo>
                  <a:cubicBezTo>
                    <a:pt x="66" y="32"/>
                    <a:pt x="63" y="35"/>
                    <a:pt x="60" y="39"/>
                  </a:cubicBezTo>
                  <a:cubicBezTo>
                    <a:pt x="60" y="39"/>
                    <a:pt x="60" y="39"/>
                    <a:pt x="60" y="39"/>
                  </a:cubicBezTo>
                  <a:cubicBezTo>
                    <a:pt x="63" y="41"/>
                    <a:pt x="64" y="43"/>
                    <a:pt x="64" y="45"/>
                  </a:cubicBezTo>
                  <a:cubicBezTo>
                    <a:pt x="64" y="46"/>
                    <a:pt x="64" y="46"/>
                    <a:pt x="63" y="47"/>
                  </a:cubicBezTo>
                  <a:cubicBezTo>
                    <a:pt x="60" y="47"/>
                    <a:pt x="56" y="50"/>
                    <a:pt x="53" y="52"/>
                  </a:cubicBezTo>
                  <a:cubicBezTo>
                    <a:pt x="53" y="52"/>
                    <a:pt x="53" y="52"/>
                    <a:pt x="53" y="53"/>
                  </a:cubicBezTo>
                  <a:cubicBezTo>
                    <a:pt x="53" y="53"/>
                    <a:pt x="53" y="53"/>
                    <a:pt x="53" y="53"/>
                  </a:cubicBezTo>
                  <a:cubicBezTo>
                    <a:pt x="58" y="58"/>
                    <a:pt x="72" y="51"/>
                    <a:pt x="74" y="48"/>
                  </a:cubicBezTo>
                  <a:cubicBezTo>
                    <a:pt x="75" y="45"/>
                    <a:pt x="74" y="41"/>
                    <a:pt x="76" y="39"/>
                  </a:cubicBezTo>
                  <a:cubicBezTo>
                    <a:pt x="78" y="40"/>
                    <a:pt x="79" y="41"/>
                    <a:pt x="80" y="42"/>
                  </a:cubicBezTo>
                  <a:cubicBezTo>
                    <a:pt x="80" y="42"/>
                    <a:pt x="81" y="41"/>
                    <a:pt x="81" y="41"/>
                  </a:cubicBezTo>
                  <a:cubicBezTo>
                    <a:pt x="86" y="38"/>
                    <a:pt x="93" y="29"/>
                    <a:pt x="96" y="25"/>
                  </a:cubicBezTo>
                  <a:cubicBezTo>
                    <a:pt x="98" y="23"/>
                    <a:pt x="100" y="21"/>
                    <a:pt x="102" y="18"/>
                  </a:cubicBezTo>
                  <a:cubicBezTo>
                    <a:pt x="103" y="17"/>
                    <a:pt x="103" y="16"/>
                    <a:pt x="104" y="15"/>
                  </a:cubicBezTo>
                  <a:cubicBezTo>
                    <a:pt x="106" y="15"/>
                    <a:pt x="107" y="16"/>
                    <a:pt x="108" y="18"/>
                  </a:cubicBezTo>
                  <a:cubicBezTo>
                    <a:pt x="108" y="28"/>
                    <a:pt x="103" y="29"/>
                    <a:pt x="98" y="34"/>
                  </a:cubicBezTo>
                  <a:cubicBezTo>
                    <a:pt x="95" y="37"/>
                    <a:pt x="93" y="40"/>
                    <a:pt x="90" y="43"/>
                  </a:cubicBezTo>
                  <a:cubicBezTo>
                    <a:pt x="82" y="50"/>
                    <a:pt x="78" y="52"/>
                    <a:pt x="78" y="67"/>
                  </a:cubicBezTo>
                  <a:cubicBezTo>
                    <a:pt x="82" y="66"/>
                    <a:pt x="86" y="65"/>
                    <a:pt x="90" y="64"/>
                  </a:cubicBezTo>
                  <a:cubicBezTo>
                    <a:pt x="90" y="62"/>
                    <a:pt x="91" y="60"/>
                    <a:pt x="91" y="58"/>
                  </a:cubicBezTo>
                  <a:cubicBezTo>
                    <a:pt x="96" y="58"/>
                    <a:pt x="98" y="58"/>
                    <a:pt x="102" y="62"/>
                  </a:cubicBezTo>
                  <a:cubicBezTo>
                    <a:pt x="104" y="61"/>
                    <a:pt x="106" y="61"/>
                    <a:pt x="109" y="60"/>
                  </a:cubicBezTo>
                  <a:cubicBezTo>
                    <a:pt x="112" y="59"/>
                    <a:pt x="115" y="57"/>
                    <a:pt x="119" y="60"/>
                  </a:cubicBezTo>
                  <a:cubicBezTo>
                    <a:pt x="119" y="61"/>
                    <a:pt x="120" y="61"/>
                    <a:pt x="120" y="62"/>
                  </a:cubicBezTo>
                  <a:cubicBezTo>
                    <a:pt x="118" y="66"/>
                    <a:pt x="108" y="66"/>
                    <a:pt x="103" y="67"/>
                  </a:cubicBezTo>
                  <a:cubicBezTo>
                    <a:pt x="101" y="76"/>
                    <a:pt x="104" y="89"/>
                    <a:pt x="102" y="99"/>
                  </a:cubicBezTo>
                  <a:cubicBezTo>
                    <a:pt x="101" y="109"/>
                    <a:pt x="102" y="125"/>
                    <a:pt x="104" y="136"/>
                  </a:cubicBezTo>
                  <a:cubicBezTo>
                    <a:pt x="105" y="141"/>
                    <a:pt x="103" y="148"/>
                    <a:pt x="105" y="152"/>
                  </a:cubicBezTo>
                  <a:cubicBezTo>
                    <a:pt x="106" y="158"/>
                    <a:pt x="103" y="163"/>
                    <a:pt x="103" y="168"/>
                  </a:cubicBezTo>
                  <a:cubicBezTo>
                    <a:pt x="102" y="168"/>
                    <a:pt x="100" y="169"/>
                    <a:pt x="99" y="170"/>
                  </a:cubicBezTo>
                  <a:cubicBezTo>
                    <a:pt x="97" y="169"/>
                    <a:pt x="96" y="169"/>
                    <a:pt x="95" y="168"/>
                  </a:cubicBezTo>
                  <a:cubicBezTo>
                    <a:pt x="95" y="153"/>
                    <a:pt x="94" y="141"/>
                    <a:pt x="93" y="127"/>
                  </a:cubicBezTo>
                  <a:cubicBezTo>
                    <a:pt x="92" y="126"/>
                    <a:pt x="93" y="124"/>
                    <a:pt x="93" y="122"/>
                  </a:cubicBezTo>
                  <a:cubicBezTo>
                    <a:pt x="93" y="113"/>
                    <a:pt x="93" y="103"/>
                    <a:pt x="93" y="94"/>
                  </a:cubicBezTo>
                  <a:cubicBezTo>
                    <a:pt x="92" y="88"/>
                    <a:pt x="94" y="73"/>
                    <a:pt x="91" y="69"/>
                  </a:cubicBezTo>
                  <a:cubicBezTo>
                    <a:pt x="88" y="67"/>
                    <a:pt x="78" y="71"/>
                    <a:pt x="77" y="73"/>
                  </a:cubicBezTo>
                  <a:cubicBezTo>
                    <a:pt x="77" y="78"/>
                    <a:pt x="77" y="82"/>
                    <a:pt x="77" y="86"/>
                  </a:cubicBezTo>
                  <a:cubicBezTo>
                    <a:pt x="75" y="97"/>
                    <a:pt x="75" y="110"/>
                    <a:pt x="71" y="119"/>
                  </a:cubicBezTo>
                  <a:cubicBezTo>
                    <a:pt x="70" y="120"/>
                    <a:pt x="68" y="121"/>
                    <a:pt x="67" y="122"/>
                  </a:cubicBezTo>
                  <a:cubicBezTo>
                    <a:pt x="64" y="121"/>
                    <a:pt x="62" y="119"/>
                    <a:pt x="60" y="117"/>
                  </a:cubicBezTo>
                  <a:cubicBezTo>
                    <a:pt x="60" y="116"/>
                    <a:pt x="60" y="116"/>
                    <a:pt x="60" y="115"/>
                  </a:cubicBezTo>
                  <a:cubicBezTo>
                    <a:pt x="60" y="115"/>
                    <a:pt x="60" y="115"/>
                    <a:pt x="60" y="115"/>
                  </a:cubicBezTo>
                  <a:cubicBezTo>
                    <a:pt x="61" y="115"/>
                    <a:pt x="61" y="115"/>
                    <a:pt x="62" y="116"/>
                  </a:cubicBezTo>
                  <a:cubicBezTo>
                    <a:pt x="63" y="115"/>
                    <a:pt x="65" y="114"/>
                    <a:pt x="66" y="113"/>
                  </a:cubicBezTo>
                  <a:cubicBezTo>
                    <a:pt x="67" y="110"/>
                    <a:pt x="68" y="108"/>
                    <a:pt x="69" y="106"/>
                  </a:cubicBezTo>
                  <a:cubicBezTo>
                    <a:pt x="71" y="99"/>
                    <a:pt x="70" y="92"/>
                    <a:pt x="72" y="85"/>
                  </a:cubicBezTo>
                  <a:cubicBezTo>
                    <a:pt x="72" y="82"/>
                    <a:pt x="73" y="75"/>
                    <a:pt x="71" y="74"/>
                  </a:cubicBezTo>
                  <a:cubicBezTo>
                    <a:pt x="69" y="73"/>
                    <a:pt x="67" y="73"/>
                    <a:pt x="66" y="72"/>
                  </a:cubicBezTo>
                  <a:cubicBezTo>
                    <a:pt x="66" y="71"/>
                    <a:pt x="66" y="71"/>
                    <a:pt x="66" y="70"/>
                  </a:cubicBezTo>
                  <a:cubicBezTo>
                    <a:pt x="69" y="70"/>
                    <a:pt x="71" y="69"/>
                    <a:pt x="73" y="68"/>
                  </a:cubicBezTo>
                  <a:cubicBezTo>
                    <a:pt x="73" y="63"/>
                    <a:pt x="74" y="61"/>
                    <a:pt x="74" y="56"/>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44" name="Freeform 6"/>
            <p:cNvSpPr/>
            <p:nvPr/>
          </p:nvSpPr>
          <p:spPr bwMode="auto">
            <a:xfrm>
              <a:off x="6355687" y="1919606"/>
              <a:ext cx="290513" cy="488950"/>
            </a:xfrm>
            <a:custGeom>
              <a:avLst/>
              <a:gdLst>
                <a:gd name="T0" fmla="*/ 41 w 77"/>
                <a:gd name="T1" fmla="*/ 59 h 128"/>
                <a:gd name="T2" fmla="*/ 71 w 77"/>
                <a:gd name="T3" fmla="*/ 56 h 128"/>
                <a:gd name="T4" fmla="*/ 67 w 77"/>
                <a:gd name="T5" fmla="*/ 69 h 128"/>
                <a:gd name="T6" fmla="*/ 56 w 77"/>
                <a:gd name="T7" fmla="*/ 94 h 128"/>
                <a:gd name="T8" fmla="*/ 51 w 77"/>
                <a:gd name="T9" fmla="*/ 89 h 128"/>
                <a:gd name="T10" fmla="*/ 51 w 77"/>
                <a:gd name="T11" fmla="*/ 110 h 128"/>
                <a:gd name="T12" fmla="*/ 53 w 77"/>
                <a:gd name="T13" fmla="*/ 110 h 128"/>
                <a:gd name="T14" fmla="*/ 62 w 77"/>
                <a:gd name="T15" fmla="*/ 101 h 128"/>
                <a:gd name="T16" fmla="*/ 74 w 77"/>
                <a:gd name="T17" fmla="*/ 89 h 128"/>
                <a:gd name="T18" fmla="*/ 53 w 77"/>
                <a:gd name="T19" fmla="*/ 120 h 128"/>
                <a:gd name="T20" fmla="*/ 43 w 77"/>
                <a:gd name="T21" fmla="*/ 128 h 128"/>
                <a:gd name="T22" fmla="*/ 39 w 77"/>
                <a:gd name="T23" fmla="*/ 126 h 128"/>
                <a:gd name="T24" fmla="*/ 38 w 77"/>
                <a:gd name="T25" fmla="*/ 110 h 128"/>
                <a:gd name="T26" fmla="*/ 39 w 77"/>
                <a:gd name="T27" fmla="*/ 98 h 128"/>
                <a:gd name="T28" fmla="*/ 39 w 77"/>
                <a:gd name="T29" fmla="*/ 79 h 128"/>
                <a:gd name="T30" fmla="*/ 43 w 77"/>
                <a:gd name="T31" fmla="*/ 71 h 128"/>
                <a:gd name="T32" fmla="*/ 53 w 77"/>
                <a:gd name="T33" fmla="*/ 79 h 128"/>
                <a:gd name="T34" fmla="*/ 54 w 77"/>
                <a:gd name="T35" fmla="*/ 78 h 128"/>
                <a:gd name="T36" fmla="*/ 57 w 77"/>
                <a:gd name="T37" fmla="*/ 61 h 128"/>
                <a:gd name="T38" fmla="*/ 57 w 77"/>
                <a:gd name="T39" fmla="*/ 60 h 128"/>
                <a:gd name="T40" fmla="*/ 44 w 77"/>
                <a:gd name="T41" fmla="*/ 67 h 128"/>
                <a:gd name="T42" fmla="*/ 38 w 77"/>
                <a:gd name="T43" fmla="*/ 62 h 128"/>
                <a:gd name="T44" fmla="*/ 38 w 77"/>
                <a:gd name="T45" fmla="*/ 63 h 128"/>
                <a:gd name="T46" fmla="*/ 16 w 77"/>
                <a:gd name="T47" fmla="*/ 89 h 128"/>
                <a:gd name="T48" fmla="*/ 1 w 77"/>
                <a:gd name="T49" fmla="*/ 93 h 128"/>
                <a:gd name="T50" fmla="*/ 0 w 77"/>
                <a:gd name="T51" fmla="*/ 86 h 128"/>
                <a:gd name="T52" fmla="*/ 7 w 77"/>
                <a:gd name="T53" fmla="*/ 78 h 128"/>
                <a:gd name="T54" fmla="*/ 8 w 77"/>
                <a:gd name="T55" fmla="*/ 78 h 128"/>
                <a:gd name="T56" fmla="*/ 8 w 77"/>
                <a:gd name="T57" fmla="*/ 79 h 128"/>
                <a:gd name="T58" fmla="*/ 24 w 77"/>
                <a:gd name="T59" fmla="*/ 62 h 128"/>
                <a:gd name="T60" fmla="*/ 53 w 77"/>
                <a:gd name="T61" fmla="*/ 0 h 128"/>
                <a:gd name="T62" fmla="*/ 63 w 77"/>
                <a:gd name="T63" fmla="*/ 6 h 128"/>
                <a:gd name="T64" fmla="*/ 59 w 77"/>
                <a:gd name="T65" fmla="*/ 21 h 128"/>
                <a:gd name="T66" fmla="*/ 55 w 77"/>
                <a:gd name="T67" fmla="*/ 29 h 128"/>
                <a:gd name="T68" fmla="*/ 77 w 77"/>
                <a:gd name="T69" fmla="*/ 35 h 128"/>
                <a:gd name="T70" fmla="*/ 77 w 77"/>
                <a:gd name="T71" fmla="*/ 36 h 128"/>
                <a:gd name="T72" fmla="*/ 45 w 77"/>
                <a:gd name="T73" fmla="*/ 51 h 128"/>
                <a:gd name="T74" fmla="*/ 41 w 77"/>
                <a:gd name="T75" fmla="*/ 5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128">
                  <a:moveTo>
                    <a:pt x="41" y="59"/>
                  </a:moveTo>
                  <a:cubicBezTo>
                    <a:pt x="52" y="57"/>
                    <a:pt x="61" y="41"/>
                    <a:pt x="71" y="56"/>
                  </a:cubicBezTo>
                  <a:cubicBezTo>
                    <a:pt x="70" y="60"/>
                    <a:pt x="68" y="66"/>
                    <a:pt x="67" y="69"/>
                  </a:cubicBezTo>
                  <a:cubicBezTo>
                    <a:pt x="64" y="78"/>
                    <a:pt x="68" y="94"/>
                    <a:pt x="56" y="94"/>
                  </a:cubicBezTo>
                  <a:cubicBezTo>
                    <a:pt x="54" y="93"/>
                    <a:pt x="53" y="91"/>
                    <a:pt x="51" y="89"/>
                  </a:cubicBezTo>
                  <a:cubicBezTo>
                    <a:pt x="51" y="96"/>
                    <a:pt x="51" y="103"/>
                    <a:pt x="51" y="110"/>
                  </a:cubicBezTo>
                  <a:cubicBezTo>
                    <a:pt x="52" y="110"/>
                    <a:pt x="52" y="110"/>
                    <a:pt x="53" y="110"/>
                  </a:cubicBezTo>
                  <a:cubicBezTo>
                    <a:pt x="55" y="106"/>
                    <a:pt x="59" y="104"/>
                    <a:pt x="62" y="101"/>
                  </a:cubicBezTo>
                  <a:cubicBezTo>
                    <a:pt x="65" y="96"/>
                    <a:pt x="68" y="91"/>
                    <a:pt x="74" y="89"/>
                  </a:cubicBezTo>
                  <a:cubicBezTo>
                    <a:pt x="75" y="98"/>
                    <a:pt x="59" y="114"/>
                    <a:pt x="53" y="120"/>
                  </a:cubicBezTo>
                  <a:cubicBezTo>
                    <a:pt x="50" y="123"/>
                    <a:pt x="49" y="127"/>
                    <a:pt x="43" y="128"/>
                  </a:cubicBezTo>
                  <a:cubicBezTo>
                    <a:pt x="42" y="127"/>
                    <a:pt x="40" y="127"/>
                    <a:pt x="39" y="126"/>
                  </a:cubicBezTo>
                  <a:cubicBezTo>
                    <a:pt x="39" y="122"/>
                    <a:pt x="37" y="114"/>
                    <a:pt x="38" y="110"/>
                  </a:cubicBezTo>
                  <a:cubicBezTo>
                    <a:pt x="39" y="108"/>
                    <a:pt x="40" y="101"/>
                    <a:pt x="39" y="98"/>
                  </a:cubicBezTo>
                  <a:cubicBezTo>
                    <a:pt x="38" y="94"/>
                    <a:pt x="38" y="83"/>
                    <a:pt x="39" y="79"/>
                  </a:cubicBezTo>
                  <a:cubicBezTo>
                    <a:pt x="40" y="76"/>
                    <a:pt x="42" y="73"/>
                    <a:pt x="43" y="71"/>
                  </a:cubicBezTo>
                  <a:cubicBezTo>
                    <a:pt x="48" y="73"/>
                    <a:pt x="49" y="77"/>
                    <a:pt x="53" y="79"/>
                  </a:cubicBezTo>
                  <a:cubicBezTo>
                    <a:pt x="53" y="79"/>
                    <a:pt x="54" y="78"/>
                    <a:pt x="54" y="78"/>
                  </a:cubicBezTo>
                  <a:cubicBezTo>
                    <a:pt x="55" y="72"/>
                    <a:pt x="56" y="66"/>
                    <a:pt x="57" y="61"/>
                  </a:cubicBezTo>
                  <a:cubicBezTo>
                    <a:pt x="57" y="60"/>
                    <a:pt x="57" y="60"/>
                    <a:pt x="57" y="60"/>
                  </a:cubicBezTo>
                  <a:cubicBezTo>
                    <a:pt x="52" y="62"/>
                    <a:pt x="50" y="65"/>
                    <a:pt x="44" y="67"/>
                  </a:cubicBezTo>
                  <a:cubicBezTo>
                    <a:pt x="42" y="66"/>
                    <a:pt x="40" y="64"/>
                    <a:pt x="38" y="62"/>
                  </a:cubicBezTo>
                  <a:cubicBezTo>
                    <a:pt x="38" y="62"/>
                    <a:pt x="38" y="62"/>
                    <a:pt x="38" y="63"/>
                  </a:cubicBezTo>
                  <a:cubicBezTo>
                    <a:pt x="33" y="73"/>
                    <a:pt x="24" y="82"/>
                    <a:pt x="16" y="89"/>
                  </a:cubicBezTo>
                  <a:cubicBezTo>
                    <a:pt x="11" y="93"/>
                    <a:pt x="7" y="97"/>
                    <a:pt x="1" y="93"/>
                  </a:cubicBezTo>
                  <a:cubicBezTo>
                    <a:pt x="1" y="90"/>
                    <a:pt x="0" y="89"/>
                    <a:pt x="0" y="86"/>
                  </a:cubicBezTo>
                  <a:cubicBezTo>
                    <a:pt x="4" y="84"/>
                    <a:pt x="4" y="80"/>
                    <a:pt x="7" y="78"/>
                  </a:cubicBezTo>
                  <a:cubicBezTo>
                    <a:pt x="8" y="78"/>
                    <a:pt x="8" y="78"/>
                    <a:pt x="8" y="78"/>
                  </a:cubicBezTo>
                  <a:cubicBezTo>
                    <a:pt x="8" y="79"/>
                    <a:pt x="8" y="79"/>
                    <a:pt x="8" y="79"/>
                  </a:cubicBezTo>
                  <a:cubicBezTo>
                    <a:pt x="15" y="75"/>
                    <a:pt x="19" y="68"/>
                    <a:pt x="24" y="62"/>
                  </a:cubicBezTo>
                  <a:cubicBezTo>
                    <a:pt x="37" y="44"/>
                    <a:pt x="48" y="23"/>
                    <a:pt x="53" y="0"/>
                  </a:cubicBezTo>
                  <a:cubicBezTo>
                    <a:pt x="58" y="0"/>
                    <a:pt x="60" y="3"/>
                    <a:pt x="63" y="6"/>
                  </a:cubicBezTo>
                  <a:cubicBezTo>
                    <a:pt x="63" y="13"/>
                    <a:pt x="61" y="16"/>
                    <a:pt x="59" y="21"/>
                  </a:cubicBezTo>
                  <a:cubicBezTo>
                    <a:pt x="58" y="23"/>
                    <a:pt x="55" y="25"/>
                    <a:pt x="55" y="29"/>
                  </a:cubicBezTo>
                  <a:cubicBezTo>
                    <a:pt x="63" y="28"/>
                    <a:pt x="76" y="25"/>
                    <a:pt x="77" y="35"/>
                  </a:cubicBezTo>
                  <a:cubicBezTo>
                    <a:pt x="77" y="35"/>
                    <a:pt x="77" y="35"/>
                    <a:pt x="77" y="36"/>
                  </a:cubicBezTo>
                  <a:cubicBezTo>
                    <a:pt x="60" y="39"/>
                    <a:pt x="51" y="35"/>
                    <a:pt x="45" y="51"/>
                  </a:cubicBezTo>
                  <a:cubicBezTo>
                    <a:pt x="44" y="53"/>
                    <a:pt x="41" y="55"/>
                    <a:pt x="41" y="59"/>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45" name="Freeform 7"/>
            <p:cNvSpPr/>
            <p:nvPr/>
          </p:nvSpPr>
          <p:spPr bwMode="auto">
            <a:xfrm>
              <a:off x="6717637" y="1919606"/>
              <a:ext cx="41275" cy="611188"/>
            </a:xfrm>
            <a:custGeom>
              <a:avLst/>
              <a:gdLst>
                <a:gd name="T0" fmla="*/ 2 w 11"/>
                <a:gd name="T1" fmla="*/ 0 h 160"/>
                <a:gd name="T2" fmla="*/ 6 w 11"/>
                <a:gd name="T3" fmla="*/ 0 h 160"/>
                <a:gd name="T4" fmla="*/ 10 w 11"/>
                <a:gd name="T5" fmla="*/ 6 h 160"/>
                <a:gd name="T6" fmla="*/ 10 w 11"/>
                <a:gd name="T7" fmla="*/ 15 h 160"/>
                <a:gd name="T8" fmla="*/ 10 w 11"/>
                <a:gd name="T9" fmla="*/ 32 h 160"/>
                <a:gd name="T10" fmla="*/ 9 w 11"/>
                <a:gd name="T11" fmla="*/ 41 h 160"/>
                <a:gd name="T12" fmla="*/ 10 w 11"/>
                <a:gd name="T13" fmla="*/ 47 h 160"/>
                <a:gd name="T14" fmla="*/ 9 w 11"/>
                <a:gd name="T15" fmla="*/ 55 h 160"/>
                <a:gd name="T16" fmla="*/ 10 w 11"/>
                <a:gd name="T17" fmla="*/ 82 h 160"/>
                <a:gd name="T18" fmla="*/ 11 w 11"/>
                <a:gd name="T19" fmla="*/ 91 h 160"/>
                <a:gd name="T20" fmla="*/ 9 w 11"/>
                <a:gd name="T21" fmla="*/ 98 h 160"/>
                <a:gd name="T22" fmla="*/ 10 w 11"/>
                <a:gd name="T23" fmla="*/ 103 h 160"/>
                <a:gd name="T24" fmla="*/ 10 w 11"/>
                <a:gd name="T25" fmla="*/ 119 h 160"/>
                <a:gd name="T26" fmla="*/ 10 w 11"/>
                <a:gd name="T27" fmla="*/ 122 h 160"/>
                <a:gd name="T28" fmla="*/ 10 w 11"/>
                <a:gd name="T29" fmla="*/ 129 h 160"/>
                <a:gd name="T30" fmla="*/ 11 w 11"/>
                <a:gd name="T31" fmla="*/ 137 h 160"/>
                <a:gd name="T32" fmla="*/ 10 w 11"/>
                <a:gd name="T33" fmla="*/ 158 h 160"/>
                <a:gd name="T34" fmla="*/ 3 w 11"/>
                <a:gd name="T35" fmla="*/ 160 h 160"/>
                <a:gd name="T36" fmla="*/ 1 w 11"/>
                <a:gd name="T37" fmla="*/ 125 h 160"/>
                <a:gd name="T38" fmla="*/ 1 w 11"/>
                <a:gd name="T39" fmla="*/ 116 h 160"/>
                <a:gd name="T40" fmla="*/ 2 w 11"/>
                <a:gd name="T41" fmla="*/ 99 h 160"/>
                <a:gd name="T42" fmla="*/ 1 w 11"/>
                <a:gd name="T43" fmla="*/ 93 h 160"/>
                <a:gd name="T44" fmla="*/ 1 w 11"/>
                <a:gd name="T45" fmla="*/ 74 h 160"/>
                <a:gd name="T46" fmla="*/ 1 w 11"/>
                <a:gd name="T47" fmla="*/ 23 h 160"/>
                <a:gd name="T48" fmla="*/ 2 w 11"/>
                <a:gd name="T4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 h="160">
                  <a:moveTo>
                    <a:pt x="2" y="0"/>
                  </a:moveTo>
                  <a:cubicBezTo>
                    <a:pt x="3" y="0"/>
                    <a:pt x="4" y="0"/>
                    <a:pt x="6" y="0"/>
                  </a:cubicBezTo>
                  <a:cubicBezTo>
                    <a:pt x="7" y="2"/>
                    <a:pt x="9" y="3"/>
                    <a:pt x="10" y="6"/>
                  </a:cubicBezTo>
                  <a:cubicBezTo>
                    <a:pt x="11" y="9"/>
                    <a:pt x="10" y="13"/>
                    <a:pt x="10" y="15"/>
                  </a:cubicBezTo>
                  <a:cubicBezTo>
                    <a:pt x="10" y="21"/>
                    <a:pt x="10" y="26"/>
                    <a:pt x="10" y="32"/>
                  </a:cubicBezTo>
                  <a:cubicBezTo>
                    <a:pt x="9" y="34"/>
                    <a:pt x="8" y="38"/>
                    <a:pt x="9" y="41"/>
                  </a:cubicBezTo>
                  <a:cubicBezTo>
                    <a:pt x="9" y="42"/>
                    <a:pt x="10" y="44"/>
                    <a:pt x="10" y="47"/>
                  </a:cubicBezTo>
                  <a:cubicBezTo>
                    <a:pt x="9" y="49"/>
                    <a:pt x="8" y="52"/>
                    <a:pt x="9" y="55"/>
                  </a:cubicBezTo>
                  <a:cubicBezTo>
                    <a:pt x="11" y="63"/>
                    <a:pt x="9" y="73"/>
                    <a:pt x="10" y="82"/>
                  </a:cubicBezTo>
                  <a:cubicBezTo>
                    <a:pt x="10" y="84"/>
                    <a:pt x="11" y="90"/>
                    <a:pt x="11" y="91"/>
                  </a:cubicBezTo>
                  <a:cubicBezTo>
                    <a:pt x="11" y="93"/>
                    <a:pt x="9" y="97"/>
                    <a:pt x="9" y="98"/>
                  </a:cubicBezTo>
                  <a:cubicBezTo>
                    <a:pt x="9" y="100"/>
                    <a:pt x="10" y="101"/>
                    <a:pt x="10" y="103"/>
                  </a:cubicBezTo>
                  <a:cubicBezTo>
                    <a:pt x="10" y="108"/>
                    <a:pt x="10" y="114"/>
                    <a:pt x="10" y="119"/>
                  </a:cubicBezTo>
                  <a:cubicBezTo>
                    <a:pt x="10" y="120"/>
                    <a:pt x="11" y="121"/>
                    <a:pt x="10" y="122"/>
                  </a:cubicBezTo>
                  <a:cubicBezTo>
                    <a:pt x="10" y="122"/>
                    <a:pt x="9" y="129"/>
                    <a:pt x="10" y="129"/>
                  </a:cubicBezTo>
                  <a:cubicBezTo>
                    <a:pt x="10" y="130"/>
                    <a:pt x="11" y="136"/>
                    <a:pt x="11" y="137"/>
                  </a:cubicBezTo>
                  <a:cubicBezTo>
                    <a:pt x="9" y="144"/>
                    <a:pt x="10" y="151"/>
                    <a:pt x="10" y="158"/>
                  </a:cubicBezTo>
                  <a:cubicBezTo>
                    <a:pt x="8" y="159"/>
                    <a:pt x="6" y="160"/>
                    <a:pt x="3" y="160"/>
                  </a:cubicBezTo>
                  <a:cubicBezTo>
                    <a:pt x="0" y="155"/>
                    <a:pt x="2" y="135"/>
                    <a:pt x="1" y="125"/>
                  </a:cubicBezTo>
                  <a:cubicBezTo>
                    <a:pt x="1" y="122"/>
                    <a:pt x="1" y="119"/>
                    <a:pt x="1" y="116"/>
                  </a:cubicBezTo>
                  <a:cubicBezTo>
                    <a:pt x="0" y="111"/>
                    <a:pt x="1" y="105"/>
                    <a:pt x="2" y="99"/>
                  </a:cubicBezTo>
                  <a:cubicBezTo>
                    <a:pt x="1" y="97"/>
                    <a:pt x="1" y="95"/>
                    <a:pt x="1" y="93"/>
                  </a:cubicBezTo>
                  <a:cubicBezTo>
                    <a:pt x="1" y="87"/>
                    <a:pt x="1" y="80"/>
                    <a:pt x="1" y="74"/>
                  </a:cubicBezTo>
                  <a:cubicBezTo>
                    <a:pt x="1" y="57"/>
                    <a:pt x="1" y="41"/>
                    <a:pt x="1" y="23"/>
                  </a:cubicBezTo>
                  <a:cubicBezTo>
                    <a:pt x="1" y="15"/>
                    <a:pt x="0" y="6"/>
                    <a:pt x="2"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46" name="Freeform 8"/>
            <p:cNvSpPr/>
            <p:nvPr/>
          </p:nvSpPr>
          <p:spPr bwMode="auto">
            <a:xfrm>
              <a:off x="5549237" y="1941831"/>
              <a:ext cx="82550" cy="84138"/>
            </a:xfrm>
            <a:custGeom>
              <a:avLst/>
              <a:gdLst>
                <a:gd name="T0" fmla="*/ 7 w 22"/>
                <a:gd name="T1" fmla="*/ 0 h 22"/>
                <a:gd name="T2" fmla="*/ 22 w 22"/>
                <a:gd name="T3" fmla="*/ 18 h 22"/>
                <a:gd name="T4" fmla="*/ 20 w 22"/>
                <a:gd name="T5" fmla="*/ 21 h 22"/>
                <a:gd name="T6" fmla="*/ 17 w 22"/>
                <a:gd name="T7" fmla="*/ 22 h 22"/>
                <a:gd name="T8" fmla="*/ 5 w 22"/>
                <a:gd name="T9" fmla="*/ 1 h 22"/>
                <a:gd name="T10" fmla="*/ 7 w 22"/>
                <a:gd name="T11" fmla="*/ 0 h 22"/>
              </a:gdLst>
              <a:ahLst/>
              <a:cxnLst>
                <a:cxn ang="0">
                  <a:pos x="T0" y="T1"/>
                </a:cxn>
                <a:cxn ang="0">
                  <a:pos x="T2" y="T3"/>
                </a:cxn>
                <a:cxn ang="0">
                  <a:pos x="T4" y="T5"/>
                </a:cxn>
                <a:cxn ang="0">
                  <a:pos x="T6" y="T7"/>
                </a:cxn>
                <a:cxn ang="0">
                  <a:pos x="T8" y="T9"/>
                </a:cxn>
                <a:cxn ang="0">
                  <a:pos x="T10" y="T11"/>
                </a:cxn>
              </a:cxnLst>
              <a:rect l="0" t="0" r="r" b="b"/>
              <a:pathLst>
                <a:path w="22" h="22">
                  <a:moveTo>
                    <a:pt x="7" y="0"/>
                  </a:moveTo>
                  <a:cubicBezTo>
                    <a:pt x="16" y="1"/>
                    <a:pt x="22" y="7"/>
                    <a:pt x="22" y="18"/>
                  </a:cubicBezTo>
                  <a:cubicBezTo>
                    <a:pt x="21" y="19"/>
                    <a:pt x="21" y="20"/>
                    <a:pt x="20" y="21"/>
                  </a:cubicBezTo>
                  <a:cubicBezTo>
                    <a:pt x="19" y="22"/>
                    <a:pt x="18" y="22"/>
                    <a:pt x="17" y="22"/>
                  </a:cubicBezTo>
                  <a:cubicBezTo>
                    <a:pt x="12" y="19"/>
                    <a:pt x="0" y="7"/>
                    <a:pt x="5" y="1"/>
                  </a:cubicBezTo>
                  <a:cubicBezTo>
                    <a:pt x="5" y="0"/>
                    <a:pt x="6" y="0"/>
                    <a:pt x="7"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47" name="Freeform 9"/>
            <p:cNvSpPr/>
            <p:nvPr/>
          </p:nvSpPr>
          <p:spPr bwMode="auto">
            <a:xfrm>
              <a:off x="5842925" y="1941831"/>
              <a:ext cx="403225" cy="233363"/>
            </a:xfrm>
            <a:custGeom>
              <a:avLst/>
              <a:gdLst>
                <a:gd name="T0" fmla="*/ 47 w 107"/>
                <a:gd name="T1" fmla="*/ 26 h 61"/>
                <a:gd name="T2" fmla="*/ 39 w 107"/>
                <a:gd name="T3" fmla="*/ 17 h 61"/>
                <a:gd name="T4" fmla="*/ 39 w 107"/>
                <a:gd name="T5" fmla="*/ 16 h 61"/>
                <a:gd name="T6" fmla="*/ 42 w 107"/>
                <a:gd name="T7" fmla="*/ 4 h 61"/>
                <a:gd name="T8" fmla="*/ 47 w 107"/>
                <a:gd name="T9" fmla="*/ 0 h 61"/>
                <a:gd name="T10" fmla="*/ 53 w 107"/>
                <a:gd name="T11" fmla="*/ 1 h 61"/>
                <a:gd name="T12" fmla="*/ 68 w 107"/>
                <a:gd name="T13" fmla="*/ 22 h 61"/>
                <a:gd name="T14" fmla="*/ 107 w 107"/>
                <a:gd name="T15" fmla="*/ 27 h 61"/>
                <a:gd name="T16" fmla="*/ 106 w 107"/>
                <a:gd name="T17" fmla="*/ 33 h 61"/>
                <a:gd name="T18" fmla="*/ 85 w 107"/>
                <a:gd name="T19" fmla="*/ 38 h 61"/>
                <a:gd name="T20" fmla="*/ 81 w 107"/>
                <a:gd name="T21" fmla="*/ 37 h 61"/>
                <a:gd name="T22" fmla="*/ 76 w 107"/>
                <a:gd name="T23" fmla="*/ 39 h 61"/>
                <a:gd name="T24" fmla="*/ 74 w 107"/>
                <a:gd name="T25" fmla="*/ 38 h 61"/>
                <a:gd name="T26" fmla="*/ 77 w 107"/>
                <a:gd name="T27" fmla="*/ 35 h 61"/>
                <a:gd name="T28" fmla="*/ 76 w 107"/>
                <a:gd name="T29" fmla="*/ 33 h 61"/>
                <a:gd name="T30" fmla="*/ 84 w 107"/>
                <a:gd name="T31" fmla="*/ 27 h 61"/>
                <a:gd name="T32" fmla="*/ 83 w 107"/>
                <a:gd name="T33" fmla="*/ 27 h 61"/>
                <a:gd name="T34" fmla="*/ 62 w 107"/>
                <a:gd name="T35" fmla="*/ 32 h 61"/>
                <a:gd name="T36" fmla="*/ 53 w 107"/>
                <a:gd name="T37" fmla="*/ 32 h 61"/>
                <a:gd name="T38" fmla="*/ 34 w 107"/>
                <a:gd name="T39" fmla="*/ 40 h 61"/>
                <a:gd name="T40" fmla="*/ 31 w 107"/>
                <a:gd name="T41" fmla="*/ 43 h 61"/>
                <a:gd name="T42" fmla="*/ 22 w 107"/>
                <a:gd name="T43" fmla="*/ 48 h 61"/>
                <a:gd name="T44" fmla="*/ 21 w 107"/>
                <a:gd name="T45" fmla="*/ 52 h 61"/>
                <a:gd name="T46" fmla="*/ 3 w 107"/>
                <a:gd name="T47" fmla="*/ 60 h 61"/>
                <a:gd name="T48" fmla="*/ 0 w 107"/>
                <a:gd name="T49" fmla="*/ 56 h 61"/>
                <a:gd name="T50" fmla="*/ 24 w 107"/>
                <a:gd name="T51" fmla="*/ 20 h 61"/>
                <a:gd name="T52" fmla="*/ 25 w 107"/>
                <a:gd name="T53" fmla="*/ 20 h 61"/>
                <a:gd name="T54" fmla="*/ 30 w 107"/>
                <a:gd name="T55" fmla="*/ 29 h 61"/>
                <a:gd name="T56" fmla="*/ 47 w 107"/>
                <a:gd name="T57" fmla="*/ 2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7" h="61">
                  <a:moveTo>
                    <a:pt x="47" y="26"/>
                  </a:moveTo>
                  <a:cubicBezTo>
                    <a:pt x="47" y="19"/>
                    <a:pt x="43" y="20"/>
                    <a:pt x="39" y="17"/>
                  </a:cubicBezTo>
                  <a:cubicBezTo>
                    <a:pt x="39" y="16"/>
                    <a:pt x="39" y="16"/>
                    <a:pt x="39" y="16"/>
                  </a:cubicBezTo>
                  <a:cubicBezTo>
                    <a:pt x="51" y="15"/>
                    <a:pt x="41" y="10"/>
                    <a:pt x="42" y="4"/>
                  </a:cubicBezTo>
                  <a:cubicBezTo>
                    <a:pt x="44" y="3"/>
                    <a:pt x="45" y="1"/>
                    <a:pt x="47" y="0"/>
                  </a:cubicBezTo>
                  <a:cubicBezTo>
                    <a:pt x="49" y="0"/>
                    <a:pt x="52" y="1"/>
                    <a:pt x="53" y="1"/>
                  </a:cubicBezTo>
                  <a:cubicBezTo>
                    <a:pt x="65" y="5"/>
                    <a:pt x="65" y="9"/>
                    <a:pt x="68" y="22"/>
                  </a:cubicBezTo>
                  <a:cubicBezTo>
                    <a:pt x="81" y="21"/>
                    <a:pt x="102" y="15"/>
                    <a:pt x="107" y="27"/>
                  </a:cubicBezTo>
                  <a:cubicBezTo>
                    <a:pt x="107" y="29"/>
                    <a:pt x="106" y="32"/>
                    <a:pt x="106" y="33"/>
                  </a:cubicBezTo>
                  <a:cubicBezTo>
                    <a:pt x="102" y="40"/>
                    <a:pt x="92" y="37"/>
                    <a:pt x="85" y="38"/>
                  </a:cubicBezTo>
                  <a:cubicBezTo>
                    <a:pt x="84" y="38"/>
                    <a:pt x="82" y="38"/>
                    <a:pt x="81" y="37"/>
                  </a:cubicBezTo>
                  <a:cubicBezTo>
                    <a:pt x="80" y="38"/>
                    <a:pt x="78" y="39"/>
                    <a:pt x="76" y="39"/>
                  </a:cubicBezTo>
                  <a:cubicBezTo>
                    <a:pt x="75" y="38"/>
                    <a:pt x="75" y="39"/>
                    <a:pt x="74" y="38"/>
                  </a:cubicBezTo>
                  <a:cubicBezTo>
                    <a:pt x="74" y="36"/>
                    <a:pt x="75" y="35"/>
                    <a:pt x="77" y="35"/>
                  </a:cubicBezTo>
                  <a:cubicBezTo>
                    <a:pt x="76" y="34"/>
                    <a:pt x="76" y="34"/>
                    <a:pt x="76" y="33"/>
                  </a:cubicBezTo>
                  <a:cubicBezTo>
                    <a:pt x="79" y="32"/>
                    <a:pt x="83" y="29"/>
                    <a:pt x="84" y="27"/>
                  </a:cubicBezTo>
                  <a:cubicBezTo>
                    <a:pt x="84" y="27"/>
                    <a:pt x="83" y="27"/>
                    <a:pt x="83" y="27"/>
                  </a:cubicBezTo>
                  <a:cubicBezTo>
                    <a:pt x="77" y="25"/>
                    <a:pt x="66" y="31"/>
                    <a:pt x="62" y="32"/>
                  </a:cubicBezTo>
                  <a:cubicBezTo>
                    <a:pt x="59" y="33"/>
                    <a:pt x="56" y="31"/>
                    <a:pt x="53" y="32"/>
                  </a:cubicBezTo>
                  <a:cubicBezTo>
                    <a:pt x="47" y="34"/>
                    <a:pt x="39" y="37"/>
                    <a:pt x="34" y="40"/>
                  </a:cubicBezTo>
                  <a:cubicBezTo>
                    <a:pt x="33" y="41"/>
                    <a:pt x="32" y="42"/>
                    <a:pt x="31" y="43"/>
                  </a:cubicBezTo>
                  <a:cubicBezTo>
                    <a:pt x="28" y="45"/>
                    <a:pt x="25" y="47"/>
                    <a:pt x="22" y="48"/>
                  </a:cubicBezTo>
                  <a:cubicBezTo>
                    <a:pt x="22" y="50"/>
                    <a:pt x="21" y="51"/>
                    <a:pt x="21" y="52"/>
                  </a:cubicBezTo>
                  <a:cubicBezTo>
                    <a:pt x="18" y="56"/>
                    <a:pt x="10" y="61"/>
                    <a:pt x="3" y="60"/>
                  </a:cubicBezTo>
                  <a:cubicBezTo>
                    <a:pt x="2" y="58"/>
                    <a:pt x="1" y="57"/>
                    <a:pt x="0" y="56"/>
                  </a:cubicBezTo>
                  <a:cubicBezTo>
                    <a:pt x="0" y="40"/>
                    <a:pt x="16" y="29"/>
                    <a:pt x="24" y="20"/>
                  </a:cubicBezTo>
                  <a:cubicBezTo>
                    <a:pt x="24" y="20"/>
                    <a:pt x="24" y="20"/>
                    <a:pt x="25" y="20"/>
                  </a:cubicBezTo>
                  <a:cubicBezTo>
                    <a:pt x="26" y="23"/>
                    <a:pt x="28" y="26"/>
                    <a:pt x="30" y="29"/>
                  </a:cubicBezTo>
                  <a:cubicBezTo>
                    <a:pt x="37" y="29"/>
                    <a:pt x="42" y="27"/>
                    <a:pt x="47" y="26"/>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48" name="Freeform 10"/>
            <p:cNvSpPr/>
            <p:nvPr/>
          </p:nvSpPr>
          <p:spPr bwMode="auto">
            <a:xfrm>
              <a:off x="4680875" y="1995806"/>
              <a:ext cx="101600" cy="73025"/>
            </a:xfrm>
            <a:custGeom>
              <a:avLst/>
              <a:gdLst>
                <a:gd name="T0" fmla="*/ 9 w 27"/>
                <a:gd name="T1" fmla="*/ 0 h 19"/>
                <a:gd name="T2" fmla="*/ 27 w 27"/>
                <a:gd name="T3" fmla="*/ 14 h 19"/>
                <a:gd name="T4" fmla="*/ 23 w 27"/>
                <a:gd name="T5" fmla="*/ 18 h 19"/>
                <a:gd name="T6" fmla="*/ 4 w 27"/>
                <a:gd name="T7" fmla="*/ 13 h 19"/>
                <a:gd name="T8" fmla="*/ 2 w 27"/>
                <a:gd name="T9" fmla="*/ 1 h 19"/>
                <a:gd name="T10" fmla="*/ 9 w 27"/>
                <a:gd name="T11" fmla="*/ 0 h 19"/>
              </a:gdLst>
              <a:ahLst/>
              <a:cxnLst>
                <a:cxn ang="0">
                  <a:pos x="T0" y="T1"/>
                </a:cxn>
                <a:cxn ang="0">
                  <a:pos x="T2" y="T3"/>
                </a:cxn>
                <a:cxn ang="0">
                  <a:pos x="T4" y="T5"/>
                </a:cxn>
                <a:cxn ang="0">
                  <a:pos x="T6" y="T7"/>
                </a:cxn>
                <a:cxn ang="0">
                  <a:pos x="T8" y="T9"/>
                </a:cxn>
                <a:cxn ang="0">
                  <a:pos x="T10" y="T11"/>
                </a:cxn>
              </a:cxnLst>
              <a:rect l="0" t="0" r="r" b="b"/>
              <a:pathLst>
                <a:path w="27" h="19">
                  <a:moveTo>
                    <a:pt x="9" y="0"/>
                  </a:moveTo>
                  <a:cubicBezTo>
                    <a:pt x="17" y="0"/>
                    <a:pt x="27" y="6"/>
                    <a:pt x="27" y="14"/>
                  </a:cubicBezTo>
                  <a:cubicBezTo>
                    <a:pt x="26" y="16"/>
                    <a:pt x="25" y="17"/>
                    <a:pt x="23" y="18"/>
                  </a:cubicBezTo>
                  <a:cubicBezTo>
                    <a:pt x="15" y="19"/>
                    <a:pt x="9" y="17"/>
                    <a:pt x="4" y="13"/>
                  </a:cubicBezTo>
                  <a:cubicBezTo>
                    <a:pt x="4" y="8"/>
                    <a:pt x="0" y="6"/>
                    <a:pt x="2" y="1"/>
                  </a:cubicBezTo>
                  <a:cubicBezTo>
                    <a:pt x="4" y="0"/>
                    <a:pt x="7" y="0"/>
                    <a:pt x="9"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49" name="Freeform 11"/>
            <p:cNvSpPr/>
            <p:nvPr/>
          </p:nvSpPr>
          <p:spPr bwMode="auto">
            <a:xfrm>
              <a:off x="7095462" y="2018031"/>
              <a:ext cx="33338" cy="57150"/>
            </a:xfrm>
            <a:custGeom>
              <a:avLst/>
              <a:gdLst>
                <a:gd name="T0" fmla="*/ 3 w 9"/>
                <a:gd name="T1" fmla="*/ 0 h 15"/>
                <a:gd name="T2" fmla="*/ 1 w 9"/>
                <a:gd name="T3" fmla="*/ 2 h 15"/>
                <a:gd name="T4" fmla="*/ 1 w 9"/>
                <a:gd name="T5" fmla="*/ 3 h 15"/>
                <a:gd name="T6" fmla="*/ 2 w 9"/>
                <a:gd name="T7" fmla="*/ 3 h 15"/>
                <a:gd name="T8" fmla="*/ 2 w 9"/>
                <a:gd name="T9" fmla="*/ 5 h 15"/>
                <a:gd name="T10" fmla="*/ 0 w 9"/>
                <a:gd name="T11" fmla="*/ 15 h 15"/>
                <a:gd name="T12" fmla="*/ 0 w 9"/>
                <a:gd name="T13" fmla="*/ 15 h 15"/>
                <a:gd name="T14" fmla="*/ 9 w 9"/>
                <a:gd name="T15" fmla="*/ 2 h 15"/>
                <a:gd name="T16" fmla="*/ 9 w 9"/>
                <a:gd name="T17" fmla="*/ 2 h 15"/>
                <a:gd name="T18" fmla="*/ 3 w 9"/>
                <a:gd name="T1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5">
                  <a:moveTo>
                    <a:pt x="3" y="0"/>
                  </a:moveTo>
                  <a:cubicBezTo>
                    <a:pt x="2" y="0"/>
                    <a:pt x="1" y="1"/>
                    <a:pt x="1" y="2"/>
                  </a:cubicBezTo>
                  <a:cubicBezTo>
                    <a:pt x="1" y="2"/>
                    <a:pt x="1" y="2"/>
                    <a:pt x="1" y="3"/>
                  </a:cubicBezTo>
                  <a:cubicBezTo>
                    <a:pt x="1" y="3"/>
                    <a:pt x="2" y="3"/>
                    <a:pt x="2" y="3"/>
                  </a:cubicBezTo>
                  <a:cubicBezTo>
                    <a:pt x="2" y="3"/>
                    <a:pt x="2" y="4"/>
                    <a:pt x="2" y="5"/>
                  </a:cubicBezTo>
                  <a:cubicBezTo>
                    <a:pt x="1" y="7"/>
                    <a:pt x="1" y="11"/>
                    <a:pt x="0" y="15"/>
                  </a:cubicBezTo>
                  <a:cubicBezTo>
                    <a:pt x="0" y="15"/>
                    <a:pt x="0" y="15"/>
                    <a:pt x="0" y="15"/>
                  </a:cubicBezTo>
                  <a:cubicBezTo>
                    <a:pt x="3" y="14"/>
                    <a:pt x="7" y="5"/>
                    <a:pt x="9" y="2"/>
                  </a:cubicBezTo>
                  <a:cubicBezTo>
                    <a:pt x="9" y="2"/>
                    <a:pt x="9" y="2"/>
                    <a:pt x="9" y="2"/>
                  </a:cubicBezTo>
                  <a:cubicBezTo>
                    <a:pt x="5" y="2"/>
                    <a:pt x="5" y="0"/>
                    <a:pt x="3"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50" name="Freeform 12"/>
            <p:cNvSpPr/>
            <p:nvPr/>
          </p:nvSpPr>
          <p:spPr bwMode="auto">
            <a:xfrm>
              <a:off x="4853912" y="2049781"/>
              <a:ext cx="11113" cy="14288"/>
            </a:xfrm>
            <a:custGeom>
              <a:avLst/>
              <a:gdLst>
                <a:gd name="T0" fmla="*/ 1 w 3"/>
                <a:gd name="T1" fmla="*/ 0 h 4"/>
                <a:gd name="T2" fmla="*/ 2 w 3"/>
                <a:gd name="T3" fmla="*/ 0 h 4"/>
                <a:gd name="T4" fmla="*/ 3 w 3"/>
                <a:gd name="T5" fmla="*/ 3 h 4"/>
                <a:gd name="T6" fmla="*/ 3 w 3"/>
                <a:gd name="T7" fmla="*/ 4 h 4"/>
                <a:gd name="T8" fmla="*/ 2 w 3"/>
                <a:gd name="T9" fmla="*/ 4 h 4"/>
                <a:gd name="T10" fmla="*/ 1 w 3"/>
                <a:gd name="T11" fmla="*/ 0 h 4"/>
              </a:gdLst>
              <a:ahLst/>
              <a:cxnLst>
                <a:cxn ang="0">
                  <a:pos x="T0" y="T1"/>
                </a:cxn>
                <a:cxn ang="0">
                  <a:pos x="T2" y="T3"/>
                </a:cxn>
                <a:cxn ang="0">
                  <a:pos x="T4" y="T5"/>
                </a:cxn>
                <a:cxn ang="0">
                  <a:pos x="T6" y="T7"/>
                </a:cxn>
                <a:cxn ang="0">
                  <a:pos x="T8" y="T9"/>
                </a:cxn>
                <a:cxn ang="0">
                  <a:pos x="T10" y="T11"/>
                </a:cxn>
              </a:cxnLst>
              <a:rect l="0" t="0" r="r" b="b"/>
              <a:pathLst>
                <a:path w="3" h="4">
                  <a:moveTo>
                    <a:pt x="1" y="0"/>
                  </a:moveTo>
                  <a:cubicBezTo>
                    <a:pt x="1" y="0"/>
                    <a:pt x="2" y="0"/>
                    <a:pt x="2" y="0"/>
                  </a:cubicBezTo>
                  <a:cubicBezTo>
                    <a:pt x="3" y="1"/>
                    <a:pt x="3" y="2"/>
                    <a:pt x="3" y="3"/>
                  </a:cubicBezTo>
                  <a:cubicBezTo>
                    <a:pt x="3" y="3"/>
                    <a:pt x="3" y="4"/>
                    <a:pt x="3" y="4"/>
                  </a:cubicBezTo>
                  <a:cubicBezTo>
                    <a:pt x="2" y="4"/>
                    <a:pt x="2" y="4"/>
                    <a:pt x="2" y="4"/>
                  </a:cubicBezTo>
                  <a:cubicBezTo>
                    <a:pt x="1" y="2"/>
                    <a:pt x="0" y="2"/>
                    <a:pt x="1"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51" name="Freeform 13"/>
            <p:cNvSpPr/>
            <p:nvPr/>
          </p:nvSpPr>
          <p:spPr bwMode="auto">
            <a:xfrm>
              <a:off x="4853912" y="2064068"/>
              <a:ext cx="4763" cy="0"/>
            </a:xfrm>
            <a:custGeom>
              <a:avLst/>
              <a:gdLst>
                <a:gd name="T0" fmla="*/ 0 w 1"/>
                <a:gd name="T1" fmla="*/ 1 w 1"/>
                <a:gd name="T2" fmla="*/ 0 w 1"/>
                <a:gd name="T3" fmla="*/ 0 w 1"/>
              </a:gdLst>
              <a:ahLst/>
              <a:cxnLst>
                <a:cxn ang="0">
                  <a:pos x="T0" y="0"/>
                </a:cxn>
                <a:cxn ang="0">
                  <a:pos x="T1" y="0"/>
                </a:cxn>
                <a:cxn ang="0">
                  <a:pos x="T2" y="0"/>
                </a:cxn>
                <a:cxn ang="0">
                  <a:pos x="T3" y="0"/>
                </a:cxn>
              </a:cxnLst>
              <a:rect l="0" t="0" r="r" b="b"/>
              <a:pathLst>
                <a:path w="1">
                  <a:moveTo>
                    <a:pt x="0" y="0"/>
                  </a:moveTo>
                  <a:cubicBezTo>
                    <a:pt x="0" y="0"/>
                    <a:pt x="1" y="0"/>
                    <a:pt x="1" y="0"/>
                  </a:cubicBezTo>
                  <a:cubicBezTo>
                    <a:pt x="0" y="0"/>
                    <a:pt x="1" y="0"/>
                    <a:pt x="0" y="0"/>
                  </a:cubicBezTo>
                  <a:cubicBezTo>
                    <a:pt x="0" y="0"/>
                    <a:pt x="0" y="0"/>
                    <a:pt x="0"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52" name="Freeform 14"/>
            <p:cNvSpPr/>
            <p:nvPr/>
          </p:nvSpPr>
          <p:spPr bwMode="auto">
            <a:xfrm>
              <a:off x="5895312" y="2072006"/>
              <a:ext cx="268288" cy="409575"/>
            </a:xfrm>
            <a:custGeom>
              <a:avLst/>
              <a:gdLst>
                <a:gd name="T0" fmla="*/ 47 w 71"/>
                <a:gd name="T1" fmla="*/ 0 h 107"/>
                <a:gd name="T2" fmla="*/ 52 w 71"/>
                <a:gd name="T3" fmla="*/ 4 h 107"/>
                <a:gd name="T4" fmla="*/ 48 w 71"/>
                <a:gd name="T5" fmla="*/ 35 h 107"/>
                <a:gd name="T6" fmla="*/ 47 w 71"/>
                <a:gd name="T7" fmla="*/ 45 h 107"/>
                <a:gd name="T8" fmla="*/ 53 w 71"/>
                <a:gd name="T9" fmla="*/ 45 h 107"/>
                <a:gd name="T10" fmla="*/ 58 w 71"/>
                <a:gd name="T11" fmla="*/ 43 h 107"/>
                <a:gd name="T12" fmla="*/ 58 w 71"/>
                <a:gd name="T13" fmla="*/ 42 h 107"/>
                <a:gd name="T14" fmla="*/ 56 w 71"/>
                <a:gd name="T15" fmla="*/ 35 h 107"/>
                <a:gd name="T16" fmla="*/ 57 w 71"/>
                <a:gd name="T17" fmla="*/ 34 h 107"/>
                <a:gd name="T18" fmla="*/ 56 w 71"/>
                <a:gd name="T19" fmla="*/ 30 h 107"/>
                <a:gd name="T20" fmla="*/ 60 w 71"/>
                <a:gd name="T21" fmla="*/ 35 h 107"/>
                <a:gd name="T22" fmla="*/ 71 w 71"/>
                <a:gd name="T23" fmla="*/ 45 h 107"/>
                <a:gd name="T24" fmla="*/ 55 w 71"/>
                <a:gd name="T25" fmla="*/ 53 h 107"/>
                <a:gd name="T26" fmla="*/ 47 w 71"/>
                <a:gd name="T27" fmla="*/ 54 h 107"/>
                <a:gd name="T28" fmla="*/ 42 w 71"/>
                <a:gd name="T29" fmla="*/ 60 h 107"/>
                <a:gd name="T30" fmla="*/ 39 w 71"/>
                <a:gd name="T31" fmla="*/ 72 h 107"/>
                <a:gd name="T32" fmla="*/ 24 w 71"/>
                <a:gd name="T33" fmla="*/ 99 h 107"/>
                <a:gd name="T34" fmla="*/ 4 w 71"/>
                <a:gd name="T35" fmla="*/ 102 h 107"/>
                <a:gd name="T36" fmla="*/ 4 w 71"/>
                <a:gd name="T37" fmla="*/ 101 h 107"/>
                <a:gd name="T38" fmla="*/ 14 w 71"/>
                <a:gd name="T39" fmla="*/ 96 h 107"/>
                <a:gd name="T40" fmla="*/ 35 w 71"/>
                <a:gd name="T41" fmla="*/ 58 h 107"/>
                <a:gd name="T42" fmla="*/ 1 w 71"/>
                <a:gd name="T43" fmla="*/ 64 h 107"/>
                <a:gd name="T44" fmla="*/ 1 w 71"/>
                <a:gd name="T45" fmla="*/ 58 h 107"/>
                <a:gd name="T46" fmla="*/ 6 w 71"/>
                <a:gd name="T47" fmla="*/ 55 h 107"/>
                <a:gd name="T48" fmla="*/ 19 w 71"/>
                <a:gd name="T49" fmla="*/ 53 h 107"/>
                <a:gd name="T50" fmla="*/ 30 w 71"/>
                <a:gd name="T51" fmla="*/ 50 h 107"/>
                <a:gd name="T52" fmla="*/ 35 w 71"/>
                <a:gd name="T53" fmla="*/ 48 h 107"/>
                <a:gd name="T54" fmla="*/ 38 w 71"/>
                <a:gd name="T55" fmla="*/ 48 h 107"/>
                <a:gd name="T56" fmla="*/ 41 w 71"/>
                <a:gd name="T57" fmla="*/ 38 h 107"/>
                <a:gd name="T58" fmla="*/ 45 w 71"/>
                <a:gd name="T59" fmla="*/ 1 h 107"/>
                <a:gd name="T60" fmla="*/ 47 w 71"/>
                <a:gd name="T6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1" h="107">
                  <a:moveTo>
                    <a:pt x="47" y="0"/>
                  </a:moveTo>
                  <a:cubicBezTo>
                    <a:pt x="49" y="1"/>
                    <a:pt x="51" y="2"/>
                    <a:pt x="52" y="4"/>
                  </a:cubicBezTo>
                  <a:cubicBezTo>
                    <a:pt x="52" y="14"/>
                    <a:pt x="51" y="26"/>
                    <a:pt x="48" y="35"/>
                  </a:cubicBezTo>
                  <a:cubicBezTo>
                    <a:pt x="47" y="38"/>
                    <a:pt x="46" y="44"/>
                    <a:pt x="47" y="45"/>
                  </a:cubicBezTo>
                  <a:cubicBezTo>
                    <a:pt x="49" y="44"/>
                    <a:pt x="51" y="45"/>
                    <a:pt x="53" y="45"/>
                  </a:cubicBezTo>
                  <a:cubicBezTo>
                    <a:pt x="54" y="42"/>
                    <a:pt x="56" y="43"/>
                    <a:pt x="58" y="43"/>
                  </a:cubicBezTo>
                  <a:cubicBezTo>
                    <a:pt x="58" y="43"/>
                    <a:pt x="58" y="42"/>
                    <a:pt x="58" y="42"/>
                  </a:cubicBezTo>
                  <a:cubicBezTo>
                    <a:pt x="58" y="39"/>
                    <a:pt x="57" y="37"/>
                    <a:pt x="56" y="35"/>
                  </a:cubicBezTo>
                  <a:cubicBezTo>
                    <a:pt x="56" y="34"/>
                    <a:pt x="57" y="34"/>
                    <a:pt x="57" y="34"/>
                  </a:cubicBezTo>
                  <a:cubicBezTo>
                    <a:pt x="56" y="33"/>
                    <a:pt x="55" y="31"/>
                    <a:pt x="56" y="30"/>
                  </a:cubicBezTo>
                  <a:cubicBezTo>
                    <a:pt x="58" y="31"/>
                    <a:pt x="58" y="33"/>
                    <a:pt x="60" y="35"/>
                  </a:cubicBezTo>
                  <a:cubicBezTo>
                    <a:pt x="63" y="38"/>
                    <a:pt x="69" y="41"/>
                    <a:pt x="71" y="45"/>
                  </a:cubicBezTo>
                  <a:cubicBezTo>
                    <a:pt x="71" y="55"/>
                    <a:pt x="63" y="52"/>
                    <a:pt x="55" y="53"/>
                  </a:cubicBezTo>
                  <a:cubicBezTo>
                    <a:pt x="52" y="53"/>
                    <a:pt x="50" y="54"/>
                    <a:pt x="47" y="54"/>
                  </a:cubicBezTo>
                  <a:cubicBezTo>
                    <a:pt x="46" y="56"/>
                    <a:pt x="43" y="58"/>
                    <a:pt x="42" y="60"/>
                  </a:cubicBezTo>
                  <a:cubicBezTo>
                    <a:pt x="40" y="64"/>
                    <a:pt x="40" y="68"/>
                    <a:pt x="39" y="72"/>
                  </a:cubicBezTo>
                  <a:cubicBezTo>
                    <a:pt x="35" y="82"/>
                    <a:pt x="32" y="92"/>
                    <a:pt x="24" y="99"/>
                  </a:cubicBezTo>
                  <a:cubicBezTo>
                    <a:pt x="18" y="103"/>
                    <a:pt x="12" y="107"/>
                    <a:pt x="4" y="102"/>
                  </a:cubicBezTo>
                  <a:cubicBezTo>
                    <a:pt x="4" y="102"/>
                    <a:pt x="4" y="102"/>
                    <a:pt x="4" y="101"/>
                  </a:cubicBezTo>
                  <a:cubicBezTo>
                    <a:pt x="7" y="99"/>
                    <a:pt x="11" y="98"/>
                    <a:pt x="14" y="96"/>
                  </a:cubicBezTo>
                  <a:cubicBezTo>
                    <a:pt x="24" y="88"/>
                    <a:pt x="32" y="73"/>
                    <a:pt x="35" y="58"/>
                  </a:cubicBezTo>
                  <a:cubicBezTo>
                    <a:pt x="29" y="59"/>
                    <a:pt x="5" y="71"/>
                    <a:pt x="1" y="64"/>
                  </a:cubicBezTo>
                  <a:cubicBezTo>
                    <a:pt x="0" y="62"/>
                    <a:pt x="0" y="60"/>
                    <a:pt x="1" y="58"/>
                  </a:cubicBezTo>
                  <a:cubicBezTo>
                    <a:pt x="3" y="57"/>
                    <a:pt x="5" y="56"/>
                    <a:pt x="6" y="55"/>
                  </a:cubicBezTo>
                  <a:cubicBezTo>
                    <a:pt x="11" y="56"/>
                    <a:pt x="14" y="54"/>
                    <a:pt x="19" y="53"/>
                  </a:cubicBezTo>
                  <a:cubicBezTo>
                    <a:pt x="22" y="51"/>
                    <a:pt x="26" y="51"/>
                    <a:pt x="30" y="50"/>
                  </a:cubicBezTo>
                  <a:cubicBezTo>
                    <a:pt x="31" y="50"/>
                    <a:pt x="33" y="48"/>
                    <a:pt x="35" y="48"/>
                  </a:cubicBezTo>
                  <a:cubicBezTo>
                    <a:pt x="36" y="48"/>
                    <a:pt x="37" y="48"/>
                    <a:pt x="38" y="48"/>
                  </a:cubicBezTo>
                  <a:cubicBezTo>
                    <a:pt x="40" y="46"/>
                    <a:pt x="40" y="41"/>
                    <a:pt x="41" y="38"/>
                  </a:cubicBezTo>
                  <a:cubicBezTo>
                    <a:pt x="45" y="27"/>
                    <a:pt x="43" y="13"/>
                    <a:pt x="45" y="1"/>
                  </a:cubicBezTo>
                  <a:cubicBezTo>
                    <a:pt x="46" y="0"/>
                    <a:pt x="46" y="0"/>
                    <a:pt x="47"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53" name="Freeform 15"/>
            <p:cNvSpPr/>
            <p:nvPr/>
          </p:nvSpPr>
          <p:spPr bwMode="auto">
            <a:xfrm>
              <a:off x="6111212" y="2087881"/>
              <a:ext cx="6350" cy="11113"/>
            </a:xfrm>
            <a:custGeom>
              <a:avLst/>
              <a:gdLst>
                <a:gd name="T0" fmla="*/ 1 w 2"/>
                <a:gd name="T1" fmla="*/ 0 h 3"/>
                <a:gd name="T2" fmla="*/ 2 w 2"/>
                <a:gd name="T3" fmla="*/ 0 h 3"/>
                <a:gd name="T4" fmla="*/ 2 w 2"/>
                <a:gd name="T5" fmla="*/ 2 h 3"/>
                <a:gd name="T6" fmla="*/ 0 w 2"/>
                <a:gd name="T7" fmla="*/ 3 h 3"/>
                <a:gd name="T8" fmla="*/ 0 w 2"/>
                <a:gd name="T9" fmla="*/ 2 h 3"/>
                <a:gd name="T10" fmla="*/ 1 w 2"/>
                <a:gd name="T11" fmla="*/ 0 h 3"/>
              </a:gdLst>
              <a:ahLst/>
              <a:cxnLst>
                <a:cxn ang="0">
                  <a:pos x="T0" y="T1"/>
                </a:cxn>
                <a:cxn ang="0">
                  <a:pos x="T2" y="T3"/>
                </a:cxn>
                <a:cxn ang="0">
                  <a:pos x="T4" y="T5"/>
                </a:cxn>
                <a:cxn ang="0">
                  <a:pos x="T6" y="T7"/>
                </a:cxn>
                <a:cxn ang="0">
                  <a:pos x="T8" y="T9"/>
                </a:cxn>
                <a:cxn ang="0">
                  <a:pos x="T10" y="T11"/>
                </a:cxn>
              </a:cxnLst>
              <a:rect l="0" t="0" r="r" b="b"/>
              <a:pathLst>
                <a:path w="2" h="3">
                  <a:moveTo>
                    <a:pt x="1" y="0"/>
                  </a:moveTo>
                  <a:cubicBezTo>
                    <a:pt x="1" y="0"/>
                    <a:pt x="2" y="0"/>
                    <a:pt x="2" y="0"/>
                  </a:cubicBezTo>
                  <a:cubicBezTo>
                    <a:pt x="2" y="1"/>
                    <a:pt x="2" y="1"/>
                    <a:pt x="2" y="2"/>
                  </a:cubicBezTo>
                  <a:cubicBezTo>
                    <a:pt x="2" y="2"/>
                    <a:pt x="1" y="2"/>
                    <a:pt x="0" y="3"/>
                  </a:cubicBezTo>
                  <a:cubicBezTo>
                    <a:pt x="0" y="2"/>
                    <a:pt x="0" y="2"/>
                    <a:pt x="0" y="2"/>
                  </a:cubicBezTo>
                  <a:cubicBezTo>
                    <a:pt x="0" y="2"/>
                    <a:pt x="0" y="1"/>
                    <a:pt x="1"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54" name="Freeform 16"/>
            <p:cNvSpPr/>
            <p:nvPr/>
          </p:nvSpPr>
          <p:spPr bwMode="auto">
            <a:xfrm>
              <a:off x="6103275" y="2095818"/>
              <a:ext cx="3175" cy="6350"/>
            </a:xfrm>
            <a:custGeom>
              <a:avLst/>
              <a:gdLst>
                <a:gd name="T0" fmla="*/ 0 w 1"/>
                <a:gd name="T1" fmla="*/ 0 h 2"/>
                <a:gd name="T2" fmla="*/ 1 w 1"/>
                <a:gd name="T3" fmla="*/ 0 h 2"/>
                <a:gd name="T4" fmla="*/ 0 w 1"/>
                <a:gd name="T5" fmla="*/ 1 h 2"/>
                <a:gd name="T6" fmla="*/ 0 w 1"/>
                <a:gd name="T7" fmla="*/ 2 h 2"/>
                <a:gd name="T8" fmla="*/ 0 w 1"/>
                <a:gd name="T9" fmla="*/ 0 h 2"/>
              </a:gdLst>
              <a:ahLst/>
              <a:cxnLst>
                <a:cxn ang="0">
                  <a:pos x="T0" y="T1"/>
                </a:cxn>
                <a:cxn ang="0">
                  <a:pos x="T2" y="T3"/>
                </a:cxn>
                <a:cxn ang="0">
                  <a:pos x="T4" y="T5"/>
                </a:cxn>
                <a:cxn ang="0">
                  <a:pos x="T6" y="T7"/>
                </a:cxn>
                <a:cxn ang="0">
                  <a:pos x="T8" y="T9"/>
                </a:cxn>
              </a:cxnLst>
              <a:rect l="0" t="0" r="r" b="b"/>
              <a:pathLst>
                <a:path w="1" h="2">
                  <a:moveTo>
                    <a:pt x="0" y="0"/>
                  </a:moveTo>
                  <a:cubicBezTo>
                    <a:pt x="0" y="0"/>
                    <a:pt x="1" y="0"/>
                    <a:pt x="1" y="0"/>
                  </a:cubicBezTo>
                  <a:cubicBezTo>
                    <a:pt x="1" y="1"/>
                    <a:pt x="1" y="1"/>
                    <a:pt x="0" y="1"/>
                  </a:cubicBezTo>
                  <a:cubicBezTo>
                    <a:pt x="0" y="2"/>
                    <a:pt x="0" y="1"/>
                    <a:pt x="0" y="2"/>
                  </a:cubicBezTo>
                  <a:cubicBezTo>
                    <a:pt x="0" y="1"/>
                    <a:pt x="0" y="1"/>
                    <a:pt x="0"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55" name="Freeform 17"/>
            <p:cNvSpPr/>
            <p:nvPr/>
          </p:nvSpPr>
          <p:spPr bwMode="auto">
            <a:xfrm>
              <a:off x="6692237" y="2098993"/>
              <a:ext cx="0" cy="11113"/>
            </a:xfrm>
            <a:custGeom>
              <a:avLst/>
              <a:gdLst>
                <a:gd name="T0" fmla="*/ 0 h 3"/>
                <a:gd name="T1" fmla="*/ 1 h 3"/>
                <a:gd name="T2" fmla="*/ 3 h 3"/>
                <a:gd name="T3" fmla="*/ 3 h 3"/>
                <a:gd name="T4" fmla="*/ 3 h 3"/>
                <a:gd name="T5" fmla="*/ 0 h 3"/>
              </a:gdLst>
              <a:ahLst/>
              <a:cxnLst>
                <a:cxn ang="0">
                  <a:pos x="0" y="T0"/>
                </a:cxn>
                <a:cxn ang="0">
                  <a:pos x="0" y="T1"/>
                </a:cxn>
                <a:cxn ang="0">
                  <a:pos x="0" y="T2"/>
                </a:cxn>
                <a:cxn ang="0">
                  <a:pos x="0" y="T3"/>
                </a:cxn>
                <a:cxn ang="0">
                  <a:pos x="0" y="T4"/>
                </a:cxn>
                <a:cxn ang="0">
                  <a:pos x="0" y="T5"/>
                </a:cxn>
              </a:cxnLst>
              <a:rect l="0" t="0" r="r" b="b"/>
              <a:pathLst>
                <a:path h="3">
                  <a:moveTo>
                    <a:pt x="0" y="0"/>
                  </a:moveTo>
                  <a:cubicBezTo>
                    <a:pt x="0" y="0"/>
                    <a:pt x="0" y="0"/>
                    <a:pt x="0" y="1"/>
                  </a:cubicBezTo>
                  <a:cubicBezTo>
                    <a:pt x="0" y="1"/>
                    <a:pt x="0" y="2"/>
                    <a:pt x="0" y="3"/>
                  </a:cubicBezTo>
                  <a:cubicBezTo>
                    <a:pt x="0" y="3"/>
                    <a:pt x="0" y="3"/>
                    <a:pt x="0" y="3"/>
                  </a:cubicBezTo>
                  <a:cubicBezTo>
                    <a:pt x="0" y="3"/>
                    <a:pt x="0" y="3"/>
                    <a:pt x="0" y="3"/>
                  </a:cubicBezTo>
                  <a:cubicBezTo>
                    <a:pt x="0" y="2"/>
                    <a:pt x="0" y="1"/>
                    <a:pt x="0"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56" name="Freeform 18"/>
            <p:cNvSpPr/>
            <p:nvPr/>
          </p:nvSpPr>
          <p:spPr bwMode="auto">
            <a:xfrm>
              <a:off x="5990562" y="2106931"/>
              <a:ext cx="93663" cy="60325"/>
            </a:xfrm>
            <a:custGeom>
              <a:avLst/>
              <a:gdLst>
                <a:gd name="T0" fmla="*/ 0 w 25"/>
                <a:gd name="T1" fmla="*/ 0 h 16"/>
                <a:gd name="T2" fmla="*/ 16 w 25"/>
                <a:gd name="T3" fmla="*/ 13 h 16"/>
                <a:gd name="T4" fmla="*/ 7 w 25"/>
                <a:gd name="T5" fmla="*/ 13 h 16"/>
                <a:gd name="T6" fmla="*/ 0 w 25"/>
                <a:gd name="T7" fmla="*/ 16 h 16"/>
                <a:gd name="T8" fmla="*/ 0 w 25"/>
                <a:gd name="T9" fmla="*/ 16 h 16"/>
                <a:gd name="T10" fmla="*/ 6 w 25"/>
                <a:gd name="T11" fmla="*/ 9 h 16"/>
                <a:gd name="T12" fmla="*/ 6 w 25"/>
                <a:gd name="T13" fmla="*/ 7 h 16"/>
                <a:gd name="T14" fmla="*/ 0 w 25"/>
                <a:gd name="T15" fmla="*/ 0 h 16"/>
                <a:gd name="T16" fmla="*/ 0 w 25"/>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6">
                  <a:moveTo>
                    <a:pt x="0" y="0"/>
                  </a:moveTo>
                  <a:cubicBezTo>
                    <a:pt x="8" y="1"/>
                    <a:pt x="25" y="1"/>
                    <a:pt x="16" y="13"/>
                  </a:cubicBezTo>
                  <a:cubicBezTo>
                    <a:pt x="14" y="13"/>
                    <a:pt x="10" y="13"/>
                    <a:pt x="7" y="13"/>
                  </a:cubicBezTo>
                  <a:cubicBezTo>
                    <a:pt x="5" y="14"/>
                    <a:pt x="3" y="15"/>
                    <a:pt x="0" y="16"/>
                  </a:cubicBezTo>
                  <a:cubicBezTo>
                    <a:pt x="0" y="16"/>
                    <a:pt x="0" y="16"/>
                    <a:pt x="0" y="16"/>
                  </a:cubicBezTo>
                  <a:cubicBezTo>
                    <a:pt x="2" y="13"/>
                    <a:pt x="4" y="11"/>
                    <a:pt x="6" y="9"/>
                  </a:cubicBezTo>
                  <a:cubicBezTo>
                    <a:pt x="6" y="8"/>
                    <a:pt x="6" y="8"/>
                    <a:pt x="6" y="7"/>
                  </a:cubicBezTo>
                  <a:cubicBezTo>
                    <a:pt x="4" y="5"/>
                    <a:pt x="0" y="2"/>
                    <a:pt x="0" y="0"/>
                  </a:cubicBezTo>
                  <a:cubicBezTo>
                    <a:pt x="0" y="0"/>
                    <a:pt x="0" y="0"/>
                    <a:pt x="0"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57" name="Freeform 19"/>
            <p:cNvSpPr/>
            <p:nvPr/>
          </p:nvSpPr>
          <p:spPr bwMode="auto">
            <a:xfrm>
              <a:off x="6635087" y="2114868"/>
              <a:ext cx="79375" cy="109538"/>
            </a:xfrm>
            <a:custGeom>
              <a:avLst/>
              <a:gdLst>
                <a:gd name="T0" fmla="*/ 13 w 21"/>
                <a:gd name="T1" fmla="*/ 0 h 29"/>
                <a:gd name="T2" fmla="*/ 21 w 21"/>
                <a:gd name="T3" fmla="*/ 23 h 29"/>
                <a:gd name="T4" fmla="*/ 18 w 21"/>
                <a:gd name="T5" fmla="*/ 25 h 29"/>
                <a:gd name="T6" fmla="*/ 0 w 21"/>
                <a:gd name="T7" fmla="*/ 6 h 29"/>
                <a:gd name="T8" fmla="*/ 0 w 21"/>
                <a:gd name="T9" fmla="*/ 5 h 29"/>
                <a:gd name="T10" fmla="*/ 11 w 21"/>
                <a:gd name="T11" fmla="*/ 10 h 29"/>
                <a:gd name="T12" fmla="*/ 12 w 21"/>
                <a:gd name="T13" fmla="*/ 9 h 29"/>
                <a:gd name="T14" fmla="*/ 13 w 21"/>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9">
                  <a:moveTo>
                    <a:pt x="13" y="0"/>
                  </a:moveTo>
                  <a:cubicBezTo>
                    <a:pt x="14" y="1"/>
                    <a:pt x="21" y="23"/>
                    <a:pt x="21" y="23"/>
                  </a:cubicBezTo>
                  <a:cubicBezTo>
                    <a:pt x="20" y="24"/>
                    <a:pt x="19" y="25"/>
                    <a:pt x="18" y="25"/>
                  </a:cubicBezTo>
                  <a:cubicBezTo>
                    <a:pt x="11" y="29"/>
                    <a:pt x="1" y="11"/>
                    <a:pt x="0" y="6"/>
                  </a:cubicBezTo>
                  <a:cubicBezTo>
                    <a:pt x="0" y="6"/>
                    <a:pt x="0" y="6"/>
                    <a:pt x="0" y="5"/>
                  </a:cubicBezTo>
                  <a:cubicBezTo>
                    <a:pt x="4" y="6"/>
                    <a:pt x="8" y="8"/>
                    <a:pt x="11" y="10"/>
                  </a:cubicBezTo>
                  <a:cubicBezTo>
                    <a:pt x="11" y="9"/>
                    <a:pt x="11" y="9"/>
                    <a:pt x="12" y="9"/>
                  </a:cubicBezTo>
                  <a:cubicBezTo>
                    <a:pt x="12" y="6"/>
                    <a:pt x="13" y="3"/>
                    <a:pt x="13"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58" name="Freeform 20"/>
            <p:cNvSpPr/>
            <p:nvPr/>
          </p:nvSpPr>
          <p:spPr bwMode="auto">
            <a:xfrm>
              <a:off x="7120862" y="2133918"/>
              <a:ext cx="7938" cy="3175"/>
            </a:xfrm>
            <a:custGeom>
              <a:avLst/>
              <a:gdLst>
                <a:gd name="T0" fmla="*/ 0 w 2"/>
                <a:gd name="T1" fmla="*/ 0 h 1"/>
                <a:gd name="T2" fmla="*/ 1 w 2"/>
                <a:gd name="T3" fmla="*/ 1 h 1"/>
                <a:gd name="T4" fmla="*/ 2 w 2"/>
                <a:gd name="T5" fmla="*/ 1 h 1"/>
                <a:gd name="T6" fmla="*/ 1 w 2"/>
                <a:gd name="T7" fmla="*/ 0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1"/>
                    <a:pt x="1" y="1"/>
                    <a:pt x="1" y="1"/>
                  </a:cubicBezTo>
                  <a:cubicBezTo>
                    <a:pt x="1" y="1"/>
                    <a:pt x="1" y="1"/>
                    <a:pt x="2" y="1"/>
                  </a:cubicBezTo>
                  <a:cubicBezTo>
                    <a:pt x="1" y="0"/>
                    <a:pt x="1" y="0"/>
                    <a:pt x="1" y="0"/>
                  </a:cubicBezTo>
                  <a:cubicBezTo>
                    <a:pt x="1" y="0"/>
                    <a:pt x="1" y="0"/>
                    <a:pt x="0"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59" name="Freeform 21"/>
            <p:cNvSpPr/>
            <p:nvPr/>
          </p:nvSpPr>
          <p:spPr bwMode="auto">
            <a:xfrm>
              <a:off x="4598325" y="2145031"/>
              <a:ext cx="176213" cy="295275"/>
            </a:xfrm>
            <a:custGeom>
              <a:avLst/>
              <a:gdLst>
                <a:gd name="T0" fmla="*/ 30 w 47"/>
                <a:gd name="T1" fmla="*/ 0 h 77"/>
                <a:gd name="T2" fmla="*/ 42 w 47"/>
                <a:gd name="T3" fmla="*/ 8 h 77"/>
                <a:gd name="T4" fmla="*/ 42 w 47"/>
                <a:gd name="T5" fmla="*/ 14 h 77"/>
                <a:gd name="T6" fmla="*/ 38 w 47"/>
                <a:gd name="T7" fmla="*/ 19 h 77"/>
                <a:gd name="T8" fmla="*/ 35 w 47"/>
                <a:gd name="T9" fmla="*/ 37 h 77"/>
                <a:gd name="T10" fmla="*/ 35 w 47"/>
                <a:gd name="T11" fmla="*/ 36 h 77"/>
                <a:gd name="T12" fmla="*/ 42 w 47"/>
                <a:gd name="T13" fmla="*/ 20 h 77"/>
                <a:gd name="T14" fmla="*/ 42 w 47"/>
                <a:gd name="T15" fmla="*/ 20 h 77"/>
                <a:gd name="T16" fmla="*/ 45 w 47"/>
                <a:gd name="T17" fmla="*/ 25 h 77"/>
                <a:gd name="T18" fmla="*/ 46 w 47"/>
                <a:gd name="T19" fmla="*/ 24 h 77"/>
                <a:gd name="T20" fmla="*/ 46 w 47"/>
                <a:gd name="T21" fmla="*/ 25 h 77"/>
                <a:gd name="T22" fmla="*/ 47 w 47"/>
                <a:gd name="T23" fmla="*/ 31 h 77"/>
                <a:gd name="T24" fmla="*/ 37 w 47"/>
                <a:gd name="T25" fmla="*/ 61 h 77"/>
                <a:gd name="T26" fmla="*/ 28 w 47"/>
                <a:gd name="T27" fmla="*/ 77 h 77"/>
                <a:gd name="T28" fmla="*/ 22 w 47"/>
                <a:gd name="T29" fmla="*/ 31 h 77"/>
                <a:gd name="T30" fmla="*/ 11 w 47"/>
                <a:gd name="T31" fmla="*/ 35 h 77"/>
                <a:gd name="T32" fmla="*/ 2 w 47"/>
                <a:gd name="T33" fmla="*/ 16 h 77"/>
                <a:gd name="T34" fmla="*/ 3 w 47"/>
                <a:gd name="T35" fmla="*/ 16 h 77"/>
                <a:gd name="T36" fmla="*/ 6 w 47"/>
                <a:gd name="T37" fmla="*/ 18 h 77"/>
                <a:gd name="T38" fmla="*/ 30 w 47"/>
                <a:gd name="T39"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7" h="77">
                  <a:moveTo>
                    <a:pt x="30" y="0"/>
                  </a:moveTo>
                  <a:cubicBezTo>
                    <a:pt x="36" y="1"/>
                    <a:pt x="38" y="5"/>
                    <a:pt x="42" y="8"/>
                  </a:cubicBezTo>
                  <a:cubicBezTo>
                    <a:pt x="42" y="10"/>
                    <a:pt x="42" y="13"/>
                    <a:pt x="42" y="14"/>
                  </a:cubicBezTo>
                  <a:cubicBezTo>
                    <a:pt x="41" y="16"/>
                    <a:pt x="39" y="17"/>
                    <a:pt x="38" y="19"/>
                  </a:cubicBezTo>
                  <a:cubicBezTo>
                    <a:pt x="37" y="22"/>
                    <a:pt x="34" y="33"/>
                    <a:pt x="35" y="37"/>
                  </a:cubicBezTo>
                  <a:cubicBezTo>
                    <a:pt x="35" y="37"/>
                    <a:pt x="35" y="36"/>
                    <a:pt x="35" y="36"/>
                  </a:cubicBezTo>
                  <a:cubicBezTo>
                    <a:pt x="39" y="32"/>
                    <a:pt x="38" y="24"/>
                    <a:pt x="42" y="20"/>
                  </a:cubicBezTo>
                  <a:cubicBezTo>
                    <a:pt x="42" y="20"/>
                    <a:pt x="42" y="20"/>
                    <a:pt x="42" y="20"/>
                  </a:cubicBezTo>
                  <a:cubicBezTo>
                    <a:pt x="43" y="22"/>
                    <a:pt x="43" y="23"/>
                    <a:pt x="45" y="25"/>
                  </a:cubicBezTo>
                  <a:cubicBezTo>
                    <a:pt x="45" y="25"/>
                    <a:pt x="45" y="25"/>
                    <a:pt x="46" y="24"/>
                  </a:cubicBezTo>
                  <a:cubicBezTo>
                    <a:pt x="46" y="24"/>
                    <a:pt x="46" y="24"/>
                    <a:pt x="46" y="25"/>
                  </a:cubicBezTo>
                  <a:cubicBezTo>
                    <a:pt x="46" y="27"/>
                    <a:pt x="47" y="30"/>
                    <a:pt x="47" y="31"/>
                  </a:cubicBezTo>
                  <a:cubicBezTo>
                    <a:pt x="45" y="41"/>
                    <a:pt x="39" y="51"/>
                    <a:pt x="37" y="61"/>
                  </a:cubicBezTo>
                  <a:cubicBezTo>
                    <a:pt x="35" y="68"/>
                    <a:pt x="36" y="77"/>
                    <a:pt x="28" y="77"/>
                  </a:cubicBezTo>
                  <a:cubicBezTo>
                    <a:pt x="14" y="67"/>
                    <a:pt x="26" y="47"/>
                    <a:pt x="22" y="31"/>
                  </a:cubicBezTo>
                  <a:cubicBezTo>
                    <a:pt x="19" y="30"/>
                    <a:pt x="14" y="34"/>
                    <a:pt x="11" y="35"/>
                  </a:cubicBezTo>
                  <a:cubicBezTo>
                    <a:pt x="4" y="32"/>
                    <a:pt x="0" y="25"/>
                    <a:pt x="2" y="16"/>
                  </a:cubicBezTo>
                  <a:cubicBezTo>
                    <a:pt x="3" y="16"/>
                    <a:pt x="3" y="16"/>
                    <a:pt x="3" y="16"/>
                  </a:cubicBezTo>
                  <a:cubicBezTo>
                    <a:pt x="4" y="16"/>
                    <a:pt x="5" y="17"/>
                    <a:pt x="6" y="18"/>
                  </a:cubicBezTo>
                  <a:cubicBezTo>
                    <a:pt x="17" y="15"/>
                    <a:pt x="21" y="5"/>
                    <a:pt x="30"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60" name="Freeform 22"/>
            <p:cNvSpPr/>
            <p:nvPr/>
          </p:nvSpPr>
          <p:spPr bwMode="auto">
            <a:xfrm>
              <a:off x="5941350" y="2183131"/>
              <a:ext cx="104775" cy="49213"/>
            </a:xfrm>
            <a:custGeom>
              <a:avLst/>
              <a:gdLst>
                <a:gd name="T0" fmla="*/ 1 w 28"/>
                <a:gd name="T1" fmla="*/ 1 h 13"/>
                <a:gd name="T2" fmla="*/ 27 w 28"/>
                <a:gd name="T3" fmla="*/ 2 h 13"/>
                <a:gd name="T4" fmla="*/ 28 w 28"/>
                <a:gd name="T5" fmla="*/ 4 h 13"/>
                <a:gd name="T6" fmla="*/ 27 w 28"/>
                <a:gd name="T7" fmla="*/ 8 h 13"/>
                <a:gd name="T8" fmla="*/ 15 w 28"/>
                <a:gd name="T9" fmla="*/ 13 h 13"/>
                <a:gd name="T10" fmla="*/ 17 w 28"/>
                <a:gd name="T11" fmla="*/ 11 h 13"/>
                <a:gd name="T12" fmla="*/ 17 w 28"/>
                <a:gd name="T13" fmla="*/ 10 h 13"/>
                <a:gd name="T14" fmla="*/ 0 w 28"/>
                <a:gd name="T15" fmla="*/ 2 h 13"/>
                <a:gd name="T16" fmla="*/ 1 w 28"/>
                <a:gd name="T17"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13">
                  <a:moveTo>
                    <a:pt x="1" y="1"/>
                  </a:moveTo>
                  <a:cubicBezTo>
                    <a:pt x="9" y="0"/>
                    <a:pt x="20" y="0"/>
                    <a:pt x="27" y="2"/>
                  </a:cubicBezTo>
                  <a:cubicBezTo>
                    <a:pt x="27" y="3"/>
                    <a:pt x="28" y="3"/>
                    <a:pt x="28" y="4"/>
                  </a:cubicBezTo>
                  <a:cubicBezTo>
                    <a:pt x="28" y="5"/>
                    <a:pt x="27" y="7"/>
                    <a:pt x="27" y="8"/>
                  </a:cubicBezTo>
                  <a:cubicBezTo>
                    <a:pt x="24" y="11"/>
                    <a:pt x="18" y="11"/>
                    <a:pt x="15" y="13"/>
                  </a:cubicBezTo>
                  <a:cubicBezTo>
                    <a:pt x="16" y="12"/>
                    <a:pt x="16" y="12"/>
                    <a:pt x="17" y="11"/>
                  </a:cubicBezTo>
                  <a:cubicBezTo>
                    <a:pt x="17" y="11"/>
                    <a:pt x="17" y="11"/>
                    <a:pt x="17" y="10"/>
                  </a:cubicBezTo>
                  <a:cubicBezTo>
                    <a:pt x="9" y="12"/>
                    <a:pt x="4" y="6"/>
                    <a:pt x="0" y="2"/>
                  </a:cubicBezTo>
                  <a:cubicBezTo>
                    <a:pt x="0" y="1"/>
                    <a:pt x="0" y="1"/>
                    <a:pt x="1" y="1"/>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61" name="Freeform 23"/>
            <p:cNvSpPr>
              <a:spLocks noEditPoints="1"/>
            </p:cNvSpPr>
            <p:nvPr/>
          </p:nvSpPr>
          <p:spPr bwMode="auto">
            <a:xfrm>
              <a:off x="4096675" y="1987868"/>
              <a:ext cx="365125" cy="593725"/>
            </a:xfrm>
            <a:custGeom>
              <a:avLst/>
              <a:gdLst>
                <a:gd name="T0" fmla="*/ 80 w 97"/>
                <a:gd name="T1" fmla="*/ 56 h 155"/>
                <a:gd name="T2" fmla="*/ 79 w 97"/>
                <a:gd name="T3" fmla="*/ 56 h 155"/>
                <a:gd name="T4" fmla="*/ 81 w 97"/>
                <a:gd name="T5" fmla="*/ 38 h 155"/>
                <a:gd name="T6" fmla="*/ 82 w 97"/>
                <a:gd name="T7" fmla="*/ 38 h 155"/>
                <a:gd name="T8" fmla="*/ 95 w 97"/>
                <a:gd name="T9" fmla="*/ 38 h 155"/>
                <a:gd name="T10" fmla="*/ 97 w 97"/>
                <a:gd name="T11" fmla="*/ 36 h 155"/>
                <a:gd name="T12" fmla="*/ 83 w 97"/>
                <a:gd name="T13" fmla="*/ 31 h 155"/>
                <a:gd name="T14" fmla="*/ 83 w 97"/>
                <a:gd name="T15" fmla="*/ 31 h 155"/>
                <a:gd name="T16" fmla="*/ 76 w 97"/>
                <a:gd name="T17" fmla="*/ 16 h 155"/>
                <a:gd name="T18" fmla="*/ 76 w 97"/>
                <a:gd name="T19" fmla="*/ 15 h 155"/>
                <a:gd name="T20" fmla="*/ 94 w 97"/>
                <a:gd name="T21" fmla="*/ 12 h 155"/>
                <a:gd name="T22" fmla="*/ 94 w 97"/>
                <a:gd name="T23" fmla="*/ 6 h 155"/>
                <a:gd name="T24" fmla="*/ 83 w 97"/>
                <a:gd name="T25" fmla="*/ 0 h 155"/>
                <a:gd name="T26" fmla="*/ 45 w 97"/>
                <a:gd name="T27" fmla="*/ 8 h 155"/>
                <a:gd name="T28" fmla="*/ 30 w 97"/>
                <a:gd name="T29" fmla="*/ 10 h 155"/>
                <a:gd name="T30" fmla="*/ 29 w 97"/>
                <a:gd name="T31" fmla="*/ 11 h 155"/>
                <a:gd name="T32" fmla="*/ 52 w 97"/>
                <a:gd name="T33" fmla="*/ 24 h 155"/>
                <a:gd name="T34" fmla="*/ 51 w 97"/>
                <a:gd name="T35" fmla="*/ 37 h 155"/>
                <a:gd name="T36" fmla="*/ 38 w 97"/>
                <a:gd name="T37" fmla="*/ 41 h 155"/>
                <a:gd name="T38" fmla="*/ 34 w 97"/>
                <a:gd name="T39" fmla="*/ 35 h 155"/>
                <a:gd name="T40" fmla="*/ 23 w 97"/>
                <a:gd name="T41" fmla="*/ 59 h 155"/>
                <a:gd name="T42" fmla="*/ 26 w 97"/>
                <a:gd name="T43" fmla="*/ 61 h 155"/>
                <a:gd name="T44" fmla="*/ 31 w 97"/>
                <a:gd name="T45" fmla="*/ 60 h 155"/>
                <a:gd name="T46" fmla="*/ 36 w 97"/>
                <a:gd name="T47" fmla="*/ 58 h 155"/>
                <a:gd name="T48" fmla="*/ 40 w 97"/>
                <a:gd name="T49" fmla="*/ 52 h 155"/>
                <a:gd name="T50" fmla="*/ 49 w 97"/>
                <a:gd name="T51" fmla="*/ 46 h 155"/>
                <a:gd name="T52" fmla="*/ 50 w 97"/>
                <a:gd name="T53" fmla="*/ 46 h 155"/>
                <a:gd name="T54" fmla="*/ 51 w 97"/>
                <a:gd name="T55" fmla="*/ 61 h 155"/>
                <a:gd name="T56" fmla="*/ 37 w 97"/>
                <a:gd name="T57" fmla="*/ 65 h 155"/>
                <a:gd name="T58" fmla="*/ 9 w 97"/>
                <a:gd name="T59" fmla="*/ 73 h 155"/>
                <a:gd name="T60" fmla="*/ 8 w 97"/>
                <a:gd name="T61" fmla="*/ 74 h 155"/>
                <a:gd name="T62" fmla="*/ 17 w 97"/>
                <a:gd name="T63" fmla="*/ 79 h 155"/>
                <a:gd name="T64" fmla="*/ 47 w 97"/>
                <a:gd name="T65" fmla="*/ 70 h 155"/>
                <a:gd name="T66" fmla="*/ 48 w 97"/>
                <a:gd name="T67" fmla="*/ 70 h 155"/>
                <a:gd name="T68" fmla="*/ 40 w 97"/>
                <a:gd name="T69" fmla="*/ 86 h 155"/>
                <a:gd name="T70" fmla="*/ 20 w 97"/>
                <a:gd name="T71" fmla="*/ 121 h 155"/>
                <a:gd name="T72" fmla="*/ 13 w 97"/>
                <a:gd name="T73" fmla="*/ 131 h 155"/>
                <a:gd name="T74" fmla="*/ 13 w 97"/>
                <a:gd name="T75" fmla="*/ 133 h 155"/>
                <a:gd name="T76" fmla="*/ 0 w 97"/>
                <a:gd name="T77" fmla="*/ 151 h 155"/>
                <a:gd name="T78" fmla="*/ 1 w 97"/>
                <a:gd name="T79" fmla="*/ 155 h 155"/>
                <a:gd name="T80" fmla="*/ 6 w 97"/>
                <a:gd name="T81" fmla="*/ 148 h 155"/>
                <a:gd name="T82" fmla="*/ 11 w 97"/>
                <a:gd name="T83" fmla="*/ 147 h 155"/>
                <a:gd name="T84" fmla="*/ 20 w 97"/>
                <a:gd name="T85" fmla="*/ 134 h 155"/>
                <a:gd name="T86" fmla="*/ 22 w 97"/>
                <a:gd name="T87" fmla="*/ 132 h 155"/>
                <a:gd name="T88" fmla="*/ 20 w 97"/>
                <a:gd name="T89" fmla="*/ 132 h 155"/>
                <a:gd name="T90" fmla="*/ 38 w 97"/>
                <a:gd name="T91" fmla="*/ 100 h 155"/>
                <a:gd name="T92" fmla="*/ 46 w 97"/>
                <a:gd name="T93" fmla="*/ 89 h 155"/>
                <a:gd name="T94" fmla="*/ 63 w 97"/>
                <a:gd name="T95" fmla="*/ 66 h 155"/>
                <a:gd name="T96" fmla="*/ 80 w 97"/>
                <a:gd name="T97" fmla="*/ 61 h 155"/>
                <a:gd name="T98" fmla="*/ 95 w 97"/>
                <a:gd name="T99" fmla="*/ 62 h 155"/>
                <a:gd name="T100" fmla="*/ 97 w 97"/>
                <a:gd name="T101" fmla="*/ 59 h 155"/>
                <a:gd name="T102" fmla="*/ 80 w 97"/>
                <a:gd name="T103" fmla="*/ 56 h 155"/>
                <a:gd name="T104" fmla="*/ 67 w 97"/>
                <a:gd name="T105" fmla="*/ 58 h 155"/>
                <a:gd name="T106" fmla="*/ 65 w 97"/>
                <a:gd name="T107" fmla="*/ 59 h 155"/>
                <a:gd name="T108" fmla="*/ 65 w 97"/>
                <a:gd name="T109" fmla="*/ 53 h 155"/>
                <a:gd name="T110" fmla="*/ 65 w 97"/>
                <a:gd name="T111" fmla="*/ 53 h 155"/>
                <a:gd name="T112" fmla="*/ 67 w 97"/>
                <a:gd name="T113" fmla="*/ 58 h 155"/>
                <a:gd name="T114" fmla="*/ 67 w 97"/>
                <a:gd name="T115" fmla="*/ 58 h 155"/>
                <a:gd name="T116" fmla="*/ 69 w 97"/>
                <a:gd name="T117" fmla="*/ 48 h 155"/>
                <a:gd name="T118" fmla="*/ 68 w 97"/>
                <a:gd name="T119" fmla="*/ 49 h 155"/>
                <a:gd name="T120" fmla="*/ 66 w 97"/>
                <a:gd name="T121" fmla="*/ 48 h 155"/>
                <a:gd name="T122" fmla="*/ 69 w 97"/>
                <a:gd name="T123" fmla="*/ 20 h 155"/>
                <a:gd name="T124" fmla="*/ 69 w 97"/>
                <a:gd name="T125" fmla="*/ 48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7" h="155">
                  <a:moveTo>
                    <a:pt x="80" y="56"/>
                  </a:moveTo>
                  <a:cubicBezTo>
                    <a:pt x="80" y="56"/>
                    <a:pt x="79" y="56"/>
                    <a:pt x="79" y="56"/>
                  </a:cubicBezTo>
                  <a:cubicBezTo>
                    <a:pt x="80" y="51"/>
                    <a:pt x="82" y="46"/>
                    <a:pt x="81" y="38"/>
                  </a:cubicBezTo>
                  <a:cubicBezTo>
                    <a:pt x="82" y="38"/>
                    <a:pt x="82" y="38"/>
                    <a:pt x="82" y="38"/>
                  </a:cubicBezTo>
                  <a:cubicBezTo>
                    <a:pt x="87" y="40"/>
                    <a:pt x="90" y="43"/>
                    <a:pt x="95" y="38"/>
                  </a:cubicBezTo>
                  <a:cubicBezTo>
                    <a:pt x="96" y="38"/>
                    <a:pt x="96" y="36"/>
                    <a:pt x="97" y="36"/>
                  </a:cubicBezTo>
                  <a:cubicBezTo>
                    <a:pt x="96" y="30"/>
                    <a:pt x="89" y="30"/>
                    <a:pt x="83" y="31"/>
                  </a:cubicBezTo>
                  <a:cubicBezTo>
                    <a:pt x="83" y="31"/>
                    <a:pt x="83" y="31"/>
                    <a:pt x="83" y="31"/>
                  </a:cubicBezTo>
                  <a:cubicBezTo>
                    <a:pt x="80" y="24"/>
                    <a:pt x="84" y="19"/>
                    <a:pt x="76" y="16"/>
                  </a:cubicBezTo>
                  <a:cubicBezTo>
                    <a:pt x="76" y="16"/>
                    <a:pt x="76" y="16"/>
                    <a:pt x="76" y="15"/>
                  </a:cubicBezTo>
                  <a:cubicBezTo>
                    <a:pt x="77" y="15"/>
                    <a:pt x="92" y="12"/>
                    <a:pt x="94" y="12"/>
                  </a:cubicBezTo>
                  <a:cubicBezTo>
                    <a:pt x="95" y="11"/>
                    <a:pt x="95" y="8"/>
                    <a:pt x="94" y="6"/>
                  </a:cubicBezTo>
                  <a:cubicBezTo>
                    <a:pt x="93" y="3"/>
                    <a:pt x="89" y="0"/>
                    <a:pt x="83" y="0"/>
                  </a:cubicBezTo>
                  <a:cubicBezTo>
                    <a:pt x="73" y="6"/>
                    <a:pt x="57" y="5"/>
                    <a:pt x="45" y="8"/>
                  </a:cubicBezTo>
                  <a:cubicBezTo>
                    <a:pt x="40" y="9"/>
                    <a:pt x="35" y="7"/>
                    <a:pt x="30" y="10"/>
                  </a:cubicBezTo>
                  <a:cubicBezTo>
                    <a:pt x="30" y="10"/>
                    <a:pt x="30" y="10"/>
                    <a:pt x="29" y="11"/>
                  </a:cubicBezTo>
                  <a:cubicBezTo>
                    <a:pt x="36" y="23"/>
                    <a:pt x="34" y="25"/>
                    <a:pt x="52" y="24"/>
                  </a:cubicBezTo>
                  <a:cubicBezTo>
                    <a:pt x="53" y="28"/>
                    <a:pt x="50" y="33"/>
                    <a:pt x="51" y="37"/>
                  </a:cubicBezTo>
                  <a:cubicBezTo>
                    <a:pt x="48" y="39"/>
                    <a:pt x="42" y="41"/>
                    <a:pt x="38" y="41"/>
                  </a:cubicBezTo>
                  <a:cubicBezTo>
                    <a:pt x="37" y="39"/>
                    <a:pt x="36" y="37"/>
                    <a:pt x="34" y="35"/>
                  </a:cubicBezTo>
                  <a:cubicBezTo>
                    <a:pt x="25" y="37"/>
                    <a:pt x="22" y="49"/>
                    <a:pt x="23" y="59"/>
                  </a:cubicBezTo>
                  <a:cubicBezTo>
                    <a:pt x="24" y="60"/>
                    <a:pt x="25" y="60"/>
                    <a:pt x="26" y="61"/>
                  </a:cubicBezTo>
                  <a:cubicBezTo>
                    <a:pt x="28" y="62"/>
                    <a:pt x="29" y="60"/>
                    <a:pt x="31" y="60"/>
                  </a:cubicBezTo>
                  <a:cubicBezTo>
                    <a:pt x="32" y="59"/>
                    <a:pt x="34" y="59"/>
                    <a:pt x="36" y="58"/>
                  </a:cubicBezTo>
                  <a:cubicBezTo>
                    <a:pt x="37" y="56"/>
                    <a:pt x="39" y="54"/>
                    <a:pt x="40" y="52"/>
                  </a:cubicBezTo>
                  <a:cubicBezTo>
                    <a:pt x="44" y="50"/>
                    <a:pt x="47" y="50"/>
                    <a:pt x="49" y="46"/>
                  </a:cubicBezTo>
                  <a:cubicBezTo>
                    <a:pt x="49" y="46"/>
                    <a:pt x="50" y="46"/>
                    <a:pt x="50" y="46"/>
                  </a:cubicBezTo>
                  <a:cubicBezTo>
                    <a:pt x="50" y="51"/>
                    <a:pt x="51" y="55"/>
                    <a:pt x="51" y="61"/>
                  </a:cubicBezTo>
                  <a:cubicBezTo>
                    <a:pt x="47" y="64"/>
                    <a:pt x="42" y="64"/>
                    <a:pt x="37" y="65"/>
                  </a:cubicBezTo>
                  <a:cubicBezTo>
                    <a:pt x="29" y="68"/>
                    <a:pt x="19" y="73"/>
                    <a:pt x="9" y="73"/>
                  </a:cubicBezTo>
                  <a:cubicBezTo>
                    <a:pt x="9" y="73"/>
                    <a:pt x="8" y="74"/>
                    <a:pt x="8" y="74"/>
                  </a:cubicBezTo>
                  <a:cubicBezTo>
                    <a:pt x="10" y="77"/>
                    <a:pt x="14" y="78"/>
                    <a:pt x="17" y="79"/>
                  </a:cubicBezTo>
                  <a:cubicBezTo>
                    <a:pt x="22" y="81"/>
                    <a:pt x="46" y="72"/>
                    <a:pt x="47" y="70"/>
                  </a:cubicBezTo>
                  <a:cubicBezTo>
                    <a:pt x="47" y="70"/>
                    <a:pt x="47" y="70"/>
                    <a:pt x="48" y="70"/>
                  </a:cubicBezTo>
                  <a:cubicBezTo>
                    <a:pt x="47" y="76"/>
                    <a:pt x="42" y="81"/>
                    <a:pt x="40" y="86"/>
                  </a:cubicBezTo>
                  <a:cubicBezTo>
                    <a:pt x="34" y="98"/>
                    <a:pt x="27" y="109"/>
                    <a:pt x="20" y="121"/>
                  </a:cubicBezTo>
                  <a:cubicBezTo>
                    <a:pt x="18" y="124"/>
                    <a:pt x="15" y="127"/>
                    <a:pt x="13" y="131"/>
                  </a:cubicBezTo>
                  <a:cubicBezTo>
                    <a:pt x="12" y="132"/>
                    <a:pt x="13" y="131"/>
                    <a:pt x="13" y="133"/>
                  </a:cubicBezTo>
                  <a:cubicBezTo>
                    <a:pt x="9" y="139"/>
                    <a:pt x="4" y="145"/>
                    <a:pt x="0" y="151"/>
                  </a:cubicBezTo>
                  <a:cubicBezTo>
                    <a:pt x="0" y="153"/>
                    <a:pt x="0" y="154"/>
                    <a:pt x="1" y="155"/>
                  </a:cubicBezTo>
                  <a:cubicBezTo>
                    <a:pt x="4" y="154"/>
                    <a:pt x="4" y="150"/>
                    <a:pt x="6" y="148"/>
                  </a:cubicBezTo>
                  <a:cubicBezTo>
                    <a:pt x="8" y="147"/>
                    <a:pt x="9" y="147"/>
                    <a:pt x="11" y="147"/>
                  </a:cubicBezTo>
                  <a:cubicBezTo>
                    <a:pt x="13" y="146"/>
                    <a:pt x="20" y="136"/>
                    <a:pt x="20" y="134"/>
                  </a:cubicBezTo>
                  <a:cubicBezTo>
                    <a:pt x="21" y="133"/>
                    <a:pt x="21" y="133"/>
                    <a:pt x="22" y="132"/>
                  </a:cubicBezTo>
                  <a:cubicBezTo>
                    <a:pt x="21" y="132"/>
                    <a:pt x="21" y="132"/>
                    <a:pt x="20" y="132"/>
                  </a:cubicBezTo>
                  <a:cubicBezTo>
                    <a:pt x="25" y="121"/>
                    <a:pt x="32" y="110"/>
                    <a:pt x="38" y="100"/>
                  </a:cubicBezTo>
                  <a:cubicBezTo>
                    <a:pt x="41" y="97"/>
                    <a:pt x="44" y="93"/>
                    <a:pt x="46" y="89"/>
                  </a:cubicBezTo>
                  <a:cubicBezTo>
                    <a:pt x="51" y="80"/>
                    <a:pt x="54" y="71"/>
                    <a:pt x="63" y="66"/>
                  </a:cubicBezTo>
                  <a:cubicBezTo>
                    <a:pt x="67" y="63"/>
                    <a:pt x="74" y="62"/>
                    <a:pt x="80" y="61"/>
                  </a:cubicBezTo>
                  <a:cubicBezTo>
                    <a:pt x="85" y="61"/>
                    <a:pt x="91" y="65"/>
                    <a:pt x="95" y="62"/>
                  </a:cubicBezTo>
                  <a:cubicBezTo>
                    <a:pt x="96" y="61"/>
                    <a:pt x="96" y="60"/>
                    <a:pt x="97" y="59"/>
                  </a:cubicBezTo>
                  <a:cubicBezTo>
                    <a:pt x="94" y="55"/>
                    <a:pt x="85" y="53"/>
                    <a:pt x="80" y="56"/>
                  </a:cubicBezTo>
                  <a:close/>
                  <a:moveTo>
                    <a:pt x="67" y="58"/>
                  </a:moveTo>
                  <a:cubicBezTo>
                    <a:pt x="66" y="59"/>
                    <a:pt x="66" y="59"/>
                    <a:pt x="65" y="59"/>
                  </a:cubicBezTo>
                  <a:cubicBezTo>
                    <a:pt x="65" y="57"/>
                    <a:pt x="65" y="55"/>
                    <a:pt x="65" y="53"/>
                  </a:cubicBezTo>
                  <a:cubicBezTo>
                    <a:pt x="65" y="53"/>
                    <a:pt x="65" y="53"/>
                    <a:pt x="65" y="53"/>
                  </a:cubicBezTo>
                  <a:cubicBezTo>
                    <a:pt x="66" y="54"/>
                    <a:pt x="66" y="56"/>
                    <a:pt x="67" y="58"/>
                  </a:cubicBezTo>
                  <a:cubicBezTo>
                    <a:pt x="67" y="58"/>
                    <a:pt x="67" y="58"/>
                    <a:pt x="67" y="58"/>
                  </a:cubicBezTo>
                  <a:close/>
                  <a:moveTo>
                    <a:pt x="69" y="48"/>
                  </a:moveTo>
                  <a:cubicBezTo>
                    <a:pt x="68" y="49"/>
                    <a:pt x="68" y="49"/>
                    <a:pt x="68" y="49"/>
                  </a:cubicBezTo>
                  <a:cubicBezTo>
                    <a:pt x="67" y="48"/>
                    <a:pt x="66" y="48"/>
                    <a:pt x="66" y="48"/>
                  </a:cubicBezTo>
                  <a:cubicBezTo>
                    <a:pt x="63" y="42"/>
                    <a:pt x="67" y="24"/>
                    <a:pt x="69" y="20"/>
                  </a:cubicBezTo>
                  <a:cubicBezTo>
                    <a:pt x="72" y="24"/>
                    <a:pt x="68" y="42"/>
                    <a:pt x="69" y="48"/>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62" name="Freeform 24"/>
            <p:cNvSpPr/>
            <p:nvPr/>
          </p:nvSpPr>
          <p:spPr bwMode="auto">
            <a:xfrm>
              <a:off x="5284125" y="2194243"/>
              <a:ext cx="125413" cy="107950"/>
            </a:xfrm>
            <a:custGeom>
              <a:avLst/>
              <a:gdLst>
                <a:gd name="T0" fmla="*/ 10 w 33"/>
                <a:gd name="T1" fmla="*/ 1 h 28"/>
                <a:gd name="T2" fmla="*/ 14 w 33"/>
                <a:gd name="T3" fmla="*/ 3 h 28"/>
                <a:gd name="T4" fmla="*/ 20 w 33"/>
                <a:gd name="T5" fmla="*/ 1 h 28"/>
                <a:gd name="T6" fmla="*/ 31 w 33"/>
                <a:gd name="T7" fmla="*/ 6 h 28"/>
                <a:gd name="T8" fmla="*/ 6 w 33"/>
                <a:gd name="T9" fmla="*/ 2 h 28"/>
                <a:gd name="T10" fmla="*/ 7 w 33"/>
                <a:gd name="T11" fmla="*/ 1 h 28"/>
                <a:gd name="T12" fmla="*/ 8 w 33"/>
                <a:gd name="T13" fmla="*/ 3 h 28"/>
                <a:gd name="T14" fmla="*/ 10 w 33"/>
                <a:gd name="T15" fmla="*/ 2 h 28"/>
                <a:gd name="T16" fmla="*/ 10 w 33"/>
                <a:gd name="T17" fmla="*/ 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8">
                  <a:moveTo>
                    <a:pt x="10" y="1"/>
                  </a:moveTo>
                  <a:cubicBezTo>
                    <a:pt x="12" y="1"/>
                    <a:pt x="13" y="2"/>
                    <a:pt x="14" y="3"/>
                  </a:cubicBezTo>
                  <a:cubicBezTo>
                    <a:pt x="16" y="3"/>
                    <a:pt x="18" y="1"/>
                    <a:pt x="20" y="1"/>
                  </a:cubicBezTo>
                  <a:cubicBezTo>
                    <a:pt x="23" y="0"/>
                    <a:pt x="29" y="5"/>
                    <a:pt x="31" y="6"/>
                  </a:cubicBezTo>
                  <a:cubicBezTo>
                    <a:pt x="33" y="28"/>
                    <a:pt x="0" y="17"/>
                    <a:pt x="6" y="2"/>
                  </a:cubicBezTo>
                  <a:cubicBezTo>
                    <a:pt x="6" y="2"/>
                    <a:pt x="6" y="2"/>
                    <a:pt x="7" y="1"/>
                  </a:cubicBezTo>
                  <a:cubicBezTo>
                    <a:pt x="7" y="2"/>
                    <a:pt x="7" y="2"/>
                    <a:pt x="8" y="3"/>
                  </a:cubicBezTo>
                  <a:cubicBezTo>
                    <a:pt x="8" y="3"/>
                    <a:pt x="9" y="2"/>
                    <a:pt x="10" y="2"/>
                  </a:cubicBezTo>
                  <a:cubicBezTo>
                    <a:pt x="10" y="2"/>
                    <a:pt x="10" y="2"/>
                    <a:pt x="10" y="1"/>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63" name="Freeform 25"/>
            <p:cNvSpPr>
              <a:spLocks noEditPoints="1"/>
            </p:cNvSpPr>
            <p:nvPr/>
          </p:nvSpPr>
          <p:spPr bwMode="auto">
            <a:xfrm>
              <a:off x="4752312" y="1895793"/>
              <a:ext cx="271463" cy="539750"/>
            </a:xfrm>
            <a:custGeom>
              <a:avLst/>
              <a:gdLst>
                <a:gd name="T0" fmla="*/ 54 w 72"/>
                <a:gd name="T1" fmla="*/ 41 h 141"/>
                <a:gd name="T2" fmla="*/ 49 w 72"/>
                <a:gd name="T3" fmla="*/ 43 h 141"/>
                <a:gd name="T4" fmla="*/ 48 w 72"/>
                <a:gd name="T5" fmla="*/ 6 h 141"/>
                <a:gd name="T6" fmla="*/ 43 w 72"/>
                <a:gd name="T7" fmla="*/ 35 h 141"/>
                <a:gd name="T8" fmla="*/ 30 w 72"/>
                <a:gd name="T9" fmla="*/ 48 h 141"/>
                <a:gd name="T10" fmla="*/ 26 w 72"/>
                <a:gd name="T11" fmla="*/ 39 h 141"/>
                <a:gd name="T12" fmla="*/ 18 w 72"/>
                <a:gd name="T13" fmla="*/ 30 h 141"/>
                <a:gd name="T14" fmla="*/ 20 w 72"/>
                <a:gd name="T15" fmla="*/ 49 h 141"/>
                <a:gd name="T16" fmla="*/ 0 w 72"/>
                <a:gd name="T17" fmla="*/ 55 h 141"/>
                <a:gd name="T18" fmla="*/ 27 w 72"/>
                <a:gd name="T19" fmla="*/ 73 h 141"/>
                <a:gd name="T20" fmla="*/ 33 w 72"/>
                <a:gd name="T21" fmla="*/ 71 h 141"/>
                <a:gd name="T22" fmla="*/ 18 w 72"/>
                <a:gd name="T23" fmla="*/ 81 h 141"/>
                <a:gd name="T24" fmla="*/ 23 w 72"/>
                <a:gd name="T25" fmla="*/ 99 h 141"/>
                <a:gd name="T26" fmla="*/ 26 w 72"/>
                <a:gd name="T27" fmla="*/ 93 h 141"/>
                <a:gd name="T28" fmla="*/ 32 w 72"/>
                <a:gd name="T29" fmla="*/ 100 h 141"/>
                <a:gd name="T30" fmla="*/ 12 w 72"/>
                <a:gd name="T31" fmla="*/ 104 h 141"/>
                <a:gd name="T32" fmla="*/ 31 w 72"/>
                <a:gd name="T33" fmla="*/ 105 h 141"/>
                <a:gd name="T34" fmla="*/ 31 w 72"/>
                <a:gd name="T35" fmla="*/ 113 h 141"/>
                <a:gd name="T36" fmla="*/ 13 w 72"/>
                <a:gd name="T37" fmla="*/ 116 h 141"/>
                <a:gd name="T38" fmla="*/ 31 w 72"/>
                <a:gd name="T39" fmla="*/ 117 h 141"/>
                <a:gd name="T40" fmla="*/ 30 w 72"/>
                <a:gd name="T41" fmla="*/ 124 h 141"/>
                <a:gd name="T42" fmla="*/ 31 w 72"/>
                <a:gd name="T43" fmla="*/ 129 h 141"/>
                <a:gd name="T44" fmla="*/ 4 w 72"/>
                <a:gd name="T45" fmla="*/ 132 h 141"/>
                <a:gd name="T46" fmla="*/ 34 w 72"/>
                <a:gd name="T47" fmla="*/ 136 h 141"/>
                <a:gd name="T48" fmla="*/ 63 w 72"/>
                <a:gd name="T49" fmla="*/ 140 h 141"/>
                <a:gd name="T50" fmla="*/ 64 w 72"/>
                <a:gd name="T51" fmla="*/ 135 h 141"/>
                <a:gd name="T52" fmla="*/ 37 w 72"/>
                <a:gd name="T53" fmla="*/ 129 h 141"/>
                <a:gd name="T54" fmla="*/ 38 w 72"/>
                <a:gd name="T55" fmla="*/ 116 h 141"/>
                <a:gd name="T56" fmla="*/ 51 w 72"/>
                <a:gd name="T57" fmla="*/ 113 h 141"/>
                <a:gd name="T58" fmla="*/ 37 w 72"/>
                <a:gd name="T59" fmla="*/ 105 h 141"/>
                <a:gd name="T60" fmla="*/ 52 w 72"/>
                <a:gd name="T61" fmla="*/ 101 h 141"/>
                <a:gd name="T62" fmla="*/ 37 w 72"/>
                <a:gd name="T63" fmla="*/ 100 h 141"/>
                <a:gd name="T64" fmla="*/ 51 w 72"/>
                <a:gd name="T65" fmla="*/ 93 h 141"/>
                <a:gd name="T66" fmla="*/ 58 w 72"/>
                <a:gd name="T67" fmla="*/ 89 h 141"/>
                <a:gd name="T68" fmla="*/ 39 w 72"/>
                <a:gd name="T69" fmla="*/ 77 h 141"/>
                <a:gd name="T70" fmla="*/ 39 w 72"/>
                <a:gd name="T71" fmla="*/ 70 h 141"/>
                <a:gd name="T72" fmla="*/ 49 w 72"/>
                <a:gd name="T73" fmla="*/ 65 h 141"/>
                <a:gd name="T74" fmla="*/ 44 w 72"/>
                <a:gd name="T75" fmla="*/ 59 h 141"/>
                <a:gd name="T76" fmla="*/ 50 w 72"/>
                <a:gd name="T77" fmla="*/ 50 h 141"/>
                <a:gd name="T78" fmla="*/ 71 w 72"/>
                <a:gd name="T79" fmla="*/ 42 h 141"/>
                <a:gd name="T80" fmla="*/ 24 w 72"/>
                <a:gd name="T81" fmla="*/ 91 h 141"/>
                <a:gd name="T82" fmla="*/ 32 w 72"/>
                <a:gd name="T83" fmla="*/ 82 h 141"/>
                <a:gd name="T84" fmla="*/ 33 w 72"/>
                <a:gd name="T85" fmla="*/ 90 h 141"/>
                <a:gd name="T86" fmla="*/ 39 w 72"/>
                <a:gd name="T87" fmla="*/ 81 h 141"/>
                <a:gd name="T88" fmla="*/ 49 w 72"/>
                <a:gd name="T89" fmla="*/ 80 h 141"/>
                <a:gd name="T90" fmla="*/ 38 w 72"/>
                <a:gd name="T91" fmla="*/ 89 h 141"/>
                <a:gd name="T92" fmla="*/ 30 w 72"/>
                <a:gd name="T93" fmla="*/ 61 h 141"/>
                <a:gd name="T94" fmla="*/ 37 w 72"/>
                <a:gd name="T95" fmla="*/ 53 h 141"/>
                <a:gd name="T96" fmla="*/ 30 w 72"/>
                <a:gd name="T97" fmla="*/ 6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 h="141">
                  <a:moveTo>
                    <a:pt x="71" y="42"/>
                  </a:moveTo>
                  <a:cubicBezTo>
                    <a:pt x="69" y="39"/>
                    <a:pt x="58" y="40"/>
                    <a:pt x="54" y="41"/>
                  </a:cubicBezTo>
                  <a:cubicBezTo>
                    <a:pt x="54" y="42"/>
                    <a:pt x="53" y="43"/>
                    <a:pt x="52" y="44"/>
                  </a:cubicBezTo>
                  <a:cubicBezTo>
                    <a:pt x="51" y="43"/>
                    <a:pt x="50" y="43"/>
                    <a:pt x="49" y="43"/>
                  </a:cubicBezTo>
                  <a:cubicBezTo>
                    <a:pt x="47" y="32"/>
                    <a:pt x="61" y="2"/>
                    <a:pt x="47" y="0"/>
                  </a:cubicBezTo>
                  <a:cubicBezTo>
                    <a:pt x="47" y="2"/>
                    <a:pt x="48" y="4"/>
                    <a:pt x="48" y="6"/>
                  </a:cubicBezTo>
                  <a:cubicBezTo>
                    <a:pt x="47" y="13"/>
                    <a:pt x="45" y="22"/>
                    <a:pt x="44" y="28"/>
                  </a:cubicBezTo>
                  <a:cubicBezTo>
                    <a:pt x="43" y="31"/>
                    <a:pt x="43" y="33"/>
                    <a:pt x="43" y="35"/>
                  </a:cubicBezTo>
                  <a:cubicBezTo>
                    <a:pt x="42" y="38"/>
                    <a:pt x="41" y="42"/>
                    <a:pt x="41" y="45"/>
                  </a:cubicBezTo>
                  <a:cubicBezTo>
                    <a:pt x="39" y="46"/>
                    <a:pt x="33" y="49"/>
                    <a:pt x="30" y="48"/>
                  </a:cubicBezTo>
                  <a:cubicBezTo>
                    <a:pt x="29" y="47"/>
                    <a:pt x="29" y="47"/>
                    <a:pt x="27" y="46"/>
                  </a:cubicBezTo>
                  <a:cubicBezTo>
                    <a:pt x="25" y="44"/>
                    <a:pt x="27" y="42"/>
                    <a:pt x="26" y="39"/>
                  </a:cubicBezTo>
                  <a:cubicBezTo>
                    <a:pt x="25" y="35"/>
                    <a:pt x="22" y="33"/>
                    <a:pt x="19" y="30"/>
                  </a:cubicBezTo>
                  <a:cubicBezTo>
                    <a:pt x="19" y="30"/>
                    <a:pt x="18" y="30"/>
                    <a:pt x="18" y="30"/>
                  </a:cubicBezTo>
                  <a:cubicBezTo>
                    <a:pt x="18" y="30"/>
                    <a:pt x="17" y="31"/>
                    <a:pt x="17" y="31"/>
                  </a:cubicBezTo>
                  <a:cubicBezTo>
                    <a:pt x="18" y="34"/>
                    <a:pt x="21" y="48"/>
                    <a:pt x="20" y="49"/>
                  </a:cubicBezTo>
                  <a:cubicBezTo>
                    <a:pt x="19" y="50"/>
                    <a:pt x="2" y="54"/>
                    <a:pt x="0" y="54"/>
                  </a:cubicBezTo>
                  <a:cubicBezTo>
                    <a:pt x="0" y="55"/>
                    <a:pt x="0" y="55"/>
                    <a:pt x="0" y="55"/>
                  </a:cubicBezTo>
                  <a:cubicBezTo>
                    <a:pt x="7" y="59"/>
                    <a:pt x="13" y="58"/>
                    <a:pt x="21" y="59"/>
                  </a:cubicBezTo>
                  <a:cubicBezTo>
                    <a:pt x="23" y="66"/>
                    <a:pt x="23" y="70"/>
                    <a:pt x="27" y="73"/>
                  </a:cubicBezTo>
                  <a:cubicBezTo>
                    <a:pt x="30" y="73"/>
                    <a:pt x="31" y="72"/>
                    <a:pt x="32" y="71"/>
                  </a:cubicBezTo>
                  <a:cubicBezTo>
                    <a:pt x="33" y="71"/>
                    <a:pt x="33" y="71"/>
                    <a:pt x="33" y="71"/>
                  </a:cubicBezTo>
                  <a:cubicBezTo>
                    <a:pt x="34" y="79"/>
                    <a:pt x="33" y="77"/>
                    <a:pt x="27" y="78"/>
                  </a:cubicBezTo>
                  <a:cubicBezTo>
                    <a:pt x="25" y="79"/>
                    <a:pt x="20" y="81"/>
                    <a:pt x="18" y="81"/>
                  </a:cubicBezTo>
                  <a:cubicBezTo>
                    <a:pt x="15" y="80"/>
                    <a:pt x="10" y="78"/>
                    <a:pt x="6" y="78"/>
                  </a:cubicBezTo>
                  <a:cubicBezTo>
                    <a:pt x="5" y="81"/>
                    <a:pt x="18" y="99"/>
                    <a:pt x="23" y="99"/>
                  </a:cubicBezTo>
                  <a:cubicBezTo>
                    <a:pt x="25" y="98"/>
                    <a:pt x="26" y="97"/>
                    <a:pt x="27" y="96"/>
                  </a:cubicBezTo>
                  <a:cubicBezTo>
                    <a:pt x="27" y="95"/>
                    <a:pt x="27" y="95"/>
                    <a:pt x="26" y="93"/>
                  </a:cubicBezTo>
                  <a:cubicBezTo>
                    <a:pt x="28" y="93"/>
                    <a:pt x="30" y="93"/>
                    <a:pt x="32" y="93"/>
                  </a:cubicBezTo>
                  <a:cubicBezTo>
                    <a:pt x="33" y="95"/>
                    <a:pt x="32" y="98"/>
                    <a:pt x="32" y="100"/>
                  </a:cubicBezTo>
                  <a:cubicBezTo>
                    <a:pt x="29" y="101"/>
                    <a:pt x="16" y="103"/>
                    <a:pt x="12" y="103"/>
                  </a:cubicBezTo>
                  <a:cubicBezTo>
                    <a:pt x="12" y="104"/>
                    <a:pt x="12" y="104"/>
                    <a:pt x="12" y="104"/>
                  </a:cubicBezTo>
                  <a:cubicBezTo>
                    <a:pt x="13" y="105"/>
                    <a:pt x="14" y="107"/>
                    <a:pt x="15" y="108"/>
                  </a:cubicBezTo>
                  <a:cubicBezTo>
                    <a:pt x="18" y="109"/>
                    <a:pt x="27" y="105"/>
                    <a:pt x="31" y="105"/>
                  </a:cubicBezTo>
                  <a:cubicBezTo>
                    <a:pt x="32" y="105"/>
                    <a:pt x="32" y="105"/>
                    <a:pt x="32" y="106"/>
                  </a:cubicBezTo>
                  <a:cubicBezTo>
                    <a:pt x="33" y="108"/>
                    <a:pt x="32" y="111"/>
                    <a:pt x="31" y="113"/>
                  </a:cubicBezTo>
                  <a:cubicBezTo>
                    <a:pt x="26" y="114"/>
                    <a:pt x="20" y="115"/>
                    <a:pt x="14" y="114"/>
                  </a:cubicBezTo>
                  <a:cubicBezTo>
                    <a:pt x="13" y="115"/>
                    <a:pt x="13" y="115"/>
                    <a:pt x="13" y="116"/>
                  </a:cubicBezTo>
                  <a:cubicBezTo>
                    <a:pt x="14" y="117"/>
                    <a:pt x="14" y="118"/>
                    <a:pt x="16" y="119"/>
                  </a:cubicBezTo>
                  <a:cubicBezTo>
                    <a:pt x="20" y="120"/>
                    <a:pt x="27" y="118"/>
                    <a:pt x="31" y="117"/>
                  </a:cubicBezTo>
                  <a:cubicBezTo>
                    <a:pt x="31" y="119"/>
                    <a:pt x="31" y="122"/>
                    <a:pt x="31" y="124"/>
                  </a:cubicBezTo>
                  <a:cubicBezTo>
                    <a:pt x="30" y="125"/>
                    <a:pt x="30" y="124"/>
                    <a:pt x="30" y="124"/>
                  </a:cubicBezTo>
                  <a:cubicBezTo>
                    <a:pt x="29" y="124"/>
                    <a:pt x="29" y="124"/>
                    <a:pt x="29" y="124"/>
                  </a:cubicBezTo>
                  <a:cubicBezTo>
                    <a:pt x="30" y="126"/>
                    <a:pt x="30" y="127"/>
                    <a:pt x="31" y="129"/>
                  </a:cubicBezTo>
                  <a:cubicBezTo>
                    <a:pt x="23" y="131"/>
                    <a:pt x="11" y="130"/>
                    <a:pt x="4" y="130"/>
                  </a:cubicBezTo>
                  <a:cubicBezTo>
                    <a:pt x="4" y="130"/>
                    <a:pt x="4" y="131"/>
                    <a:pt x="4" y="132"/>
                  </a:cubicBezTo>
                  <a:cubicBezTo>
                    <a:pt x="9" y="138"/>
                    <a:pt x="17" y="135"/>
                    <a:pt x="28" y="135"/>
                  </a:cubicBezTo>
                  <a:cubicBezTo>
                    <a:pt x="30" y="135"/>
                    <a:pt x="33" y="137"/>
                    <a:pt x="34" y="136"/>
                  </a:cubicBezTo>
                  <a:cubicBezTo>
                    <a:pt x="37" y="136"/>
                    <a:pt x="42" y="134"/>
                    <a:pt x="46" y="136"/>
                  </a:cubicBezTo>
                  <a:cubicBezTo>
                    <a:pt x="51" y="137"/>
                    <a:pt x="58" y="141"/>
                    <a:pt x="63" y="140"/>
                  </a:cubicBezTo>
                  <a:cubicBezTo>
                    <a:pt x="64" y="139"/>
                    <a:pt x="64" y="139"/>
                    <a:pt x="64" y="138"/>
                  </a:cubicBezTo>
                  <a:cubicBezTo>
                    <a:pt x="64" y="137"/>
                    <a:pt x="64" y="136"/>
                    <a:pt x="64" y="135"/>
                  </a:cubicBezTo>
                  <a:cubicBezTo>
                    <a:pt x="60" y="132"/>
                    <a:pt x="55" y="130"/>
                    <a:pt x="51" y="129"/>
                  </a:cubicBezTo>
                  <a:cubicBezTo>
                    <a:pt x="46" y="128"/>
                    <a:pt x="41" y="130"/>
                    <a:pt x="37" y="129"/>
                  </a:cubicBezTo>
                  <a:cubicBezTo>
                    <a:pt x="35" y="127"/>
                    <a:pt x="37" y="120"/>
                    <a:pt x="37" y="117"/>
                  </a:cubicBezTo>
                  <a:cubicBezTo>
                    <a:pt x="38" y="116"/>
                    <a:pt x="38" y="116"/>
                    <a:pt x="38" y="116"/>
                  </a:cubicBezTo>
                  <a:cubicBezTo>
                    <a:pt x="43" y="114"/>
                    <a:pt x="48" y="118"/>
                    <a:pt x="52" y="116"/>
                  </a:cubicBezTo>
                  <a:cubicBezTo>
                    <a:pt x="52" y="115"/>
                    <a:pt x="52" y="114"/>
                    <a:pt x="51" y="113"/>
                  </a:cubicBezTo>
                  <a:cubicBezTo>
                    <a:pt x="47" y="111"/>
                    <a:pt x="43" y="112"/>
                    <a:pt x="38" y="112"/>
                  </a:cubicBezTo>
                  <a:cubicBezTo>
                    <a:pt x="37" y="110"/>
                    <a:pt x="37" y="107"/>
                    <a:pt x="37" y="105"/>
                  </a:cubicBezTo>
                  <a:cubicBezTo>
                    <a:pt x="42" y="105"/>
                    <a:pt x="48" y="106"/>
                    <a:pt x="52" y="104"/>
                  </a:cubicBezTo>
                  <a:cubicBezTo>
                    <a:pt x="52" y="103"/>
                    <a:pt x="52" y="102"/>
                    <a:pt x="52" y="101"/>
                  </a:cubicBezTo>
                  <a:cubicBezTo>
                    <a:pt x="52" y="101"/>
                    <a:pt x="52" y="100"/>
                    <a:pt x="52" y="100"/>
                  </a:cubicBezTo>
                  <a:cubicBezTo>
                    <a:pt x="48" y="99"/>
                    <a:pt x="42" y="100"/>
                    <a:pt x="37" y="100"/>
                  </a:cubicBezTo>
                  <a:cubicBezTo>
                    <a:pt x="37" y="98"/>
                    <a:pt x="38" y="96"/>
                    <a:pt x="38" y="94"/>
                  </a:cubicBezTo>
                  <a:cubicBezTo>
                    <a:pt x="41" y="93"/>
                    <a:pt x="47" y="95"/>
                    <a:pt x="51" y="93"/>
                  </a:cubicBezTo>
                  <a:cubicBezTo>
                    <a:pt x="51" y="93"/>
                    <a:pt x="52" y="92"/>
                    <a:pt x="52" y="91"/>
                  </a:cubicBezTo>
                  <a:cubicBezTo>
                    <a:pt x="54" y="90"/>
                    <a:pt x="56" y="90"/>
                    <a:pt x="58" y="89"/>
                  </a:cubicBezTo>
                  <a:cubicBezTo>
                    <a:pt x="60" y="87"/>
                    <a:pt x="63" y="85"/>
                    <a:pt x="65" y="82"/>
                  </a:cubicBezTo>
                  <a:cubicBezTo>
                    <a:pt x="65" y="70"/>
                    <a:pt x="48" y="76"/>
                    <a:pt x="39" y="77"/>
                  </a:cubicBezTo>
                  <a:cubicBezTo>
                    <a:pt x="38" y="77"/>
                    <a:pt x="38" y="77"/>
                    <a:pt x="38" y="77"/>
                  </a:cubicBezTo>
                  <a:cubicBezTo>
                    <a:pt x="38" y="75"/>
                    <a:pt x="38" y="72"/>
                    <a:pt x="39" y="70"/>
                  </a:cubicBezTo>
                  <a:cubicBezTo>
                    <a:pt x="40" y="68"/>
                    <a:pt x="44" y="68"/>
                    <a:pt x="46" y="68"/>
                  </a:cubicBezTo>
                  <a:cubicBezTo>
                    <a:pt x="47" y="67"/>
                    <a:pt x="48" y="66"/>
                    <a:pt x="49" y="65"/>
                  </a:cubicBezTo>
                  <a:cubicBezTo>
                    <a:pt x="49" y="63"/>
                    <a:pt x="48" y="62"/>
                    <a:pt x="48" y="60"/>
                  </a:cubicBezTo>
                  <a:cubicBezTo>
                    <a:pt x="47" y="60"/>
                    <a:pt x="46" y="59"/>
                    <a:pt x="44" y="59"/>
                  </a:cubicBezTo>
                  <a:cubicBezTo>
                    <a:pt x="44" y="56"/>
                    <a:pt x="46" y="54"/>
                    <a:pt x="48" y="52"/>
                  </a:cubicBezTo>
                  <a:cubicBezTo>
                    <a:pt x="49" y="51"/>
                    <a:pt x="49" y="51"/>
                    <a:pt x="50" y="50"/>
                  </a:cubicBezTo>
                  <a:cubicBezTo>
                    <a:pt x="54" y="47"/>
                    <a:pt x="62" y="48"/>
                    <a:pt x="67" y="49"/>
                  </a:cubicBezTo>
                  <a:cubicBezTo>
                    <a:pt x="69" y="49"/>
                    <a:pt x="72" y="45"/>
                    <a:pt x="71" y="42"/>
                  </a:cubicBezTo>
                  <a:close/>
                  <a:moveTo>
                    <a:pt x="33" y="90"/>
                  </a:moveTo>
                  <a:cubicBezTo>
                    <a:pt x="30" y="90"/>
                    <a:pt x="27" y="90"/>
                    <a:pt x="24" y="91"/>
                  </a:cubicBezTo>
                  <a:cubicBezTo>
                    <a:pt x="23" y="89"/>
                    <a:pt x="22" y="88"/>
                    <a:pt x="22" y="85"/>
                  </a:cubicBezTo>
                  <a:cubicBezTo>
                    <a:pt x="25" y="84"/>
                    <a:pt x="29" y="82"/>
                    <a:pt x="32" y="82"/>
                  </a:cubicBezTo>
                  <a:cubicBezTo>
                    <a:pt x="32" y="82"/>
                    <a:pt x="33" y="82"/>
                    <a:pt x="33" y="82"/>
                  </a:cubicBezTo>
                  <a:cubicBezTo>
                    <a:pt x="34" y="85"/>
                    <a:pt x="33" y="87"/>
                    <a:pt x="33" y="90"/>
                  </a:cubicBezTo>
                  <a:close/>
                  <a:moveTo>
                    <a:pt x="38" y="81"/>
                  </a:moveTo>
                  <a:cubicBezTo>
                    <a:pt x="38" y="81"/>
                    <a:pt x="39" y="81"/>
                    <a:pt x="39" y="81"/>
                  </a:cubicBezTo>
                  <a:cubicBezTo>
                    <a:pt x="41" y="80"/>
                    <a:pt x="42" y="80"/>
                    <a:pt x="44" y="80"/>
                  </a:cubicBezTo>
                  <a:cubicBezTo>
                    <a:pt x="46" y="80"/>
                    <a:pt x="48" y="80"/>
                    <a:pt x="49" y="80"/>
                  </a:cubicBezTo>
                  <a:cubicBezTo>
                    <a:pt x="49" y="80"/>
                    <a:pt x="49" y="80"/>
                    <a:pt x="50" y="80"/>
                  </a:cubicBezTo>
                  <a:cubicBezTo>
                    <a:pt x="47" y="83"/>
                    <a:pt x="43" y="89"/>
                    <a:pt x="38" y="89"/>
                  </a:cubicBezTo>
                  <a:cubicBezTo>
                    <a:pt x="38" y="86"/>
                    <a:pt x="38" y="84"/>
                    <a:pt x="38" y="81"/>
                  </a:cubicBezTo>
                  <a:close/>
                  <a:moveTo>
                    <a:pt x="30" y="61"/>
                  </a:moveTo>
                  <a:cubicBezTo>
                    <a:pt x="29" y="60"/>
                    <a:pt x="30" y="58"/>
                    <a:pt x="30" y="56"/>
                  </a:cubicBezTo>
                  <a:cubicBezTo>
                    <a:pt x="32" y="55"/>
                    <a:pt x="35" y="54"/>
                    <a:pt x="37" y="53"/>
                  </a:cubicBezTo>
                  <a:cubicBezTo>
                    <a:pt x="38" y="53"/>
                    <a:pt x="38" y="53"/>
                    <a:pt x="38" y="53"/>
                  </a:cubicBezTo>
                  <a:cubicBezTo>
                    <a:pt x="38" y="56"/>
                    <a:pt x="34" y="62"/>
                    <a:pt x="30" y="61"/>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64" name="Freeform 26"/>
            <p:cNvSpPr>
              <a:spLocks noEditPoints="1"/>
            </p:cNvSpPr>
            <p:nvPr/>
          </p:nvSpPr>
          <p:spPr bwMode="auto">
            <a:xfrm>
              <a:off x="2885412" y="1922781"/>
              <a:ext cx="455613" cy="558800"/>
            </a:xfrm>
            <a:custGeom>
              <a:avLst/>
              <a:gdLst>
                <a:gd name="T0" fmla="*/ 108 w 121"/>
                <a:gd name="T1" fmla="*/ 71 h 146"/>
                <a:gd name="T2" fmla="*/ 89 w 121"/>
                <a:gd name="T3" fmla="*/ 40 h 146"/>
                <a:gd name="T4" fmla="*/ 81 w 121"/>
                <a:gd name="T5" fmla="*/ 59 h 146"/>
                <a:gd name="T6" fmla="*/ 69 w 121"/>
                <a:gd name="T7" fmla="*/ 78 h 146"/>
                <a:gd name="T8" fmla="*/ 65 w 121"/>
                <a:gd name="T9" fmla="*/ 112 h 146"/>
                <a:gd name="T10" fmla="*/ 60 w 121"/>
                <a:gd name="T11" fmla="*/ 109 h 146"/>
                <a:gd name="T12" fmla="*/ 42 w 121"/>
                <a:gd name="T13" fmla="*/ 120 h 146"/>
                <a:gd name="T14" fmla="*/ 60 w 121"/>
                <a:gd name="T15" fmla="*/ 107 h 146"/>
                <a:gd name="T16" fmla="*/ 60 w 121"/>
                <a:gd name="T17" fmla="*/ 92 h 146"/>
                <a:gd name="T18" fmla="*/ 43 w 121"/>
                <a:gd name="T19" fmla="*/ 90 h 146"/>
                <a:gd name="T20" fmla="*/ 58 w 121"/>
                <a:gd name="T21" fmla="*/ 75 h 146"/>
                <a:gd name="T22" fmla="*/ 74 w 121"/>
                <a:gd name="T23" fmla="*/ 64 h 146"/>
                <a:gd name="T24" fmla="*/ 53 w 121"/>
                <a:gd name="T25" fmla="*/ 59 h 146"/>
                <a:gd name="T26" fmla="*/ 62 w 121"/>
                <a:gd name="T27" fmla="*/ 42 h 146"/>
                <a:gd name="T28" fmla="*/ 75 w 121"/>
                <a:gd name="T29" fmla="*/ 30 h 146"/>
                <a:gd name="T30" fmla="*/ 61 w 121"/>
                <a:gd name="T31" fmla="*/ 0 h 146"/>
                <a:gd name="T32" fmla="*/ 49 w 121"/>
                <a:gd name="T33" fmla="*/ 30 h 146"/>
                <a:gd name="T34" fmla="*/ 42 w 121"/>
                <a:gd name="T35" fmla="*/ 32 h 146"/>
                <a:gd name="T36" fmla="*/ 21 w 121"/>
                <a:gd name="T37" fmla="*/ 23 h 146"/>
                <a:gd name="T38" fmla="*/ 0 w 121"/>
                <a:gd name="T39" fmla="*/ 48 h 146"/>
                <a:gd name="T40" fmla="*/ 35 w 121"/>
                <a:gd name="T41" fmla="*/ 64 h 146"/>
                <a:gd name="T42" fmla="*/ 28 w 121"/>
                <a:gd name="T43" fmla="*/ 96 h 146"/>
                <a:gd name="T44" fmla="*/ 38 w 121"/>
                <a:gd name="T45" fmla="*/ 85 h 146"/>
                <a:gd name="T46" fmla="*/ 7 w 121"/>
                <a:gd name="T47" fmla="*/ 104 h 146"/>
                <a:gd name="T48" fmla="*/ 38 w 121"/>
                <a:gd name="T49" fmla="*/ 99 h 146"/>
                <a:gd name="T50" fmla="*/ 8 w 121"/>
                <a:gd name="T51" fmla="*/ 116 h 146"/>
                <a:gd name="T52" fmla="*/ 37 w 121"/>
                <a:gd name="T53" fmla="*/ 113 h 146"/>
                <a:gd name="T54" fmla="*/ 31 w 121"/>
                <a:gd name="T55" fmla="*/ 119 h 146"/>
                <a:gd name="T56" fmla="*/ 9 w 121"/>
                <a:gd name="T57" fmla="*/ 132 h 146"/>
                <a:gd name="T58" fmla="*/ 39 w 121"/>
                <a:gd name="T59" fmla="*/ 132 h 146"/>
                <a:gd name="T60" fmla="*/ 61 w 121"/>
                <a:gd name="T61" fmla="*/ 116 h 146"/>
                <a:gd name="T62" fmla="*/ 61 w 121"/>
                <a:gd name="T63" fmla="*/ 139 h 146"/>
                <a:gd name="T64" fmla="*/ 69 w 121"/>
                <a:gd name="T65" fmla="*/ 130 h 146"/>
                <a:gd name="T66" fmla="*/ 103 w 121"/>
                <a:gd name="T67" fmla="*/ 124 h 146"/>
                <a:gd name="T68" fmla="*/ 113 w 121"/>
                <a:gd name="T69" fmla="*/ 96 h 146"/>
                <a:gd name="T70" fmla="*/ 59 w 121"/>
                <a:gd name="T71" fmla="*/ 65 h 146"/>
                <a:gd name="T72" fmla="*/ 59 w 121"/>
                <a:gd name="T73" fmla="*/ 65 h 146"/>
                <a:gd name="T74" fmla="*/ 27 w 121"/>
                <a:gd name="T75" fmla="*/ 75 h 146"/>
                <a:gd name="T76" fmla="*/ 38 w 121"/>
                <a:gd name="T77" fmla="*/ 78 h 146"/>
                <a:gd name="T78" fmla="*/ 47 w 121"/>
                <a:gd name="T79" fmla="*/ 45 h 146"/>
                <a:gd name="T80" fmla="*/ 39 w 121"/>
                <a:gd name="T81" fmla="*/ 55 h 146"/>
                <a:gd name="T82" fmla="*/ 86 w 121"/>
                <a:gd name="T83" fmla="*/ 129 h 146"/>
                <a:gd name="T84" fmla="*/ 74 w 121"/>
                <a:gd name="T85" fmla="*/ 124 h 146"/>
                <a:gd name="T86" fmla="*/ 72 w 121"/>
                <a:gd name="T87" fmla="*/ 120 h 146"/>
                <a:gd name="T88" fmla="*/ 102 w 121"/>
                <a:gd name="T89" fmla="*/ 77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1" h="146">
                  <a:moveTo>
                    <a:pt x="116" y="76"/>
                  </a:moveTo>
                  <a:cubicBezTo>
                    <a:pt x="115" y="74"/>
                    <a:pt x="114" y="74"/>
                    <a:pt x="112" y="74"/>
                  </a:cubicBezTo>
                  <a:cubicBezTo>
                    <a:pt x="111" y="73"/>
                    <a:pt x="110" y="72"/>
                    <a:pt x="108" y="71"/>
                  </a:cubicBezTo>
                  <a:cubicBezTo>
                    <a:pt x="104" y="69"/>
                    <a:pt x="89" y="73"/>
                    <a:pt x="85" y="74"/>
                  </a:cubicBezTo>
                  <a:cubicBezTo>
                    <a:pt x="85" y="74"/>
                    <a:pt x="84" y="73"/>
                    <a:pt x="84" y="73"/>
                  </a:cubicBezTo>
                  <a:cubicBezTo>
                    <a:pt x="86" y="63"/>
                    <a:pt x="92" y="50"/>
                    <a:pt x="89" y="40"/>
                  </a:cubicBezTo>
                  <a:cubicBezTo>
                    <a:pt x="88" y="40"/>
                    <a:pt x="88" y="41"/>
                    <a:pt x="87" y="41"/>
                  </a:cubicBezTo>
                  <a:cubicBezTo>
                    <a:pt x="86" y="44"/>
                    <a:pt x="86" y="47"/>
                    <a:pt x="85" y="51"/>
                  </a:cubicBezTo>
                  <a:cubicBezTo>
                    <a:pt x="84" y="54"/>
                    <a:pt x="82" y="56"/>
                    <a:pt x="81" y="59"/>
                  </a:cubicBezTo>
                  <a:cubicBezTo>
                    <a:pt x="81" y="61"/>
                    <a:pt x="81" y="62"/>
                    <a:pt x="81" y="64"/>
                  </a:cubicBezTo>
                  <a:cubicBezTo>
                    <a:pt x="80" y="67"/>
                    <a:pt x="79" y="71"/>
                    <a:pt x="78" y="74"/>
                  </a:cubicBezTo>
                  <a:cubicBezTo>
                    <a:pt x="76" y="76"/>
                    <a:pt x="71" y="76"/>
                    <a:pt x="69" y="78"/>
                  </a:cubicBezTo>
                  <a:cubicBezTo>
                    <a:pt x="70" y="80"/>
                    <a:pt x="73" y="82"/>
                    <a:pt x="75" y="82"/>
                  </a:cubicBezTo>
                  <a:cubicBezTo>
                    <a:pt x="77" y="86"/>
                    <a:pt x="69" y="110"/>
                    <a:pt x="67" y="113"/>
                  </a:cubicBezTo>
                  <a:cubicBezTo>
                    <a:pt x="66" y="113"/>
                    <a:pt x="66" y="113"/>
                    <a:pt x="65" y="112"/>
                  </a:cubicBezTo>
                  <a:cubicBezTo>
                    <a:pt x="65" y="112"/>
                    <a:pt x="65" y="112"/>
                    <a:pt x="65" y="111"/>
                  </a:cubicBezTo>
                  <a:cubicBezTo>
                    <a:pt x="65" y="111"/>
                    <a:pt x="66" y="111"/>
                    <a:pt x="66" y="111"/>
                  </a:cubicBezTo>
                  <a:cubicBezTo>
                    <a:pt x="65" y="110"/>
                    <a:pt x="62" y="110"/>
                    <a:pt x="60" y="109"/>
                  </a:cubicBezTo>
                  <a:cubicBezTo>
                    <a:pt x="60" y="109"/>
                    <a:pt x="60" y="109"/>
                    <a:pt x="59" y="109"/>
                  </a:cubicBezTo>
                  <a:cubicBezTo>
                    <a:pt x="59" y="110"/>
                    <a:pt x="60" y="111"/>
                    <a:pt x="60" y="112"/>
                  </a:cubicBezTo>
                  <a:cubicBezTo>
                    <a:pt x="59" y="113"/>
                    <a:pt x="43" y="120"/>
                    <a:pt x="42" y="120"/>
                  </a:cubicBezTo>
                  <a:cubicBezTo>
                    <a:pt x="42" y="118"/>
                    <a:pt x="44" y="111"/>
                    <a:pt x="44" y="110"/>
                  </a:cubicBezTo>
                  <a:cubicBezTo>
                    <a:pt x="44" y="110"/>
                    <a:pt x="44" y="110"/>
                    <a:pt x="45" y="110"/>
                  </a:cubicBezTo>
                  <a:cubicBezTo>
                    <a:pt x="45" y="110"/>
                    <a:pt x="58" y="107"/>
                    <a:pt x="60" y="107"/>
                  </a:cubicBezTo>
                  <a:cubicBezTo>
                    <a:pt x="61" y="107"/>
                    <a:pt x="61" y="106"/>
                    <a:pt x="62" y="105"/>
                  </a:cubicBezTo>
                  <a:cubicBezTo>
                    <a:pt x="62" y="97"/>
                    <a:pt x="47" y="104"/>
                    <a:pt x="43" y="105"/>
                  </a:cubicBezTo>
                  <a:cubicBezTo>
                    <a:pt x="43" y="96"/>
                    <a:pt x="55" y="97"/>
                    <a:pt x="60" y="92"/>
                  </a:cubicBezTo>
                  <a:cubicBezTo>
                    <a:pt x="59" y="91"/>
                    <a:pt x="59" y="91"/>
                    <a:pt x="59" y="90"/>
                  </a:cubicBezTo>
                  <a:cubicBezTo>
                    <a:pt x="54" y="87"/>
                    <a:pt x="50" y="89"/>
                    <a:pt x="45" y="90"/>
                  </a:cubicBezTo>
                  <a:cubicBezTo>
                    <a:pt x="44" y="90"/>
                    <a:pt x="44" y="90"/>
                    <a:pt x="43" y="90"/>
                  </a:cubicBezTo>
                  <a:cubicBezTo>
                    <a:pt x="44" y="88"/>
                    <a:pt x="44" y="85"/>
                    <a:pt x="45" y="82"/>
                  </a:cubicBezTo>
                  <a:cubicBezTo>
                    <a:pt x="49" y="80"/>
                    <a:pt x="60" y="83"/>
                    <a:pt x="62" y="77"/>
                  </a:cubicBezTo>
                  <a:cubicBezTo>
                    <a:pt x="60" y="76"/>
                    <a:pt x="60" y="75"/>
                    <a:pt x="58" y="75"/>
                  </a:cubicBezTo>
                  <a:cubicBezTo>
                    <a:pt x="58" y="75"/>
                    <a:pt x="58" y="74"/>
                    <a:pt x="58" y="74"/>
                  </a:cubicBezTo>
                  <a:cubicBezTo>
                    <a:pt x="61" y="72"/>
                    <a:pt x="63" y="70"/>
                    <a:pt x="66" y="68"/>
                  </a:cubicBezTo>
                  <a:cubicBezTo>
                    <a:pt x="70" y="66"/>
                    <a:pt x="72" y="68"/>
                    <a:pt x="74" y="64"/>
                  </a:cubicBezTo>
                  <a:cubicBezTo>
                    <a:pt x="74" y="63"/>
                    <a:pt x="74" y="62"/>
                    <a:pt x="74" y="61"/>
                  </a:cubicBezTo>
                  <a:cubicBezTo>
                    <a:pt x="67" y="51"/>
                    <a:pt x="63" y="62"/>
                    <a:pt x="54" y="59"/>
                  </a:cubicBezTo>
                  <a:cubicBezTo>
                    <a:pt x="54" y="59"/>
                    <a:pt x="54" y="59"/>
                    <a:pt x="53" y="59"/>
                  </a:cubicBezTo>
                  <a:cubicBezTo>
                    <a:pt x="54" y="58"/>
                    <a:pt x="54" y="57"/>
                    <a:pt x="54" y="57"/>
                  </a:cubicBezTo>
                  <a:cubicBezTo>
                    <a:pt x="56" y="52"/>
                    <a:pt x="52" y="52"/>
                    <a:pt x="55" y="46"/>
                  </a:cubicBezTo>
                  <a:cubicBezTo>
                    <a:pt x="62" y="45"/>
                    <a:pt x="59" y="44"/>
                    <a:pt x="62" y="42"/>
                  </a:cubicBezTo>
                  <a:cubicBezTo>
                    <a:pt x="64" y="42"/>
                    <a:pt x="65" y="42"/>
                    <a:pt x="67" y="42"/>
                  </a:cubicBezTo>
                  <a:cubicBezTo>
                    <a:pt x="70" y="40"/>
                    <a:pt x="73" y="38"/>
                    <a:pt x="75" y="36"/>
                  </a:cubicBezTo>
                  <a:cubicBezTo>
                    <a:pt x="75" y="34"/>
                    <a:pt x="75" y="32"/>
                    <a:pt x="75" y="30"/>
                  </a:cubicBezTo>
                  <a:cubicBezTo>
                    <a:pt x="72" y="29"/>
                    <a:pt x="70" y="28"/>
                    <a:pt x="68" y="27"/>
                  </a:cubicBezTo>
                  <a:cubicBezTo>
                    <a:pt x="66" y="26"/>
                    <a:pt x="66" y="24"/>
                    <a:pt x="64" y="23"/>
                  </a:cubicBezTo>
                  <a:cubicBezTo>
                    <a:pt x="64" y="13"/>
                    <a:pt x="71" y="6"/>
                    <a:pt x="61" y="0"/>
                  </a:cubicBezTo>
                  <a:cubicBezTo>
                    <a:pt x="61" y="0"/>
                    <a:pt x="60" y="0"/>
                    <a:pt x="60" y="0"/>
                  </a:cubicBezTo>
                  <a:cubicBezTo>
                    <a:pt x="58" y="7"/>
                    <a:pt x="57" y="20"/>
                    <a:pt x="54" y="25"/>
                  </a:cubicBezTo>
                  <a:cubicBezTo>
                    <a:pt x="53" y="27"/>
                    <a:pt x="50" y="28"/>
                    <a:pt x="49" y="30"/>
                  </a:cubicBezTo>
                  <a:cubicBezTo>
                    <a:pt x="47" y="32"/>
                    <a:pt x="46" y="34"/>
                    <a:pt x="42" y="34"/>
                  </a:cubicBezTo>
                  <a:cubicBezTo>
                    <a:pt x="42" y="33"/>
                    <a:pt x="42" y="34"/>
                    <a:pt x="43" y="33"/>
                  </a:cubicBezTo>
                  <a:cubicBezTo>
                    <a:pt x="42" y="33"/>
                    <a:pt x="42" y="33"/>
                    <a:pt x="42" y="32"/>
                  </a:cubicBezTo>
                  <a:cubicBezTo>
                    <a:pt x="40" y="35"/>
                    <a:pt x="35" y="34"/>
                    <a:pt x="31" y="34"/>
                  </a:cubicBezTo>
                  <a:cubicBezTo>
                    <a:pt x="27" y="31"/>
                    <a:pt x="25" y="27"/>
                    <a:pt x="22" y="23"/>
                  </a:cubicBezTo>
                  <a:cubicBezTo>
                    <a:pt x="21" y="23"/>
                    <a:pt x="21" y="23"/>
                    <a:pt x="21" y="23"/>
                  </a:cubicBezTo>
                  <a:cubicBezTo>
                    <a:pt x="21" y="25"/>
                    <a:pt x="26" y="35"/>
                    <a:pt x="25" y="38"/>
                  </a:cubicBezTo>
                  <a:cubicBezTo>
                    <a:pt x="24" y="40"/>
                    <a:pt x="19" y="40"/>
                    <a:pt x="18" y="41"/>
                  </a:cubicBezTo>
                  <a:cubicBezTo>
                    <a:pt x="12" y="43"/>
                    <a:pt x="5" y="44"/>
                    <a:pt x="0" y="48"/>
                  </a:cubicBezTo>
                  <a:cubicBezTo>
                    <a:pt x="3" y="62"/>
                    <a:pt x="18" y="53"/>
                    <a:pt x="29" y="53"/>
                  </a:cubicBezTo>
                  <a:cubicBezTo>
                    <a:pt x="30" y="55"/>
                    <a:pt x="29" y="57"/>
                    <a:pt x="30" y="59"/>
                  </a:cubicBezTo>
                  <a:cubicBezTo>
                    <a:pt x="31" y="61"/>
                    <a:pt x="33" y="63"/>
                    <a:pt x="35" y="64"/>
                  </a:cubicBezTo>
                  <a:cubicBezTo>
                    <a:pt x="33" y="67"/>
                    <a:pt x="16" y="69"/>
                    <a:pt x="10" y="69"/>
                  </a:cubicBezTo>
                  <a:cubicBezTo>
                    <a:pt x="10" y="69"/>
                    <a:pt x="10" y="70"/>
                    <a:pt x="10" y="70"/>
                  </a:cubicBezTo>
                  <a:cubicBezTo>
                    <a:pt x="11" y="78"/>
                    <a:pt x="19" y="96"/>
                    <a:pt x="28" y="96"/>
                  </a:cubicBezTo>
                  <a:cubicBezTo>
                    <a:pt x="28" y="96"/>
                    <a:pt x="29" y="95"/>
                    <a:pt x="29" y="95"/>
                  </a:cubicBezTo>
                  <a:cubicBezTo>
                    <a:pt x="31" y="93"/>
                    <a:pt x="30" y="91"/>
                    <a:pt x="30" y="87"/>
                  </a:cubicBezTo>
                  <a:cubicBezTo>
                    <a:pt x="32" y="85"/>
                    <a:pt x="35" y="84"/>
                    <a:pt x="38" y="85"/>
                  </a:cubicBezTo>
                  <a:cubicBezTo>
                    <a:pt x="38" y="88"/>
                    <a:pt x="38" y="90"/>
                    <a:pt x="38" y="93"/>
                  </a:cubicBezTo>
                  <a:cubicBezTo>
                    <a:pt x="28" y="96"/>
                    <a:pt x="19" y="103"/>
                    <a:pt x="8" y="104"/>
                  </a:cubicBezTo>
                  <a:cubicBezTo>
                    <a:pt x="8" y="104"/>
                    <a:pt x="7" y="104"/>
                    <a:pt x="7" y="104"/>
                  </a:cubicBezTo>
                  <a:cubicBezTo>
                    <a:pt x="7" y="104"/>
                    <a:pt x="7" y="105"/>
                    <a:pt x="7" y="105"/>
                  </a:cubicBezTo>
                  <a:cubicBezTo>
                    <a:pt x="9" y="106"/>
                    <a:pt x="11" y="107"/>
                    <a:pt x="13" y="108"/>
                  </a:cubicBezTo>
                  <a:cubicBezTo>
                    <a:pt x="18" y="110"/>
                    <a:pt x="31" y="100"/>
                    <a:pt x="38" y="99"/>
                  </a:cubicBezTo>
                  <a:cubicBezTo>
                    <a:pt x="38" y="102"/>
                    <a:pt x="38" y="105"/>
                    <a:pt x="37" y="107"/>
                  </a:cubicBezTo>
                  <a:cubicBezTo>
                    <a:pt x="31" y="111"/>
                    <a:pt x="21" y="114"/>
                    <a:pt x="14" y="116"/>
                  </a:cubicBezTo>
                  <a:cubicBezTo>
                    <a:pt x="11" y="117"/>
                    <a:pt x="10" y="116"/>
                    <a:pt x="8" y="116"/>
                  </a:cubicBezTo>
                  <a:cubicBezTo>
                    <a:pt x="8" y="116"/>
                    <a:pt x="8" y="116"/>
                    <a:pt x="8" y="116"/>
                  </a:cubicBezTo>
                  <a:cubicBezTo>
                    <a:pt x="8" y="118"/>
                    <a:pt x="8" y="118"/>
                    <a:pt x="9" y="119"/>
                  </a:cubicBezTo>
                  <a:cubicBezTo>
                    <a:pt x="15" y="123"/>
                    <a:pt x="31" y="113"/>
                    <a:pt x="37" y="113"/>
                  </a:cubicBezTo>
                  <a:cubicBezTo>
                    <a:pt x="37" y="116"/>
                    <a:pt x="37" y="119"/>
                    <a:pt x="37" y="122"/>
                  </a:cubicBezTo>
                  <a:cubicBezTo>
                    <a:pt x="35" y="122"/>
                    <a:pt x="33" y="120"/>
                    <a:pt x="32" y="118"/>
                  </a:cubicBezTo>
                  <a:cubicBezTo>
                    <a:pt x="32" y="118"/>
                    <a:pt x="32" y="119"/>
                    <a:pt x="31" y="119"/>
                  </a:cubicBezTo>
                  <a:cubicBezTo>
                    <a:pt x="33" y="120"/>
                    <a:pt x="34" y="122"/>
                    <a:pt x="34" y="124"/>
                  </a:cubicBezTo>
                  <a:cubicBezTo>
                    <a:pt x="27" y="127"/>
                    <a:pt x="20" y="131"/>
                    <a:pt x="13" y="134"/>
                  </a:cubicBezTo>
                  <a:cubicBezTo>
                    <a:pt x="11" y="134"/>
                    <a:pt x="10" y="133"/>
                    <a:pt x="9" y="132"/>
                  </a:cubicBezTo>
                  <a:cubicBezTo>
                    <a:pt x="8" y="132"/>
                    <a:pt x="8" y="133"/>
                    <a:pt x="8" y="133"/>
                  </a:cubicBezTo>
                  <a:cubicBezTo>
                    <a:pt x="8" y="146"/>
                    <a:pt x="29" y="131"/>
                    <a:pt x="36" y="130"/>
                  </a:cubicBezTo>
                  <a:cubicBezTo>
                    <a:pt x="37" y="131"/>
                    <a:pt x="38" y="131"/>
                    <a:pt x="39" y="132"/>
                  </a:cubicBezTo>
                  <a:cubicBezTo>
                    <a:pt x="43" y="131"/>
                    <a:pt x="41" y="128"/>
                    <a:pt x="44" y="126"/>
                  </a:cubicBezTo>
                  <a:cubicBezTo>
                    <a:pt x="49" y="122"/>
                    <a:pt x="56" y="120"/>
                    <a:pt x="60" y="116"/>
                  </a:cubicBezTo>
                  <a:cubicBezTo>
                    <a:pt x="60" y="116"/>
                    <a:pt x="61" y="116"/>
                    <a:pt x="61" y="116"/>
                  </a:cubicBezTo>
                  <a:cubicBezTo>
                    <a:pt x="62" y="117"/>
                    <a:pt x="64" y="118"/>
                    <a:pt x="64" y="120"/>
                  </a:cubicBezTo>
                  <a:cubicBezTo>
                    <a:pt x="66" y="124"/>
                    <a:pt x="62" y="136"/>
                    <a:pt x="61" y="139"/>
                  </a:cubicBezTo>
                  <a:cubicBezTo>
                    <a:pt x="61" y="139"/>
                    <a:pt x="61" y="139"/>
                    <a:pt x="61" y="139"/>
                  </a:cubicBezTo>
                  <a:cubicBezTo>
                    <a:pt x="61" y="139"/>
                    <a:pt x="61" y="140"/>
                    <a:pt x="61" y="140"/>
                  </a:cubicBezTo>
                  <a:cubicBezTo>
                    <a:pt x="63" y="138"/>
                    <a:pt x="68" y="131"/>
                    <a:pt x="68" y="130"/>
                  </a:cubicBezTo>
                  <a:cubicBezTo>
                    <a:pt x="69" y="130"/>
                    <a:pt x="69" y="130"/>
                    <a:pt x="69" y="130"/>
                  </a:cubicBezTo>
                  <a:cubicBezTo>
                    <a:pt x="70" y="132"/>
                    <a:pt x="72" y="134"/>
                    <a:pt x="73" y="136"/>
                  </a:cubicBezTo>
                  <a:cubicBezTo>
                    <a:pt x="74" y="138"/>
                    <a:pt x="85" y="145"/>
                    <a:pt x="87" y="145"/>
                  </a:cubicBezTo>
                  <a:cubicBezTo>
                    <a:pt x="95" y="141"/>
                    <a:pt x="100" y="132"/>
                    <a:pt x="103" y="124"/>
                  </a:cubicBezTo>
                  <a:cubicBezTo>
                    <a:pt x="104" y="121"/>
                    <a:pt x="105" y="119"/>
                    <a:pt x="106" y="116"/>
                  </a:cubicBezTo>
                  <a:cubicBezTo>
                    <a:pt x="107" y="115"/>
                    <a:pt x="107" y="114"/>
                    <a:pt x="108" y="112"/>
                  </a:cubicBezTo>
                  <a:cubicBezTo>
                    <a:pt x="110" y="107"/>
                    <a:pt x="111" y="101"/>
                    <a:pt x="113" y="96"/>
                  </a:cubicBezTo>
                  <a:cubicBezTo>
                    <a:pt x="115" y="89"/>
                    <a:pt x="121" y="83"/>
                    <a:pt x="116" y="76"/>
                  </a:cubicBezTo>
                  <a:close/>
                  <a:moveTo>
                    <a:pt x="59" y="65"/>
                  </a:moveTo>
                  <a:cubicBezTo>
                    <a:pt x="59" y="65"/>
                    <a:pt x="59" y="65"/>
                    <a:pt x="59" y="65"/>
                  </a:cubicBezTo>
                  <a:cubicBezTo>
                    <a:pt x="58" y="68"/>
                    <a:pt x="50" y="76"/>
                    <a:pt x="45" y="76"/>
                  </a:cubicBezTo>
                  <a:cubicBezTo>
                    <a:pt x="45" y="72"/>
                    <a:pt x="46" y="70"/>
                    <a:pt x="46" y="67"/>
                  </a:cubicBezTo>
                  <a:cubicBezTo>
                    <a:pt x="51" y="67"/>
                    <a:pt x="55" y="66"/>
                    <a:pt x="59" y="65"/>
                  </a:cubicBezTo>
                  <a:close/>
                  <a:moveTo>
                    <a:pt x="38" y="78"/>
                  </a:moveTo>
                  <a:cubicBezTo>
                    <a:pt x="36" y="79"/>
                    <a:pt x="29" y="83"/>
                    <a:pt x="27" y="80"/>
                  </a:cubicBezTo>
                  <a:cubicBezTo>
                    <a:pt x="27" y="78"/>
                    <a:pt x="27" y="77"/>
                    <a:pt x="27" y="75"/>
                  </a:cubicBezTo>
                  <a:cubicBezTo>
                    <a:pt x="30" y="74"/>
                    <a:pt x="35" y="74"/>
                    <a:pt x="37" y="72"/>
                  </a:cubicBezTo>
                  <a:cubicBezTo>
                    <a:pt x="38" y="72"/>
                    <a:pt x="38" y="72"/>
                    <a:pt x="38" y="72"/>
                  </a:cubicBezTo>
                  <a:cubicBezTo>
                    <a:pt x="38" y="74"/>
                    <a:pt x="38" y="76"/>
                    <a:pt x="38" y="78"/>
                  </a:cubicBezTo>
                  <a:close/>
                  <a:moveTo>
                    <a:pt x="39" y="55"/>
                  </a:moveTo>
                  <a:cubicBezTo>
                    <a:pt x="36" y="51"/>
                    <a:pt x="43" y="46"/>
                    <a:pt x="45" y="45"/>
                  </a:cubicBezTo>
                  <a:cubicBezTo>
                    <a:pt x="45" y="45"/>
                    <a:pt x="46" y="45"/>
                    <a:pt x="47" y="45"/>
                  </a:cubicBezTo>
                  <a:cubicBezTo>
                    <a:pt x="47" y="45"/>
                    <a:pt x="47" y="45"/>
                    <a:pt x="47" y="45"/>
                  </a:cubicBezTo>
                  <a:cubicBezTo>
                    <a:pt x="46" y="48"/>
                    <a:pt x="44" y="50"/>
                    <a:pt x="44" y="54"/>
                  </a:cubicBezTo>
                  <a:cubicBezTo>
                    <a:pt x="42" y="54"/>
                    <a:pt x="41" y="54"/>
                    <a:pt x="39" y="55"/>
                  </a:cubicBezTo>
                  <a:close/>
                  <a:moveTo>
                    <a:pt x="101" y="93"/>
                  </a:moveTo>
                  <a:cubicBezTo>
                    <a:pt x="98" y="103"/>
                    <a:pt x="95" y="112"/>
                    <a:pt x="91" y="121"/>
                  </a:cubicBezTo>
                  <a:cubicBezTo>
                    <a:pt x="90" y="124"/>
                    <a:pt x="87" y="126"/>
                    <a:pt x="86" y="129"/>
                  </a:cubicBezTo>
                  <a:cubicBezTo>
                    <a:pt x="85" y="130"/>
                    <a:pt x="85" y="130"/>
                    <a:pt x="84" y="130"/>
                  </a:cubicBezTo>
                  <a:cubicBezTo>
                    <a:pt x="81" y="128"/>
                    <a:pt x="78" y="126"/>
                    <a:pt x="76" y="123"/>
                  </a:cubicBezTo>
                  <a:cubicBezTo>
                    <a:pt x="76" y="123"/>
                    <a:pt x="75" y="124"/>
                    <a:pt x="74" y="124"/>
                  </a:cubicBezTo>
                  <a:cubicBezTo>
                    <a:pt x="74" y="124"/>
                    <a:pt x="74" y="123"/>
                    <a:pt x="74" y="123"/>
                  </a:cubicBezTo>
                  <a:cubicBezTo>
                    <a:pt x="73" y="122"/>
                    <a:pt x="74" y="122"/>
                    <a:pt x="74" y="122"/>
                  </a:cubicBezTo>
                  <a:cubicBezTo>
                    <a:pt x="73" y="121"/>
                    <a:pt x="73" y="120"/>
                    <a:pt x="72" y="120"/>
                  </a:cubicBezTo>
                  <a:cubicBezTo>
                    <a:pt x="72" y="113"/>
                    <a:pt x="81" y="85"/>
                    <a:pt x="84" y="81"/>
                  </a:cubicBezTo>
                  <a:cubicBezTo>
                    <a:pt x="87" y="78"/>
                    <a:pt x="91" y="79"/>
                    <a:pt x="95" y="76"/>
                  </a:cubicBezTo>
                  <a:cubicBezTo>
                    <a:pt x="98" y="76"/>
                    <a:pt x="100" y="76"/>
                    <a:pt x="102" y="77"/>
                  </a:cubicBezTo>
                  <a:cubicBezTo>
                    <a:pt x="106" y="82"/>
                    <a:pt x="102" y="88"/>
                    <a:pt x="101" y="93"/>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65" name="Freeform 27"/>
            <p:cNvSpPr/>
            <p:nvPr/>
          </p:nvSpPr>
          <p:spPr bwMode="auto">
            <a:xfrm>
              <a:off x="6612862" y="224504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66" name="Freeform 28"/>
            <p:cNvSpPr>
              <a:spLocks noEditPoints="1"/>
            </p:cNvSpPr>
            <p:nvPr/>
          </p:nvSpPr>
          <p:spPr bwMode="auto">
            <a:xfrm>
              <a:off x="5288887" y="1892618"/>
              <a:ext cx="411163" cy="566738"/>
            </a:xfrm>
            <a:custGeom>
              <a:avLst/>
              <a:gdLst>
                <a:gd name="T0" fmla="*/ 58 w 109"/>
                <a:gd name="T1" fmla="*/ 98 h 148"/>
                <a:gd name="T2" fmla="*/ 85 w 109"/>
                <a:gd name="T3" fmla="*/ 69 h 148"/>
                <a:gd name="T4" fmla="*/ 84 w 109"/>
                <a:gd name="T5" fmla="*/ 60 h 148"/>
                <a:gd name="T6" fmla="*/ 72 w 109"/>
                <a:gd name="T7" fmla="*/ 70 h 148"/>
                <a:gd name="T8" fmla="*/ 56 w 109"/>
                <a:gd name="T9" fmla="*/ 85 h 148"/>
                <a:gd name="T10" fmla="*/ 84 w 109"/>
                <a:gd name="T11" fmla="*/ 47 h 148"/>
                <a:gd name="T12" fmla="*/ 82 w 109"/>
                <a:gd name="T13" fmla="*/ 37 h 148"/>
                <a:gd name="T14" fmla="*/ 67 w 109"/>
                <a:gd name="T15" fmla="*/ 31 h 148"/>
                <a:gd name="T16" fmla="*/ 67 w 109"/>
                <a:gd name="T17" fmla="*/ 33 h 148"/>
                <a:gd name="T18" fmla="*/ 64 w 109"/>
                <a:gd name="T19" fmla="*/ 34 h 148"/>
                <a:gd name="T20" fmla="*/ 57 w 109"/>
                <a:gd name="T21" fmla="*/ 41 h 148"/>
                <a:gd name="T22" fmla="*/ 42 w 109"/>
                <a:gd name="T23" fmla="*/ 1 h 148"/>
                <a:gd name="T24" fmla="*/ 43 w 109"/>
                <a:gd name="T25" fmla="*/ 10 h 148"/>
                <a:gd name="T26" fmla="*/ 43 w 109"/>
                <a:gd name="T27" fmla="*/ 45 h 148"/>
                <a:gd name="T28" fmla="*/ 0 w 109"/>
                <a:gd name="T29" fmla="*/ 55 h 148"/>
                <a:gd name="T30" fmla="*/ 43 w 109"/>
                <a:gd name="T31" fmla="*/ 59 h 148"/>
                <a:gd name="T32" fmla="*/ 43 w 109"/>
                <a:gd name="T33" fmla="*/ 83 h 148"/>
                <a:gd name="T34" fmla="*/ 42 w 109"/>
                <a:gd name="T35" fmla="*/ 83 h 148"/>
                <a:gd name="T36" fmla="*/ 40 w 109"/>
                <a:gd name="T37" fmla="*/ 86 h 148"/>
                <a:gd name="T38" fmla="*/ 26 w 109"/>
                <a:gd name="T39" fmla="*/ 101 h 148"/>
                <a:gd name="T40" fmla="*/ 8 w 109"/>
                <a:gd name="T41" fmla="*/ 133 h 148"/>
                <a:gd name="T42" fmla="*/ 27 w 109"/>
                <a:gd name="T43" fmla="*/ 133 h 148"/>
                <a:gd name="T44" fmla="*/ 47 w 109"/>
                <a:gd name="T45" fmla="*/ 145 h 148"/>
                <a:gd name="T46" fmla="*/ 56 w 109"/>
                <a:gd name="T47" fmla="*/ 119 h 148"/>
                <a:gd name="T48" fmla="*/ 90 w 109"/>
                <a:gd name="T49" fmla="*/ 117 h 148"/>
                <a:gd name="T50" fmla="*/ 87 w 109"/>
                <a:gd name="T51" fmla="*/ 120 h 148"/>
                <a:gd name="T52" fmla="*/ 109 w 109"/>
                <a:gd name="T53" fmla="*/ 121 h 148"/>
                <a:gd name="T54" fmla="*/ 41 w 109"/>
                <a:gd name="T55" fmla="*/ 124 h 148"/>
                <a:gd name="T56" fmla="*/ 35 w 109"/>
                <a:gd name="T57" fmla="*/ 124 h 148"/>
                <a:gd name="T58" fmla="*/ 33 w 109"/>
                <a:gd name="T59" fmla="*/ 125 h 148"/>
                <a:gd name="T60" fmla="*/ 28 w 109"/>
                <a:gd name="T61" fmla="*/ 124 h 148"/>
                <a:gd name="T62" fmla="*/ 24 w 109"/>
                <a:gd name="T63" fmla="*/ 124 h 148"/>
                <a:gd name="T64" fmla="*/ 35 w 109"/>
                <a:gd name="T65" fmla="*/ 102 h 148"/>
                <a:gd name="T66" fmla="*/ 41 w 109"/>
                <a:gd name="T67" fmla="*/ 124 h 148"/>
                <a:gd name="T68" fmla="*/ 39 w 109"/>
                <a:gd name="T69" fmla="*/ 97 h 148"/>
                <a:gd name="T70" fmla="*/ 43 w 109"/>
                <a:gd name="T71" fmla="*/ 9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9" h="148">
                  <a:moveTo>
                    <a:pt x="74" y="104"/>
                  </a:moveTo>
                  <a:cubicBezTo>
                    <a:pt x="69" y="102"/>
                    <a:pt x="62" y="102"/>
                    <a:pt x="58" y="98"/>
                  </a:cubicBezTo>
                  <a:cubicBezTo>
                    <a:pt x="56" y="97"/>
                    <a:pt x="57" y="93"/>
                    <a:pt x="57" y="90"/>
                  </a:cubicBezTo>
                  <a:cubicBezTo>
                    <a:pt x="64" y="81"/>
                    <a:pt x="79" y="78"/>
                    <a:pt x="85" y="69"/>
                  </a:cubicBezTo>
                  <a:cubicBezTo>
                    <a:pt x="86" y="68"/>
                    <a:pt x="86" y="65"/>
                    <a:pt x="87" y="64"/>
                  </a:cubicBezTo>
                  <a:cubicBezTo>
                    <a:pt x="86" y="62"/>
                    <a:pt x="85" y="61"/>
                    <a:pt x="84" y="60"/>
                  </a:cubicBezTo>
                  <a:cubicBezTo>
                    <a:pt x="81" y="61"/>
                    <a:pt x="79" y="61"/>
                    <a:pt x="77" y="61"/>
                  </a:cubicBezTo>
                  <a:cubicBezTo>
                    <a:pt x="75" y="63"/>
                    <a:pt x="74" y="67"/>
                    <a:pt x="72" y="70"/>
                  </a:cubicBezTo>
                  <a:cubicBezTo>
                    <a:pt x="70" y="74"/>
                    <a:pt x="61" y="83"/>
                    <a:pt x="57" y="85"/>
                  </a:cubicBezTo>
                  <a:cubicBezTo>
                    <a:pt x="57" y="85"/>
                    <a:pt x="57" y="85"/>
                    <a:pt x="56" y="85"/>
                  </a:cubicBezTo>
                  <a:cubicBezTo>
                    <a:pt x="57" y="77"/>
                    <a:pt x="56" y="63"/>
                    <a:pt x="58" y="55"/>
                  </a:cubicBezTo>
                  <a:cubicBezTo>
                    <a:pt x="67" y="50"/>
                    <a:pt x="80" y="54"/>
                    <a:pt x="84" y="47"/>
                  </a:cubicBezTo>
                  <a:cubicBezTo>
                    <a:pt x="84" y="43"/>
                    <a:pt x="82" y="43"/>
                    <a:pt x="84" y="40"/>
                  </a:cubicBezTo>
                  <a:cubicBezTo>
                    <a:pt x="83" y="39"/>
                    <a:pt x="82" y="38"/>
                    <a:pt x="82" y="37"/>
                  </a:cubicBezTo>
                  <a:cubicBezTo>
                    <a:pt x="79" y="36"/>
                    <a:pt x="76" y="36"/>
                    <a:pt x="73" y="35"/>
                  </a:cubicBezTo>
                  <a:cubicBezTo>
                    <a:pt x="71" y="34"/>
                    <a:pt x="69" y="32"/>
                    <a:pt x="67" y="31"/>
                  </a:cubicBezTo>
                  <a:cubicBezTo>
                    <a:pt x="66" y="31"/>
                    <a:pt x="66" y="31"/>
                    <a:pt x="66" y="32"/>
                  </a:cubicBezTo>
                  <a:cubicBezTo>
                    <a:pt x="66" y="32"/>
                    <a:pt x="67" y="33"/>
                    <a:pt x="67" y="33"/>
                  </a:cubicBezTo>
                  <a:cubicBezTo>
                    <a:pt x="66" y="34"/>
                    <a:pt x="66" y="34"/>
                    <a:pt x="65" y="33"/>
                  </a:cubicBezTo>
                  <a:cubicBezTo>
                    <a:pt x="64" y="34"/>
                    <a:pt x="64" y="34"/>
                    <a:pt x="64" y="34"/>
                  </a:cubicBezTo>
                  <a:cubicBezTo>
                    <a:pt x="64" y="37"/>
                    <a:pt x="64" y="36"/>
                    <a:pt x="65" y="39"/>
                  </a:cubicBezTo>
                  <a:cubicBezTo>
                    <a:pt x="62" y="39"/>
                    <a:pt x="60" y="40"/>
                    <a:pt x="57" y="41"/>
                  </a:cubicBezTo>
                  <a:cubicBezTo>
                    <a:pt x="53" y="27"/>
                    <a:pt x="66" y="0"/>
                    <a:pt x="46" y="0"/>
                  </a:cubicBezTo>
                  <a:cubicBezTo>
                    <a:pt x="45" y="1"/>
                    <a:pt x="44" y="1"/>
                    <a:pt x="42" y="1"/>
                  </a:cubicBezTo>
                  <a:cubicBezTo>
                    <a:pt x="42" y="1"/>
                    <a:pt x="42" y="1"/>
                    <a:pt x="42" y="1"/>
                  </a:cubicBezTo>
                  <a:cubicBezTo>
                    <a:pt x="42" y="4"/>
                    <a:pt x="45" y="6"/>
                    <a:pt x="43" y="10"/>
                  </a:cubicBezTo>
                  <a:cubicBezTo>
                    <a:pt x="43" y="12"/>
                    <a:pt x="42" y="18"/>
                    <a:pt x="42" y="20"/>
                  </a:cubicBezTo>
                  <a:cubicBezTo>
                    <a:pt x="45" y="27"/>
                    <a:pt x="43" y="36"/>
                    <a:pt x="43" y="45"/>
                  </a:cubicBezTo>
                  <a:cubicBezTo>
                    <a:pt x="34" y="48"/>
                    <a:pt x="22" y="52"/>
                    <a:pt x="12" y="54"/>
                  </a:cubicBezTo>
                  <a:cubicBezTo>
                    <a:pt x="8" y="55"/>
                    <a:pt x="3" y="54"/>
                    <a:pt x="0" y="55"/>
                  </a:cubicBezTo>
                  <a:cubicBezTo>
                    <a:pt x="0" y="55"/>
                    <a:pt x="0" y="55"/>
                    <a:pt x="0" y="55"/>
                  </a:cubicBezTo>
                  <a:cubicBezTo>
                    <a:pt x="14" y="73"/>
                    <a:pt x="24" y="64"/>
                    <a:pt x="43" y="59"/>
                  </a:cubicBezTo>
                  <a:cubicBezTo>
                    <a:pt x="44" y="59"/>
                    <a:pt x="44" y="59"/>
                    <a:pt x="44" y="59"/>
                  </a:cubicBezTo>
                  <a:cubicBezTo>
                    <a:pt x="45" y="66"/>
                    <a:pt x="44" y="76"/>
                    <a:pt x="43" y="83"/>
                  </a:cubicBezTo>
                  <a:cubicBezTo>
                    <a:pt x="43" y="83"/>
                    <a:pt x="43" y="84"/>
                    <a:pt x="42" y="84"/>
                  </a:cubicBezTo>
                  <a:cubicBezTo>
                    <a:pt x="42" y="84"/>
                    <a:pt x="42" y="84"/>
                    <a:pt x="42" y="83"/>
                  </a:cubicBezTo>
                  <a:cubicBezTo>
                    <a:pt x="42" y="83"/>
                    <a:pt x="42" y="83"/>
                    <a:pt x="42" y="82"/>
                  </a:cubicBezTo>
                  <a:cubicBezTo>
                    <a:pt x="41" y="83"/>
                    <a:pt x="40" y="84"/>
                    <a:pt x="40" y="86"/>
                  </a:cubicBezTo>
                  <a:cubicBezTo>
                    <a:pt x="35" y="89"/>
                    <a:pt x="29" y="94"/>
                    <a:pt x="27" y="98"/>
                  </a:cubicBezTo>
                  <a:cubicBezTo>
                    <a:pt x="26" y="99"/>
                    <a:pt x="26" y="100"/>
                    <a:pt x="26" y="101"/>
                  </a:cubicBezTo>
                  <a:cubicBezTo>
                    <a:pt x="17" y="109"/>
                    <a:pt x="3" y="112"/>
                    <a:pt x="3" y="129"/>
                  </a:cubicBezTo>
                  <a:cubicBezTo>
                    <a:pt x="5" y="130"/>
                    <a:pt x="7" y="131"/>
                    <a:pt x="8" y="133"/>
                  </a:cubicBezTo>
                  <a:cubicBezTo>
                    <a:pt x="13" y="132"/>
                    <a:pt x="16" y="127"/>
                    <a:pt x="18" y="124"/>
                  </a:cubicBezTo>
                  <a:cubicBezTo>
                    <a:pt x="22" y="125"/>
                    <a:pt x="24" y="130"/>
                    <a:pt x="27" y="133"/>
                  </a:cubicBezTo>
                  <a:cubicBezTo>
                    <a:pt x="30" y="136"/>
                    <a:pt x="42" y="141"/>
                    <a:pt x="44" y="145"/>
                  </a:cubicBezTo>
                  <a:cubicBezTo>
                    <a:pt x="45" y="145"/>
                    <a:pt x="46" y="145"/>
                    <a:pt x="47" y="145"/>
                  </a:cubicBezTo>
                  <a:cubicBezTo>
                    <a:pt x="49" y="148"/>
                    <a:pt x="54" y="140"/>
                    <a:pt x="55" y="138"/>
                  </a:cubicBezTo>
                  <a:cubicBezTo>
                    <a:pt x="57" y="134"/>
                    <a:pt x="57" y="124"/>
                    <a:pt x="56" y="119"/>
                  </a:cubicBezTo>
                  <a:cubicBezTo>
                    <a:pt x="55" y="114"/>
                    <a:pt x="56" y="111"/>
                    <a:pt x="57" y="107"/>
                  </a:cubicBezTo>
                  <a:cubicBezTo>
                    <a:pt x="66" y="105"/>
                    <a:pt x="83" y="115"/>
                    <a:pt x="90" y="117"/>
                  </a:cubicBezTo>
                  <a:cubicBezTo>
                    <a:pt x="90" y="117"/>
                    <a:pt x="90" y="117"/>
                    <a:pt x="90" y="118"/>
                  </a:cubicBezTo>
                  <a:cubicBezTo>
                    <a:pt x="90" y="119"/>
                    <a:pt x="88" y="119"/>
                    <a:pt x="87" y="120"/>
                  </a:cubicBezTo>
                  <a:cubicBezTo>
                    <a:pt x="95" y="123"/>
                    <a:pt x="100" y="128"/>
                    <a:pt x="109" y="123"/>
                  </a:cubicBezTo>
                  <a:cubicBezTo>
                    <a:pt x="109" y="122"/>
                    <a:pt x="109" y="122"/>
                    <a:pt x="109" y="121"/>
                  </a:cubicBezTo>
                  <a:cubicBezTo>
                    <a:pt x="103" y="112"/>
                    <a:pt x="85" y="108"/>
                    <a:pt x="74" y="104"/>
                  </a:cubicBezTo>
                  <a:close/>
                  <a:moveTo>
                    <a:pt x="41" y="124"/>
                  </a:moveTo>
                  <a:cubicBezTo>
                    <a:pt x="40" y="125"/>
                    <a:pt x="39" y="127"/>
                    <a:pt x="37" y="127"/>
                  </a:cubicBezTo>
                  <a:cubicBezTo>
                    <a:pt x="36" y="126"/>
                    <a:pt x="36" y="125"/>
                    <a:pt x="35" y="124"/>
                  </a:cubicBezTo>
                  <a:cubicBezTo>
                    <a:pt x="35" y="124"/>
                    <a:pt x="35" y="124"/>
                    <a:pt x="34" y="124"/>
                  </a:cubicBezTo>
                  <a:cubicBezTo>
                    <a:pt x="34" y="125"/>
                    <a:pt x="34" y="125"/>
                    <a:pt x="33" y="125"/>
                  </a:cubicBezTo>
                  <a:cubicBezTo>
                    <a:pt x="31" y="124"/>
                    <a:pt x="30" y="122"/>
                    <a:pt x="28" y="121"/>
                  </a:cubicBezTo>
                  <a:cubicBezTo>
                    <a:pt x="28" y="122"/>
                    <a:pt x="28" y="123"/>
                    <a:pt x="28" y="124"/>
                  </a:cubicBezTo>
                  <a:cubicBezTo>
                    <a:pt x="27" y="124"/>
                    <a:pt x="26" y="124"/>
                    <a:pt x="25" y="125"/>
                  </a:cubicBezTo>
                  <a:cubicBezTo>
                    <a:pt x="25" y="124"/>
                    <a:pt x="24" y="124"/>
                    <a:pt x="24" y="124"/>
                  </a:cubicBezTo>
                  <a:cubicBezTo>
                    <a:pt x="23" y="123"/>
                    <a:pt x="23" y="121"/>
                    <a:pt x="21" y="120"/>
                  </a:cubicBezTo>
                  <a:cubicBezTo>
                    <a:pt x="21" y="113"/>
                    <a:pt x="31" y="106"/>
                    <a:pt x="35" y="102"/>
                  </a:cubicBezTo>
                  <a:cubicBezTo>
                    <a:pt x="37" y="102"/>
                    <a:pt x="39" y="103"/>
                    <a:pt x="42" y="103"/>
                  </a:cubicBezTo>
                  <a:cubicBezTo>
                    <a:pt x="43" y="105"/>
                    <a:pt x="42" y="121"/>
                    <a:pt x="41" y="124"/>
                  </a:cubicBezTo>
                  <a:close/>
                  <a:moveTo>
                    <a:pt x="43" y="97"/>
                  </a:moveTo>
                  <a:cubicBezTo>
                    <a:pt x="41" y="97"/>
                    <a:pt x="41" y="97"/>
                    <a:pt x="39" y="97"/>
                  </a:cubicBezTo>
                  <a:cubicBezTo>
                    <a:pt x="38" y="97"/>
                    <a:pt x="38" y="97"/>
                    <a:pt x="38" y="97"/>
                  </a:cubicBezTo>
                  <a:cubicBezTo>
                    <a:pt x="40" y="95"/>
                    <a:pt x="41" y="93"/>
                    <a:pt x="43" y="92"/>
                  </a:cubicBezTo>
                  <a:cubicBezTo>
                    <a:pt x="43" y="92"/>
                    <a:pt x="43" y="95"/>
                    <a:pt x="43" y="97"/>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67" name="Freeform 29"/>
            <p:cNvSpPr/>
            <p:nvPr/>
          </p:nvSpPr>
          <p:spPr bwMode="auto">
            <a:xfrm>
              <a:off x="6065175" y="2332356"/>
              <a:ext cx="150813" cy="114300"/>
            </a:xfrm>
            <a:custGeom>
              <a:avLst/>
              <a:gdLst>
                <a:gd name="T0" fmla="*/ 1 w 40"/>
                <a:gd name="T1" fmla="*/ 0 h 30"/>
                <a:gd name="T2" fmla="*/ 32 w 40"/>
                <a:gd name="T3" fmla="*/ 15 h 30"/>
                <a:gd name="T4" fmla="*/ 40 w 40"/>
                <a:gd name="T5" fmla="*/ 26 h 30"/>
                <a:gd name="T6" fmla="*/ 39 w 40"/>
                <a:gd name="T7" fmla="*/ 28 h 30"/>
                <a:gd name="T8" fmla="*/ 34 w 40"/>
                <a:gd name="T9" fmla="*/ 29 h 30"/>
                <a:gd name="T10" fmla="*/ 23 w 40"/>
                <a:gd name="T11" fmla="*/ 22 h 30"/>
                <a:gd name="T12" fmla="*/ 28 w 40"/>
                <a:gd name="T13" fmla="*/ 23 h 30"/>
                <a:gd name="T14" fmla="*/ 28 w 40"/>
                <a:gd name="T15" fmla="*/ 22 h 30"/>
                <a:gd name="T16" fmla="*/ 27 w 40"/>
                <a:gd name="T17" fmla="*/ 21 h 30"/>
                <a:gd name="T18" fmla="*/ 16 w 40"/>
                <a:gd name="T19" fmla="*/ 13 h 30"/>
                <a:gd name="T20" fmla="*/ 0 w 40"/>
                <a:gd name="T21" fmla="*/ 2 h 30"/>
                <a:gd name="T22" fmla="*/ 1 w 40"/>
                <a:gd name="T2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30">
                  <a:moveTo>
                    <a:pt x="1" y="0"/>
                  </a:moveTo>
                  <a:cubicBezTo>
                    <a:pt x="16" y="0"/>
                    <a:pt x="23" y="9"/>
                    <a:pt x="32" y="15"/>
                  </a:cubicBezTo>
                  <a:cubicBezTo>
                    <a:pt x="35" y="18"/>
                    <a:pt x="40" y="20"/>
                    <a:pt x="40" y="26"/>
                  </a:cubicBezTo>
                  <a:cubicBezTo>
                    <a:pt x="40" y="27"/>
                    <a:pt x="40" y="27"/>
                    <a:pt x="39" y="28"/>
                  </a:cubicBezTo>
                  <a:cubicBezTo>
                    <a:pt x="38" y="28"/>
                    <a:pt x="36" y="30"/>
                    <a:pt x="34" y="29"/>
                  </a:cubicBezTo>
                  <a:cubicBezTo>
                    <a:pt x="33" y="29"/>
                    <a:pt x="23" y="22"/>
                    <a:pt x="23" y="22"/>
                  </a:cubicBezTo>
                  <a:cubicBezTo>
                    <a:pt x="25" y="22"/>
                    <a:pt x="26" y="22"/>
                    <a:pt x="28" y="23"/>
                  </a:cubicBezTo>
                  <a:cubicBezTo>
                    <a:pt x="28" y="22"/>
                    <a:pt x="28" y="22"/>
                    <a:pt x="28" y="22"/>
                  </a:cubicBezTo>
                  <a:cubicBezTo>
                    <a:pt x="28" y="22"/>
                    <a:pt x="28" y="21"/>
                    <a:pt x="27" y="21"/>
                  </a:cubicBezTo>
                  <a:cubicBezTo>
                    <a:pt x="23" y="19"/>
                    <a:pt x="20" y="15"/>
                    <a:pt x="16" y="13"/>
                  </a:cubicBezTo>
                  <a:cubicBezTo>
                    <a:pt x="10" y="9"/>
                    <a:pt x="5" y="6"/>
                    <a:pt x="0" y="2"/>
                  </a:cubicBezTo>
                  <a:cubicBezTo>
                    <a:pt x="0" y="1"/>
                    <a:pt x="1" y="1"/>
                    <a:pt x="1" y="0"/>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68" name="Freeform 30"/>
            <p:cNvSpPr>
              <a:spLocks noEditPoints="1"/>
            </p:cNvSpPr>
            <p:nvPr/>
          </p:nvSpPr>
          <p:spPr bwMode="auto">
            <a:xfrm>
              <a:off x="3406112" y="1957706"/>
              <a:ext cx="595313" cy="488950"/>
            </a:xfrm>
            <a:custGeom>
              <a:avLst/>
              <a:gdLst>
                <a:gd name="T0" fmla="*/ 139 w 158"/>
                <a:gd name="T1" fmla="*/ 78 h 128"/>
                <a:gd name="T2" fmla="*/ 103 w 158"/>
                <a:gd name="T3" fmla="*/ 66 h 128"/>
                <a:gd name="T4" fmla="*/ 76 w 158"/>
                <a:gd name="T5" fmla="*/ 47 h 128"/>
                <a:gd name="T6" fmla="*/ 98 w 158"/>
                <a:gd name="T7" fmla="*/ 37 h 128"/>
                <a:gd name="T8" fmla="*/ 108 w 158"/>
                <a:gd name="T9" fmla="*/ 30 h 128"/>
                <a:gd name="T10" fmla="*/ 85 w 158"/>
                <a:gd name="T11" fmla="*/ 16 h 128"/>
                <a:gd name="T12" fmla="*/ 74 w 158"/>
                <a:gd name="T13" fmla="*/ 0 h 128"/>
                <a:gd name="T14" fmla="*/ 27 w 158"/>
                <a:gd name="T15" fmla="*/ 39 h 128"/>
                <a:gd name="T16" fmla="*/ 31 w 158"/>
                <a:gd name="T17" fmla="*/ 48 h 128"/>
                <a:gd name="T18" fmla="*/ 61 w 158"/>
                <a:gd name="T19" fmla="*/ 47 h 128"/>
                <a:gd name="T20" fmla="*/ 40 w 158"/>
                <a:gd name="T21" fmla="*/ 78 h 128"/>
                <a:gd name="T22" fmla="*/ 15 w 158"/>
                <a:gd name="T23" fmla="*/ 107 h 128"/>
                <a:gd name="T24" fmla="*/ 0 w 158"/>
                <a:gd name="T25" fmla="*/ 109 h 128"/>
                <a:gd name="T26" fmla="*/ 8 w 158"/>
                <a:gd name="T27" fmla="*/ 110 h 128"/>
                <a:gd name="T28" fmla="*/ 35 w 158"/>
                <a:gd name="T29" fmla="*/ 108 h 128"/>
                <a:gd name="T30" fmla="*/ 44 w 158"/>
                <a:gd name="T31" fmla="*/ 97 h 128"/>
                <a:gd name="T32" fmla="*/ 56 w 158"/>
                <a:gd name="T33" fmla="*/ 124 h 128"/>
                <a:gd name="T34" fmla="*/ 85 w 158"/>
                <a:gd name="T35" fmla="*/ 127 h 128"/>
                <a:gd name="T36" fmla="*/ 95 w 158"/>
                <a:gd name="T37" fmla="*/ 125 h 128"/>
                <a:gd name="T38" fmla="*/ 104 w 158"/>
                <a:gd name="T39" fmla="*/ 92 h 128"/>
                <a:gd name="T40" fmla="*/ 120 w 158"/>
                <a:gd name="T41" fmla="*/ 89 h 128"/>
                <a:gd name="T42" fmla="*/ 147 w 158"/>
                <a:gd name="T43" fmla="*/ 81 h 128"/>
                <a:gd name="T44" fmla="*/ 89 w 158"/>
                <a:gd name="T45" fmla="*/ 24 h 128"/>
                <a:gd name="T46" fmla="*/ 81 w 158"/>
                <a:gd name="T47" fmla="*/ 27 h 128"/>
                <a:gd name="T48" fmla="*/ 67 w 158"/>
                <a:gd name="T49" fmla="*/ 114 h 128"/>
                <a:gd name="T50" fmla="*/ 65 w 158"/>
                <a:gd name="T51" fmla="*/ 104 h 128"/>
                <a:gd name="T52" fmla="*/ 70 w 158"/>
                <a:gd name="T53" fmla="*/ 102 h 128"/>
                <a:gd name="T54" fmla="*/ 71 w 158"/>
                <a:gd name="T55" fmla="*/ 93 h 128"/>
                <a:gd name="T56" fmla="*/ 62 w 158"/>
                <a:gd name="T57" fmla="*/ 91 h 128"/>
                <a:gd name="T58" fmla="*/ 71 w 158"/>
                <a:gd name="T59" fmla="*/ 84 h 128"/>
                <a:gd name="T60" fmla="*/ 71 w 158"/>
                <a:gd name="T61" fmla="*/ 75 h 128"/>
                <a:gd name="T62" fmla="*/ 61 w 158"/>
                <a:gd name="T63" fmla="*/ 73 h 128"/>
                <a:gd name="T64" fmla="*/ 88 w 158"/>
                <a:gd name="T65" fmla="*/ 70 h 128"/>
                <a:gd name="T66" fmla="*/ 71 w 158"/>
                <a:gd name="T67" fmla="*/ 75 h 128"/>
                <a:gd name="T68" fmla="*/ 82 w 158"/>
                <a:gd name="T69" fmla="*/ 113 h 128"/>
                <a:gd name="T70" fmla="*/ 82 w 158"/>
                <a:gd name="T71" fmla="*/ 102 h 128"/>
                <a:gd name="T72" fmla="*/ 90 w 158"/>
                <a:gd name="T73" fmla="*/ 104 h 128"/>
                <a:gd name="T74" fmla="*/ 83 w 158"/>
                <a:gd name="T75" fmla="*/ 92 h 128"/>
                <a:gd name="T76" fmla="*/ 89 w 158"/>
                <a:gd name="T77" fmla="*/ 80 h 128"/>
                <a:gd name="T78" fmla="*/ 94 w 158"/>
                <a:gd name="T79" fmla="*/ 9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8" h="128">
                  <a:moveTo>
                    <a:pt x="147" y="81"/>
                  </a:moveTo>
                  <a:cubicBezTo>
                    <a:pt x="144" y="80"/>
                    <a:pt x="142" y="79"/>
                    <a:pt x="139" y="78"/>
                  </a:cubicBezTo>
                  <a:cubicBezTo>
                    <a:pt x="133" y="76"/>
                    <a:pt x="126" y="76"/>
                    <a:pt x="120" y="75"/>
                  </a:cubicBezTo>
                  <a:cubicBezTo>
                    <a:pt x="114" y="73"/>
                    <a:pt x="108" y="69"/>
                    <a:pt x="103" y="66"/>
                  </a:cubicBezTo>
                  <a:cubicBezTo>
                    <a:pt x="101" y="64"/>
                    <a:pt x="98" y="63"/>
                    <a:pt x="96" y="61"/>
                  </a:cubicBezTo>
                  <a:cubicBezTo>
                    <a:pt x="89" y="58"/>
                    <a:pt x="81" y="53"/>
                    <a:pt x="76" y="47"/>
                  </a:cubicBezTo>
                  <a:cubicBezTo>
                    <a:pt x="74" y="41"/>
                    <a:pt x="84" y="38"/>
                    <a:pt x="89" y="37"/>
                  </a:cubicBezTo>
                  <a:cubicBezTo>
                    <a:pt x="98" y="37"/>
                    <a:pt x="98" y="37"/>
                    <a:pt x="98" y="37"/>
                  </a:cubicBezTo>
                  <a:cubicBezTo>
                    <a:pt x="101" y="36"/>
                    <a:pt x="104" y="35"/>
                    <a:pt x="106" y="34"/>
                  </a:cubicBezTo>
                  <a:cubicBezTo>
                    <a:pt x="107" y="33"/>
                    <a:pt x="107" y="31"/>
                    <a:pt x="108" y="30"/>
                  </a:cubicBezTo>
                  <a:cubicBezTo>
                    <a:pt x="106" y="22"/>
                    <a:pt x="100" y="25"/>
                    <a:pt x="94" y="21"/>
                  </a:cubicBezTo>
                  <a:cubicBezTo>
                    <a:pt x="91" y="19"/>
                    <a:pt x="89" y="17"/>
                    <a:pt x="85" y="16"/>
                  </a:cubicBezTo>
                  <a:cubicBezTo>
                    <a:pt x="81" y="8"/>
                    <a:pt x="90" y="5"/>
                    <a:pt x="78" y="1"/>
                  </a:cubicBezTo>
                  <a:cubicBezTo>
                    <a:pt x="76" y="1"/>
                    <a:pt x="76" y="0"/>
                    <a:pt x="74" y="0"/>
                  </a:cubicBezTo>
                  <a:cubicBezTo>
                    <a:pt x="69" y="5"/>
                    <a:pt x="71" y="22"/>
                    <a:pt x="69" y="29"/>
                  </a:cubicBezTo>
                  <a:cubicBezTo>
                    <a:pt x="66" y="35"/>
                    <a:pt x="35" y="40"/>
                    <a:pt x="27" y="39"/>
                  </a:cubicBezTo>
                  <a:cubicBezTo>
                    <a:pt x="27" y="42"/>
                    <a:pt x="29" y="42"/>
                    <a:pt x="30" y="44"/>
                  </a:cubicBezTo>
                  <a:cubicBezTo>
                    <a:pt x="30" y="45"/>
                    <a:pt x="31" y="47"/>
                    <a:pt x="31" y="48"/>
                  </a:cubicBezTo>
                  <a:cubicBezTo>
                    <a:pt x="34" y="52"/>
                    <a:pt x="47" y="52"/>
                    <a:pt x="53" y="50"/>
                  </a:cubicBezTo>
                  <a:cubicBezTo>
                    <a:pt x="55" y="49"/>
                    <a:pt x="57" y="48"/>
                    <a:pt x="61" y="47"/>
                  </a:cubicBezTo>
                  <a:cubicBezTo>
                    <a:pt x="60" y="58"/>
                    <a:pt x="49" y="68"/>
                    <a:pt x="46" y="77"/>
                  </a:cubicBezTo>
                  <a:cubicBezTo>
                    <a:pt x="44" y="77"/>
                    <a:pt x="42" y="77"/>
                    <a:pt x="40" y="78"/>
                  </a:cubicBezTo>
                  <a:cubicBezTo>
                    <a:pt x="40" y="80"/>
                    <a:pt x="41" y="83"/>
                    <a:pt x="40" y="86"/>
                  </a:cubicBezTo>
                  <a:cubicBezTo>
                    <a:pt x="37" y="92"/>
                    <a:pt x="22" y="104"/>
                    <a:pt x="15" y="107"/>
                  </a:cubicBezTo>
                  <a:cubicBezTo>
                    <a:pt x="9" y="109"/>
                    <a:pt x="5" y="107"/>
                    <a:pt x="0" y="109"/>
                  </a:cubicBezTo>
                  <a:cubicBezTo>
                    <a:pt x="0" y="109"/>
                    <a:pt x="0" y="109"/>
                    <a:pt x="0" y="109"/>
                  </a:cubicBezTo>
                  <a:cubicBezTo>
                    <a:pt x="0" y="109"/>
                    <a:pt x="0" y="109"/>
                    <a:pt x="0" y="110"/>
                  </a:cubicBezTo>
                  <a:cubicBezTo>
                    <a:pt x="3" y="110"/>
                    <a:pt x="5" y="110"/>
                    <a:pt x="8" y="110"/>
                  </a:cubicBezTo>
                  <a:cubicBezTo>
                    <a:pt x="10" y="112"/>
                    <a:pt x="11" y="114"/>
                    <a:pt x="14" y="115"/>
                  </a:cubicBezTo>
                  <a:cubicBezTo>
                    <a:pt x="21" y="119"/>
                    <a:pt x="33" y="111"/>
                    <a:pt x="35" y="108"/>
                  </a:cubicBezTo>
                  <a:cubicBezTo>
                    <a:pt x="37" y="106"/>
                    <a:pt x="38" y="103"/>
                    <a:pt x="39" y="101"/>
                  </a:cubicBezTo>
                  <a:cubicBezTo>
                    <a:pt x="41" y="100"/>
                    <a:pt x="43" y="99"/>
                    <a:pt x="44" y="97"/>
                  </a:cubicBezTo>
                  <a:cubicBezTo>
                    <a:pt x="45" y="96"/>
                    <a:pt x="45" y="96"/>
                    <a:pt x="45" y="96"/>
                  </a:cubicBezTo>
                  <a:cubicBezTo>
                    <a:pt x="48" y="106"/>
                    <a:pt x="53" y="116"/>
                    <a:pt x="56" y="124"/>
                  </a:cubicBezTo>
                  <a:cubicBezTo>
                    <a:pt x="61" y="128"/>
                    <a:pt x="72" y="120"/>
                    <a:pt x="81" y="123"/>
                  </a:cubicBezTo>
                  <a:cubicBezTo>
                    <a:pt x="84" y="124"/>
                    <a:pt x="84" y="126"/>
                    <a:pt x="85" y="127"/>
                  </a:cubicBezTo>
                  <a:cubicBezTo>
                    <a:pt x="87" y="127"/>
                    <a:pt x="88" y="128"/>
                    <a:pt x="89" y="128"/>
                  </a:cubicBezTo>
                  <a:cubicBezTo>
                    <a:pt x="91" y="127"/>
                    <a:pt x="94" y="127"/>
                    <a:pt x="95" y="125"/>
                  </a:cubicBezTo>
                  <a:cubicBezTo>
                    <a:pt x="98" y="121"/>
                    <a:pt x="102" y="106"/>
                    <a:pt x="103" y="100"/>
                  </a:cubicBezTo>
                  <a:cubicBezTo>
                    <a:pt x="103" y="98"/>
                    <a:pt x="104" y="95"/>
                    <a:pt x="104" y="92"/>
                  </a:cubicBezTo>
                  <a:cubicBezTo>
                    <a:pt x="105" y="90"/>
                    <a:pt x="107" y="87"/>
                    <a:pt x="108" y="85"/>
                  </a:cubicBezTo>
                  <a:cubicBezTo>
                    <a:pt x="111" y="82"/>
                    <a:pt x="116" y="88"/>
                    <a:pt x="120" y="89"/>
                  </a:cubicBezTo>
                  <a:cubicBezTo>
                    <a:pt x="130" y="92"/>
                    <a:pt x="153" y="90"/>
                    <a:pt x="158" y="84"/>
                  </a:cubicBezTo>
                  <a:cubicBezTo>
                    <a:pt x="156" y="81"/>
                    <a:pt x="151" y="82"/>
                    <a:pt x="147" y="81"/>
                  </a:cubicBezTo>
                  <a:close/>
                  <a:moveTo>
                    <a:pt x="84" y="16"/>
                  </a:moveTo>
                  <a:cubicBezTo>
                    <a:pt x="86" y="17"/>
                    <a:pt x="88" y="21"/>
                    <a:pt x="89" y="24"/>
                  </a:cubicBezTo>
                  <a:cubicBezTo>
                    <a:pt x="89" y="26"/>
                    <a:pt x="83" y="27"/>
                    <a:pt x="81" y="28"/>
                  </a:cubicBezTo>
                  <a:cubicBezTo>
                    <a:pt x="81" y="27"/>
                    <a:pt x="81" y="27"/>
                    <a:pt x="81" y="27"/>
                  </a:cubicBezTo>
                  <a:cubicBezTo>
                    <a:pt x="82" y="24"/>
                    <a:pt x="82" y="19"/>
                    <a:pt x="84" y="16"/>
                  </a:cubicBezTo>
                  <a:close/>
                  <a:moveTo>
                    <a:pt x="67" y="114"/>
                  </a:moveTo>
                  <a:cubicBezTo>
                    <a:pt x="67" y="114"/>
                    <a:pt x="66" y="114"/>
                    <a:pt x="66" y="113"/>
                  </a:cubicBezTo>
                  <a:cubicBezTo>
                    <a:pt x="65" y="111"/>
                    <a:pt x="65" y="108"/>
                    <a:pt x="65" y="104"/>
                  </a:cubicBezTo>
                  <a:cubicBezTo>
                    <a:pt x="66" y="104"/>
                    <a:pt x="68" y="103"/>
                    <a:pt x="69" y="102"/>
                  </a:cubicBezTo>
                  <a:cubicBezTo>
                    <a:pt x="70" y="102"/>
                    <a:pt x="70" y="102"/>
                    <a:pt x="70" y="102"/>
                  </a:cubicBezTo>
                  <a:cubicBezTo>
                    <a:pt x="71" y="107"/>
                    <a:pt x="71" y="112"/>
                    <a:pt x="67" y="114"/>
                  </a:cubicBezTo>
                  <a:close/>
                  <a:moveTo>
                    <a:pt x="71" y="93"/>
                  </a:moveTo>
                  <a:cubicBezTo>
                    <a:pt x="69" y="94"/>
                    <a:pt x="66" y="95"/>
                    <a:pt x="63" y="95"/>
                  </a:cubicBezTo>
                  <a:cubicBezTo>
                    <a:pt x="63" y="94"/>
                    <a:pt x="62" y="92"/>
                    <a:pt x="62" y="91"/>
                  </a:cubicBezTo>
                  <a:cubicBezTo>
                    <a:pt x="63" y="88"/>
                    <a:pt x="66" y="86"/>
                    <a:pt x="70" y="84"/>
                  </a:cubicBezTo>
                  <a:cubicBezTo>
                    <a:pt x="71" y="84"/>
                    <a:pt x="71" y="84"/>
                    <a:pt x="71" y="84"/>
                  </a:cubicBezTo>
                  <a:cubicBezTo>
                    <a:pt x="72" y="87"/>
                    <a:pt x="71" y="90"/>
                    <a:pt x="71" y="93"/>
                  </a:cubicBezTo>
                  <a:close/>
                  <a:moveTo>
                    <a:pt x="71" y="75"/>
                  </a:moveTo>
                  <a:cubicBezTo>
                    <a:pt x="66" y="76"/>
                    <a:pt x="62" y="79"/>
                    <a:pt x="57" y="79"/>
                  </a:cubicBezTo>
                  <a:cubicBezTo>
                    <a:pt x="58" y="77"/>
                    <a:pt x="60" y="75"/>
                    <a:pt x="61" y="73"/>
                  </a:cubicBezTo>
                  <a:cubicBezTo>
                    <a:pt x="64" y="68"/>
                    <a:pt x="65" y="62"/>
                    <a:pt x="68" y="58"/>
                  </a:cubicBezTo>
                  <a:cubicBezTo>
                    <a:pt x="80" y="58"/>
                    <a:pt x="82" y="65"/>
                    <a:pt x="88" y="70"/>
                  </a:cubicBezTo>
                  <a:cubicBezTo>
                    <a:pt x="88" y="71"/>
                    <a:pt x="88" y="71"/>
                    <a:pt x="88" y="71"/>
                  </a:cubicBezTo>
                  <a:cubicBezTo>
                    <a:pt x="82" y="72"/>
                    <a:pt x="77" y="73"/>
                    <a:pt x="71" y="75"/>
                  </a:cubicBezTo>
                  <a:close/>
                  <a:moveTo>
                    <a:pt x="90" y="104"/>
                  </a:moveTo>
                  <a:cubicBezTo>
                    <a:pt x="89" y="109"/>
                    <a:pt x="89" y="114"/>
                    <a:pt x="82" y="113"/>
                  </a:cubicBezTo>
                  <a:cubicBezTo>
                    <a:pt x="82" y="113"/>
                    <a:pt x="81" y="113"/>
                    <a:pt x="81" y="113"/>
                  </a:cubicBezTo>
                  <a:cubicBezTo>
                    <a:pt x="79" y="110"/>
                    <a:pt x="81" y="106"/>
                    <a:pt x="82" y="102"/>
                  </a:cubicBezTo>
                  <a:cubicBezTo>
                    <a:pt x="84" y="101"/>
                    <a:pt x="89" y="102"/>
                    <a:pt x="91" y="100"/>
                  </a:cubicBezTo>
                  <a:cubicBezTo>
                    <a:pt x="92" y="101"/>
                    <a:pt x="91" y="103"/>
                    <a:pt x="90" y="104"/>
                  </a:cubicBezTo>
                  <a:close/>
                  <a:moveTo>
                    <a:pt x="94" y="92"/>
                  </a:moveTo>
                  <a:cubicBezTo>
                    <a:pt x="91" y="92"/>
                    <a:pt x="86" y="91"/>
                    <a:pt x="83" y="92"/>
                  </a:cubicBezTo>
                  <a:cubicBezTo>
                    <a:pt x="80" y="91"/>
                    <a:pt x="80" y="85"/>
                    <a:pt x="80" y="82"/>
                  </a:cubicBezTo>
                  <a:cubicBezTo>
                    <a:pt x="83" y="81"/>
                    <a:pt x="86" y="81"/>
                    <a:pt x="89" y="80"/>
                  </a:cubicBezTo>
                  <a:cubicBezTo>
                    <a:pt x="90" y="81"/>
                    <a:pt x="91" y="81"/>
                    <a:pt x="93" y="81"/>
                  </a:cubicBezTo>
                  <a:cubicBezTo>
                    <a:pt x="94" y="84"/>
                    <a:pt x="94" y="88"/>
                    <a:pt x="94" y="92"/>
                  </a:cubicBezTo>
                  <a:close/>
                </a:path>
              </a:pathLst>
            </a:custGeom>
            <a:grpFill/>
            <a:ln>
              <a:noFill/>
            </a:ln>
          </p:spPr>
          <p:txBody>
            <a:bodyPr vert="horz" wrap="square" lIns="91440" tIns="45720" rIns="91440" bIns="45720" numCol="1" anchor="t" anchorCtr="0" compatLnSpc="1"/>
            <a:lstStyle/>
            <a:p>
              <a:endParaRPr lang="zh-CN" altLang="en-US" sz="1800"/>
            </a:p>
          </p:txBody>
        </p:sp>
        <p:sp>
          <p:nvSpPr>
            <p:cNvPr id="69" name="Freeform 31"/>
            <p:cNvSpPr/>
            <p:nvPr/>
          </p:nvSpPr>
          <p:spPr bwMode="auto">
            <a:xfrm>
              <a:off x="6144550" y="2413318"/>
              <a:ext cx="7938" cy="3175"/>
            </a:xfrm>
            <a:custGeom>
              <a:avLst/>
              <a:gdLst>
                <a:gd name="T0" fmla="*/ 0 w 2"/>
                <a:gd name="T1" fmla="*/ 0 h 1"/>
                <a:gd name="T2" fmla="*/ 2 w 2"/>
                <a:gd name="T3" fmla="*/ 0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0"/>
                    <a:pt x="1" y="0"/>
                    <a:pt x="2" y="0"/>
                  </a:cubicBezTo>
                  <a:cubicBezTo>
                    <a:pt x="2" y="0"/>
                    <a:pt x="2" y="0"/>
                    <a:pt x="2" y="1"/>
                  </a:cubicBezTo>
                  <a:cubicBezTo>
                    <a:pt x="2" y="1"/>
                    <a:pt x="1" y="1"/>
                    <a:pt x="1" y="1"/>
                  </a:cubicBezTo>
                  <a:cubicBezTo>
                    <a:pt x="1" y="0"/>
                    <a:pt x="1" y="0"/>
                    <a:pt x="0" y="0"/>
                  </a:cubicBezTo>
                  <a:close/>
                </a:path>
              </a:pathLst>
            </a:custGeom>
            <a:grpFill/>
            <a:ln>
              <a:noFill/>
            </a:ln>
          </p:spPr>
          <p:txBody>
            <a:bodyPr vert="horz" wrap="square" lIns="91440" tIns="45720" rIns="91440" bIns="45720" numCol="1" anchor="t" anchorCtr="0" compatLnSpc="1"/>
            <a:lstStyle/>
            <a:p>
              <a:endParaRPr lang="zh-CN" altLang="en-US" sz="1800"/>
            </a:p>
          </p:txBody>
        </p:sp>
      </p:grpSp>
      <p:pic>
        <p:nvPicPr>
          <p:cNvPr id="70" name="图片 69"/>
          <p:cNvPicPr>
            <a:picLocks noChangeAspect="1"/>
          </p:cNvPicPr>
          <p:nvPr userDrawn="1"/>
        </p:nvPicPr>
        <p:blipFill>
          <a:blip r:embed="rId2" cstate="hq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99517" y="1333132"/>
            <a:ext cx="4451232" cy="2746637"/>
          </a:xfrm>
          <a:prstGeom prst="rect">
            <a:avLst/>
          </a:prstGeom>
        </p:spPr>
      </p:pic>
    </p:spTree>
    <p:extLst>
      <p:ext uri="{BB962C8B-B14F-4D97-AF65-F5344CB8AC3E}">
        <p14:creationId xmlns:p14="http://schemas.microsoft.com/office/powerpoint/2010/main" val="3340054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atin typeface="Times New Roman"/>
              </a:rPr>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latin typeface="Times New Roman"/>
              </a:rPr>
              <a:t>Click to edit Master text styles</a:t>
            </a:r>
          </a:p>
          <a:p>
            <a:pPr lvl="1"/>
            <a:r>
              <a:rPr lang="en-US">
                <a:latin typeface="Times New Roman"/>
              </a:rPr>
              <a:t>Second level</a:t>
            </a:r>
          </a:p>
          <a:p>
            <a:pPr lvl="2"/>
            <a:r>
              <a:rPr lang="en-US">
                <a:latin typeface="Times New Roman"/>
              </a:rPr>
              <a:t>Third level</a:t>
            </a:r>
          </a:p>
          <a:p>
            <a:pPr lvl="3"/>
            <a:r>
              <a:rPr lang="en-US">
                <a:latin typeface="Times New Roman"/>
              </a:rPr>
              <a:t>Fourth level</a:t>
            </a:r>
          </a:p>
          <a:p>
            <a:pPr lvl="4"/>
            <a:r>
              <a:rPr lang="en-US">
                <a:latin typeface="Times New Roman"/>
              </a:rPr>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Times New Roman"/>
          <a:ea typeface="Microsoft YaHei"/>
          <a:cs typeface="Times New Roman"/>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New Roman"/>
          <a:ea typeface="Microsoft YaHei"/>
          <a:cs typeface="Times New Roman"/>
        </a:defRPr>
      </a:lvl1pPr>
      <a:lvl2pPr marL="742950" indent="-285750" algn="l" defTabSz="457200" rtl="0" eaLnBrk="1" latinLnBrk="0" hangingPunct="1">
        <a:spcBef>
          <a:spcPct val="20000"/>
        </a:spcBef>
        <a:buFont typeface="Arial"/>
        <a:buChar char="–"/>
        <a:defRPr sz="2800" kern="1200">
          <a:solidFill>
            <a:schemeClr val="tx1"/>
          </a:solidFill>
          <a:latin typeface="Times New Roman"/>
          <a:ea typeface="Microsoft YaHei"/>
          <a:cs typeface="Times New Roman"/>
        </a:defRPr>
      </a:lvl2pPr>
      <a:lvl3pPr marL="1143000" indent="-228600" algn="l" defTabSz="457200" rtl="0" eaLnBrk="1" latinLnBrk="0" hangingPunct="1">
        <a:spcBef>
          <a:spcPct val="20000"/>
        </a:spcBef>
        <a:buFont typeface="Arial"/>
        <a:buChar char="•"/>
        <a:defRPr sz="2400" kern="1200">
          <a:solidFill>
            <a:schemeClr val="tx1"/>
          </a:solidFill>
          <a:latin typeface="Times New Roman"/>
          <a:ea typeface="Microsoft YaHei"/>
          <a:cs typeface="Times New Roman"/>
        </a:defRPr>
      </a:lvl3pPr>
      <a:lvl4pPr marL="1600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4pPr>
      <a:lvl5pPr marL="20574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6pPr>
      <a:lvl7pPr marL="29718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7pPr>
      <a:lvl8pPr marL="34290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8pPr>
      <a:lvl9pPr marL="3886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9pPr>
    </p:bodyStyle>
    <p:other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46.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3.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81100" y="1969928"/>
            <a:ext cx="9829800" cy="365760"/>
          </a:xfrm>
          <a:prstGeom prst="rect">
            <a:avLst/>
          </a:prstGeom>
          <a:noFill/>
        </p:spPr>
        <p:txBody>
          <a:bodyPr wrap="square" lIns="18288" tIns="13716" rIns="18288" bIns="0">
            <a:spAutoFit/>
          </a:bodyPr>
          <a:lstStyle/>
          <a:p>
            <a:pPr algn="ctr">
              <a:lnSpc>
                <a:spcPct val="112000"/>
              </a:lnSpc>
              <a:spcAft>
                <a:spcPts val="600"/>
              </a:spcAft>
              <a:defRPr sz="2200" b="0">
                <a:solidFill>
                  <a:srgbClr val="166DB3"/>
                </a:solidFill>
                <a:latin typeface="Microsoft YaHei"/>
              </a:defRPr>
            </a:pPr>
            <a:r>
              <a:rPr sz="2200" dirty="0">
                <a:latin typeface="Microsoft YaHei"/>
                <a:cs typeface="Microsoft YaHei"/>
              </a:rPr>
              <a:t>《</a:t>
            </a:r>
            <a:r>
              <a:rPr sz="2200" dirty="0" err="1">
                <a:latin typeface="Microsoft YaHei"/>
                <a:cs typeface="Microsoft YaHei"/>
              </a:rPr>
              <a:t>建筑环境与能源应用新技术</a:t>
            </a:r>
            <a:r>
              <a:rPr sz="2200" dirty="0">
                <a:latin typeface="Microsoft YaHei"/>
                <a:cs typeface="Microsoft YaHei"/>
              </a:rPr>
              <a:t>》</a:t>
            </a:r>
          </a:p>
        </p:txBody>
      </p:sp>
      <p:sp>
        <p:nvSpPr>
          <p:cNvPr id="3" name="TextBox 2"/>
          <p:cNvSpPr txBox="1"/>
          <p:nvPr/>
        </p:nvSpPr>
        <p:spPr>
          <a:xfrm>
            <a:off x="0" y="2635208"/>
            <a:ext cx="12192000" cy="716928"/>
          </a:xfrm>
          <a:prstGeom prst="rect">
            <a:avLst/>
          </a:prstGeom>
          <a:noFill/>
        </p:spPr>
        <p:txBody>
          <a:bodyPr wrap="square" lIns="18288" tIns="13716" rIns="18288" bIns="0">
            <a:spAutoFit/>
          </a:bodyPr>
          <a:lstStyle/>
          <a:p>
            <a:pPr algn="ctr">
              <a:lnSpc>
                <a:spcPct val="112000"/>
              </a:lnSpc>
              <a:spcAft>
                <a:spcPts val="600"/>
              </a:spcAft>
              <a:defRPr sz="3000" b="1">
                <a:solidFill>
                  <a:srgbClr val="073C78"/>
                </a:solidFill>
                <a:latin typeface="Microsoft YaHei"/>
              </a:defRPr>
            </a:pPr>
            <a:r>
              <a:rPr sz="4400" dirty="0">
                <a:latin typeface="Microsoft YaHei"/>
                <a:cs typeface="Microsoft YaHei"/>
              </a:rPr>
              <a:t>间接蒸发冷却技术及其在数据中心中的应用</a:t>
            </a:r>
          </a:p>
        </p:txBody>
      </p:sp>
      <p:sp>
        <p:nvSpPr>
          <p:cNvPr id="9" name="矩形 8">
            <a:extLst>
              <a:ext uri="{FF2B5EF4-FFF2-40B4-BE49-F238E27FC236}">
                <a16:creationId xmlns:a16="http://schemas.microsoft.com/office/drawing/2014/main" id="{BF9BE9B8-F288-FCB4-B74F-D85AC657F8AC}"/>
              </a:ext>
            </a:extLst>
          </p:cNvPr>
          <p:cNvSpPr/>
          <p:nvPr/>
        </p:nvSpPr>
        <p:spPr>
          <a:xfrm>
            <a:off x="3753853" y="3512215"/>
            <a:ext cx="4235116" cy="1474722"/>
          </a:xfrm>
          <a:prstGeom prst="rect">
            <a:avLst/>
          </a:prstGeom>
          <a:solidFill>
            <a:srgbClr val="DB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FF601CF8-2CDE-29DB-978D-6DA8E3E2967B}"/>
              </a:ext>
            </a:extLst>
          </p:cNvPr>
          <p:cNvSpPr txBox="1"/>
          <p:nvPr/>
        </p:nvSpPr>
        <p:spPr>
          <a:xfrm>
            <a:off x="0" y="4057263"/>
            <a:ext cx="12192000" cy="1399870"/>
          </a:xfrm>
          <a:prstGeom prst="rect">
            <a:avLst/>
          </a:prstGeom>
          <a:noFill/>
        </p:spPr>
        <p:txBody>
          <a:bodyPr wrap="square" rtlCol="0">
            <a:spAutoFit/>
          </a:bodyPr>
          <a:lstStyle/>
          <a:p>
            <a:pPr algn="ctr">
              <a:lnSpc>
                <a:spcPts val="3500"/>
              </a:lnSpc>
            </a:pPr>
            <a:r>
              <a:rPr lang="zh-CN" altLang="en-US" sz="2400" b="1" dirty="0">
                <a:latin typeface="+mn-ea"/>
                <a:ea typeface="+mn-ea"/>
              </a:rPr>
              <a:t>主讲人：马晓晨</a:t>
            </a:r>
            <a:endParaRPr lang="en-US" altLang="zh-CN" sz="2400" b="1" dirty="0">
              <a:latin typeface="+mn-ea"/>
              <a:ea typeface="+mn-ea"/>
            </a:endParaRPr>
          </a:p>
          <a:p>
            <a:pPr algn="ctr">
              <a:lnSpc>
                <a:spcPts val="3500"/>
              </a:lnSpc>
            </a:pPr>
            <a:r>
              <a:rPr lang="zh-CN" altLang="en-US" sz="2400" b="1" dirty="0">
                <a:latin typeface="+mn-ea"/>
                <a:ea typeface="+mn-ea"/>
              </a:rPr>
              <a:t>学院：储运与建筑工程学院</a:t>
            </a:r>
            <a:endParaRPr lang="en-US" altLang="zh-CN" sz="2400" b="1" dirty="0">
              <a:latin typeface="+mn-ea"/>
              <a:ea typeface="+mn-ea"/>
            </a:endParaRPr>
          </a:p>
          <a:p>
            <a:pPr algn="ctr">
              <a:lnSpc>
                <a:spcPts val="3500"/>
              </a:lnSpc>
            </a:pPr>
            <a:r>
              <a:rPr lang="en-US" altLang="zh-CN" sz="2400" b="1" dirty="0">
                <a:latin typeface="+mn-ea"/>
                <a:ea typeface="+mn-ea"/>
              </a:rPr>
              <a:t>2026.10.26</a:t>
            </a:r>
            <a:endParaRPr lang="zh-CN" altLang="en-US" sz="2400" b="1" dirty="0">
              <a:latin typeface="+mn-ea"/>
              <a:ea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蒸发冷却基础</a:t>
            </a:r>
          </a:p>
          <a:p>
            <a:endParaRPr lang="zh-CN" altLang="en-US" dirty="0"/>
          </a:p>
        </p:txBody>
      </p:sp>
      <p:sp>
        <p:nvSpPr>
          <p:cNvPr id="3" name="文本占位符 2"/>
          <p:cNvSpPr>
            <a:spLocks noGrp="1"/>
          </p:cNvSpPr>
          <p:nvPr>
            <p:ph type="body" sz="quarter" idx="14"/>
          </p:nvPr>
        </p:nvSpPr>
        <p:spPr/>
        <p:txBody>
          <a:bodyPr/>
          <a:lstStyle/>
          <a:p>
            <a:r>
              <a:rPr lang="zh-CN" altLang="en-US" dirty="0"/>
              <a:t>设备形式与运行模式</a:t>
            </a:r>
          </a:p>
          <a:p>
            <a:endParaRPr lang="zh-CN" altLang="en-US" dirty="0"/>
          </a:p>
        </p:txBody>
      </p:sp>
      <p:sp>
        <p:nvSpPr>
          <p:cNvPr id="4" name="文本占位符 3"/>
          <p:cNvSpPr>
            <a:spLocks noGrp="1"/>
          </p:cNvSpPr>
          <p:nvPr>
            <p:ph type="body" sz="quarter" idx="15"/>
          </p:nvPr>
        </p:nvSpPr>
        <p:spPr/>
        <p:txBody>
          <a:bodyPr/>
          <a:lstStyle/>
          <a:p>
            <a:r>
              <a:rPr lang="zh-CN" altLang="en-US" dirty="0"/>
              <a:t>技术类型与工作原理</a:t>
            </a:r>
          </a:p>
          <a:p>
            <a:endParaRPr lang="zh-CN" altLang="en-US" dirty="0"/>
          </a:p>
        </p:txBody>
      </p:sp>
      <p:sp>
        <p:nvSpPr>
          <p:cNvPr id="5" name="文本占位符 4"/>
          <p:cNvSpPr>
            <a:spLocks noGrp="1"/>
          </p:cNvSpPr>
          <p:nvPr>
            <p:ph type="body" sz="quarter" idx="16"/>
          </p:nvPr>
        </p:nvSpPr>
        <p:spPr/>
        <p:txBody>
          <a:bodyPr/>
          <a:lstStyle/>
          <a:p>
            <a:r>
              <a:rPr lang="zh-CN" altLang="en-US" dirty="0"/>
              <a:t>干燥地区工程案例</a:t>
            </a:r>
          </a:p>
          <a:p>
            <a:endParaRPr lang="zh-CN" altLang="en-US" dirty="0"/>
          </a:p>
        </p:txBody>
      </p:sp>
      <p:sp>
        <p:nvSpPr>
          <p:cNvPr id="12" name="文本占位符 11"/>
          <p:cNvSpPr>
            <a:spLocks noGrp="1"/>
          </p:cNvSpPr>
          <p:nvPr>
            <p:ph type="body" sz="quarter" idx="17"/>
          </p:nvPr>
        </p:nvSpPr>
        <p:spPr/>
        <p:txBody>
          <a:bodyPr/>
          <a:lstStyle/>
          <a:p>
            <a:r>
              <a:rPr lang="zh-CN" altLang="en-US" dirty="0"/>
              <a:t>算力需求与风液融合</a:t>
            </a:r>
          </a:p>
          <a:p>
            <a:endParaRPr lang="zh-CN" altLang="en-US" dirty="0"/>
          </a:p>
        </p:txBody>
      </p:sp>
      <p:sp>
        <p:nvSpPr>
          <p:cNvPr id="13" name="文本占位符 12"/>
          <p:cNvSpPr>
            <a:spLocks noGrp="1"/>
          </p:cNvSpPr>
          <p:nvPr>
            <p:ph type="body" sz="quarter" idx="18"/>
          </p:nvPr>
        </p:nvSpPr>
        <p:spPr/>
        <p:txBody>
          <a:bodyPr/>
          <a:lstStyle/>
          <a:p>
            <a:r>
              <a:rPr lang="zh-CN" altLang="en-US" dirty="0"/>
              <a:t>控制与节能评价</a:t>
            </a:r>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2A8E3-33EB-EE95-483A-51C991145FE3}"/>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3CF0B93E-6C5A-DE27-0D47-12BDFD0744D0}"/>
              </a:ext>
            </a:extLst>
          </p:cNvPr>
          <p:cNvSpPr>
            <a:spLocks noGrp="1"/>
          </p:cNvSpPr>
          <p:nvPr>
            <p:ph type="body" sz="quarter" idx="13"/>
          </p:nvPr>
        </p:nvSpPr>
        <p:spPr/>
        <p:txBody>
          <a:bodyPr/>
          <a:lstStyle/>
          <a:p>
            <a:r>
              <a:rPr lang="zh-CN" altLang="en-US" dirty="0">
                <a:solidFill>
                  <a:srgbClr val="C00000"/>
                </a:solidFill>
              </a:rPr>
              <a:t>蒸发冷却基础</a:t>
            </a:r>
          </a:p>
          <a:p>
            <a:endParaRPr lang="zh-CN" altLang="en-US" dirty="0"/>
          </a:p>
        </p:txBody>
      </p:sp>
      <p:sp>
        <p:nvSpPr>
          <p:cNvPr id="3" name="文本占位符 2">
            <a:extLst>
              <a:ext uri="{FF2B5EF4-FFF2-40B4-BE49-F238E27FC236}">
                <a16:creationId xmlns:a16="http://schemas.microsoft.com/office/drawing/2014/main" id="{6A433DB5-2CE7-4D47-7804-43B6B0BE091D}"/>
              </a:ext>
            </a:extLst>
          </p:cNvPr>
          <p:cNvSpPr>
            <a:spLocks noGrp="1"/>
          </p:cNvSpPr>
          <p:nvPr>
            <p:ph type="body" sz="quarter" idx="14"/>
          </p:nvPr>
        </p:nvSpPr>
        <p:spPr/>
        <p:txBody>
          <a:bodyPr/>
          <a:lstStyle/>
          <a:p>
            <a:r>
              <a:rPr lang="zh-CN" altLang="en-US" dirty="0"/>
              <a:t>设备形式与运行模式</a:t>
            </a:r>
          </a:p>
          <a:p>
            <a:endParaRPr lang="zh-CN" altLang="en-US" dirty="0"/>
          </a:p>
        </p:txBody>
      </p:sp>
      <p:sp>
        <p:nvSpPr>
          <p:cNvPr id="4" name="文本占位符 3">
            <a:extLst>
              <a:ext uri="{FF2B5EF4-FFF2-40B4-BE49-F238E27FC236}">
                <a16:creationId xmlns:a16="http://schemas.microsoft.com/office/drawing/2014/main" id="{39CFA836-BEFB-DF41-0A8C-04ADFF470799}"/>
              </a:ext>
            </a:extLst>
          </p:cNvPr>
          <p:cNvSpPr>
            <a:spLocks noGrp="1"/>
          </p:cNvSpPr>
          <p:nvPr>
            <p:ph type="body" sz="quarter" idx="15"/>
          </p:nvPr>
        </p:nvSpPr>
        <p:spPr/>
        <p:txBody>
          <a:bodyPr/>
          <a:lstStyle/>
          <a:p>
            <a:r>
              <a:rPr lang="zh-CN" altLang="en-US" dirty="0"/>
              <a:t>技术类型与工作原理</a:t>
            </a:r>
          </a:p>
          <a:p>
            <a:endParaRPr lang="zh-CN" altLang="en-US" dirty="0"/>
          </a:p>
        </p:txBody>
      </p:sp>
      <p:sp>
        <p:nvSpPr>
          <p:cNvPr id="5" name="文本占位符 4">
            <a:extLst>
              <a:ext uri="{FF2B5EF4-FFF2-40B4-BE49-F238E27FC236}">
                <a16:creationId xmlns:a16="http://schemas.microsoft.com/office/drawing/2014/main" id="{95AD1A7E-0F97-DB12-B079-FF1994AF478E}"/>
              </a:ext>
            </a:extLst>
          </p:cNvPr>
          <p:cNvSpPr>
            <a:spLocks noGrp="1"/>
          </p:cNvSpPr>
          <p:nvPr>
            <p:ph type="body" sz="quarter" idx="16"/>
          </p:nvPr>
        </p:nvSpPr>
        <p:spPr/>
        <p:txBody>
          <a:bodyPr/>
          <a:lstStyle/>
          <a:p>
            <a:r>
              <a:rPr lang="zh-CN" altLang="en-US" dirty="0"/>
              <a:t>干燥地区工程案例</a:t>
            </a:r>
          </a:p>
          <a:p>
            <a:endParaRPr lang="zh-CN" altLang="en-US" dirty="0"/>
          </a:p>
        </p:txBody>
      </p:sp>
      <p:sp>
        <p:nvSpPr>
          <p:cNvPr id="12" name="文本占位符 11">
            <a:extLst>
              <a:ext uri="{FF2B5EF4-FFF2-40B4-BE49-F238E27FC236}">
                <a16:creationId xmlns:a16="http://schemas.microsoft.com/office/drawing/2014/main" id="{89FDD6B5-E3E6-0A2F-1370-3F23A81D6439}"/>
              </a:ext>
            </a:extLst>
          </p:cNvPr>
          <p:cNvSpPr>
            <a:spLocks noGrp="1"/>
          </p:cNvSpPr>
          <p:nvPr>
            <p:ph type="body" sz="quarter" idx="17"/>
          </p:nvPr>
        </p:nvSpPr>
        <p:spPr/>
        <p:txBody>
          <a:bodyPr/>
          <a:lstStyle/>
          <a:p>
            <a:r>
              <a:rPr lang="zh-CN" altLang="en-US" dirty="0"/>
              <a:t>算力需求与风液融合</a:t>
            </a:r>
          </a:p>
          <a:p>
            <a:endParaRPr lang="zh-CN" altLang="en-US" dirty="0"/>
          </a:p>
        </p:txBody>
      </p:sp>
      <p:sp>
        <p:nvSpPr>
          <p:cNvPr id="13" name="文本占位符 12">
            <a:extLst>
              <a:ext uri="{FF2B5EF4-FFF2-40B4-BE49-F238E27FC236}">
                <a16:creationId xmlns:a16="http://schemas.microsoft.com/office/drawing/2014/main" id="{F838332D-8BAD-FDFD-E835-6E88E5E141CB}"/>
              </a:ext>
            </a:extLst>
          </p:cNvPr>
          <p:cNvSpPr>
            <a:spLocks noGrp="1"/>
          </p:cNvSpPr>
          <p:nvPr>
            <p:ph type="body" sz="quarter" idx="18"/>
          </p:nvPr>
        </p:nvSpPr>
        <p:spPr/>
        <p:txBody>
          <a:bodyPr/>
          <a:lstStyle/>
          <a:p>
            <a:r>
              <a:rPr lang="zh-CN" altLang="en-US" dirty="0"/>
              <a:t>控制与节能评价</a:t>
            </a:r>
          </a:p>
          <a:p>
            <a:endParaRPr lang="zh-CN" altLang="en-US" dirty="0"/>
          </a:p>
        </p:txBody>
      </p:sp>
    </p:spTree>
    <p:extLst>
      <p:ext uri="{BB962C8B-B14F-4D97-AF65-F5344CB8AC3E}">
        <p14:creationId xmlns:p14="http://schemas.microsoft.com/office/powerpoint/2010/main" val="4081581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70904-A478-BD2E-BFBE-0D5FA1803A4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566B0808-42F7-F7F3-B4C3-E434BAD531D9}"/>
              </a:ext>
            </a:extLst>
          </p:cNvPr>
          <p:cNvSpPr>
            <a:spLocks noGrp="1"/>
          </p:cNvSpPr>
          <p:nvPr>
            <p:ph type="body" sz="quarter" idx="13"/>
          </p:nvPr>
        </p:nvSpPr>
        <p:spPr/>
        <p:txBody>
          <a:bodyPr/>
          <a:lstStyle/>
          <a:p>
            <a:r>
              <a:rPr lang="zh-CN" altLang="en-US" dirty="0"/>
              <a:t>蒸发冷却基础</a:t>
            </a:r>
          </a:p>
          <a:p>
            <a:endParaRPr lang="zh-CN" altLang="en-US" dirty="0"/>
          </a:p>
        </p:txBody>
      </p:sp>
      <p:sp>
        <p:nvSpPr>
          <p:cNvPr id="3" name="文本占位符 2">
            <a:extLst>
              <a:ext uri="{FF2B5EF4-FFF2-40B4-BE49-F238E27FC236}">
                <a16:creationId xmlns:a16="http://schemas.microsoft.com/office/drawing/2014/main" id="{2FA465E3-83D2-B6EE-0072-371A9481EF02}"/>
              </a:ext>
            </a:extLst>
          </p:cNvPr>
          <p:cNvSpPr>
            <a:spLocks noGrp="1"/>
          </p:cNvSpPr>
          <p:nvPr>
            <p:ph type="body" sz="quarter" idx="14"/>
          </p:nvPr>
        </p:nvSpPr>
        <p:spPr/>
        <p:txBody>
          <a:bodyPr/>
          <a:lstStyle/>
          <a:p>
            <a:r>
              <a:rPr lang="zh-CN" altLang="en-US" dirty="0"/>
              <a:t>设备形式与运行模式</a:t>
            </a:r>
          </a:p>
          <a:p>
            <a:endParaRPr lang="zh-CN" altLang="en-US" dirty="0"/>
          </a:p>
        </p:txBody>
      </p:sp>
      <p:sp>
        <p:nvSpPr>
          <p:cNvPr id="4" name="文本占位符 3">
            <a:extLst>
              <a:ext uri="{FF2B5EF4-FFF2-40B4-BE49-F238E27FC236}">
                <a16:creationId xmlns:a16="http://schemas.microsoft.com/office/drawing/2014/main" id="{A535B65D-8068-891A-5D68-E91F9E404613}"/>
              </a:ext>
            </a:extLst>
          </p:cNvPr>
          <p:cNvSpPr>
            <a:spLocks noGrp="1"/>
          </p:cNvSpPr>
          <p:nvPr>
            <p:ph type="body" sz="quarter" idx="15"/>
          </p:nvPr>
        </p:nvSpPr>
        <p:spPr/>
        <p:txBody>
          <a:bodyPr/>
          <a:lstStyle/>
          <a:p>
            <a:r>
              <a:rPr lang="zh-CN" altLang="en-US" dirty="0">
                <a:solidFill>
                  <a:srgbClr val="C00000"/>
                </a:solidFill>
              </a:rPr>
              <a:t>技术类型与工作原理</a:t>
            </a:r>
          </a:p>
          <a:p>
            <a:endParaRPr lang="zh-CN" altLang="en-US" dirty="0"/>
          </a:p>
        </p:txBody>
      </p:sp>
      <p:sp>
        <p:nvSpPr>
          <p:cNvPr id="5" name="文本占位符 4">
            <a:extLst>
              <a:ext uri="{FF2B5EF4-FFF2-40B4-BE49-F238E27FC236}">
                <a16:creationId xmlns:a16="http://schemas.microsoft.com/office/drawing/2014/main" id="{67DE8F99-B807-0C05-3B49-6A6B9C7A29FE}"/>
              </a:ext>
            </a:extLst>
          </p:cNvPr>
          <p:cNvSpPr>
            <a:spLocks noGrp="1"/>
          </p:cNvSpPr>
          <p:nvPr>
            <p:ph type="body" sz="quarter" idx="16"/>
          </p:nvPr>
        </p:nvSpPr>
        <p:spPr/>
        <p:txBody>
          <a:bodyPr/>
          <a:lstStyle/>
          <a:p>
            <a:r>
              <a:rPr lang="zh-CN" altLang="en-US" dirty="0"/>
              <a:t>干燥地区工程案例</a:t>
            </a:r>
          </a:p>
          <a:p>
            <a:endParaRPr lang="zh-CN" altLang="en-US" dirty="0"/>
          </a:p>
        </p:txBody>
      </p:sp>
      <p:sp>
        <p:nvSpPr>
          <p:cNvPr id="12" name="文本占位符 11">
            <a:extLst>
              <a:ext uri="{FF2B5EF4-FFF2-40B4-BE49-F238E27FC236}">
                <a16:creationId xmlns:a16="http://schemas.microsoft.com/office/drawing/2014/main" id="{4FB00BA9-8BD4-5EC6-3C99-9EE3754E1DDC}"/>
              </a:ext>
            </a:extLst>
          </p:cNvPr>
          <p:cNvSpPr>
            <a:spLocks noGrp="1"/>
          </p:cNvSpPr>
          <p:nvPr>
            <p:ph type="body" sz="quarter" idx="17"/>
          </p:nvPr>
        </p:nvSpPr>
        <p:spPr/>
        <p:txBody>
          <a:bodyPr/>
          <a:lstStyle/>
          <a:p>
            <a:r>
              <a:rPr lang="zh-CN" altLang="en-US" dirty="0"/>
              <a:t>算力需求与风液融合</a:t>
            </a:r>
          </a:p>
          <a:p>
            <a:endParaRPr lang="zh-CN" altLang="en-US" dirty="0"/>
          </a:p>
        </p:txBody>
      </p:sp>
      <p:sp>
        <p:nvSpPr>
          <p:cNvPr id="13" name="文本占位符 12">
            <a:extLst>
              <a:ext uri="{FF2B5EF4-FFF2-40B4-BE49-F238E27FC236}">
                <a16:creationId xmlns:a16="http://schemas.microsoft.com/office/drawing/2014/main" id="{E16198AC-00A1-4DFA-BFEF-404104F7EB44}"/>
              </a:ext>
            </a:extLst>
          </p:cNvPr>
          <p:cNvSpPr>
            <a:spLocks noGrp="1"/>
          </p:cNvSpPr>
          <p:nvPr>
            <p:ph type="body" sz="quarter" idx="18"/>
          </p:nvPr>
        </p:nvSpPr>
        <p:spPr/>
        <p:txBody>
          <a:bodyPr/>
          <a:lstStyle/>
          <a:p>
            <a:r>
              <a:rPr lang="zh-CN" altLang="en-US" dirty="0"/>
              <a:t>控制与节能评价</a:t>
            </a:r>
          </a:p>
          <a:p>
            <a:endParaRPr lang="zh-CN" altLang="en-US" dirty="0"/>
          </a:p>
        </p:txBody>
      </p:sp>
    </p:spTree>
    <p:extLst>
      <p:ext uri="{BB962C8B-B14F-4D97-AF65-F5344CB8AC3E}">
        <p14:creationId xmlns:p14="http://schemas.microsoft.com/office/powerpoint/2010/main" val="2776584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3B85F-685C-008A-D5C5-F1966B7EBC15}"/>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79D07B8B-DDE0-2C33-61C4-7C476400DA3D}"/>
              </a:ext>
            </a:extLst>
          </p:cNvPr>
          <p:cNvSpPr>
            <a:spLocks noGrp="1"/>
          </p:cNvSpPr>
          <p:nvPr>
            <p:ph type="body" sz="quarter" idx="13"/>
          </p:nvPr>
        </p:nvSpPr>
        <p:spPr/>
        <p:txBody>
          <a:bodyPr/>
          <a:lstStyle/>
          <a:p>
            <a:r>
              <a:rPr lang="zh-CN" altLang="en-US" dirty="0"/>
              <a:t>蒸发冷却基础</a:t>
            </a:r>
          </a:p>
          <a:p>
            <a:endParaRPr lang="zh-CN" altLang="en-US" dirty="0"/>
          </a:p>
        </p:txBody>
      </p:sp>
      <p:sp>
        <p:nvSpPr>
          <p:cNvPr id="3" name="文本占位符 2">
            <a:extLst>
              <a:ext uri="{FF2B5EF4-FFF2-40B4-BE49-F238E27FC236}">
                <a16:creationId xmlns:a16="http://schemas.microsoft.com/office/drawing/2014/main" id="{BA863568-7A10-1020-5C29-F6CA699D87C7}"/>
              </a:ext>
            </a:extLst>
          </p:cNvPr>
          <p:cNvSpPr>
            <a:spLocks noGrp="1"/>
          </p:cNvSpPr>
          <p:nvPr>
            <p:ph type="body" sz="quarter" idx="14"/>
          </p:nvPr>
        </p:nvSpPr>
        <p:spPr/>
        <p:txBody>
          <a:bodyPr/>
          <a:lstStyle/>
          <a:p>
            <a:r>
              <a:rPr lang="zh-CN" altLang="en-US" dirty="0">
                <a:solidFill>
                  <a:srgbClr val="C00000"/>
                </a:solidFill>
              </a:rPr>
              <a:t>设备形式与运行模式</a:t>
            </a:r>
          </a:p>
          <a:p>
            <a:endParaRPr lang="zh-CN" altLang="en-US" dirty="0"/>
          </a:p>
        </p:txBody>
      </p:sp>
      <p:sp>
        <p:nvSpPr>
          <p:cNvPr id="4" name="文本占位符 3">
            <a:extLst>
              <a:ext uri="{FF2B5EF4-FFF2-40B4-BE49-F238E27FC236}">
                <a16:creationId xmlns:a16="http://schemas.microsoft.com/office/drawing/2014/main" id="{5BDDF21B-2018-32F4-9531-DF75E3C0C52C}"/>
              </a:ext>
            </a:extLst>
          </p:cNvPr>
          <p:cNvSpPr>
            <a:spLocks noGrp="1"/>
          </p:cNvSpPr>
          <p:nvPr>
            <p:ph type="body" sz="quarter" idx="15"/>
          </p:nvPr>
        </p:nvSpPr>
        <p:spPr/>
        <p:txBody>
          <a:bodyPr/>
          <a:lstStyle/>
          <a:p>
            <a:r>
              <a:rPr lang="zh-CN" altLang="en-US" dirty="0"/>
              <a:t>技术类型与工作原理</a:t>
            </a:r>
          </a:p>
          <a:p>
            <a:endParaRPr lang="zh-CN" altLang="en-US" dirty="0"/>
          </a:p>
        </p:txBody>
      </p:sp>
      <p:sp>
        <p:nvSpPr>
          <p:cNvPr id="5" name="文本占位符 4">
            <a:extLst>
              <a:ext uri="{FF2B5EF4-FFF2-40B4-BE49-F238E27FC236}">
                <a16:creationId xmlns:a16="http://schemas.microsoft.com/office/drawing/2014/main" id="{870E5758-8F8E-2D07-E681-859111909E68}"/>
              </a:ext>
            </a:extLst>
          </p:cNvPr>
          <p:cNvSpPr>
            <a:spLocks noGrp="1"/>
          </p:cNvSpPr>
          <p:nvPr>
            <p:ph type="body" sz="quarter" idx="16"/>
          </p:nvPr>
        </p:nvSpPr>
        <p:spPr/>
        <p:txBody>
          <a:bodyPr/>
          <a:lstStyle/>
          <a:p>
            <a:r>
              <a:rPr lang="zh-CN" altLang="en-US" dirty="0"/>
              <a:t>干燥地区工程案例</a:t>
            </a:r>
          </a:p>
          <a:p>
            <a:endParaRPr lang="zh-CN" altLang="en-US" dirty="0"/>
          </a:p>
        </p:txBody>
      </p:sp>
      <p:sp>
        <p:nvSpPr>
          <p:cNvPr id="12" name="文本占位符 11">
            <a:extLst>
              <a:ext uri="{FF2B5EF4-FFF2-40B4-BE49-F238E27FC236}">
                <a16:creationId xmlns:a16="http://schemas.microsoft.com/office/drawing/2014/main" id="{6922C3F4-3B18-EFF5-08B4-8B9C51AED90E}"/>
              </a:ext>
            </a:extLst>
          </p:cNvPr>
          <p:cNvSpPr>
            <a:spLocks noGrp="1"/>
          </p:cNvSpPr>
          <p:nvPr>
            <p:ph type="body" sz="quarter" idx="17"/>
          </p:nvPr>
        </p:nvSpPr>
        <p:spPr/>
        <p:txBody>
          <a:bodyPr/>
          <a:lstStyle/>
          <a:p>
            <a:r>
              <a:rPr lang="zh-CN" altLang="en-US" dirty="0"/>
              <a:t>算力需求与风液融合</a:t>
            </a:r>
          </a:p>
          <a:p>
            <a:endParaRPr lang="zh-CN" altLang="en-US" dirty="0"/>
          </a:p>
        </p:txBody>
      </p:sp>
      <p:sp>
        <p:nvSpPr>
          <p:cNvPr id="13" name="文本占位符 12">
            <a:extLst>
              <a:ext uri="{FF2B5EF4-FFF2-40B4-BE49-F238E27FC236}">
                <a16:creationId xmlns:a16="http://schemas.microsoft.com/office/drawing/2014/main" id="{BCEFC431-4F01-6511-DC54-3978F57F2FBE}"/>
              </a:ext>
            </a:extLst>
          </p:cNvPr>
          <p:cNvSpPr>
            <a:spLocks noGrp="1"/>
          </p:cNvSpPr>
          <p:nvPr>
            <p:ph type="body" sz="quarter" idx="18"/>
          </p:nvPr>
        </p:nvSpPr>
        <p:spPr/>
        <p:txBody>
          <a:bodyPr/>
          <a:lstStyle/>
          <a:p>
            <a:r>
              <a:rPr lang="zh-CN" altLang="en-US" dirty="0"/>
              <a:t>控制与节能评价</a:t>
            </a:r>
          </a:p>
          <a:p>
            <a:endParaRPr lang="zh-CN" altLang="en-US" dirty="0"/>
          </a:p>
        </p:txBody>
      </p:sp>
    </p:spTree>
    <p:extLst>
      <p:ext uri="{BB962C8B-B14F-4D97-AF65-F5344CB8AC3E}">
        <p14:creationId xmlns:p14="http://schemas.microsoft.com/office/powerpoint/2010/main" val="4223286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2B925-F6E1-E8CC-7B84-28FE3435BC4A}"/>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5219FDD2-DE2E-92E7-DF28-B162416FBA14}"/>
              </a:ext>
            </a:extLst>
          </p:cNvPr>
          <p:cNvSpPr>
            <a:spLocks noGrp="1"/>
          </p:cNvSpPr>
          <p:nvPr>
            <p:ph type="body" sz="quarter" idx="13"/>
          </p:nvPr>
        </p:nvSpPr>
        <p:spPr/>
        <p:txBody>
          <a:bodyPr/>
          <a:lstStyle/>
          <a:p>
            <a:r>
              <a:rPr lang="zh-CN" altLang="en-US" dirty="0"/>
              <a:t>蒸发冷却基础</a:t>
            </a:r>
          </a:p>
          <a:p>
            <a:endParaRPr lang="zh-CN" altLang="en-US" dirty="0"/>
          </a:p>
        </p:txBody>
      </p:sp>
      <p:sp>
        <p:nvSpPr>
          <p:cNvPr id="3" name="文本占位符 2">
            <a:extLst>
              <a:ext uri="{FF2B5EF4-FFF2-40B4-BE49-F238E27FC236}">
                <a16:creationId xmlns:a16="http://schemas.microsoft.com/office/drawing/2014/main" id="{AF9E597D-112D-E75D-D26F-667BA0BBB49E}"/>
              </a:ext>
            </a:extLst>
          </p:cNvPr>
          <p:cNvSpPr>
            <a:spLocks noGrp="1"/>
          </p:cNvSpPr>
          <p:nvPr>
            <p:ph type="body" sz="quarter" idx="14"/>
          </p:nvPr>
        </p:nvSpPr>
        <p:spPr/>
        <p:txBody>
          <a:bodyPr/>
          <a:lstStyle/>
          <a:p>
            <a:r>
              <a:rPr lang="zh-CN" altLang="en-US" dirty="0"/>
              <a:t>设备形式与运行模式</a:t>
            </a:r>
          </a:p>
          <a:p>
            <a:endParaRPr lang="zh-CN" altLang="en-US" dirty="0"/>
          </a:p>
        </p:txBody>
      </p:sp>
      <p:sp>
        <p:nvSpPr>
          <p:cNvPr id="4" name="文本占位符 3">
            <a:extLst>
              <a:ext uri="{FF2B5EF4-FFF2-40B4-BE49-F238E27FC236}">
                <a16:creationId xmlns:a16="http://schemas.microsoft.com/office/drawing/2014/main" id="{A2F17384-4AAE-37D8-2EF0-1370767241BA}"/>
              </a:ext>
            </a:extLst>
          </p:cNvPr>
          <p:cNvSpPr>
            <a:spLocks noGrp="1"/>
          </p:cNvSpPr>
          <p:nvPr>
            <p:ph type="body" sz="quarter" idx="15"/>
          </p:nvPr>
        </p:nvSpPr>
        <p:spPr/>
        <p:txBody>
          <a:bodyPr/>
          <a:lstStyle/>
          <a:p>
            <a:r>
              <a:rPr lang="zh-CN" altLang="en-US" dirty="0"/>
              <a:t>技术类型与工作原理</a:t>
            </a:r>
          </a:p>
          <a:p>
            <a:endParaRPr lang="zh-CN" altLang="en-US" dirty="0"/>
          </a:p>
        </p:txBody>
      </p:sp>
      <p:sp>
        <p:nvSpPr>
          <p:cNvPr id="5" name="文本占位符 4">
            <a:extLst>
              <a:ext uri="{FF2B5EF4-FFF2-40B4-BE49-F238E27FC236}">
                <a16:creationId xmlns:a16="http://schemas.microsoft.com/office/drawing/2014/main" id="{9674C5D6-6ED0-5164-4A2F-2339CC55BA06}"/>
              </a:ext>
            </a:extLst>
          </p:cNvPr>
          <p:cNvSpPr>
            <a:spLocks noGrp="1"/>
          </p:cNvSpPr>
          <p:nvPr>
            <p:ph type="body" sz="quarter" idx="16"/>
          </p:nvPr>
        </p:nvSpPr>
        <p:spPr/>
        <p:txBody>
          <a:bodyPr/>
          <a:lstStyle/>
          <a:p>
            <a:r>
              <a:rPr lang="zh-CN" altLang="en-US" dirty="0">
                <a:solidFill>
                  <a:srgbClr val="C00000"/>
                </a:solidFill>
              </a:rPr>
              <a:t>干燥地区工程案例</a:t>
            </a:r>
          </a:p>
          <a:p>
            <a:endParaRPr lang="zh-CN" altLang="en-US" dirty="0"/>
          </a:p>
        </p:txBody>
      </p:sp>
      <p:sp>
        <p:nvSpPr>
          <p:cNvPr id="12" name="文本占位符 11">
            <a:extLst>
              <a:ext uri="{FF2B5EF4-FFF2-40B4-BE49-F238E27FC236}">
                <a16:creationId xmlns:a16="http://schemas.microsoft.com/office/drawing/2014/main" id="{F35FF02F-6000-E2B3-92E8-DC4821AC02DE}"/>
              </a:ext>
            </a:extLst>
          </p:cNvPr>
          <p:cNvSpPr>
            <a:spLocks noGrp="1"/>
          </p:cNvSpPr>
          <p:nvPr>
            <p:ph type="body" sz="quarter" idx="17"/>
          </p:nvPr>
        </p:nvSpPr>
        <p:spPr/>
        <p:txBody>
          <a:bodyPr/>
          <a:lstStyle/>
          <a:p>
            <a:r>
              <a:rPr lang="zh-CN" altLang="en-US" dirty="0"/>
              <a:t>算力需求与风液融合</a:t>
            </a:r>
          </a:p>
          <a:p>
            <a:endParaRPr lang="zh-CN" altLang="en-US" dirty="0"/>
          </a:p>
        </p:txBody>
      </p:sp>
      <p:sp>
        <p:nvSpPr>
          <p:cNvPr id="13" name="文本占位符 12">
            <a:extLst>
              <a:ext uri="{FF2B5EF4-FFF2-40B4-BE49-F238E27FC236}">
                <a16:creationId xmlns:a16="http://schemas.microsoft.com/office/drawing/2014/main" id="{78BAE6B8-66F1-4E66-F9D5-AC4FFE18BA76}"/>
              </a:ext>
            </a:extLst>
          </p:cNvPr>
          <p:cNvSpPr>
            <a:spLocks noGrp="1"/>
          </p:cNvSpPr>
          <p:nvPr>
            <p:ph type="body" sz="quarter" idx="18"/>
          </p:nvPr>
        </p:nvSpPr>
        <p:spPr/>
        <p:txBody>
          <a:bodyPr/>
          <a:lstStyle/>
          <a:p>
            <a:r>
              <a:rPr lang="zh-CN" altLang="en-US" dirty="0"/>
              <a:t>控制与节能评价</a:t>
            </a:r>
          </a:p>
          <a:p>
            <a:endParaRPr lang="zh-CN" altLang="en-US" dirty="0"/>
          </a:p>
        </p:txBody>
      </p:sp>
    </p:spTree>
    <p:extLst>
      <p:ext uri="{BB962C8B-B14F-4D97-AF65-F5344CB8AC3E}">
        <p14:creationId xmlns:p14="http://schemas.microsoft.com/office/powerpoint/2010/main" val="1044521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9DC21-04C4-DD9A-4A76-7FAD73A6A562}"/>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0AEA7238-BBD3-CE87-A79D-6102271C645C}"/>
              </a:ext>
            </a:extLst>
          </p:cNvPr>
          <p:cNvSpPr>
            <a:spLocks noGrp="1"/>
          </p:cNvSpPr>
          <p:nvPr>
            <p:ph type="body" sz="quarter" idx="13"/>
          </p:nvPr>
        </p:nvSpPr>
        <p:spPr/>
        <p:txBody>
          <a:bodyPr/>
          <a:lstStyle/>
          <a:p>
            <a:r>
              <a:rPr lang="zh-CN" altLang="en-US" dirty="0"/>
              <a:t>蒸发冷却基础</a:t>
            </a:r>
          </a:p>
          <a:p>
            <a:endParaRPr lang="zh-CN" altLang="en-US" dirty="0"/>
          </a:p>
        </p:txBody>
      </p:sp>
      <p:sp>
        <p:nvSpPr>
          <p:cNvPr id="3" name="文本占位符 2">
            <a:extLst>
              <a:ext uri="{FF2B5EF4-FFF2-40B4-BE49-F238E27FC236}">
                <a16:creationId xmlns:a16="http://schemas.microsoft.com/office/drawing/2014/main" id="{AEAA35E1-6729-70AA-E8C2-50515EFE0C30}"/>
              </a:ext>
            </a:extLst>
          </p:cNvPr>
          <p:cNvSpPr>
            <a:spLocks noGrp="1"/>
          </p:cNvSpPr>
          <p:nvPr>
            <p:ph type="body" sz="quarter" idx="14"/>
          </p:nvPr>
        </p:nvSpPr>
        <p:spPr/>
        <p:txBody>
          <a:bodyPr/>
          <a:lstStyle/>
          <a:p>
            <a:r>
              <a:rPr lang="zh-CN" altLang="en-US" dirty="0"/>
              <a:t>设备形式与运行模式</a:t>
            </a:r>
          </a:p>
          <a:p>
            <a:endParaRPr lang="zh-CN" altLang="en-US" dirty="0"/>
          </a:p>
        </p:txBody>
      </p:sp>
      <p:sp>
        <p:nvSpPr>
          <p:cNvPr id="4" name="文本占位符 3">
            <a:extLst>
              <a:ext uri="{FF2B5EF4-FFF2-40B4-BE49-F238E27FC236}">
                <a16:creationId xmlns:a16="http://schemas.microsoft.com/office/drawing/2014/main" id="{49E335CC-C0E5-6396-3B10-2E5472E8AC71}"/>
              </a:ext>
            </a:extLst>
          </p:cNvPr>
          <p:cNvSpPr>
            <a:spLocks noGrp="1"/>
          </p:cNvSpPr>
          <p:nvPr>
            <p:ph type="body" sz="quarter" idx="15"/>
          </p:nvPr>
        </p:nvSpPr>
        <p:spPr/>
        <p:txBody>
          <a:bodyPr/>
          <a:lstStyle/>
          <a:p>
            <a:r>
              <a:rPr lang="zh-CN" altLang="en-US" dirty="0"/>
              <a:t>技术类型与工作原理</a:t>
            </a:r>
          </a:p>
          <a:p>
            <a:endParaRPr lang="zh-CN" altLang="en-US" dirty="0"/>
          </a:p>
        </p:txBody>
      </p:sp>
      <p:sp>
        <p:nvSpPr>
          <p:cNvPr id="5" name="文本占位符 4">
            <a:extLst>
              <a:ext uri="{FF2B5EF4-FFF2-40B4-BE49-F238E27FC236}">
                <a16:creationId xmlns:a16="http://schemas.microsoft.com/office/drawing/2014/main" id="{65523406-1404-29DB-5C25-0C8A9A54A7E5}"/>
              </a:ext>
            </a:extLst>
          </p:cNvPr>
          <p:cNvSpPr>
            <a:spLocks noGrp="1"/>
          </p:cNvSpPr>
          <p:nvPr>
            <p:ph type="body" sz="quarter" idx="16"/>
          </p:nvPr>
        </p:nvSpPr>
        <p:spPr/>
        <p:txBody>
          <a:bodyPr/>
          <a:lstStyle/>
          <a:p>
            <a:r>
              <a:rPr lang="zh-CN" altLang="en-US" dirty="0"/>
              <a:t>干燥地区工程案例</a:t>
            </a:r>
          </a:p>
          <a:p>
            <a:endParaRPr lang="zh-CN" altLang="en-US" dirty="0"/>
          </a:p>
        </p:txBody>
      </p:sp>
      <p:sp>
        <p:nvSpPr>
          <p:cNvPr id="12" name="文本占位符 11">
            <a:extLst>
              <a:ext uri="{FF2B5EF4-FFF2-40B4-BE49-F238E27FC236}">
                <a16:creationId xmlns:a16="http://schemas.microsoft.com/office/drawing/2014/main" id="{3D732086-2ED1-BBD6-E225-0833266B6BCA}"/>
              </a:ext>
            </a:extLst>
          </p:cNvPr>
          <p:cNvSpPr>
            <a:spLocks noGrp="1"/>
          </p:cNvSpPr>
          <p:nvPr>
            <p:ph type="body" sz="quarter" idx="17"/>
          </p:nvPr>
        </p:nvSpPr>
        <p:spPr/>
        <p:txBody>
          <a:bodyPr/>
          <a:lstStyle/>
          <a:p>
            <a:r>
              <a:rPr lang="zh-CN" altLang="en-US" dirty="0"/>
              <a:t>算力需求与风液融合</a:t>
            </a:r>
          </a:p>
          <a:p>
            <a:endParaRPr lang="zh-CN" altLang="en-US" dirty="0"/>
          </a:p>
        </p:txBody>
      </p:sp>
      <p:sp>
        <p:nvSpPr>
          <p:cNvPr id="13" name="文本占位符 12">
            <a:extLst>
              <a:ext uri="{FF2B5EF4-FFF2-40B4-BE49-F238E27FC236}">
                <a16:creationId xmlns:a16="http://schemas.microsoft.com/office/drawing/2014/main" id="{FB0CDA29-F030-A447-8F01-AA65B30DD4CA}"/>
              </a:ext>
            </a:extLst>
          </p:cNvPr>
          <p:cNvSpPr>
            <a:spLocks noGrp="1"/>
          </p:cNvSpPr>
          <p:nvPr>
            <p:ph type="body" sz="quarter" idx="18"/>
          </p:nvPr>
        </p:nvSpPr>
        <p:spPr/>
        <p:txBody>
          <a:bodyPr/>
          <a:lstStyle/>
          <a:p>
            <a:r>
              <a:rPr lang="zh-CN" altLang="en-US" dirty="0">
                <a:solidFill>
                  <a:srgbClr val="C00000"/>
                </a:solidFill>
              </a:rPr>
              <a:t>控制与节能评价</a:t>
            </a:r>
          </a:p>
          <a:p>
            <a:endParaRPr lang="zh-CN" altLang="en-US" dirty="0"/>
          </a:p>
        </p:txBody>
      </p:sp>
    </p:spTree>
    <p:extLst>
      <p:ext uri="{BB962C8B-B14F-4D97-AF65-F5344CB8AC3E}">
        <p14:creationId xmlns:p14="http://schemas.microsoft.com/office/powerpoint/2010/main" val="21894978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9982C-C303-8096-04FE-0A6D873A143B}"/>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67BAB78C-BD92-C3E8-5F24-AC0B8D440422}"/>
              </a:ext>
            </a:extLst>
          </p:cNvPr>
          <p:cNvSpPr>
            <a:spLocks noGrp="1"/>
          </p:cNvSpPr>
          <p:nvPr>
            <p:ph type="body" sz="quarter" idx="13"/>
          </p:nvPr>
        </p:nvSpPr>
        <p:spPr/>
        <p:txBody>
          <a:bodyPr/>
          <a:lstStyle/>
          <a:p>
            <a:r>
              <a:rPr lang="zh-CN" altLang="en-US" dirty="0"/>
              <a:t>蒸发冷却基础</a:t>
            </a:r>
          </a:p>
          <a:p>
            <a:endParaRPr lang="zh-CN" altLang="en-US" dirty="0"/>
          </a:p>
        </p:txBody>
      </p:sp>
      <p:sp>
        <p:nvSpPr>
          <p:cNvPr id="3" name="文本占位符 2">
            <a:extLst>
              <a:ext uri="{FF2B5EF4-FFF2-40B4-BE49-F238E27FC236}">
                <a16:creationId xmlns:a16="http://schemas.microsoft.com/office/drawing/2014/main" id="{19729AEA-B889-75A9-F966-F127A4ECA0A6}"/>
              </a:ext>
            </a:extLst>
          </p:cNvPr>
          <p:cNvSpPr>
            <a:spLocks noGrp="1"/>
          </p:cNvSpPr>
          <p:nvPr>
            <p:ph type="body" sz="quarter" idx="14"/>
          </p:nvPr>
        </p:nvSpPr>
        <p:spPr/>
        <p:txBody>
          <a:bodyPr/>
          <a:lstStyle/>
          <a:p>
            <a:r>
              <a:rPr lang="zh-CN" altLang="en-US" dirty="0"/>
              <a:t>设备形式与运行模式</a:t>
            </a:r>
          </a:p>
          <a:p>
            <a:endParaRPr lang="zh-CN" altLang="en-US" dirty="0"/>
          </a:p>
        </p:txBody>
      </p:sp>
      <p:sp>
        <p:nvSpPr>
          <p:cNvPr id="4" name="文本占位符 3">
            <a:extLst>
              <a:ext uri="{FF2B5EF4-FFF2-40B4-BE49-F238E27FC236}">
                <a16:creationId xmlns:a16="http://schemas.microsoft.com/office/drawing/2014/main" id="{D6A6586C-BEBB-CB93-6A85-1C66B20426C0}"/>
              </a:ext>
            </a:extLst>
          </p:cNvPr>
          <p:cNvSpPr>
            <a:spLocks noGrp="1"/>
          </p:cNvSpPr>
          <p:nvPr>
            <p:ph type="body" sz="quarter" idx="15"/>
          </p:nvPr>
        </p:nvSpPr>
        <p:spPr/>
        <p:txBody>
          <a:bodyPr/>
          <a:lstStyle/>
          <a:p>
            <a:r>
              <a:rPr lang="zh-CN" altLang="en-US" dirty="0"/>
              <a:t>技术类型与工作原理</a:t>
            </a:r>
          </a:p>
          <a:p>
            <a:endParaRPr lang="zh-CN" altLang="en-US" dirty="0"/>
          </a:p>
        </p:txBody>
      </p:sp>
      <p:sp>
        <p:nvSpPr>
          <p:cNvPr id="5" name="文本占位符 4">
            <a:extLst>
              <a:ext uri="{FF2B5EF4-FFF2-40B4-BE49-F238E27FC236}">
                <a16:creationId xmlns:a16="http://schemas.microsoft.com/office/drawing/2014/main" id="{05BE552C-6E5A-2CA1-F493-0851AC906A98}"/>
              </a:ext>
            </a:extLst>
          </p:cNvPr>
          <p:cNvSpPr>
            <a:spLocks noGrp="1"/>
          </p:cNvSpPr>
          <p:nvPr>
            <p:ph type="body" sz="quarter" idx="16"/>
          </p:nvPr>
        </p:nvSpPr>
        <p:spPr/>
        <p:txBody>
          <a:bodyPr/>
          <a:lstStyle/>
          <a:p>
            <a:r>
              <a:rPr lang="zh-CN" altLang="en-US" dirty="0"/>
              <a:t>干燥地区工程案例</a:t>
            </a:r>
          </a:p>
          <a:p>
            <a:endParaRPr lang="zh-CN" altLang="en-US" dirty="0"/>
          </a:p>
        </p:txBody>
      </p:sp>
      <p:sp>
        <p:nvSpPr>
          <p:cNvPr id="12" name="文本占位符 11">
            <a:extLst>
              <a:ext uri="{FF2B5EF4-FFF2-40B4-BE49-F238E27FC236}">
                <a16:creationId xmlns:a16="http://schemas.microsoft.com/office/drawing/2014/main" id="{7343ACC5-4452-FBB5-1A03-F339255399AF}"/>
              </a:ext>
            </a:extLst>
          </p:cNvPr>
          <p:cNvSpPr>
            <a:spLocks noGrp="1"/>
          </p:cNvSpPr>
          <p:nvPr>
            <p:ph type="body" sz="quarter" idx="17"/>
          </p:nvPr>
        </p:nvSpPr>
        <p:spPr/>
        <p:txBody>
          <a:bodyPr/>
          <a:lstStyle/>
          <a:p>
            <a:r>
              <a:rPr lang="zh-CN" altLang="en-US" dirty="0">
                <a:solidFill>
                  <a:srgbClr val="C00000"/>
                </a:solidFill>
              </a:rPr>
              <a:t>算力需求与风液融合</a:t>
            </a:r>
          </a:p>
          <a:p>
            <a:endParaRPr lang="zh-CN" altLang="en-US" dirty="0"/>
          </a:p>
        </p:txBody>
      </p:sp>
      <p:sp>
        <p:nvSpPr>
          <p:cNvPr id="13" name="文本占位符 12">
            <a:extLst>
              <a:ext uri="{FF2B5EF4-FFF2-40B4-BE49-F238E27FC236}">
                <a16:creationId xmlns:a16="http://schemas.microsoft.com/office/drawing/2014/main" id="{F784AC78-8FE6-6073-4C43-E85207CDDC3A}"/>
              </a:ext>
            </a:extLst>
          </p:cNvPr>
          <p:cNvSpPr>
            <a:spLocks noGrp="1"/>
          </p:cNvSpPr>
          <p:nvPr>
            <p:ph type="body" sz="quarter" idx="18"/>
          </p:nvPr>
        </p:nvSpPr>
        <p:spPr/>
        <p:txBody>
          <a:bodyPr/>
          <a:lstStyle/>
          <a:p>
            <a:r>
              <a:rPr lang="zh-CN" altLang="en-US" dirty="0"/>
              <a:t>控制与节能评价</a:t>
            </a:r>
          </a:p>
          <a:p>
            <a:endParaRPr lang="zh-CN" altLang="en-US" dirty="0"/>
          </a:p>
        </p:txBody>
      </p:sp>
    </p:spTree>
    <p:extLst>
      <p:ext uri="{BB962C8B-B14F-4D97-AF65-F5344CB8AC3E}">
        <p14:creationId xmlns:p14="http://schemas.microsoft.com/office/powerpoint/2010/main" val="17589294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清理后的整页原图" descr="image.jpg"/>
          <p:cNvPicPr>
            <a:picLocks noChangeAspect="1"/>
          </p:cNvPicPr>
          <p:nvPr/>
        </p:nvPicPr>
        <p:blipFill>
          <a:blip r:embed="rId3"/>
          <a:stretch>
            <a:fillRect/>
          </a:stretch>
        </p:blipFill>
        <p:spPr>
          <a:xfrm>
            <a:off x="0" y="0"/>
            <a:ext cx="12191999" cy="68636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2698</Words>
  <Application>Microsoft Office PowerPoint</Application>
  <PresentationFormat>自定义</PresentationFormat>
  <Paragraphs>312</Paragraphs>
  <Slides>58</Slides>
  <Notes>51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58</vt:i4>
      </vt:variant>
    </vt:vector>
  </HeadingPairs>
  <TitlesOfParts>
    <vt:vector size="65" baseType="lpstr">
      <vt:lpstr>微软雅黑</vt:lpstr>
      <vt:lpstr>微软雅黑</vt:lpstr>
      <vt:lpstr>Arial</vt:lpstr>
      <vt:lpstr>Arial Black</vt:lpstr>
      <vt:lpstr>Impact</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间接蒸发冷却与数据中心应用｜标识清理及问答修订版</dc:title>
  <dc:subject>原报告PPT图片版；未重绘图表或编写公式</dc:subject>
  <dc:creator>原报告：黄翔；课程图片整理</dc:creator>
  <cp:keywords/>
  <dc:description>generated using python-pptx</dc:description>
  <cp:lastModifiedBy>Xiaochen MA</cp:lastModifiedBy>
  <cp:revision>9</cp:revision>
  <dcterms:created xsi:type="dcterms:W3CDTF">2013-01-27T09:14:16Z</dcterms:created>
  <dcterms:modified xsi:type="dcterms:W3CDTF">2026-10-25T17:37:07Z</dcterms:modified>
  <cp:category/>
</cp:coreProperties>
</file>