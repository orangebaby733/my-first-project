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6863643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Times New Roman"/>
        <a:ea typeface="Microsoft YaHei"/>
        <a:cs typeface="Times New Roman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Times New Roman"/>
        <a:ea typeface="Microsoft YaHei"/>
        <a:cs typeface="Times New Roman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Times New Roman"/>
        <a:ea typeface="Microsoft YaHei"/>
        <a:cs typeface="Times New Roman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Times New Roman"/>
        <a:ea typeface="Microsoft YaHei"/>
        <a:cs typeface="Times New Roman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Times New Roman"/>
        <a:ea typeface="Microsoft YaHei"/>
        <a:cs typeface="Times New Roman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Times New Roman"/>
        <a:ea typeface="Microsoft YaHei"/>
        <a:cs typeface="Times New Roman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Times New Roman"/>
        <a:ea typeface="Microsoft YaHei"/>
        <a:cs typeface="Times New Roman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Times New Roman"/>
        <a:ea typeface="Microsoft YaHei"/>
        <a:cs typeface="Times New Roman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Times New Roman"/>
        <a:ea typeface="Microsoft YaHei"/>
        <a:cs typeface="Times New Roman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Times New Roman"/>
        <a:ea typeface="Microsoft YaHei"/>
        <a:cs typeface="Times New Roman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Times New Roman"/>
        <a:ea typeface="Microsoft YaHei"/>
        <a:cs typeface="Times New Roman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Times New Roman"/>
        <a:ea typeface="Microsoft YaHei"/>
        <a:cs typeface="Times New Roman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Times New Roman"/>
        <a:ea typeface="Microsoft YaHei"/>
        <a:cs typeface="Times New Roman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Times New Roman"/>
        <a:ea typeface="Microsoft YaHei"/>
        <a:cs typeface="Times New Roman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Times New Roman"/>
        <a:ea typeface="Microsoft YaHei"/>
        <a:cs typeface="Times New Roman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Times New Roman"/>
        <a:ea typeface="Microsoft YaHei"/>
        <a:cs typeface="Times New Roman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Times New Roman"/>
        <a:ea typeface="Microsoft YaHei"/>
        <a:cs typeface="Times New Roman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Times New Roman"/>
        <a:ea typeface="Microsoft YaHei"/>
        <a:cs typeface="Times New Roman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课按六部分展开。第一课时先说明蒸发冷却潜力与热湿过程，再比较直接、间接和露点型技术，最后介绍设备形式、换热温差以及季节运行模式。第二课时先读干燥地区工程案例，再看自控、能水耗、经济性与运行保障，最后讨论高密度算力需求下的蒸发冷却与液冷融合。两个课时的主讲各约四十分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Times New Roman"/>
          <a:ea typeface="Microsoft YaHei"/>
          <a:cs typeface="Times New Roman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Times New Roman"/>
          <a:ea typeface="Microsoft YaHei"/>
          <a:cs typeface="Times New Roman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Times New Roman"/>
          <a:ea typeface="Microsoft YaHei"/>
          <a:cs typeface="Times New Roman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Times New Roman"/>
          <a:ea typeface="Microsoft YaHei"/>
          <a:cs typeface="Times New Roman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Times New Roman"/>
          <a:ea typeface="Microsoft YaHei"/>
          <a:cs typeface="Times New Roman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Times New Roman"/>
          <a:ea typeface="Microsoft YaHei"/>
          <a:cs typeface="Times New Roman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Times New Roman"/>
          <a:ea typeface="Microsoft YaHei"/>
          <a:cs typeface="Times New Roman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Times New Roman"/>
          <a:ea typeface="Microsoft YaHei"/>
          <a:cs typeface="Times New Roman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Times New Roman"/>
          <a:ea typeface="Microsoft YaHei"/>
          <a:cs typeface="Times New Roman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Times New Roman"/>
          <a:ea typeface="Microsoft YaHei"/>
          <a:cs typeface="Times New Roman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Times New Roman"/>
          <a:ea typeface="Microsoft YaHei"/>
          <a:cs typeface="Times New Roman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Times New Roman"/>
          <a:ea typeface="Microsoft YaHei"/>
          <a:cs typeface="Times New Roman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Times New Roman"/>
          <a:ea typeface="Microsoft YaHei"/>
          <a:cs typeface="Times New Roman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Times New Roman"/>
          <a:ea typeface="Microsoft YaHei"/>
          <a:cs typeface="Times New Roman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Times New Roman"/>
          <a:ea typeface="Microsoft YaHei"/>
          <a:cs typeface="Times New Roman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Times New Roman"/>
          <a:ea typeface="Microsoft YaHei"/>
          <a:cs typeface="Times New Roman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Times New Roman"/>
          <a:ea typeface="Microsoft YaHei"/>
          <a:cs typeface="Times New Roman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Times New Roman"/>
          <a:ea typeface="Microsoft YaHei"/>
          <a:cs typeface="Times New Roman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Times New Roman"/>
          <a:ea typeface="Microsoft YaHei"/>
          <a:cs typeface="Times New Roman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566928"/>
            <a:ext cx="68580" cy="566928"/>
          </a:xfrm>
          <a:prstGeom prst="rect">
            <a:avLst/>
          </a:prstGeom>
          <a:solidFill>
            <a:srgbClr val="1598A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5256" y="521207"/>
            <a:ext cx="804672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200" b="1">
                <a:solidFill>
                  <a:srgbClr val="164D69"/>
                </a:solidFill>
                <a:latin typeface="Times New Roman"/>
                <a:ea typeface="Microsoft YaHei"/>
              </a:rPr>
              <a:t>课程目录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" y="1188720"/>
            <a:ext cx="98755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700" b="0">
                <a:solidFill>
                  <a:srgbClr val="637C89"/>
                </a:solidFill>
                <a:latin typeface="Times New Roman"/>
                <a:ea typeface="Microsoft YaHei"/>
              </a:rPr>
              <a:t>间接蒸发冷却技术及其在数据中心中的应用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658368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800" b="0">
                <a:solidFill>
                  <a:srgbClr val="1598A5"/>
                </a:solidFill>
                <a:latin typeface="Times New Roman"/>
                <a:ea typeface="Microsoft YaHei"/>
              </a:rPr>
              <a:t>2 × 40 min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76656" y="1810512"/>
            <a:ext cx="10808208" cy="0"/>
          </a:xfrm>
          <a:prstGeom prst="line">
            <a:avLst/>
          </a:prstGeom>
          <a:ln w="10160">
            <a:solidFill>
              <a:srgbClr val="DCE9ED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6062472" y="2185416"/>
            <a:ext cx="0" cy="3584448"/>
          </a:xfrm>
          <a:prstGeom prst="line">
            <a:avLst/>
          </a:prstGeom>
          <a:ln w="8890">
            <a:solidFill>
              <a:srgbClr val="E0E8EC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850392" y="2084831"/>
            <a:ext cx="1444752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1">
                <a:solidFill>
                  <a:srgbClr val="1598A5"/>
                </a:solidFill>
                <a:latin typeface="Times New Roman"/>
                <a:ea typeface="Microsoft YaHei"/>
              </a:rPr>
              <a:t>第一课时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67712" y="2084831"/>
            <a:ext cx="338328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700" b="1">
                <a:solidFill>
                  <a:srgbClr val="164D69"/>
                </a:solidFill>
                <a:latin typeface="Times New Roman"/>
                <a:ea typeface="Microsoft YaHei"/>
              </a:rPr>
              <a:t>原理与基础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2743200"/>
            <a:ext cx="667512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900" b="0">
                <a:solidFill>
                  <a:srgbClr val="1598A5"/>
                </a:solidFill>
                <a:latin typeface="Times New Roman"/>
                <a:ea typeface="Microsoft YaHe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2770632"/>
            <a:ext cx="4032504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100" b="1">
                <a:solidFill>
                  <a:srgbClr val="164D69"/>
                </a:solidFill>
                <a:latin typeface="Times New Roman"/>
                <a:ea typeface="Microsoft YaHei"/>
              </a:rPr>
              <a:t>蒸发冷却基础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09928" y="3236976"/>
            <a:ext cx="4005072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10" b="0">
                <a:solidFill>
                  <a:srgbClr val="637C89"/>
                </a:solidFill>
                <a:latin typeface="Times New Roman"/>
                <a:ea typeface="Microsoft YaHei"/>
              </a:rPr>
              <a:t>干空气能、热湿过程与技术特点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700784" y="3602736"/>
            <a:ext cx="3767328" cy="0"/>
          </a:xfrm>
          <a:prstGeom prst="line">
            <a:avLst/>
          </a:prstGeom>
          <a:ln w="8255">
            <a:solidFill>
              <a:srgbClr val="E6EEF1"/>
            </a:solidFill>
          </a:ln>
        </p:spPr>
      </p:cxnSp>
      <p:sp>
        <p:nvSpPr>
          <p:cNvPr id="14" name="TextBox 13"/>
          <p:cNvSpPr txBox="1"/>
          <p:nvPr/>
        </p:nvSpPr>
        <p:spPr>
          <a:xfrm>
            <a:off x="850392" y="3712463"/>
            <a:ext cx="667512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900" b="0">
                <a:solidFill>
                  <a:srgbClr val="1598A5"/>
                </a:solidFill>
                <a:latin typeface="Times New Roman"/>
                <a:ea typeface="Microsoft YaHe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3739896"/>
            <a:ext cx="4032504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100" b="1">
                <a:solidFill>
                  <a:srgbClr val="164D69"/>
                </a:solidFill>
                <a:latin typeface="Times New Roman"/>
                <a:ea typeface="Microsoft YaHei"/>
              </a:rPr>
              <a:t>技术类型与工作原理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09928" y="4206240"/>
            <a:ext cx="4005072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10" b="0">
                <a:solidFill>
                  <a:srgbClr val="637C89"/>
                </a:solidFill>
                <a:latin typeface="Times New Roman"/>
                <a:ea typeface="Microsoft YaHei"/>
              </a:rPr>
              <a:t>直接、间接及露点型蒸发冷却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700784" y="4572000"/>
            <a:ext cx="3767328" cy="0"/>
          </a:xfrm>
          <a:prstGeom prst="line">
            <a:avLst/>
          </a:prstGeom>
          <a:ln w="8255">
            <a:solidFill>
              <a:srgbClr val="E6EEF1"/>
            </a:solidFill>
          </a:ln>
        </p:spPr>
      </p:cxnSp>
      <p:sp>
        <p:nvSpPr>
          <p:cNvPr id="18" name="TextBox 17"/>
          <p:cNvSpPr txBox="1"/>
          <p:nvPr/>
        </p:nvSpPr>
        <p:spPr>
          <a:xfrm>
            <a:off x="850392" y="4681728"/>
            <a:ext cx="667512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900" b="0">
                <a:solidFill>
                  <a:srgbClr val="1598A5"/>
                </a:solidFill>
                <a:latin typeface="Times New Roman"/>
                <a:ea typeface="Microsoft YaHei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91640" y="4709160"/>
            <a:ext cx="4032504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100" b="1">
                <a:solidFill>
                  <a:srgbClr val="164D69"/>
                </a:solidFill>
                <a:latin typeface="Times New Roman"/>
                <a:ea typeface="Microsoft YaHei"/>
              </a:rPr>
              <a:t>设备形式与运行模式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09928" y="5175504"/>
            <a:ext cx="4005072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10" b="0">
                <a:solidFill>
                  <a:srgbClr val="637C89"/>
                </a:solidFill>
                <a:latin typeface="Times New Roman"/>
                <a:ea typeface="Microsoft YaHei"/>
              </a:rPr>
              <a:t>换热温差、系统构成与季节运行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19672" y="2084831"/>
            <a:ext cx="1444752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1">
                <a:solidFill>
                  <a:srgbClr val="1598A5"/>
                </a:solidFill>
                <a:latin typeface="Times New Roman"/>
                <a:ea typeface="Microsoft YaHei"/>
              </a:rPr>
              <a:t>第二课时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36992" y="2084831"/>
            <a:ext cx="338328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700" b="1">
                <a:solidFill>
                  <a:srgbClr val="164D69"/>
                </a:solidFill>
                <a:latin typeface="Times New Roman"/>
                <a:ea typeface="Microsoft YaHei"/>
              </a:rPr>
              <a:t>工程应用与融合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19672" y="2743200"/>
            <a:ext cx="667512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900" b="0">
                <a:solidFill>
                  <a:srgbClr val="1598A5"/>
                </a:solidFill>
                <a:latin typeface="Times New Roman"/>
                <a:ea typeface="Microsoft YaHei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60920" y="2770632"/>
            <a:ext cx="4032504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100" b="1">
                <a:solidFill>
                  <a:srgbClr val="164D69"/>
                </a:solidFill>
                <a:latin typeface="Times New Roman"/>
                <a:ea typeface="Microsoft YaHei"/>
              </a:rPr>
              <a:t>干燥地区工程案例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79208" y="3236976"/>
            <a:ext cx="4005072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10" b="0">
                <a:solidFill>
                  <a:srgbClr val="637C89"/>
                </a:solidFill>
                <a:latin typeface="Times New Roman"/>
                <a:ea typeface="Microsoft YaHei"/>
              </a:rPr>
              <a:t>冷源、显热末端与机房气流组织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370064" y="3602736"/>
            <a:ext cx="3767328" cy="0"/>
          </a:xfrm>
          <a:prstGeom prst="line">
            <a:avLst/>
          </a:prstGeom>
          <a:ln w="8255">
            <a:solidFill>
              <a:srgbClr val="E6EEF1"/>
            </a:solidFill>
          </a:ln>
        </p:spPr>
      </p:cxnSp>
      <p:sp>
        <p:nvSpPr>
          <p:cNvPr id="27" name="TextBox 26"/>
          <p:cNvSpPr txBox="1"/>
          <p:nvPr/>
        </p:nvSpPr>
        <p:spPr>
          <a:xfrm>
            <a:off x="6519672" y="3712463"/>
            <a:ext cx="667512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900" b="0">
                <a:solidFill>
                  <a:srgbClr val="1598A5"/>
                </a:solidFill>
                <a:latin typeface="Times New Roman"/>
                <a:ea typeface="Microsoft YaHei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60920" y="3739896"/>
            <a:ext cx="4032504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100" b="1">
                <a:solidFill>
                  <a:srgbClr val="164D69"/>
                </a:solidFill>
                <a:latin typeface="Times New Roman"/>
                <a:ea typeface="Microsoft YaHei"/>
              </a:rPr>
              <a:t>控制与节能评价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79208" y="4206240"/>
            <a:ext cx="4005072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10" b="0">
                <a:solidFill>
                  <a:srgbClr val="637C89"/>
                </a:solidFill>
                <a:latin typeface="Times New Roman"/>
                <a:ea typeface="Microsoft YaHei"/>
              </a:rPr>
              <a:t>自控、能水耗、经济性与运行保障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370064" y="4572000"/>
            <a:ext cx="3767328" cy="0"/>
          </a:xfrm>
          <a:prstGeom prst="line">
            <a:avLst/>
          </a:prstGeom>
          <a:ln w="8255">
            <a:solidFill>
              <a:srgbClr val="E6EEF1"/>
            </a:solidFill>
          </a:ln>
        </p:spPr>
      </p:cxnSp>
      <p:sp>
        <p:nvSpPr>
          <p:cNvPr id="31" name="TextBox 30"/>
          <p:cNvSpPr txBox="1"/>
          <p:nvPr/>
        </p:nvSpPr>
        <p:spPr>
          <a:xfrm>
            <a:off x="6519672" y="4681728"/>
            <a:ext cx="667512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900" b="0">
                <a:solidFill>
                  <a:srgbClr val="1598A5"/>
                </a:solidFill>
                <a:latin typeface="Times New Roman"/>
                <a:ea typeface="Microsoft YaHei"/>
              </a:rPr>
              <a:t>06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60920" y="4709160"/>
            <a:ext cx="4032504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100" b="1">
                <a:solidFill>
                  <a:srgbClr val="164D69"/>
                </a:solidFill>
                <a:latin typeface="Times New Roman"/>
                <a:ea typeface="Microsoft YaHei"/>
              </a:rPr>
              <a:t>算力需求与风液融合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79208" y="5175504"/>
            <a:ext cx="4005072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10" b="0">
                <a:solidFill>
                  <a:srgbClr val="637C89"/>
                </a:solidFill>
                <a:latin typeface="Times New Roman"/>
                <a:ea typeface="Microsoft YaHei"/>
              </a:rPr>
              <a:t>高密度取热、冷源协同与系统集成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676656" y="6108192"/>
            <a:ext cx="10808208" cy="0"/>
          </a:xfrm>
          <a:prstGeom prst="line">
            <a:avLst/>
          </a:prstGeom>
          <a:ln w="10160">
            <a:solidFill>
              <a:srgbClr val="DCE9ED"/>
            </a:solidFill>
          </a:ln>
        </p:spPr>
      </p:cxnSp>
      <p:sp>
        <p:nvSpPr>
          <p:cNvPr id="35" name="TextBox 34"/>
          <p:cNvSpPr txBox="1"/>
          <p:nvPr/>
        </p:nvSpPr>
        <p:spPr>
          <a:xfrm>
            <a:off x="859536" y="6364224"/>
            <a:ext cx="9692640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637C89"/>
                </a:solidFill>
                <a:latin typeface="Times New Roman"/>
                <a:ea typeface="Microsoft YaHei"/>
              </a:rPr>
              <a:t>建筑环境与能源应用新技术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698480" y="6345936"/>
            <a:ext cx="777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200" b="0">
                <a:solidFill>
                  <a:srgbClr val="637C89"/>
                </a:solidFill>
                <a:latin typeface="Times New Roman"/>
                <a:ea typeface="Microsoft YaHei"/>
              </a:rPr>
              <a:t>02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Times New Roman"/>
        <a:ea typeface="Microsoft YaHei"/>
        <a:cs typeface="Times New Roman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imes New Roman"/>
        <a:ea typeface="Microsoft YaHei"/>
        <a:cs typeface="Times New Roman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Times New Roman"/>
        <a:ea typeface="Microsoft YaHei"/>
        <a:cs typeface="Times New Roman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imes New Roman"/>
        <a:ea typeface="Microsoft YaHei"/>
        <a:cs typeface="Times New Roman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课程目录｜间接蒸发冷却技术及其在数据中心中的应用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