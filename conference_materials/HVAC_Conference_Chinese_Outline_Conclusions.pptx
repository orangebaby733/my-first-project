
<file path=[Content_Types].xml><?xml version="1.0" encoding="utf-8"?>
<Types xmlns="http://schemas.openxmlformats.org/package/2006/content-types">
  <Default Extension="jfif" ContentType="image/jpeg"/>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1"/>
  </p:sldMasterIdLst>
  <p:notesMasterIdLst>
    <p:notesMasterId r:id="rId31"/>
  </p:notesMasterIdLst>
  <p:sldIdLst>
    <p:sldId id="407" r:id="rId2"/>
    <p:sldId id="853" r:id="rId3"/>
    <p:sldId id="1398" r:id="rId4"/>
    <p:sldId id="427" r:id="rId5"/>
    <p:sldId id="428" r:id="rId6"/>
    <p:sldId id="1400" r:id="rId7"/>
    <p:sldId id="1399" r:id="rId8"/>
    <p:sldId id="1401" r:id="rId9"/>
    <p:sldId id="1391" r:id="rId10"/>
    <p:sldId id="1392" r:id="rId11"/>
    <p:sldId id="1402" r:id="rId12"/>
    <p:sldId id="1393" r:id="rId13"/>
    <p:sldId id="1395" r:id="rId14"/>
    <p:sldId id="1403" r:id="rId15"/>
    <p:sldId id="1369" r:id="rId16"/>
    <p:sldId id="855" r:id="rId17"/>
    <p:sldId id="1387" r:id="rId18"/>
    <p:sldId id="1382" r:id="rId19"/>
    <p:sldId id="1370" r:id="rId20"/>
    <p:sldId id="1377" r:id="rId21"/>
    <p:sldId id="1381" r:id="rId22"/>
    <p:sldId id="1383" r:id="rId23"/>
    <p:sldId id="1396" r:id="rId24"/>
    <p:sldId id="1404" r:id="rId25"/>
    <p:sldId id="1405" r:id="rId26"/>
    <p:sldId id="1408" r:id="rId27"/>
    <p:sldId id="1409" r:id="rId28"/>
    <p:sldId id="1407" r:id="rId29"/>
    <p:sldId id="826" r:id="rId30"/>
  </p:sldIdLst>
  <p:sldSz cx="12192000" cy="6858000"/>
  <p:notesSz cx="6858000" cy="99472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C67B"/>
    <a:srgbClr val="F7CA45"/>
    <a:srgbClr val="00B0F0"/>
    <a:srgbClr val="FDC897"/>
    <a:srgbClr val="9DD79D"/>
    <a:srgbClr val="73D2FD"/>
    <a:srgbClr val="00AC46"/>
    <a:srgbClr val="0000FF"/>
    <a:srgbClr val="ED7D31"/>
    <a:srgbClr val="396A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21" autoAdjust="0"/>
    <p:restoredTop sz="94417" autoAdjust="0"/>
  </p:normalViewPr>
  <p:slideViewPr>
    <p:cSldViewPr snapToGrid="0">
      <p:cViewPr>
        <p:scale>
          <a:sx n="80" d="100"/>
          <a:sy n="80" d="100"/>
        </p:scale>
        <p:origin x="261" y="-355"/>
      </p:cViewPr>
      <p:guideLst/>
    </p:cSldViewPr>
  </p:slideViewPr>
  <p:notesTextViewPr>
    <p:cViewPr>
      <p:scale>
        <a:sx n="3" d="2"/>
        <a:sy n="3" d="2"/>
      </p:scale>
      <p:origin x="0" y="0"/>
    </p:cViewPr>
  </p:notesTextViewPr>
  <p:sorterViewPr>
    <p:cViewPr varScale="1">
      <p:scale>
        <a:sx n="1" d="1"/>
        <a:sy n="1" d="1"/>
      </p:scale>
      <p:origin x="0" y="-217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HK"/>
          </a:p>
        </p:txBody>
      </p:sp>
      <p:sp>
        <p:nvSpPr>
          <p:cNvPr id="3" name="Date Placeholder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1A7A442A-B193-4545-86FA-720641C7C2CB}" type="datetimeFigureOut">
              <a:rPr lang="en-HK" smtClean="0"/>
              <a:t>25/10/2026</a:t>
            </a:fld>
            <a:endParaRPr lang="en-HK"/>
          </a:p>
        </p:txBody>
      </p:sp>
      <p:sp>
        <p:nvSpPr>
          <p:cNvPr id="4" name="Slide Image Placeholder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en-HK"/>
          </a:p>
        </p:txBody>
      </p:sp>
      <p:sp>
        <p:nvSpPr>
          <p:cNvPr id="5" name="Notes Placeholder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6" name="Footer Placeholder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en-HK"/>
          </a:p>
        </p:txBody>
      </p:sp>
      <p:sp>
        <p:nvSpPr>
          <p:cNvPr id="7" name="Slide Number Placeholder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999CBD08-3C3E-4887-8E99-43CADEB6192B}" type="slidenum">
              <a:rPr lang="en-HK" smtClean="0"/>
              <a:t>‹#›</a:t>
            </a:fld>
            <a:endParaRPr lang="en-HK"/>
          </a:p>
        </p:txBody>
      </p:sp>
    </p:spTree>
    <p:extLst>
      <p:ext uri="{BB962C8B-B14F-4D97-AF65-F5344CB8AC3E}">
        <p14:creationId xmlns:p14="http://schemas.microsoft.com/office/powerpoint/2010/main" val="2392405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ln/>
        </p:spPr>
      </p:sp>
      <p:sp>
        <p:nvSpPr>
          <p:cNvPr id="204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Arial" panose="020B0604020202020204" pitchFamily="34" charset="0"/>
            </a:endParaRPr>
          </a:p>
        </p:txBody>
      </p:sp>
      <p:sp>
        <p:nvSpPr>
          <p:cNvPr id="20484" name="灯片编号占位符 1"/>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7882">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1pPr>
            <a:lvl2pPr marL="750305" indent="-288579" defTabSz="937882">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2pPr>
            <a:lvl3pPr marL="1154316" indent="-230863" defTabSz="937882">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3pPr>
            <a:lvl4pPr marL="1616042" indent="-230863" defTabSz="937882">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4pPr>
            <a:lvl5pPr marL="2077768" indent="-230863" defTabSz="937882">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5pPr>
            <a:lvl6pPr marL="2539495" indent="-230863" defTabSz="937882"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6pPr>
            <a:lvl7pPr marL="3001221" indent="-230863" defTabSz="937882"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7pPr>
            <a:lvl8pPr marL="3462947" indent="-230863" defTabSz="937882"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8pPr>
            <a:lvl9pPr marL="3924673" indent="-230863" defTabSz="937882"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9pPr>
          </a:lstStyle>
          <a:p>
            <a:pPr marL="0" marR="0" lvl="0" indent="0" algn="r" defTabSz="937882" rtl="0" eaLnBrk="1" fontAlgn="base" latinLnBrk="0" hangingPunct="1">
              <a:lnSpc>
                <a:spcPct val="100000"/>
              </a:lnSpc>
              <a:spcBef>
                <a:spcPct val="0"/>
              </a:spcBef>
              <a:spcAft>
                <a:spcPct val="0"/>
              </a:spcAft>
              <a:buClrTx/>
              <a:buSzTx/>
              <a:buFontTx/>
              <a:buNone/>
              <a:tabLst/>
              <a:defRPr/>
            </a:pPr>
            <a:fld id="{AF4EA6F7-1FAA-45B4-ADE4-650BBCE5CEBD}"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rPr>
              <a:pPr marL="0" marR="0" lvl="0" indent="0" algn="r" defTabSz="937882" rtl="0" eaLnBrk="1" fontAlgn="base" latinLnBrk="0" hangingPunct="1">
                <a:lnSpc>
                  <a:spcPct val="100000"/>
                </a:lnSpc>
                <a:spcBef>
                  <a:spcPct val="0"/>
                </a:spcBef>
                <a:spcAft>
                  <a:spcPct val="0"/>
                </a:spcAft>
                <a:buClrTx/>
                <a:buSzTx/>
                <a:buFontTx/>
                <a:buNone/>
                <a:tabLst/>
                <a:defRPr/>
              </a:pPr>
              <a:t>1</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050" dirty="0">
                <a:latin typeface="Arial" panose="020B0604020202020204" pitchFamily="34" charset="0"/>
              </a:rPr>
              <a:t>左图：中国的建筑物制冷能耗增长趋势</a:t>
            </a:r>
            <a:endParaRPr lang="en-US" altLang="zh-CN" sz="1050" dirty="0">
              <a:latin typeface="Arial" panose="020B0604020202020204" pitchFamily="34" charset="0"/>
            </a:endParaRPr>
          </a:p>
          <a:p>
            <a:r>
              <a:rPr lang="zh-CN" altLang="en-US" sz="1050" dirty="0">
                <a:latin typeface="Arial" panose="020B0604020202020204" pitchFamily="34" charset="0"/>
              </a:rPr>
              <a:t>右图：香港空调能耗占比</a:t>
            </a:r>
            <a:endParaRPr lang="zh-CN" altLang="zh-CN" sz="1050" dirty="0">
              <a:latin typeface="Arial" panose="020B0604020202020204" pitchFamily="34" charset="0"/>
            </a:endParaRPr>
          </a:p>
        </p:txBody>
      </p:sp>
      <p:sp>
        <p:nvSpPr>
          <p:cNvPr id="2" name="灯片编号占位符 1">
            <a:extLst>
              <a:ext uri="{FF2B5EF4-FFF2-40B4-BE49-F238E27FC236}">
                <a16:creationId xmlns:a16="http://schemas.microsoft.com/office/drawing/2014/main" id="{E9194E2F-0629-48BC-9DB1-C6B062ACE9AA}"/>
              </a:ext>
            </a:extLst>
          </p:cNvPr>
          <p:cNvSpPr>
            <a:spLocks noGrp="1"/>
          </p:cNvSpPr>
          <p:nvPr>
            <p:ph type="sldNum" sz="quarter" idx="5"/>
          </p:nvPr>
        </p:nvSpPr>
        <p:spPr/>
        <p:txBody>
          <a:bodyPr/>
          <a:lstStyle/>
          <a:p>
            <a:pPr>
              <a:defRPr/>
            </a:pPr>
            <a:fld id="{E9539218-AF35-4C29-B7A1-DCC55E5102B9}" type="slidenum">
              <a:rPr lang="zh-TW" altLang="en-US" smtClean="0"/>
              <a:pPr>
                <a:defRPr/>
              </a:pPr>
              <a:t>4</a:t>
            </a:fld>
            <a:endParaRPr lang="en-US" altLang="zh-TW"/>
          </a:p>
        </p:txBody>
      </p:sp>
    </p:spTree>
    <p:extLst>
      <p:ext uri="{BB962C8B-B14F-4D97-AF65-F5344CB8AC3E}">
        <p14:creationId xmlns:p14="http://schemas.microsoft.com/office/powerpoint/2010/main" val="10605267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ChangeArrowheads="1" noTextEdit="1"/>
          </p:cNvSpPr>
          <p:nvPr>
            <p:ph type="sldImg"/>
          </p:nvPr>
        </p:nvSpPr>
        <p:spPr>
          <a:xfrm>
            <a:off x="2697163" y="509588"/>
            <a:ext cx="4537075" cy="2552700"/>
          </a:xfrm>
          <a:ln/>
        </p:spPr>
      </p:sp>
      <p:sp>
        <p:nvSpPr>
          <p:cNvPr id="22531" name="备注占位符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简单介绍</a:t>
            </a:r>
            <a:r>
              <a:rPr lang="en-US" altLang="zh-CN" dirty="0">
                <a:latin typeface="Arial" panose="020B0604020202020204" pitchFamily="34" charset="0"/>
              </a:rPr>
              <a:t>IEC</a:t>
            </a:r>
            <a:r>
              <a:rPr lang="zh-CN" altLang="en-US" dirty="0">
                <a:latin typeface="Arial" panose="020B0604020202020204" pitchFamily="34" charset="0"/>
              </a:rPr>
              <a:t>技术</a:t>
            </a:r>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A17E7CBE-4A32-468F-A9E0-471668CC128A}"/>
              </a:ext>
            </a:extLst>
          </p:cNvPr>
          <p:cNvSpPr>
            <a:spLocks noGrp="1"/>
          </p:cNvSpPr>
          <p:nvPr>
            <p:ph type="sldNum" sz="quarter" idx="5"/>
          </p:nvPr>
        </p:nvSpPr>
        <p:spPr/>
        <p:txBody>
          <a:bodyPr/>
          <a:lstStyle/>
          <a:p>
            <a:pPr>
              <a:defRPr/>
            </a:pPr>
            <a:fld id="{E9539218-AF35-4C29-B7A1-DCC55E5102B9}" type="slidenum">
              <a:rPr lang="zh-TW" altLang="en-US" smtClean="0"/>
              <a:pPr>
                <a:defRPr/>
              </a:pPr>
              <a:t>5</a:t>
            </a:fld>
            <a:endParaRPr lang="en-US" altLang="zh-TW"/>
          </a:p>
        </p:txBody>
      </p:sp>
    </p:spTree>
    <p:extLst>
      <p:ext uri="{BB962C8B-B14F-4D97-AF65-F5344CB8AC3E}">
        <p14:creationId xmlns:p14="http://schemas.microsoft.com/office/powerpoint/2010/main" val="1086578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DB485-C6C9-DE43-C701-188AA19B4C3A}"/>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FE39F334-9834-9F60-8E0D-CAB6CA514C79}"/>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766A8E08-4858-4B20-979E-F4D583385BCC}"/>
              </a:ext>
            </a:extLst>
          </p:cNvPr>
          <p:cNvSpPr>
            <a:spLocks noGrp="1"/>
          </p:cNvSpPr>
          <p:nvPr>
            <p:ph type="body" idx="1"/>
          </p:nvPr>
        </p:nvSpPr>
        <p:spPr/>
        <p:txBody>
          <a:bodyPr/>
          <a:lstStyle/>
          <a:p>
            <a:r>
              <a:rPr lang="zh-CN" altLang="en-US" dirty="0">
                <a:latin typeface="Calibri" panose="020F0502020204030204" pitchFamily="34" charset="0"/>
              </a:rPr>
              <a:t>确定</a:t>
            </a:r>
            <a:r>
              <a:rPr lang="en-US" altLang="zh-CN" dirty="0">
                <a:latin typeface="Calibri" panose="020F0502020204030204" pitchFamily="34" charset="0"/>
              </a:rPr>
              <a:t>IEC</a:t>
            </a:r>
            <a:r>
              <a:rPr lang="zh-CN" altLang="en-US" dirty="0">
                <a:latin typeface="Calibri" panose="020F0502020204030204" pitchFamily="34" charset="0"/>
              </a:rPr>
              <a:t>通道尺寸的依据，平衡效率和能耗指标</a:t>
            </a:r>
            <a:endParaRPr lang="en-US" altLang="en-US" dirty="0">
              <a:latin typeface="Calibri" panose="020F0502020204030204" pitchFamily="34" charset="0"/>
            </a:endParaRPr>
          </a:p>
        </p:txBody>
      </p:sp>
      <p:sp>
        <p:nvSpPr>
          <p:cNvPr id="38916" name="灯片编号占位符 3">
            <a:extLst>
              <a:ext uri="{FF2B5EF4-FFF2-40B4-BE49-F238E27FC236}">
                <a16:creationId xmlns:a16="http://schemas.microsoft.com/office/drawing/2014/main" id="{CAAAB72E-E2C4-78C0-B0C5-D644C7969C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3200">
                <a:solidFill>
                  <a:schemeClr val="bg2"/>
                </a:solidFill>
                <a:latin typeface="Arial" panose="020B0604020202020204" pitchFamily="34" charset="0"/>
                <a:ea typeface="ＭＳ Ｐゴシック" panose="020B0600070205080204" pitchFamily="34" charset="-128"/>
              </a:defRPr>
            </a:lvl1pPr>
            <a:lvl2pPr marL="742950" indent="-285750" defTabSz="928688">
              <a:defRPr sz="3200">
                <a:solidFill>
                  <a:schemeClr val="bg2"/>
                </a:solidFill>
                <a:latin typeface="Arial" panose="020B0604020202020204" pitchFamily="34" charset="0"/>
                <a:ea typeface="ＭＳ Ｐゴシック" panose="020B0600070205080204" pitchFamily="34" charset="-128"/>
              </a:defRPr>
            </a:lvl2pPr>
            <a:lvl3pPr marL="1143000" indent="-228600" defTabSz="928688">
              <a:defRPr sz="3200">
                <a:solidFill>
                  <a:schemeClr val="bg2"/>
                </a:solidFill>
                <a:latin typeface="Arial" panose="020B0604020202020204" pitchFamily="34" charset="0"/>
                <a:ea typeface="ＭＳ Ｐゴシック" panose="020B0600070205080204" pitchFamily="34" charset="-128"/>
              </a:defRPr>
            </a:lvl3pPr>
            <a:lvl4pPr marL="1600200" indent="-228600" defTabSz="928688">
              <a:defRPr sz="3200">
                <a:solidFill>
                  <a:schemeClr val="bg2"/>
                </a:solidFill>
                <a:latin typeface="Arial" panose="020B0604020202020204" pitchFamily="34" charset="0"/>
                <a:ea typeface="ＭＳ Ｐゴシック" panose="020B0600070205080204" pitchFamily="34" charset="-128"/>
              </a:defRPr>
            </a:lvl4pPr>
            <a:lvl5pPr marL="2057400" indent="-228600" defTabSz="928688">
              <a:defRPr sz="3200">
                <a:solidFill>
                  <a:schemeClr val="bg2"/>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fld id="{AC9FDF28-16E2-4F88-AFDB-0A178E898CF1}" type="slidenum">
              <a:rPr lang="en-US" altLang="zh-CN" sz="1200">
                <a:solidFill>
                  <a:srgbClr val="000000"/>
                </a:solidFill>
              </a:rPr>
              <a:pPr/>
              <a:t>6</a:t>
            </a:fld>
            <a:endParaRPr lang="en-US" altLang="zh-CN" sz="1200">
              <a:solidFill>
                <a:srgbClr val="000000"/>
              </a:solidFill>
            </a:endParaRPr>
          </a:p>
        </p:txBody>
      </p:sp>
    </p:spTree>
    <p:extLst>
      <p:ext uri="{BB962C8B-B14F-4D97-AF65-F5344CB8AC3E}">
        <p14:creationId xmlns:p14="http://schemas.microsoft.com/office/powerpoint/2010/main" val="1689608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9BCF5-A787-B3A8-562E-3E962FBC2F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FCEEA2-D8EF-EF92-7852-01FF216D026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A9CBFB-7D95-7CD6-6604-DD657296E8B8}"/>
              </a:ext>
            </a:extLst>
          </p:cNvPr>
          <p:cNvSpPr>
            <a:spLocks noGrp="1"/>
          </p:cNvSpPr>
          <p:nvPr>
            <p:ph type="body" idx="1"/>
          </p:nvPr>
        </p:nvSpPr>
        <p:spPr/>
        <p:txBody>
          <a:bodyPr/>
          <a:lstStyle/>
          <a:p>
            <a:r>
              <a:rPr lang="zh-CN" altLang="en-US" dirty="0"/>
              <a:t>通过对比金属材料和高分子材料引出本次的研究对象</a:t>
            </a:r>
            <a:endParaRPr lang="en-HK" dirty="0"/>
          </a:p>
        </p:txBody>
      </p:sp>
      <p:sp>
        <p:nvSpPr>
          <p:cNvPr id="4" name="灯片编号占位符 3">
            <a:extLst>
              <a:ext uri="{FF2B5EF4-FFF2-40B4-BE49-F238E27FC236}">
                <a16:creationId xmlns:a16="http://schemas.microsoft.com/office/drawing/2014/main" id="{F630CEFA-9407-F7C0-D0A4-997BFFB2E4A3}"/>
              </a:ext>
            </a:extLst>
          </p:cNvPr>
          <p:cNvSpPr>
            <a:spLocks noGrp="1"/>
          </p:cNvSpPr>
          <p:nvPr>
            <p:ph type="sldNum" sz="quarter" idx="5"/>
          </p:nvPr>
        </p:nvSpPr>
        <p:spPr/>
        <p:txBody>
          <a:bodyPr/>
          <a:lstStyle/>
          <a:p>
            <a:fld id="{999CBD08-3C3E-4887-8E99-43CADEB6192B}" type="slidenum">
              <a:rPr lang="en-HK" smtClean="0"/>
              <a:t>7</a:t>
            </a:fld>
            <a:endParaRPr lang="en-HK"/>
          </a:p>
        </p:txBody>
      </p:sp>
    </p:spTree>
    <p:extLst>
      <p:ext uri="{BB962C8B-B14F-4D97-AF65-F5344CB8AC3E}">
        <p14:creationId xmlns:p14="http://schemas.microsoft.com/office/powerpoint/2010/main" val="3706309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38907-0DA2-432A-561F-5CE4D953B5B9}"/>
            </a:ext>
          </a:extLst>
        </p:cNvPr>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8EAB107B-194F-A2E4-9CEB-93372274BC83}"/>
              </a:ext>
            </a:extLst>
          </p:cNvPr>
          <p:cNvSpPr>
            <a:spLocks noGrp="1" noRot="1" noChangeAspect="1" noChangeArrowheads="1" noTextEdit="1"/>
          </p:cNvSpPr>
          <p:nvPr>
            <p:ph type="sldImg"/>
          </p:nvPr>
        </p:nvSpPr>
        <p:spPr>
          <a:xfrm>
            <a:off x="2697163" y="509588"/>
            <a:ext cx="4537075" cy="2552700"/>
          </a:xfrm>
          <a:ln/>
        </p:spPr>
      </p:sp>
      <p:sp>
        <p:nvSpPr>
          <p:cNvPr id="22531" name="备注占位符 2">
            <a:extLst>
              <a:ext uri="{FF2B5EF4-FFF2-40B4-BE49-F238E27FC236}">
                <a16:creationId xmlns:a16="http://schemas.microsoft.com/office/drawing/2014/main" id="{34AEFBB0-7910-5251-0489-5E83D5A58E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传热系数分母的中间项是热阻，为壁厚和板材导热系数的比值。</a:t>
            </a:r>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35C3DE66-9EAB-4602-3324-AAADAE338386}"/>
              </a:ext>
            </a:extLst>
          </p:cNvPr>
          <p:cNvSpPr>
            <a:spLocks noGrp="1"/>
          </p:cNvSpPr>
          <p:nvPr>
            <p:ph type="sldNum" sz="quarter" idx="5"/>
          </p:nvPr>
        </p:nvSpPr>
        <p:spPr/>
        <p:txBody>
          <a:bodyPr/>
          <a:lstStyle/>
          <a:p>
            <a:pPr>
              <a:defRPr/>
            </a:pPr>
            <a:fld id="{E9539218-AF35-4C29-B7A1-DCC55E5102B9}" type="slidenum">
              <a:rPr lang="zh-TW" altLang="en-US" smtClean="0"/>
              <a:pPr>
                <a:defRPr/>
              </a:pPr>
              <a:t>9</a:t>
            </a:fld>
            <a:endParaRPr lang="en-US" altLang="zh-TW"/>
          </a:p>
        </p:txBody>
      </p:sp>
    </p:spTree>
    <p:extLst>
      <p:ext uri="{BB962C8B-B14F-4D97-AF65-F5344CB8AC3E}">
        <p14:creationId xmlns:p14="http://schemas.microsoft.com/office/powerpoint/2010/main" val="1749127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A3E3-B76A-A53F-E84C-BB40277DC50E}"/>
            </a:ext>
          </a:extLst>
        </p:cNvPr>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C6A8D115-AE45-47F5-CA87-2CBD576EC08B}"/>
              </a:ext>
            </a:extLst>
          </p:cNvPr>
          <p:cNvSpPr>
            <a:spLocks noGrp="1" noRot="1" noChangeAspect="1" noChangeArrowheads="1" noTextEdit="1"/>
          </p:cNvSpPr>
          <p:nvPr>
            <p:ph type="sldImg"/>
          </p:nvPr>
        </p:nvSpPr>
        <p:spPr>
          <a:xfrm>
            <a:off x="2697163" y="509588"/>
            <a:ext cx="4537075" cy="2552700"/>
          </a:xfrm>
          <a:ln/>
        </p:spPr>
      </p:sp>
      <p:sp>
        <p:nvSpPr>
          <p:cNvPr id="22531" name="备注占位符 2">
            <a:extLst>
              <a:ext uri="{FF2B5EF4-FFF2-40B4-BE49-F238E27FC236}">
                <a16:creationId xmlns:a16="http://schemas.microsoft.com/office/drawing/2014/main" id="{876BC54D-4DDC-59BB-FE90-EB1A4B324C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左图：聚丙烯</a:t>
            </a:r>
            <a:r>
              <a:rPr lang="en-US" altLang="zh-CN" dirty="0">
                <a:latin typeface="Arial" panose="020B0604020202020204" pitchFamily="34" charset="0"/>
              </a:rPr>
              <a:t>IEC</a:t>
            </a:r>
            <a:r>
              <a:rPr lang="zh-CN" altLang="en-US" dirty="0">
                <a:latin typeface="Arial" panose="020B0604020202020204" pitchFamily="34" charset="0"/>
              </a:rPr>
              <a:t>的实验装置</a:t>
            </a:r>
            <a:endParaRPr lang="en-US" altLang="zh-CN" dirty="0">
              <a:latin typeface="Arial" panose="020B0604020202020204" pitchFamily="34" charset="0"/>
            </a:endParaRPr>
          </a:p>
          <a:p>
            <a:r>
              <a:rPr lang="zh-CN" altLang="en-US" dirty="0">
                <a:latin typeface="Arial" panose="020B0604020202020204" pitchFamily="34" charset="0"/>
              </a:rPr>
              <a:t>右图：研究所建立的模型与实验值的对比</a:t>
            </a:r>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73AF2683-55ED-7168-F555-C5A3362145A5}"/>
              </a:ext>
            </a:extLst>
          </p:cNvPr>
          <p:cNvSpPr>
            <a:spLocks noGrp="1"/>
          </p:cNvSpPr>
          <p:nvPr>
            <p:ph type="sldNum" sz="quarter" idx="5"/>
          </p:nvPr>
        </p:nvSpPr>
        <p:spPr/>
        <p:txBody>
          <a:bodyPr/>
          <a:lstStyle/>
          <a:p>
            <a:pPr>
              <a:defRPr/>
            </a:pPr>
            <a:fld id="{E9539218-AF35-4C29-B7A1-DCC55E5102B9}" type="slidenum">
              <a:rPr lang="zh-TW" altLang="en-US" smtClean="0"/>
              <a:pPr>
                <a:defRPr/>
              </a:pPr>
              <a:t>10</a:t>
            </a:fld>
            <a:endParaRPr lang="en-US" altLang="zh-TW"/>
          </a:p>
        </p:txBody>
      </p:sp>
    </p:spTree>
    <p:extLst>
      <p:ext uri="{BB962C8B-B14F-4D97-AF65-F5344CB8AC3E}">
        <p14:creationId xmlns:p14="http://schemas.microsoft.com/office/powerpoint/2010/main" val="1328841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71F93-15BC-6033-F220-8D1FA15DEAA3}"/>
            </a:ext>
          </a:extLst>
        </p:cNvPr>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78577816-6482-7B61-AEDE-C54867678740}"/>
              </a:ext>
            </a:extLst>
          </p:cNvPr>
          <p:cNvSpPr>
            <a:spLocks noGrp="1" noRot="1" noChangeAspect="1" noChangeArrowheads="1" noTextEdit="1"/>
          </p:cNvSpPr>
          <p:nvPr>
            <p:ph type="sldImg"/>
          </p:nvPr>
        </p:nvSpPr>
        <p:spPr>
          <a:xfrm>
            <a:off x="2697163" y="509588"/>
            <a:ext cx="4537075" cy="2552700"/>
          </a:xfrm>
          <a:ln/>
        </p:spPr>
      </p:sp>
      <p:sp>
        <p:nvSpPr>
          <p:cNvPr id="22531" name="备注占位符 2">
            <a:extLst>
              <a:ext uri="{FF2B5EF4-FFF2-40B4-BE49-F238E27FC236}">
                <a16:creationId xmlns:a16="http://schemas.microsoft.com/office/drawing/2014/main" id="{C55CE77F-483D-A8E9-D74E-A5FDDD2AC7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二次风与喷淋水直接接触，其温度沿着通道先降低后升高，湿度沿通道不断升高；</a:t>
            </a:r>
            <a:endParaRPr lang="en-US" altLang="zh-CN" dirty="0">
              <a:latin typeface="Arial" panose="020B0604020202020204" pitchFamily="34" charset="0"/>
            </a:endParaRPr>
          </a:p>
          <a:p>
            <a:r>
              <a:rPr lang="zh-CN" altLang="en-US" dirty="0">
                <a:latin typeface="Arial" panose="020B0604020202020204" pitchFamily="34" charset="0"/>
              </a:rPr>
              <a:t>一次风温度沿通道不断降低，湿度由于冷凝现象的出现也会有一定程度的降低。</a:t>
            </a:r>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2C1C4F72-EECB-8E3A-7538-D0C7A9DA1114}"/>
              </a:ext>
            </a:extLst>
          </p:cNvPr>
          <p:cNvSpPr>
            <a:spLocks noGrp="1"/>
          </p:cNvSpPr>
          <p:nvPr>
            <p:ph type="sldNum" sz="quarter" idx="5"/>
          </p:nvPr>
        </p:nvSpPr>
        <p:spPr/>
        <p:txBody>
          <a:bodyPr/>
          <a:lstStyle/>
          <a:p>
            <a:pPr>
              <a:defRPr/>
            </a:pPr>
            <a:fld id="{E9539218-AF35-4C29-B7A1-DCC55E5102B9}" type="slidenum">
              <a:rPr lang="zh-TW" altLang="en-US" smtClean="0"/>
              <a:pPr>
                <a:defRPr/>
              </a:pPr>
              <a:t>12</a:t>
            </a:fld>
            <a:endParaRPr lang="en-US" altLang="zh-TW"/>
          </a:p>
        </p:txBody>
      </p:sp>
    </p:spTree>
    <p:extLst>
      <p:ext uri="{BB962C8B-B14F-4D97-AF65-F5344CB8AC3E}">
        <p14:creationId xmlns:p14="http://schemas.microsoft.com/office/powerpoint/2010/main" val="21635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D06F-DDBC-0E12-9D69-450DC4956430}"/>
            </a:ext>
          </a:extLst>
        </p:cNvPr>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C1831FE8-2E0A-8A32-B22D-5BB9AB9FD0E9}"/>
              </a:ext>
            </a:extLst>
          </p:cNvPr>
          <p:cNvSpPr>
            <a:spLocks noGrp="1" noRot="1" noChangeAspect="1" noChangeArrowheads="1" noTextEdit="1"/>
          </p:cNvSpPr>
          <p:nvPr>
            <p:ph type="sldImg"/>
          </p:nvPr>
        </p:nvSpPr>
        <p:spPr>
          <a:xfrm>
            <a:off x="2697163" y="509588"/>
            <a:ext cx="4537075" cy="2552700"/>
          </a:xfrm>
          <a:ln/>
        </p:spPr>
      </p:sp>
      <p:sp>
        <p:nvSpPr>
          <p:cNvPr id="22531" name="备注占位符 2">
            <a:extLst>
              <a:ext uri="{FF2B5EF4-FFF2-40B4-BE49-F238E27FC236}">
                <a16:creationId xmlns:a16="http://schemas.microsoft.com/office/drawing/2014/main" id="{8D2D5F49-D150-37FF-3718-2148913B6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红色标记代表铝板，黑色代表聚丙烯材料，上面三张图代表一次风参数变化时湿球效率的变化，下面代表冷凝率的变化。</a:t>
            </a:r>
            <a:endParaRPr lang="en-US" altLang="zh-CN" dirty="0">
              <a:latin typeface="Arial" panose="020B0604020202020204" pitchFamily="34" charset="0"/>
            </a:endParaRPr>
          </a:p>
          <a:p>
            <a:r>
              <a:rPr lang="zh-CN" altLang="en-US" dirty="0">
                <a:latin typeface="Arial" panose="020B0604020202020204" pitchFamily="34" charset="0"/>
              </a:rPr>
              <a:t>结果表明聚丙烯材料在参数变化时两个性能参数与铝板变化趋势一致，虽然均略低于铝板，但是其总体性能较好，满足在湿热地区的使用要求。以上为模型的模拟结果，下一章节将介绍实际应用的性能表现。</a:t>
            </a:r>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7939D9A9-EAAD-507F-8FA3-5227C87ADBC1}"/>
              </a:ext>
            </a:extLst>
          </p:cNvPr>
          <p:cNvSpPr>
            <a:spLocks noGrp="1"/>
          </p:cNvSpPr>
          <p:nvPr>
            <p:ph type="sldNum" sz="quarter" idx="5"/>
          </p:nvPr>
        </p:nvSpPr>
        <p:spPr/>
        <p:txBody>
          <a:bodyPr/>
          <a:lstStyle/>
          <a:p>
            <a:pPr>
              <a:defRPr/>
            </a:pPr>
            <a:fld id="{E9539218-AF35-4C29-B7A1-DCC55E5102B9}" type="slidenum">
              <a:rPr lang="zh-TW" altLang="en-US" smtClean="0"/>
              <a:pPr>
                <a:defRPr/>
              </a:pPr>
              <a:t>13</a:t>
            </a:fld>
            <a:endParaRPr lang="en-US" altLang="zh-TW"/>
          </a:p>
        </p:txBody>
      </p:sp>
    </p:spTree>
    <p:extLst>
      <p:ext uri="{BB962C8B-B14F-4D97-AF65-F5344CB8AC3E}">
        <p14:creationId xmlns:p14="http://schemas.microsoft.com/office/powerpoint/2010/main" val="2819300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99CBD08-3C3E-4887-8E99-43CADEB6192B}" type="slidenum">
              <a:rPr lang="en-HK" smtClean="0"/>
              <a:t>14</a:t>
            </a:fld>
            <a:endParaRPr lang="en-HK"/>
          </a:p>
        </p:txBody>
      </p:sp>
    </p:spTree>
    <p:extLst>
      <p:ext uri="{BB962C8B-B14F-4D97-AF65-F5344CB8AC3E}">
        <p14:creationId xmlns:p14="http://schemas.microsoft.com/office/powerpoint/2010/main" val="51518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6673C-33ED-2218-20BA-CD9B77DDE3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67FC32-4D7B-AB6D-209E-C2057AFC5E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3671B6-8F01-02F0-FC4E-FEB83A9E1AD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F7744AD-0DD8-9767-9A07-B8E55B0911A0}"/>
              </a:ext>
            </a:extLst>
          </p:cNvPr>
          <p:cNvSpPr>
            <a:spLocks noGrp="1"/>
          </p:cNvSpPr>
          <p:nvPr>
            <p:ph type="sldNum" sz="quarter" idx="5"/>
          </p:nvPr>
        </p:nvSpPr>
        <p:spPr/>
        <p:txBody>
          <a:bodyPr/>
          <a:lstStyle/>
          <a:p>
            <a:fld id="{093CF019-A9A4-F541-B5AA-44003FB8F095}" type="slidenum">
              <a:rPr lang="en-US" smtClean="0"/>
              <a:t>15</a:t>
            </a:fld>
            <a:endParaRPr lang="en-US"/>
          </a:p>
        </p:txBody>
      </p:sp>
    </p:spTree>
    <p:extLst>
      <p:ext uri="{BB962C8B-B14F-4D97-AF65-F5344CB8AC3E}">
        <p14:creationId xmlns:p14="http://schemas.microsoft.com/office/powerpoint/2010/main" val="2658962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B781BB0D-28B0-4A3B-82E4-03149282AF98}"/>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98585298-9338-494B-A178-BBD9BA38AB7D}"/>
              </a:ext>
            </a:extLst>
          </p:cNvPr>
          <p:cNvSpPr>
            <a:spLocks noGrp="1"/>
          </p:cNvSpPr>
          <p:nvPr>
            <p:ph type="body" idx="1"/>
          </p:nvPr>
        </p:nvSpPr>
        <p:spPr/>
        <p:txBody>
          <a:bodyPr/>
          <a:lstStyle/>
          <a:p>
            <a:r>
              <a:rPr lang="zh-CN" altLang="en-US" dirty="0">
                <a:latin typeface="Calibri" panose="020F0502020204030204" pitchFamily="34" charset="0"/>
              </a:rPr>
              <a:t>新风全部送入</a:t>
            </a:r>
            <a:r>
              <a:rPr lang="en-US" altLang="zh-CN" dirty="0">
                <a:latin typeface="Calibri" panose="020F0502020204030204" pitchFamily="34" charset="0"/>
              </a:rPr>
              <a:t>PP-IEC</a:t>
            </a:r>
            <a:r>
              <a:rPr lang="zh-CN" altLang="en-US" dirty="0">
                <a:latin typeface="Calibri" panose="020F0502020204030204" pitchFamily="34" charset="0"/>
              </a:rPr>
              <a:t>进行预处理，接着平均分为两部分进入两台</a:t>
            </a:r>
            <a:r>
              <a:rPr lang="en-US" altLang="zh-CN" dirty="0">
                <a:latin typeface="Calibri" panose="020F0502020204030204" pitchFamily="34" charset="0"/>
              </a:rPr>
              <a:t>AHU</a:t>
            </a:r>
            <a:r>
              <a:rPr lang="zh-CN" altLang="en-US" dirty="0">
                <a:latin typeface="Calibri" panose="020F0502020204030204" pitchFamily="34" charset="0"/>
              </a:rPr>
              <a:t>，被处理到满足室内送风的条件下送入到餐厅区域</a:t>
            </a:r>
            <a:endParaRPr lang="en-US" altLang="zh-CN" dirty="0">
              <a:latin typeface="Calibri" panose="020F0502020204030204" pitchFamily="34" charset="0"/>
            </a:endParaRPr>
          </a:p>
          <a:p>
            <a:endParaRPr lang="en-US" altLang="en-US" dirty="0">
              <a:latin typeface="Calibri" panose="020F0502020204030204" pitchFamily="34" charset="0"/>
            </a:endParaRPr>
          </a:p>
        </p:txBody>
      </p:sp>
      <p:sp>
        <p:nvSpPr>
          <p:cNvPr id="38916" name="灯片编号占位符 3">
            <a:extLst>
              <a:ext uri="{FF2B5EF4-FFF2-40B4-BE49-F238E27FC236}">
                <a16:creationId xmlns:a16="http://schemas.microsoft.com/office/drawing/2014/main" id="{3D45A3E5-E650-4208-B131-D41FB1107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3200">
                <a:solidFill>
                  <a:schemeClr val="bg2"/>
                </a:solidFill>
                <a:latin typeface="Arial" panose="020B0604020202020204" pitchFamily="34" charset="0"/>
                <a:ea typeface="ＭＳ Ｐゴシック" panose="020B0600070205080204" pitchFamily="34" charset="-128"/>
              </a:defRPr>
            </a:lvl1pPr>
            <a:lvl2pPr marL="742950" indent="-285750" defTabSz="928688">
              <a:defRPr sz="3200">
                <a:solidFill>
                  <a:schemeClr val="bg2"/>
                </a:solidFill>
                <a:latin typeface="Arial" panose="020B0604020202020204" pitchFamily="34" charset="0"/>
                <a:ea typeface="ＭＳ Ｐゴシック" panose="020B0600070205080204" pitchFamily="34" charset="-128"/>
              </a:defRPr>
            </a:lvl2pPr>
            <a:lvl3pPr marL="1143000" indent="-228600" defTabSz="928688">
              <a:defRPr sz="3200">
                <a:solidFill>
                  <a:schemeClr val="bg2"/>
                </a:solidFill>
                <a:latin typeface="Arial" panose="020B0604020202020204" pitchFamily="34" charset="0"/>
                <a:ea typeface="ＭＳ Ｐゴシック" panose="020B0600070205080204" pitchFamily="34" charset="-128"/>
              </a:defRPr>
            </a:lvl3pPr>
            <a:lvl4pPr marL="1600200" indent="-228600" defTabSz="928688">
              <a:defRPr sz="3200">
                <a:solidFill>
                  <a:schemeClr val="bg2"/>
                </a:solidFill>
                <a:latin typeface="Arial" panose="020B0604020202020204" pitchFamily="34" charset="0"/>
                <a:ea typeface="ＭＳ Ｐゴシック" panose="020B0600070205080204" pitchFamily="34" charset="-128"/>
              </a:defRPr>
            </a:lvl4pPr>
            <a:lvl5pPr marL="2057400" indent="-228600" defTabSz="928688">
              <a:defRPr sz="3200">
                <a:solidFill>
                  <a:schemeClr val="bg2"/>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fld id="{AC9FDF28-16E2-4F88-AFDB-0A178E898CF1}" type="slidenum">
              <a:rPr lang="en-US" altLang="zh-CN" sz="1200">
                <a:solidFill>
                  <a:srgbClr val="000000"/>
                </a:solidFill>
              </a:rPr>
              <a:pPr/>
              <a:t>16</a:t>
            </a:fld>
            <a:endParaRPr lang="en-US" altLang="zh-CN" sz="1200">
              <a:solidFill>
                <a:srgbClr val="000000"/>
              </a:solidFill>
            </a:endParaRPr>
          </a:p>
        </p:txBody>
      </p:sp>
    </p:spTree>
    <p:extLst>
      <p:ext uri="{BB962C8B-B14F-4D97-AF65-F5344CB8AC3E}">
        <p14:creationId xmlns:p14="http://schemas.microsoft.com/office/powerpoint/2010/main" val="3965966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B781BB0D-28B0-4A3B-82E4-03149282AF98}"/>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98585298-9338-494B-A178-BBD9BA38AB7D}"/>
              </a:ext>
            </a:extLst>
          </p:cNvPr>
          <p:cNvSpPr>
            <a:spLocks noGrp="1"/>
          </p:cNvSpPr>
          <p:nvPr>
            <p:ph type="body" idx="1"/>
          </p:nvPr>
        </p:nvSpPr>
        <p:spPr/>
        <p:txBody>
          <a:bodyPr/>
          <a:lstStyle/>
          <a:p>
            <a:endParaRPr lang="en-US" altLang="en-US" dirty="0">
              <a:latin typeface="Calibri" panose="020F0502020204030204" pitchFamily="34" charset="0"/>
            </a:endParaRPr>
          </a:p>
        </p:txBody>
      </p:sp>
      <p:sp>
        <p:nvSpPr>
          <p:cNvPr id="38916" name="灯片编号占位符 3">
            <a:extLst>
              <a:ext uri="{FF2B5EF4-FFF2-40B4-BE49-F238E27FC236}">
                <a16:creationId xmlns:a16="http://schemas.microsoft.com/office/drawing/2014/main" id="{3D45A3E5-E650-4208-B131-D41FB1107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3200">
                <a:solidFill>
                  <a:schemeClr val="bg2"/>
                </a:solidFill>
                <a:latin typeface="Arial" panose="020B0604020202020204" pitchFamily="34" charset="0"/>
                <a:ea typeface="ＭＳ Ｐゴシック" panose="020B0600070205080204" pitchFamily="34" charset="-128"/>
              </a:defRPr>
            </a:lvl1pPr>
            <a:lvl2pPr marL="742950" indent="-285750" defTabSz="928688">
              <a:defRPr sz="3200">
                <a:solidFill>
                  <a:schemeClr val="bg2"/>
                </a:solidFill>
                <a:latin typeface="Arial" panose="020B0604020202020204" pitchFamily="34" charset="0"/>
                <a:ea typeface="ＭＳ Ｐゴシック" panose="020B0600070205080204" pitchFamily="34" charset="-128"/>
              </a:defRPr>
            </a:lvl2pPr>
            <a:lvl3pPr marL="1143000" indent="-228600" defTabSz="928688">
              <a:defRPr sz="3200">
                <a:solidFill>
                  <a:schemeClr val="bg2"/>
                </a:solidFill>
                <a:latin typeface="Arial" panose="020B0604020202020204" pitchFamily="34" charset="0"/>
                <a:ea typeface="ＭＳ Ｐゴシック" panose="020B0600070205080204" pitchFamily="34" charset="-128"/>
              </a:defRPr>
            </a:lvl3pPr>
            <a:lvl4pPr marL="1600200" indent="-228600" defTabSz="928688">
              <a:defRPr sz="3200">
                <a:solidFill>
                  <a:schemeClr val="bg2"/>
                </a:solidFill>
                <a:latin typeface="Arial" panose="020B0604020202020204" pitchFamily="34" charset="0"/>
                <a:ea typeface="ＭＳ Ｐゴシック" panose="020B0600070205080204" pitchFamily="34" charset="-128"/>
              </a:defRPr>
            </a:lvl4pPr>
            <a:lvl5pPr marL="2057400" indent="-228600" defTabSz="928688">
              <a:defRPr sz="3200">
                <a:solidFill>
                  <a:schemeClr val="bg2"/>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fld id="{AC9FDF28-16E2-4F88-AFDB-0A178E898CF1}" type="slidenum">
              <a:rPr lang="en-US" altLang="zh-CN" sz="1200">
                <a:solidFill>
                  <a:srgbClr val="000000"/>
                </a:solidFill>
              </a:rPr>
              <a:pPr/>
              <a:t>17</a:t>
            </a:fld>
            <a:endParaRPr lang="en-US" altLang="zh-CN" sz="1200">
              <a:solidFill>
                <a:srgbClr val="000000"/>
              </a:solidFill>
            </a:endParaRPr>
          </a:p>
        </p:txBody>
      </p:sp>
    </p:spTree>
    <p:extLst>
      <p:ext uri="{BB962C8B-B14F-4D97-AF65-F5344CB8AC3E}">
        <p14:creationId xmlns:p14="http://schemas.microsoft.com/office/powerpoint/2010/main" val="4012846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18</a:t>
            </a:fld>
            <a:endParaRPr lang="en-HK"/>
          </a:p>
        </p:txBody>
      </p:sp>
    </p:spTree>
    <p:extLst>
      <p:ext uri="{BB962C8B-B14F-4D97-AF65-F5344CB8AC3E}">
        <p14:creationId xmlns:p14="http://schemas.microsoft.com/office/powerpoint/2010/main" val="2779505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46F8-45C3-6AEE-C779-C209AA381277}"/>
            </a:ext>
          </a:extLst>
        </p:cNvPr>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A55C31C8-0BFC-6A53-40CD-6E50D9901F92}"/>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5070E3E2-DC4A-3B81-F49D-3811492F74B7}"/>
              </a:ext>
            </a:extLst>
          </p:cNvPr>
          <p:cNvSpPr>
            <a:spLocks noGrp="1"/>
          </p:cNvSpPr>
          <p:nvPr>
            <p:ph type="body" idx="1"/>
          </p:nvPr>
        </p:nvSpPr>
        <p:spPr/>
        <p:txBody>
          <a:bodyPr/>
          <a:lstStyle/>
          <a:p>
            <a:endParaRPr lang="en-US" altLang="en-US" dirty="0">
              <a:latin typeface="Calibri" panose="020F0502020204030204" pitchFamily="34" charset="0"/>
            </a:endParaRPr>
          </a:p>
        </p:txBody>
      </p:sp>
      <p:sp>
        <p:nvSpPr>
          <p:cNvPr id="38916" name="灯片编号占位符 3">
            <a:extLst>
              <a:ext uri="{FF2B5EF4-FFF2-40B4-BE49-F238E27FC236}">
                <a16:creationId xmlns:a16="http://schemas.microsoft.com/office/drawing/2014/main" id="{21CB0577-B206-625E-AFE0-0F39AF92DE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688">
              <a:defRPr sz="3200">
                <a:solidFill>
                  <a:schemeClr val="bg2"/>
                </a:solidFill>
                <a:latin typeface="Arial" panose="020B0604020202020204" pitchFamily="34" charset="0"/>
                <a:ea typeface="ＭＳ Ｐゴシック" panose="020B0600070205080204" pitchFamily="34" charset="-128"/>
              </a:defRPr>
            </a:lvl1pPr>
            <a:lvl2pPr marL="742950" indent="-285750" defTabSz="928688">
              <a:defRPr sz="3200">
                <a:solidFill>
                  <a:schemeClr val="bg2"/>
                </a:solidFill>
                <a:latin typeface="Arial" panose="020B0604020202020204" pitchFamily="34" charset="0"/>
                <a:ea typeface="ＭＳ Ｐゴシック" panose="020B0600070205080204" pitchFamily="34" charset="-128"/>
              </a:defRPr>
            </a:lvl2pPr>
            <a:lvl3pPr marL="1143000" indent="-228600" defTabSz="928688">
              <a:defRPr sz="3200">
                <a:solidFill>
                  <a:schemeClr val="bg2"/>
                </a:solidFill>
                <a:latin typeface="Arial" panose="020B0604020202020204" pitchFamily="34" charset="0"/>
                <a:ea typeface="ＭＳ Ｐゴシック" panose="020B0600070205080204" pitchFamily="34" charset="-128"/>
              </a:defRPr>
            </a:lvl3pPr>
            <a:lvl4pPr marL="1600200" indent="-228600" defTabSz="928688">
              <a:defRPr sz="3200">
                <a:solidFill>
                  <a:schemeClr val="bg2"/>
                </a:solidFill>
                <a:latin typeface="Arial" panose="020B0604020202020204" pitchFamily="34" charset="0"/>
                <a:ea typeface="ＭＳ Ｐゴシック" panose="020B0600070205080204" pitchFamily="34" charset="-128"/>
              </a:defRPr>
            </a:lvl4pPr>
            <a:lvl5pPr marL="2057400" indent="-228600" defTabSz="928688">
              <a:defRPr sz="3200">
                <a:solidFill>
                  <a:schemeClr val="bg2"/>
                </a:solidFill>
                <a:latin typeface="Arial" panose="020B0604020202020204" pitchFamily="34" charset="0"/>
                <a:ea typeface="ＭＳ Ｐゴシック" panose="020B0600070205080204" pitchFamily="34" charset="-128"/>
              </a:defRPr>
            </a:lvl5pPr>
            <a:lvl6pPr marL="25146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defTabSz="928688"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fld id="{AC9FDF28-16E2-4F88-AFDB-0A178E898CF1}" type="slidenum">
              <a:rPr lang="en-US" altLang="zh-CN" sz="1200">
                <a:solidFill>
                  <a:srgbClr val="000000"/>
                </a:solidFill>
              </a:rPr>
              <a:pPr/>
              <a:t>19</a:t>
            </a:fld>
            <a:endParaRPr lang="en-US" altLang="zh-CN" sz="1200">
              <a:solidFill>
                <a:srgbClr val="000000"/>
              </a:solidFill>
            </a:endParaRPr>
          </a:p>
        </p:txBody>
      </p:sp>
    </p:spTree>
    <p:extLst>
      <p:ext uri="{BB962C8B-B14F-4D97-AF65-F5344CB8AC3E}">
        <p14:creationId xmlns:p14="http://schemas.microsoft.com/office/powerpoint/2010/main" val="3121537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20</a:t>
            </a:fld>
            <a:endParaRPr lang="en-HK"/>
          </a:p>
        </p:txBody>
      </p:sp>
    </p:spTree>
    <p:extLst>
      <p:ext uri="{BB962C8B-B14F-4D97-AF65-F5344CB8AC3E}">
        <p14:creationId xmlns:p14="http://schemas.microsoft.com/office/powerpoint/2010/main" val="3040506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21</a:t>
            </a:fld>
            <a:endParaRPr lang="en-HK"/>
          </a:p>
        </p:txBody>
      </p:sp>
    </p:spTree>
    <p:extLst>
      <p:ext uri="{BB962C8B-B14F-4D97-AF65-F5344CB8AC3E}">
        <p14:creationId xmlns:p14="http://schemas.microsoft.com/office/powerpoint/2010/main" val="4230600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22</a:t>
            </a:fld>
            <a:endParaRPr lang="en-HK"/>
          </a:p>
        </p:txBody>
      </p:sp>
    </p:spTree>
    <p:extLst>
      <p:ext uri="{BB962C8B-B14F-4D97-AF65-F5344CB8AC3E}">
        <p14:creationId xmlns:p14="http://schemas.microsoft.com/office/powerpoint/2010/main" val="1294017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89EC-A3C8-F480-D161-BB21F910C556}"/>
            </a:ext>
          </a:extLst>
        </p:cNvPr>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773BECC7-131E-1034-556F-05ACD170485E}"/>
              </a:ext>
            </a:extLst>
          </p:cNvPr>
          <p:cNvSpPr>
            <a:spLocks noGrp="1" noRot="1" noChangeAspect="1" noChangeArrowheads="1" noTextEdit="1"/>
          </p:cNvSpPr>
          <p:nvPr>
            <p:ph type="sldImg"/>
          </p:nvPr>
        </p:nvSpPr>
        <p:spPr>
          <a:xfrm>
            <a:off x="2697163" y="509588"/>
            <a:ext cx="4537075" cy="2552700"/>
          </a:xfrm>
          <a:ln/>
        </p:spPr>
      </p:sp>
      <p:sp>
        <p:nvSpPr>
          <p:cNvPr id="22531" name="备注占位符 2">
            <a:extLst>
              <a:ext uri="{FF2B5EF4-FFF2-40B4-BE49-F238E27FC236}">
                <a16:creationId xmlns:a16="http://schemas.microsoft.com/office/drawing/2014/main" id="{F9FC9A51-AABD-1E84-DF32-DA75147573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上面两张图对比：黄线代表的新风温度始终高于绿线代表的送风温度，在灰色阴影标注的</a:t>
            </a:r>
            <a:r>
              <a:rPr lang="en-US" altLang="zh-CN" dirty="0">
                <a:latin typeface="Arial" panose="020B0604020202020204" pitchFamily="34" charset="0"/>
              </a:rPr>
              <a:t>IEC</a:t>
            </a:r>
            <a:r>
              <a:rPr lang="zh-CN" altLang="en-US" dirty="0">
                <a:latin typeface="Arial" panose="020B0604020202020204" pitchFamily="34" charset="0"/>
              </a:rPr>
              <a:t>运行时段尤为明显。</a:t>
            </a:r>
          </a:p>
          <a:p>
            <a:r>
              <a:rPr lang="zh-CN" altLang="en-US" dirty="0">
                <a:latin typeface="Arial" panose="020B0604020202020204" pitchFamily="34" charset="0"/>
              </a:rPr>
              <a:t>在三月份的运行过程中，尽管新风温度波动较大，送风温度仍保持相对稳定和较低水平。而八月份的的送风温降较三月有大幅提升。</a:t>
            </a:r>
            <a:endParaRPr lang="en-US" altLang="zh-CN" dirty="0">
              <a:latin typeface="Arial" panose="020B0604020202020204" pitchFamily="34" charset="0"/>
            </a:endParaRPr>
          </a:p>
          <a:p>
            <a:r>
              <a:rPr lang="zh-CN" altLang="en-US" dirty="0">
                <a:latin typeface="Arial" panose="020B0604020202020204" pitchFamily="34" charset="0"/>
              </a:rPr>
              <a:t>下面两张图代表八月某天的</a:t>
            </a:r>
            <a:r>
              <a:rPr lang="en-US" altLang="zh-CN" dirty="0">
                <a:latin typeface="Arial" panose="020B0604020202020204" pitchFamily="34" charset="0"/>
              </a:rPr>
              <a:t>PP-IEC</a:t>
            </a:r>
            <a:r>
              <a:rPr lang="zh-CN" altLang="en-US" dirty="0">
                <a:latin typeface="Arial" panose="020B0604020202020204" pitchFamily="34" charset="0"/>
              </a:rPr>
              <a:t>温降和除湿效果。下一页具体分析。</a:t>
            </a:r>
          </a:p>
          <a:p>
            <a:endParaRPr lang="zh-CN" altLang="zh-CN" dirty="0">
              <a:latin typeface="Arial" panose="020B0604020202020204" pitchFamily="34" charset="0"/>
            </a:endParaRPr>
          </a:p>
        </p:txBody>
      </p:sp>
      <p:sp>
        <p:nvSpPr>
          <p:cNvPr id="2" name="灯片编号占位符 1">
            <a:extLst>
              <a:ext uri="{FF2B5EF4-FFF2-40B4-BE49-F238E27FC236}">
                <a16:creationId xmlns:a16="http://schemas.microsoft.com/office/drawing/2014/main" id="{91BEA48B-8F22-402B-7E66-F4408068C290}"/>
              </a:ext>
            </a:extLst>
          </p:cNvPr>
          <p:cNvSpPr>
            <a:spLocks noGrp="1"/>
          </p:cNvSpPr>
          <p:nvPr>
            <p:ph type="sldNum" sz="quarter" idx="5"/>
          </p:nvPr>
        </p:nvSpPr>
        <p:spPr/>
        <p:txBody>
          <a:bodyPr/>
          <a:lstStyle/>
          <a:p>
            <a:pPr>
              <a:defRPr/>
            </a:pPr>
            <a:fld id="{E9539218-AF35-4C29-B7A1-DCC55E5102B9}" type="slidenum">
              <a:rPr lang="zh-TW" altLang="en-US" smtClean="0"/>
              <a:pPr>
                <a:defRPr/>
              </a:pPr>
              <a:t>23</a:t>
            </a:fld>
            <a:endParaRPr lang="en-US" altLang="zh-TW"/>
          </a:p>
        </p:txBody>
      </p:sp>
    </p:spTree>
    <p:extLst>
      <p:ext uri="{BB962C8B-B14F-4D97-AF65-F5344CB8AC3E}">
        <p14:creationId xmlns:p14="http://schemas.microsoft.com/office/powerpoint/2010/main" val="32168668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24</a:t>
            </a:fld>
            <a:endParaRPr lang="en-HK"/>
          </a:p>
        </p:txBody>
      </p:sp>
    </p:spTree>
    <p:extLst>
      <p:ext uri="{BB962C8B-B14F-4D97-AF65-F5344CB8AC3E}">
        <p14:creationId xmlns:p14="http://schemas.microsoft.com/office/powerpoint/2010/main" val="939167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HK" dirty="0"/>
          </a:p>
        </p:txBody>
      </p:sp>
      <p:sp>
        <p:nvSpPr>
          <p:cNvPr id="4" name="灯片编号占位符 3"/>
          <p:cNvSpPr>
            <a:spLocks noGrp="1"/>
          </p:cNvSpPr>
          <p:nvPr>
            <p:ph type="sldNum" sz="quarter" idx="5"/>
          </p:nvPr>
        </p:nvSpPr>
        <p:spPr/>
        <p:txBody>
          <a:bodyPr/>
          <a:lstStyle/>
          <a:p>
            <a:fld id="{999CBD08-3C3E-4887-8E99-43CADEB6192B}" type="slidenum">
              <a:rPr lang="en-HK" smtClean="0"/>
              <a:t>25</a:t>
            </a:fld>
            <a:endParaRPr lang="en-HK"/>
          </a:p>
        </p:txBody>
      </p:sp>
    </p:spTree>
    <p:extLst>
      <p:ext uri="{BB962C8B-B14F-4D97-AF65-F5344CB8AC3E}">
        <p14:creationId xmlns:p14="http://schemas.microsoft.com/office/powerpoint/2010/main" val="4163373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8BCB-C41B-B7F6-6E67-37834F74F7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52D883-9F89-0E39-267A-69011B3FE2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7580E9-6E06-685B-6475-D73ED0DAA980}"/>
              </a:ext>
            </a:extLst>
          </p:cNvPr>
          <p:cNvSpPr>
            <a:spLocks noGrp="1"/>
          </p:cNvSpPr>
          <p:nvPr>
            <p:ph type="body" idx="1"/>
          </p:nvPr>
        </p:nvSpPr>
        <p:spPr/>
        <p:txBody>
          <a:bodyPr/>
          <a:lstStyle/>
          <a:p>
            <a:endParaRPr lang="en-HK" dirty="0"/>
          </a:p>
        </p:txBody>
      </p:sp>
      <p:sp>
        <p:nvSpPr>
          <p:cNvPr id="4" name="灯片编号占位符 3">
            <a:extLst>
              <a:ext uri="{FF2B5EF4-FFF2-40B4-BE49-F238E27FC236}">
                <a16:creationId xmlns:a16="http://schemas.microsoft.com/office/drawing/2014/main" id="{4EE66E7F-CEB1-D171-47BE-A6D1B632CAAC}"/>
              </a:ext>
            </a:extLst>
          </p:cNvPr>
          <p:cNvSpPr>
            <a:spLocks noGrp="1"/>
          </p:cNvSpPr>
          <p:nvPr>
            <p:ph type="sldNum" sz="quarter" idx="5"/>
          </p:nvPr>
        </p:nvSpPr>
        <p:spPr/>
        <p:txBody>
          <a:bodyPr/>
          <a:lstStyle/>
          <a:p>
            <a:fld id="{999CBD08-3C3E-4887-8E99-43CADEB6192B}" type="slidenum">
              <a:rPr lang="en-HK" smtClean="0"/>
              <a:t>26</a:t>
            </a:fld>
            <a:endParaRPr lang="en-HK"/>
          </a:p>
        </p:txBody>
      </p:sp>
    </p:spTree>
    <p:extLst>
      <p:ext uri="{BB962C8B-B14F-4D97-AF65-F5344CB8AC3E}">
        <p14:creationId xmlns:p14="http://schemas.microsoft.com/office/powerpoint/2010/main" val="882592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6677-AC61-0757-74E4-C665DFB24B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3E1312-3B7A-4659-02C7-7EC7EE1C72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C09C89B-81A6-4F0D-CB02-D83F7D9567D9}"/>
              </a:ext>
            </a:extLst>
          </p:cNvPr>
          <p:cNvSpPr>
            <a:spLocks noGrp="1"/>
          </p:cNvSpPr>
          <p:nvPr>
            <p:ph type="body" idx="1"/>
          </p:nvPr>
        </p:nvSpPr>
        <p:spPr/>
        <p:txBody>
          <a:bodyPr/>
          <a:lstStyle/>
          <a:p>
            <a:endParaRPr lang="en-HK" dirty="0"/>
          </a:p>
        </p:txBody>
      </p:sp>
      <p:sp>
        <p:nvSpPr>
          <p:cNvPr id="4" name="灯片编号占位符 3">
            <a:extLst>
              <a:ext uri="{FF2B5EF4-FFF2-40B4-BE49-F238E27FC236}">
                <a16:creationId xmlns:a16="http://schemas.microsoft.com/office/drawing/2014/main" id="{2CBB5858-43DF-DB7F-B96E-F9001A77F8E1}"/>
              </a:ext>
            </a:extLst>
          </p:cNvPr>
          <p:cNvSpPr>
            <a:spLocks noGrp="1"/>
          </p:cNvSpPr>
          <p:nvPr>
            <p:ph type="sldNum" sz="quarter" idx="5"/>
          </p:nvPr>
        </p:nvSpPr>
        <p:spPr/>
        <p:txBody>
          <a:bodyPr/>
          <a:lstStyle/>
          <a:p>
            <a:fld id="{999CBD08-3C3E-4887-8E99-43CADEB6192B}" type="slidenum">
              <a:rPr lang="en-HK" smtClean="0"/>
              <a:t>27</a:t>
            </a:fld>
            <a:endParaRPr lang="en-HK"/>
          </a:p>
        </p:txBody>
      </p:sp>
    </p:spTree>
    <p:extLst>
      <p:ext uri="{BB962C8B-B14F-4D97-AF65-F5344CB8AC3E}">
        <p14:creationId xmlns:p14="http://schemas.microsoft.com/office/powerpoint/2010/main" val="15328987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0" y="6307139"/>
            <a:ext cx="12192000" cy="53975"/>
          </a:xfrm>
          <a:prstGeom prst="rect">
            <a:avLst/>
          </a:prstGeom>
          <a:solidFill>
            <a:srgbClr val="800000"/>
          </a:solidFill>
          <a:ln>
            <a:noFill/>
          </a:ln>
        </p:spPr>
        <p:txBody>
          <a:bodyPr wrap="none" anchor="ctr"/>
          <a:lstStyle>
            <a:lvl1pPr>
              <a:spcBef>
                <a:spcPct val="0"/>
              </a:spcBef>
              <a:defRPr sz="3200">
                <a:solidFill>
                  <a:schemeClr val="bg2"/>
                </a:solidFill>
                <a:latin typeface="Arial" panose="020B0604020202020204" pitchFamily="34" charset="0"/>
                <a:ea typeface="ＭＳ Ｐゴシック" panose="020B0600070205080204" pitchFamily="34" charset="-128"/>
              </a:defRPr>
            </a:lvl1pPr>
            <a:lvl2pPr marL="742950" indent="-285750">
              <a:spcBef>
                <a:spcPct val="0"/>
              </a:spcBef>
              <a:defRPr sz="3200">
                <a:solidFill>
                  <a:schemeClr val="bg2"/>
                </a:solidFill>
                <a:latin typeface="Arial" panose="020B0604020202020204" pitchFamily="34" charset="0"/>
                <a:ea typeface="ＭＳ Ｐゴシック" panose="020B0600070205080204" pitchFamily="34" charset="-128"/>
              </a:defRPr>
            </a:lvl2pPr>
            <a:lvl3pPr marL="1143000" indent="-228600">
              <a:spcBef>
                <a:spcPct val="0"/>
              </a:spcBef>
              <a:defRPr sz="3200">
                <a:solidFill>
                  <a:schemeClr val="bg2"/>
                </a:solidFill>
                <a:latin typeface="Arial" panose="020B0604020202020204" pitchFamily="34" charset="0"/>
                <a:ea typeface="ＭＳ Ｐゴシック" panose="020B0600070205080204" pitchFamily="34" charset="-128"/>
              </a:defRPr>
            </a:lvl3pPr>
            <a:lvl4pPr marL="1600200" indent="-228600">
              <a:spcBef>
                <a:spcPct val="0"/>
              </a:spcBef>
              <a:defRPr sz="3200">
                <a:solidFill>
                  <a:schemeClr val="bg2"/>
                </a:solidFill>
                <a:latin typeface="Arial" panose="020B0604020202020204" pitchFamily="34" charset="0"/>
                <a:ea typeface="ＭＳ Ｐゴシック" panose="020B0600070205080204" pitchFamily="34" charset="-128"/>
              </a:defRPr>
            </a:lvl4pPr>
            <a:lvl5pPr marL="2057400" indent="-228600">
              <a:spcBef>
                <a:spcPct val="0"/>
              </a:spcBef>
              <a:defRPr sz="3200">
                <a:solidFill>
                  <a:schemeClr val="bg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pPr algn="ctr">
              <a:defRPr/>
            </a:pPr>
            <a:endParaRPr lang="fr-FR" altLang="zh-CN" sz="2400">
              <a:solidFill>
                <a:schemeClr val="tx1"/>
              </a:solidFill>
              <a:latin typeface="Times New Roman" panose="02020603050405020304" pitchFamily="18" charset="0"/>
              <a:cs typeface="Arial Unicode MS" panose="020B0604020202020204" pitchFamily="34" charset="-122"/>
            </a:endParaRPr>
          </a:p>
        </p:txBody>
      </p:sp>
      <p:sp>
        <p:nvSpPr>
          <p:cNvPr id="5" name="Rectangle 3"/>
          <p:cNvSpPr>
            <a:spLocks noChangeArrowheads="1"/>
          </p:cNvSpPr>
          <p:nvPr/>
        </p:nvSpPr>
        <p:spPr bwMode="auto">
          <a:xfrm>
            <a:off x="0" y="1685925"/>
            <a:ext cx="12192000" cy="2286000"/>
          </a:xfrm>
          <a:prstGeom prst="rect">
            <a:avLst/>
          </a:prstGeom>
          <a:solidFill>
            <a:srgbClr val="800000"/>
          </a:solidFill>
          <a:ln>
            <a:noFill/>
          </a:ln>
        </p:spPr>
        <p:txBody>
          <a:bodyPr wrap="none" anchor="ctr"/>
          <a:lstStyle>
            <a:lvl1pPr>
              <a:spcBef>
                <a:spcPct val="0"/>
              </a:spcBef>
              <a:defRPr sz="3200">
                <a:solidFill>
                  <a:schemeClr val="bg2"/>
                </a:solidFill>
                <a:latin typeface="Arial" panose="020B0604020202020204" pitchFamily="34" charset="0"/>
                <a:ea typeface="ＭＳ Ｐゴシック" panose="020B0600070205080204" pitchFamily="34" charset="-128"/>
              </a:defRPr>
            </a:lvl1pPr>
            <a:lvl2pPr marL="742950" indent="-285750">
              <a:spcBef>
                <a:spcPct val="0"/>
              </a:spcBef>
              <a:defRPr sz="3200">
                <a:solidFill>
                  <a:schemeClr val="bg2"/>
                </a:solidFill>
                <a:latin typeface="Arial" panose="020B0604020202020204" pitchFamily="34" charset="0"/>
                <a:ea typeface="ＭＳ Ｐゴシック" panose="020B0600070205080204" pitchFamily="34" charset="-128"/>
              </a:defRPr>
            </a:lvl2pPr>
            <a:lvl3pPr marL="1143000" indent="-228600">
              <a:spcBef>
                <a:spcPct val="0"/>
              </a:spcBef>
              <a:defRPr sz="3200">
                <a:solidFill>
                  <a:schemeClr val="bg2"/>
                </a:solidFill>
                <a:latin typeface="Arial" panose="020B0604020202020204" pitchFamily="34" charset="0"/>
                <a:ea typeface="ＭＳ Ｐゴシック" panose="020B0600070205080204" pitchFamily="34" charset="-128"/>
              </a:defRPr>
            </a:lvl3pPr>
            <a:lvl4pPr marL="1600200" indent="-228600">
              <a:spcBef>
                <a:spcPct val="0"/>
              </a:spcBef>
              <a:defRPr sz="3200">
                <a:solidFill>
                  <a:schemeClr val="bg2"/>
                </a:solidFill>
                <a:latin typeface="Arial" panose="020B0604020202020204" pitchFamily="34" charset="0"/>
                <a:ea typeface="ＭＳ Ｐゴシック" panose="020B0600070205080204" pitchFamily="34" charset="-128"/>
              </a:defRPr>
            </a:lvl4pPr>
            <a:lvl5pPr marL="2057400" indent="-228600">
              <a:spcBef>
                <a:spcPct val="0"/>
              </a:spcBef>
              <a:defRPr sz="3200">
                <a:solidFill>
                  <a:schemeClr val="bg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pPr algn="ctr">
              <a:defRPr/>
            </a:pPr>
            <a:endParaRPr lang="zh-CN" altLang="zh-CN" sz="1000">
              <a:solidFill>
                <a:schemeClr val="tx1"/>
              </a:solidFill>
              <a:latin typeface="Helvetica" panose="020B0604020202020204" pitchFamily="34" charset="0"/>
              <a:cs typeface="Arial" panose="020B0604020202020204" pitchFamily="34" charset="0"/>
            </a:endParaRPr>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5554133"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11"/>
          <p:cNvPicPr>
            <a:picLocks noChangeAspect="1"/>
          </p:cNvPicPr>
          <p:nvPr userDrawn="1"/>
        </p:nvPicPr>
        <p:blipFill>
          <a:blip r:embed="rId3">
            <a:extLst>
              <a:ext uri="{28A0092B-C50C-407E-A947-70E740481C1C}">
                <a14:useLocalDpi xmlns:a14="http://schemas.microsoft.com/office/drawing/2010/main" val="0"/>
              </a:ext>
            </a:extLst>
          </a:blip>
          <a:srcRect r="1828"/>
          <a:stretch>
            <a:fillRect/>
          </a:stretch>
        </p:blipFill>
        <p:spPr bwMode="auto">
          <a:xfrm>
            <a:off x="6316133" y="0"/>
            <a:ext cx="587586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Rectangle 5"/>
          <p:cNvSpPr>
            <a:spLocks noGrp="1" noChangeArrowheads="1"/>
          </p:cNvSpPr>
          <p:nvPr>
            <p:ph type="ctrTitle" sz="quarter"/>
          </p:nvPr>
        </p:nvSpPr>
        <p:spPr>
          <a:xfrm>
            <a:off x="605367" y="2032001"/>
            <a:ext cx="10363200" cy="1470025"/>
          </a:xfrm>
        </p:spPr>
        <p:txBody>
          <a:bodyPr/>
          <a:lstStyle>
            <a:lvl1pPr>
              <a:lnSpc>
                <a:spcPct val="100000"/>
              </a:lnSpc>
              <a:defRPr sz="2400" b="1">
                <a:solidFill>
                  <a:schemeClr val="bg1"/>
                </a:solidFill>
              </a:defRPr>
            </a:lvl1pPr>
          </a:lstStyle>
          <a:p>
            <a:r>
              <a:rPr lang="en-US"/>
              <a:t>Click to edit Master title style</a:t>
            </a:r>
          </a:p>
        </p:txBody>
      </p:sp>
      <p:sp>
        <p:nvSpPr>
          <p:cNvPr id="5126" name="Rectangle 6"/>
          <p:cNvSpPr>
            <a:spLocks noGrp="1" noChangeArrowheads="1"/>
          </p:cNvSpPr>
          <p:nvPr>
            <p:ph type="subTitle" sz="quarter" idx="1"/>
          </p:nvPr>
        </p:nvSpPr>
        <p:spPr>
          <a:xfrm>
            <a:off x="7226300" y="4310063"/>
            <a:ext cx="3776133" cy="1752600"/>
          </a:xfrm>
        </p:spPr>
        <p:txBody>
          <a:bodyPr/>
          <a:lstStyle>
            <a:lvl1pPr marL="0" indent="0" algn="ctr">
              <a:buFontTx/>
              <a:buNone/>
              <a:defRPr sz="1400"/>
            </a:lvl1pPr>
          </a:lstStyle>
          <a:p>
            <a:r>
              <a:rPr lang="en-US"/>
              <a:t>Click to edit Master subtitle style</a:t>
            </a:r>
          </a:p>
        </p:txBody>
      </p:sp>
    </p:spTree>
    <p:extLst>
      <p:ext uri="{BB962C8B-B14F-4D97-AF65-F5344CB8AC3E}">
        <p14:creationId xmlns:p14="http://schemas.microsoft.com/office/powerpoint/2010/main" val="375723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lvl1pPr>
              <a:defRPr/>
            </a:lvl1pPr>
          </a:lstStyle>
          <a:p>
            <a:pPr>
              <a:defRPr/>
            </a:pPr>
            <a:endParaRPr lang="en-US"/>
          </a:p>
        </p:txBody>
      </p:sp>
      <p:sp>
        <p:nvSpPr>
          <p:cNvPr id="5" name="页脚占位符 4"/>
          <p:cNvSpPr>
            <a:spLocks noGrp="1"/>
          </p:cNvSpPr>
          <p:nvPr>
            <p:ph type="ftr" sz="quarter" idx="11"/>
          </p:nvPr>
        </p:nvSpPr>
        <p:spPr/>
        <p:txBody>
          <a:bodyPr/>
          <a:lstStyle>
            <a:lvl1pPr>
              <a:defRPr/>
            </a:lvl1pPr>
          </a:lstStyle>
          <a:p>
            <a:pPr>
              <a:defRPr/>
            </a:pPr>
            <a:endParaRPr lang="en-US"/>
          </a:p>
        </p:txBody>
      </p:sp>
      <p:sp>
        <p:nvSpPr>
          <p:cNvPr id="6" name="灯片编号占位符 5"/>
          <p:cNvSpPr>
            <a:spLocks noGrp="1"/>
          </p:cNvSpPr>
          <p:nvPr>
            <p:ph type="sldNum" sz="quarter" idx="12"/>
          </p:nvPr>
        </p:nvSpPr>
        <p:spPr>
          <a:xfrm>
            <a:off x="9309100" y="6400801"/>
            <a:ext cx="2844800" cy="365125"/>
          </a:xfrm>
        </p:spPr>
        <p:txBody>
          <a:bodyPr/>
          <a:lstStyle>
            <a:lvl1pPr>
              <a:defRPr smtClean="0"/>
            </a:lvl1pPr>
          </a:lstStyle>
          <a:p>
            <a:pPr>
              <a:defRPr/>
            </a:pPr>
            <a:fld id="{15884886-3D85-4AFD-9D94-33E4AF7428DD}" type="slidenum">
              <a:rPr lang="en-US" altLang="zh-CN"/>
              <a:pPr>
                <a:defRPr/>
              </a:pPr>
              <a:t>‹#›</a:t>
            </a:fld>
            <a:endParaRPr lang="en-US" altLang="zh-CN"/>
          </a:p>
        </p:txBody>
      </p:sp>
    </p:spTree>
    <p:extLst>
      <p:ext uri="{BB962C8B-B14F-4D97-AF65-F5344CB8AC3E}">
        <p14:creationId xmlns:p14="http://schemas.microsoft.com/office/powerpoint/2010/main" val="2823571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页脚占位符 2"/>
          <p:cNvSpPr>
            <a:spLocks noGrp="1"/>
          </p:cNvSpPr>
          <p:nvPr>
            <p:ph type="ftr" sz="quarter" idx="10"/>
          </p:nvPr>
        </p:nvSpPr>
        <p:spPr/>
        <p:txBody>
          <a:bodyPr/>
          <a:lstStyle>
            <a:lvl1pPr>
              <a:defRPr/>
            </a:lvl1pPr>
          </a:lstStyle>
          <a:p>
            <a:pPr>
              <a:defRPr/>
            </a:pPr>
            <a:endParaRPr lang="en-US"/>
          </a:p>
        </p:txBody>
      </p:sp>
      <p:sp>
        <p:nvSpPr>
          <p:cNvPr id="5" name="灯片编号占位符 3"/>
          <p:cNvSpPr>
            <a:spLocks noGrp="1"/>
          </p:cNvSpPr>
          <p:nvPr>
            <p:ph type="sldNum" sz="quarter" idx="11"/>
          </p:nvPr>
        </p:nvSpPr>
        <p:spPr/>
        <p:txBody>
          <a:bodyPr/>
          <a:lstStyle>
            <a:lvl1pPr>
              <a:defRPr/>
            </a:lvl1pPr>
          </a:lstStyle>
          <a:p>
            <a:pPr>
              <a:defRPr/>
            </a:pPr>
            <a:fld id="{4318643B-F044-403A-A26B-E19A2779F296}" type="slidenum">
              <a:rPr lang="en-US" altLang="zh-CN"/>
              <a:pPr>
                <a:defRPr/>
              </a:pPr>
              <a:t>‹#›</a:t>
            </a:fld>
            <a:endParaRPr lang="en-US" altLang="zh-CN"/>
          </a:p>
        </p:txBody>
      </p:sp>
      <p:sp>
        <p:nvSpPr>
          <p:cNvPr id="6"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4210413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266826"/>
            <a:ext cx="5513917"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2918" y="1266826"/>
            <a:ext cx="5513916"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页脚占位符 2"/>
          <p:cNvSpPr>
            <a:spLocks noGrp="1"/>
          </p:cNvSpPr>
          <p:nvPr>
            <p:ph type="ftr" sz="quarter" idx="10"/>
          </p:nvPr>
        </p:nvSpPr>
        <p:spPr/>
        <p:txBody>
          <a:bodyPr/>
          <a:lstStyle>
            <a:lvl1pPr>
              <a:defRPr/>
            </a:lvl1pPr>
          </a:lstStyle>
          <a:p>
            <a:pPr>
              <a:defRPr/>
            </a:pPr>
            <a:endParaRPr lang="en-US"/>
          </a:p>
        </p:txBody>
      </p:sp>
      <p:sp>
        <p:nvSpPr>
          <p:cNvPr id="6" name="灯片编号占位符 3"/>
          <p:cNvSpPr>
            <a:spLocks noGrp="1"/>
          </p:cNvSpPr>
          <p:nvPr>
            <p:ph type="sldNum" sz="quarter" idx="11"/>
          </p:nvPr>
        </p:nvSpPr>
        <p:spPr/>
        <p:txBody>
          <a:bodyPr/>
          <a:lstStyle>
            <a:lvl1pPr>
              <a:defRPr/>
            </a:lvl1pPr>
          </a:lstStyle>
          <a:p>
            <a:pPr>
              <a:defRPr/>
            </a:pPr>
            <a:fld id="{382F559E-D686-4501-B9B1-B66DF32CCD44}" type="slidenum">
              <a:rPr lang="en-US" altLang="zh-CN"/>
              <a:pPr>
                <a:defRPr/>
              </a:pPr>
              <a:t>‹#›</a:t>
            </a:fld>
            <a:endParaRPr lang="en-US" altLang="zh-CN"/>
          </a:p>
        </p:txBody>
      </p:sp>
      <p:sp>
        <p:nvSpPr>
          <p:cNvPr id="7"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1316418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页脚占位符 2"/>
          <p:cNvSpPr>
            <a:spLocks noGrp="1"/>
          </p:cNvSpPr>
          <p:nvPr>
            <p:ph type="ftr" sz="quarter" idx="10"/>
          </p:nvPr>
        </p:nvSpPr>
        <p:spPr/>
        <p:txBody>
          <a:bodyPr/>
          <a:lstStyle>
            <a:lvl1pPr>
              <a:defRPr/>
            </a:lvl1pPr>
          </a:lstStyle>
          <a:p>
            <a:pPr>
              <a:defRPr/>
            </a:pPr>
            <a:endParaRPr lang="en-US"/>
          </a:p>
        </p:txBody>
      </p:sp>
      <p:sp>
        <p:nvSpPr>
          <p:cNvPr id="8" name="灯片编号占位符 3"/>
          <p:cNvSpPr>
            <a:spLocks noGrp="1"/>
          </p:cNvSpPr>
          <p:nvPr>
            <p:ph type="sldNum" sz="quarter" idx="11"/>
          </p:nvPr>
        </p:nvSpPr>
        <p:spPr/>
        <p:txBody>
          <a:bodyPr/>
          <a:lstStyle>
            <a:lvl1pPr>
              <a:defRPr/>
            </a:lvl1pPr>
          </a:lstStyle>
          <a:p>
            <a:pPr>
              <a:defRPr/>
            </a:pPr>
            <a:fld id="{2132E20B-2FAD-4EA5-8E1A-D35CF873D98B}" type="slidenum">
              <a:rPr lang="en-US" altLang="zh-CN"/>
              <a:pPr>
                <a:defRPr/>
              </a:pPr>
              <a:t>‹#›</a:t>
            </a:fld>
            <a:endParaRPr lang="en-US" altLang="zh-CN"/>
          </a:p>
        </p:txBody>
      </p:sp>
      <p:sp>
        <p:nvSpPr>
          <p:cNvPr id="9"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674281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页脚占位符 2"/>
          <p:cNvSpPr>
            <a:spLocks noGrp="1"/>
          </p:cNvSpPr>
          <p:nvPr>
            <p:ph type="ftr" sz="quarter" idx="10"/>
          </p:nvPr>
        </p:nvSpPr>
        <p:spPr/>
        <p:txBody>
          <a:bodyPr/>
          <a:lstStyle>
            <a:lvl1pPr>
              <a:defRPr/>
            </a:lvl1pPr>
          </a:lstStyle>
          <a:p>
            <a:pPr>
              <a:defRPr/>
            </a:pPr>
            <a:endParaRPr lang="en-US"/>
          </a:p>
        </p:txBody>
      </p:sp>
      <p:sp>
        <p:nvSpPr>
          <p:cNvPr id="4" name="灯片编号占位符 3"/>
          <p:cNvSpPr>
            <a:spLocks noGrp="1"/>
          </p:cNvSpPr>
          <p:nvPr>
            <p:ph type="sldNum" sz="quarter" idx="11"/>
          </p:nvPr>
        </p:nvSpPr>
        <p:spPr/>
        <p:txBody>
          <a:bodyPr/>
          <a:lstStyle>
            <a:lvl1pPr>
              <a:defRPr/>
            </a:lvl1pPr>
          </a:lstStyle>
          <a:p>
            <a:pPr>
              <a:defRPr/>
            </a:pPr>
            <a:fld id="{E3BADF75-6C80-4FD4-8F49-963DFD143859}" type="slidenum">
              <a:rPr lang="en-US" altLang="zh-CN"/>
              <a:pPr>
                <a:defRPr/>
              </a:pPr>
              <a:t>‹#›</a:t>
            </a:fld>
            <a:endParaRPr lang="en-US" altLang="zh-CN"/>
          </a:p>
        </p:txBody>
      </p:sp>
      <p:sp>
        <p:nvSpPr>
          <p:cNvPr id="5"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2511083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页脚占位符 2"/>
          <p:cNvSpPr>
            <a:spLocks noGrp="1"/>
          </p:cNvSpPr>
          <p:nvPr>
            <p:ph type="ftr" sz="quarter" idx="10"/>
          </p:nvPr>
        </p:nvSpPr>
        <p:spPr/>
        <p:txBody>
          <a:bodyPr/>
          <a:lstStyle>
            <a:lvl1pPr>
              <a:defRPr/>
            </a:lvl1pPr>
          </a:lstStyle>
          <a:p>
            <a:pPr>
              <a:defRPr/>
            </a:pPr>
            <a:endParaRPr lang="en-US"/>
          </a:p>
        </p:txBody>
      </p:sp>
      <p:sp>
        <p:nvSpPr>
          <p:cNvPr id="3" name="灯片编号占位符 3"/>
          <p:cNvSpPr>
            <a:spLocks noGrp="1"/>
          </p:cNvSpPr>
          <p:nvPr>
            <p:ph type="sldNum" sz="quarter" idx="11"/>
          </p:nvPr>
        </p:nvSpPr>
        <p:spPr/>
        <p:txBody>
          <a:bodyPr/>
          <a:lstStyle>
            <a:lvl1pPr>
              <a:defRPr/>
            </a:lvl1pPr>
          </a:lstStyle>
          <a:p>
            <a:pPr>
              <a:defRPr/>
            </a:pPr>
            <a:fld id="{1EC92CF4-4B23-48B8-BC45-AC3B141B1498}" type="slidenum">
              <a:rPr lang="en-US" altLang="zh-CN"/>
              <a:pPr>
                <a:defRPr/>
              </a:pPr>
              <a:t>‹#›</a:t>
            </a:fld>
            <a:endParaRPr lang="en-US" altLang="zh-CN"/>
          </a:p>
        </p:txBody>
      </p:sp>
      <p:sp>
        <p:nvSpPr>
          <p:cNvPr id="4"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42829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页脚占位符 2"/>
          <p:cNvSpPr>
            <a:spLocks noGrp="1"/>
          </p:cNvSpPr>
          <p:nvPr>
            <p:ph type="ftr" sz="quarter" idx="10"/>
          </p:nvPr>
        </p:nvSpPr>
        <p:spPr/>
        <p:txBody>
          <a:bodyPr/>
          <a:lstStyle>
            <a:lvl1pPr>
              <a:defRPr/>
            </a:lvl1pPr>
          </a:lstStyle>
          <a:p>
            <a:pPr>
              <a:defRPr/>
            </a:pPr>
            <a:endParaRPr lang="en-US"/>
          </a:p>
        </p:txBody>
      </p:sp>
      <p:sp>
        <p:nvSpPr>
          <p:cNvPr id="6" name="灯片编号占位符 3"/>
          <p:cNvSpPr>
            <a:spLocks noGrp="1"/>
          </p:cNvSpPr>
          <p:nvPr>
            <p:ph type="sldNum" sz="quarter" idx="11"/>
          </p:nvPr>
        </p:nvSpPr>
        <p:spPr/>
        <p:txBody>
          <a:bodyPr/>
          <a:lstStyle>
            <a:lvl1pPr>
              <a:defRPr/>
            </a:lvl1pPr>
          </a:lstStyle>
          <a:p>
            <a:pPr>
              <a:defRPr/>
            </a:pPr>
            <a:fld id="{BD49AF38-BE50-4A44-A420-A5410B378050}" type="slidenum">
              <a:rPr lang="en-US" altLang="zh-CN"/>
              <a:pPr>
                <a:defRPr/>
              </a:pPr>
              <a:t>‹#›</a:t>
            </a:fld>
            <a:endParaRPr lang="en-US" altLang="zh-CN"/>
          </a:p>
        </p:txBody>
      </p:sp>
      <p:sp>
        <p:nvSpPr>
          <p:cNvPr id="7"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337012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813984" y="0"/>
            <a:ext cx="10261600" cy="838200"/>
          </a:xfrm>
        </p:spPr>
        <p:txBody>
          <a:bodyPr/>
          <a:lstStyle/>
          <a:p>
            <a:r>
              <a:rPr lang="en-US"/>
              <a:t>Click to edit Master title style</a:t>
            </a:r>
          </a:p>
        </p:txBody>
      </p:sp>
      <p:sp>
        <p:nvSpPr>
          <p:cNvPr id="3" name="Content Placeholder 2"/>
          <p:cNvSpPr>
            <a:spLocks noGrp="1"/>
          </p:cNvSpPr>
          <p:nvPr>
            <p:ph sz="half" idx="1"/>
          </p:nvPr>
        </p:nvSpPr>
        <p:spPr>
          <a:xfrm>
            <a:off x="685800" y="1266826"/>
            <a:ext cx="5513917" cy="4829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402918" y="1266825"/>
            <a:ext cx="5513916" cy="23383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402918" y="3757614"/>
            <a:ext cx="5513916" cy="2338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页脚占位符 2"/>
          <p:cNvSpPr>
            <a:spLocks noGrp="1"/>
          </p:cNvSpPr>
          <p:nvPr>
            <p:ph type="ftr" sz="quarter" idx="10"/>
          </p:nvPr>
        </p:nvSpPr>
        <p:spPr/>
        <p:txBody>
          <a:bodyPr/>
          <a:lstStyle>
            <a:lvl1pPr>
              <a:defRPr/>
            </a:lvl1pPr>
          </a:lstStyle>
          <a:p>
            <a:pPr>
              <a:defRPr/>
            </a:pPr>
            <a:endParaRPr lang="en-US"/>
          </a:p>
        </p:txBody>
      </p:sp>
      <p:sp>
        <p:nvSpPr>
          <p:cNvPr id="7" name="灯片编号占位符 3"/>
          <p:cNvSpPr>
            <a:spLocks noGrp="1"/>
          </p:cNvSpPr>
          <p:nvPr>
            <p:ph type="sldNum" sz="quarter" idx="11"/>
          </p:nvPr>
        </p:nvSpPr>
        <p:spPr/>
        <p:txBody>
          <a:bodyPr/>
          <a:lstStyle>
            <a:lvl1pPr>
              <a:defRPr/>
            </a:lvl1pPr>
          </a:lstStyle>
          <a:p>
            <a:pPr>
              <a:defRPr/>
            </a:pPr>
            <a:fld id="{263A3B1E-E2F6-4459-B9A7-7A059C28BC97}" type="slidenum">
              <a:rPr lang="en-US" altLang="zh-CN"/>
              <a:pPr>
                <a:defRPr/>
              </a:pPr>
              <a:t>‹#›</a:t>
            </a:fld>
            <a:endParaRPr lang="en-US" altLang="zh-CN"/>
          </a:p>
        </p:txBody>
      </p:sp>
      <p:sp>
        <p:nvSpPr>
          <p:cNvPr id="8"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4114635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0"/>
            <a:ext cx="11389784" cy="60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页脚占位符 2"/>
          <p:cNvSpPr>
            <a:spLocks noGrp="1"/>
          </p:cNvSpPr>
          <p:nvPr>
            <p:ph type="ftr" sz="quarter" idx="10"/>
          </p:nvPr>
        </p:nvSpPr>
        <p:spPr/>
        <p:txBody>
          <a:bodyPr/>
          <a:lstStyle>
            <a:lvl1pPr>
              <a:defRPr/>
            </a:lvl1pPr>
          </a:lstStyle>
          <a:p>
            <a:pPr>
              <a:defRPr/>
            </a:pPr>
            <a:endParaRPr lang="en-US"/>
          </a:p>
        </p:txBody>
      </p:sp>
      <p:sp>
        <p:nvSpPr>
          <p:cNvPr id="4" name="灯片编号占位符 3"/>
          <p:cNvSpPr>
            <a:spLocks noGrp="1"/>
          </p:cNvSpPr>
          <p:nvPr>
            <p:ph type="sldNum" sz="quarter" idx="11"/>
          </p:nvPr>
        </p:nvSpPr>
        <p:spPr/>
        <p:txBody>
          <a:bodyPr/>
          <a:lstStyle>
            <a:lvl1pPr>
              <a:defRPr/>
            </a:lvl1pPr>
          </a:lstStyle>
          <a:p>
            <a:pPr>
              <a:defRPr/>
            </a:pPr>
            <a:fld id="{627A70D2-390B-4F3A-A683-629554200820}" type="slidenum">
              <a:rPr lang="en-US" altLang="zh-CN"/>
              <a:pPr>
                <a:defRPr/>
              </a:pPr>
              <a:t>‹#›</a:t>
            </a:fld>
            <a:endParaRPr lang="en-US" altLang="zh-CN"/>
          </a:p>
        </p:txBody>
      </p:sp>
      <p:sp>
        <p:nvSpPr>
          <p:cNvPr id="5" name="日期占位符 4"/>
          <p:cNvSpPr>
            <a:spLocks noGrp="1"/>
          </p:cNvSpPr>
          <p:nvPr>
            <p:ph type="dt" sz="half" idx="12"/>
          </p:nvPr>
        </p:nvSpPr>
        <p:spPr/>
        <p:txBody>
          <a:bodyPr/>
          <a:lstStyle>
            <a:lvl1pPr>
              <a:defRPr/>
            </a:lvl1pPr>
          </a:lstStyle>
          <a:p>
            <a:pPr>
              <a:defRPr/>
            </a:pPr>
            <a:endParaRPr lang="en-US"/>
          </a:p>
        </p:txBody>
      </p:sp>
    </p:spTree>
    <p:extLst>
      <p:ext uri="{BB962C8B-B14F-4D97-AF65-F5344CB8AC3E}">
        <p14:creationId xmlns:p14="http://schemas.microsoft.com/office/powerpoint/2010/main" val="593922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813984" y="0"/>
            <a:ext cx="10261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2051" name="Rectangle 3"/>
          <p:cNvSpPr>
            <a:spLocks noGrp="1" noChangeArrowheads="1"/>
          </p:cNvSpPr>
          <p:nvPr>
            <p:ph type="body" idx="1"/>
          </p:nvPr>
        </p:nvSpPr>
        <p:spPr bwMode="auto">
          <a:xfrm>
            <a:off x="685801" y="1266826"/>
            <a:ext cx="11231033"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2052" name="Picture 5" descr="polylogo"/>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 y="-15875"/>
            <a:ext cx="1138767"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p:nvPr userDrawn="1"/>
        </p:nvSpPr>
        <p:spPr bwMode="auto">
          <a:xfrm>
            <a:off x="0" y="914400"/>
            <a:ext cx="203200" cy="5943600"/>
          </a:xfrm>
          <a:prstGeom prst="rect">
            <a:avLst/>
          </a:prstGeom>
          <a:gradFill>
            <a:gsLst>
              <a:gs pos="42000">
                <a:srgbClr val="A50021"/>
              </a:gs>
              <a:gs pos="0">
                <a:schemeClr val="accent1">
                  <a:lumMod val="5000"/>
                  <a:lumOff val="95000"/>
                </a:schemeClr>
              </a:gs>
              <a:gs pos="61000">
                <a:srgbClr val="A50021"/>
              </a:gs>
              <a:gs pos="100000">
                <a:schemeClr val="accent1">
                  <a:lumMod val="30000"/>
                  <a:lumOff val="7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Arial" panose="020B0604020202020204" pitchFamily="34" charset="0"/>
                <a:ea typeface="ＭＳ Ｐゴシック" panose="020B0600070205080204" pitchFamily="34" charset="-128"/>
              </a:defRPr>
            </a:lvl1pPr>
            <a:lvl2pPr marL="742950" indent="-285750">
              <a:spcBef>
                <a:spcPct val="0"/>
              </a:spcBef>
              <a:defRPr sz="3200">
                <a:solidFill>
                  <a:schemeClr val="bg2"/>
                </a:solidFill>
                <a:latin typeface="Arial" panose="020B0604020202020204" pitchFamily="34" charset="0"/>
                <a:ea typeface="ＭＳ Ｐゴシック" panose="020B0600070205080204" pitchFamily="34" charset="-128"/>
              </a:defRPr>
            </a:lvl2pPr>
            <a:lvl3pPr marL="1143000" indent="-228600">
              <a:spcBef>
                <a:spcPct val="0"/>
              </a:spcBef>
              <a:defRPr sz="3200">
                <a:solidFill>
                  <a:schemeClr val="bg2"/>
                </a:solidFill>
                <a:latin typeface="Arial" panose="020B0604020202020204" pitchFamily="34" charset="0"/>
                <a:ea typeface="ＭＳ Ｐゴシック" panose="020B0600070205080204" pitchFamily="34" charset="-128"/>
              </a:defRPr>
            </a:lvl3pPr>
            <a:lvl4pPr marL="1600200" indent="-228600">
              <a:spcBef>
                <a:spcPct val="0"/>
              </a:spcBef>
              <a:defRPr sz="3200">
                <a:solidFill>
                  <a:schemeClr val="bg2"/>
                </a:solidFill>
                <a:latin typeface="Arial" panose="020B0604020202020204" pitchFamily="34" charset="0"/>
                <a:ea typeface="ＭＳ Ｐゴシック" panose="020B0600070205080204" pitchFamily="34" charset="-128"/>
              </a:defRPr>
            </a:lvl4pPr>
            <a:lvl5pPr marL="2057400" indent="-228600">
              <a:spcBef>
                <a:spcPct val="0"/>
              </a:spcBef>
              <a:defRPr sz="3200">
                <a:solidFill>
                  <a:schemeClr val="bg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defRPr/>
            </a:pPr>
            <a:endParaRPr lang="zh-CN" altLang="en-US" sz="3200">
              <a:cs typeface="Arial Unicode MS" panose="020B0604020202020204" pitchFamily="34" charset="-122"/>
            </a:endParaRPr>
          </a:p>
        </p:txBody>
      </p:sp>
      <p:sp>
        <p:nvSpPr>
          <p:cNvPr id="2" name="Rectangle 1"/>
          <p:cNvSpPr/>
          <p:nvPr userDrawn="1"/>
        </p:nvSpPr>
        <p:spPr bwMode="auto">
          <a:xfrm rot="5400000">
            <a:off x="6072982" y="-5204618"/>
            <a:ext cx="46037" cy="12192000"/>
          </a:xfrm>
          <a:prstGeom prst="rect">
            <a:avLst/>
          </a:prstGeom>
          <a:gradFill>
            <a:gsLst>
              <a:gs pos="0">
                <a:schemeClr val="accent1">
                  <a:lumMod val="5000"/>
                  <a:lumOff val="95000"/>
                </a:schemeClr>
              </a:gs>
              <a:gs pos="100000">
                <a:srgbClr val="A50021"/>
              </a:gs>
              <a:gs pos="100000">
                <a:schemeClr val="accent5">
                  <a:lumMod val="60000"/>
                  <a:lumOff val="40000"/>
                </a:schemeClr>
              </a:gs>
            </a:gsLst>
            <a:lin ang="5400000" scaled="1"/>
          </a:gradFill>
          <a:ln w="9525" cap="flat" cmpd="sng" algn="ctr">
            <a:noFill/>
            <a:prstDash val="solid"/>
            <a:round/>
            <a:headEnd type="none" w="med" len="med"/>
            <a:tailEnd type="none" w="med" len="med"/>
          </a:ln>
          <a:effectLst/>
        </p:spPr>
        <p:txBody>
          <a:bodyPr/>
          <a:lstStyle>
            <a:lvl1pPr>
              <a:spcBef>
                <a:spcPct val="0"/>
              </a:spcBef>
              <a:defRPr sz="3200">
                <a:solidFill>
                  <a:schemeClr val="bg2"/>
                </a:solidFill>
                <a:latin typeface="Arial" panose="020B0604020202020204" pitchFamily="34" charset="0"/>
                <a:ea typeface="ＭＳ Ｐゴシック" panose="020B0600070205080204" pitchFamily="34" charset="-128"/>
              </a:defRPr>
            </a:lvl1pPr>
            <a:lvl2pPr marL="742950" indent="-285750">
              <a:spcBef>
                <a:spcPct val="0"/>
              </a:spcBef>
              <a:defRPr sz="3200">
                <a:solidFill>
                  <a:schemeClr val="bg2"/>
                </a:solidFill>
                <a:latin typeface="Arial" panose="020B0604020202020204" pitchFamily="34" charset="0"/>
                <a:ea typeface="ＭＳ Ｐゴシック" panose="020B0600070205080204" pitchFamily="34" charset="-128"/>
              </a:defRPr>
            </a:lvl2pPr>
            <a:lvl3pPr marL="1143000" indent="-228600">
              <a:spcBef>
                <a:spcPct val="0"/>
              </a:spcBef>
              <a:defRPr sz="3200">
                <a:solidFill>
                  <a:schemeClr val="bg2"/>
                </a:solidFill>
                <a:latin typeface="Arial" panose="020B0604020202020204" pitchFamily="34" charset="0"/>
                <a:ea typeface="ＭＳ Ｐゴシック" panose="020B0600070205080204" pitchFamily="34" charset="-128"/>
              </a:defRPr>
            </a:lvl3pPr>
            <a:lvl4pPr marL="1600200" indent="-228600">
              <a:spcBef>
                <a:spcPct val="0"/>
              </a:spcBef>
              <a:defRPr sz="3200">
                <a:solidFill>
                  <a:schemeClr val="bg2"/>
                </a:solidFill>
                <a:latin typeface="Arial" panose="020B0604020202020204" pitchFamily="34" charset="0"/>
                <a:ea typeface="ＭＳ Ｐゴシック" panose="020B0600070205080204" pitchFamily="34" charset="-128"/>
              </a:defRPr>
            </a:lvl4pPr>
            <a:lvl5pPr marL="2057400" indent="-228600">
              <a:spcBef>
                <a:spcPct val="0"/>
              </a:spcBef>
              <a:defRPr sz="3200">
                <a:solidFill>
                  <a:schemeClr val="bg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pPr eaLnBrk="1" hangingPunct="1">
              <a:lnSpc>
                <a:spcPct val="90000"/>
              </a:lnSpc>
              <a:spcBef>
                <a:spcPct val="20000"/>
              </a:spcBef>
              <a:defRPr/>
            </a:pPr>
            <a:endParaRPr lang="zh-CN" altLang="en-US" sz="3200">
              <a:cs typeface="Arial Unicode MS" panose="020B0604020202020204" pitchFamily="34" charset="-122"/>
            </a:endParaRPr>
          </a:p>
        </p:txBody>
      </p:sp>
      <p:sp>
        <p:nvSpPr>
          <p:cNvPr id="3" name="页脚占位符 2"/>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ea typeface="Arial Unicode MS" panose="020B0604020202020204" pitchFamily="34" charset="-122"/>
                <a:cs typeface="Arial Unicode MS" panose="020B0604020202020204" pitchFamily="34" charset="-122"/>
              </a:defRPr>
            </a:lvl1pPr>
          </a:lstStyle>
          <a:p>
            <a:pPr>
              <a:defRPr/>
            </a:pPr>
            <a:endParaRPr lang="en-US"/>
          </a:p>
        </p:txBody>
      </p:sp>
      <p:sp>
        <p:nvSpPr>
          <p:cNvPr id="4" name="灯片编号占位符 3"/>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478E3191-473E-4F99-9695-3EEFEE2024C3}" type="slidenum">
              <a:rPr lang="en-US" altLang="zh-CN"/>
              <a:pPr>
                <a:defRPr/>
              </a:pPr>
              <a:t>‹#›</a:t>
            </a:fld>
            <a:endParaRPr lang="en-US" altLang="zh-CN"/>
          </a:p>
        </p:txBody>
      </p:sp>
      <p:sp>
        <p:nvSpPr>
          <p:cNvPr id="5" name="日期占位符 4"/>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ea typeface="Arial Unicode MS" panose="020B0604020202020204" pitchFamily="34" charset="-122"/>
                <a:cs typeface="Arial Unicode MS" panose="020B0604020202020204" pitchFamily="34" charset="-122"/>
              </a:defRPr>
            </a:lvl1pPr>
          </a:lstStyle>
          <a:p>
            <a:pPr>
              <a:defRPr/>
            </a:pPr>
            <a:endParaRPr lang="en-US"/>
          </a:p>
        </p:txBody>
      </p:sp>
    </p:spTree>
    <p:extLst>
      <p:ext uri="{BB962C8B-B14F-4D97-AF65-F5344CB8AC3E}">
        <p14:creationId xmlns:p14="http://schemas.microsoft.com/office/powerpoint/2010/main" val="36229443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rtl="0" eaLnBrk="0" fontAlgn="base" hangingPunct="0">
        <a:lnSpc>
          <a:spcPts val="2800"/>
        </a:lnSpc>
        <a:spcBef>
          <a:spcPct val="0"/>
        </a:spcBef>
        <a:spcAft>
          <a:spcPct val="0"/>
        </a:spcAft>
        <a:defRPr sz="3200">
          <a:solidFill>
            <a:schemeClr val="tx1"/>
          </a:solidFill>
          <a:latin typeface="+mj-lt"/>
          <a:ea typeface="MS PGothic" panose="020B0600070205080204" pitchFamily="34" charset="-128"/>
          <a:cs typeface="ＭＳ Ｐゴシック" pitchFamily="-111" charset="-128"/>
        </a:defRPr>
      </a:lvl1pPr>
      <a:lvl2pPr algn="l" rtl="0" eaLnBrk="0" fontAlgn="base" hangingPunct="0">
        <a:lnSpc>
          <a:spcPts val="2800"/>
        </a:lnSpc>
        <a:spcBef>
          <a:spcPct val="0"/>
        </a:spcBef>
        <a:spcAft>
          <a:spcPct val="0"/>
        </a:spcAft>
        <a:defRPr sz="3200">
          <a:solidFill>
            <a:schemeClr val="tx1"/>
          </a:solidFill>
          <a:latin typeface="Arial" charset="0"/>
          <a:ea typeface="MS PGothic" panose="020B0600070205080204" pitchFamily="34" charset="-128"/>
          <a:cs typeface="ＭＳ Ｐゴシック" pitchFamily="-111" charset="-128"/>
        </a:defRPr>
      </a:lvl2pPr>
      <a:lvl3pPr algn="l" rtl="0" eaLnBrk="0" fontAlgn="base" hangingPunct="0">
        <a:lnSpc>
          <a:spcPts val="2800"/>
        </a:lnSpc>
        <a:spcBef>
          <a:spcPct val="0"/>
        </a:spcBef>
        <a:spcAft>
          <a:spcPct val="0"/>
        </a:spcAft>
        <a:defRPr sz="3200">
          <a:solidFill>
            <a:schemeClr val="tx1"/>
          </a:solidFill>
          <a:latin typeface="Arial" charset="0"/>
          <a:ea typeface="MS PGothic" panose="020B0600070205080204" pitchFamily="34" charset="-128"/>
          <a:cs typeface="ＭＳ Ｐゴシック" pitchFamily="-111" charset="-128"/>
        </a:defRPr>
      </a:lvl3pPr>
      <a:lvl4pPr algn="l" rtl="0" eaLnBrk="0" fontAlgn="base" hangingPunct="0">
        <a:lnSpc>
          <a:spcPts val="2800"/>
        </a:lnSpc>
        <a:spcBef>
          <a:spcPct val="0"/>
        </a:spcBef>
        <a:spcAft>
          <a:spcPct val="0"/>
        </a:spcAft>
        <a:defRPr sz="3200">
          <a:solidFill>
            <a:schemeClr val="tx1"/>
          </a:solidFill>
          <a:latin typeface="Arial" charset="0"/>
          <a:ea typeface="MS PGothic" panose="020B0600070205080204" pitchFamily="34" charset="-128"/>
          <a:cs typeface="ＭＳ Ｐゴシック" pitchFamily="-111" charset="-128"/>
        </a:defRPr>
      </a:lvl4pPr>
      <a:lvl5pPr algn="l" rtl="0" eaLnBrk="0" fontAlgn="base" hangingPunct="0">
        <a:lnSpc>
          <a:spcPts val="2800"/>
        </a:lnSpc>
        <a:spcBef>
          <a:spcPct val="0"/>
        </a:spcBef>
        <a:spcAft>
          <a:spcPct val="0"/>
        </a:spcAft>
        <a:defRPr sz="3200">
          <a:solidFill>
            <a:schemeClr val="tx1"/>
          </a:solidFill>
          <a:latin typeface="Arial" charset="0"/>
          <a:ea typeface="MS PGothic" panose="020B0600070205080204" pitchFamily="34" charset="-128"/>
          <a:cs typeface="ＭＳ Ｐゴシック" pitchFamily="-111" charset="-128"/>
        </a:defRPr>
      </a:lvl5pPr>
      <a:lvl6pPr marL="457200" algn="l" rtl="0" fontAlgn="base">
        <a:lnSpc>
          <a:spcPts val="2800"/>
        </a:lnSpc>
        <a:spcBef>
          <a:spcPct val="0"/>
        </a:spcBef>
        <a:spcAft>
          <a:spcPct val="0"/>
        </a:spcAft>
        <a:defRPr sz="2600">
          <a:solidFill>
            <a:schemeClr val="tx1"/>
          </a:solidFill>
          <a:latin typeface="Arial" charset="0"/>
        </a:defRPr>
      </a:lvl6pPr>
      <a:lvl7pPr marL="914400" algn="l" rtl="0" fontAlgn="base">
        <a:lnSpc>
          <a:spcPts val="2800"/>
        </a:lnSpc>
        <a:spcBef>
          <a:spcPct val="0"/>
        </a:spcBef>
        <a:spcAft>
          <a:spcPct val="0"/>
        </a:spcAft>
        <a:defRPr sz="2600">
          <a:solidFill>
            <a:schemeClr val="tx1"/>
          </a:solidFill>
          <a:latin typeface="Arial" charset="0"/>
        </a:defRPr>
      </a:lvl7pPr>
      <a:lvl8pPr marL="1371600" algn="l" rtl="0" fontAlgn="base">
        <a:lnSpc>
          <a:spcPts val="2800"/>
        </a:lnSpc>
        <a:spcBef>
          <a:spcPct val="0"/>
        </a:spcBef>
        <a:spcAft>
          <a:spcPct val="0"/>
        </a:spcAft>
        <a:defRPr sz="2600">
          <a:solidFill>
            <a:schemeClr val="tx1"/>
          </a:solidFill>
          <a:latin typeface="Arial" charset="0"/>
        </a:defRPr>
      </a:lvl8pPr>
      <a:lvl9pPr marL="1828800" algn="l" rtl="0" fontAlgn="base">
        <a:lnSpc>
          <a:spcPts val="2800"/>
        </a:lnSpc>
        <a:spcBef>
          <a:spcPct val="0"/>
        </a:spcBef>
        <a:spcAft>
          <a:spcPct val="0"/>
        </a:spcAft>
        <a:defRPr sz="2600">
          <a:solidFill>
            <a:schemeClr val="tx1"/>
          </a:solidFill>
          <a:latin typeface="Arial" charset="0"/>
        </a:defRPr>
      </a:lvl9pPr>
    </p:titleStyle>
    <p:bodyStyle>
      <a:lvl1pPr marL="234950" indent="-234950" algn="l" rtl="0" eaLnBrk="0" fontAlgn="base" hangingPunct="0">
        <a:spcBef>
          <a:spcPct val="20000"/>
        </a:spcBef>
        <a:spcAft>
          <a:spcPct val="0"/>
        </a:spcAft>
        <a:buChar char="•"/>
        <a:defRPr sz="2000">
          <a:solidFill>
            <a:schemeClr val="bg2"/>
          </a:solidFill>
          <a:latin typeface="+mn-lt"/>
          <a:ea typeface="MS PGothic" panose="020B0600070205080204" pitchFamily="34" charset="-128"/>
          <a:cs typeface="ＭＳ Ｐゴシック" pitchFamily="-111" charset="-128"/>
        </a:defRPr>
      </a:lvl1pPr>
      <a:lvl2pPr marL="576263" indent="-2270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mn-lt"/>
          <a:ea typeface="MS PGothic" panose="020B0600070205080204" pitchFamily="34" charset="-128"/>
        </a:defRPr>
      </a:lvl2pPr>
      <a:lvl3pPr marL="866775" indent="-176213" algn="l" rtl="0" eaLnBrk="0" fontAlgn="base" hangingPunct="0">
        <a:spcBef>
          <a:spcPct val="20000"/>
        </a:spcBef>
        <a:spcAft>
          <a:spcPct val="0"/>
        </a:spcAft>
        <a:buChar char="•"/>
        <a:defRPr>
          <a:solidFill>
            <a:schemeClr val="bg2"/>
          </a:solidFill>
          <a:latin typeface="+mn-lt"/>
          <a:ea typeface="MS PGothic" panose="020B0600070205080204" pitchFamily="34" charset="-128"/>
        </a:defRPr>
      </a:lvl3pPr>
      <a:lvl4pPr marL="1196975" indent="-163513" algn="l" rtl="0" eaLnBrk="0" fontAlgn="base" hangingPunct="0">
        <a:spcBef>
          <a:spcPct val="20000"/>
        </a:spcBef>
        <a:spcAft>
          <a:spcPct val="0"/>
        </a:spcAft>
        <a:buClr>
          <a:schemeClr val="tx1"/>
        </a:buClr>
        <a:buFont typeface="Wingdings" panose="05000000000000000000" pitchFamily="2" charset="2"/>
        <a:buChar char="§"/>
        <a:defRPr>
          <a:solidFill>
            <a:schemeClr val="bg2"/>
          </a:solidFill>
          <a:latin typeface="+mn-lt"/>
          <a:ea typeface="MS PGothic" panose="020B0600070205080204" pitchFamily="34" charset="-128"/>
        </a:defRPr>
      </a:lvl4pPr>
      <a:lvl5pPr marL="1604963" indent="-176213" algn="l" rtl="0" eaLnBrk="0" fontAlgn="base" hangingPunct="0">
        <a:spcBef>
          <a:spcPct val="20000"/>
        </a:spcBef>
        <a:spcAft>
          <a:spcPct val="0"/>
        </a:spcAft>
        <a:buChar char="•"/>
        <a:defRPr>
          <a:solidFill>
            <a:schemeClr val="bg2"/>
          </a:solidFill>
          <a:latin typeface="+mn-lt"/>
          <a:ea typeface="MS PGothic" panose="020B0600070205080204" pitchFamily="34" charset="-128"/>
        </a:defRPr>
      </a:lvl5pPr>
      <a:lvl6pPr marL="2062163" indent="-176213" algn="l" rtl="0" fontAlgn="base">
        <a:spcBef>
          <a:spcPct val="20000"/>
        </a:spcBef>
        <a:spcAft>
          <a:spcPct val="0"/>
        </a:spcAft>
        <a:buChar char="•"/>
        <a:defRPr>
          <a:solidFill>
            <a:schemeClr val="bg2"/>
          </a:solidFill>
          <a:latin typeface="+mn-lt"/>
          <a:ea typeface="ＭＳ Ｐゴシック" charset="-128"/>
        </a:defRPr>
      </a:lvl6pPr>
      <a:lvl7pPr marL="2519363" indent="-176213" algn="l" rtl="0" fontAlgn="base">
        <a:spcBef>
          <a:spcPct val="20000"/>
        </a:spcBef>
        <a:spcAft>
          <a:spcPct val="0"/>
        </a:spcAft>
        <a:buChar char="•"/>
        <a:defRPr>
          <a:solidFill>
            <a:schemeClr val="bg2"/>
          </a:solidFill>
          <a:latin typeface="+mn-lt"/>
          <a:ea typeface="ＭＳ Ｐゴシック" charset="-128"/>
        </a:defRPr>
      </a:lvl7pPr>
      <a:lvl8pPr marL="2976563" indent="-176213" algn="l" rtl="0" fontAlgn="base">
        <a:spcBef>
          <a:spcPct val="20000"/>
        </a:spcBef>
        <a:spcAft>
          <a:spcPct val="0"/>
        </a:spcAft>
        <a:buChar char="•"/>
        <a:defRPr>
          <a:solidFill>
            <a:schemeClr val="bg2"/>
          </a:solidFill>
          <a:latin typeface="+mn-lt"/>
          <a:ea typeface="ＭＳ Ｐゴシック" charset="-128"/>
        </a:defRPr>
      </a:lvl8pPr>
      <a:lvl9pPr marL="3433763" indent="-176213" algn="l" rtl="0" fontAlgn="base">
        <a:spcBef>
          <a:spcPct val="20000"/>
        </a:spcBef>
        <a:spcAft>
          <a:spcPct val="0"/>
        </a:spcAft>
        <a:buChar char="•"/>
        <a:defRPr>
          <a:solidFill>
            <a:schemeClr val="bg2"/>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jfif"/><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4.jfif"/><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jfif"/></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2.jpg"/><Relationship Id="rId5" Type="http://schemas.microsoft.com/office/2007/relationships/hdphoto" Target="../media/hdphoto1.wdp"/><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0.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9.jpg"/><Relationship Id="rId5" Type="http://schemas.openxmlformats.org/officeDocument/2006/relationships/image" Target="../media/image38.jp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42.jpg"/></Relationships>
</file>

<file path=ppt/slides/_rels/slide2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jfif"/><Relationship Id="rId5" Type="http://schemas.openxmlformats.org/officeDocument/2006/relationships/image" Target="../media/image47.jpeg"/><Relationship Id="rId4" Type="http://schemas.openxmlformats.org/officeDocument/2006/relationships/image" Target="../media/image46.jpe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4.jfif"/><Relationship Id="rId5" Type="http://schemas.openxmlformats.org/officeDocument/2006/relationships/image" Target="../media/image50.png"/><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4.jfif"/><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7B468AD-3765-4211-97AE-355D9398DFA4}"/>
              </a:ext>
            </a:extLst>
          </p:cNvPr>
          <p:cNvSpPr/>
          <p:nvPr/>
        </p:nvSpPr>
        <p:spPr bwMode="auto">
          <a:xfrm>
            <a:off x="5943600" y="1"/>
            <a:ext cx="4724400" cy="111259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lnSpc>
                <a:spcPct val="90000"/>
              </a:lnSpc>
              <a:spcBef>
                <a:spcPct val="20000"/>
              </a:spcBef>
              <a:spcAft>
                <a:spcPct val="0"/>
              </a:spcAft>
            </a:pPr>
            <a:endParaRPr lang="zh-CN" altLang="en-US" sz="3200">
              <a:solidFill>
                <a:srgbClr val="000000"/>
              </a:solidFill>
              <a:latin typeface="Arial" charset="0"/>
            </a:endParaRPr>
          </a:p>
        </p:txBody>
      </p:sp>
      <p:sp>
        <p:nvSpPr>
          <p:cNvPr id="2" name="Rectangle 1">
            <a:extLst>
              <a:ext uri="{FF2B5EF4-FFF2-40B4-BE49-F238E27FC236}">
                <a16:creationId xmlns:a16="http://schemas.microsoft.com/office/drawing/2014/main" id="{E74BEDE1-E140-47E6-9700-78F12B5B8F4C}"/>
              </a:ext>
            </a:extLst>
          </p:cNvPr>
          <p:cNvSpPr/>
          <p:nvPr/>
        </p:nvSpPr>
        <p:spPr>
          <a:xfrm>
            <a:off x="0" y="2096125"/>
            <a:ext cx="12191999" cy="1600438"/>
          </a:xfrm>
          <a:prstGeom prst="rect">
            <a:avLst/>
          </a:prstGeom>
        </p:spPr>
        <p:txBody>
          <a:bodyPr wrap="square">
            <a:spAutoFit/>
          </a:bodyPr>
          <a:lstStyle/>
          <a:p>
            <a:pPr algn="ctr">
              <a:spcAft>
                <a:spcPts val="1200"/>
              </a:spcAft>
            </a:pPr>
            <a:r>
              <a:rPr lang="en-US" altLang="zh-CN" sz="2800" b="1" dirty="0">
                <a:solidFill>
                  <a:schemeClr val="bg1"/>
                </a:solidFill>
                <a:latin typeface="Times New Roman" panose="02020603050405020304" pitchFamily="18" charset="0"/>
                <a:cs typeface="Times New Roman" panose="02020603050405020304" pitchFamily="18" charset="0"/>
              </a:rPr>
              <a:t>Comparative Performance Analysis and Application Potential</a:t>
            </a:r>
            <a:r>
              <a:rPr lang="en-HK" altLang="zh-CN" sz="2800" b="1" dirty="0">
                <a:solidFill>
                  <a:schemeClr val="bg1"/>
                </a:solidFill>
                <a:latin typeface="Times New Roman" panose="02020603050405020304" pitchFamily="18" charset="0"/>
                <a:cs typeface="Times New Roman" panose="02020603050405020304" pitchFamily="18" charset="0"/>
              </a:rPr>
              <a:t> of Polymer Core Indirect Evaporative Cool</a:t>
            </a:r>
            <a:r>
              <a:rPr lang="en-US" altLang="zh-CN" sz="2800" b="1" dirty="0" err="1">
                <a:solidFill>
                  <a:schemeClr val="bg1"/>
                </a:solidFill>
                <a:latin typeface="Times New Roman" panose="02020603050405020304" pitchFamily="18" charset="0"/>
                <a:cs typeface="Times New Roman" panose="02020603050405020304" pitchFamily="18" charset="0"/>
              </a:rPr>
              <a:t>ers</a:t>
            </a:r>
            <a:r>
              <a:rPr lang="en-US" altLang="zh-CN" sz="2800" b="1" dirty="0">
                <a:solidFill>
                  <a:schemeClr val="bg1"/>
                </a:solidFill>
                <a:latin typeface="Times New Roman" panose="02020603050405020304" pitchFamily="18" charset="0"/>
                <a:cs typeface="Times New Roman" panose="02020603050405020304" pitchFamily="18" charset="0"/>
              </a:rPr>
              <a:t> (IEC)</a:t>
            </a:r>
            <a:r>
              <a:rPr lang="en-HK" altLang="zh-CN" sz="2800" b="1" dirty="0">
                <a:solidFill>
                  <a:schemeClr val="bg1"/>
                </a:solidFill>
                <a:latin typeface="Times New Roman" panose="02020603050405020304" pitchFamily="18" charset="0"/>
                <a:cs typeface="Times New Roman" panose="02020603050405020304" pitchFamily="18" charset="0"/>
              </a:rPr>
              <a:t> in Hot and Humid Climates</a:t>
            </a:r>
          </a:p>
          <a:p>
            <a:pPr algn="ctr"/>
            <a:r>
              <a:rPr lang="zh-CN" altLang="en-US" sz="3200" b="1" dirty="0">
                <a:solidFill>
                  <a:srgbClr val="FFFF00"/>
                </a:solidFill>
                <a:latin typeface="Times New Roman" panose="02020603050405020304" pitchFamily="18" charset="0"/>
                <a:cs typeface="Times New Roman" panose="02020603050405020304" pitchFamily="18" charset="0"/>
              </a:rPr>
              <a:t>聚丙烯芯间接蒸发冷却器在湿热气候下的性能与应用潜力研究</a:t>
            </a:r>
            <a:endParaRPr lang="en-HK" altLang="zh-CN" sz="3200" b="1" dirty="0">
              <a:solidFill>
                <a:srgbClr val="FFFF0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a16="http://schemas.microsoft.com/office/drawing/2014/main" id="{7152A585-41DA-4B40-92F9-4FEABE00C2A7}"/>
              </a:ext>
            </a:extLst>
          </p:cNvPr>
          <p:cNvSpPr/>
          <p:nvPr/>
        </p:nvSpPr>
        <p:spPr bwMode="auto">
          <a:xfrm>
            <a:off x="0" y="0"/>
            <a:ext cx="12192000" cy="111259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pic>
        <p:nvPicPr>
          <p:cNvPr id="10" name="图片 9">
            <a:extLst>
              <a:ext uri="{FF2B5EF4-FFF2-40B4-BE49-F238E27FC236}">
                <a16:creationId xmlns:a16="http://schemas.microsoft.com/office/drawing/2014/main" id="{D6F048B7-F713-48BB-A7CF-4612442F16C0}"/>
              </a:ext>
            </a:extLst>
          </p:cNvPr>
          <p:cNvPicPr>
            <a:picLocks noChangeAspect="1"/>
          </p:cNvPicPr>
          <p:nvPr/>
        </p:nvPicPr>
        <p:blipFill rotWithShape="1">
          <a:blip r:embed="rId3"/>
          <a:srcRect t="30788" b="45585"/>
          <a:stretch/>
        </p:blipFill>
        <p:spPr>
          <a:xfrm>
            <a:off x="159861" y="63989"/>
            <a:ext cx="5002193" cy="1008000"/>
          </a:xfrm>
          <a:prstGeom prst="rect">
            <a:avLst/>
          </a:prstGeom>
        </p:spPr>
      </p:pic>
      <p:sp>
        <p:nvSpPr>
          <p:cNvPr id="11" name="TextBox 17">
            <a:extLst>
              <a:ext uri="{FF2B5EF4-FFF2-40B4-BE49-F238E27FC236}">
                <a16:creationId xmlns:a16="http://schemas.microsoft.com/office/drawing/2014/main" id="{563B8D7F-06CC-4C80-8FD4-354F54FA0548}"/>
              </a:ext>
            </a:extLst>
          </p:cNvPr>
          <p:cNvSpPr txBox="1">
            <a:spLocks noChangeArrowheads="1"/>
          </p:cNvSpPr>
          <p:nvPr/>
        </p:nvSpPr>
        <p:spPr bwMode="auto">
          <a:xfrm>
            <a:off x="66610" y="1290535"/>
            <a:ext cx="41949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1pPr>
            <a:lvl2pPr marL="742950" indent="-285750">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2pPr>
            <a:lvl3pPr marL="1143000" indent="-228600">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3pPr>
            <a:lvl4pPr marL="1600200" indent="-228600">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4pPr>
            <a:lvl5pPr marL="2057400" indent="-228600">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Arial Unicode MS" panose="020B0604020202020204" pitchFamily="34" charset="-128"/>
                <a:cs typeface="Arial Unicode MS" panose="020B0604020202020204" pitchFamily="34" charset="-128"/>
              </a:defRPr>
            </a:lvl9pPr>
          </a:lstStyle>
          <a:p>
            <a:pPr algn="ctr" eaLnBrk="1" hangingPunct="1"/>
            <a:r>
              <a:rPr lang="zh-CN" altLang="en-US" sz="2000" b="1" i="1" dirty="0">
                <a:latin typeface="Times New Roman" panose="02020603050405020304" pitchFamily="18" charset="0"/>
                <a:cs typeface="Times New Roman" panose="02020603050405020304" pitchFamily="18" charset="0"/>
              </a:rPr>
              <a:t>第二十五届暖通空调制冷学术年会</a:t>
            </a:r>
          </a:p>
        </p:txBody>
      </p:sp>
      <p:sp>
        <p:nvSpPr>
          <p:cNvPr id="12" name="Rectangle 7">
            <a:extLst>
              <a:ext uri="{FF2B5EF4-FFF2-40B4-BE49-F238E27FC236}">
                <a16:creationId xmlns:a16="http://schemas.microsoft.com/office/drawing/2014/main" id="{F8636A23-A405-4BEE-AB23-1A18B07E878B}"/>
              </a:ext>
            </a:extLst>
          </p:cNvPr>
          <p:cNvSpPr>
            <a:spLocks noGrp="1" noChangeArrowheads="1"/>
          </p:cNvSpPr>
          <p:nvPr>
            <p:ph type="subTitle" sz="quarter" idx="1"/>
          </p:nvPr>
        </p:nvSpPr>
        <p:spPr>
          <a:xfrm>
            <a:off x="0" y="4038600"/>
            <a:ext cx="12192000" cy="1981200"/>
          </a:xfrm>
        </p:spPr>
        <p:txBody>
          <a:bodyPr/>
          <a:lstStyle/>
          <a:p>
            <a:pPr>
              <a:lnSpc>
                <a:spcPct val="90000"/>
              </a:lnSpc>
            </a:pPr>
            <a:r>
              <a:rPr lang="en-US" altLang="zh-CN" sz="2400" b="1" dirty="0">
                <a:latin typeface="Times New Roman" panose="02020603050405020304" pitchFamily="18" charset="0"/>
                <a:ea typeface="SimSun" panose="02010600030101010101" pitchFamily="2" charset="-122"/>
                <a:cs typeface="Times New Roman" panose="02020603050405020304" pitchFamily="18" charset="0"/>
              </a:rPr>
              <a:t>Prof. YANG Hongxing</a:t>
            </a:r>
          </a:p>
          <a:p>
            <a:pPr>
              <a:lnSpc>
                <a:spcPct val="9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rPr>
              <a:t>杨洪兴教授</a:t>
            </a:r>
            <a:endParaRPr lang="en-US" altLang="zh-CN" sz="2400" b="1" dirty="0">
              <a:latin typeface="Times New Roman" panose="02020603050405020304" pitchFamily="18" charset="0"/>
              <a:ea typeface="SimSun" panose="02010600030101010101" pitchFamily="2" charset="-122"/>
              <a:cs typeface="Times New Roman" panose="02020603050405020304" pitchFamily="18" charset="0"/>
            </a:endParaRPr>
          </a:p>
          <a:p>
            <a:pPr>
              <a:lnSpc>
                <a:spcPct val="90000"/>
              </a:lnSpc>
            </a:pPr>
            <a:endParaRPr lang="en-US" altLang="zh-CN" sz="20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Department of Building Environment and Energy Engineering,</a:t>
            </a:r>
          </a:p>
          <a:p>
            <a:pPr eaLnBrk="1" hangingPunct="1">
              <a:lnSpc>
                <a:spcPct val="80000"/>
              </a:lnSpc>
            </a:pPr>
            <a:r>
              <a:rPr lang="en-GB" altLang="zh-CN" sz="2000" i="1" dirty="0">
                <a:latin typeface="Times New Roman" panose="02020603050405020304" pitchFamily="18" charset="0"/>
                <a:ea typeface="SimSun" panose="02010600030101010101" pitchFamily="2" charset="-122"/>
                <a:cs typeface="Times New Roman" panose="02020603050405020304" pitchFamily="18" charset="0"/>
              </a:rPr>
              <a:t>Southwest </a:t>
            </a:r>
            <a:r>
              <a:rPr lang="en-GB" altLang="zh-CN" sz="2000" i="1" dirty="0" err="1">
                <a:latin typeface="Times New Roman" panose="02020603050405020304" pitchFamily="18" charset="0"/>
                <a:ea typeface="SimSun" panose="02010600030101010101" pitchFamily="2" charset="-122"/>
                <a:cs typeface="Times New Roman" panose="02020603050405020304" pitchFamily="18" charset="0"/>
              </a:rPr>
              <a:t>Jiaotong</a:t>
            </a:r>
            <a:r>
              <a:rPr lang="en-GB" altLang="zh-CN" sz="2000" i="1" dirty="0">
                <a:latin typeface="Times New Roman" panose="02020603050405020304" pitchFamily="18" charset="0"/>
                <a:ea typeface="SimSun" panose="02010600030101010101" pitchFamily="2" charset="-122"/>
                <a:cs typeface="Times New Roman" panose="02020603050405020304" pitchFamily="18" charset="0"/>
              </a:rPr>
              <a:t> University</a:t>
            </a:r>
          </a:p>
          <a:p>
            <a:pPr eaLnBrk="1" hangingPunct="1">
              <a:lnSpc>
                <a:spcPct val="80000"/>
              </a:lnSpc>
            </a:pPr>
            <a:r>
              <a:rPr lang="zh-CN" altLang="en-US" sz="2000" b="1" dirty="0">
                <a:latin typeface="Times New Roman" panose="02020603050405020304" pitchFamily="18" charset="0"/>
                <a:ea typeface="SimSun" panose="02010600030101010101" pitchFamily="2" charset="-122"/>
                <a:cs typeface="Times New Roman" panose="02020603050405020304" pitchFamily="18" charset="0"/>
              </a:rPr>
              <a:t>西南交通大学，建筑环境与能源应用工程系</a:t>
            </a:r>
            <a:endParaRPr lang="en-GB" altLang="zh-CN" sz="2000" b="1"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eaLnBrk="1" hangingPunct="1">
              <a:lnSpc>
                <a:spcPct val="80000"/>
              </a:lnSpc>
            </a:pP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29-10-2026</a:t>
            </a:r>
          </a:p>
        </p:txBody>
      </p:sp>
    </p:spTree>
  </p:cSld>
  <p:clrMapOvr>
    <a:masterClrMapping/>
  </p:clrMapOvr>
  <p:transition spd="slow" advTm="2290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2F1D554-8609-44B3-9B0C-9F6E8FC3B1F1}"/>
              </a:ext>
            </a:extLst>
          </p:cNvPr>
          <p:cNvPicPr>
            <a:picLocks noChangeAspect="1"/>
          </p:cNvPicPr>
          <p:nvPr/>
        </p:nvPicPr>
        <p:blipFill rotWithShape="1">
          <a:blip r:embed="rId2">
            <a:extLst>
              <a:ext uri="{28A0092B-C50C-407E-A947-70E740481C1C}">
                <a14:useLocalDpi xmlns:a14="http://schemas.microsoft.com/office/drawing/2010/main" val="0"/>
              </a:ext>
            </a:extLst>
          </a:blip>
          <a:srcRect t="56944"/>
          <a:stretch/>
        </p:blipFill>
        <p:spPr>
          <a:xfrm>
            <a:off x="221064" y="3958788"/>
            <a:ext cx="11970936" cy="2899211"/>
          </a:xfrm>
          <a:prstGeom prst="rect">
            <a:avLst/>
          </a:prstGeom>
        </p:spPr>
      </p:pic>
      <p:sp>
        <p:nvSpPr>
          <p:cNvPr id="8" name="Content Placeholder 2"/>
          <p:cNvSpPr>
            <a:spLocks noGrp="1"/>
          </p:cNvSpPr>
          <p:nvPr>
            <p:ph idx="1"/>
          </p:nvPr>
        </p:nvSpPr>
        <p:spPr>
          <a:xfrm>
            <a:off x="551338" y="897890"/>
            <a:ext cx="11160883" cy="4217714"/>
          </a:xfrm>
        </p:spPr>
        <p:txBody>
          <a:bodyPr>
            <a:normAutofit/>
          </a:bodyPr>
          <a:lstStyle/>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研究背景与芯体设计</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数值建模与模型验证</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模拟结果与性能分析</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工程应用与节能经济性</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研究结论</a:t>
            </a:r>
          </a:p>
        </p:txBody>
      </p:sp>
      <p:sp>
        <p:nvSpPr>
          <p:cNvPr id="9" name="矩形 8">
            <a:extLst>
              <a:ext uri="{FF2B5EF4-FFF2-40B4-BE49-F238E27FC236}">
                <a16:creationId xmlns:a16="http://schemas.microsoft.com/office/drawing/2014/main" id="{867A46B8-91BF-4540-9362-46690EA2324D}"/>
              </a:ext>
            </a:extLst>
          </p:cNvPr>
          <p:cNvSpPr/>
          <p:nvPr/>
        </p:nvSpPr>
        <p:spPr>
          <a:xfrm>
            <a:off x="1175657" y="132304"/>
            <a:ext cx="5374817"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报告提纲</a:t>
            </a:r>
          </a:p>
        </p:txBody>
      </p:sp>
      <p:sp>
        <p:nvSpPr>
          <p:cNvPr id="10" name="灯片编号占位符 1">
            <a:extLst>
              <a:ext uri="{FF2B5EF4-FFF2-40B4-BE49-F238E27FC236}">
                <a16:creationId xmlns:a16="http://schemas.microsoft.com/office/drawing/2014/main" id="{80623DD2-3951-4626-8E5A-2FB9673DF4F1}"/>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a:t>
            </a:fld>
            <a:endParaRPr lang="en-US" altLang="zh-CN" dirty="0"/>
          </a:p>
        </p:txBody>
      </p:sp>
    </p:spTree>
    <p:extLst>
      <p:ext uri="{BB962C8B-B14F-4D97-AF65-F5344CB8AC3E}">
        <p14:creationId xmlns:p14="http://schemas.microsoft.com/office/powerpoint/2010/main" val="193558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F8049-18E8-34BE-FE06-15308B0D918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8C0DAF56-3987-DAE4-31BC-95A9042DD2B4}"/>
              </a:ext>
            </a:extLst>
          </p:cNvPr>
          <p:cNvPicPr>
            <a:picLocks noChangeAspect="1"/>
          </p:cNvPicPr>
          <p:nvPr/>
        </p:nvPicPr>
        <p:blipFill rotWithShape="1">
          <a:blip r:embed="rId2">
            <a:extLst>
              <a:ext uri="{28A0092B-C50C-407E-A947-70E740481C1C}">
                <a14:useLocalDpi xmlns:a14="http://schemas.microsoft.com/office/drawing/2010/main" val="0"/>
              </a:ext>
            </a:extLst>
          </a:blip>
          <a:srcRect t="56944"/>
          <a:stretch/>
        </p:blipFill>
        <p:spPr>
          <a:xfrm>
            <a:off x="221064" y="3958788"/>
            <a:ext cx="11970936" cy="2899211"/>
          </a:xfrm>
          <a:prstGeom prst="rect">
            <a:avLst/>
          </a:prstGeom>
        </p:spPr>
      </p:pic>
      <p:sp>
        <p:nvSpPr>
          <p:cNvPr id="8" name="Content Placeholder 2">
            <a:extLst>
              <a:ext uri="{FF2B5EF4-FFF2-40B4-BE49-F238E27FC236}">
                <a16:creationId xmlns:a16="http://schemas.microsoft.com/office/drawing/2014/main" id="{22060162-F567-2BA8-3A34-CD8036E5BBC3}"/>
              </a:ext>
            </a:extLst>
          </p:cNvPr>
          <p:cNvSpPr>
            <a:spLocks noGrp="1"/>
          </p:cNvSpPr>
          <p:nvPr>
            <p:ph idx="1"/>
          </p:nvPr>
        </p:nvSpPr>
        <p:spPr>
          <a:xfrm>
            <a:off x="551339" y="897890"/>
            <a:ext cx="11089321" cy="4217714"/>
          </a:xfrm>
        </p:spPr>
        <p:txBody>
          <a:bodyPr>
            <a:normAutofit/>
          </a:bodyPr>
          <a:lstStyle/>
          <a:p>
            <a:pPr marL="623888" lvl="1" indent="-468000" algn="just" eaLnBrk="1" hangingPunct="1">
              <a:lnSpc>
                <a:spcPct val="125000"/>
              </a:lnSpc>
              <a:spcBef>
                <a:spcPct val="0"/>
              </a:spcBef>
              <a:spcAft>
                <a:spcPts val="1200"/>
              </a:spcAft>
              <a:buFont typeface="+mj-lt"/>
              <a:buAutoNum type="arabicPeriod"/>
            </a:pPr>
            <a:r>
              <a:rPr lang="zh-CN" altLang="zh-CN" sz="2700" b="1" dirty="0">
                <a:solidFill>
                  <a:srgbClr val="C00000"/>
                </a:solidFill>
                <a:latin typeface="Times New Roman" panose="02020603050405020304" pitchFamily="18" charset="0"/>
                <a:cs typeface="Times New Roman" panose="02020603050405020304" pitchFamily="18" charset="0"/>
                <a:ea typeface="Microsoft YaHei"/>
              </a:rPr>
              <a:t>研究背景与芯体设计</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数值建模与模型验证</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模拟结果与性能分析</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工程应用与节能经济性</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研究结论</a:t>
            </a:r>
          </a:p>
        </p:txBody>
      </p:sp>
      <p:sp>
        <p:nvSpPr>
          <p:cNvPr id="9" name="矩形 8">
            <a:extLst>
              <a:ext uri="{FF2B5EF4-FFF2-40B4-BE49-F238E27FC236}">
                <a16:creationId xmlns:a16="http://schemas.microsoft.com/office/drawing/2014/main" id="{6E2B33CF-AFA2-B5CF-CE56-7894B6C5417C}"/>
              </a:ext>
            </a:extLst>
          </p:cNvPr>
          <p:cNvSpPr/>
          <p:nvPr/>
        </p:nvSpPr>
        <p:spPr>
          <a:xfrm>
            <a:off x="1175657" y="132304"/>
            <a:ext cx="5374817"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报告提纲</a:t>
            </a:r>
          </a:p>
        </p:txBody>
      </p:sp>
      <p:sp>
        <p:nvSpPr>
          <p:cNvPr id="10" name="灯片编号占位符 1">
            <a:extLst>
              <a:ext uri="{FF2B5EF4-FFF2-40B4-BE49-F238E27FC236}">
                <a16:creationId xmlns:a16="http://schemas.microsoft.com/office/drawing/2014/main" id="{267582ED-F7F3-A439-0A41-13929D5CB59E}"/>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3</a:t>
            </a:fld>
            <a:endParaRPr lang="en-US" altLang="zh-CN" dirty="0"/>
          </a:p>
        </p:txBody>
      </p:sp>
    </p:spTree>
    <p:extLst>
      <p:ext uri="{BB962C8B-B14F-4D97-AF65-F5344CB8AC3E}">
        <p14:creationId xmlns:p14="http://schemas.microsoft.com/office/powerpoint/2010/main" val="704805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A062160-D6C2-4E46-9E7A-5FDC78CED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5347" y="2449660"/>
            <a:ext cx="2585179" cy="2786400"/>
          </a:xfrm>
          <a:prstGeom prst="rect">
            <a:avLst/>
          </a:prstGeom>
        </p:spPr>
      </p:pic>
      <p:sp>
        <p:nvSpPr>
          <p:cNvPr id="35" name="Title 8">
            <a:extLst>
              <a:ext uri="{FF2B5EF4-FFF2-40B4-BE49-F238E27FC236}">
                <a16:creationId xmlns:a16="http://schemas.microsoft.com/office/drawing/2014/main" id="{8B8F9D25-5CF0-4920-BA0C-E821D0317FC4}"/>
              </a:ext>
            </a:extLst>
          </p:cNvPr>
          <p:cNvSpPr txBox="1">
            <a:spLocks/>
          </p:cNvSpPr>
          <p:nvPr/>
        </p:nvSpPr>
        <p:spPr bwMode="auto">
          <a:xfrm>
            <a:off x="1124759" y="219480"/>
            <a:ext cx="538893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1. 研究背景与芯体设计</a:t>
            </a:r>
          </a:p>
        </p:txBody>
      </p:sp>
      <p:sp>
        <p:nvSpPr>
          <p:cNvPr id="36" name="文本框 35">
            <a:extLst>
              <a:ext uri="{FF2B5EF4-FFF2-40B4-BE49-F238E27FC236}">
                <a16:creationId xmlns:a16="http://schemas.microsoft.com/office/drawing/2014/main" id="{B62FDF9E-6657-4935-883E-4D42C3A7364F}"/>
              </a:ext>
            </a:extLst>
          </p:cNvPr>
          <p:cNvSpPr txBox="1"/>
          <p:nvPr/>
        </p:nvSpPr>
        <p:spPr>
          <a:xfrm>
            <a:off x="404071" y="956954"/>
            <a:ext cx="5504429" cy="369332"/>
          </a:xfrm>
          <a:prstGeom prst="rect">
            <a:avLst/>
          </a:prstGeom>
          <a:noFill/>
        </p:spPr>
        <p:txBody>
          <a:bodyPr wrap="square" rtlCol="0">
            <a:spAutoFit/>
          </a:bodyPr>
          <a:lstStyle/>
          <a:p>
            <a:pPr defTabSz="457200"/>
            <a:r>
              <a:rPr lang="en-HK" sz="1800" b="1" dirty="0">
                <a:solidFill>
                  <a:prstClr val="black"/>
                </a:solidFill>
                <a:latin typeface="Times New Roman" panose="02020603050405020304" pitchFamily="18" charset="0"/>
                <a:ea typeface="+mn-ea"/>
                <a:cs typeface="Times New Roman" panose="02020603050405020304" pitchFamily="18" charset="0"/>
              </a:rPr>
              <a:t>1.1 Cooling energy use in buildings </a:t>
            </a:r>
            <a:r>
              <a:rPr lang="zh-CN" altLang="en-US" dirty="0">
                <a:latin typeface="宋体" panose="02010600030101010101" pitchFamily="2" charset="-122"/>
                <a:ea typeface="宋体" panose="02010600030101010101" pitchFamily="2" charset="-122"/>
              </a:rPr>
              <a:t>建筑物制冷能耗</a:t>
            </a:r>
            <a:endParaRPr lang="en-HK" sz="1800" b="1"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3551DB90-1D98-4950-83C0-04E9F6A855D4}"/>
              </a:ext>
            </a:extLst>
          </p:cNvPr>
          <p:cNvSpPr txBox="1"/>
          <p:nvPr/>
        </p:nvSpPr>
        <p:spPr>
          <a:xfrm>
            <a:off x="1196477" y="1485321"/>
            <a:ext cx="9822043" cy="892552"/>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mn-ea"/>
                <a:cs typeface="Times New Roman" panose="02020603050405020304" pitchFamily="18" charset="0"/>
              </a:rPr>
              <a:t>China </a:t>
            </a:r>
            <a:r>
              <a:rPr lang="zh-CN" altLang="en-US" sz="1800" b="1" dirty="0">
                <a:solidFill>
                  <a:prstClr val="black"/>
                </a:solidFill>
                <a:latin typeface="Times New Roman" panose="02020603050405020304" pitchFamily="18" charset="0"/>
                <a:ea typeface="+mn-ea"/>
                <a:cs typeface="Times New Roman" panose="02020603050405020304" pitchFamily="18" charset="0"/>
              </a:rPr>
              <a:t>中国</a:t>
            </a:r>
            <a:r>
              <a:rPr lang="en-HK" sz="1800" b="1" dirty="0">
                <a:solidFill>
                  <a:prstClr val="black"/>
                </a:solidFill>
                <a:latin typeface="Times New Roman" panose="02020603050405020304" pitchFamily="18" charset="0"/>
                <a:ea typeface="+mn-ea"/>
                <a:cs typeface="Times New Roman" panose="02020603050405020304" pitchFamily="18" charset="0"/>
              </a:rPr>
              <a:t>: </a:t>
            </a:r>
            <a:r>
              <a:rPr lang="zh-CN" altLang="en-US" b="1" dirty="0">
                <a:solidFill>
                  <a:prstClr val="black"/>
                </a:solidFill>
                <a:latin typeface="Times New Roman" panose="02020603050405020304" pitchFamily="18" charset="0"/>
                <a:cs typeface="Times New Roman" panose="02020603050405020304" pitchFamily="18" charset="0"/>
              </a:rPr>
              <a:t>在</a:t>
            </a:r>
            <a:r>
              <a:rPr lang="zh-CN" altLang="en-US" sz="1800" dirty="0">
                <a:solidFill>
                  <a:prstClr val="black"/>
                </a:solidFill>
                <a:latin typeface="Times New Roman" panose="02020603050405020304" pitchFamily="18" charset="0"/>
                <a:cs typeface="Times New Roman" panose="02020603050405020304" pitchFamily="18" charset="0"/>
              </a:rPr>
              <a:t>过去</a:t>
            </a:r>
            <a:r>
              <a:rPr lang="en-US" altLang="zh-CN" sz="1800" dirty="0">
                <a:solidFill>
                  <a:prstClr val="black"/>
                </a:solidFill>
                <a:latin typeface="Times New Roman" panose="02020603050405020304" pitchFamily="18" charset="0"/>
                <a:cs typeface="Times New Roman" panose="02020603050405020304" pitchFamily="18" charset="0"/>
              </a:rPr>
              <a:t>10</a:t>
            </a:r>
            <a:r>
              <a:rPr lang="zh-CN" altLang="en-US" sz="1800" dirty="0">
                <a:solidFill>
                  <a:prstClr val="black"/>
                </a:solidFill>
                <a:latin typeface="Times New Roman" panose="02020603050405020304" pitchFamily="18" charset="0"/>
                <a:cs typeface="Times New Roman" panose="02020603050405020304" pitchFamily="18" charset="0"/>
              </a:rPr>
              <a:t>年</a:t>
            </a:r>
            <a:r>
              <a:rPr lang="zh-CN" altLang="en-US" dirty="0">
                <a:solidFill>
                  <a:prstClr val="black"/>
                </a:solidFill>
                <a:latin typeface="Times New Roman" panose="02020603050405020304" pitchFamily="18" charset="0"/>
                <a:cs typeface="Times New Roman" panose="02020603050405020304" pitchFamily="18" charset="0"/>
              </a:rPr>
              <a:t>里</a:t>
            </a:r>
            <a:r>
              <a:rPr lang="zh-CN" altLang="en-US" sz="1800" dirty="0">
                <a:solidFill>
                  <a:prstClr val="black"/>
                </a:solidFill>
                <a:latin typeface="Times New Roman" panose="02020603050405020304" pitchFamily="18" charset="0"/>
                <a:cs typeface="Times New Roman" panose="02020603050405020304" pitchFamily="18" charset="0"/>
              </a:rPr>
              <a:t>，建筑物制冷能耗增长迅速，占全球制冷能耗的</a:t>
            </a:r>
            <a:r>
              <a:rPr lang="zh-CN" altLang="en-US" sz="1800" b="1" dirty="0">
                <a:solidFill>
                  <a:srgbClr val="C00000"/>
                </a:solidFill>
                <a:latin typeface="Times New Roman" panose="02020603050405020304" pitchFamily="18" charset="0"/>
                <a:cs typeface="Times New Roman" panose="02020603050405020304" pitchFamily="18" charset="0"/>
              </a:rPr>
              <a:t>五分之一</a:t>
            </a:r>
            <a:r>
              <a:rPr lang="zh-CN" altLang="en-US" sz="1800" dirty="0">
                <a:solidFill>
                  <a:prstClr val="black"/>
                </a:solidFill>
                <a:latin typeface="Times New Roman" panose="02020603050405020304" pitchFamily="18" charset="0"/>
                <a:ea typeface="+mn-ea"/>
                <a:cs typeface="Times New Roman" panose="02020603050405020304" pitchFamily="18" charset="0"/>
              </a:rPr>
              <a:t>。</a:t>
            </a:r>
            <a:endParaRPr lang="en-HK" sz="1800" dirty="0">
              <a:solidFill>
                <a:prstClr val="black"/>
              </a:solidFill>
              <a:latin typeface="Times New Roman" panose="02020603050405020304" pitchFamily="18" charset="0"/>
              <a:ea typeface="+mn-ea"/>
              <a:cs typeface="Times New Roman" panose="02020603050405020304" pitchFamily="18" charset="0"/>
            </a:endParaRPr>
          </a:p>
          <a:p>
            <a:pPr marL="285750" indent="-285750" defTabSz="457200" eaLnBrk="1" fontAlgn="auto" hangingPunct="1">
              <a:spcBef>
                <a:spcPts val="0"/>
              </a:spcBef>
              <a:spcAft>
                <a:spcPts val="0"/>
              </a:spcAft>
              <a:buFont typeface="Arial" panose="020B0604020202020204" pitchFamily="34" charset="0"/>
              <a:buChar char="•"/>
            </a:pPr>
            <a:endParaRPr lang="en-HK" sz="1600" b="1" dirty="0">
              <a:solidFill>
                <a:prstClr val="black"/>
              </a:solidFill>
              <a:latin typeface="Times New Roman" panose="02020603050405020304" pitchFamily="18" charset="0"/>
              <a:ea typeface="+mn-ea"/>
              <a:cs typeface="Times New Roman" panose="02020603050405020304" pitchFamily="18" charset="0"/>
            </a:endParaRPr>
          </a:p>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mn-ea"/>
                <a:cs typeface="Times New Roman" panose="02020603050405020304" pitchFamily="18" charset="0"/>
              </a:rPr>
              <a:t>Hong Kong </a:t>
            </a:r>
            <a:r>
              <a:rPr lang="zh-CN" altLang="en-US" sz="1800" b="1" dirty="0">
                <a:solidFill>
                  <a:prstClr val="black"/>
                </a:solidFill>
                <a:latin typeface="Times New Roman" panose="02020603050405020304" pitchFamily="18" charset="0"/>
                <a:ea typeface="+mn-ea"/>
                <a:cs typeface="Times New Roman" panose="02020603050405020304" pitchFamily="18" charset="0"/>
              </a:rPr>
              <a:t>香港</a:t>
            </a:r>
            <a:r>
              <a:rPr lang="en-HK" sz="1800" b="1" dirty="0">
                <a:solidFill>
                  <a:prstClr val="black"/>
                </a:solidFill>
                <a:latin typeface="Times New Roman" panose="02020603050405020304" pitchFamily="18" charset="0"/>
                <a:ea typeface="+mn-ea"/>
                <a:cs typeface="Times New Roman" panose="02020603050405020304" pitchFamily="18" charset="0"/>
              </a:rPr>
              <a:t>: </a:t>
            </a:r>
            <a:r>
              <a:rPr lang="zh-CN" altLang="en-US" sz="1800" dirty="0">
                <a:solidFill>
                  <a:prstClr val="black"/>
                </a:solidFill>
                <a:latin typeface="Times New Roman" panose="02020603050405020304" pitchFamily="18" charset="0"/>
                <a:ea typeface="+mn-ea"/>
                <a:cs typeface="Times New Roman" panose="02020603050405020304" pitchFamily="18" charset="0"/>
              </a:rPr>
              <a:t>在过去</a:t>
            </a:r>
            <a:r>
              <a:rPr lang="en-US" altLang="zh-CN" sz="1800" dirty="0">
                <a:solidFill>
                  <a:prstClr val="black"/>
                </a:solidFill>
                <a:latin typeface="Times New Roman" panose="02020603050405020304" pitchFamily="18" charset="0"/>
                <a:ea typeface="+mn-ea"/>
                <a:cs typeface="Times New Roman" panose="02020603050405020304" pitchFamily="18" charset="0"/>
              </a:rPr>
              <a:t>10</a:t>
            </a:r>
            <a:r>
              <a:rPr lang="zh-CN" altLang="en-US" sz="1800" dirty="0">
                <a:solidFill>
                  <a:prstClr val="black"/>
                </a:solidFill>
                <a:latin typeface="Times New Roman" panose="02020603050405020304" pitchFamily="18" charset="0"/>
                <a:ea typeface="+mn-ea"/>
                <a:cs typeface="Times New Roman" panose="02020603050405020304" pitchFamily="18" charset="0"/>
              </a:rPr>
              <a:t>年里，空调用电量增长了</a:t>
            </a:r>
            <a:r>
              <a:rPr lang="en-US" altLang="zh-CN" sz="1800" b="1" dirty="0">
                <a:solidFill>
                  <a:srgbClr val="C00000"/>
                </a:solidFill>
                <a:latin typeface="Times New Roman" panose="02020603050405020304" pitchFamily="18" charset="0"/>
                <a:ea typeface="+mn-ea"/>
                <a:cs typeface="Times New Roman" panose="02020603050405020304" pitchFamily="18" charset="0"/>
              </a:rPr>
              <a:t>29%</a:t>
            </a:r>
            <a:r>
              <a:rPr lang="zh-CN" altLang="en-US" sz="1800" dirty="0">
                <a:solidFill>
                  <a:prstClr val="black"/>
                </a:solidFill>
                <a:latin typeface="Times New Roman" panose="02020603050405020304" pitchFamily="18" charset="0"/>
                <a:ea typeface="+mn-ea"/>
                <a:cs typeface="Times New Roman" panose="02020603050405020304" pitchFamily="18" charset="0"/>
              </a:rPr>
              <a:t>，约占建筑部门总用电量的</a:t>
            </a:r>
            <a:r>
              <a:rPr lang="en-US" altLang="zh-CN" sz="1800" b="1" dirty="0">
                <a:solidFill>
                  <a:srgbClr val="C00000"/>
                </a:solidFill>
                <a:latin typeface="Times New Roman" panose="02020603050405020304" pitchFamily="18" charset="0"/>
                <a:ea typeface="+mn-ea"/>
                <a:cs typeface="Times New Roman" panose="02020603050405020304" pitchFamily="18" charset="0"/>
              </a:rPr>
              <a:t>30%</a:t>
            </a:r>
            <a:r>
              <a:rPr lang="zh-CN" altLang="en-US" sz="1800" b="1" dirty="0">
                <a:solidFill>
                  <a:srgbClr val="C00000"/>
                </a:solidFill>
                <a:latin typeface="Times New Roman" panose="02020603050405020304" pitchFamily="18" charset="0"/>
                <a:ea typeface="+mn-ea"/>
                <a:cs typeface="Times New Roman" panose="02020603050405020304" pitchFamily="18" charset="0"/>
              </a:rPr>
              <a:t>。</a:t>
            </a:r>
            <a:endParaRPr lang="en-HK" sz="1800" b="1" dirty="0">
              <a:solidFill>
                <a:srgbClr val="C00000"/>
              </a:solidFill>
              <a:latin typeface="Times New Roman" panose="02020603050405020304" pitchFamily="18" charset="0"/>
              <a:ea typeface="+mn-ea"/>
              <a:cs typeface="Times New Roman" panose="02020603050405020304" pitchFamily="18" charset="0"/>
            </a:endParaRPr>
          </a:p>
        </p:txBody>
      </p:sp>
      <p:pic>
        <p:nvPicPr>
          <p:cNvPr id="38" name="图片 37">
            <a:extLst>
              <a:ext uri="{FF2B5EF4-FFF2-40B4-BE49-F238E27FC236}">
                <a16:creationId xmlns:a16="http://schemas.microsoft.com/office/drawing/2014/main" id="{A6DEFF5E-18E8-4D1C-A209-C5CEBAA93C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8212" y="2656389"/>
            <a:ext cx="4377809" cy="2344857"/>
          </a:xfrm>
          <a:prstGeom prst="rect">
            <a:avLst/>
          </a:prstGeom>
        </p:spPr>
      </p:pic>
      <p:sp>
        <p:nvSpPr>
          <p:cNvPr id="40" name="文本框 39">
            <a:extLst>
              <a:ext uri="{FF2B5EF4-FFF2-40B4-BE49-F238E27FC236}">
                <a16:creationId xmlns:a16="http://schemas.microsoft.com/office/drawing/2014/main" id="{F73C51D1-DEE3-4BAE-A79D-C4452E0CB51E}"/>
              </a:ext>
            </a:extLst>
          </p:cNvPr>
          <p:cNvSpPr txBox="1"/>
          <p:nvPr/>
        </p:nvSpPr>
        <p:spPr>
          <a:xfrm>
            <a:off x="2513801" y="2867805"/>
            <a:ext cx="662474"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Arial" panose="020B0604020202020204" pitchFamily="34" charset="0"/>
                <a:ea typeface="+mn-ea"/>
                <a:cs typeface="Arial" panose="020B0604020202020204" pitchFamily="34" charset="0"/>
              </a:rPr>
              <a:t>US</a:t>
            </a:r>
          </a:p>
        </p:txBody>
      </p:sp>
      <p:sp>
        <p:nvSpPr>
          <p:cNvPr id="41" name="文本框 40">
            <a:extLst>
              <a:ext uri="{FF2B5EF4-FFF2-40B4-BE49-F238E27FC236}">
                <a16:creationId xmlns:a16="http://schemas.microsoft.com/office/drawing/2014/main" id="{2BD2EA56-3D70-4313-A15A-57E24D0A4D2B}"/>
              </a:ext>
            </a:extLst>
          </p:cNvPr>
          <p:cNvSpPr txBox="1"/>
          <p:nvPr/>
        </p:nvSpPr>
        <p:spPr>
          <a:xfrm>
            <a:off x="2242915" y="3788998"/>
            <a:ext cx="1090126"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Arial" panose="020B0604020202020204" pitchFamily="34" charset="0"/>
                <a:ea typeface="+mn-ea"/>
                <a:cs typeface="Arial" panose="020B0604020202020204" pitchFamily="34" charset="0"/>
              </a:rPr>
              <a:t>World</a:t>
            </a:r>
          </a:p>
        </p:txBody>
      </p:sp>
      <p:sp>
        <p:nvSpPr>
          <p:cNvPr id="42" name="文本框 41">
            <a:extLst>
              <a:ext uri="{FF2B5EF4-FFF2-40B4-BE49-F238E27FC236}">
                <a16:creationId xmlns:a16="http://schemas.microsoft.com/office/drawing/2014/main" id="{F34C4778-A79B-4411-A787-0C9210E1434A}"/>
              </a:ext>
            </a:extLst>
          </p:cNvPr>
          <p:cNvSpPr txBox="1"/>
          <p:nvPr/>
        </p:nvSpPr>
        <p:spPr>
          <a:xfrm>
            <a:off x="3176056" y="4195157"/>
            <a:ext cx="979065" cy="307777"/>
          </a:xfrm>
          <a:prstGeom prst="rect">
            <a:avLst/>
          </a:prstGeom>
          <a:noFill/>
        </p:spPr>
        <p:txBody>
          <a:bodyPr wrap="square" rtlCol="0">
            <a:spAutoFit/>
          </a:bodyPr>
          <a:lstStyle/>
          <a:p>
            <a:pPr defTabSz="457200" eaLnBrk="1" fontAlgn="auto" hangingPunct="1">
              <a:spcBef>
                <a:spcPts val="0"/>
              </a:spcBef>
              <a:spcAft>
                <a:spcPts val="0"/>
              </a:spcAft>
            </a:pPr>
            <a:r>
              <a:rPr lang="en-HK" sz="1400" dirty="0">
                <a:solidFill>
                  <a:prstClr val="black"/>
                </a:solidFill>
                <a:latin typeface="Arial" panose="020B0604020202020204" pitchFamily="34" charset="0"/>
                <a:ea typeface="+mn-ea"/>
                <a:cs typeface="Arial" panose="020B0604020202020204" pitchFamily="34" charset="0"/>
              </a:rPr>
              <a:t>China</a:t>
            </a:r>
          </a:p>
        </p:txBody>
      </p:sp>
      <p:cxnSp>
        <p:nvCxnSpPr>
          <p:cNvPr id="43" name="直接箭头连接符 42">
            <a:extLst>
              <a:ext uri="{FF2B5EF4-FFF2-40B4-BE49-F238E27FC236}">
                <a16:creationId xmlns:a16="http://schemas.microsoft.com/office/drawing/2014/main" id="{4E1A74DE-2A9D-4489-A6E9-6C2581FECEDE}"/>
              </a:ext>
            </a:extLst>
          </p:cNvPr>
          <p:cNvCxnSpPr/>
          <p:nvPr/>
        </p:nvCxnSpPr>
        <p:spPr>
          <a:xfrm>
            <a:off x="2925422" y="3025392"/>
            <a:ext cx="466530" cy="0"/>
          </a:xfrm>
          <a:prstGeom prst="straightConnector1">
            <a:avLst/>
          </a:prstGeom>
          <a:noFill/>
          <a:ln w="22225" cap="flat" cmpd="sng" algn="ctr">
            <a:solidFill>
              <a:srgbClr val="DA7E3E"/>
            </a:solidFill>
            <a:prstDash val="solid"/>
            <a:miter lim="800000"/>
            <a:tailEnd type="triangle"/>
          </a:ln>
          <a:effectLst/>
        </p:spPr>
      </p:cxnSp>
      <p:cxnSp>
        <p:nvCxnSpPr>
          <p:cNvPr id="44" name="直接箭头连接符 43">
            <a:extLst>
              <a:ext uri="{FF2B5EF4-FFF2-40B4-BE49-F238E27FC236}">
                <a16:creationId xmlns:a16="http://schemas.microsoft.com/office/drawing/2014/main" id="{4F260449-8138-4D88-BDAA-502C48094806}"/>
              </a:ext>
            </a:extLst>
          </p:cNvPr>
          <p:cNvCxnSpPr>
            <a:cxnSpLocks/>
          </p:cNvCxnSpPr>
          <p:nvPr/>
        </p:nvCxnSpPr>
        <p:spPr>
          <a:xfrm flipV="1">
            <a:off x="3765416" y="4104713"/>
            <a:ext cx="493290" cy="124280"/>
          </a:xfrm>
          <a:prstGeom prst="straightConnector1">
            <a:avLst/>
          </a:prstGeom>
          <a:noFill/>
          <a:ln w="22225" cap="flat" cmpd="sng" algn="ctr">
            <a:solidFill>
              <a:srgbClr val="B2030B"/>
            </a:solidFill>
            <a:prstDash val="solid"/>
            <a:miter lim="800000"/>
            <a:tailEnd type="triangle"/>
          </a:ln>
          <a:effectLst/>
        </p:spPr>
      </p:cxnSp>
      <p:cxnSp>
        <p:nvCxnSpPr>
          <p:cNvPr id="45" name="直接箭头连接符 44">
            <a:extLst>
              <a:ext uri="{FF2B5EF4-FFF2-40B4-BE49-F238E27FC236}">
                <a16:creationId xmlns:a16="http://schemas.microsoft.com/office/drawing/2014/main" id="{D5D89A26-E711-4EBB-8A5F-C35610160EED}"/>
              </a:ext>
            </a:extLst>
          </p:cNvPr>
          <p:cNvCxnSpPr>
            <a:cxnSpLocks/>
          </p:cNvCxnSpPr>
          <p:nvPr/>
        </p:nvCxnSpPr>
        <p:spPr>
          <a:xfrm flipV="1">
            <a:off x="2932987" y="3910190"/>
            <a:ext cx="593013" cy="69871"/>
          </a:xfrm>
          <a:prstGeom prst="straightConnector1">
            <a:avLst/>
          </a:prstGeom>
          <a:noFill/>
          <a:ln w="22225" cap="flat" cmpd="sng" algn="ctr">
            <a:solidFill>
              <a:srgbClr val="2A899B"/>
            </a:solidFill>
            <a:prstDash val="solid"/>
            <a:miter lim="800000"/>
            <a:tailEnd type="triangle"/>
          </a:ln>
          <a:effectLst/>
        </p:spPr>
      </p:cxnSp>
      <p:sp>
        <p:nvSpPr>
          <p:cNvPr id="46" name="矩形 4">
            <a:extLst>
              <a:ext uri="{FF2B5EF4-FFF2-40B4-BE49-F238E27FC236}">
                <a16:creationId xmlns:a16="http://schemas.microsoft.com/office/drawing/2014/main" id="{F07FE167-2C4A-4929-B2CE-A58C30E33794}"/>
              </a:ext>
            </a:extLst>
          </p:cNvPr>
          <p:cNvSpPr>
            <a:spLocks noChangeArrowheads="1"/>
          </p:cNvSpPr>
          <p:nvPr/>
        </p:nvSpPr>
        <p:spPr bwMode="auto">
          <a:xfrm>
            <a:off x="1163697" y="5319407"/>
            <a:ext cx="46307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bg2"/>
                </a:solidFill>
                <a:latin typeface="Arial" panose="020B0604020202020204" pitchFamily="34" charset="0"/>
                <a:ea typeface="ＭＳ Ｐゴシック" panose="020B0600070205080204" pitchFamily="34" charset="-128"/>
              </a:defRPr>
            </a:lvl1pPr>
            <a:lvl2pPr marL="742950" indent="-285750">
              <a:defRPr sz="3200">
                <a:solidFill>
                  <a:schemeClr val="bg2"/>
                </a:solidFill>
                <a:latin typeface="Arial" panose="020B0604020202020204" pitchFamily="34" charset="0"/>
                <a:ea typeface="ＭＳ Ｐゴシック" panose="020B0600070205080204" pitchFamily="34" charset="-128"/>
              </a:defRPr>
            </a:lvl2pPr>
            <a:lvl3pPr marL="1143000" indent="-228600">
              <a:defRPr sz="3200">
                <a:solidFill>
                  <a:schemeClr val="bg2"/>
                </a:solidFill>
                <a:latin typeface="Arial" panose="020B0604020202020204" pitchFamily="34" charset="0"/>
                <a:ea typeface="ＭＳ Ｐゴシック" panose="020B0600070205080204" pitchFamily="34" charset="-128"/>
              </a:defRPr>
            </a:lvl3pPr>
            <a:lvl4pPr marL="1600200" indent="-228600">
              <a:defRPr sz="3200">
                <a:solidFill>
                  <a:schemeClr val="bg2"/>
                </a:solidFill>
                <a:latin typeface="Arial" panose="020B0604020202020204" pitchFamily="34" charset="0"/>
                <a:ea typeface="ＭＳ Ｐゴシック" panose="020B0600070205080204" pitchFamily="34" charset="-128"/>
              </a:defRPr>
            </a:lvl4pPr>
            <a:lvl5pPr marL="2057400" indent="-228600">
              <a:defRPr sz="3200">
                <a:solidFill>
                  <a:schemeClr val="bg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a:solidFill>
                  <a:schemeClr val="bg2"/>
                </a:solidFill>
                <a:latin typeface="Arial" panose="020B0604020202020204" pitchFamily="34" charset="0"/>
                <a:ea typeface="ＭＳ Ｐゴシック" panose="020B0600070205080204" pitchFamily="34" charset="-128"/>
              </a:defRPr>
            </a:lvl9pPr>
          </a:lstStyle>
          <a:p>
            <a:pPr algn="ctr" defTabSz="457200" eaLnBrk="1" fontAlgn="auto" hangingPunct="1">
              <a:spcBef>
                <a:spcPts val="0"/>
              </a:spcBef>
              <a:spcAft>
                <a:spcPts val="0"/>
              </a:spcAft>
            </a:pPr>
            <a:r>
              <a:rPr lang="en-GB" altLang="zh-CN" sz="1400" b="1" dirty="0">
                <a:solidFill>
                  <a:srgbClr val="C00000"/>
                </a:solidFill>
                <a:latin typeface="Times New Roman" panose="02020603050405020304" pitchFamily="18" charset="0"/>
                <a:ea typeface="宋体" panose="02010600030101010101" pitchFamily="2" charset="-122"/>
                <a:cs typeface="+mn-cs"/>
              </a:rPr>
              <a:t>Electricity use for space cooling, 2000-2017</a:t>
            </a:r>
            <a:endParaRPr lang="zh-CN" altLang="en-US" sz="1400" b="1" dirty="0">
              <a:solidFill>
                <a:srgbClr val="C00000"/>
              </a:solidFill>
              <a:latin typeface="Calibri" panose="020F0502020204030204" pitchFamily="34" charset="0"/>
              <a:ea typeface="宋体" panose="02010600030101010101" pitchFamily="2" charset="-122"/>
              <a:cs typeface="+mn-cs"/>
            </a:endParaRPr>
          </a:p>
        </p:txBody>
      </p:sp>
      <p:pic>
        <p:nvPicPr>
          <p:cNvPr id="47" name="图片 46">
            <a:extLst>
              <a:ext uri="{FF2B5EF4-FFF2-40B4-BE49-F238E27FC236}">
                <a16:creationId xmlns:a16="http://schemas.microsoft.com/office/drawing/2014/main" id="{C2AC8092-6D8C-456C-B4BA-665797B5FADE}"/>
              </a:ext>
            </a:extLst>
          </p:cNvPr>
          <p:cNvPicPr>
            <a:picLocks noChangeAspect="1"/>
          </p:cNvPicPr>
          <p:nvPr/>
        </p:nvPicPr>
        <p:blipFill rotWithShape="1">
          <a:blip r:embed="rId5">
            <a:extLst>
              <a:ext uri="{28A0092B-C50C-407E-A947-70E740481C1C}">
                <a14:useLocalDpi xmlns:a14="http://schemas.microsoft.com/office/drawing/2010/main" val="0"/>
              </a:ext>
            </a:extLst>
          </a:blip>
          <a:srcRect b="88606"/>
          <a:stretch/>
        </p:blipFill>
        <p:spPr>
          <a:xfrm>
            <a:off x="1458211" y="5141564"/>
            <a:ext cx="1249680" cy="223139"/>
          </a:xfrm>
          <a:prstGeom prst="rect">
            <a:avLst/>
          </a:prstGeom>
        </p:spPr>
      </p:pic>
      <p:pic>
        <p:nvPicPr>
          <p:cNvPr id="48" name="图片 47">
            <a:extLst>
              <a:ext uri="{FF2B5EF4-FFF2-40B4-BE49-F238E27FC236}">
                <a16:creationId xmlns:a16="http://schemas.microsoft.com/office/drawing/2014/main" id="{F7F8BA0D-1129-45CC-88BE-B276830696E4}"/>
              </a:ext>
            </a:extLst>
          </p:cNvPr>
          <p:cNvPicPr>
            <a:picLocks noChangeAspect="1"/>
          </p:cNvPicPr>
          <p:nvPr/>
        </p:nvPicPr>
        <p:blipFill rotWithShape="1">
          <a:blip r:embed="rId5">
            <a:extLst>
              <a:ext uri="{28A0092B-C50C-407E-A947-70E740481C1C}">
                <a14:useLocalDpi xmlns:a14="http://schemas.microsoft.com/office/drawing/2010/main" val="0"/>
              </a:ext>
            </a:extLst>
          </a:blip>
          <a:srcRect t="31724" b="56398"/>
          <a:stretch/>
        </p:blipFill>
        <p:spPr>
          <a:xfrm>
            <a:off x="2427200" y="5183023"/>
            <a:ext cx="1249680" cy="232618"/>
          </a:xfrm>
          <a:prstGeom prst="rect">
            <a:avLst/>
          </a:prstGeom>
        </p:spPr>
      </p:pic>
      <p:pic>
        <p:nvPicPr>
          <p:cNvPr id="49" name="图片 48">
            <a:extLst>
              <a:ext uri="{FF2B5EF4-FFF2-40B4-BE49-F238E27FC236}">
                <a16:creationId xmlns:a16="http://schemas.microsoft.com/office/drawing/2014/main" id="{47E3AAB7-59A1-4076-856A-240922A37C7E}"/>
              </a:ext>
            </a:extLst>
          </p:cNvPr>
          <p:cNvPicPr>
            <a:picLocks noChangeAspect="1"/>
          </p:cNvPicPr>
          <p:nvPr/>
        </p:nvPicPr>
        <p:blipFill rotWithShape="1">
          <a:blip r:embed="rId5">
            <a:extLst>
              <a:ext uri="{28A0092B-C50C-407E-A947-70E740481C1C}">
                <a14:useLocalDpi xmlns:a14="http://schemas.microsoft.com/office/drawing/2010/main" val="0"/>
              </a:ext>
            </a:extLst>
          </a:blip>
          <a:srcRect t="61234" b="29834"/>
          <a:stretch/>
        </p:blipFill>
        <p:spPr>
          <a:xfrm>
            <a:off x="3554299" y="5165676"/>
            <a:ext cx="1249680" cy="174912"/>
          </a:xfrm>
          <a:prstGeom prst="rect">
            <a:avLst/>
          </a:prstGeom>
        </p:spPr>
      </p:pic>
      <p:pic>
        <p:nvPicPr>
          <p:cNvPr id="50" name="图片 49">
            <a:extLst>
              <a:ext uri="{FF2B5EF4-FFF2-40B4-BE49-F238E27FC236}">
                <a16:creationId xmlns:a16="http://schemas.microsoft.com/office/drawing/2014/main" id="{65296F2D-8698-4025-8BC8-B1B69B56387E}"/>
              </a:ext>
            </a:extLst>
          </p:cNvPr>
          <p:cNvPicPr>
            <a:picLocks noChangeAspect="1"/>
          </p:cNvPicPr>
          <p:nvPr/>
        </p:nvPicPr>
        <p:blipFill rotWithShape="1">
          <a:blip r:embed="rId5">
            <a:extLst>
              <a:ext uri="{28A0092B-C50C-407E-A947-70E740481C1C}">
                <a14:useLocalDpi xmlns:a14="http://schemas.microsoft.com/office/drawing/2010/main" val="0"/>
              </a:ext>
            </a:extLst>
          </a:blip>
          <a:srcRect t="89805"/>
          <a:stretch/>
        </p:blipFill>
        <p:spPr>
          <a:xfrm>
            <a:off x="4681398" y="5128600"/>
            <a:ext cx="1249680" cy="199649"/>
          </a:xfrm>
          <a:prstGeom prst="rect">
            <a:avLst/>
          </a:prstGeom>
        </p:spPr>
      </p:pic>
      <p:sp>
        <p:nvSpPr>
          <p:cNvPr id="51" name="矩形 50">
            <a:extLst>
              <a:ext uri="{FF2B5EF4-FFF2-40B4-BE49-F238E27FC236}">
                <a16:creationId xmlns:a16="http://schemas.microsoft.com/office/drawing/2014/main" id="{9B162169-8957-4488-A548-B25E28DBB077}"/>
              </a:ext>
            </a:extLst>
          </p:cNvPr>
          <p:cNvSpPr/>
          <p:nvPr/>
        </p:nvSpPr>
        <p:spPr>
          <a:xfrm>
            <a:off x="6784890" y="5303707"/>
            <a:ext cx="4345805" cy="307777"/>
          </a:xfrm>
          <a:prstGeom prst="rect">
            <a:avLst/>
          </a:prstGeom>
        </p:spPr>
        <p:txBody>
          <a:bodyPr wrap="none">
            <a:spAutoFit/>
          </a:bodyPr>
          <a:lstStyle/>
          <a:p>
            <a:pPr defTabSz="457200" eaLnBrk="1" fontAlgn="auto" hangingPunct="1">
              <a:spcBef>
                <a:spcPts val="0"/>
              </a:spcBef>
              <a:spcAft>
                <a:spcPts val="0"/>
              </a:spcAft>
            </a:pPr>
            <a:r>
              <a:rPr lang="en-HK" sz="1400" b="1" dirty="0">
                <a:solidFill>
                  <a:srgbClr val="C00000"/>
                </a:solidFill>
                <a:latin typeface="Times New Roman" panose="02020603050405020304" pitchFamily="18" charset="0"/>
                <a:ea typeface="宋体" panose="02010600030101010101" pitchFamily="2" charset="-122"/>
                <a:cs typeface="+mn-cs"/>
              </a:rPr>
              <a:t>Electricity Consumption by End-use in HK, 2011-2021</a:t>
            </a:r>
          </a:p>
        </p:txBody>
      </p:sp>
      <p:sp>
        <p:nvSpPr>
          <p:cNvPr id="52" name="椭圆 51">
            <a:extLst>
              <a:ext uri="{FF2B5EF4-FFF2-40B4-BE49-F238E27FC236}">
                <a16:creationId xmlns:a16="http://schemas.microsoft.com/office/drawing/2014/main" id="{5A13769F-3A53-4F54-A265-70ABFBF13E9D}"/>
              </a:ext>
            </a:extLst>
          </p:cNvPr>
          <p:cNvSpPr/>
          <p:nvPr/>
        </p:nvSpPr>
        <p:spPr>
          <a:xfrm>
            <a:off x="9287122" y="3219820"/>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pPr>
            <a:endParaRPr lang="en-HK" sz="1800" kern="0" dirty="0">
              <a:solidFill>
                <a:prstClr val="white"/>
              </a:solidFill>
              <a:latin typeface="Calibri" panose="020F0502020204030204"/>
              <a:ea typeface="+mn-ea"/>
              <a:cs typeface="+mn-cs"/>
            </a:endParaRPr>
          </a:p>
        </p:txBody>
      </p:sp>
      <p:sp>
        <p:nvSpPr>
          <p:cNvPr id="53" name="椭圆 52">
            <a:extLst>
              <a:ext uri="{FF2B5EF4-FFF2-40B4-BE49-F238E27FC236}">
                <a16:creationId xmlns:a16="http://schemas.microsoft.com/office/drawing/2014/main" id="{D9503317-0037-46EA-8238-6E263CF3BE6A}"/>
              </a:ext>
            </a:extLst>
          </p:cNvPr>
          <p:cNvSpPr/>
          <p:nvPr/>
        </p:nvSpPr>
        <p:spPr>
          <a:xfrm>
            <a:off x="9609625" y="2936910"/>
            <a:ext cx="428017" cy="311289"/>
          </a:xfrm>
          <a:prstGeom prst="ellipse">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pPr>
            <a:endParaRPr lang="en-HK" sz="1800" kern="0" dirty="0">
              <a:solidFill>
                <a:prstClr val="white"/>
              </a:solidFill>
              <a:latin typeface="Calibri" panose="020F0502020204030204"/>
              <a:ea typeface="+mn-ea"/>
              <a:cs typeface="+mn-cs"/>
            </a:endParaRPr>
          </a:p>
        </p:txBody>
      </p:sp>
      <p:cxnSp>
        <p:nvCxnSpPr>
          <p:cNvPr id="54" name="直接箭头连接符 53">
            <a:extLst>
              <a:ext uri="{FF2B5EF4-FFF2-40B4-BE49-F238E27FC236}">
                <a16:creationId xmlns:a16="http://schemas.microsoft.com/office/drawing/2014/main" id="{599F89E1-666E-4BB7-A690-12313EE46B14}"/>
              </a:ext>
            </a:extLst>
          </p:cNvPr>
          <p:cNvCxnSpPr>
            <a:cxnSpLocks/>
            <a:endCxn id="56" idx="0"/>
          </p:cNvCxnSpPr>
          <p:nvPr/>
        </p:nvCxnSpPr>
        <p:spPr>
          <a:xfrm>
            <a:off x="9602104" y="3538732"/>
            <a:ext cx="124506" cy="188411"/>
          </a:xfrm>
          <a:prstGeom prst="straightConnector1">
            <a:avLst/>
          </a:prstGeom>
          <a:noFill/>
          <a:ln w="19050" cap="flat" cmpd="sng" algn="ctr">
            <a:solidFill>
              <a:srgbClr val="C00000"/>
            </a:solidFill>
            <a:prstDash val="solid"/>
            <a:miter lim="800000"/>
            <a:tailEnd type="triangle"/>
          </a:ln>
          <a:effectLst/>
        </p:spPr>
      </p:cxnSp>
      <p:sp>
        <p:nvSpPr>
          <p:cNvPr id="55" name="矩形 54">
            <a:extLst>
              <a:ext uri="{FF2B5EF4-FFF2-40B4-BE49-F238E27FC236}">
                <a16:creationId xmlns:a16="http://schemas.microsoft.com/office/drawing/2014/main" id="{22B5F679-ED50-4DA4-AF20-4969400B3586}"/>
              </a:ext>
            </a:extLst>
          </p:cNvPr>
          <p:cNvSpPr/>
          <p:nvPr/>
        </p:nvSpPr>
        <p:spPr>
          <a:xfrm>
            <a:off x="9346641" y="3742860"/>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pPr>
            <a:endParaRPr lang="en-HK" sz="1800" kern="0">
              <a:solidFill>
                <a:prstClr val="white"/>
              </a:solidFill>
              <a:latin typeface="Calibri" panose="020F0502020204030204"/>
              <a:ea typeface="+mn-ea"/>
              <a:cs typeface="+mn-cs"/>
            </a:endParaRPr>
          </a:p>
        </p:txBody>
      </p:sp>
      <p:sp>
        <p:nvSpPr>
          <p:cNvPr id="56" name="文本框 55">
            <a:extLst>
              <a:ext uri="{FF2B5EF4-FFF2-40B4-BE49-F238E27FC236}">
                <a16:creationId xmlns:a16="http://schemas.microsoft.com/office/drawing/2014/main" id="{CBCA25D8-979F-4E66-9F25-6F5E1000D302}"/>
              </a:ext>
            </a:extLst>
          </p:cNvPr>
          <p:cNvSpPr txBox="1"/>
          <p:nvPr/>
        </p:nvSpPr>
        <p:spPr>
          <a:xfrm>
            <a:off x="9279550" y="3727143"/>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Calibri" panose="020F0502020204030204"/>
                <a:ea typeface="+mn-ea"/>
                <a:cs typeface="+mn-cs"/>
              </a:rPr>
              <a:t>1.30GWh</a:t>
            </a:r>
          </a:p>
        </p:txBody>
      </p:sp>
      <p:cxnSp>
        <p:nvCxnSpPr>
          <p:cNvPr id="57" name="直接箭头连接符 56">
            <a:extLst>
              <a:ext uri="{FF2B5EF4-FFF2-40B4-BE49-F238E27FC236}">
                <a16:creationId xmlns:a16="http://schemas.microsoft.com/office/drawing/2014/main" id="{B82E30C0-E92B-4DA0-92C7-EB150BEB3353}"/>
              </a:ext>
            </a:extLst>
          </p:cNvPr>
          <p:cNvCxnSpPr>
            <a:cxnSpLocks/>
          </p:cNvCxnSpPr>
          <p:nvPr/>
        </p:nvCxnSpPr>
        <p:spPr>
          <a:xfrm flipV="1">
            <a:off x="9764233" y="2783738"/>
            <a:ext cx="183494" cy="166567"/>
          </a:xfrm>
          <a:prstGeom prst="straightConnector1">
            <a:avLst/>
          </a:prstGeom>
          <a:noFill/>
          <a:ln w="19050" cap="flat" cmpd="sng" algn="ctr">
            <a:solidFill>
              <a:srgbClr val="C00000"/>
            </a:solidFill>
            <a:prstDash val="solid"/>
            <a:miter lim="800000"/>
            <a:tailEnd type="triangle"/>
          </a:ln>
          <a:effectLst/>
        </p:spPr>
      </p:cxnSp>
      <p:sp>
        <p:nvSpPr>
          <p:cNvPr id="58" name="文本框 57">
            <a:extLst>
              <a:ext uri="{FF2B5EF4-FFF2-40B4-BE49-F238E27FC236}">
                <a16:creationId xmlns:a16="http://schemas.microsoft.com/office/drawing/2014/main" id="{8B8B4ADA-D2B5-400E-9AF2-27A934395748}"/>
              </a:ext>
            </a:extLst>
          </p:cNvPr>
          <p:cNvSpPr txBox="1"/>
          <p:nvPr/>
        </p:nvSpPr>
        <p:spPr>
          <a:xfrm>
            <a:off x="9792514" y="2512867"/>
            <a:ext cx="894121" cy="276999"/>
          </a:xfrm>
          <a:prstGeom prst="rect">
            <a:avLst/>
          </a:prstGeom>
          <a:noFill/>
        </p:spPr>
        <p:txBody>
          <a:bodyPr wrap="square" rtlCol="0">
            <a:spAutoFit/>
          </a:bodyPr>
          <a:lstStyle/>
          <a:p>
            <a:pPr defTabSz="457200" eaLnBrk="1" fontAlgn="auto" hangingPunct="1">
              <a:spcBef>
                <a:spcPts val="0"/>
              </a:spcBef>
              <a:spcAft>
                <a:spcPts val="0"/>
              </a:spcAft>
            </a:pPr>
            <a:r>
              <a:rPr lang="en-HK" sz="1200" b="1" dirty="0">
                <a:solidFill>
                  <a:prstClr val="black"/>
                </a:solidFill>
                <a:latin typeface="Calibri" panose="020F0502020204030204"/>
                <a:ea typeface="+mn-ea"/>
                <a:cs typeface="+mn-cs"/>
              </a:rPr>
              <a:t>1.46GWh</a:t>
            </a:r>
          </a:p>
        </p:txBody>
      </p:sp>
      <p:sp>
        <p:nvSpPr>
          <p:cNvPr id="59" name="矩形 58">
            <a:extLst>
              <a:ext uri="{FF2B5EF4-FFF2-40B4-BE49-F238E27FC236}">
                <a16:creationId xmlns:a16="http://schemas.microsoft.com/office/drawing/2014/main" id="{E1C98E01-18AB-475C-A476-9474CA24C796}"/>
              </a:ext>
            </a:extLst>
          </p:cNvPr>
          <p:cNvSpPr/>
          <p:nvPr/>
        </p:nvSpPr>
        <p:spPr>
          <a:xfrm>
            <a:off x="9847197" y="2531887"/>
            <a:ext cx="690056" cy="232701"/>
          </a:xfrm>
          <a:prstGeom prst="rect">
            <a:avLst/>
          </a:prstGeom>
          <a:noFill/>
          <a:ln w="25400" cap="flat" cmpd="sng" algn="ctr">
            <a:solidFill>
              <a:srgbClr val="C00000"/>
            </a:solidFill>
            <a:prstDash val="solid"/>
            <a:miter lim="800000"/>
          </a:ln>
          <a:effectLst/>
        </p:spPr>
        <p:txBody>
          <a:bodyPr rtlCol="0" anchor="ctr"/>
          <a:lstStyle/>
          <a:p>
            <a:pPr algn="ctr" defTabSz="457200" eaLnBrk="1" fontAlgn="auto" hangingPunct="1">
              <a:spcBef>
                <a:spcPts val="0"/>
              </a:spcBef>
              <a:spcAft>
                <a:spcPts val="0"/>
              </a:spcAft>
              <a:defRPr/>
            </a:pPr>
            <a:endParaRPr lang="en-HK" sz="1800" kern="0">
              <a:solidFill>
                <a:prstClr val="white"/>
              </a:solidFill>
              <a:latin typeface="Calibri" panose="020F0502020204030204"/>
              <a:ea typeface="+mn-ea"/>
              <a:cs typeface="+mn-cs"/>
            </a:endParaRPr>
          </a:p>
        </p:txBody>
      </p:sp>
      <p:sp>
        <p:nvSpPr>
          <p:cNvPr id="60" name="矩形 59">
            <a:extLst>
              <a:ext uri="{FF2B5EF4-FFF2-40B4-BE49-F238E27FC236}">
                <a16:creationId xmlns:a16="http://schemas.microsoft.com/office/drawing/2014/main" id="{6D526305-CC20-4C59-96C4-DB8AA9D455F6}"/>
              </a:ext>
            </a:extLst>
          </p:cNvPr>
          <p:cNvSpPr/>
          <p:nvPr/>
        </p:nvSpPr>
        <p:spPr>
          <a:xfrm>
            <a:off x="617588" y="5643779"/>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Arial" panose="020B0604020202020204" pitchFamily="34" charset="0"/>
                <a:ea typeface="+mn-ea"/>
                <a:cs typeface="Arial" panose="020B0604020202020204" pitchFamily="34" charset="0"/>
              </a:rPr>
              <a:t>S</a:t>
            </a:r>
            <a:r>
              <a:rPr lang="en-US" altLang="zh-CN" sz="1000" i="1" dirty="0" err="1">
                <a:solidFill>
                  <a:prstClr val="black"/>
                </a:solidFill>
                <a:latin typeface="Arial" panose="020B0604020202020204" pitchFamily="34" charset="0"/>
                <a:ea typeface="等线" panose="02010600030101010101" pitchFamily="2" charset="-122"/>
                <a:cs typeface="Arial" panose="020B0604020202020204" pitchFamily="34" charset="0"/>
              </a:rPr>
              <a:t>ource</a:t>
            </a:r>
            <a:r>
              <a:rPr lang="en-HK" altLang="zh-CN" sz="1000" i="1" dirty="0">
                <a:solidFill>
                  <a:prstClr val="black"/>
                </a:solidFill>
                <a:latin typeface="Arial" panose="020B0604020202020204" pitchFamily="34" charset="0"/>
                <a:ea typeface="等线" panose="02010600030101010101" pitchFamily="2" charset="-122"/>
                <a:cs typeface="Arial" panose="020B0604020202020204" pitchFamily="34" charset="0"/>
              </a:rPr>
              <a:t>: International Energy Agency (IEA). The Future of Cooling in China. 2019</a:t>
            </a:r>
            <a:endParaRPr lang="en-HK" altLang="en-US" sz="1000" i="1" dirty="0">
              <a:solidFill>
                <a:prstClr val="black"/>
              </a:solidFill>
              <a:latin typeface="Arial" panose="020B0604020202020204" pitchFamily="34" charset="0"/>
              <a:ea typeface="+mn-ea"/>
              <a:cs typeface="Arial" panose="020B0604020202020204" pitchFamily="34" charset="0"/>
            </a:endParaRPr>
          </a:p>
        </p:txBody>
      </p:sp>
      <p:sp>
        <p:nvSpPr>
          <p:cNvPr id="62" name="矩形 61">
            <a:extLst>
              <a:ext uri="{FF2B5EF4-FFF2-40B4-BE49-F238E27FC236}">
                <a16:creationId xmlns:a16="http://schemas.microsoft.com/office/drawing/2014/main" id="{A179BD5E-94DC-4FE0-BFC3-B493299A2E24}"/>
              </a:ext>
            </a:extLst>
          </p:cNvPr>
          <p:cNvSpPr/>
          <p:nvPr/>
        </p:nvSpPr>
        <p:spPr>
          <a:xfrm>
            <a:off x="6005896" y="5627184"/>
            <a:ext cx="6096000" cy="246221"/>
          </a:xfrm>
          <a:prstGeom prst="rect">
            <a:avLst/>
          </a:prstGeom>
        </p:spPr>
        <p:txBody>
          <a:bodyPr>
            <a:spAutoFit/>
          </a:bodyPr>
          <a:lstStyle/>
          <a:p>
            <a:pPr algn="ctr" defTabSz="457200" eaLnBrk="1" fontAlgn="auto" hangingPunct="1">
              <a:spcAft>
                <a:spcPts val="0"/>
              </a:spcAft>
            </a:pPr>
            <a:r>
              <a:rPr lang="en-HK" altLang="en-US" sz="1000" i="1" dirty="0">
                <a:solidFill>
                  <a:prstClr val="black"/>
                </a:solidFill>
                <a:latin typeface="Arial" panose="020B0604020202020204" pitchFamily="34" charset="0"/>
                <a:ea typeface="+mn-ea"/>
                <a:cs typeface="Arial" panose="020B0604020202020204" pitchFamily="34" charset="0"/>
              </a:rPr>
              <a:t>S</a:t>
            </a:r>
            <a:r>
              <a:rPr lang="en-US" altLang="zh-CN" sz="1000" i="1" dirty="0" err="1">
                <a:solidFill>
                  <a:prstClr val="black"/>
                </a:solidFill>
                <a:latin typeface="Arial" panose="020B0604020202020204" pitchFamily="34" charset="0"/>
                <a:ea typeface="等线" panose="02010600030101010101" pitchFamily="2" charset="-122"/>
                <a:cs typeface="Arial" panose="020B0604020202020204" pitchFamily="34" charset="0"/>
              </a:rPr>
              <a:t>ource</a:t>
            </a:r>
            <a:r>
              <a:rPr lang="en-HK" altLang="zh-CN" sz="1000" i="1" dirty="0">
                <a:solidFill>
                  <a:prstClr val="black"/>
                </a:solidFill>
                <a:latin typeface="Arial" panose="020B0604020202020204" pitchFamily="34" charset="0"/>
                <a:ea typeface="等线" panose="02010600030101010101" pitchFamily="2" charset="-122"/>
                <a:cs typeface="Arial" panose="020B0604020202020204" pitchFamily="34" charset="0"/>
              </a:rPr>
              <a:t>: EMSD. Hong Kong Energy End-use Data. 2023</a:t>
            </a:r>
            <a:endParaRPr lang="en-HK" altLang="en-US" sz="1000" i="1" dirty="0">
              <a:solidFill>
                <a:prstClr val="black"/>
              </a:solidFill>
              <a:latin typeface="Arial" panose="020B0604020202020204" pitchFamily="34" charset="0"/>
              <a:ea typeface="+mn-ea"/>
              <a:cs typeface="Arial" panose="020B0604020202020204" pitchFamily="34" charset="0"/>
            </a:endParaRPr>
          </a:p>
        </p:txBody>
      </p:sp>
      <p:sp>
        <p:nvSpPr>
          <p:cNvPr id="30" name="Rectangle 18">
            <a:extLst>
              <a:ext uri="{FF2B5EF4-FFF2-40B4-BE49-F238E27FC236}">
                <a16:creationId xmlns:a16="http://schemas.microsoft.com/office/drawing/2014/main" id="{42A46E62-DD70-4B57-AEA1-D6CF1A17DDD1}"/>
              </a:ext>
            </a:extLst>
          </p:cNvPr>
          <p:cNvSpPr/>
          <p:nvPr/>
        </p:nvSpPr>
        <p:spPr>
          <a:xfrm>
            <a:off x="3029463" y="6122285"/>
            <a:ext cx="6444397" cy="64633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b="1" dirty="0">
                <a:solidFill>
                  <a:prstClr val="black"/>
                </a:solidFill>
                <a:latin typeface="Times New Roman" panose="02020603050405020304" pitchFamily="18" charset="0"/>
                <a:cs typeface="Times New Roman" panose="02020603050405020304" pitchFamily="18" charset="0"/>
              </a:rPr>
              <a:t>Seek </a:t>
            </a:r>
            <a:r>
              <a:rPr lang="en-US" b="1" dirty="0">
                <a:latin typeface="Times New Roman" panose="02020603050405020304" pitchFamily="18" charset="0"/>
                <a:cs typeface="Times New Roman" panose="02020603050405020304" pitchFamily="18" charset="0"/>
              </a:rPr>
              <a:t>for environmental friendly technology </a:t>
            </a:r>
            <a:r>
              <a:rPr lang="en-US" b="1" dirty="0">
                <a:solidFill>
                  <a:prstClr val="black"/>
                </a:solidFill>
                <a:latin typeface="Times New Roman" panose="02020603050405020304" pitchFamily="18" charset="0"/>
                <a:cs typeface="Times New Roman" panose="02020603050405020304" pitchFamily="18" charset="0"/>
              </a:rPr>
              <a:t>for </a:t>
            </a:r>
            <a:r>
              <a:rPr lang="en-US" b="1" dirty="0">
                <a:solidFill>
                  <a:srgbClr val="C00000"/>
                </a:solidFill>
                <a:latin typeface="Times New Roman" panose="02020603050405020304" pitchFamily="18" charset="0"/>
                <a:cs typeface="Times New Roman" panose="02020603050405020304" pitchFamily="18" charset="0"/>
              </a:rPr>
              <a:t>cooling</a:t>
            </a:r>
          </a:p>
          <a:p>
            <a:pPr algn="ctr" fontAlgn="auto">
              <a:spcBef>
                <a:spcPts val="0"/>
              </a:spcBef>
              <a:spcAft>
                <a:spcPts val="0"/>
              </a:spcAft>
            </a:pPr>
            <a:r>
              <a:rPr lang="zh-CN" altLang="en-US" b="1" dirty="0">
                <a:latin typeface="Times New Roman" panose="02020603050405020304" pitchFamily="18" charset="0"/>
                <a:cs typeface="Times New Roman" panose="02020603050405020304" pitchFamily="18" charset="0"/>
              </a:rPr>
              <a:t>驱使着寻求更为环保的</a:t>
            </a:r>
            <a:r>
              <a:rPr lang="zh-CN" altLang="en-US" b="1" dirty="0">
                <a:solidFill>
                  <a:srgbClr val="C00000"/>
                </a:solidFill>
                <a:latin typeface="Times New Roman" panose="02020603050405020304" pitchFamily="18" charset="0"/>
                <a:cs typeface="Times New Roman" panose="02020603050405020304" pitchFamily="18" charset="0"/>
              </a:rPr>
              <a:t>制冷技术</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1" name="圆角矩形 44">
            <a:extLst>
              <a:ext uri="{FF2B5EF4-FFF2-40B4-BE49-F238E27FC236}">
                <a16:creationId xmlns:a16="http://schemas.microsoft.com/office/drawing/2014/main" id="{F21C7A4B-900A-4EC1-9FAD-679EE6457F62}"/>
              </a:ext>
            </a:extLst>
          </p:cNvPr>
          <p:cNvSpPr/>
          <p:nvPr/>
        </p:nvSpPr>
        <p:spPr>
          <a:xfrm>
            <a:off x="3206916" y="6073445"/>
            <a:ext cx="6240945" cy="704916"/>
          </a:xfrm>
          <a:prstGeom prst="roundRect">
            <a:avLst/>
          </a:prstGeom>
          <a:noFill/>
          <a:ln w="19050" cap="flat" cmpd="sng" algn="ctr">
            <a:solidFill>
              <a:srgbClr val="C00000"/>
            </a:solidFill>
            <a:prstDash val="sysDash"/>
          </a:ln>
          <a:effectLst/>
        </p:spPr>
        <p:txBody>
          <a:bodyPr anchor="ctr"/>
          <a:lstStyle/>
          <a:p>
            <a:pPr algn="ctr" eaLnBrk="1" fontAlgn="auto" hangingPunct="1">
              <a:lnSpc>
                <a:spcPct val="125000"/>
              </a:lnSpc>
              <a:spcBef>
                <a:spcPts val="0"/>
              </a:spcBef>
              <a:spcAft>
                <a:spcPts val="0"/>
              </a:spcAft>
              <a:defRPr/>
            </a:pPr>
            <a:endParaRPr lang="zh-CN" altLang="en-US" sz="1800" kern="0">
              <a:solidFill>
                <a:prstClr val="white"/>
              </a:solidFill>
              <a:latin typeface="Calibri"/>
              <a:ea typeface="宋体"/>
            </a:endParaRPr>
          </a:p>
        </p:txBody>
      </p:sp>
      <p:sp>
        <p:nvSpPr>
          <p:cNvPr id="2" name="灯片编号占位符 1">
            <a:extLst>
              <a:ext uri="{FF2B5EF4-FFF2-40B4-BE49-F238E27FC236}">
                <a16:creationId xmlns:a16="http://schemas.microsoft.com/office/drawing/2014/main" id="{8962393A-D9AD-4A23-9C19-5ADAE49EB84A}"/>
              </a:ext>
            </a:extLst>
          </p:cNvPr>
          <p:cNvSpPr>
            <a:spLocks noGrp="1"/>
          </p:cNvSpPr>
          <p:nvPr>
            <p:ph type="sldNum" sz="quarter" idx="12"/>
          </p:nvPr>
        </p:nvSpPr>
        <p:spPr/>
        <p:txBody>
          <a:bodyPr/>
          <a:lstStyle/>
          <a:p>
            <a:pPr>
              <a:defRPr/>
            </a:pPr>
            <a:fld id="{15884886-3D85-4AFD-9D94-33E4AF7428DD}" type="slidenum">
              <a:rPr lang="en-US" altLang="zh-CN" smtClean="0"/>
              <a:pPr>
                <a:defRPr/>
              </a:pPr>
              <a:t>4</a:t>
            </a:fld>
            <a:endParaRPr lang="en-US" altLang="zh-CN" dirty="0"/>
          </a:p>
        </p:txBody>
      </p:sp>
      <p:sp>
        <p:nvSpPr>
          <p:cNvPr id="6" name="文本框 5">
            <a:extLst>
              <a:ext uri="{FF2B5EF4-FFF2-40B4-BE49-F238E27FC236}">
                <a16:creationId xmlns:a16="http://schemas.microsoft.com/office/drawing/2014/main" id="{470F8384-9C53-8F8E-A824-3BD82EABA3FE}"/>
              </a:ext>
            </a:extLst>
          </p:cNvPr>
          <p:cNvSpPr txBox="1"/>
          <p:nvPr/>
        </p:nvSpPr>
        <p:spPr>
          <a:xfrm>
            <a:off x="591414" y="2701691"/>
            <a:ext cx="717416" cy="369332"/>
          </a:xfrm>
          <a:prstGeom prst="rect">
            <a:avLst/>
          </a:prstGeom>
          <a:noFill/>
        </p:spPr>
        <p:txBody>
          <a:bodyPr wrap="square">
            <a:spAutoFit/>
          </a:bodyPr>
          <a:lstStyle/>
          <a:p>
            <a:r>
              <a:rPr lang="en-HK" altLang="zh-CN" sz="1800" b="1" dirty="0">
                <a:solidFill>
                  <a:prstClr val="black"/>
                </a:solidFill>
                <a:latin typeface="Times New Roman" panose="02020603050405020304" pitchFamily="18" charset="0"/>
                <a:ea typeface="+mn-ea"/>
                <a:cs typeface="Times New Roman" panose="02020603050405020304" pitchFamily="18" charset="0"/>
              </a:rPr>
              <a:t> </a:t>
            </a:r>
            <a:r>
              <a:rPr lang="zh-CN" altLang="en-US" sz="1800" b="1" dirty="0">
                <a:solidFill>
                  <a:prstClr val="black"/>
                </a:solidFill>
                <a:latin typeface="Times New Roman" panose="02020603050405020304" pitchFamily="18" charset="0"/>
                <a:ea typeface="+mn-ea"/>
                <a:cs typeface="Times New Roman" panose="02020603050405020304" pitchFamily="18" charset="0"/>
              </a:rPr>
              <a:t>中国</a:t>
            </a:r>
            <a:endParaRPr lang="zh-CN" altLang="en-US" dirty="0"/>
          </a:p>
        </p:txBody>
      </p:sp>
      <p:sp>
        <p:nvSpPr>
          <p:cNvPr id="8" name="文本框 7">
            <a:extLst>
              <a:ext uri="{FF2B5EF4-FFF2-40B4-BE49-F238E27FC236}">
                <a16:creationId xmlns:a16="http://schemas.microsoft.com/office/drawing/2014/main" id="{452AD058-159A-27C1-BE4A-770D59D19B37}"/>
              </a:ext>
            </a:extLst>
          </p:cNvPr>
          <p:cNvSpPr txBox="1"/>
          <p:nvPr/>
        </p:nvSpPr>
        <p:spPr>
          <a:xfrm>
            <a:off x="6701204" y="2717221"/>
            <a:ext cx="717416" cy="369332"/>
          </a:xfrm>
          <a:prstGeom prst="rect">
            <a:avLst/>
          </a:prstGeom>
          <a:noFill/>
        </p:spPr>
        <p:txBody>
          <a:bodyPr wrap="square">
            <a:spAutoFit/>
          </a:bodyPr>
          <a:lstStyle/>
          <a:p>
            <a:r>
              <a:rPr lang="en-HK" altLang="zh-CN" sz="1800" b="1" dirty="0">
                <a:solidFill>
                  <a:prstClr val="black"/>
                </a:solidFill>
                <a:latin typeface="Times New Roman" panose="02020603050405020304" pitchFamily="18" charset="0"/>
                <a:ea typeface="+mn-ea"/>
                <a:cs typeface="Times New Roman" panose="02020603050405020304" pitchFamily="18" charset="0"/>
              </a:rPr>
              <a:t> </a:t>
            </a:r>
            <a:r>
              <a:rPr lang="zh-CN" altLang="en-US" sz="1800" b="1" dirty="0">
                <a:solidFill>
                  <a:prstClr val="black"/>
                </a:solidFill>
                <a:latin typeface="Times New Roman" panose="02020603050405020304" pitchFamily="18" charset="0"/>
                <a:ea typeface="+mn-ea"/>
                <a:cs typeface="Times New Roman" panose="02020603050405020304" pitchFamily="18" charset="0"/>
              </a:rPr>
              <a:t>香港</a:t>
            </a:r>
            <a:endParaRPr lang="zh-CN" altLang="en-US" dirty="0"/>
          </a:p>
        </p:txBody>
      </p:sp>
    </p:spTree>
    <p:extLst>
      <p:ext uri="{BB962C8B-B14F-4D97-AF65-F5344CB8AC3E}">
        <p14:creationId xmlns:p14="http://schemas.microsoft.com/office/powerpoint/2010/main" val="166296069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barn(inVertical)">
                                      <p:cBhvr>
                                        <p:cTn id="7" dur="500"/>
                                        <p:tgtEl>
                                          <p:spTgt spid="3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arn(inVertical)">
                                      <p:cBhvr>
                                        <p:cTn id="1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A60AB70-41C4-4C00-8D30-E49B8D960DA7}"/>
              </a:ext>
            </a:extLst>
          </p:cNvPr>
          <p:cNvSpPr txBox="1"/>
          <p:nvPr/>
        </p:nvSpPr>
        <p:spPr>
          <a:xfrm>
            <a:off x="385688" y="977293"/>
            <a:ext cx="7437512" cy="369332"/>
          </a:xfrm>
          <a:prstGeom prst="rect">
            <a:avLst/>
          </a:prstGeom>
          <a:noFill/>
        </p:spPr>
        <p:txBody>
          <a:bodyPr wrap="square" rtlCol="0">
            <a:spAutoFit/>
          </a:bodyPr>
          <a:lstStyle/>
          <a:p>
            <a:pPr defTabSz="457200" eaLnBrk="1" fontAlgn="auto" hangingPunct="1">
              <a:spcBef>
                <a:spcPts val="0"/>
              </a:spcBef>
              <a:spcAft>
                <a:spcPts val="0"/>
              </a:spcAft>
            </a:pPr>
            <a:r>
              <a:rPr lang="en-HK" sz="1800" b="1" dirty="0">
                <a:solidFill>
                  <a:prstClr val="black"/>
                </a:solidFill>
                <a:latin typeface="Times New Roman" panose="02020603050405020304" pitchFamily="18" charset="0"/>
                <a:ea typeface="+mn-ea"/>
                <a:cs typeface="Times New Roman" panose="02020603050405020304" pitchFamily="18" charset="0"/>
              </a:rPr>
              <a:t>1.2 Development of indirect evaporative cooling (IEC) IEC</a:t>
            </a:r>
            <a:r>
              <a:rPr lang="zh-CN" altLang="en-US" sz="1800" b="1" dirty="0">
                <a:solidFill>
                  <a:prstClr val="black"/>
                </a:solidFill>
                <a:latin typeface="Times New Roman" panose="02020603050405020304" pitchFamily="18" charset="0"/>
                <a:ea typeface="+mn-ea"/>
                <a:cs typeface="Times New Roman" panose="02020603050405020304" pitchFamily="18" charset="0"/>
              </a:rPr>
              <a:t>技术的发展</a:t>
            </a:r>
            <a:r>
              <a:rPr lang="en-HK" sz="1800" b="1" dirty="0">
                <a:solidFill>
                  <a:prstClr val="black"/>
                </a:solidFill>
                <a:latin typeface="Times New Roman" panose="02020603050405020304" pitchFamily="18" charset="0"/>
                <a:ea typeface="+mn-ea"/>
                <a:cs typeface="Times New Roman" panose="02020603050405020304" pitchFamily="18" charset="0"/>
              </a:rPr>
              <a:t> </a:t>
            </a:r>
          </a:p>
        </p:txBody>
      </p:sp>
      <p:sp>
        <p:nvSpPr>
          <p:cNvPr id="8" name="文本框 7">
            <a:extLst>
              <a:ext uri="{FF2B5EF4-FFF2-40B4-BE49-F238E27FC236}">
                <a16:creationId xmlns:a16="http://schemas.microsoft.com/office/drawing/2014/main" id="{57946878-A9AF-49F9-845B-00C79F50A193}"/>
              </a:ext>
            </a:extLst>
          </p:cNvPr>
          <p:cNvSpPr txBox="1"/>
          <p:nvPr/>
        </p:nvSpPr>
        <p:spPr>
          <a:xfrm>
            <a:off x="978030" y="2458830"/>
            <a:ext cx="6777437" cy="646331"/>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mn-ea"/>
                <a:cs typeface="Times New Roman" panose="02020603050405020304" pitchFamily="18" charset="0"/>
              </a:rPr>
              <a:t>Conventional IEC: </a:t>
            </a:r>
            <a:r>
              <a:rPr lang="en-HK" sz="1800" dirty="0">
                <a:solidFill>
                  <a:prstClr val="black"/>
                </a:solidFill>
                <a:latin typeface="Times New Roman" panose="02020603050405020304" pitchFamily="18" charset="0"/>
                <a:ea typeface="+mn-ea"/>
                <a:cs typeface="Times New Roman" panose="02020603050405020304" pitchFamily="18" charset="0"/>
              </a:rPr>
              <a:t>for sensible cooling-dominant buildings under </a:t>
            </a:r>
            <a:r>
              <a:rPr lang="en-HK" sz="1800" dirty="0">
                <a:solidFill>
                  <a:srgbClr val="C00000"/>
                </a:solidFill>
                <a:latin typeface="Times New Roman" panose="02020603050405020304" pitchFamily="18" charset="0"/>
                <a:ea typeface="+mn-ea"/>
                <a:cs typeface="Times New Roman" panose="02020603050405020304" pitchFamily="18" charset="0"/>
              </a:rPr>
              <a:t>dry climates. </a:t>
            </a:r>
            <a:r>
              <a:rPr lang="zh-CN" altLang="en-US" sz="1800" dirty="0">
                <a:latin typeface="Times New Roman" panose="02020603050405020304" pitchFamily="18" charset="0"/>
                <a:ea typeface="+mn-ea"/>
                <a:cs typeface="Times New Roman" panose="02020603050405020304" pitchFamily="18" charset="0"/>
              </a:rPr>
              <a:t>适用于</a:t>
            </a:r>
            <a:r>
              <a:rPr lang="zh-CN" altLang="en-US" sz="1800" b="1" dirty="0">
                <a:solidFill>
                  <a:srgbClr val="C00000"/>
                </a:solidFill>
                <a:latin typeface="Times New Roman" panose="02020603050405020304" pitchFamily="18" charset="0"/>
                <a:ea typeface="+mn-ea"/>
                <a:cs typeface="Times New Roman" panose="02020603050405020304" pitchFamily="18" charset="0"/>
              </a:rPr>
              <a:t>干燥气候</a:t>
            </a:r>
            <a:r>
              <a:rPr lang="zh-CN" altLang="en-US" sz="1800" dirty="0">
                <a:latin typeface="Times New Roman" panose="02020603050405020304" pitchFamily="18" charset="0"/>
                <a:ea typeface="+mn-ea"/>
                <a:cs typeface="Times New Roman" panose="02020603050405020304" pitchFamily="18" charset="0"/>
              </a:rPr>
              <a:t>下以显热冷却为主的建筑。</a:t>
            </a:r>
            <a:endParaRPr lang="en-HK" sz="1800" dirty="0">
              <a:latin typeface="Times New Roman" panose="02020603050405020304" pitchFamily="18" charset="0"/>
              <a:ea typeface="+mn-ea"/>
              <a:cs typeface="Times New Roman" panose="02020603050405020304" pitchFamily="18" charset="0"/>
            </a:endParaRPr>
          </a:p>
        </p:txBody>
      </p:sp>
      <p:pic>
        <p:nvPicPr>
          <p:cNvPr id="9" name="图片 8">
            <a:extLst>
              <a:ext uri="{FF2B5EF4-FFF2-40B4-BE49-F238E27FC236}">
                <a16:creationId xmlns:a16="http://schemas.microsoft.com/office/drawing/2014/main" id="{1C454FAB-55F7-4E97-9EC7-976100049800}"/>
              </a:ext>
            </a:extLst>
          </p:cNvPr>
          <p:cNvPicPr>
            <a:picLocks noChangeAspect="1"/>
          </p:cNvPicPr>
          <p:nvPr/>
        </p:nvPicPr>
        <p:blipFill>
          <a:blip r:embed="rId3"/>
          <a:stretch>
            <a:fillRect/>
          </a:stretch>
        </p:blipFill>
        <p:spPr>
          <a:xfrm>
            <a:off x="7579339" y="1020824"/>
            <a:ext cx="3459521" cy="2393092"/>
          </a:xfrm>
          <a:prstGeom prst="rect">
            <a:avLst/>
          </a:prstGeom>
        </p:spPr>
      </p:pic>
      <p:sp>
        <p:nvSpPr>
          <p:cNvPr id="10" name="文本框 9">
            <a:extLst>
              <a:ext uri="{FF2B5EF4-FFF2-40B4-BE49-F238E27FC236}">
                <a16:creationId xmlns:a16="http://schemas.microsoft.com/office/drawing/2014/main" id="{139F39C9-1B87-4875-9CAD-E40F11DAA6E0}"/>
              </a:ext>
            </a:extLst>
          </p:cNvPr>
          <p:cNvSpPr txBox="1"/>
          <p:nvPr/>
        </p:nvSpPr>
        <p:spPr>
          <a:xfrm>
            <a:off x="963792" y="3127216"/>
            <a:ext cx="6116890" cy="646331"/>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HK" sz="1800" b="1" dirty="0">
                <a:solidFill>
                  <a:prstClr val="black"/>
                </a:solidFill>
                <a:latin typeface="Times New Roman" panose="02020603050405020304" pitchFamily="18" charset="0"/>
                <a:ea typeface="+mn-ea"/>
                <a:cs typeface="Times New Roman" panose="02020603050405020304" pitchFamily="18" charset="0"/>
              </a:rPr>
              <a:t>Updated IEC: </a:t>
            </a:r>
            <a:r>
              <a:rPr lang="en-HK" sz="1800" dirty="0">
                <a:solidFill>
                  <a:prstClr val="black"/>
                </a:solidFill>
                <a:latin typeface="Times New Roman" panose="02020603050405020304" pitchFamily="18" charset="0"/>
                <a:ea typeface="+mn-ea"/>
                <a:cs typeface="Times New Roman" panose="02020603050405020304" pitchFamily="18" charset="0"/>
              </a:rPr>
              <a:t>for energy recovery in </a:t>
            </a:r>
            <a:r>
              <a:rPr lang="en-HK" sz="1800" dirty="0">
                <a:solidFill>
                  <a:srgbClr val="C00000"/>
                </a:solidFill>
                <a:latin typeface="Times New Roman" panose="02020603050405020304" pitchFamily="18" charset="0"/>
                <a:ea typeface="+mn-ea"/>
                <a:cs typeface="Times New Roman" panose="02020603050405020304" pitchFamily="18" charset="0"/>
              </a:rPr>
              <a:t>hot and humid regions.</a:t>
            </a:r>
          </a:p>
          <a:p>
            <a:pPr defTabSz="457200" eaLnBrk="1" fontAlgn="auto" hangingPunct="1">
              <a:spcBef>
                <a:spcPts val="0"/>
              </a:spcBef>
              <a:spcAft>
                <a:spcPts val="0"/>
              </a:spcAft>
            </a:pPr>
            <a:r>
              <a:rPr lang="zh-CN" altLang="en-US" sz="1800" dirty="0">
                <a:latin typeface="Times New Roman" panose="02020603050405020304" pitchFamily="18" charset="0"/>
                <a:ea typeface="+mn-ea"/>
                <a:cs typeface="Times New Roman" panose="02020603050405020304" pitchFamily="18" charset="0"/>
              </a:rPr>
              <a:t>                              作为</a:t>
            </a:r>
            <a:r>
              <a:rPr lang="zh-CN" altLang="en-US" sz="1800" b="1" dirty="0">
                <a:solidFill>
                  <a:srgbClr val="C00000"/>
                </a:solidFill>
                <a:latin typeface="Times New Roman" panose="02020603050405020304" pitchFamily="18" charset="0"/>
                <a:ea typeface="+mn-ea"/>
                <a:cs typeface="Times New Roman" panose="02020603050405020304" pitchFamily="18" charset="0"/>
              </a:rPr>
              <a:t>热湿地区</a:t>
            </a:r>
            <a:r>
              <a:rPr lang="zh-CN" altLang="en-US" sz="1800" dirty="0">
                <a:latin typeface="Times New Roman" panose="02020603050405020304" pitchFamily="18" charset="0"/>
                <a:ea typeface="+mn-ea"/>
                <a:cs typeface="Times New Roman" panose="02020603050405020304" pitchFamily="18" charset="0"/>
              </a:rPr>
              <a:t>的能量回收单元</a:t>
            </a:r>
            <a:endParaRPr lang="en-HK" sz="1800" dirty="0">
              <a:latin typeface="Times New Roman" panose="02020603050405020304" pitchFamily="18" charset="0"/>
              <a:ea typeface="+mn-ea"/>
              <a:cs typeface="Times New Roman" panose="02020603050405020304" pitchFamily="18" charset="0"/>
            </a:endParaRPr>
          </a:p>
        </p:txBody>
      </p:sp>
      <p:pic>
        <p:nvPicPr>
          <p:cNvPr id="11" name="图片 10">
            <a:extLst>
              <a:ext uri="{FF2B5EF4-FFF2-40B4-BE49-F238E27FC236}">
                <a16:creationId xmlns:a16="http://schemas.microsoft.com/office/drawing/2014/main" id="{6C167412-4EB0-46B9-9050-AE92F86F961B}"/>
              </a:ext>
            </a:extLst>
          </p:cNvPr>
          <p:cNvPicPr>
            <a:picLocks noChangeAspect="1"/>
          </p:cNvPicPr>
          <p:nvPr/>
        </p:nvPicPr>
        <p:blipFill>
          <a:blip r:embed="rId4"/>
          <a:stretch>
            <a:fillRect/>
          </a:stretch>
        </p:blipFill>
        <p:spPr>
          <a:xfrm>
            <a:off x="2441470" y="3986474"/>
            <a:ext cx="6492265" cy="2251793"/>
          </a:xfrm>
          <a:prstGeom prst="rect">
            <a:avLst/>
          </a:prstGeom>
        </p:spPr>
      </p:pic>
      <p:sp>
        <p:nvSpPr>
          <p:cNvPr id="12" name="矩形 11">
            <a:extLst>
              <a:ext uri="{FF2B5EF4-FFF2-40B4-BE49-F238E27FC236}">
                <a16:creationId xmlns:a16="http://schemas.microsoft.com/office/drawing/2014/main" id="{3BFBECD2-63D3-4D41-B32B-6D1470A4DA26}"/>
              </a:ext>
            </a:extLst>
          </p:cNvPr>
          <p:cNvSpPr/>
          <p:nvPr/>
        </p:nvSpPr>
        <p:spPr>
          <a:xfrm>
            <a:off x="749918" y="1408658"/>
            <a:ext cx="6777437" cy="1000274"/>
          </a:xfrm>
          <a:prstGeom prst="rect">
            <a:avLst/>
          </a:prstGeom>
        </p:spPr>
        <p:txBody>
          <a:bodyPr wrap="square">
            <a:spAutoFit/>
          </a:bodyPr>
          <a:lstStyle/>
          <a:p>
            <a:pPr marL="285750" indent="-285750" defTabSz="457200" eaLnBrk="1" fontAlgn="auto" hangingPunct="1">
              <a:spcBef>
                <a:spcPts val="0"/>
              </a:spcBef>
              <a:spcAft>
                <a:spcPts val="600"/>
              </a:spcAft>
              <a:buFont typeface="Wingdings" panose="05000000000000000000" pitchFamily="2" charset="2"/>
              <a:buChar char="Ø"/>
            </a:pPr>
            <a:r>
              <a:rPr lang="en-HK" sz="1800" dirty="0">
                <a:solidFill>
                  <a:prstClr val="black"/>
                </a:solidFill>
                <a:latin typeface="Times New Roman" panose="02020603050405020304" pitchFamily="18" charset="0"/>
                <a:ea typeface="+mn-ea"/>
                <a:cs typeface="Times New Roman" panose="02020603050405020304" pitchFamily="18" charset="0"/>
              </a:rPr>
              <a:t>The IEC technology is a green and energy-saving technology that uses </a:t>
            </a:r>
            <a:r>
              <a:rPr lang="en-HK" sz="1800" dirty="0">
                <a:solidFill>
                  <a:srgbClr val="C00000"/>
                </a:solidFill>
                <a:latin typeface="Times New Roman" panose="02020603050405020304" pitchFamily="18" charset="0"/>
                <a:ea typeface="+mn-ea"/>
                <a:cs typeface="Times New Roman" panose="02020603050405020304" pitchFamily="18" charset="0"/>
              </a:rPr>
              <a:t>water</a:t>
            </a:r>
            <a:r>
              <a:rPr lang="en-HK" sz="1800" dirty="0">
                <a:solidFill>
                  <a:prstClr val="black"/>
                </a:solidFill>
                <a:latin typeface="Times New Roman" panose="02020603050405020304" pitchFamily="18" charset="0"/>
                <a:ea typeface="+mn-ea"/>
                <a:cs typeface="Times New Roman" panose="02020603050405020304" pitchFamily="18" charset="0"/>
              </a:rPr>
              <a:t> to </a:t>
            </a:r>
            <a:r>
              <a:rPr lang="en-HK" sz="1800" dirty="0">
                <a:solidFill>
                  <a:srgbClr val="C00000"/>
                </a:solidFill>
                <a:latin typeface="Times New Roman" panose="02020603050405020304" pitchFamily="18" charset="0"/>
                <a:ea typeface="+mn-ea"/>
                <a:cs typeface="Times New Roman" panose="02020603050405020304" pitchFamily="18" charset="0"/>
              </a:rPr>
              <a:t>evaporate</a:t>
            </a:r>
            <a:r>
              <a:rPr lang="en-HK" sz="1800" dirty="0">
                <a:solidFill>
                  <a:prstClr val="black"/>
                </a:solidFill>
                <a:latin typeface="Times New Roman" panose="02020603050405020304" pitchFamily="18" charset="0"/>
                <a:ea typeface="+mn-ea"/>
                <a:cs typeface="Times New Roman" panose="02020603050405020304" pitchFamily="18" charset="0"/>
              </a:rPr>
              <a:t> and absorb heat for cooling.</a:t>
            </a:r>
          </a:p>
          <a:p>
            <a:pPr defTabSz="457200" eaLnBrk="1" fontAlgn="auto" hangingPunct="1">
              <a:spcBef>
                <a:spcPts val="0"/>
              </a:spcBef>
              <a:spcAft>
                <a:spcPts val="600"/>
              </a:spcAft>
            </a:pPr>
            <a:r>
              <a:rPr lang="en-US" altLang="zh-CN" sz="1800" dirty="0">
                <a:solidFill>
                  <a:prstClr val="black"/>
                </a:solidFill>
                <a:latin typeface="Times New Roman" panose="02020603050405020304" pitchFamily="18" charset="0"/>
                <a:ea typeface="+mn-ea"/>
                <a:cs typeface="Times New Roman" panose="02020603050405020304" pitchFamily="18" charset="0"/>
              </a:rPr>
              <a:t>     IEC</a:t>
            </a:r>
            <a:r>
              <a:rPr lang="zh-CN" altLang="en-US" sz="1800" dirty="0">
                <a:solidFill>
                  <a:prstClr val="black"/>
                </a:solidFill>
                <a:latin typeface="Times New Roman" panose="02020603050405020304" pitchFamily="18" charset="0"/>
                <a:ea typeface="+mn-ea"/>
                <a:cs typeface="Times New Roman" panose="02020603050405020304" pitchFamily="18" charset="0"/>
              </a:rPr>
              <a:t>技术是一种绿色节能技术，利用</a:t>
            </a:r>
            <a:r>
              <a:rPr lang="zh-CN" altLang="en-US" sz="1800" b="1" dirty="0">
                <a:solidFill>
                  <a:srgbClr val="C00000"/>
                </a:solidFill>
                <a:latin typeface="Times New Roman" panose="02020603050405020304" pitchFamily="18" charset="0"/>
                <a:ea typeface="+mn-ea"/>
                <a:cs typeface="Times New Roman" panose="02020603050405020304" pitchFamily="18" charset="0"/>
              </a:rPr>
              <a:t>水蒸发</a:t>
            </a:r>
            <a:r>
              <a:rPr lang="zh-CN" altLang="en-US" sz="1800" dirty="0">
                <a:solidFill>
                  <a:prstClr val="black"/>
                </a:solidFill>
                <a:latin typeface="Times New Roman" panose="02020603050405020304" pitchFamily="18" charset="0"/>
                <a:ea typeface="+mn-ea"/>
                <a:cs typeface="Times New Roman" panose="02020603050405020304" pitchFamily="18" charset="0"/>
              </a:rPr>
              <a:t>吸热来进行制冷。</a:t>
            </a:r>
            <a:endParaRPr lang="en-HK" sz="1800" dirty="0">
              <a:solidFill>
                <a:prstClr val="black"/>
              </a:solidFill>
              <a:latin typeface="Times New Roman" panose="02020603050405020304" pitchFamily="18" charset="0"/>
              <a:ea typeface="+mn-ea"/>
              <a:cs typeface="Times New Roman" panose="02020603050405020304" pitchFamily="18" charset="0"/>
            </a:endParaRPr>
          </a:p>
        </p:txBody>
      </p:sp>
      <p:sp>
        <p:nvSpPr>
          <p:cNvPr id="14" name="矩形 13">
            <a:extLst>
              <a:ext uri="{FF2B5EF4-FFF2-40B4-BE49-F238E27FC236}">
                <a16:creationId xmlns:a16="http://schemas.microsoft.com/office/drawing/2014/main" id="{B42C4010-8AF0-4BD0-A3CC-94D27DF8E5FB}"/>
              </a:ext>
            </a:extLst>
          </p:cNvPr>
          <p:cNvSpPr/>
          <p:nvPr/>
        </p:nvSpPr>
        <p:spPr>
          <a:xfrm>
            <a:off x="1828869" y="6455109"/>
            <a:ext cx="8534263" cy="246221"/>
          </a:xfrm>
          <a:prstGeom prst="rect">
            <a:avLst/>
          </a:prstGeom>
        </p:spPr>
        <p:txBody>
          <a:bodyPr wrap="square">
            <a:spAutoFit/>
          </a:bodyPr>
          <a:lstStyle/>
          <a:p>
            <a:pPr algn="ctr" defTabSz="457200" eaLnBrk="1" fontAlgn="auto" hangingPunct="1">
              <a:spcAft>
                <a:spcPts val="0"/>
              </a:spcAft>
            </a:pPr>
            <a:r>
              <a:rPr lang="en-HK" altLang="en-US" sz="1000" i="1" dirty="0">
                <a:solidFill>
                  <a:prstClr val="black"/>
                </a:solidFill>
                <a:latin typeface="Arial" panose="020B0604020202020204" pitchFamily="34" charset="0"/>
                <a:ea typeface="+mn-ea"/>
                <a:cs typeface="Arial" panose="020B0604020202020204" pitchFamily="34" charset="0"/>
              </a:rPr>
              <a:t>S</a:t>
            </a:r>
            <a:r>
              <a:rPr lang="en-US" altLang="zh-CN" sz="1000" i="1" dirty="0" err="1">
                <a:solidFill>
                  <a:prstClr val="black"/>
                </a:solidFill>
                <a:latin typeface="Arial" panose="020B0604020202020204" pitchFamily="34" charset="0"/>
                <a:ea typeface="等线" panose="02010600030101010101" pitchFamily="2" charset="-122"/>
                <a:cs typeface="Arial" panose="020B0604020202020204" pitchFamily="34" charset="0"/>
              </a:rPr>
              <a:t>ource</a:t>
            </a:r>
            <a:r>
              <a:rPr lang="en-HK" altLang="zh-CN" sz="1000" i="1" dirty="0">
                <a:solidFill>
                  <a:prstClr val="black"/>
                </a:solidFill>
                <a:latin typeface="Arial" panose="020B0604020202020204" pitchFamily="34" charset="0"/>
                <a:ea typeface="等线" panose="02010600030101010101" pitchFamily="2" charset="-122"/>
                <a:cs typeface="Arial" panose="020B0604020202020204" pitchFamily="34" charset="0"/>
              </a:rPr>
              <a:t>: A statistical </a:t>
            </a:r>
            <a:r>
              <a:rPr lang="en-HK" altLang="zh-CN" sz="1000" i="1" dirty="0" err="1">
                <a:solidFill>
                  <a:prstClr val="black"/>
                </a:solidFill>
                <a:latin typeface="Arial" panose="020B0604020202020204" pitchFamily="34" charset="0"/>
                <a:ea typeface="等线" panose="02010600030101010101" pitchFamily="2" charset="-122"/>
                <a:cs typeface="Arial" panose="020B0604020202020204" pitchFamily="34" charset="0"/>
              </a:rPr>
              <a:t>modeling</a:t>
            </a:r>
            <a:r>
              <a:rPr lang="en-HK" altLang="zh-CN" sz="1000" i="1" dirty="0">
                <a:solidFill>
                  <a:prstClr val="black"/>
                </a:solidFill>
                <a:latin typeface="Arial" panose="020B0604020202020204" pitchFamily="34" charset="0"/>
                <a:ea typeface="等线" panose="02010600030101010101" pitchFamily="2" charset="-122"/>
                <a:cs typeface="Arial" panose="020B0604020202020204" pitchFamily="34" charset="0"/>
              </a:rPr>
              <a:t> approach on the performance prediction of indirect evaporative cooling energy recovery systems. 2019 </a:t>
            </a:r>
            <a:endParaRPr lang="en-HK" altLang="en-US" sz="1000" i="1" dirty="0">
              <a:solidFill>
                <a:prstClr val="black"/>
              </a:solidFill>
              <a:latin typeface="Arial" panose="020B0604020202020204" pitchFamily="34" charset="0"/>
              <a:ea typeface="+mn-ea"/>
              <a:cs typeface="Arial" panose="020B0604020202020204" pitchFamily="34" charset="0"/>
            </a:endParaRPr>
          </a:p>
        </p:txBody>
      </p:sp>
      <p:sp>
        <p:nvSpPr>
          <p:cNvPr id="16" name="矩形 15">
            <a:extLst>
              <a:ext uri="{FF2B5EF4-FFF2-40B4-BE49-F238E27FC236}">
                <a16:creationId xmlns:a16="http://schemas.microsoft.com/office/drawing/2014/main" id="{22ABFBB9-871B-4085-A46D-679911E48F7B}"/>
              </a:ext>
            </a:extLst>
          </p:cNvPr>
          <p:cNvSpPr/>
          <p:nvPr/>
        </p:nvSpPr>
        <p:spPr>
          <a:xfrm>
            <a:off x="7949152" y="3430356"/>
            <a:ext cx="3209533"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mn-ea"/>
                <a:cs typeface="Times New Roman" panose="02020603050405020304" pitchFamily="18" charset="0"/>
              </a:rPr>
              <a:t>Fig.1.2.1 </a:t>
            </a:r>
            <a:r>
              <a:rPr lang="en-HK" sz="1200" dirty="0">
                <a:solidFill>
                  <a:prstClr val="black"/>
                </a:solidFill>
                <a:latin typeface="Times New Roman" panose="02020603050405020304" pitchFamily="18" charset="0"/>
                <a:ea typeface="+mn-ea"/>
                <a:cs typeface="Times New Roman" panose="02020603050405020304" pitchFamily="18" charset="0"/>
              </a:rPr>
              <a:t>Schematic diagram of a traditional IEC</a:t>
            </a:r>
          </a:p>
          <a:p>
            <a:pPr defTabSz="457200" eaLnBrk="1" fontAlgn="auto" hangingPunct="1">
              <a:spcBef>
                <a:spcPts val="0"/>
              </a:spcBef>
              <a:spcAft>
                <a:spcPts val="0"/>
              </a:spcAft>
            </a:pPr>
            <a:endParaRPr lang="en-HK" sz="1400" dirty="0">
              <a:solidFill>
                <a:prstClr val="black"/>
              </a:solidFill>
              <a:latin typeface="Arial" panose="020B0604020202020204" pitchFamily="34" charset="0"/>
              <a:ea typeface="+mn-ea"/>
              <a:cs typeface="Arial" panose="020B0604020202020204" pitchFamily="34" charset="0"/>
            </a:endParaRPr>
          </a:p>
        </p:txBody>
      </p:sp>
      <p:sp>
        <p:nvSpPr>
          <p:cNvPr id="17" name="矩形 16">
            <a:extLst>
              <a:ext uri="{FF2B5EF4-FFF2-40B4-BE49-F238E27FC236}">
                <a16:creationId xmlns:a16="http://schemas.microsoft.com/office/drawing/2014/main" id="{4CE88D99-8FF1-4BB2-80F5-5D2C72231F59}"/>
              </a:ext>
            </a:extLst>
          </p:cNvPr>
          <p:cNvSpPr/>
          <p:nvPr/>
        </p:nvSpPr>
        <p:spPr>
          <a:xfrm>
            <a:off x="4231153" y="6208887"/>
            <a:ext cx="3673250"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mn-ea"/>
                <a:cs typeface="Times New Roman" panose="02020603050405020304" pitchFamily="18" charset="0"/>
              </a:rPr>
              <a:t>Fig.1.2.2 </a:t>
            </a:r>
            <a:r>
              <a:rPr lang="en-HK" sz="1200" dirty="0">
                <a:solidFill>
                  <a:prstClr val="black"/>
                </a:solidFill>
                <a:latin typeface="Times New Roman" panose="02020603050405020304" pitchFamily="18" charset="0"/>
                <a:ea typeface="+mn-ea"/>
                <a:cs typeface="Times New Roman" panose="02020603050405020304" pitchFamily="18" charset="0"/>
              </a:rPr>
              <a:t>System diagram of an IEC for energy recovery</a:t>
            </a:r>
          </a:p>
          <a:p>
            <a:pPr defTabSz="457200" eaLnBrk="1" fontAlgn="auto" hangingPunct="1">
              <a:spcBef>
                <a:spcPts val="0"/>
              </a:spcBef>
              <a:spcAft>
                <a:spcPts val="0"/>
              </a:spcAft>
            </a:pPr>
            <a:endParaRPr lang="en-HK" sz="1400" dirty="0">
              <a:solidFill>
                <a:prstClr val="black"/>
              </a:solidFill>
              <a:latin typeface="Arial" panose="020B0604020202020204" pitchFamily="34" charset="0"/>
              <a:ea typeface="+mn-ea"/>
              <a:cs typeface="Arial" panose="020B0604020202020204" pitchFamily="34" charset="0"/>
            </a:endParaRPr>
          </a:p>
        </p:txBody>
      </p:sp>
      <p:sp>
        <p:nvSpPr>
          <p:cNvPr id="4" name="灯片编号占位符 3">
            <a:extLst>
              <a:ext uri="{FF2B5EF4-FFF2-40B4-BE49-F238E27FC236}">
                <a16:creationId xmlns:a16="http://schemas.microsoft.com/office/drawing/2014/main" id="{4E66AE7F-39D1-46F6-9803-1881DC508F23}"/>
              </a:ext>
            </a:extLst>
          </p:cNvPr>
          <p:cNvSpPr>
            <a:spLocks noGrp="1"/>
          </p:cNvSpPr>
          <p:nvPr>
            <p:ph type="sldNum" sz="quarter" idx="12"/>
          </p:nvPr>
        </p:nvSpPr>
        <p:spPr/>
        <p:txBody>
          <a:bodyPr/>
          <a:lstStyle/>
          <a:p>
            <a:pPr>
              <a:defRPr/>
            </a:pPr>
            <a:fld id="{15884886-3D85-4AFD-9D94-33E4AF7428DD}" type="slidenum">
              <a:rPr lang="en-US" altLang="zh-CN" smtClean="0"/>
              <a:pPr>
                <a:defRPr/>
              </a:pPr>
              <a:t>5</a:t>
            </a:fld>
            <a:endParaRPr lang="en-US" altLang="zh-CN"/>
          </a:p>
        </p:txBody>
      </p:sp>
      <p:sp>
        <p:nvSpPr>
          <p:cNvPr id="3" name="Title 8">
            <a:extLst>
              <a:ext uri="{FF2B5EF4-FFF2-40B4-BE49-F238E27FC236}">
                <a16:creationId xmlns:a16="http://schemas.microsoft.com/office/drawing/2014/main" id="{CA768F9F-0124-7667-746B-51D5E7E10AB4}"/>
              </a:ext>
            </a:extLst>
          </p:cNvPr>
          <p:cNvSpPr txBox="1">
            <a:spLocks/>
          </p:cNvSpPr>
          <p:nvPr/>
        </p:nvSpPr>
        <p:spPr bwMode="auto">
          <a:xfrm>
            <a:off x="1124759" y="219480"/>
            <a:ext cx="5388930"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1. 研究背景与芯体设计</a:t>
            </a:r>
          </a:p>
        </p:txBody>
      </p:sp>
    </p:spTree>
    <p:extLst>
      <p:ext uri="{BB962C8B-B14F-4D97-AF65-F5344CB8AC3E}">
        <p14:creationId xmlns:p14="http://schemas.microsoft.com/office/powerpoint/2010/main" val="3298598600"/>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B3636-2EFD-7809-4858-1C675DABB4A0}"/>
            </a:ext>
          </a:extLst>
        </p:cNvPr>
        <p:cNvGrpSpPr/>
        <p:nvPr/>
      </p:nvGrpSpPr>
      <p:grpSpPr>
        <a:xfrm>
          <a:off x="0" y="0"/>
          <a:ext cx="0" cy="0"/>
          <a:chOff x="0" y="0"/>
          <a:chExt cx="0" cy="0"/>
        </a:xfrm>
      </p:grpSpPr>
      <p:sp>
        <p:nvSpPr>
          <p:cNvPr id="8" name="TextBox 14">
            <a:extLst>
              <a:ext uri="{FF2B5EF4-FFF2-40B4-BE49-F238E27FC236}">
                <a16:creationId xmlns:a16="http://schemas.microsoft.com/office/drawing/2014/main" id="{954E070B-B1BC-CEC7-F58D-718FADD2DBA4}"/>
              </a:ext>
            </a:extLst>
          </p:cNvPr>
          <p:cNvSpPr txBox="1"/>
          <p:nvPr/>
        </p:nvSpPr>
        <p:spPr>
          <a:xfrm>
            <a:off x="337267" y="1066800"/>
            <a:ext cx="3996606" cy="400110"/>
          </a:xfrm>
          <a:prstGeom prst="rect">
            <a:avLst/>
          </a:prstGeom>
          <a:noFill/>
        </p:spPr>
        <p:txBody>
          <a:bodyPr wrap="square">
            <a:spAutoFit/>
          </a:bodyPr>
          <a:lstStyle/>
          <a:p>
            <a:pPr marL="457200" indent="-457200">
              <a:buFont typeface="Wingdings" panose="05000000000000000000" pitchFamily="2" charset="2"/>
              <a:buChar char="Ø"/>
            </a:pPr>
            <a:r>
              <a:rPr lang="en-HK" altLang="zh-CN" sz="2000" b="1" dirty="0">
                <a:latin typeface="Times New Roman" panose="02020603050405020304" pitchFamily="18" charset="0"/>
                <a:ea typeface="宋体" panose="02010600030101010101" pitchFamily="2" charset="-122"/>
              </a:rPr>
              <a:t>IEC</a:t>
            </a:r>
            <a:r>
              <a:rPr lang="zh-CN" altLang="en-US" sz="2000" b="1" dirty="0">
                <a:latin typeface="Times New Roman" panose="02020603050405020304" pitchFamily="18" charset="0"/>
                <a:ea typeface="宋体" panose="02010600030101010101" pitchFamily="2" charset="-122"/>
              </a:rPr>
              <a:t>芯体通道间隙尺寸的确定</a:t>
            </a:r>
            <a:endParaRPr lang="en-US" sz="2000" b="1" dirty="0">
              <a:effectLst/>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781A2A4E-34E4-8D34-85AC-CE39B25AF9D0}"/>
              </a:ext>
            </a:extLst>
          </p:cNvPr>
          <p:cNvSpPr/>
          <p:nvPr/>
        </p:nvSpPr>
        <p:spPr>
          <a:xfrm>
            <a:off x="893324" y="1619313"/>
            <a:ext cx="3589336" cy="754053"/>
          </a:xfrm>
          <a:prstGeom prst="rect">
            <a:avLst/>
          </a:prstGeom>
        </p:spPr>
        <p:txBody>
          <a:bodyPr wrap="square">
            <a:spAutoFit/>
          </a:bodyPr>
          <a:lstStyle/>
          <a:p>
            <a:pPr marL="342900" indent="-342900">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The </a:t>
            </a:r>
            <a:r>
              <a:rPr lang="en-US" altLang="zh-CN" sz="2000" b="1" dirty="0">
                <a:solidFill>
                  <a:srgbClr val="C00000"/>
                </a:solidFill>
                <a:latin typeface="Times New Roman" panose="02020603050405020304" pitchFamily="18" charset="0"/>
                <a:cs typeface="Times New Roman" panose="02020603050405020304" pitchFamily="18" charset="0"/>
              </a:rPr>
              <a:t>smaller</a:t>
            </a:r>
            <a:r>
              <a:rPr lang="en-US" altLang="zh-CN" sz="2000" dirty="0">
                <a:latin typeface="Times New Roman" panose="02020603050405020304" pitchFamily="18" charset="0"/>
                <a:cs typeface="Times New Roman" panose="02020603050405020304" pitchFamily="18" charset="0"/>
              </a:rPr>
              <a:t> the channel gap</a:t>
            </a:r>
          </a:p>
          <a:p>
            <a:pPr>
              <a:spcAft>
                <a:spcPts val="600"/>
              </a:spcAft>
            </a:pPr>
            <a:r>
              <a:rPr lang="zh-CN" altLang="en-US" dirty="0">
                <a:latin typeface="宋体" panose="02010600030101010101" pitchFamily="2" charset="-122"/>
                <a:ea typeface="宋体" panose="02010600030101010101" pitchFamily="2" charset="-122"/>
                <a:cs typeface="Times New Roman" panose="02020603050405020304" pitchFamily="18" charset="0"/>
              </a:rPr>
              <a:t>          通道间隙越小</a:t>
            </a:r>
            <a:endParaRPr lang="en-US"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30DDB800-078E-7FCC-4391-34DA5E427B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2910" y="3182696"/>
            <a:ext cx="6590353" cy="3074045"/>
          </a:xfrm>
          <a:prstGeom prst="rect">
            <a:avLst/>
          </a:prstGeom>
        </p:spPr>
      </p:pic>
      <p:sp>
        <p:nvSpPr>
          <p:cNvPr id="18" name="左大括号 17">
            <a:extLst>
              <a:ext uri="{FF2B5EF4-FFF2-40B4-BE49-F238E27FC236}">
                <a16:creationId xmlns:a16="http://schemas.microsoft.com/office/drawing/2014/main" id="{016D552E-8B67-C497-A278-6378DA65A85C}"/>
              </a:ext>
            </a:extLst>
          </p:cNvPr>
          <p:cNvSpPr/>
          <p:nvPr/>
        </p:nvSpPr>
        <p:spPr bwMode="auto">
          <a:xfrm>
            <a:off x="4333873" y="1461963"/>
            <a:ext cx="352424" cy="791597"/>
          </a:xfrm>
          <a:prstGeom prst="leftBrace">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19" name="矩形 18">
            <a:extLst>
              <a:ext uri="{FF2B5EF4-FFF2-40B4-BE49-F238E27FC236}">
                <a16:creationId xmlns:a16="http://schemas.microsoft.com/office/drawing/2014/main" id="{B33BA1B4-D2D3-DB94-0CE3-E38CFB25798C}"/>
              </a:ext>
            </a:extLst>
          </p:cNvPr>
          <p:cNvSpPr/>
          <p:nvPr/>
        </p:nvSpPr>
        <p:spPr>
          <a:xfrm>
            <a:off x="4686295" y="1314666"/>
            <a:ext cx="3303585" cy="369332"/>
          </a:xfrm>
          <a:prstGeom prst="rect">
            <a:avLst/>
          </a:prstGeom>
        </p:spPr>
        <p:txBody>
          <a:bodyPr wrap="square">
            <a:spAutoFit/>
          </a:bodyPr>
          <a:lstStyle/>
          <a:p>
            <a:pPr>
              <a:spcAft>
                <a:spcPts val="600"/>
              </a:spcAft>
            </a:pPr>
            <a:r>
              <a:rPr lang="en-HK" altLang="zh-CN" dirty="0">
                <a:latin typeface="Times New Roman" panose="02020603050405020304" pitchFamily="18" charset="0"/>
                <a:cs typeface="Times New Roman" panose="02020603050405020304" pitchFamily="18" charset="0"/>
              </a:rPr>
              <a:t>The </a:t>
            </a:r>
            <a:r>
              <a:rPr lang="en-HK" altLang="zh-CN" b="1" dirty="0">
                <a:solidFill>
                  <a:srgbClr val="C00000"/>
                </a:solidFill>
                <a:latin typeface="Times New Roman" panose="02020603050405020304" pitchFamily="18" charset="0"/>
                <a:cs typeface="Times New Roman" panose="02020603050405020304" pitchFamily="18" charset="0"/>
              </a:rPr>
              <a:t>higher</a:t>
            </a:r>
            <a:r>
              <a:rPr lang="en-HK" altLang="zh-CN" dirty="0">
                <a:latin typeface="Times New Roman" panose="02020603050405020304" pitchFamily="18" charset="0"/>
                <a:cs typeface="Times New Roman" panose="02020603050405020304" pitchFamily="18" charset="0"/>
              </a:rPr>
              <a:t> the IEC efficiency</a:t>
            </a:r>
            <a:endParaRPr lang="en-US" dirty="0">
              <a:latin typeface="Times New Roman" panose="02020603050405020304" pitchFamily="18" charset="0"/>
              <a:cs typeface="Times New Roman" panose="02020603050405020304" pitchFamily="18" charset="0"/>
            </a:endParaRPr>
          </a:p>
        </p:txBody>
      </p:sp>
      <p:sp>
        <p:nvSpPr>
          <p:cNvPr id="20" name="矩形 19">
            <a:extLst>
              <a:ext uri="{FF2B5EF4-FFF2-40B4-BE49-F238E27FC236}">
                <a16:creationId xmlns:a16="http://schemas.microsoft.com/office/drawing/2014/main" id="{3A1643B7-E08E-3BB1-D096-6AC064FB72B4}"/>
              </a:ext>
            </a:extLst>
          </p:cNvPr>
          <p:cNvSpPr/>
          <p:nvPr/>
        </p:nvSpPr>
        <p:spPr>
          <a:xfrm>
            <a:off x="4686297" y="1993425"/>
            <a:ext cx="2438404" cy="369332"/>
          </a:xfrm>
          <a:prstGeom prst="rect">
            <a:avLst/>
          </a:prstGeom>
        </p:spPr>
        <p:txBody>
          <a:bodyPr wrap="square">
            <a:spAutoFit/>
          </a:bodyPr>
          <a:lstStyle/>
          <a:p>
            <a:pPr>
              <a:spcAft>
                <a:spcPts val="600"/>
              </a:spcAft>
            </a:pPr>
            <a:r>
              <a:rPr lang="en-HK" altLang="zh-CN" dirty="0">
                <a:latin typeface="Times New Roman" panose="02020603050405020304" pitchFamily="18" charset="0"/>
                <a:cs typeface="Times New Roman" panose="02020603050405020304" pitchFamily="18" charset="0"/>
              </a:rPr>
              <a:t>The </a:t>
            </a:r>
            <a:r>
              <a:rPr lang="en-HK" altLang="zh-CN" b="1" dirty="0">
                <a:solidFill>
                  <a:srgbClr val="C00000"/>
                </a:solidFill>
                <a:latin typeface="Times New Roman" panose="02020603050405020304" pitchFamily="18" charset="0"/>
                <a:cs typeface="Times New Roman" panose="02020603050405020304" pitchFamily="18" charset="0"/>
              </a:rPr>
              <a:t>larger</a:t>
            </a:r>
            <a:r>
              <a:rPr lang="en-HK" altLang="zh-CN" dirty="0">
                <a:latin typeface="Times New Roman" panose="02020603050405020304" pitchFamily="18" charset="0"/>
                <a:cs typeface="Times New Roman" panose="02020603050405020304" pitchFamily="18" charset="0"/>
              </a:rPr>
              <a:t> pressure loss</a:t>
            </a:r>
            <a:endParaRPr lang="en-US" dirty="0">
              <a:latin typeface="Times New Roman" panose="02020603050405020304" pitchFamily="18" charset="0"/>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C759FE42-A1F3-EECE-85C1-12E26FE44D64}"/>
              </a:ext>
            </a:extLst>
          </p:cNvPr>
          <p:cNvCxnSpPr>
            <a:cxnSpLocks/>
          </p:cNvCxnSpPr>
          <p:nvPr/>
        </p:nvCxnSpPr>
        <p:spPr bwMode="auto">
          <a:xfrm>
            <a:off x="7019926" y="2178091"/>
            <a:ext cx="571499" cy="0"/>
          </a:xfrm>
          <a:prstGeom prst="straightConnector1">
            <a:avLst/>
          </a:prstGeom>
          <a:noFill/>
          <a:ln w="9525" cap="flat" cmpd="sng" algn="ctr">
            <a:solidFill>
              <a:schemeClr val="tx1"/>
            </a:solidFill>
            <a:prstDash val="solid"/>
            <a:round/>
            <a:headEnd type="none" w="med" len="med"/>
            <a:tailEnd type="triangle"/>
          </a:ln>
          <a:effectLst/>
        </p:spPr>
      </p:cxnSp>
      <p:sp>
        <p:nvSpPr>
          <p:cNvPr id="29" name="矩形 28">
            <a:extLst>
              <a:ext uri="{FF2B5EF4-FFF2-40B4-BE49-F238E27FC236}">
                <a16:creationId xmlns:a16="http://schemas.microsoft.com/office/drawing/2014/main" id="{43FF2BA7-BEB5-5B0B-240C-7E083D51798A}"/>
              </a:ext>
            </a:extLst>
          </p:cNvPr>
          <p:cNvSpPr/>
          <p:nvPr/>
        </p:nvSpPr>
        <p:spPr>
          <a:xfrm>
            <a:off x="7591425" y="1993425"/>
            <a:ext cx="3733800" cy="369332"/>
          </a:xfrm>
          <a:prstGeom prst="rect">
            <a:avLst/>
          </a:prstGeom>
        </p:spPr>
        <p:txBody>
          <a:bodyPr wrap="square">
            <a:spAutoFit/>
          </a:bodyPr>
          <a:lstStyle/>
          <a:p>
            <a:pPr>
              <a:spcAft>
                <a:spcPts val="600"/>
              </a:spcAft>
            </a:pPr>
            <a:r>
              <a:rPr lang="en-HK" altLang="zh-CN" dirty="0">
                <a:latin typeface="Times New Roman" panose="02020603050405020304" pitchFamily="18" charset="0"/>
                <a:cs typeface="Times New Roman" panose="02020603050405020304" pitchFamily="18" charset="0"/>
              </a:rPr>
              <a:t>Energy consumption by fan </a:t>
            </a:r>
            <a:r>
              <a:rPr lang="en-HK" altLang="zh-CN" b="1" dirty="0">
                <a:solidFill>
                  <a:srgbClr val="C00000"/>
                </a:solidFill>
                <a:latin typeface="Times New Roman" panose="02020603050405020304" pitchFamily="18" charset="0"/>
                <a:cs typeface="Times New Roman" panose="02020603050405020304" pitchFamily="18" charset="0"/>
              </a:rPr>
              <a:t>increases</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1" name="矩形 30">
            <a:extLst>
              <a:ext uri="{FF2B5EF4-FFF2-40B4-BE49-F238E27FC236}">
                <a16:creationId xmlns:a16="http://schemas.microsoft.com/office/drawing/2014/main" id="{54D6097E-0376-B320-85E9-F7B3139C5188}"/>
              </a:ext>
            </a:extLst>
          </p:cNvPr>
          <p:cNvSpPr/>
          <p:nvPr/>
        </p:nvSpPr>
        <p:spPr>
          <a:xfrm>
            <a:off x="9120779" y="1397987"/>
            <a:ext cx="1422184" cy="461665"/>
          </a:xfrm>
          <a:prstGeom prst="rect">
            <a:avLst/>
          </a:prstGeom>
        </p:spPr>
        <p:txBody>
          <a:bodyPr wrap="none">
            <a:spAutoFit/>
          </a:bodyPr>
          <a:lstStyle/>
          <a:p>
            <a:r>
              <a:rPr lang="zh-CN" altLang="en-US" sz="2400" b="1" dirty="0">
                <a:solidFill>
                  <a:srgbClr val="C00000"/>
                </a:solidFill>
                <a:latin typeface="Times New Roman" panose="02020603050405020304" pitchFamily="18" charset="0"/>
                <a:cs typeface="Times New Roman" panose="02020603050405020304" pitchFamily="18" charset="0"/>
              </a:rPr>
              <a:t>平衡二者</a:t>
            </a:r>
            <a:endParaRPr lang="en-HK" altLang="zh-CN" sz="2400" b="1" dirty="0">
              <a:solidFill>
                <a:srgbClr val="C00000"/>
              </a:solidFill>
              <a:latin typeface="Times New Roman" panose="02020603050405020304" pitchFamily="18" charset="0"/>
              <a:cs typeface="Times New Roman" panose="02020603050405020304" pitchFamily="18" charset="0"/>
            </a:endParaRPr>
          </a:p>
        </p:txBody>
      </p:sp>
      <p:sp>
        <p:nvSpPr>
          <p:cNvPr id="32" name="矩形 31">
            <a:extLst>
              <a:ext uri="{FF2B5EF4-FFF2-40B4-BE49-F238E27FC236}">
                <a16:creationId xmlns:a16="http://schemas.microsoft.com/office/drawing/2014/main" id="{E5D63068-27C7-6DA5-8C73-45EF644EC0D1}"/>
              </a:ext>
            </a:extLst>
          </p:cNvPr>
          <p:cNvSpPr/>
          <p:nvPr/>
        </p:nvSpPr>
        <p:spPr bwMode="auto">
          <a:xfrm>
            <a:off x="9028016" y="1351309"/>
            <a:ext cx="1607710" cy="609384"/>
          </a:xfrm>
          <a:prstGeom prst="rect">
            <a:avLst/>
          </a:prstGeom>
          <a:noFill/>
          <a:ln w="19050" cap="flat" cmpd="sng" algn="ctr">
            <a:solidFill>
              <a:srgbClr val="C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34" name="矩形 33">
            <a:extLst>
              <a:ext uri="{FF2B5EF4-FFF2-40B4-BE49-F238E27FC236}">
                <a16:creationId xmlns:a16="http://schemas.microsoft.com/office/drawing/2014/main" id="{83C06C92-A350-799A-45EB-509BB4EADD83}"/>
              </a:ext>
            </a:extLst>
          </p:cNvPr>
          <p:cNvSpPr/>
          <p:nvPr/>
        </p:nvSpPr>
        <p:spPr>
          <a:xfrm>
            <a:off x="893323" y="2687283"/>
            <a:ext cx="5983941" cy="369332"/>
          </a:xfrm>
          <a:prstGeom prst="rect">
            <a:avLst/>
          </a:prstGeom>
        </p:spPr>
        <p:txBody>
          <a:bodyPr wrap="square">
            <a:spAutoFit/>
          </a:bodyPr>
          <a:lstStyle/>
          <a:p>
            <a:pPr marL="342900" indent="-342900">
              <a:spcAft>
                <a:spcPts val="600"/>
              </a:spcAf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不同通道间隙下的净节能效果</a:t>
            </a:r>
            <a:endParaRPr lang="en-US" dirty="0">
              <a:latin typeface="Times New Roman" panose="02020603050405020304" pitchFamily="18" charset="0"/>
              <a:cs typeface="Times New Roman" panose="02020603050405020304" pitchFamily="18" charset="0"/>
            </a:endParaRPr>
          </a:p>
        </p:txBody>
      </p:sp>
      <p:sp>
        <p:nvSpPr>
          <p:cNvPr id="35" name="矩形 34">
            <a:extLst>
              <a:ext uri="{FF2B5EF4-FFF2-40B4-BE49-F238E27FC236}">
                <a16:creationId xmlns:a16="http://schemas.microsoft.com/office/drawing/2014/main" id="{37832607-ECEA-04FC-10AC-B58B7C11E466}"/>
              </a:ext>
            </a:extLst>
          </p:cNvPr>
          <p:cNvSpPr/>
          <p:nvPr/>
        </p:nvSpPr>
        <p:spPr>
          <a:xfrm>
            <a:off x="2335570" y="6344871"/>
            <a:ext cx="7042133" cy="369332"/>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当通道间隙在 </a:t>
            </a:r>
            <a:r>
              <a:rPr lang="en-US" altLang="zh-CN" b="1" dirty="0">
                <a:solidFill>
                  <a:srgbClr val="C00000"/>
                </a:solidFill>
                <a:latin typeface="Times New Roman" panose="02020603050405020304" pitchFamily="18" charset="0"/>
                <a:cs typeface="Times New Roman" panose="02020603050405020304" pitchFamily="18" charset="0"/>
              </a:rPr>
              <a:t>4 mm </a:t>
            </a:r>
            <a:r>
              <a:rPr lang="zh-CN" altLang="en-US" dirty="0">
                <a:latin typeface="Times New Roman" panose="02020603050405020304" pitchFamily="18" charset="0"/>
                <a:cs typeface="Times New Roman" panose="02020603050405020304" pitchFamily="18" charset="0"/>
              </a:rPr>
              <a:t>到 </a:t>
            </a:r>
            <a:r>
              <a:rPr lang="en-US" altLang="zh-CN" b="1" dirty="0">
                <a:solidFill>
                  <a:srgbClr val="C00000"/>
                </a:solidFill>
                <a:latin typeface="Times New Roman" panose="02020603050405020304" pitchFamily="18" charset="0"/>
                <a:cs typeface="Times New Roman" panose="02020603050405020304" pitchFamily="18" charset="0"/>
              </a:rPr>
              <a:t>6 </a:t>
            </a:r>
            <a:r>
              <a:rPr lang="en-HK" altLang="zh-CN" b="1" dirty="0">
                <a:solidFill>
                  <a:srgbClr val="C00000"/>
                </a:solidFill>
                <a:latin typeface="Times New Roman" panose="02020603050405020304" pitchFamily="18" charset="0"/>
                <a:cs typeface="Times New Roman" panose="02020603050405020304" pitchFamily="18" charset="0"/>
              </a:rPr>
              <a:t>mm </a:t>
            </a:r>
            <a:r>
              <a:rPr lang="zh-CN" altLang="en-US" dirty="0">
                <a:latin typeface="Times New Roman" panose="02020603050405020304" pitchFamily="18" charset="0"/>
                <a:cs typeface="Times New Roman" panose="02020603050405020304" pitchFamily="18" charset="0"/>
              </a:rPr>
              <a:t>之间时，净节能效果达到最高点。</a:t>
            </a:r>
            <a:endParaRPr lang="en-US" dirty="0">
              <a:latin typeface="Times New Roman" panose="02020603050405020304" pitchFamily="18" charset="0"/>
              <a:cs typeface="Times New Roman" panose="02020603050405020304" pitchFamily="18" charset="0"/>
            </a:endParaRPr>
          </a:p>
        </p:txBody>
      </p:sp>
      <p:sp>
        <p:nvSpPr>
          <p:cNvPr id="36" name="灯片编号占位符 1">
            <a:extLst>
              <a:ext uri="{FF2B5EF4-FFF2-40B4-BE49-F238E27FC236}">
                <a16:creationId xmlns:a16="http://schemas.microsoft.com/office/drawing/2014/main" id="{17EDE8AC-AEC1-77C0-32CC-7C68BF2A6CD4}"/>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6</a:t>
            </a:fld>
            <a:endParaRPr lang="en-US" altLang="zh-CN" dirty="0"/>
          </a:p>
        </p:txBody>
      </p:sp>
      <p:sp>
        <p:nvSpPr>
          <p:cNvPr id="16" name="矩形 15">
            <a:extLst>
              <a:ext uri="{FF2B5EF4-FFF2-40B4-BE49-F238E27FC236}">
                <a16:creationId xmlns:a16="http://schemas.microsoft.com/office/drawing/2014/main" id="{E69F78B1-1432-5291-6640-96E4C4EE3449}"/>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1. 研究背景与芯体设计</a:t>
            </a:r>
          </a:p>
        </p:txBody>
      </p:sp>
      <p:sp>
        <p:nvSpPr>
          <p:cNvPr id="2" name="矩形 1">
            <a:extLst>
              <a:ext uri="{FF2B5EF4-FFF2-40B4-BE49-F238E27FC236}">
                <a16:creationId xmlns:a16="http://schemas.microsoft.com/office/drawing/2014/main" id="{E98787BF-2AD3-6EA3-DE04-0D8D8C9E8149}"/>
              </a:ext>
            </a:extLst>
          </p:cNvPr>
          <p:cNvSpPr/>
          <p:nvPr/>
        </p:nvSpPr>
        <p:spPr>
          <a:xfrm>
            <a:off x="5377264" y="1619313"/>
            <a:ext cx="1479892" cy="369332"/>
          </a:xfrm>
          <a:prstGeom prst="rect">
            <a:avLst/>
          </a:prstGeom>
        </p:spPr>
        <p:txBody>
          <a:bodyPr wrap="none">
            <a:spAutoFit/>
          </a:bodyPr>
          <a:lstStyle/>
          <a:p>
            <a:r>
              <a:rPr lang="en-HK" altLang="zh-CN" dirty="0">
                <a:latin typeface="Times New Roman" panose="02020603050405020304" pitchFamily="18" charset="0"/>
                <a:ea typeface="宋体" panose="02010600030101010101" pitchFamily="2" charset="-122"/>
                <a:cs typeface="Times New Roman" panose="02020603050405020304" pitchFamily="18" charset="0"/>
              </a:rPr>
              <a:t>IEC</a:t>
            </a:r>
            <a:r>
              <a:rPr lang="zh-CN" altLang="en-US" dirty="0">
                <a:latin typeface="宋体" panose="02010600030101010101" pitchFamily="2" charset="-122"/>
                <a:ea typeface="宋体" panose="02010600030101010101" pitchFamily="2" charset="-122"/>
                <a:cs typeface="Times New Roman" panose="02020603050405020304" pitchFamily="18" charset="0"/>
              </a:rPr>
              <a:t>效率越高</a:t>
            </a:r>
            <a:endParaRPr lang="en-US" dirty="0"/>
          </a:p>
        </p:txBody>
      </p:sp>
      <p:sp>
        <p:nvSpPr>
          <p:cNvPr id="21" name="矩形 20">
            <a:extLst>
              <a:ext uri="{FF2B5EF4-FFF2-40B4-BE49-F238E27FC236}">
                <a16:creationId xmlns:a16="http://schemas.microsoft.com/office/drawing/2014/main" id="{A20E493E-A6F8-8341-B05B-F978B220A3DA}"/>
              </a:ext>
            </a:extLst>
          </p:cNvPr>
          <p:cNvSpPr/>
          <p:nvPr/>
        </p:nvSpPr>
        <p:spPr>
          <a:xfrm>
            <a:off x="5611711" y="2300062"/>
            <a:ext cx="1107996" cy="369332"/>
          </a:xfrm>
          <a:prstGeom prst="rect">
            <a:avLst/>
          </a:prstGeom>
        </p:spPr>
        <p:txBody>
          <a:bodyPr wrap="none">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压降</a:t>
            </a:r>
            <a:r>
              <a:rPr lang="zh-CN" altLang="en-US" dirty="0">
                <a:latin typeface="宋体" panose="02010600030101010101" pitchFamily="2" charset="-122"/>
                <a:ea typeface="宋体" panose="02010600030101010101" pitchFamily="2" charset="-122"/>
                <a:cs typeface="Times New Roman" panose="02020603050405020304" pitchFamily="18" charset="0"/>
              </a:rPr>
              <a:t>越大</a:t>
            </a:r>
            <a:endParaRPr lang="en-US" dirty="0"/>
          </a:p>
        </p:txBody>
      </p:sp>
      <p:sp>
        <p:nvSpPr>
          <p:cNvPr id="22" name="矩形 21">
            <a:extLst>
              <a:ext uri="{FF2B5EF4-FFF2-40B4-BE49-F238E27FC236}">
                <a16:creationId xmlns:a16="http://schemas.microsoft.com/office/drawing/2014/main" id="{AC5FD81F-D4B9-9613-1617-0AE5EA147FC8}"/>
              </a:ext>
            </a:extLst>
          </p:cNvPr>
          <p:cNvSpPr/>
          <p:nvPr/>
        </p:nvSpPr>
        <p:spPr>
          <a:xfrm>
            <a:off x="8755102" y="2295608"/>
            <a:ext cx="1569660" cy="369332"/>
          </a:xfrm>
          <a:prstGeom prst="rect">
            <a:avLst/>
          </a:prstGeom>
        </p:spPr>
        <p:txBody>
          <a:bodyPr wrap="none">
            <a:spAutoFit/>
          </a:bodyPr>
          <a:lstStyle/>
          <a:p>
            <a:r>
              <a:rPr lang="zh-CN" altLang="en-US" dirty="0">
                <a:latin typeface="Times New Roman" panose="02020603050405020304" pitchFamily="18" charset="0"/>
                <a:ea typeface="宋体" panose="02010600030101010101" pitchFamily="2" charset="-122"/>
                <a:cs typeface="Times New Roman" panose="02020603050405020304" pitchFamily="18" charset="0"/>
              </a:rPr>
              <a:t>风机能耗增加</a:t>
            </a:r>
            <a:endParaRPr lang="en-US" dirty="0"/>
          </a:p>
        </p:txBody>
      </p:sp>
    </p:spTree>
    <p:extLst>
      <p:ext uri="{BB962C8B-B14F-4D97-AF65-F5344CB8AC3E}">
        <p14:creationId xmlns:p14="http://schemas.microsoft.com/office/powerpoint/2010/main" val="1643435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BFD1D-F388-2424-2D6E-17954E14520C}"/>
            </a:ext>
          </a:extLst>
        </p:cNvPr>
        <p:cNvGrpSpPr/>
        <p:nvPr/>
      </p:nvGrpSpPr>
      <p:grpSpPr>
        <a:xfrm>
          <a:off x="0" y="0"/>
          <a:ext cx="0" cy="0"/>
          <a:chOff x="0" y="0"/>
          <a:chExt cx="0" cy="0"/>
        </a:xfrm>
      </p:grpSpPr>
      <p:sp>
        <p:nvSpPr>
          <p:cNvPr id="11" name="TextBox 14">
            <a:extLst>
              <a:ext uri="{FF2B5EF4-FFF2-40B4-BE49-F238E27FC236}">
                <a16:creationId xmlns:a16="http://schemas.microsoft.com/office/drawing/2014/main" id="{BCA468F4-C9B5-13AB-CF66-294262F6C074}"/>
              </a:ext>
            </a:extLst>
          </p:cNvPr>
          <p:cNvSpPr txBox="1"/>
          <p:nvPr/>
        </p:nvSpPr>
        <p:spPr>
          <a:xfrm>
            <a:off x="480142" y="988732"/>
            <a:ext cx="5263433" cy="400110"/>
          </a:xfrm>
          <a:prstGeom prst="rect">
            <a:avLst/>
          </a:prstGeom>
          <a:noFill/>
        </p:spPr>
        <p:txBody>
          <a:bodyPr wrap="square">
            <a:spAutoFit/>
          </a:bodyPr>
          <a:lstStyle/>
          <a:p>
            <a:pPr marL="457200" indent="-457200">
              <a:buFont typeface="Wingdings" panose="05000000000000000000" pitchFamily="2" charset="2"/>
              <a:buChar char="Ø"/>
            </a:pPr>
            <a:r>
              <a:rPr lang="en-HK" altLang="zh-CN" sz="2000" b="1" dirty="0">
                <a:effectLst/>
                <a:latin typeface="Times New Roman" panose="02020603050405020304" pitchFamily="18" charset="0"/>
                <a:ea typeface="宋体" panose="02010600030101010101" pitchFamily="2" charset="-122"/>
              </a:rPr>
              <a:t>IEC</a:t>
            </a:r>
            <a:r>
              <a:rPr lang="zh-CN" altLang="en-US" sz="2000" b="1" dirty="0">
                <a:effectLst/>
                <a:latin typeface="Times New Roman" panose="02020603050405020304" pitchFamily="18" charset="0"/>
                <a:ea typeface="宋体" panose="02010600030101010101" pitchFamily="2" charset="-122"/>
              </a:rPr>
              <a:t>芯体材料的选择</a:t>
            </a:r>
            <a:endParaRPr lang="en-US" sz="2000" b="1" dirty="0">
              <a:effectLst/>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4B791029-E53C-8238-BA62-7857466CBD07}"/>
              </a:ext>
            </a:extLst>
          </p:cNvPr>
          <p:cNvPicPr>
            <a:picLocks noChangeAspect="1"/>
          </p:cNvPicPr>
          <p:nvPr/>
        </p:nvPicPr>
        <p:blipFill rotWithShape="1">
          <a:blip r:embed="rId3"/>
          <a:srcRect r="15194"/>
          <a:stretch/>
        </p:blipFill>
        <p:spPr>
          <a:xfrm>
            <a:off x="7249790" y="2043028"/>
            <a:ext cx="2924890" cy="2585662"/>
          </a:xfrm>
          <a:prstGeom prst="rect">
            <a:avLst/>
          </a:prstGeom>
        </p:spPr>
      </p:pic>
      <p:pic>
        <p:nvPicPr>
          <p:cNvPr id="10" name="图片 9">
            <a:extLst>
              <a:ext uri="{FF2B5EF4-FFF2-40B4-BE49-F238E27FC236}">
                <a16:creationId xmlns:a16="http://schemas.microsoft.com/office/drawing/2014/main" id="{C13411F9-69E1-30FC-3042-326FE77A842E}"/>
              </a:ext>
            </a:extLst>
          </p:cNvPr>
          <p:cNvPicPr>
            <a:picLocks noChangeAspect="1"/>
          </p:cNvPicPr>
          <p:nvPr/>
        </p:nvPicPr>
        <p:blipFill rotWithShape="1">
          <a:blip r:embed="rId4"/>
          <a:srcRect l="13890" r="4166"/>
          <a:stretch/>
        </p:blipFill>
        <p:spPr>
          <a:xfrm rot="5400000">
            <a:off x="1663240" y="2155568"/>
            <a:ext cx="2686865" cy="2546863"/>
          </a:xfrm>
          <a:prstGeom prst="rect">
            <a:avLst/>
          </a:prstGeom>
        </p:spPr>
      </p:pic>
      <p:sp>
        <p:nvSpPr>
          <p:cNvPr id="16" name="矩形 15">
            <a:extLst>
              <a:ext uri="{FF2B5EF4-FFF2-40B4-BE49-F238E27FC236}">
                <a16:creationId xmlns:a16="http://schemas.microsoft.com/office/drawing/2014/main" id="{0C2DC357-220E-0B17-0F4A-926384A03553}"/>
              </a:ext>
            </a:extLst>
          </p:cNvPr>
          <p:cNvSpPr/>
          <p:nvPr/>
        </p:nvSpPr>
        <p:spPr>
          <a:xfrm>
            <a:off x="979049" y="1463177"/>
            <a:ext cx="3589336" cy="369332"/>
          </a:xfrm>
          <a:prstGeom prst="rect">
            <a:avLst/>
          </a:prstGeom>
        </p:spPr>
        <p:txBody>
          <a:bodyPr wrap="square">
            <a:spAutoFit/>
          </a:bodyPr>
          <a:lstStyle/>
          <a:p>
            <a:pPr marL="342900" indent="-342900">
              <a:spcAft>
                <a:spcPts val="600"/>
              </a:spcAf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金属材料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铝板</a:t>
            </a:r>
            <a:r>
              <a:rPr lang="en-US" altLang="zh-C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矩形 16">
            <a:extLst>
              <a:ext uri="{FF2B5EF4-FFF2-40B4-BE49-F238E27FC236}">
                <a16:creationId xmlns:a16="http://schemas.microsoft.com/office/drawing/2014/main" id="{E10C14C2-F8A0-008C-1558-7E8579E18854}"/>
              </a:ext>
            </a:extLst>
          </p:cNvPr>
          <p:cNvSpPr/>
          <p:nvPr/>
        </p:nvSpPr>
        <p:spPr>
          <a:xfrm>
            <a:off x="6324600" y="1469029"/>
            <a:ext cx="4524726" cy="369332"/>
          </a:xfrm>
          <a:prstGeom prst="rect">
            <a:avLst/>
          </a:prstGeom>
        </p:spPr>
        <p:txBody>
          <a:bodyPr wrap="square">
            <a:spAutoFit/>
          </a:bodyPr>
          <a:lstStyle/>
          <a:p>
            <a:pPr marL="342900" indent="-342900">
              <a:spcAft>
                <a:spcPts val="600"/>
              </a:spcAft>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rPr>
              <a:t>高分子材料 </a:t>
            </a:r>
            <a:r>
              <a:rPr lang="en-US" altLang="zh-CN" dirty="0">
                <a:latin typeface="Times New Roman" panose="02020603050405020304" pitchFamily="18" charset="0"/>
                <a:cs typeface="Times New Roman" panose="02020603050405020304" pitchFamily="18" charset="0"/>
              </a:rPr>
              <a:t>(PP</a:t>
            </a:r>
            <a:r>
              <a:rPr lang="zh-CN" altLang="en-US" dirty="0">
                <a:latin typeface="Times New Roman" panose="02020603050405020304" pitchFamily="18" charset="0"/>
                <a:cs typeface="Times New Roman" panose="02020603050405020304" pitchFamily="18" charset="0"/>
              </a:rPr>
              <a:t>板</a:t>
            </a:r>
            <a:r>
              <a:rPr lang="en-US" altLang="zh-C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74833D02-8BCB-3316-4B7F-AC895A711FE1}"/>
              </a:ext>
            </a:extLst>
          </p:cNvPr>
          <p:cNvSpPr/>
          <p:nvPr/>
        </p:nvSpPr>
        <p:spPr>
          <a:xfrm>
            <a:off x="6891553" y="5239486"/>
            <a:ext cx="5532004" cy="1338828"/>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传热效率在可以接受的范围内</a:t>
            </a:r>
            <a:endParaRPr lang="en-HK" altLang="zh-CN" sz="1600"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与金属芯体相比不易结垢，对水质的要求较低</a:t>
            </a:r>
            <a:endParaRPr lang="en-HK" altLang="zh-CN" sz="1600"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使用寿命更长</a:t>
            </a:r>
            <a:endParaRPr lang="en-US" altLang="zh-CN" sz="1600"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ü"/>
            </a:pPr>
            <a:endParaRPr lang="en-HK" altLang="zh-CN" dirty="0">
              <a:latin typeface="Times New Roman" panose="02020603050405020304" pitchFamily="18" charset="0"/>
              <a:cs typeface="Times New Roman" panose="02020603050405020304" pitchFamily="18" charset="0"/>
            </a:endParaRPr>
          </a:p>
        </p:txBody>
      </p:sp>
      <p:sp>
        <p:nvSpPr>
          <p:cNvPr id="19" name="矩形 18">
            <a:extLst>
              <a:ext uri="{FF2B5EF4-FFF2-40B4-BE49-F238E27FC236}">
                <a16:creationId xmlns:a16="http://schemas.microsoft.com/office/drawing/2014/main" id="{9E397B61-65BB-FB14-1230-7D9FA0B96DFC}"/>
              </a:ext>
            </a:extLst>
          </p:cNvPr>
          <p:cNvSpPr/>
          <p:nvPr/>
        </p:nvSpPr>
        <p:spPr>
          <a:xfrm>
            <a:off x="1502813" y="5177351"/>
            <a:ext cx="3589335" cy="1067665"/>
          </a:xfrm>
          <a:prstGeom prst="rect">
            <a:avLst/>
          </a:prstGeom>
        </p:spPr>
        <p:txBody>
          <a:bodyPr wrap="square">
            <a:spAutoFit/>
          </a:bodyPr>
          <a:lstStyle/>
          <a:p>
            <a:pPr marL="342900" indent="-342900">
              <a:lnSpc>
                <a:spcPts val="2200"/>
              </a:lnSpc>
              <a:spcAft>
                <a:spcPts val="600"/>
              </a:spcAft>
              <a:buFont typeface="Wingdings" panose="05000000000000000000" pitchFamily="2" charset="2"/>
              <a:buChar char="ü"/>
            </a:pPr>
            <a:r>
              <a:rPr lang="zh-CN" altLang="en-US" sz="1600" b="1" dirty="0">
                <a:solidFill>
                  <a:srgbClr val="C00000"/>
                </a:solidFill>
                <a:latin typeface="Times New Roman" panose="02020603050405020304" pitchFamily="18" charset="0"/>
                <a:cs typeface="Times New Roman" panose="02020603050405020304" pitchFamily="18" charset="0"/>
              </a:rPr>
              <a:t>传热效率</a:t>
            </a:r>
            <a:r>
              <a:rPr lang="zh-CN" altLang="en-US" sz="1600" dirty="0">
                <a:latin typeface="Times New Roman" panose="02020603050405020304" pitchFamily="18" charset="0"/>
                <a:cs typeface="Times New Roman" panose="02020603050405020304" pitchFamily="18" charset="0"/>
              </a:rPr>
              <a:t>更好</a:t>
            </a:r>
            <a:r>
              <a:rPr lang="en-HK" altLang="zh-CN" sz="1600" dirty="0">
                <a:latin typeface="Times New Roman" panose="02020603050405020304" pitchFamily="18" charset="0"/>
                <a:cs typeface="Times New Roman" panose="02020603050405020304" pitchFamily="18" charset="0"/>
              </a:rPr>
              <a:t>,</a:t>
            </a:r>
          </a:p>
          <a:p>
            <a:pPr marL="285750" indent="-285750">
              <a:lnSpc>
                <a:spcPts val="2200"/>
              </a:lnSpc>
              <a:spcAft>
                <a:spcPts val="600"/>
              </a:spcAft>
              <a:buClr>
                <a:srgbClr val="FF0000"/>
              </a:buClr>
              <a:buFont typeface="Times New Roman" panose="02020603050405020304" pitchFamily="18" charset="0"/>
              <a:buChar char="×"/>
            </a:pPr>
            <a:r>
              <a:rPr lang="zh-CN" altLang="en-US" sz="1600" dirty="0">
                <a:latin typeface="Times New Roman" panose="02020603050405020304" pitchFamily="18" charset="0"/>
                <a:cs typeface="Times New Roman" panose="02020603050405020304" pitchFamily="18" charset="0"/>
              </a:rPr>
              <a:t>但在较小风量时优势不明显</a:t>
            </a:r>
            <a:endParaRPr lang="en-HK" altLang="zh-CN" sz="1600" dirty="0">
              <a:latin typeface="Times New Roman" panose="02020603050405020304" pitchFamily="18" charset="0"/>
              <a:cs typeface="Times New Roman" panose="02020603050405020304" pitchFamily="18" charset="0"/>
            </a:endParaRPr>
          </a:p>
          <a:p>
            <a:pPr marL="285750" indent="-285750">
              <a:lnSpc>
                <a:spcPts val="2200"/>
              </a:lnSpc>
              <a:spcAft>
                <a:spcPts val="600"/>
              </a:spcAft>
              <a:buClr>
                <a:srgbClr val="FF0000"/>
              </a:buClr>
              <a:buFont typeface="Times New Roman" panose="02020603050405020304" pitchFamily="18" charset="0"/>
              <a:buChar char="×"/>
            </a:pPr>
            <a:r>
              <a:rPr lang="zh-CN" altLang="en-US" sz="1600" dirty="0">
                <a:latin typeface="Times New Roman" panose="02020603050405020304" pitchFamily="18" charset="0"/>
                <a:cs typeface="Times New Roman" panose="02020603050405020304" pitchFamily="18" charset="0"/>
              </a:rPr>
              <a:t>对水质要求较高，易结垢</a:t>
            </a:r>
            <a:endParaRPr lang="en-US" sz="1600" dirty="0">
              <a:latin typeface="Times New Roman" panose="02020603050405020304" pitchFamily="18" charset="0"/>
              <a:cs typeface="Times New Roman" panose="02020603050405020304" pitchFamily="18" charset="0"/>
            </a:endParaRPr>
          </a:p>
        </p:txBody>
      </p:sp>
      <p:cxnSp>
        <p:nvCxnSpPr>
          <p:cNvPr id="13" name="直接连接符 12">
            <a:extLst>
              <a:ext uri="{FF2B5EF4-FFF2-40B4-BE49-F238E27FC236}">
                <a16:creationId xmlns:a16="http://schemas.microsoft.com/office/drawing/2014/main" id="{048A75BD-5669-8304-2707-D178CDAF00A9}"/>
              </a:ext>
            </a:extLst>
          </p:cNvPr>
          <p:cNvCxnSpPr>
            <a:cxnSpLocks/>
          </p:cNvCxnSpPr>
          <p:nvPr/>
        </p:nvCxnSpPr>
        <p:spPr bwMode="auto">
          <a:xfrm>
            <a:off x="6079509" y="1463177"/>
            <a:ext cx="0" cy="5260896"/>
          </a:xfrm>
          <a:prstGeom prst="line">
            <a:avLst/>
          </a:prstGeom>
          <a:noFill/>
          <a:ln w="19050" cap="flat" cmpd="sng" algn="ctr">
            <a:solidFill>
              <a:srgbClr val="C00000"/>
            </a:solidFill>
            <a:prstDash val="dash"/>
            <a:round/>
            <a:headEnd type="none" w="med" len="med"/>
            <a:tailEnd type="none" w="med" len="med"/>
          </a:ln>
          <a:effectLst/>
        </p:spPr>
      </p:cxnSp>
      <p:sp>
        <p:nvSpPr>
          <p:cNvPr id="24" name="椭圆 23">
            <a:extLst>
              <a:ext uri="{FF2B5EF4-FFF2-40B4-BE49-F238E27FC236}">
                <a16:creationId xmlns:a16="http://schemas.microsoft.com/office/drawing/2014/main" id="{08976F5D-1DBC-BED3-4E68-B6A63FC28568}"/>
              </a:ext>
            </a:extLst>
          </p:cNvPr>
          <p:cNvSpPr/>
          <p:nvPr/>
        </p:nvSpPr>
        <p:spPr bwMode="auto">
          <a:xfrm rot="20403329">
            <a:off x="9466340" y="3600803"/>
            <a:ext cx="1601708" cy="1134786"/>
          </a:xfrm>
          <a:prstGeom prst="ellips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28" name="矩形 27">
            <a:extLst>
              <a:ext uri="{FF2B5EF4-FFF2-40B4-BE49-F238E27FC236}">
                <a16:creationId xmlns:a16="http://schemas.microsoft.com/office/drawing/2014/main" id="{E21BC9AA-79C3-D528-BE85-E6411A781300}"/>
              </a:ext>
            </a:extLst>
          </p:cNvPr>
          <p:cNvSpPr/>
          <p:nvPr/>
        </p:nvSpPr>
        <p:spPr>
          <a:xfrm rot="20547111">
            <a:off x="9623114" y="3837282"/>
            <a:ext cx="1460922" cy="584775"/>
          </a:xfrm>
          <a:prstGeom prst="rect">
            <a:avLst/>
          </a:prstGeom>
        </p:spPr>
        <p:txBody>
          <a:bodyPr wrap="square">
            <a:spAutoFit/>
          </a:bodyPr>
          <a:lstStyle/>
          <a:p>
            <a:pPr>
              <a:spcAft>
                <a:spcPts val="600"/>
              </a:spcAft>
            </a:pPr>
            <a:r>
              <a:rPr lang="en-US" altLang="zh-CN" sz="3200" b="1" i="1" dirty="0">
                <a:solidFill>
                  <a:srgbClr val="C00000"/>
                </a:solidFill>
                <a:latin typeface="Times New Roman" panose="02020603050405020304" pitchFamily="18" charset="0"/>
                <a:cs typeface="Times New Roman" panose="02020603050405020304" pitchFamily="18" charset="0"/>
              </a:rPr>
              <a:t>Accept</a:t>
            </a:r>
            <a:endParaRPr lang="en-US" sz="3200" b="1" i="1" dirty="0">
              <a:solidFill>
                <a:srgbClr val="C00000"/>
              </a:solidFill>
              <a:latin typeface="Times New Roman" panose="02020603050405020304" pitchFamily="18" charset="0"/>
              <a:cs typeface="Times New Roman" panose="02020603050405020304" pitchFamily="18" charset="0"/>
            </a:endParaRPr>
          </a:p>
        </p:txBody>
      </p:sp>
      <p:sp>
        <p:nvSpPr>
          <p:cNvPr id="29" name="灯片编号占位符 1">
            <a:extLst>
              <a:ext uri="{FF2B5EF4-FFF2-40B4-BE49-F238E27FC236}">
                <a16:creationId xmlns:a16="http://schemas.microsoft.com/office/drawing/2014/main" id="{AAA099B6-0D8E-1D47-5F76-C7C8A08D1FFC}"/>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7</a:t>
            </a:fld>
            <a:endParaRPr lang="en-US" altLang="zh-CN" dirty="0"/>
          </a:p>
        </p:txBody>
      </p:sp>
      <p:sp>
        <p:nvSpPr>
          <p:cNvPr id="14" name="矩形 13">
            <a:extLst>
              <a:ext uri="{FF2B5EF4-FFF2-40B4-BE49-F238E27FC236}">
                <a16:creationId xmlns:a16="http://schemas.microsoft.com/office/drawing/2014/main" id="{054CBB6D-A979-3FE0-414D-9FF51A8E70EF}"/>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1. 研究背景与芯体设计</a:t>
            </a:r>
          </a:p>
        </p:txBody>
      </p:sp>
    </p:spTree>
    <p:extLst>
      <p:ext uri="{BB962C8B-B14F-4D97-AF65-F5344CB8AC3E}">
        <p14:creationId xmlns:p14="http://schemas.microsoft.com/office/powerpoint/2010/main" val="360541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A2EE-3A62-F597-9B49-6A724DB919D0}"/>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6128B050-CB66-C746-74E1-E7B06C57D669}"/>
              </a:ext>
            </a:extLst>
          </p:cNvPr>
          <p:cNvPicPr>
            <a:picLocks noChangeAspect="1"/>
          </p:cNvPicPr>
          <p:nvPr/>
        </p:nvPicPr>
        <p:blipFill rotWithShape="1">
          <a:blip r:embed="rId2">
            <a:extLst>
              <a:ext uri="{28A0092B-C50C-407E-A947-70E740481C1C}">
                <a14:useLocalDpi xmlns:a14="http://schemas.microsoft.com/office/drawing/2010/main" val="0"/>
              </a:ext>
            </a:extLst>
          </a:blip>
          <a:srcRect t="56944"/>
          <a:stretch/>
        </p:blipFill>
        <p:spPr>
          <a:xfrm>
            <a:off x="221064" y="3958788"/>
            <a:ext cx="11970936" cy="2899211"/>
          </a:xfrm>
          <a:prstGeom prst="rect">
            <a:avLst/>
          </a:prstGeom>
        </p:spPr>
      </p:pic>
      <p:sp>
        <p:nvSpPr>
          <p:cNvPr id="8" name="Content Placeholder 2">
            <a:extLst>
              <a:ext uri="{FF2B5EF4-FFF2-40B4-BE49-F238E27FC236}">
                <a16:creationId xmlns:a16="http://schemas.microsoft.com/office/drawing/2014/main" id="{92891ABB-C8C1-2F48-6BF9-5A9312AADBC7}"/>
              </a:ext>
            </a:extLst>
          </p:cNvPr>
          <p:cNvSpPr>
            <a:spLocks noGrp="1"/>
          </p:cNvSpPr>
          <p:nvPr>
            <p:ph idx="1"/>
          </p:nvPr>
        </p:nvSpPr>
        <p:spPr>
          <a:xfrm>
            <a:off x="551339" y="897890"/>
            <a:ext cx="11089321" cy="4217714"/>
          </a:xfrm>
        </p:spPr>
        <p:txBody>
          <a:bodyPr>
            <a:normAutofit/>
          </a:bodyPr>
          <a:lstStyle/>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研究背景与芯体设计</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rgbClr val="C00000"/>
                </a:solidFill>
                <a:latin typeface="Times New Roman" panose="02020603050405020304" pitchFamily="18" charset="0"/>
                <a:cs typeface="Times New Roman" panose="02020603050405020304" pitchFamily="18" charset="0"/>
                <a:ea typeface="Microsoft YaHei"/>
              </a:rPr>
              <a:t>数值建模与模型验证</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模拟结果与性能分析</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工程应用与节能经济性</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研究结论</a:t>
            </a:r>
          </a:p>
        </p:txBody>
      </p:sp>
      <p:sp>
        <p:nvSpPr>
          <p:cNvPr id="9" name="矩形 8">
            <a:extLst>
              <a:ext uri="{FF2B5EF4-FFF2-40B4-BE49-F238E27FC236}">
                <a16:creationId xmlns:a16="http://schemas.microsoft.com/office/drawing/2014/main" id="{DE68E04B-2854-D139-B8C4-261EB2A23A7A}"/>
              </a:ext>
            </a:extLst>
          </p:cNvPr>
          <p:cNvSpPr/>
          <p:nvPr/>
        </p:nvSpPr>
        <p:spPr>
          <a:xfrm>
            <a:off x="1175657" y="132304"/>
            <a:ext cx="5374817"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报告提纲</a:t>
            </a:r>
          </a:p>
        </p:txBody>
      </p:sp>
      <p:sp>
        <p:nvSpPr>
          <p:cNvPr id="10" name="灯片编号占位符 1">
            <a:extLst>
              <a:ext uri="{FF2B5EF4-FFF2-40B4-BE49-F238E27FC236}">
                <a16:creationId xmlns:a16="http://schemas.microsoft.com/office/drawing/2014/main" id="{CE14124B-AD58-0F44-861A-0D05268A01C9}"/>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8</a:t>
            </a:fld>
            <a:endParaRPr lang="en-US" altLang="zh-CN" dirty="0"/>
          </a:p>
        </p:txBody>
      </p:sp>
      <p:pic>
        <p:nvPicPr>
          <p:cNvPr id="3" name="图片 2">
            <a:extLst>
              <a:ext uri="{FF2B5EF4-FFF2-40B4-BE49-F238E27FC236}">
                <a16:creationId xmlns:a16="http://schemas.microsoft.com/office/drawing/2014/main" id="{6E94E02A-54EA-45AC-80D5-A5DB94B07563}"/>
              </a:ext>
            </a:extLst>
          </p:cNvPr>
          <p:cNvPicPr>
            <a:picLocks noChangeAspect="1"/>
          </p:cNvPicPr>
          <p:nvPr/>
        </p:nvPicPr>
        <p:blipFill>
          <a:blip r:embed="rId3"/>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3161319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F7A9-BAE3-0556-B282-E4ED7E67D29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D0365E34-0602-3534-DB26-35BF8A51EF5C}"/>
              </a:ext>
            </a:extLst>
          </p:cNvPr>
          <p:cNvSpPr txBox="1"/>
          <p:nvPr/>
        </p:nvSpPr>
        <p:spPr>
          <a:xfrm>
            <a:off x="386754" y="935893"/>
            <a:ext cx="6867071" cy="369332"/>
          </a:xfrm>
          <a:prstGeom prst="rect">
            <a:avLst/>
          </a:prstGeom>
          <a:noFill/>
        </p:spPr>
        <p:txBody>
          <a:bodyPr wrap="square" rtlCol="0">
            <a:spAutoFit/>
          </a:bodyPr>
          <a:lstStyle/>
          <a:p>
            <a:pPr defTabSz="457200"/>
            <a:r>
              <a:rPr lang="en-HK" sz="1800" b="1" dirty="0">
                <a:solidFill>
                  <a:prstClr val="black"/>
                </a:solidFill>
                <a:latin typeface="Times New Roman" panose="02020603050405020304" pitchFamily="18" charset="0"/>
                <a:ea typeface="+mn-ea"/>
                <a:cs typeface="Times New Roman" panose="02020603050405020304" pitchFamily="18" charset="0"/>
              </a:rPr>
              <a:t>2.1 FDM model set up </a:t>
            </a:r>
            <a:r>
              <a:rPr lang="zh-CN" altLang="zh-CN" b="1" dirty="0">
                <a:latin typeface="宋体" panose="02010600030101010101" pitchFamily="2" charset="-122"/>
                <a:ea typeface="宋体" panose="02010600030101010101" pitchFamily="2" charset="-122"/>
              </a:rPr>
              <a:t>有限差分法</a:t>
            </a:r>
            <a:r>
              <a:rPr lang="zh-CN" altLang="en-US" b="1" dirty="0">
                <a:latin typeface="宋体" panose="02010600030101010101" pitchFamily="2" charset="-122"/>
                <a:ea typeface="宋体" panose="02010600030101010101" pitchFamily="2" charset="-122"/>
              </a:rPr>
              <a:t>的模型建立</a:t>
            </a:r>
            <a:endParaRPr lang="en-HK" sz="1800" b="1"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AFF575E-10AF-E366-0B21-8D5A0C575BF3}"/>
              </a:ext>
            </a:extLst>
          </p:cNvPr>
          <p:cNvSpPr>
            <a:spLocks noGrp="1"/>
          </p:cNvSpPr>
          <p:nvPr>
            <p:ph type="sldNum" sz="quarter" idx="12"/>
          </p:nvPr>
        </p:nvSpPr>
        <p:spPr/>
        <p:txBody>
          <a:bodyPr/>
          <a:lstStyle/>
          <a:p>
            <a:pPr>
              <a:defRPr/>
            </a:pPr>
            <a:fld id="{15884886-3D85-4AFD-9D94-33E4AF7428DD}" type="slidenum">
              <a:rPr lang="en-US" altLang="zh-CN" smtClean="0"/>
              <a:pPr>
                <a:defRPr/>
              </a:pPr>
              <a:t>9</a:t>
            </a:fld>
            <a:endParaRPr lang="en-US" altLang="zh-CN"/>
          </a:p>
        </p:txBody>
      </p:sp>
      <p:sp>
        <p:nvSpPr>
          <p:cNvPr id="2" name="Title 8">
            <a:extLst>
              <a:ext uri="{FF2B5EF4-FFF2-40B4-BE49-F238E27FC236}">
                <a16:creationId xmlns:a16="http://schemas.microsoft.com/office/drawing/2014/main" id="{7B8B281F-670A-D382-F07E-3CC5E4CE7C90}"/>
              </a:ext>
            </a:extLst>
          </p:cNvPr>
          <p:cNvSpPr txBox="1">
            <a:spLocks/>
          </p:cNvSpPr>
          <p:nvPr/>
        </p:nvSpPr>
        <p:spPr bwMode="auto">
          <a:xfrm>
            <a:off x="1124759" y="219480"/>
            <a:ext cx="4199747"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2. 数值建模与模型验证</a:t>
            </a:r>
          </a:p>
        </p:txBody>
      </p:sp>
      <p:pic>
        <p:nvPicPr>
          <p:cNvPr id="5" name="图片 4">
            <a:extLst>
              <a:ext uri="{FF2B5EF4-FFF2-40B4-BE49-F238E27FC236}">
                <a16:creationId xmlns:a16="http://schemas.microsoft.com/office/drawing/2014/main" id="{80701E2D-9C2E-4F94-2730-F072643F36B4}"/>
              </a:ext>
            </a:extLst>
          </p:cNvPr>
          <p:cNvPicPr>
            <a:picLocks noChangeAspect="1"/>
          </p:cNvPicPr>
          <p:nvPr/>
        </p:nvPicPr>
        <p:blipFill>
          <a:blip r:embed="rId3"/>
          <a:stretch>
            <a:fillRect/>
          </a:stretch>
        </p:blipFill>
        <p:spPr>
          <a:xfrm>
            <a:off x="2663463" y="1305225"/>
            <a:ext cx="6427795" cy="3674857"/>
          </a:xfrm>
          <a:prstGeom prst="rect">
            <a:avLst/>
          </a:prstGeom>
        </p:spPr>
      </p:pic>
      <p:sp>
        <p:nvSpPr>
          <p:cNvPr id="6" name="文本框 5">
            <a:extLst>
              <a:ext uri="{FF2B5EF4-FFF2-40B4-BE49-F238E27FC236}">
                <a16:creationId xmlns:a16="http://schemas.microsoft.com/office/drawing/2014/main" id="{4E2DEB62-7A2F-18FD-8E6A-2B404636FD6C}"/>
              </a:ext>
            </a:extLst>
          </p:cNvPr>
          <p:cNvSpPr txBox="1"/>
          <p:nvPr/>
        </p:nvSpPr>
        <p:spPr>
          <a:xfrm>
            <a:off x="958725" y="5216116"/>
            <a:ext cx="10396568" cy="1231106"/>
          </a:xfrm>
          <a:prstGeom prst="rect">
            <a:avLst/>
          </a:prstGeom>
          <a:noFill/>
        </p:spPr>
        <p:txBody>
          <a:bodyPr wrap="square" rtlCol="0">
            <a:spAutoFit/>
          </a:bodyPr>
          <a:lstStyle/>
          <a:p>
            <a:pPr marL="285750" indent="-285750" defTabSz="457200" eaLnBrk="1" fontAlgn="auto" hangingPunct="1">
              <a:spcBef>
                <a:spcPts val="0"/>
              </a:spcBef>
              <a:spcAft>
                <a:spcPts val="1200"/>
              </a:spcAft>
              <a:buFont typeface="Arial" panose="020B0604020202020204" pitchFamily="34" charset="0"/>
              <a:buChar char="•"/>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以往</a:t>
            </a:r>
            <a:r>
              <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IEC</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的数值模型通常假设换热器的</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壁面极薄</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，可忽略</a:t>
            </a:r>
            <a:r>
              <a:rPr lang="zh-CN" altLang="en-US" b="1" dirty="0">
                <a:latin typeface="Times New Roman" panose="02020603050405020304" pitchFamily="18" charset="0"/>
                <a:ea typeface="宋体" panose="02010600030101010101" pitchFamily="2" charset="-122"/>
                <a:cs typeface="Times New Roman" panose="02020603050405020304" pitchFamily="18" charset="0"/>
              </a:rPr>
              <a:t>热阻</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p>
          <a:p>
            <a:pPr marL="285750" indent="-285750" defTabSz="457200" eaLnBrk="1" fontAlgn="auto" hangingPunct="1">
              <a:spcBef>
                <a:spcPts val="0"/>
              </a:spcBef>
              <a:spcAft>
                <a:spcPts val="1200"/>
              </a:spcAft>
              <a:buFont typeface="Arial" panose="020B0604020202020204" pitchFamily="34" charset="0"/>
              <a:buChar char="•"/>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但在应用</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聚丙烯（</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PP</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材料时由于其特性，将</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热阻</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纳入</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传热系数</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可以获得更高的精度。</a:t>
            </a:r>
            <a:endParaRPr lang="en-US" altLang="zh-CN"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defTabSz="457200" eaLnBrk="1" fontAlgn="auto" hangingPunct="1">
              <a:spcBef>
                <a:spcPts val="0"/>
              </a:spcBef>
              <a:spcAft>
                <a:spcPts val="1200"/>
              </a:spcAft>
              <a:buFont typeface="Arial" panose="020B0604020202020204" pitchFamily="34" charset="0"/>
              <a:buChar char="•"/>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为</a:t>
            </a:r>
            <a:r>
              <a:rPr lang="zh-CN" altLang="en-US"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金属</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换热器与</a:t>
            </a:r>
            <a:r>
              <a:rPr lang="en-US" altLang="zh-CN"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PP</a:t>
            </a: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换热器之间的性能对比分析提供了理论依据。</a:t>
            </a:r>
            <a:endParaRPr lang="en-HK"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1" name="图片 10">
            <a:extLst>
              <a:ext uri="{FF2B5EF4-FFF2-40B4-BE49-F238E27FC236}">
                <a16:creationId xmlns:a16="http://schemas.microsoft.com/office/drawing/2014/main" id="{43247D7D-67B7-B001-0D8B-0ADBBB625289}"/>
              </a:ext>
            </a:extLst>
          </p:cNvPr>
          <p:cNvPicPr>
            <a:picLocks noChangeAspect="1"/>
          </p:cNvPicPr>
          <p:nvPr/>
        </p:nvPicPr>
        <p:blipFill>
          <a:blip r:embed="rId4"/>
          <a:stretch>
            <a:fillRect/>
          </a:stretch>
        </p:blipFill>
        <p:spPr>
          <a:xfrm>
            <a:off x="9206042" y="3429000"/>
            <a:ext cx="2121134" cy="533459"/>
          </a:xfrm>
          <a:prstGeom prst="rect">
            <a:avLst/>
          </a:prstGeom>
        </p:spPr>
      </p:pic>
      <p:sp>
        <p:nvSpPr>
          <p:cNvPr id="17" name="矩形 16">
            <a:extLst>
              <a:ext uri="{FF2B5EF4-FFF2-40B4-BE49-F238E27FC236}">
                <a16:creationId xmlns:a16="http://schemas.microsoft.com/office/drawing/2014/main" id="{3294541B-30BB-D23D-8D70-ADFC78C19EBF}"/>
              </a:ext>
            </a:extLst>
          </p:cNvPr>
          <p:cNvSpPr/>
          <p:nvPr/>
        </p:nvSpPr>
        <p:spPr>
          <a:xfrm>
            <a:off x="4262363" y="4875666"/>
            <a:ext cx="3596306" cy="492443"/>
          </a:xfrm>
          <a:prstGeom prst="rect">
            <a:avLst/>
          </a:prstGeom>
        </p:spPr>
        <p:txBody>
          <a:bodyPr wrap="none">
            <a:spAutoFit/>
          </a:bodyPr>
          <a:lstStyle/>
          <a:p>
            <a:pPr defTabSz="457200" eaLnBrk="1" fontAlgn="auto" hangingPunct="1">
              <a:spcBef>
                <a:spcPts val="0"/>
              </a:spcBef>
              <a:spcAft>
                <a:spcPts val="0"/>
              </a:spcAft>
            </a:pPr>
            <a:r>
              <a:rPr lang="en-HK" sz="1200" b="1" dirty="0">
                <a:solidFill>
                  <a:prstClr val="black"/>
                </a:solidFill>
                <a:latin typeface="Times New Roman" panose="02020603050405020304" pitchFamily="18" charset="0"/>
                <a:ea typeface="+mn-ea"/>
                <a:cs typeface="Times New Roman" panose="02020603050405020304" pitchFamily="18" charset="0"/>
              </a:rPr>
              <a:t>Fig. 3.1 </a:t>
            </a:r>
            <a:r>
              <a:rPr lang="en-HK" sz="1200" dirty="0">
                <a:solidFill>
                  <a:prstClr val="black"/>
                </a:solidFill>
                <a:latin typeface="Times New Roman" panose="02020603050405020304" pitchFamily="18" charset="0"/>
                <a:ea typeface="+mn-ea"/>
                <a:cs typeface="Times New Roman" panose="02020603050405020304" pitchFamily="18" charset="0"/>
              </a:rPr>
              <a:t>System diagram of an IEC for energy recovery</a:t>
            </a:r>
          </a:p>
          <a:p>
            <a:pPr defTabSz="457200" eaLnBrk="1" fontAlgn="auto" hangingPunct="1">
              <a:spcBef>
                <a:spcPts val="0"/>
              </a:spcBef>
              <a:spcAft>
                <a:spcPts val="0"/>
              </a:spcAft>
            </a:pPr>
            <a:endParaRPr lang="en-HK" sz="1400" dirty="0">
              <a:solidFill>
                <a:prstClr val="black"/>
              </a:solidFill>
              <a:latin typeface="Arial" panose="020B0604020202020204" pitchFamily="34" charset="0"/>
              <a:ea typeface="+mn-ea"/>
              <a:cs typeface="Arial" panose="020B0604020202020204" pitchFamily="34" charset="0"/>
            </a:endParaRPr>
          </a:p>
        </p:txBody>
      </p:sp>
      <p:sp>
        <p:nvSpPr>
          <p:cNvPr id="12" name="矩形 11">
            <a:extLst>
              <a:ext uri="{FF2B5EF4-FFF2-40B4-BE49-F238E27FC236}">
                <a16:creationId xmlns:a16="http://schemas.microsoft.com/office/drawing/2014/main" id="{95F2C598-1E9C-EF76-3BCB-C56B6B57D0A4}"/>
              </a:ext>
            </a:extLst>
          </p:cNvPr>
          <p:cNvSpPr/>
          <p:nvPr/>
        </p:nvSpPr>
        <p:spPr bwMode="auto">
          <a:xfrm>
            <a:off x="10363426" y="3230063"/>
            <a:ext cx="451555" cy="869245"/>
          </a:xfrm>
          <a:prstGeom prst="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9" name="文本框 8">
            <a:extLst>
              <a:ext uri="{FF2B5EF4-FFF2-40B4-BE49-F238E27FC236}">
                <a16:creationId xmlns:a16="http://schemas.microsoft.com/office/drawing/2014/main" id="{06DD679E-29E3-A21D-7420-954A43741F38}"/>
              </a:ext>
            </a:extLst>
          </p:cNvPr>
          <p:cNvSpPr txBox="1"/>
          <p:nvPr/>
        </p:nvSpPr>
        <p:spPr>
          <a:xfrm>
            <a:off x="9842296" y="2761263"/>
            <a:ext cx="1214868" cy="369332"/>
          </a:xfrm>
          <a:prstGeom prst="rect">
            <a:avLst/>
          </a:prstGeom>
          <a:noFill/>
        </p:spPr>
        <p:txBody>
          <a:bodyPr wrap="square">
            <a:spAutoFit/>
          </a:bodyPr>
          <a:lstStyle/>
          <a:p>
            <a:r>
              <a:rPr lang="zh-CN" altLang="en-US" b="1" dirty="0">
                <a:latin typeface="宋体" panose="02010600030101010101" pitchFamily="2" charset="-122"/>
                <a:ea typeface="宋体" panose="02010600030101010101" pitchFamily="2" charset="-122"/>
              </a:rPr>
              <a:t>传热系数</a:t>
            </a:r>
          </a:p>
        </p:txBody>
      </p:sp>
      <p:sp>
        <p:nvSpPr>
          <p:cNvPr id="10" name="矩形 9">
            <a:extLst>
              <a:ext uri="{FF2B5EF4-FFF2-40B4-BE49-F238E27FC236}">
                <a16:creationId xmlns:a16="http://schemas.microsoft.com/office/drawing/2014/main" id="{ACD6C161-3786-7016-FB48-5117211BDFDD}"/>
              </a:ext>
            </a:extLst>
          </p:cNvPr>
          <p:cNvSpPr/>
          <p:nvPr/>
        </p:nvSpPr>
        <p:spPr bwMode="auto">
          <a:xfrm>
            <a:off x="9206041" y="2634199"/>
            <a:ext cx="2390489" cy="1737965"/>
          </a:xfrm>
          <a:prstGeom prst="rect">
            <a:avLst/>
          </a:prstGeom>
          <a:noFill/>
          <a:ln w="19050" cap="flat" cmpd="sng" algn="ctr">
            <a:solidFill>
              <a:schemeClr val="tx1"/>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14" name="矩形 13">
            <a:extLst>
              <a:ext uri="{FF2B5EF4-FFF2-40B4-BE49-F238E27FC236}">
                <a16:creationId xmlns:a16="http://schemas.microsoft.com/office/drawing/2014/main" id="{BAF3FCA1-E832-8C30-873A-58A28F51E2EA}"/>
              </a:ext>
            </a:extLst>
          </p:cNvPr>
          <p:cNvSpPr/>
          <p:nvPr/>
        </p:nvSpPr>
        <p:spPr bwMode="auto">
          <a:xfrm>
            <a:off x="6951862" y="5216116"/>
            <a:ext cx="593452" cy="406489"/>
          </a:xfrm>
          <a:prstGeom prst="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cxnSp>
        <p:nvCxnSpPr>
          <p:cNvPr id="16" name="直接箭头连接符 15">
            <a:extLst>
              <a:ext uri="{FF2B5EF4-FFF2-40B4-BE49-F238E27FC236}">
                <a16:creationId xmlns:a16="http://schemas.microsoft.com/office/drawing/2014/main" id="{36075707-8B77-5C7F-48C0-58DA1E0BB774}"/>
              </a:ext>
            </a:extLst>
          </p:cNvPr>
          <p:cNvCxnSpPr>
            <a:stCxn id="14" idx="3"/>
            <a:endCxn id="12" idx="2"/>
          </p:cNvCxnSpPr>
          <p:nvPr/>
        </p:nvCxnSpPr>
        <p:spPr bwMode="auto">
          <a:xfrm flipV="1">
            <a:off x="7545314" y="4099308"/>
            <a:ext cx="3043890" cy="1320053"/>
          </a:xfrm>
          <a:prstGeom prst="straightConnector1">
            <a:avLst/>
          </a:prstGeom>
          <a:noFill/>
          <a:ln w="127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1550646041"/>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249F2-8C0E-998E-2EEE-BB001C9F8A5E}"/>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5F77C688-8D05-5DB6-D3B4-92DF99A12850}"/>
              </a:ext>
            </a:extLst>
          </p:cNvPr>
          <p:cNvSpPr txBox="1"/>
          <p:nvPr/>
        </p:nvSpPr>
        <p:spPr>
          <a:xfrm>
            <a:off x="386754" y="935893"/>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800" b="1" dirty="0">
                <a:solidFill>
                  <a:prstClr val="black"/>
                </a:solidFill>
                <a:latin typeface="Times New Roman" panose="02020603050405020304" pitchFamily="18" charset="0"/>
                <a:ea typeface="+mn-ea"/>
                <a:cs typeface="Times New Roman" panose="02020603050405020304" pitchFamily="18" charset="0"/>
              </a:rPr>
              <a:t>2.2 Model </a:t>
            </a:r>
            <a:r>
              <a:rPr lang="en-US" altLang="zh-CN" sz="1800" b="1" dirty="0">
                <a:solidFill>
                  <a:prstClr val="black"/>
                </a:solidFill>
                <a:latin typeface="Times New Roman" panose="02020603050405020304" pitchFamily="18" charset="0"/>
                <a:ea typeface="+mn-ea"/>
                <a:cs typeface="Times New Roman" panose="02020603050405020304" pitchFamily="18" charset="0"/>
              </a:rPr>
              <a:t>validation </a:t>
            </a:r>
            <a:r>
              <a:rPr lang="zh-CN" altLang="en-US" sz="1800" b="1" dirty="0">
                <a:solidFill>
                  <a:prstClr val="black"/>
                </a:solidFill>
                <a:latin typeface="Times New Roman" panose="02020603050405020304" pitchFamily="18" charset="0"/>
                <a:ea typeface="+mn-ea"/>
                <a:cs typeface="Times New Roman" panose="02020603050405020304" pitchFamily="18" charset="0"/>
              </a:rPr>
              <a:t>模型验证</a:t>
            </a:r>
            <a:endParaRPr lang="en-HK" sz="1800" b="1"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8DEBB05-3EB2-C1B7-D76E-64EB015A6844}"/>
              </a:ext>
            </a:extLst>
          </p:cNvPr>
          <p:cNvSpPr>
            <a:spLocks noGrp="1"/>
          </p:cNvSpPr>
          <p:nvPr>
            <p:ph type="sldNum" sz="quarter" idx="12"/>
          </p:nvPr>
        </p:nvSpPr>
        <p:spPr/>
        <p:txBody>
          <a:bodyPr/>
          <a:lstStyle/>
          <a:p>
            <a:pPr>
              <a:defRPr/>
            </a:pPr>
            <a:fld id="{15884886-3D85-4AFD-9D94-33E4AF7428DD}" type="slidenum">
              <a:rPr lang="en-US" altLang="zh-CN" smtClean="0"/>
              <a:pPr>
                <a:defRPr/>
              </a:pPr>
              <a:t>10</a:t>
            </a:fld>
            <a:endParaRPr lang="en-US" altLang="zh-CN" dirty="0"/>
          </a:p>
        </p:txBody>
      </p:sp>
      <p:sp>
        <p:nvSpPr>
          <p:cNvPr id="2" name="Title 8">
            <a:extLst>
              <a:ext uri="{FF2B5EF4-FFF2-40B4-BE49-F238E27FC236}">
                <a16:creationId xmlns:a16="http://schemas.microsoft.com/office/drawing/2014/main" id="{EB19A3DD-13FD-C1B5-60E1-0975E42B17A9}"/>
              </a:ext>
            </a:extLst>
          </p:cNvPr>
          <p:cNvSpPr txBox="1">
            <a:spLocks/>
          </p:cNvSpPr>
          <p:nvPr/>
        </p:nvSpPr>
        <p:spPr bwMode="auto">
          <a:xfrm>
            <a:off x="1124759" y="219480"/>
            <a:ext cx="4199747"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2. 数值建模与模型验证</a:t>
            </a:r>
          </a:p>
        </p:txBody>
      </p:sp>
      <p:pic>
        <p:nvPicPr>
          <p:cNvPr id="3" name="图片 2">
            <a:extLst>
              <a:ext uri="{FF2B5EF4-FFF2-40B4-BE49-F238E27FC236}">
                <a16:creationId xmlns:a16="http://schemas.microsoft.com/office/drawing/2014/main" id="{7907FBC4-6CD0-9028-F2E6-0DAB86767E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4800" y="1709253"/>
            <a:ext cx="4724400" cy="2078026"/>
          </a:xfrm>
          <a:prstGeom prst="rect">
            <a:avLst/>
          </a:prstGeom>
        </p:spPr>
      </p:pic>
      <p:pic>
        <p:nvPicPr>
          <p:cNvPr id="8" name="图片 7">
            <a:extLst>
              <a:ext uri="{FF2B5EF4-FFF2-40B4-BE49-F238E27FC236}">
                <a16:creationId xmlns:a16="http://schemas.microsoft.com/office/drawing/2014/main" id="{2DCB4B14-9D93-40B4-AFCA-E55AEC722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397" y="3940439"/>
            <a:ext cx="6476381" cy="2629392"/>
          </a:xfrm>
          <a:prstGeom prst="rect">
            <a:avLst/>
          </a:prstGeom>
        </p:spPr>
      </p:pic>
      <p:sp>
        <p:nvSpPr>
          <p:cNvPr id="10" name="矩形 9">
            <a:extLst>
              <a:ext uri="{FF2B5EF4-FFF2-40B4-BE49-F238E27FC236}">
                <a16:creationId xmlns:a16="http://schemas.microsoft.com/office/drawing/2014/main" id="{D90D4DBC-AD22-643D-479F-093D472C7F1A}"/>
              </a:ext>
            </a:extLst>
          </p:cNvPr>
          <p:cNvSpPr/>
          <p:nvPr/>
        </p:nvSpPr>
        <p:spPr bwMode="auto">
          <a:xfrm>
            <a:off x="703351" y="1551462"/>
            <a:ext cx="6550474" cy="5029959"/>
          </a:xfrm>
          <a:prstGeom prst="rect">
            <a:avLst/>
          </a:prstGeom>
          <a:noFill/>
          <a:ln>
            <a:solidFill>
              <a:srgbClr val="C0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cxnSp>
        <p:nvCxnSpPr>
          <p:cNvPr id="12" name="直接连接符 11">
            <a:extLst>
              <a:ext uri="{FF2B5EF4-FFF2-40B4-BE49-F238E27FC236}">
                <a16:creationId xmlns:a16="http://schemas.microsoft.com/office/drawing/2014/main" id="{E769BDDC-1B8F-89C0-49BB-A5B33A66491D}"/>
              </a:ext>
            </a:extLst>
          </p:cNvPr>
          <p:cNvCxnSpPr>
            <a:cxnSpLocks/>
          </p:cNvCxnSpPr>
          <p:nvPr/>
        </p:nvCxnSpPr>
        <p:spPr bwMode="auto">
          <a:xfrm>
            <a:off x="703350" y="3866918"/>
            <a:ext cx="6550474" cy="0"/>
          </a:xfrm>
          <a:prstGeom prst="line">
            <a:avLst/>
          </a:prstGeom>
          <a:ln w="28575">
            <a:solidFill>
              <a:srgbClr val="C00000"/>
            </a:solidFill>
            <a:prstDash val="dash"/>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4" name="文本框 13">
            <a:extLst>
              <a:ext uri="{FF2B5EF4-FFF2-40B4-BE49-F238E27FC236}">
                <a16:creationId xmlns:a16="http://schemas.microsoft.com/office/drawing/2014/main" id="{853F3E16-670C-AD63-9034-EEC875E84497}"/>
              </a:ext>
            </a:extLst>
          </p:cNvPr>
          <p:cNvSpPr txBox="1"/>
          <p:nvPr/>
        </p:nvSpPr>
        <p:spPr>
          <a:xfrm>
            <a:off x="7605898" y="5535580"/>
            <a:ext cx="4349036" cy="584775"/>
          </a:xfrm>
          <a:prstGeom prst="rect">
            <a:avLst/>
          </a:prstGeom>
          <a:noFill/>
        </p:spPr>
        <p:txBody>
          <a:bodyPr wrap="square">
            <a:spAutoFit/>
          </a:bodyPr>
          <a:lstStyle/>
          <a:p>
            <a:pPr marL="285750" indent="-285750">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模拟和实验值对比所得到的最大偏差不超过</a:t>
            </a:r>
            <a:r>
              <a:rPr lang="en-US" altLang="zh-CN" sz="1600" b="1" dirty="0">
                <a:solidFill>
                  <a:srgbClr val="C00000"/>
                </a:solidFill>
                <a:latin typeface="Times New Roman" panose="02020603050405020304" pitchFamily="18" charset="0"/>
                <a:cs typeface="Times New Roman" panose="02020603050405020304" pitchFamily="18" charset="0"/>
              </a:rPr>
              <a:t>7%</a:t>
            </a:r>
            <a:r>
              <a:rPr lang="zh-CN" altLang="en-US" sz="1600" dirty="0">
                <a:latin typeface="Times New Roman" panose="02020603050405020304" pitchFamily="18" charset="0"/>
                <a:cs typeface="Times New Roman" panose="02020603050405020304" pitchFamily="18" charset="0"/>
              </a:rPr>
              <a:t>，表明该模型具有很高的精度。</a:t>
            </a:r>
          </a:p>
        </p:txBody>
      </p:sp>
      <p:pic>
        <p:nvPicPr>
          <p:cNvPr id="5" name="图片 4">
            <a:extLst>
              <a:ext uri="{FF2B5EF4-FFF2-40B4-BE49-F238E27FC236}">
                <a16:creationId xmlns:a16="http://schemas.microsoft.com/office/drawing/2014/main" id="{5979E849-EC4F-1248-366B-782BF58EF9A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90745" y="2295580"/>
            <a:ext cx="4613360" cy="3240000"/>
          </a:xfrm>
          <a:prstGeom prst="rect">
            <a:avLst/>
          </a:prstGeom>
        </p:spPr>
      </p:pic>
      <p:pic>
        <p:nvPicPr>
          <p:cNvPr id="9" name="图片 8">
            <a:extLst>
              <a:ext uri="{FF2B5EF4-FFF2-40B4-BE49-F238E27FC236}">
                <a16:creationId xmlns:a16="http://schemas.microsoft.com/office/drawing/2014/main" id="{24E14B28-A23B-431C-325B-21C8662AE841}"/>
              </a:ext>
            </a:extLst>
          </p:cNvPr>
          <p:cNvPicPr>
            <a:picLocks noChangeAspect="1"/>
          </p:cNvPicPr>
          <p:nvPr/>
        </p:nvPicPr>
        <p:blipFill>
          <a:blip r:embed="rId6"/>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857356429"/>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EC279-0997-6A41-65D9-9A1D9C429219}"/>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F66CD959-19EB-62D7-35BB-7926E42A8202}"/>
              </a:ext>
            </a:extLst>
          </p:cNvPr>
          <p:cNvPicPr>
            <a:picLocks noChangeAspect="1"/>
          </p:cNvPicPr>
          <p:nvPr/>
        </p:nvPicPr>
        <p:blipFill rotWithShape="1">
          <a:blip r:embed="rId2">
            <a:extLst>
              <a:ext uri="{28A0092B-C50C-407E-A947-70E740481C1C}">
                <a14:useLocalDpi xmlns:a14="http://schemas.microsoft.com/office/drawing/2010/main" val="0"/>
              </a:ext>
            </a:extLst>
          </a:blip>
          <a:srcRect t="56944"/>
          <a:stretch/>
        </p:blipFill>
        <p:spPr>
          <a:xfrm>
            <a:off x="221064" y="3958788"/>
            <a:ext cx="11970936" cy="2899211"/>
          </a:xfrm>
          <a:prstGeom prst="rect">
            <a:avLst/>
          </a:prstGeom>
        </p:spPr>
      </p:pic>
      <p:sp>
        <p:nvSpPr>
          <p:cNvPr id="8" name="Content Placeholder 2">
            <a:extLst>
              <a:ext uri="{FF2B5EF4-FFF2-40B4-BE49-F238E27FC236}">
                <a16:creationId xmlns:a16="http://schemas.microsoft.com/office/drawing/2014/main" id="{72D5FE47-BC5E-D7A5-D763-5102118E33D8}"/>
              </a:ext>
            </a:extLst>
          </p:cNvPr>
          <p:cNvSpPr>
            <a:spLocks noGrp="1"/>
          </p:cNvSpPr>
          <p:nvPr>
            <p:ph idx="1"/>
          </p:nvPr>
        </p:nvSpPr>
        <p:spPr>
          <a:xfrm>
            <a:off x="551339" y="897890"/>
            <a:ext cx="11089321" cy="4217714"/>
          </a:xfrm>
        </p:spPr>
        <p:txBody>
          <a:bodyPr>
            <a:normAutofit/>
          </a:bodyPr>
          <a:lstStyle/>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研究背景与芯体设计</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数值建模与模型验证</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rgbClr val="C00000"/>
                </a:solidFill>
                <a:latin typeface="Times New Roman" panose="02020603050405020304" pitchFamily="18" charset="0"/>
                <a:cs typeface="Times New Roman" panose="02020603050405020304" pitchFamily="18" charset="0"/>
                <a:ea typeface="Microsoft YaHei"/>
              </a:rPr>
              <a:t>模拟结果与性能分析</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工程应用与节能经济性</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研究结论</a:t>
            </a:r>
          </a:p>
        </p:txBody>
      </p:sp>
      <p:sp>
        <p:nvSpPr>
          <p:cNvPr id="9" name="矩形 8">
            <a:extLst>
              <a:ext uri="{FF2B5EF4-FFF2-40B4-BE49-F238E27FC236}">
                <a16:creationId xmlns:a16="http://schemas.microsoft.com/office/drawing/2014/main" id="{1B8BB76D-BFB1-DEA5-3AFF-3478CD4DC88D}"/>
              </a:ext>
            </a:extLst>
          </p:cNvPr>
          <p:cNvSpPr/>
          <p:nvPr/>
        </p:nvSpPr>
        <p:spPr>
          <a:xfrm>
            <a:off x="1175657" y="132304"/>
            <a:ext cx="5374817"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报告提纲</a:t>
            </a:r>
          </a:p>
        </p:txBody>
      </p:sp>
      <p:sp>
        <p:nvSpPr>
          <p:cNvPr id="10" name="灯片编号占位符 1">
            <a:extLst>
              <a:ext uri="{FF2B5EF4-FFF2-40B4-BE49-F238E27FC236}">
                <a16:creationId xmlns:a16="http://schemas.microsoft.com/office/drawing/2014/main" id="{4B696275-D482-29DF-9B62-11EA994036C0}"/>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11</a:t>
            </a:fld>
            <a:endParaRPr lang="en-US" altLang="zh-CN" dirty="0"/>
          </a:p>
        </p:txBody>
      </p:sp>
      <p:pic>
        <p:nvPicPr>
          <p:cNvPr id="3" name="图片 2">
            <a:extLst>
              <a:ext uri="{FF2B5EF4-FFF2-40B4-BE49-F238E27FC236}">
                <a16:creationId xmlns:a16="http://schemas.microsoft.com/office/drawing/2014/main" id="{E4A8BC97-BEC0-0EC0-66AA-CB969E6367B0}"/>
              </a:ext>
            </a:extLst>
          </p:cNvPr>
          <p:cNvPicPr>
            <a:picLocks noChangeAspect="1"/>
          </p:cNvPicPr>
          <p:nvPr/>
        </p:nvPicPr>
        <p:blipFill>
          <a:blip r:embed="rId3"/>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1402865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B08F2-3635-3424-111F-4B323F36CD75}"/>
            </a:ext>
          </a:extLst>
        </p:cNvPr>
        <p:cNvGrpSpPr/>
        <p:nvPr/>
      </p:nvGrpSpPr>
      <p:grpSpPr>
        <a:xfrm>
          <a:off x="0" y="0"/>
          <a:ext cx="0" cy="0"/>
          <a:chOff x="0" y="0"/>
          <a:chExt cx="0" cy="0"/>
        </a:xfrm>
      </p:grpSpPr>
      <p:sp>
        <p:nvSpPr>
          <p:cNvPr id="7" name="文本框 6">
            <a:extLst>
              <a:ext uri="{FF2B5EF4-FFF2-40B4-BE49-F238E27FC236}">
                <a16:creationId xmlns:a16="http://schemas.microsoft.com/office/drawing/2014/main" id="{6F51A4B9-0324-68C0-4687-23D9D145C0ED}"/>
              </a:ext>
            </a:extLst>
          </p:cNvPr>
          <p:cNvSpPr txBox="1"/>
          <p:nvPr/>
        </p:nvSpPr>
        <p:spPr>
          <a:xfrm>
            <a:off x="386754" y="935893"/>
            <a:ext cx="6867071" cy="369332"/>
          </a:xfrm>
          <a:prstGeom prst="rect">
            <a:avLst/>
          </a:prstGeom>
          <a:noFill/>
        </p:spPr>
        <p:txBody>
          <a:bodyPr wrap="square" rtlCol="0">
            <a:spAutoFit/>
          </a:bodyPr>
          <a:lstStyle/>
          <a:p>
            <a:pPr defTabSz="457200" eaLnBrk="1" fontAlgn="auto" hangingPunct="1">
              <a:spcBef>
                <a:spcPts val="0"/>
              </a:spcBef>
              <a:spcAft>
                <a:spcPts val="0"/>
              </a:spcAft>
            </a:pPr>
            <a:r>
              <a:rPr lang="en-HK" sz="1800" b="1" dirty="0">
                <a:solidFill>
                  <a:prstClr val="black"/>
                </a:solidFill>
                <a:latin typeface="Times New Roman" panose="02020603050405020304" pitchFamily="18" charset="0"/>
                <a:ea typeface="+mn-ea"/>
                <a:cs typeface="Times New Roman" panose="02020603050405020304" pitchFamily="18" charset="0"/>
              </a:rPr>
              <a:t>3.1 </a:t>
            </a:r>
            <a:r>
              <a:rPr lang="zh-CN" altLang="en-US" b="1" dirty="0">
                <a:solidFill>
                  <a:prstClr val="black"/>
                </a:solidFill>
                <a:latin typeface="Times New Roman" panose="02020603050405020304" pitchFamily="18" charset="0"/>
                <a:cs typeface="Times New Roman" panose="02020603050405020304" pitchFamily="18" charset="0"/>
              </a:rPr>
              <a:t>壁面</a:t>
            </a:r>
            <a:r>
              <a:rPr lang="zh-CN" altLang="en-US" sz="1800" b="1" dirty="0">
                <a:solidFill>
                  <a:prstClr val="black"/>
                </a:solidFill>
                <a:latin typeface="Times New Roman" panose="02020603050405020304" pitchFamily="18" charset="0"/>
                <a:ea typeface="+mn-ea"/>
                <a:cs typeface="Times New Roman" panose="02020603050405020304" pitchFamily="18" charset="0"/>
              </a:rPr>
              <a:t>的温度和湿度分布结果</a:t>
            </a:r>
            <a:endParaRPr lang="en-HK" sz="1800" b="1"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FF58E6C3-F5A5-C490-031F-EF7EA672EEC0}"/>
              </a:ext>
            </a:extLst>
          </p:cNvPr>
          <p:cNvSpPr>
            <a:spLocks noGrp="1"/>
          </p:cNvSpPr>
          <p:nvPr>
            <p:ph type="sldNum" sz="quarter" idx="12"/>
          </p:nvPr>
        </p:nvSpPr>
        <p:spPr/>
        <p:txBody>
          <a:bodyPr/>
          <a:lstStyle/>
          <a:p>
            <a:pPr>
              <a:defRPr/>
            </a:pPr>
            <a:fld id="{15884886-3D85-4AFD-9D94-33E4AF7428DD}" type="slidenum">
              <a:rPr lang="en-US" altLang="zh-CN" smtClean="0"/>
              <a:pPr>
                <a:defRPr/>
              </a:pPr>
              <a:t>12</a:t>
            </a:fld>
            <a:endParaRPr lang="en-US" altLang="zh-CN"/>
          </a:p>
        </p:txBody>
      </p:sp>
      <p:sp>
        <p:nvSpPr>
          <p:cNvPr id="2" name="Title 8">
            <a:extLst>
              <a:ext uri="{FF2B5EF4-FFF2-40B4-BE49-F238E27FC236}">
                <a16:creationId xmlns:a16="http://schemas.microsoft.com/office/drawing/2014/main" id="{9004CEBC-06C3-1947-2885-4792759CBCF2}"/>
              </a:ext>
            </a:extLst>
          </p:cNvPr>
          <p:cNvSpPr txBox="1">
            <a:spLocks/>
          </p:cNvSpPr>
          <p:nvPr/>
        </p:nvSpPr>
        <p:spPr bwMode="auto">
          <a:xfrm>
            <a:off x="1124759" y="219480"/>
            <a:ext cx="4199747"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3. 模拟结果与性能分析</a:t>
            </a:r>
          </a:p>
        </p:txBody>
      </p:sp>
      <p:pic>
        <p:nvPicPr>
          <p:cNvPr id="5" name="图片 4">
            <a:extLst>
              <a:ext uri="{FF2B5EF4-FFF2-40B4-BE49-F238E27FC236}">
                <a16:creationId xmlns:a16="http://schemas.microsoft.com/office/drawing/2014/main" id="{D633D58C-7E84-7071-9B72-B439C71E5B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51111" y="1602013"/>
            <a:ext cx="3334985" cy="2622853"/>
          </a:xfrm>
          <a:prstGeom prst="rect">
            <a:avLst/>
          </a:prstGeom>
        </p:spPr>
      </p:pic>
      <p:pic>
        <p:nvPicPr>
          <p:cNvPr id="6" name="图片 5">
            <a:extLst>
              <a:ext uri="{FF2B5EF4-FFF2-40B4-BE49-F238E27FC236}">
                <a16:creationId xmlns:a16="http://schemas.microsoft.com/office/drawing/2014/main" id="{17007C74-2FCD-3785-8269-05C388EFC58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93403" y="1602013"/>
            <a:ext cx="3382435" cy="2384327"/>
          </a:xfrm>
          <a:prstGeom prst="rect">
            <a:avLst/>
          </a:prstGeom>
        </p:spPr>
      </p:pic>
      <p:pic>
        <p:nvPicPr>
          <p:cNvPr id="10" name="图片 9">
            <a:extLst>
              <a:ext uri="{FF2B5EF4-FFF2-40B4-BE49-F238E27FC236}">
                <a16:creationId xmlns:a16="http://schemas.microsoft.com/office/drawing/2014/main" id="{80CC2D61-7826-AC99-A7D7-944F71C218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28986" y="4459042"/>
            <a:ext cx="3179233" cy="2244484"/>
          </a:xfrm>
          <a:prstGeom prst="rect">
            <a:avLst/>
          </a:prstGeom>
        </p:spPr>
      </p:pic>
      <p:pic>
        <p:nvPicPr>
          <p:cNvPr id="11" name="图片 10">
            <a:extLst>
              <a:ext uri="{FF2B5EF4-FFF2-40B4-BE49-F238E27FC236}">
                <a16:creationId xmlns:a16="http://schemas.microsoft.com/office/drawing/2014/main" id="{E23F3A1C-E17C-574C-604A-FE5000D8DE4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0514" y="4362908"/>
            <a:ext cx="3098158" cy="2244484"/>
          </a:xfrm>
          <a:prstGeom prst="rect">
            <a:avLst/>
          </a:prstGeom>
        </p:spPr>
      </p:pic>
      <p:sp>
        <p:nvSpPr>
          <p:cNvPr id="12" name="文本框 11">
            <a:extLst>
              <a:ext uri="{FF2B5EF4-FFF2-40B4-BE49-F238E27FC236}">
                <a16:creationId xmlns:a16="http://schemas.microsoft.com/office/drawing/2014/main" id="{0F58590F-8076-7020-0316-E4F0AD7C6283}"/>
              </a:ext>
            </a:extLst>
          </p:cNvPr>
          <p:cNvSpPr txBox="1"/>
          <p:nvPr/>
        </p:nvSpPr>
        <p:spPr>
          <a:xfrm>
            <a:off x="694905" y="1308843"/>
            <a:ext cx="3464719"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二次风通道的温度</a:t>
            </a:r>
            <a:endParaRPr lang="en-HK" sz="18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2B14AEC3-3BDF-7FD7-DB63-1CDC0B603B2A}"/>
              </a:ext>
            </a:extLst>
          </p:cNvPr>
          <p:cNvSpPr txBox="1"/>
          <p:nvPr/>
        </p:nvSpPr>
        <p:spPr>
          <a:xfrm>
            <a:off x="5568717" y="1308843"/>
            <a:ext cx="3464719"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二次风通道的湿度</a:t>
            </a:r>
            <a:endParaRPr lang="en-HK" sz="18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11AFF921-C3C7-C4F0-6EC8-E92B3CE82EB4}"/>
              </a:ext>
            </a:extLst>
          </p:cNvPr>
          <p:cNvSpPr txBox="1"/>
          <p:nvPr/>
        </p:nvSpPr>
        <p:spPr>
          <a:xfrm>
            <a:off x="694905" y="4178242"/>
            <a:ext cx="3464719"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一次风通道的温度</a:t>
            </a:r>
            <a:endParaRPr lang="en-HK" sz="18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E3C49FCA-B4CA-95FA-02C1-59D99C70C57E}"/>
              </a:ext>
            </a:extLst>
          </p:cNvPr>
          <p:cNvSpPr txBox="1"/>
          <p:nvPr/>
        </p:nvSpPr>
        <p:spPr>
          <a:xfrm>
            <a:off x="5568717" y="4178242"/>
            <a:ext cx="3464719" cy="369332"/>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一次风通道的湿度</a:t>
            </a:r>
            <a:endParaRPr lang="en-HK" sz="18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0" name="图片 19">
            <a:extLst>
              <a:ext uri="{FF2B5EF4-FFF2-40B4-BE49-F238E27FC236}">
                <a16:creationId xmlns:a16="http://schemas.microsoft.com/office/drawing/2014/main" id="{5EE8CB3D-2C96-7144-0F1C-078F91945EEC}"/>
              </a:ext>
            </a:extLst>
          </p:cNvPr>
          <p:cNvPicPr>
            <a:picLocks noChangeAspect="1"/>
          </p:cNvPicPr>
          <p:nvPr/>
        </p:nvPicPr>
        <p:blipFill>
          <a:blip r:embed="rId7"/>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348850518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9AD1A-7E8D-8D40-4844-12E100A48EC0}"/>
            </a:ext>
          </a:extLst>
        </p:cNvPr>
        <p:cNvGrpSpPr/>
        <p:nvPr/>
      </p:nvGrpSpPr>
      <p:grpSpPr>
        <a:xfrm>
          <a:off x="0" y="0"/>
          <a:ext cx="0" cy="0"/>
          <a:chOff x="0" y="0"/>
          <a:chExt cx="0" cy="0"/>
        </a:xfrm>
      </p:grpSpPr>
      <p:sp>
        <p:nvSpPr>
          <p:cNvPr id="12" name="矩形 11">
            <a:extLst>
              <a:ext uri="{FF2B5EF4-FFF2-40B4-BE49-F238E27FC236}">
                <a16:creationId xmlns:a16="http://schemas.microsoft.com/office/drawing/2014/main" id="{C3BE1354-9A54-2360-BDDB-A4634CE8DC40}"/>
              </a:ext>
            </a:extLst>
          </p:cNvPr>
          <p:cNvSpPr/>
          <p:nvPr/>
        </p:nvSpPr>
        <p:spPr bwMode="auto">
          <a:xfrm>
            <a:off x="386754" y="4203544"/>
            <a:ext cx="11249571" cy="237981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8" name="矩形 7">
            <a:extLst>
              <a:ext uri="{FF2B5EF4-FFF2-40B4-BE49-F238E27FC236}">
                <a16:creationId xmlns:a16="http://schemas.microsoft.com/office/drawing/2014/main" id="{74DC2F55-21BA-FD23-D53E-E794C72D41F1}"/>
              </a:ext>
            </a:extLst>
          </p:cNvPr>
          <p:cNvSpPr/>
          <p:nvPr/>
        </p:nvSpPr>
        <p:spPr bwMode="auto">
          <a:xfrm>
            <a:off x="386754" y="1664656"/>
            <a:ext cx="11249571" cy="2379819"/>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7" name="文本框 6">
            <a:extLst>
              <a:ext uri="{FF2B5EF4-FFF2-40B4-BE49-F238E27FC236}">
                <a16:creationId xmlns:a16="http://schemas.microsoft.com/office/drawing/2014/main" id="{3C2E3D19-106E-C1AF-0914-FB92C9F43D63}"/>
              </a:ext>
            </a:extLst>
          </p:cNvPr>
          <p:cNvSpPr txBox="1"/>
          <p:nvPr/>
        </p:nvSpPr>
        <p:spPr>
          <a:xfrm>
            <a:off x="386754" y="935893"/>
            <a:ext cx="10049824" cy="369332"/>
          </a:xfrm>
          <a:prstGeom prst="rect">
            <a:avLst/>
          </a:prstGeom>
          <a:noFill/>
        </p:spPr>
        <p:txBody>
          <a:bodyPr wrap="square" rtlCol="0">
            <a:spAutoFit/>
          </a:bodyPr>
          <a:lstStyle/>
          <a:p>
            <a:pPr defTabSz="457200"/>
            <a:r>
              <a:rPr lang="en-HK" sz="1800" b="1" dirty="0">
                <a:solidFill>
                  <a:prstClr val="black"/>
                </a:solidFill>
                <a:latin typeface="Times New Roman" panose="02020603050405020304" pitchFamily="18" charset="0"/>
                <a:ea typeface="+mn-ea"/>
                <a:cs typeface="Times New Roman" panose="02020603050405020304" pitchFamily="18" charset="0"/>
              </a:rPr>
              <a:t>3.2 </a:t>
            </a:r>
            <a:r>
              <a:rPr lang="zh-CN" altLang="en-US" sz="1800" b="1" dirty="0">
                <a:solidFill>
                  <a:prstClr val="black"/>
                </a:solidFill>
                <a:latin typeface="Times New Roman" panose="02020603050405020304" pitchFamily="18" charset="0"/>
                <a:ea typeface="+mn-ea"/>
                <a:cs typeface="Times New Roman" panose="02020603050405020304" pitchFamily="18" charset="0"/>
              </a:rPr>
              <a:t>一次空气参数对</a:t>
            </a:r>
            <a:r>
              <a:rPr lang="en-US" altLang="zh-CN" sz="1800" b="1" dirty="0">
                <a:solidFill>
                  <a:prstClr val="black"/>
                </a:solidFill>
                <a:latin typeface="Times New Roman" panose="02020603050405020304" pitchFamily="18" charset="0"/>
                <a:ea typeface="+mn-ea"/>
                <a:cs typeface="Times New Roman" panose="02020603050405020304" pitchFamily="18" charset="0"/>
              </a:rPr>
              <a:t>IEC</a:t>
            </a:r>
            <a:r>
              <a:rPr lang="zh-CN" altLang="en-US" sz="1800" b="1" dirty="0">
                <a:solidFill>
                  <a:prstClr val="black"/>
                </a:solidFill>
                <a:latin typeface="Times New Roman" panose="02020603050405020304" pitchFamily="18" charset="0"/>
                <a:ea typeface="+mn-ea"/>
                <a:cs typeface="Times New Roman" panose="02020603050405020304" pitchFamily="18" charset="0"/>
              </a:rPr>
              <a:t>性能的影响</a:t>
            </a:r>
            <a:endParaRPr lang="en-HK" sz="1800" b="1" dirty="0">
              <a:solidFill>
                <a:prstClr val="black"/>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7937AA0-16E7-E84A-D38D-F11B0322F6E5}"/>
              </a:ext>
            </a:extLst>
          </p:cNvPr>
          <p:cNvSpPr>
            <a:spLocks noGrp="1"/>
          </p:cNvSpPr>
          <p:nvPr>
            <p:ph type="sldNum" sz="quarter" idx="12"/>
          </p:nvPr>
        </p:nvSpPr>
        <p:spPr/>
        <p:txBody>
          <a:bodyPr/>
          <a:lstStyle/>
          <a:p>
            <a:pPr>
              <a:defRPr/>
            </a:pPr>
            <a:fld id="{15884886-3D85-4AFD-9D94-33E4AF7428DD}" type="slidenum">
              <a:rPr lang="en-US" altLang="zh-CN" smtClean="0"/>
              <a:pPr>
                <a:defRPr/>
              </a:pPr>
              <a:t>13</a:t>
            </a:fld>
            <a:endParaRPr lang="en-US" altLang="zh-CN"/>
          </a:p>
        </p:txBody>
      </p:sp>
      <p:sp>
        <p:nvSpPr>
          <p:cNvPr id="2" name="Title 8">
            <a:extLst>
              <a:ext uri="{FF2B5EF4-FFF2-40B4-BE49-F238E27FC236}">
                <a16:creationId xmlns:a16="http://schemas.microsoft.com/office/drawing/2014/main" id="{35B9AC79-BE26-FE4A-E926-CBA3E1ABEFCF}"/>
              </a:ext>
            </a:extLst>
          </p:cNvPr>
          <p:cNvSpPr txBox="1">
            <a:spLocks/>
          </p:cNvSpPr>
          <p:nvPr/>
        </p:nvSpPr>
        <p:spPr bwMode="auto">
          <a:xfrm>
            <a:off x="1124759" y="219480"/>
            <a:ext cx="4199747"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457200">
              <a:defRPr>
                <a:solidFill>
                  <a:schemeClr val="tx1"/>
                </a:solidFill>
                <a:latin typeface="Arial" charset="0"/>
                <a:ea typeface="MS PGothic" charset="0"/>
                <a:cs typeface="MS PGothic" charset="0"/>
              </a:defRPr>
            </a:lvl1pPr>
            <a:lvl2pPr marL="742950" indent="-285750" defTabSz="457200">
              <a:defRPr>
                <a:solidFill>
                  <a:schemeClr val="tx1"/>
                </a:solidFill>
                <a:latin typeface="Arial" charset="0"/>
                <a:ea typeface="MS PGothic" charset="0"/>
                <a:cs typeface="MS PGothic" charset="0"/>
              </a:defRPr>
            </a:lvl2pPr>
            <a:lvl3pPr marL="1143000" indent="-228600" defTabSz="457200">
              <a:defRPr>
                <a:solidFill>
                  <a:schemeClr val="tx1"/>
                </a:solidFill>
                <a:latin typeface="Arial" charset="0"/>
                <a:ea typeface="MS PGothic" charset="0"/>
                <a:cs typeface="MS PGothic" charset="0"/>
              </a:defRPr>
            </a:lvl3pPr>
            <a:lvl4pPr marL="1600200" indent="-228600" defTabSz="457200">
              <a:defRPr>
                <a:solidFill>
                  <a:schemeClr val="tx1"/>
                </a:solidFill>
                <a:latin typeface="Arial" charset="0"/>
                <a:ea typeface="MS PGothic" charset="0"/>
                <a:cs typeface="MS PGothic" charset="0"/>
              </a:defRPr>
            </a:lvl4pPr>
            <a:lvl5pPr marL="2057400" indent="-228600" defTabSz="4572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eaLnBrk="1" fontAlgn="auto" hangingPunct="1">
              <a:spcBef>
                <a:spcPts val="0"/>
              </a:spcBef>
              <a:spcAft>
                <a:spcPts val="0"/>
              </a:spcAft>
            </a:pPr>
            <a:r>
              <a:rPr lang="zh-CN" sz="2800" b="1" dirty="0">
                <a:solidFill>
                  <a:srgbClr val="000000"/>
                </a:solidFill>
                <a:latin typeface="Times New Roman" panose="02020603050405020304" pitchFamily="18" charset="0"/>
                <a:cs typeface="Times New Roman" panose="02020603050405020304" pitchFamily="18" charset="0"/>
                <a:ea typeface="Microsoft YaHei"/>
              </a:rPr>
              <a:t>3. 模拟结果与性能分析</a:t>
            </a:r>
          </a:p>
        </p:txBody>
      </p:sp>
      <p:sp>
        <p:nvSpPr>
          <p:cNvPr id="15" name="文本框 14">
            <a:extLst>
              <a:ext uri="{FF2B5EF4-FFF2-40B4-BE49-F238E27FC236}">
                <a16:creationId xmlns:a16="http://schemas.microsoft.com/office/drawing/2014/main" id="{7660F71A-A1BD-20DB-2B6A-8FBD94EDC6EA}"/>
              </a:ext>
            </a:extLst>
          </p:cNvPr>
          <p:cNvSpPr txBox="1"/>
          <p:nvPr/>
        </p:nvSpPr>
        <p:spPr>
          <a:xfrm>
            <a:off x="1308445" y="1356260"/>
            <a:ext cx="1673467" cy="338554"/>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温度</a:t>
            </a:r>
            <a:endParaRPr lang="en-HK"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a:extLst>
              <a:ext uri="{FF2B5EF4-FFF2-40B4-BE49-F238E27FC236}">
                <a16:creationId xmlns:a16="http://schemas.microsoft.com/office/drawing/2014/main" id="{1A95871B-871B-E6BF-FCDD-D8C824767B8F}"/>
              </a:ext>
            </a:extLst>
          </p:cNvPr>
          <p:cNvSpPr txBox="1"/>
          <p:nvPr/>
        </p:nvSpPr>
        <p:spPr>
          <a:xfrm>
            <a:off x="4422533" y="1349718"/>
            <a:ext cx="1673467" cy="338554"/>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湿度</a:t>
            </a:r>
            <a:endParaRPr lang="en-HK"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90270089-38AE-DCFB-2AD6-787ED5B2BCAE}"/>
              </a:ext>
            </a:extLst>
          </p:cNvPr>
          <p:cNvSpPr txBox="1"/>
          <p:nvPr/>
        </p:nvSpPr>
        <p:spPr>
          <a:xfrm>
            <a:off x="7943398" y="1346596"/>
            <a:ext cx="1673467" cy="338554"/>
          </a:xfrm>
          <a:prstGeom prst="rect">
            <a:avLst/>
          </a:prstGeom>
          <a:noFill/>
        </p:spPr>
        <p:txBody>
          <a:bodyPr wrap="square" rtlCol="0">
            <a:spAutoFit/>
          </a:bodyPr>
          <a:lstStyle/>
          <a:p>
            <a:pPr marL="285750" indent="-285750" defTabSz="457200" eaLnBrk="1" fontAlgn="auto" hangingPunct="1">
              <a:spcBef>
                <a:spcPts val="0"/>
              </a:spcBef>
              <a:spcAft>
                <a:spcPts val="0"/>
              </a:spcAft>
              <a:buFont typeface="Wingdings" panose="05000000000000000000" pitchFamily="2" charset="2"/>
              <a:buChar char="Ø"/>
            </a:pPr>
            <a:r>
              <a:rPr lang="zh-CN" altLang="en-US"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风速</a:t>
            </a:r>
            <a:endParaRPr lang="en-HK" sz="16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610BFF7C-43B0-EA2F-7E6D-87A93D740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55687" y="1779230"/>
            <a:ext cx="2535948" cy="2160000"/>
          </a:xfrm>
          <a:prstGeom prst="rect">
            <a:avLst/>
          </a:prstGeom>
        </p:spPr>
      </p:pic>
      <p:pic>
        <p:nvPicPr>
          <p:cNvPr id="6" name="图片 5">
            <a:extLst>
              <a:ext uri="{FF2B5EF4-FFF2-40B4-BE49-F238E27FC236}">
                <a16:creationId xmlns:a16="http://schemas.microsoft.com/office/drawing/2014/main" id="{BF15E430-BA92-ECDC-86AA-E961C0A3B2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5687" y="4298958"/>
            <a:ext cx="2504241" cy="2160000"/>
          </a:xfrm>
          <a:prstGeom prst="rect">
            <a:avLst/>
          </a:prstGeom>
        </p:spPr>
      </p:pic>
      <p:pic>
        <p:nvPicPr>
          <p:cNvPr id="10" name="图片 9">
            <a:extLst>
              <a:ext uri="{FF2B5EF4-FFF2-40B4-BE49-F238E27FC236}">
                <a16:creationId xmlns:a16="http://schemas.microsoft.com/office/drawing/2014/main" id="{E5A706AF-8FCB-1AE9-0897-D7F603D9B93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45782" y="1787834"/>
            <a:ext cx="2514336" cy="2160000"/>
          </a:xfrm>
          <a:prstGeom prst="rect">
            <a:avLst/>
          </a:prstGeom>
        </p:spPr>
      </p:pic>
      <p:pic>
        <p:nvPicPr>
          <p:cNvPr id="11" name="图片 10">
            <a:extLst>
              <a:ext uri="{FF2B5EF4-FFF2-40B4-BE49-F238E27FC236}">
                <a16:creationId xmlns:a16="http://schemas.microsoft.com/office/drawing/2014/main" id="{2CAB7EAF-116B-A202-96E5-4EB319DFB7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74541" y="4298958"/>
            <a:ext cx="2509322" cy="2160000"/>
          </a:xfrm>
          <a:prstGeom prst="rect">
            <a:avLst/>
          </a:prstGeom>
        </p:spPr>
      </p:pic>
      <p:pic>
        <p:nvPicPr>
          <p:cNvPr id="20" name="图片 19">
            <a:extLst>
              <a:ext uri="{FF2B5EF4-FFF2-40B4-BE49-F238E27FC236}">
                <a16:creationId xmlns:a16="http://schemas.microsoft.com/office/drawing/2014/main" id="{CA101E5C-173D-3BE4-EE98-BD3FE20179A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567948" y="1779229"/>
            <a:ext cx="2482396" cy="2160000"/>
          </a:xfrm>
          <a:prstGeom prst="rect">
            <a:avLst/>
          </a:prstGeom>
        </p:spPr>
      </p:pic>
      <p:pic>
        <p:nvPicPr>
          <p:cNvPr id="21" name="图片 20">
            <a:extLst>
              <a:ext uri="{FF2B5EF4-FFF2-40B4-BE49-F238E27FC236}">
                <a16:creationId xmlns:a16="http://schemas.microsoft.com/office/drawing/2014/main" id="{E108E25A-8E5F-C877-BBF8-8DE8D7FB71A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67948" y="4313453"/>
            <a:ext cx="2491083" cy="2160000"/>
          </a:xfrm>
          <a:prstGeom prst="rect">
            <a:avLst/>
          </a:prstGeom>
        </p:spPr>
      </p:pic>
      <p:sp>
        <p:nvSpPr>
          <p:cNvPr id="19" name="文本框 18">
            <a:extLst>
              <a:ext uri="{FF2B5EF4-FFF2-40B4-BE49-F238E27FC236}">
                <a16:creationId xmlns:a16="http://schemas.microsoft.com/office/drawing/2014/main" id="{B9A296E9-102E-9A96-40CA-2DF35A1EF243}"/>
              </a:ext>
            </a:extLst>
          </p:cNvPr>
          <p:cNvSpPr txBox="1"/>
          <p:nvPr/>
        </p:nvSpPr>
        <p:spPr>
          <a:xfrm>
            <a:off x="393469" y="2685288"/>
            <a:ext cx="1020419" cy="338554"/>
          </a:xfrm>
          <a:prstGeom prst="rect">
            <a:avLst/>
          </a:prstGeom>
          <a:noFill/>
        </p:spPr>
        <p:txBody>
          <a:bodyPr wrap="square" rtlCol="0">
            <a:spAutoFit/>
          </a:bodyPr>
          <a:lstStyle/>
          <a:p>
            <a:pPr defTabSz="457200" eaLnBrk="1" fontAlgn="auto" hangingPunct="1">
              <a:spcBef>
                <a:spcPts val="0"/>
              </a:spcBef>
              <a:spcAft>
                <a:spcPts val="0"/>
              </a:spcAft>
            </a:pPr>
            <a:r>
              <a:rPr lang="zh-CN" altLang="en-US" sz="16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湿球效率</a:t>
            </a:r>
            <a:endParaRPr lang="en-HK" sz="16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D84B9743-A8E5-901D-12A1-F55A991A8EA9}"/>
              </a:ext>
            </a:extLst>
          </p:cNvPr>
          <p:cNvSpPr txBox="1"/>
          <p:nvPr/>
        </p:nvSpPr>
        <p:spPr>
          <a:xfrm>
            <a:off x="480271" y="5224176"/>
            <a:ext cx="919840" cy="338554"/>
          </a:xfrm>
          <a:prstGeom prst="rect">
            <a:avLst/>
          </a:prstGeom>
          <a:noFill/>
        </p:spPr>
        <p:txBody>
          <a:bodyPr wrap="square" rtlCol="0">
            <a:spAutoFit/>
          </a:bodyPr>
          <a:lstStyle/>
          <a:p>
            <a:pPr defTabSz="457200" eaLnBrk="1" fontAlgn="auto" hangingPunct="1">
              <a:spcBef>
                <a:spcPts val="0"/>
              </a:spcBef>
              <a:spcAft>
                <a:spcPts val="0"/>
              </a:spcAft>
            </a:pPr>
            <a:r>
              <a:rPr lang="zh-CN" altLang="en-US" sz="16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冷凝率</a:t>
            </a:r>
            <a:endParaRPr lang="en-HK" sz="16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a:extLst>
              <a:ext uri="{FF2B5EF4-FFF2-40B4-BE49-F238E27FC236}">
                <a16:creationId xmlns:a16="http://schemas.microsoft.com/office/drawing/2014/main" id="{E7647029-298F-7BD5-11DF-56212C640417}"/>
              </a:ext>
            </a:extLst>
          </p:cNvPr>
          <p:cNvSpPr/>
          <p:nvPr/>
        </p:nvSpPr>
        <p:spPr bwMode="auto">
          <a:xfrm>
            <a:off x="1382233" y="1356260"/>
            <a:ext cx="2955851" cy="5352884"/>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22" name="矩形 21">
            <a:extLst>
              <a:ext uri="{FF2B5EF4-FFF2-40B4-BE49-F238E27FC236}">
                <a16:creationId xmlns:a16="http://schemas.microsoft.com/office/drawing/2014/main" id="{15056C37-D1B6-75E7-A6F3-0BE12E97ABE7}"/>
              </a:ext>
            </a:extLst>
          </p:cNvPr>
          <p:cNvSpPr/>
          <p:nvPr/>
        </p:nvSpPr>
        <p:spPr bwMode="auto">
          <a:xfrm>
            <a:off x="4469972" y="1346596"/>
            <a:ext cx="3313061" cy="5352884"/>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
        <p:nvSpPr>
          <p:cNvPr id="25" name="矩形 24">
            <a:extLst>
              <a:ext uri="{FF2B5EF4-FFF2-40B4-BE49-F238E27FC236}">
                <a16:creationId xmlns:a16="http://schemas.microsoft.com/office/drawing/2014/main" id="{603DB258-D5A0-10AE-D8E4-FB287E299E93}"/>
              </a:ext>
            </a:extLst>
          </p:cNvPr>
          <p:cNvSpPr/>
          <p:nvPr/>
        </p:nvSpPr>
        <p:spPr bwMode="auto">
          <a:xfrm>
            <a:off x="7990654" y="1346596"/>
            <a:ext cx="3200113" cy="5352884"/>
          </a:xfrm>
          <a:prstGeom prst="rect">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zh-CN" altLang="en-US" sz="3200" b="0" i="0" u="none" strike="noStrike" cap="none" normalizeH="0" baseline="0">
              <a:ln>
                <a:noFill/>
              </a:ln>
              <a:solidFill>
                <a:schemeClr val="bg2"/>
              </a:solidFill>
              <a:effectLst/>
              <a:latin typeface="Arial" charset="0"/>
            </a:endParaRPr>
          </a:p>
        </p:txBody>
      </p:sp>
    </p:spTree>
    <p:extLst>
      <p:ext uri="{BB962C8B-B14F-4D97-AF65-F5344CB8AC3E}">
        <p14:creationId xmlns:p14="http://schemas.microsoft.com/office/powerpoint/2010/main" val="3705151927"/>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6639F-44E4-BD6F-C432-9016B02CA598}"/>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C326CBA8-FD6B-9E8F-E80F-07F4510C6F8F}"/>
              </a:ext>
            </a:extLst>
          </p:cNvPr>
          <p:cNvPicPr>
            <a:picLocks noChangeAspect="1"/>
          </p:cNvPicPr>
          <p:nvPr/>
        </p:nvPicPr>
        <p:blipFill rotWithShape="1">
          <a:blip r:embed="rId3">
            <a:extLst>
              <a:ext uri="{28A0092B-C50C-407E-A947-70E740481C1C}">
                <a14:useLocalDpi xmlns:a14="http://schemas.microsoft.com/office/drawing/2010/main" val="0"/>
              </a:ext>
            </a:extLst>
          </a:blip>
          <a:srcRect t="56944"/>
          <a:stretch/>
        </p:blipFill>
        <p:spPr>
          <a:xfrm>
            <a:off x="221064" y="3958788"/>
            <a:ext cx="11970936" cy="2899211"/>
          </a:xfrm>
          <a:prstGeom prst="rect">
            <a:avLst/>
          </a:prstGeom>
        </p:spPr>
      </p:pic>
      <p:sp>
        <p:nvSpPr>
          <p:cNvPr id="8" name="Content Placeholder 2">
            <a:extLst>
              <a:ext uri="{FF2B5EF4-FFF2-40B4-BE49-F238E27FC236}">
                <a16:creationId xmlns:a16="http://schemas.microsoft.com/office/drawing/2014/main" id="{F4F41509-00BB-02B2-35DB-A8CA1F806ED2}"/>
              </a:ext>
            </a:extLst>
          </p:cNvPr>
          <p:cNvSpPr>
            <a:spLocks noGrp="1"/>
          </p:cNvSpPr>
          <p:nvPr>
            <p:ph idx="1"/>
          </p:nvPr>
        </p:nvSpPr>
        <p:spPr>
          <a:xfrm>
            <a:off x="551339" y="897890"/>
            <a:ext cx="11089321" cy="4217714"/>
          </a:xfrm>
        </p:spPr>
        <p:txBody>
          <a:bodyPr>
            <a:normAutofit/>
          </a:bodyPr>
          <a:lstStyle/>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研究背景与芯体设计</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数值建模与模型验证</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chemeClr val="tx1"/>
                </a:solidFill>
                <a:latin typeface="Times New Roman" panose="02020603050405020304" pitchFamily="18" charset="0"/>
                <a:cs typeface="Times New Roman" panose="02020603050405020304" pitchFamily="18" charset="0"/>
                <a:ea typeface="Microsoft YaHei"/>
              </a:rPr>
              <a:t>模拟结果与性能分析</a:t>
            </a:r>
          </a:p>
          <a:p>
            <a:pPr marL="623888" lvl="1" indent="-468000" algn="just" eaLnBrk="1" hangingPunct="1">
              <a:lnSpc>
                <a:spcPct val="125000"/>
              </a:lnSpc>
              <a:spcBef>
                <a:spcPct val="0"/>
              </a:spcBef>
              <a:spcAft>
                <a:spcPts val="1200"/>
              </a:spcAft>
              <a:buFont typeface="+mj-lt"/>
              <a:buAutoNum type="arabicPeriod"/>
            </a:pPr>
            <a:r>
              <a:rPr lang="zh-CN" altLang="zh-CN" sz="2700" b="1" dirty="0">
                <a:solidFill>
                  <a:srgbClr val="C00000"/>
                </a:solidFill>
                <a:latin typeface="Times New Roman" panose="02020603050405020304" pitchFamily="18" charset="0"/>
                <a:cs typeface="Times New Roman" panose="02020603050405020304" pitchFamily="18" charset="0"/>
                <a:ea typeface="Microsoft YaHei"/>
              </a:rPr>
              <a:t>工程应用与节能经济性</a:t>
            </a:r>
          </a:p>
          <a:p>
            <a:pPr marL="623888" lvl="1" indent="-468000" algn="just" eaLnBrk="1" hangingPunct="1">
              <a:lnSpc>
                <a:spcPct val="125000"/>
              </a:lnSpc>
              <a:spcBef>
                <a:spcPct val="0"/>
              </a:spcBef>
              <a:spcAft>
                <a:spcPts val="1200"/>
              </a:spcAft>
              <a:buFont typeface="+mj-lt"/>
              <a:buAutoNum type="arabicPeriod"/>
            </a:pPr>
            <a:r>
              <a:rPr lang="zh-CN" altLang="zh-CN" sz="2700" b="1" dirty="0">
                <a:latin typeface="Times New Roman" panose="02020603050405020304" pitchFamily="18" charset="0"/>
                <a:cs typeface="Times New Roman" panose="02020603050405020304" pitchFamily="18" charset="0"/>
                <a:ea typeface="Microsoft YaHei"/>
              </a:rPr>
              <a:t>研究结论</a:t>
            </a:r>
          </a:p>
        </p:txBody>
      </p:sp>
      <p:sp>
        <p:nvSpPr>
          <p:cNvPr id="9" name="矩形 8">
            <a:extLst>
              <a:ext uri="{FF2B5EF4-FFF2-40B4-BE49-F238E27FC236}">
                <a16:creationId xmlns:a16="http://schemas.microsoft.com/office/drawing/2014/main" id="{AB6AE5A1-8E91-12E8-A659-B2EC8ACCE6EF}"/>
              </a:ext>
            </a:extLst>
          </p:cNvPr>
          <p:cNvSpPr/>
          <p:nvPr/>
        </p:nvSpPr>
        <p:spPr>
          <a:xfrm>
            <a:off x="1175657" y="132304"/>
            <a:ext cx="5374817"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报告提纲</a:t>
            </a:r>
          </a:p>
        </p:txBody>
      </p:sp>
      <p:sp>
        <p:nvSpPr>
          <p:cNvPr id="10" name="灯片编号占位符 1">
            <a:extLst>
              <a:ext uri="{FF2B5EF4-FFF2-40B4-BE49-F238E27FC236}">
                <a16:creationId xmlns:a16="http://schemas.microsoft.com/office/drawing/2014/main" id="{53932008-4097-9913-E7A6-59E57EC98CD8}"/>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14</a:t>
            </a:fld>
            <a:endParaRPr lang="en-US" altLang="zh-CN" dirty="0"/>
          </a:p>
        </p:txBody>
      </p:sp>
      <p:pic>
        <p:nvPicPr>
          <p:cNvPr id="3" name="图片 2">
            <a:extLst>
              <a:ext uri="{FF2B5EF4-FFF2-40B4-BE49-F238E27FC236}">
                <a16:creationId xmlns:a16="http://schemas.microsoft.com/office/drawing/2014/main" id="{AD046C94-6E8F-F8F9-91DD-C8A7F0D348E1}"/>
              </a:ext>
            </a:extLst>
          </p:cNvPr>
          <p:cNvPicPr>
            <a:picLocks noChangeAspect="1"/>
          </p:cNvPicPr>
          <p:nvPr/>
        </p:nvPicPr>
        <p:blipFill>
          <a:blip r:embed="rId4"/>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119127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D435-5FE7-75CF-A771-1DD3D37855A5}"/>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24A6CF69-624E-4388-BD64-D6753C2F02BA}"/>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
        <p:nvSpPr>
          <p:cNvPr id="9" name="TextBox 3">
            <a:extLst>
              <a:ext uri="{FF2B5EF4-FFF2-40B4-BE49-F238E27FC236}">
                <a16:creationId xmlns:a16="http://schemas.microsoft.com/office/drawing/2014/main" id="{A8458741-13FE-4083-B553-C91D0FBD0F33}"/>
              </a:ext>
            </a:extLst>
          </p:cNvPr>
          <p:cNvSpPr txBox="1"/>
          <p:nvPr/>
        </p:nvSpPr>
        <p:spPr>
          <a:xfrm>
            <a:off x="859601" y="1059779"/>
            <a:ext cx="10551184" cy="1361206"/>
          </a:xfrm>
          <a:prstGeom prst="rect">
            <a:avLst/>
          </a:prstGeom>
          <a:noFill/>
          <a:ln>
            <a:noFill/>
          </a:ln>
        </p:spPr>
        <p:txBody>
          <a:bodyPr wrap="square" rtlCol="0">
            <a:spAutoFit/>
          </a:bodyPr>
          <a:lstStyle/>
          <a:p>
            <a:pPr marL="342900" indent="-342900">
              <a:lnSpc>
                <a:spcPts val="3000"/>
              </a:lnSpc>
              <a:spcAft>
                <a:spcPts val="600"/>
              </a:spcAft>
              <a:buFont typeface="Arial" panose="020B0604020202020204" pitchFamily="34" charset="0"/>
              <a:buChar char="•"/>
            </a:pPr>
            <a:r>
              <a:rPr lang="zh-CN" altLang="en-US" sz="2000" dirty="0">
                <a:latin typeface="宋体" panose="02010600030101010101" pitchFamily="2" charset="-122"/>
                <a:ea typeface="宋体" panose="02010600030101010101" pitchFamily="2" charset="-122"/>
                <a:cs typeface="Times New Roman" panose="02020603050405020304" pitchFamily="18" charset="0"/>
              </a:rPr>
              <a:t>开发一种适用于湿热气候的</a:t>
            </a:r>
            <a:r>
              <a:rPr lang="zh-CN" altLang="en-US" sz="2000"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新型热回收技术</a:t>
            </a:r>
            <a:r>
              <a:rPr lang="zh-CN" altLang="en-US" sz="2000" dirty="0">
                <a:latin typeface="宋体" panose="02010600030101010101" pitchFamily="2" charset="-122"/>
                <a:ea typeface="宋体" panose="02010600030101010101" pitchFamily="2" charset="-122"/>
                <a:cs typeface="Times New Roman" panose="02020603050405020304" pitchFamily="18" charset="0"/>
              </a:rPr>
              <a:t>，用作一次空气处理装置（</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PAU </a:t>
            </a:r>
            <a:r>
              <a:rPr lang="zh-CN" altLang="en-US" sz="2000" dirty="0">
                <a:latin typeface="宋体" panose="02010600030101010101" pitchFamily="2" charset="-122"/>
                <a:ea typeface="宋体" panose="02010600030101010101" pitchFamily="2" charset="-122"/>
                <a:cs typeface="Times New Roman" panose="02020603050405020304" pitchFamily="18" charset="0"/>
              </a:rPr>
              <a:t>）。</a:t>
            </a:r>
            <a:endParaRPr lang="en-HK" altLang="zh-CN" sz="20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ts val="3000"/>
              </a:lnSpc>
              <a:spcAft>
                <a:spcPts val="600"/>
              </a:spcAft>
              <a:buFont typeface="Arial" panose="020B0604020202020204" pitchFamily="34" charset="0"/>
              <a:buChar char="•"/>
            </a:pPr>
            <a:r>
              <a:rPr lang="zh-CN" altLang="en-US" sz="2000" dirty="0">
                <a:latin typeface="宋体" panose="02010600030101010101" pitchFamily="2" charset="-122"/>
                <a:ea typeface="宋体" panose="02010600030101010101" pitchFamily="2" charset="-122"/>
                <a:cs typeface="Times New Roman" panose="02020603050405020304" pitchFamily="18" charset="0"/>
              </a:rPr>
              <a:t>对</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PP-IEC </a:t>
            </a:r>
            <a:r>
              <a:rPr lang="zh-CN" altLang="en-US" sz="2000" dirty="0">
                <a:latin typeface="宋体" panose="02010600030101010101" pitchFamily="2" charset="-122"/>
                <a:ea typeface="宋体" panose="02010600030101010101" pitchFamily="2" charset="-122"/>
                <a:cs typeface="Times New Roman" panose="02020603050405020304" pitchFamily="18" charset="0"/>
              </a:rPr>
              <a:t>进行</a:t>
            </a:r>
            <a:r>
              <a:rPr lang="zh-CN" altLang="en-US" sz="2000" b="1" dirty="0">
                <a:solidFill>
                  <a:srgbClr val="C00000"/>
                </a:solidFill>
                <a:latin typeface="宋体" panose="02010600030101010101" pitchFamily="2" charset="-122"/>
                <a:ea typeface="宋体" panose="02010600030101010101" pitchFamily="2" charset="-122"/>
                <a:cs typeface="Times New Roman" panose="02020603050405020304" pitchFamily="18" charset="0"/>
              </a:rPr>
              <a:t>实际应用测试</a:t>
            </a:r>
            <a:r>
              <a:rPr lang="zh-CN" altLang="en-US" sz="2000" dirty="0">
                <a:latin typeface="宋体" panose="02010600030101010101" pitchFamily="2" charset="-122"/>
                <a:ea typeface="宋体" panose="02010600030101010101" pitchFamily="2" charset="-122"/>
                <a:cs typeface="Times New Roman" panose="02020603050405020304" pitchFamily="18" charset="0"/>
              </a:rPr>
              <a:t>，其通过回收空调空间的冷量对新风进行预冷和预除湿。</a:t>
            </a:r>
            <a:endPar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ts val="3000"/>
              </a:lnSpc>
              <a:spcAft>
                <a:spcPts val="600"/>
              </a:spcAft>
              <a:buFont typeface="Arial" panose="020B0604020202020204" pitchFamily="34" charset="0"/>
              <a:buChar char="•"/>
            </a:pPr>
            <a:r>
              <a:rPr lang="zh-CN" altLang="en-US" sz="2000" dirty="0">
                <a:latin typeface="宋体" panose="02010600030101010101" pitchFamily="2" charset="-122"/>
                <a:ea typeface="宋体" panose="02010600030101010101" pitchFamily="2" charset="-122"/>
                <a:cs typeface="Times New Roman" panose="02020603050405020304" pitchFamily="18" charset="0"/>
              </a:rPr>
              <a:t>目标是通过应用</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PP-</a:t>
            </a:r>
            <a:r>
              <a:rPr lang="en-HK" altLang="zh-CN" sz="2000" b="1" dirty="0">
                <a:latin typeface="Times New Roman" panose="02020603050405020304" pitchFamily="18" charset="0"/>
                <a:ea typeface="宋体" panose="02010600030101010101" pitchFamily="2" charset="-122"/>
                <a:cs typeface="Times New Roman" panose="02020603050405020304" pitchFamily="18" charset="0"/>
              </a:rPr>
              <a:t>IEC</a:t>
            </a:r>
            <a:r>
              <a:rPr lang="zh-CN" altLang="en-US" sz="2000" dirty="0">
                <a:latin typeface="宋体" panose="02010600030101010101" pitchFamily="2" charset="-122"/>
                <a:ea typeface="宋体" panose="02010600030101010101" pitchFamily="2" charset="-122"/>
                <a:cs typeface="Times New Roman" panose="02020603050405020304" pitchFamily="18" charset="0"/>
              </a:rPr>
              <a:t>技术实现预期的节能效果并促进碳中和。</a:t>
            </a:r>
            <a:endParaRPr lang="en-HK"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0" name="TextBox 49">
            <a:extLst>
              <a:ext uri="{FF2B5EF4-FFF2-40B4-BE49-F238E27FC236}">
                <a16:creationId xmlns:a16="http://schemas.microsoft.com/office/drawing/2014/main" id="{90D7D818-35C7-4F5B-A19B-F160261A28BE}"/>
              </a:ext>
            </a:extLst>
          </p:cNvPr>
          <p:cNvSpPr txBox="1"/>
          <p:nvPr/>
        </p:nvSpPr>
        <p:spPr>
          <a:xfrm>
            <a:off x="3866814" y="2597093"/>
            <a:ext cx="4536752" cy="400110"/>
          </a:xfrm>
          <a:prstGeom prst="rect">
            <a:avLst/>
          </a:prstGeom>
          <a:noFill/>
        </p:spPr>
        <p:txBody>
          <a:bodyPr wrap="square">
            <a:spAutoFit/>
          </a:bodyPr>
          <a:lstStyle/>
          <a:p>
            <a:pPr>
              <a:spcAft>
                <a:spcPts val="600"/>
              </a:spcAft>
            </a:pPr>
            <a:r>
              <a:rPr lang="zh-CN" altLang="en-US" sz="2000" b="1" u="sng" dirty="0">
                <a:solidFill>
                  <a:schemeClr val="tx1"/>
                </a:solidFill>
                <a:latin typeface="宋体" panose="02010600030101010101" pitchFamily="2" charset="-122"/>
                <a:ea typeface="宋体" panose="02010600030101010101" pitchFamily="2" charset="-122"/>
                <a:cs typeface="Times New Roman" panose="02020603050405020304" pitchFamily="18" charset="0"/>
              </a:rPr>
              <a:t>实验地点</a:t>
            </a:r>
            <a:r>
              <a:rPr lang="en-US" sz="2000" b="1" u="sng"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b="1" u="sng" dirty="0">
                <a:solidFill>
                  <a:schemeClr val="tx1"/>
                </a:solidFill>
                <a:latin typeface="宋体" panose="02010600030101010101" pitchFamily="2" charset="-122"/>
                <a:ea typeface="宋体" panose="02010600030101010101" pitchFamily="2" charset="-122"/>
                <a:cs typeface="Times New Roman" panose="02020603050405020304" pitchFamily="18" charset="0"/>
              </a:rPr>
              <a:t>新建学生餐厅</a:t>
            </a:r>
            <a:r>
              <a:rPr lang="nl-NL" sz="2000" u="sng" dirty="0">
                <a:latin typeface="宋体" panose="02010600030101010101" pitchFamily="2" charset="-122"/>
                <a:ea typeface="宋体" panose="02010600030101010101" pitchFamily="2" charset="-122"/>
                <a:cs typeface="Times New Roman" panose="02020603050405020304" pitchFamily="18" charset="0"/>
              </a:rPr>
              <a:t> </a:t>
            </a:r>
            <a:r>
              <a:rPr lang="nl-NL" sz="2000" i="1" u="sng" dirty="0">
                <a:latin typeface="宋体" panose="02010600030101010101" pitchFamily="2" charset="-122"/>
                <a:ea typeface="宋体" panose="02010600030101010101" pitchFamily="2" charset="-122"/>
                <a:cs typeface="Times New Roman" panose="02020603050405020304" pitchFamily="18" charset="0"/>
              </a:rPr>
              <a:t>(</a:t>
            </a:r>
            <a:r>
              <a:rPr lang="nl-NL" sz="2000" i="1" u="sng" dirty="0">
                <a:latin typeface="Times New Roman" panose="02020603050405020304" pitchFamily="18" charset="0"/>
                <a:ea typeface="宋体" panose="02010600030101010101" pitchFamily="2" charset="-122"/>
                <a:cs typeface="Times New Roman" panose="02020603050405020304" pitchFamily="18" charset="0"/>
              </a:rPr>
              <a:t>U Garden</a:t>
            </a:r>
            <a:r>
              <a:rPr lang="nl-NL" sz="2000" i="1" u="sng" dirty="0">
                <a:latin typeface="宋体" panose="02010600030101010101" pitchFamily="2" charset="-122"/>
                <a:ea typeface="宋体" panose="02010600030101010101" pitchFamily="2" charset="-122"/>
                <a:cs typeface="Times New Roman" panose="02020603050405020304" pitchFamily="18" charset="0"/>
              </a:rPr>
              <a:t>)</a:t>
            </a:r>
            <a:endParaRPr lang="en-US" sz="2000" i="1" u="sng"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38F5E3B-9D34-417D-AA95-430CFFE61902}"/>
              </a:ext>
            </a:extLst>
          </p:cNvPr>
          <p:cNvPicPr>
            <a:picLocks noChangeAspect="1"/>
          </p:cNvPicPr>
          <p:nvPr/>
        </p:nvPicPr>
        <p:blipFill rotWithShape="1">
          <a:blip r:embed="rId3"/>
          <a:srcRect r="1699"/>
          <a:stretch/>
        </p:blipFill>
        <p:spPr>
          <a:xfrm>
            <a:off x="1558959" y="3177904"/>
            <a:ext cx="3370079" cy="3108586"/>
          </a:xfrm>
          <a:prstGeom prst="rect">
            <a:avLst/>
          </a:prstGeom>
        </p:spPr>
      </p:pic>
      <p:cxnSp>
        <p:nvCxnSpPr>
          <p:cNvPr id="7" name="直接连接符 6">
            <a:extLst>
              <a:ext uri="{FF2B5EF4-FFF2-40B4-BE49-F238E27FC236}">
                <a16:creationId xmlns:a16="http://schemas.microsoft.com/office/drawing/2014/main" id="{D2EB3BC6-816B-438B-B160-D2F46F6B4228}"/>
              </a:ext>
            </a:extLst>
          </p:cNvPr>
          <p:cNvCxnSpPr>
            <a:cxnSpLocks/>
          </p:cNvCxnSpPr>
          <p:nvPr/>
        </p:nvCxnSpPr>
        <p:spPr bwMode="auto">
          <a:xfrm>
            <a:off x="1582752" y="4470073"/>
            <a:ext cx="0" cy="1246033"/>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直接连接符 15">
            <a:extLst>
              <a:ext uri="{FF2B5EF4-FFF2-40B4-BE49-F238E27FC236}">
                <a16:creationId xmlns:a16="http://schemas.microsoft.com/office/drawing/2014/main" id="{105F6F5A-F589-4CED-B70F-ED3601408B5A}"/>
              </a:ext>
            </a:extLst>
          </p:cNvPr>
          <p:cNvCxnSpPr>
            <a:cxnSpLocks/>
          </p:cNvCxnSpPr>
          <p:nvPr/>
        </p:nvCxnSpPr>
        <p:spPr bwMode="auto">
          <a:xfrm>
            <a:off x="2422097" y="4216762"/>
            <a:ext cx="0" cy="1861360"/>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9" name="直接连接符 18">
            <a:extLst>
              <a:ext uri="{FF2B5EF4-FFF2-40B4-BE49-F238E27FC236}">
                <a16:creationId xmlns:a16="http://schemas.microsoft.com/office/drawing/2014/main" id="{23CA28C1-5D13-494B-9061-6F10FE2A2F12}"/>
              </a:ext>
            </a:extLst>
          </p:cNvPr>
          <p:cNvCxnSpPr>
            <a:cxnSpLocks/>
          </p:cNvCxnSpPr>
          <p:nvPr/>
        </p:nvCxnSpPr>
        <p:spPr bwMode="auto">
          <a:xfrm>
            <a:off x="1558959" y="5684864"/>
            <a:ext cx="422616" cy="399495"/>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3" name="直接连接符 22">
            <a:extLst>
              <a:ext uri="{FF2B5EF4-FFF2-40B4-BE49-F238E27FC236}">
                <a16:creationId xmlns:a16="http://schemas.microsoft.com/office/drawing/2014/main" id="{BDD14ED5-16D4-49CE-84CB-61266B4E941E}"/>
              </a:ext>
            </a:extLst>
          </p:cNvPr>
          <p:cNvCxnSpPr>
            <a:cxnSpLocks/>
          </p:cNvCxnSpPr>
          <p:nvPr/>
        </p:nvCxnSpPr>
        <p:spPr bwMode="auto">
          <a:xfrm flipH="1">
            <a:off x="1981575" y="6078122"/>
            <a:ext cx="440522" cy="0"/>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26" name="直接连接符 25">
            <a:extLst>
              <a:ext uri="{FF2B5EF4-FFF2-40B4-BE49-F238E27FC236}">
                <a16:creationId xmlns:a16="http://schemas.microsoft.com/office/drawing/2014/main" id="{8830FC89-F7B0-416B-A176-30F9985533FF}"/>
              </a:ext>
            </a:extLst>
          </p:cNvPr>
          <p:cNvCxnSpPr>
            <a:cxnSpLocks/>
          </p:cNvCxnSpPr>
          <p:nvPr/>
        </p:nvCxnSpPr>
        <p:spPr bwMode="auto">
          <a:xfrm flipV="1">
            <a:off x="1582752" y="3888290"/>
            <a:ext cx="564933" cy="581783"/>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30" name="直接连接符 29">
            <a:extLst>
              <a:ext uri="{FF2B5EF4-FFF2-40B4-BE49-F238E27FC236}">
                <a16:creationId xmlns:a16="http://schemas.microsoft.com/office/drawing/2014/main" id="{0465004D-A1FA-45E4-BA8D-06EC4FF7A1AF}"/>
              </a:ext>
            </a:extLst>
          </p:cNvPr>
          <p:cNvCxnSpPr>
            <a:cxnSpLocks/>
          </p:cNvCxnSpPr>
          <p:nvPr/>
        </p:nvCxnSpPr>
        <p:spPr bwMode="auto">
          <a:xfrm>
            <a:off x="2150760" y="3160214"/>
            <a:ext cx="0" cy="727938"/>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32" name="直接连接符 31">
            <a:extLst>
              <a:ext uri="{FF2B5EF4-FFF2-40B4-BE49-F238E27FC236}">
                <a16:creationId xmlns:a16="http://schemas.microsoft.com/office/drawing/2014/main" id="{D6AD95DC-83C0-4D87-8F95-B7F700A50196}"/>
              </a:ext>
            </a:extLst>
          </p:cNvPr>
          <p:cNvCxnSpPr>
            <a:cxnSpLocks/>
          </p:cNvCxnSpPr>
          <p:nvPr/>
        </p:nvCxnSpPr>
        <p:spPr bwMode="auto">
          <a:xfrm flipH="1">
            <a:off x="2150761" y="3160214"/>
            <a:ext cx="1712301" cy="0"/>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35" name="直接连接符 34">
            <a:extLst>
              <a:ext uri="{FF2B5EF4-FFF2-40B4-BE49-F238E27FC236}">
                <a16:creationId xmlns:a16="http://schemas.microsoft.com/office/drawing/2014/main" id="{C29085A5-13C9-464D-8ECB-18942E33AEE3}"/>
              </a:ext>
            </a:extLst>
          </p:cNvPr>
          <p:cNvCxnSpPr>
            <a:cxnSpLocks/>
          </p:cNvCxnSpPr>
          <p:nvPr/>
        </p:nvCxnSpPr>
        <p:spPr bwMode="auto">
          <a:xfrm>
            <a:off x="3863062" y="3160214"/>
            <a:ext cx="0" cy="1052109"/>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38" name="直接连接符 37">
            <a:extLst>
              <a:ext uri="{FF2B5EF4-FFF2-40B4-BE49-F238E27FC236}">
                <a16:creationId xmlns:a16="http://schemas.microsoft.com/office/drawing/2014/main" id="{7CB9C196-FE6C-4B48-A53B-3FE3D2E7CC81}"/>
              </a:ext>
            </a:extLst>
          </p:cNvPr>
          <p:cNvCxnSpPr>
            <a:cxnSpLocks/>
          </p:cNvCxnSpPr>
          <p:nvPr/>
        </p:nvCxnSpPr>
        <p:spPr bwMode="auto">
          <a:xfrm flipH="1">
            <a:off x="2422097" y="4219153"/>
            <a:ext cx="1440965" cy="0"/>
          </a:xfrm>
          <a:prstGeom prst="line">
            <a:avLst/>
          </a:prstGeom>
          <a:ln w="28575">
            <a:solidFill>
              <a:srgbClr val="00B0F0"/>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33" name="文本框 32">
            <a:extLst>
              <a:ext uri="{FF2B5EF4-FFF2-40B4-BE49-F238E27FC236}">
                <a16:creationId xmlns:a16="http://schemas.microsoft.com/office/drawing/2014/main" id="{91566A6A-5BC4-47CC-802B-164D6B323BEB}"/>
              </a:ext>
            </a:extLst>
          </p:cNvPr>
          <p:cNvSpPr txBox="1"/>
          <p:nvPr/>
        </p:nvSpPr>
        <p:spPr>
          <a:xfrm>
            <a:off x="2820814" y="5330773"/>
            <a:ext cx="1003177" cy="400110"/>
          </a:xfrm>
          <a:prstGeom prst="rect">
            <a:avLst/>
          </a:prstGeom>
          <a:noFill/>
        </p:spPr>
        <p:txBody>
          <a:bodyPr wrap="square" rtlCol="0">
            <a:spAutoFit/>
          </a:bodyPr>
          <a:lstStyle/>
          <a:p>
            <a:r>
              <a:rPr lang="en-US" sz="2000" b="1" dirty="0">
                <a:solidFill>
                  <a:srgbClr val="00B0F0"/>
                </a:solidFill>
                <a:latin typeface="Times New Roman" panose="02020603050405020304" pitchFamily="18" charset="0"/>
                <a:cs typeface="Times New Roman" panose="02020603050405020304" pitchFamily="18" charset="0"/>
              </a:rPr>
              <a:t>890m</a:t>
            </a:r>
            <a:r>
              <a:rPr lang="en-US" sz="2000" b="1" baseline="30000" dirty="0">
                <a:solidFill>
                  <a:srgbClr val="00B0F0"/>
                </a:solidFill>
                <a:latin typeface="Times New Roman" panose="02020603050405020304" pitchFamily="18" charset="0"/>
                <a:cs typeface="Times New Roman" panose="02020603050405020304" pitchFamily="18" charset="0"/>
              </a:rPr>
              <a:t>2</a:t>
            </a:r>
          </a:p>
        </p:txBody>
      </p:sp>
      <p:sp>
        <p:nvSpPr>
          <p:cNvPr id="41" name="文本框 40">
            <a:extLst>
              <a:ext uri="{FF2B5EF4-FFF2-40B4-BE49-F238E27FC236}">
                <a16:creationId xmlns:a16="http://schemas.microsoft.com/office/drawing/2014/main" id="{35040587-5EB0-43C6-8B51-2244C18DFB96}"/>
              </a:ext>
            </a:extLst>
          </p:cNvPr>
          <p:cNvSpPr txBox="1"/>
          <p:nvPr/>
        </p:nvSpPr>
        <p:spPr>
          <a:xfrm>
            <a:off x="1619364" y="3437635"/>
            <a:ext cx="3893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t>
            </a:r>
          </a:p>
        </p:txBody>
      </p:sp>
      <p:sp>
        <p:nvSpPr>
          <p:cNvPr id="42" name="文本框 41">
            <a:extLst>
              <a:ext uri="{FF2B5EF4-FFF2-40B4-BE49-F238E27FC236}">
                <a16:creationId xmlns:a16="http://schemas.microsoft.com/office/drawing/2014/main" id="{E8BC5BD8-8D2A-40B1-91EC-7C482F622536}"/>
              </a:ext>
            </a:extLst>
          </p:cNvPr>
          <p:cNvSpPr txBox="1"/>
          <p:nvPr/>
        </p:nvSpPr>
        <p:spPr>
          <a:xfrm>
            <a:off x="4436523" y="3517072"/>
            <a:ext cx="3893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E</a:t>
            </a:r>
          </a:p>
        </p:txBody>
      </p:sp>
      <p:sp>
        <p:nvSpPr>
          <p:cNvPr id="43" name="文本框 42">
            <a:extLst>
              <a:ext uri="{FF2B5EF4-FFF2-40B4-BE49-F238E27FC236}">
                <a16:creationId xmlns:a16="http://schemas.microsoft.com/office/drawing/2014/main" id="{9FC13163-A891-4FCC-817A-333672280344}"/>
              </a:ext>
            </a:extLst>
          </p:cNvPr>
          <p:cNvSpPr txBox="1"/>
          <p:nvPr/>
        </p:nvSpPr>
        <p:spPr>
          <a:xfrm>
            <a:off x="1511397" y="5893456"/>
            <a:ext cx="38936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D</a:t>
            </a:r>
          </a:p>
        </p:txBody>
      </p:sp>
      <p:pic>
        <p:nvPicPr>
          <p:cNvPr id="36" name="图片 35">
            <a:extLst>
              <a:ext uri="{FF2B5EF4-FFF2-40B4-BE49-F238E27FC236}">
                <a16:creationId xmlns:a16="http://schemas.microsoft.com/office/drawing/2014/main" id="{6DC1C911-18C2-47F2-B5A5-8264C7D50591}"/>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6100"/>
                    </a14:imgEffect>
                  </a14:imgLayer>
                </a14:imgProps>
              </a:ext>
            </a:extLst>
          </a:blip>
          <a:stretch>
            <a:fillRect/>
          </a:stretch>
        </p:blipFill>
        <p:spPr>
          <a:xfrm>
            <a:off x="5058051" y="3255534"/>
            <a:ext cx="2872795" cy="2893054"/>
          </a:xfrm>
          <a:prstGeom prst="rect">
            <a:avLst/>
          </a:prstGeom>
          <a:noFill/>
        </p:spPr>
      </p:pic>
      <p:cxnSp>
        <p:nvCxnSpPr>
          <p:cNvPr id="40" name="直接箭头连接符 39">
            <a:extLst>
              <a:ext uri="{FF2B5EF4-FFF2-40B4-BE49-F238E27FC236}">
                <a16:creationId xmlns:a16="http://schemas.microsoft.com/office/drawing/2014/main" id="{70AC031B-E767-423A-ADBB-EE8CA71F642B}"/>
              </a:ext>
            </a:extLst>
          </p:cNvPr>
          <p:cNvCxnSpPr>
            <a:cxnSpLocks/>
          </p:cNvCxnSpPr>
          <p:nvPr/>
        </p:nvCxnSpPr>
        <p:spPr bwMode="auto">
          <a:xfrm>
            <a:off x="2760263" y="3598428"/>
            <a:ext cx="2168775" cy="891151"/>
          </a:xfrm>
          <a:prstGeom prst="straightConnector1">
            <a:avLst/>
          </a:prstGeom>
          <a:noFill/>
          <a:ln w="28575" cap="flat" cmpd="sng" algn="ctr">
            <a:solidFill>
              <a:srgbClr val="C00000"/>
            </a:solidFill>
            <a:prstDash val="solid"/>
            <a:round/>
            <a:headEnd type="none" w="med" len="med"/>
            <a:tailEnd type="triangle"/>
          </a:ln>
          <a:effectLst/>
        </p:spPr>
      </p:cxnSp>
      <p:sp>
        <p:nvSpPr>
          <p:cNvPr id="44" name="文本框 43">
            <a:extLst>
              <a:ext uri="{FF2B5EF4-FFF2-40B4-BE49-F238E27FC236}">
                <a16:creationId xmlns:a16="http://schemas.microsoft.com/office/drawing/2014/main" id="{97429CD6-77C6-4267-9CAB-9C0D4B6106AE}"/>
              </a:ext>
            </a:extLst>
          </p:cNvPr>
          <p:cNvSpPr txBox="1"/>
          <p:nvPr/>
        </p:nvSpPr>
        <p:spPr>
          <a:xfrm>
            <a:off x="6821597" y="4332087"/>
            <a:ext cx="702619" cy="400110"/>
          </a:xfrm>
          <a:prstGeom prst="rect">
            <a:avLst/>
          </a:prstGeom>
          <a:noFill/>
        </p:spPr>
        <p:txBody>
          <a:bodyPr wrap="squar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IEC</a:t>
            </a:r>
          </a:p>
        </p:txBody>
      </p:sp>
      <p:sp>
        <p:nvSpPr>
          <p:cNvPr id="50" name="文本框 49">
            <a:extLst>
              <a:ext uri="{FF2B5EF4-FFF2-40B4-BE49-F238E27FC236}">
                <a16:creationId xmlns:a16="http://schemas.microsoft.com/office/drawing/2014/main" id="{AFC0CA23-5EFF-4D88-8EF5-34A092503F14}"/>
              </a:ext>
            </a:extLst>
          </p:cNvPr>
          <p:cNvSpPr txBox="1"/>
          <p:nvPr/>
        </p:nvSpPr>
        <p:spPr>
          <a:xfrm>
            <a:off x="6135190" y="5346774"/>
            <a:ext cx="1037717" cy="400110"/>
          </a:xfrm>
          <a:prstGeom prst="rect">
            <a:avLst/>
          </a:prstGeom>
          <a:noFill/>
        </p:spPr>
        <p:txBody>
          <a:bodyPr wrap="squar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AHU-1</a:t>
            </a:r>
          </a:p>
        </p:txBody>
      </p:sp>
      <p:sp>
        <p:nvSpPr>
          <p:cNvPr id="51" name="文本框 50">
            <a:extLst>
              <a:ext uri="{FF2B5EF4-FFF2-40B4-BE49-F238E27FC236}">
                <a16:creationId xmlns:a16="http://schemas.microsoft.com/office/drawing/2014/main" id="{F06DFDED-9D61-43E1-AC2E-D70B48A9EF26}"/>
              </a:ext>
            </a:extLst>
          </p:cNvPr>
          <p:cNvSpPr txBox="1"/>
          <p:nvPr/>
        </p:nvSpPr>
        <p:spPr>
          <a:xfrm>
            <a:off x="6386218" y="3874925"/>
            <a:ext cx="1298469" cy="400110"/>
          </a:xfrm>
          <a:prstGeom prst="rect">
            <a:avLst/>
          </a:prstGeom>
          <a:noFill/>
        </p:spPr>
        <p:txBody>
          <a:bodyPr wrap="squar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AHU-2</a:t>
            </a:r>
          </a:p>
        </p:txBody>
      </p:sp>
      <p:sp>
        <p:nvSpPr>
          <p:cNvPr id="52" name="文本框 32">
            <a:extLst>
              <a:ext uri="{FF2B5EF4-FFF2-40B4-BE49-F238E27FC236}">
                <a16:creationId xmlns:a16="http://schemas.microsoft.com/office/drawing/2014/main" id="{DBA62680-B005-4CE4-9FCA-BD107503CE88}"/>
              </a:ext>
            </a:extLst>
          </p:cNvPr>
          <p:cNvSpPr txBox="1"/>
          <p:nvPr/>
        </p:nvSpPr>
        <p:spPr>
          <a:xfrm>
            <a:off x="1900765" y="6292951"/>
            <a:ext cx="2000591" cy="307777"/>
          </a:xfrm>
          <a:prstGeom prst="rect">
            <a:avLst/>
          </a:prstGeom>
          <a:noFill/>
        </p:spPr>
        <p:txBody>
          <a:bodyPr wrap="square" rtlCol="0">
            <a:spAutoFit/>
          </a:bodyPr>
          <a:lstStyle/>
          <a:p>
            <a:r>
              <a:rPr lang="zh-CN" altLang="en-US" sz="1400" dirty="0">
                <a:solidFill>
                  <a:srgbClr val="0000FF"/>
                </a:solidFill>
                <a:latin typeface="宋体" panose="02010600030101010101" pitchFamily="2" charset="-122"/>
                <a:ea typeface="宋体" panose="02010600030101010101" pitchFamily="2" charset="-122"/>
                <a:cs typeface="Times New Roman" panose="02020603050405020304" pitchFamily="18" charset="0"/>
              </a:rPr>
              <a:t>餐厅的布局和占地情况</a:t>
            </a:r>
            <a:endParaRPr lang="en-US" sz="1400" dirty="0">
              <a:solidFill>
                <a:srgbClr val="0000FF"/>
              </a:solidFill>
              <a:latin typeface="宋体" panose="02010600030101010101" pitchFamily="2" charset="-122"/>
              <a:ea typeface="宋体" panose="02010600030101010101" pitchFamily="2" charset="-122"/>
              <a:cs typeface="Times New Roman" panose="02020603050405020304" pitchFamily="18" charset="0"/>
            </a:endParaRPr>
          </a:p>
        </p:txBody>
      </p:sp>
      <p:pic>
        <p:nvPicPr>
          <p:cNvPr id="53" name="图片 52">
            <a:extLst>
              <a:ext uri="{FF2B5EF4-FFF2-40B4-BE49-F238E27FC236}">
                <a16:creationId xmlns:a16="http://schemas.microsoft.com/office/drawing/2014/main" id="{A29E1F2F-0763-4C96-A2BF-AB09AE8ED859}"/>
              </a:ext>
            </a:extLst>
          </p:cNvPr>
          <p:cNvPicPr>
            <a:picLocks noChangeAspect="1"/>
          </p:cNvPicPr>
          <p:nvPr/>
        </p:nvPicPr>
        <p:blipFill>
          <a:blip r:embed="rId6"/>
          <a:stretch>
            <a:fillRect/>
          </a:stretch>
        </p:blipFill>
        <p:spPr>
          <a:xfrm rot="5400000">
            <a:off x="7998171" y="3529856"/>
            <a:ext cx="2973745" cy="2267144"/>
          </a:xfrm>
          <a:prstGeom prst="rect">
            <a:avLst/>
          </a:prstGeom>
        </p:spPr>
      </p:pic>
      <p:sp>
        <p:nvSpPr>
          <p:cNvPr id="45" name="矩形 44">
            <a:extLst>
              <a:ext uri="{FF2B5EF4-FFF2-40B4-BE49-F238E27FC236}">
                <a16:creationId xmlns:a16="http://schemas.microsoft.com/office/drawing/2014/main" id="{F7E969EB-E24F-40DC-9043-383E92DEE3C6}"/>
              </a:ext>
            </a:extLst>
          </p:cNvPr>
          <p:cNvSpPr/>
          <p:nvPr/>
        </p:nvSpPr>
        <p:spPr bwMode="auto">
          <a:xfrm>
            <a:off x="2250832" y="3255534"/>
            <a:ext cx="490732" cy="685787"/>
          </a:xfrm>
          <a:prstGeom prst="rect">
            <a:avLst/>
          </a:prstGeom>
          <a:noFill/>
          <a:ln>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56" name="矩形 55">
            <a:extLst>
              <a:ext uri="{FF2B5EF4-FFF2-40B4-BE49-F238E27FC236}">
                <a16:creationId xmlns:a16="http://schemas.microsoft.com/office/drawing/2014/main" id="{190FE442-B018-4168-86D0-0FF0F6EDE013}"/>
              </a:ext>
            </a:extLst>
          </p:cNvPr>
          <p:cNvSpPr/>
          <p:nvPr/>
        </p:nvSpPr>
        <p:spPr bwMode="auto">
          <a:xfrm>
            <a:off x="4976600" y="3173312"/>
            <a:ext cx="3016560" cy="2980233"/>
          </a:xfrm>
          <a:prstGeom prst="rect">
            <a:avLst/>
          </a:prstGeom>
          <a:noFill/>
          <a:ln>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75" name="文本框 32">
            <a:extLst>
              <a:ext uri="{FF2B5EF4-FFF2-40B4-BE49-F238E27FC236}">
                <a16:creationId xmlns:a16="http://schemas.microsoft.com/office/drawing/2014/main" id="{66928232-4336-4D35-8272-96F0C0392D51}"/>
              </a:ext>
            </a:extLst>
          </p:cNvPr>
          <p:cNvSpPr txBox="1"/>
          <p:nvPr/>
        </p:nvSpPr>
        <p:spPr>
          <a:xfrm>
            <a:off x="5400492" y="6292950"/>
            <a:ext cx="2168776" cy="307777"/>
          </a:xfrm>
          <a:prstGeom prst="rect">
            <a:avLst/>
          </a:prstGeom>
          <a:noFill/>
        </p:spPr>
        <p:txBody>
          <a:bodyPr wrap="square" rtlCol="0">
            <a:spAutoFit/>
          </a:bodyPr>
          <a:lstStyle/>
          <a:p>
            <a:r>
              <a:rPr lang="zh-CN" altLang="en-US" sz="1400" dirty="0">
                <a:solidFill>
                  <a:srgbClr val="0000FF"/>
                </a:solidFill>
                <a:latin typeface="宋体" panose="02010600030101010101" pitchFamily="2" charset="-122"/>
                <a:ea typeface="宋体" panose="02010600030101010101" pitchFamily="2" charset="-122"/>
                <a:cs typeface="Times New Roman" panose="02020603050405020304" pitchFamily="18" charset="0"/>
              </a:rPr>
              <a:t>餐厅所属空调区域的布局</a:t>
            </a:r>
            <a:endParaRPr lang="en-US" sz="1400" dirty="0">
              <a:solidFill>
                <a:srgbClr val="0000FF"/>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76" name="文本框 32">
            <a:extLst>
              <a:ext uri="{FF2B5EF4-FFF2-40B4-BE49-F238E27FC236}">
                <a16:creationId xmlns:a16="http://schemas.microsoft.com/office/drawing/2014/main" id="{92BBE3A8-7F38-4E5D-BB10-DD0B8D520BB4}"/>
              </a:ext>
            </a:extLst>
          </p:cNvPr>
          <p:cNvSpPr txBox="1"/>
          <p:nvPr/>
        </p:nvSpPr>
        <p:spPr>
          <a:xfrm>
            <a:off x="8632450" y="6275586"/>
            <a:ext cx="2000591" cy="307777"/>
          </a:xfrm>
          <a:prstGeom prst="rect">
            <a:avLst/>
          </a:prstGeom>
          <a:noFill/>
        </p:spPr>
        <p:txBody>
          <a:bodyPr wrap="square" rtlCol="0">
            <a:spAutoFit/>
          </a:bodyPr>
          <a:lstStyle/>
          <a:p>
            <a:r>
              <a:rPr lang="zh-CN" altLang="en-US" sz="1400" dirty="0">
                <a:solidFill>
                  <a:srgbClr val="0000FF"/>
                </a:solidFill>
                <a:latin typeface="宋体" panose="02010600030101010101" pitchFamily="2" charset="-122"/>
                <a:ea typeface="宋体" panose="02010600030101010101" pitchFamily="2" charset="-122"/>
                <a:cs typeface="Times New Roman" panose="02020603050405020304" pitchFamily="18" charset="0"/>
              </a:rPr>
              <a:t>空调区域的安装空间 </a:t>
            </a:r>
            <a:endParaRPr lang="en-HK" sz="1400" dirty="0">
              <a:solidFill>
                <a:srgbClr val="0000FF"/>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77" name="灯片编号占位符 1">
            <a:extLst>
              <a:ext uri="{FF2B5EF4-FFF2-40B4-BE49-F238E27FC236}">
                <a16:creationId xmlns:a16="http://schemas.microsoft.com/office/drawing/2014/main" id="{5BC7F46E-84AF-440F-B453-B382A8EEC7B2}"/>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15</a:t>
            </a:fld>
            <a:endParaRPr lang="en-US" altLang="zh-CN" dirty="0"/>
          </a:p>
        </p:txBody>
      </p:sp>
    </p:spTree>
    <p:extLst>
      <p:ext uri="{BB962C8B-B14F-4D97-AF65-F5344CB8AC3E}">
        <p14:creationId xmlns:p14="http://schemas.microsoft.com/office/powerpoint/2010/main" val="514705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7AF7ED4-F98A-49BF-A88B-428774C2BA8A}"/>
              </a:ext>
            </a:extLst>
          </p:cNvPr>
          <p:cNvPicPr>
            <a:picLocks noChangeAspect="1"/>
          </p:cNvPicPr>
          <p:nvPr/>
        </p:nvPicPr>
        <p:blipFill rotWithShape="1">
          <a:blip r:embed="rId3"/>
          <a:srcRect t="896"/>
          <a:stretch/>
        </p:blipFill>
        <p:spPr>
          <a:xfrm>
            <a:off x="461363" y="962025"/>
            <a:ext cx="10996924" cy="5749785"/>
          </a:xfrm>
          <a:prstGeom prst="rect">
            <a:avLst/>
          </a:prstGeom>
        </p:spPr>
      </p:pic>
      <p:sp>
        <p:nvSpPr>
          <p:cNvPr id="16" name="TextBox 14">
            <a:extLst>
              <a:ext uri="{FF2B5EF4-FFF2-40B4-BE49-F238E27FC236}">
                <a16:creationId xmlns:a16="http://schemas.microsoft.com/office/drawing/2014/main" id="{A4472748-AE03-4A44-A8C9-E99E3BEB5B75}"/>
              </a:ext>
            </a:extLst>
          </p:cNvPr>
          <p:cNvSpPr txBox="1"/>
          <p:nvPr/>
        </p:nvSpPr>
        <p:spPr>
          <a:xfrm>
            <a:off x="337267" y="1066800"/>
            <a:ext cx="2815507" cy="400110"/>
          </a:xfrm>
          <a:prstGeom prst="rect">
            <a:avLst/>
          </a:prstGeom>
          <a:noFill/>
        </p:spPr>
        <p:txBody>
          <a:bodyPr wrap="square">
            <a:spAutoFit/>
          </a:bodyPr>
          <a:lstStyle/>
          <a:p>
            <a:pPr marL="342900" indent="-342900">
              <a:buFont typeface="Wingdings" panose="05000000000000000000" pitchFamily="2" charset="2"/>
              <a:buChar char="Ø"/>
            </a:pPr>
            <a:r>
              <a:rPr lang="en-HK" altLang="zh-CN" sz="2000" b="1" dirty="0">
                <a:latin typeface="Times New Roman" panose="02020603050405020304" pitchFamily="18" charset="0"/>
                <a:ea typeface="宋体" panose="02010600030101010101" pitchFamily="2" charset="-122"/>
                <a:cs typeface="Times New Roman" panose="02020603050405020304" pitchFamily="18" charset="0"/>
              </a:rPr>
              <a:t>IEC</a:t>
            </a:r>
            <a:r>
              <a:rPr lang="zh-CN" altLang="en-US" sz="2000" b="1" dirty="0">
                <a:latin typeface="宋体" panose="02010600030101010101" pitchFamily="2" charset="-122"/>
                <a:ea typeface="宋体" panose="02010600030101010101" pitchFamily="2" charset="-122"/>
              </a:rPr>
              <a:t>风侧设计图</a:t>
            </a:r>
            <a:endParaRPr lang="en-US" sz="2000" b="1" dirty="0">
              <a:effectLst/>
              <a:latin typeface="宋体" panose="02010600030101010101" pitchFamily="2" charset="-122"/>
              <a:ea typeface="宋体" panose="02010600030101010101" pitchFamily="2" charset="-122"/>
            </a:endParaRPr>
          </a:p>
        </p:txBody>
      </p:sp>
      <p:sp>
        <p:nvSpPr>
          <p:cNvPr id="17" name="灯片编号占位符 1">
            <a:extLst>
              <a:ext uri="{FF2B5EF4-FFF2-40B4-BE49-F238E27FC236}">
                <a16:creationId xmlns:a16="http://schemas.microsoft.com/office/drawing/2014/main" id="{20904C2C-696C-4E63-AA9F-5D46EA8288C0}"/>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16</a:t>
            </a:fld>
            <a:endParaRPr lang="en-US" altLang="zh-CN" dirty="0"/>
          </a:p>
        </p:txBody>
      </p:sp>
      <p:sp>
        <p:nvSpPr>
          <p:cNvPr id="8" name="矩形 7">
            <a:extLst>
              <a:ext uri="{FF2B5EF4-FFF2-40B4-BE49-F238E27FC236}">
                <a16:creationId xmlns:a16="http://schemas.microsoft.com/office/drawing/2014/main" id="{A5996BCA-8A0E-4C68-8265-D18467A36F89}"/>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Tree>
    <p:extLst>
      <p:ext uri="{BB962C8B-B14F-4D97-AF65-F5344CB8AC3E}">
        <p14:creationId xmlns:p14="http://schemas.microsoft.com/office/powerpoint/2010/main" val="830596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3348C0E-44E9-4482-ADF1-9D97CD2B1A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9672" y="1066800"/>
            <a:ext cx="8189554" cy="5482326"/>
          </a:xfrm>
          <a:prstGeom prst="rect">
            <a:avLst/>
          </a:prstGeom>
        </p:spPr>
      </p:pic>
      <p:sp>
        <p:nvSpPr>
          <p:cNvPr id="16" name="TextBox 14">
            <a:extLst>
              <a:ext uri="{FF2B5EF4-FFF2-40B4-BE49-F238E27FC236}">
                <a16:creationId xmlns:a16="http://schemas.microsoft.com/office/drawing/2014/main" id="{A4472748-AE03-4A44-A8C9-E99E3BEB5B75}"/>
              </a:ext>
            </a:extLst>
          </p:cNvPr>
          <p:cNvSpPr txBox="1"/>
          <p:nvPr/>
        </p:nvSpPr>
        <p:spPr>
          <a:xfrm>
            <a:off x="337267" y="1066800"/>
            <a:ext cx="2815507" cy="400110"/>
          </a:xfrm>
          <a:prstGeom prst="rect">
            <a:avLst/>
          </a:prstGeom>
          <a:noFill/>
        </p:spPr>
        <p:txBody>
          <a:bodyPr wrap="square">
            <a:spAutoFit/>
          </a:bodyPr>
          <a:lstStyle/>
          <a:p>
            <a:pPr marL="342900" indent="-342900">
              <a:buFont typeface="Wingdings" panose="05000000000000000000" pitchFamily="2" charset="2"/>
              <a:buChar char="Ø"/>
            </a:pPr>
            <a:r>
              <a:rPr lang="en-HK" altLang="zh-CN" sz="2000" b="1" dirty="0">
                <a:latin typeface="Times New Roman" panose="02020603050405020304" pitchFamily="18" charset="0"/>
                <a:ea typeface="宋体" panose="02010600030101010101" pitchFamily="2" charset="-122"/>
                <a:cs typeface="Times New Roman" panose="02020603050405020304" pitchFamily="18" charset="0"/>
              </a:rPr>
              <a:t>IEC</a:t>
            </a:r>
            <a:r>
              <a:rPr lang="zh-CN" altLang="en-US" sz="2000" b="1" dirty="0">
                <a:latin typeface="宋体" panose="02010600030101010101" pitchFamily="2" charset="-122"/>
                <a:ea typeface="宋体" panose="02010600030101010101" pitchFamily="2" charset="-122"/>
              </a:rPr>
              <a:t>运行系统图</a:t>
            </a:r>
            <a:endParaRPr lang="en-US" sz="2000" b="1" dirty="0">
              <a:effectLst/>
              <a:latin typeface="宋体" panose="02010600030101010101" pitchFamily="2" charset="-122"/>
              <a:ea typeface="宋体" panose="02010600030101010101" pitchFamily="2" charset="-122"/>
            </a:endParaRPr>
          </a:p>
        </p:txBody>
      </p:sp>
      <p:sp>
        <p:nvSpPr>
          <p:cNvPr id="17" name="灯片编号占位符 1">
            <a:extLst>
              <a:ext uri="{FF2B5EF4-FFF2-40B4-BE49-F238E27FC236}">
                <a16:creationId xmlns:a16="http://schemas.microsoft.com/office/drawing/2014/main" id="{20904C2C-696C-4E63-AA9F-5D46EA8288C0}"/>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17</a:t>
            </a:fld>
            <a:endParaRPr lang="en-US" altLang="zh-CN" dirty="0"/>
          </a:p>
        </p:txBody>
      </p:sp>
      <p:sp>
        <p:nvSpPr>
          <p:cNvPr id="8" name="矩形 7">
            <a:extLst>
              <a:ext uri="{FF2B5EF4-FFF2-40B4-BE49-F238E27FC236}">
                <a16:creationId xmlns:a16="http://schemas.microsoft.com/office/drawing/2014/main" id="{A5996BCA-8A0E-4C68-8265-D18467A36F89}"/>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Tree>
    <p:extLst>
      <p:ext uri="{BB962C8B-B14F-4D97-AF65-F5344CB8AC3E}">
        <p14:creationId xmlns:p14="http://schemas.microsoft.com/office/powerpoint/2010/main" val="1680348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481F6AA3-000E-423C-B6AB-A1C1F2626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473" y="2774926"/>
            <a:ext cx="5684818" cy="3410891"/>
          </a:xfrm>
          <a:prstGeom prst="rect">
            <a:avLst/>
          </a:prstGeom>
        </p:spPr>
      </p:pic>
      <p:pic>
        <p:nvPicPr>
          <p:cNvPr id="23" name="图片 22">
            <a:extLst>
              <a:ext uri="{FF2B5EF4-FFF2-40B4-BE49-F238E27FC236}">
                <a16:creationId xmlns:a16="http://schemas.microsoft.com/office/drawing/2014/main" id="{297EE89B-C533-4314-9FFA-4CC7C6FA4A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0393" y="2480596"/>
            <a:ext cx="5566541" cy="3848416"/>
          </a:xfrm>
          <a:prstGeom prst="rect">
            <a:avLst/>
          </a:prstGeom>
        </p:spPr>
      </p:pic>
      <p:sp>
        <p:nvSpPr>
          <p:cNvPr id="11" name="TextBox 14">
            <a:extLst>
              <a:ext uri="{FF2B5EF4-FFF2-40B4-BE49-F238E27FC236}">
                <a16:creationId xmlns:a16="http://schemas.microsoft.com/office/drawing/2014/main" id="{F2AF8566-D143-4D7B-B602-4DEA6ABEDBCD}"/>
              </a:ext>
            </a:extLst>
          </p:cNvPr>
          <p:cNvSpPr txBox="1"/>
          <p:nvPr/>
        </p:nvSpPr>
        <p:spPr>
          <a:xfrm>
            <a:off x="480142" y="988732"/>
            <a:ext cx="5263433" cy="400110"/>
          </a:xfrm>
          <a:prstGeom prst="rect">
            <a:avLst/>
          </a:prstGeom>
          <a:noFill/>
        </p:spPr>
        <p:txBody>
          <a:bodyPr wrap="square">
            <a:spAutoFit/>
          </a:bodyPr>
          <a:lstStyle/>
          <a:p>
            <a:pPr marL="457200" indent="-457200">
              <a:buFont typeface="Wingdings" panose="05000000000000000000" pitchFamily="2" charset="2"/>
              <a:buChar char="Ø"/>
            </a:pPr>
            <a:r>
              <a:rPr lang="en-US" altLang="zh-CN" sz="2000" b="1" dirty="0">
                <a:latin typeface="Times New Roman" panose="02020603050405020304" pitchFamily="18" charset="0"/>
                <a:ea typeface="宋体" panose="02010600030101010101" pitchFamily="2" charset="-122"/>
              </a:rPr>
              <a:t>IEC</a:t>
            </a:r>
            <a:r>
              <a:rPr lang="zh-CN" altLang="en-US" sz="2000" b="1" dirty="0">
                <a:latin typeface="Times New Roman" panose="02020603050405020304" pitchFamily="18" charset="0"/>
                <a:ea typeface="宋体" panose="02010600030101010101" pitchFamily="2" charset="-122"/>
              </a:rPr>
              <a:t>系统的综合性设计</a:t>
            </a:r>
            <a:endParaRPr lang="en-US" sz="2000" b="1" dirty="0">
              <a:effectLst/>
              <a:latin typeface="Times New Roman" panose="02020603050405020304" pitchFamily="18" charset="0"/>
              <a:ea typeface="宋体" panose="02010600030101010101" pitchFamily="2" charset="-122"/>
            </a:endParaRPr>
          </a:p>
        </p:txBody>
      </p:sp>
      <p:sp>
        <p:nvSpPr>
          <p:cNvPr id="14" name="TextBox 3">
            <a:extLst>
              <a:ext uri="{FF2B5EF4-FFF2-40B4-BE49-F238E27FC236}">
                <a16:creationId xmlns:a16="http://schemas.microsoft.com/office/drawing/2014/main" id="{4E65CD4F-1F19-4E6A-834F-08799652ED12}"/>
              </a:ext>
            </a:extLst>
          </p:cNvPr>
          <p:cNvSpPr txBox="1"/>
          <p:nvPr/>
        </p:nvSpPr>
        <p:spPr>
          <a:xfrm>
            <a:off x="1364095" y="1491809"/>
            <a:ext cx="9751580" cy="885820"/>
          </a:xfrm>
          <a:prstGeom prst="rect">
            <a:avLst/>
          </a:prstGeom>
          <a:noFill/>
          <a:ln>
            <a:noFill/>
          </a:ln>
        </p:spPr>
        <p:txBody>
          <a:bodyPr wrap="square" rtlCol="0">
            <a:spAutoFit/>
          </a:bodyPr>
          <a:lstStyle/>
          <a:p>
            <a:pPr marL="342900" indent="-342900">
              <a:lnSpc>
                <a:spcPts val="3000"/>
              </a:lnSpc>
              <a:spcAft>
                <a:spcPts val="600"/>
              </a:spcAft>
              <a:buFont typeface="Arial" panose="020B0604020202020204" pitchFamily="34" charset="0"/>
              <a:buChar char="•"/>
            </a:pP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个回路：</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新风回路</a:t>
            </a:r>
            <a:r>
              <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回风回路和循环水回路</a:t>
            </a:r>
            <a:endPar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ts val="3000"/>
              </a:lnSpc>
              <a:spcAft>
                <a:spcPts val="600"/>
              </a:spcAft>
              <a:buFont typeface="Arial" panose="020B0604020202020204" pitchFamily="34" charset="0"/>
              <a:buChar char="•"/>
            </a:pPr>
            <a:r>
              <a:rPr lang="zh-CN" altLang="en-US" sz="2000" b="1" dirty="0">
                <a:solidFill>
                  <a:schemeClr val="tx1"/>
                </a:solidFill>
                <a:latin typeface="宋体" panose="02010600030101010101" pitchFamily="2" charset="-122"/>
                <a:ea typeface="宋体" panose="02010600030101010101" pitchFamily="2" charset="-122"/>
                <a:cs typeface="Times New Roman" panose="02020603050405020304" pitchFamily="18" charset="0"/>
              </a:rPr>
              <a:t>组成部分</a:t>
            </a:r>
            <a:r>
              <a:rPr lang="zh-CN" altLang="en-US" sz="2000" b="1" dirty="0">
                <a:latin typeface="宋体" panose="02010600030101010101" pitchFamily="2" charset="-122"/>
                <a:ea typeface="宋体" panose="02010600030101010101" pitchFamily="2" charset="-122"/>
                <a:cs typeface="Times New Roman" panose="02020603050405020304" pitchFamily="18" charset="0"/>
              </a:rPr>
              <a:t>：</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换热器芯体</a:t>
            </a:r>
            <a:r>
              <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新风风机</a:t>
            </a:r>
            <a:r>
              <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回风风机</a:t>
            </a:r>
            <a:r>
              <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循环水水泵</a:t>
            </a:r>
            <a:r>
              <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rPr>
              <a:t>, </a:t>
            </a:r>
            <a:r>
              <a:rPr lang="zh-CN" altLang="en-US" sz="2000" dirty="0">
                <a:latin typeface="宋体" panose="02010600030101010101" pitchFamily="2" charset="-122"/>
                <a:ea typeface="宋体" panose="02010600030101010101" pitchFamily="2" charset="-122"/>
                <a:cs typeface="Times New Roman" panose="02020603050405020304" pitchFamily="18" charset="0"/>
              </a:rPr>
              <a:t>喷淋水系统和水箱</a:t>
            </a:r>
            <a:endParaRPr lang="en-US" sz="200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p:txBody>
      </p:sp>
      <p:cxnSp>
        <p:nvCxnSpPr>
          <p:cNvPr id="4" name="直接连接符 3">
            <a:extLst>
              <a:ext uri="{FF2B5EF4-FFF2-40B4-BE49-F238E27FC236}">
                <a16:creationId xmlns:a16="http://schemas.microsoft.com/office/drawing/2014/main" id="{191359D9-AD6F-4635-9409-E17B355F2729}"/>
              </a:ext>
            </a:extLst>
          </p:cNvPr>
          <p:cNvCxnSpPr>
            <a:cxnSpLocks/>
          </p:cNvCxnSpPr>
          <p:nvPr/>
        </p:nvCxnSpPr>
        <p:spPr bwMode="auto">
          <a:xfrm flipH="1" flipV="1">
            <a:off x="3832416" y="4404804"/>
            <a:ext cx="1029600" cy="532057"/>
          </a:xfrm>
          <a:prstGeom prst="line">
            <a:avLst/>
          </a:prstGeom>
          <a:noFill/>
          <a:ln w="38100" cap="flat" cmpd="sng" algn="ctr">
            <a:solidFill>
              <a:srgbClr val="00B0F0"/>
            </a:solidFill>
            <a:prstDash val="dash"/>
            <a:round/>
            <a:headEnd type="none" w="med" len="med"/>
            <a:tailEnd type="none" w="med" len="med"/>
          </a:ln>
          <a:effectLst/>
        </p:spPr>
      </p:cxnSp>
      <p:cxnSp>
        <p:nvCxnSpPr>
          <p:cNvPr id="21" name="直接连接符 20">
            <a:extLst>
              <a:ext uri="{FF2B5EF4-FFF2-40B4-BE49-F238E27FC236}">
                <a16:creationId xmlns:a16="http://schemas.microsoft.com/office/drawing/2014/main" id="{E944A00F-ACAD-49B2-8FE2-EC8852308B5E}"/>
              </a:ext>
            </a:extLst>
          </p:cNvPr>
          <p:cNvCxnSpPr>
            <a:cxnSpLocks/>
          </p:cNvCxnSpPr>
          <p:nvPr/>
        </p:nvCxnSpPr>
        <p:spPr bwMode="auto">
          <a:xfrm flipH="1" flipV="1">
            <a:off x="2452878" y="4060462"/>
            <a:ext cx="1343025" cy="325585"/>
          </a:xfrm>
          <a:prstGeom prst="line">
            <a:avLst/>
          </a:prstGeom>
          <a:noFill/>
          <a:ln w="38100" cap="flat" cmpd="sng" algn="ctr">
            <a:solidFill>
              <a:srgbClr val="00B0F0"/>
            </a:solidFill>
            <a:prstDash val="dash"/>
            <a:round/>
            <a:headEnd type="none" w="med" len="med"/>
            <a:tailEnd type="none" w="med" len="med"/>
          </a:ln>
          <a:effectLst/>
        </p:spPr>
      </p:cxnSp>
      <p:cxnSp>
        <p:nvCxnSpPr>
          <p:cNvPr id="30" name="直接连接符 29">
            <a:extLst>
              <a:ext uri="{FF2B5EF4-FFF2-40B4-BE49-F238E27FC236}">
                <a16:creationId xmlns:a16="http://schemas.microsoft.com/office/drawing/2014/main" id="{DC00158D-00F8-4AF4-A1AB-0D3DFA1E9560}"/>
              </a:ext>
            </a:extLst>
          </p:cNvPr>
          <p:cNvCxnSpPr>
            <a:cxnSpLocks/>
          </p:cNvCxnSpPr>
          <p:nvPr/>
        </p:nvCxnSpPr>
        <p:spPr bwMode="auto">
          <a:xfrm flipV="1">
            <a:off x="4032673" y="3377323"/>
            <a:ext cx="592573" cy="2200041"/>
          </a:xfrm>
          <a:prstGeom prst="line">
            <a:avLst/>
          </a:prstGeom>
          <a:noFill/>
          <a:ln w="38100" cap="flat" cmpd="sng" algn="ctr">
            <a:solidFill>
              <a:srgbClr val="FF0000"/>
            </a:solidFill>
            <a:prstDash val="dash"/>
            <a:round/>
            <a:headEnd type="none" w="med" len="med"/>
            <a:tailEnd type="none" w="med" len="med"/>
          </a:ln>
          <a:effectLst/>
        </p:spPr>
      </p:cxnSp>
      <p:cxnSp>
        <p:nvCxnSpPr>
          <p:cNvPr id="36" name="直接连接符 35">
            <a:extLst>
              <a:ext uri="{FF2B5EF4-FFF2-40B4-BE49-F238E27FC236}">
                <a16:creationId xmlns:a16="http://schemas.microsoft.com/office/drawing/2014/main" id="{0885A5D9-CFDE-4F8B-B07D-DF5E59DFF395}"/>
              </a:ext>
            </a:extLst>
          </p:cNvPr>
          <p:cNvCxnSpPr>
            <a:cxnSpLocks/>
          </p:cNvCxnSpPr>
          <p:nvPr/>
        </p:nvCxnSpPr>
        <p:spPr bwMode="auto">
          <a:xfrm>
            <a:off x="3260341" y="3018149"/>
            <a:ext cx="1361505" cy="323727"/>
          </a:xfrm>
          <a:prstGeom prst="line">
            <a:avLst/>
          </a:prstGeom>
          <a:noFill/>
          <a:ln w="38100" cap="flat" cmpd="sng" algn="ctr">
            <a:solidFill>
              <a:srgbClr val="FF0000"/>
            </a:solidFill>
            <a:prstDash val="dash"/>
            <a:round/>
            <a:headEnd type="none" w="med" len="med"/>
            <a:tailEnd type="none" w="med" len="med"/>
          </a:ln>
          <a:effectLst/>
        </p:spPr>
      </p:cxnSp>
      <p:sp>
        <p:nvSpPr>
          <p:cNvPr id="50" name="文本框 32">
            <a:extLst>
              <a:ext uri="{FF2B5EF4-FFF2-40B4-BE49-F238E27FC236}">
                <a16:creationId xmlns:a16="http://schemas.microsoft.com/office/drawing/2014/main" id="{8E82AE98-E674-411B-8367-AB4361BA5014}"/>
              </a:ext>
            </a:extLst>
          </p:cNvPr>
          <p:cNvSpPr txBox="1"/>
          <p:nvPr/>
        </p:nvSpPr>
        <p:spPr>
          <a:xfrm>
            <a:off x="2542884" y="6346820"/>
            <a:ext cx="1434914" cy="307777"/>
          </a:xfrm>
          <a:prstGeom prst="rect">
            <a:avLst/>
          </a:prstGeom>
          <a:noFill/>
        </p:spPr>
        <p:txBody>
          <a:bodyPr wrap="square" rtlCol="0">
            <a:spAutoFit/>
          </a:bodyPr>
          <a:lstStyle/>
          <a:p>
            <a:r>
              <a:rPr lang="en-US" sz="1400" dirty="0">
                <a:solidFill>
                  <a:srgbClr val="0000FF"/>
                </a:solidFill>
                <a:latin typeface="Times New Roman" panose="02020603050405020304" pitchFamily="18" charset="0"/>
                <a:cs typeface="Times New Roman" panose="02020603050405020304" pitchFamily="18" charset="0"/>
              </a:rPr>
              <a:t>IEC </a:t>
            </a:r>
            <a:r>
              <a:rPr lang="zh-CN" altLang="en-US" sz="1400" dirty="0">
                <a:solidFill>
                  <a:srgbClr val="0000FF"/>
                </a:solidFill>
                <a:latin typeface="Times New Roman" panose="02020603050405020304" pitchFamily="18" charset="0"/>
                <a:cs typeface="Times New Roman" panose="02020603050405020304" pitchFamily="18" charset="0"/>
              </a:rPr>
              <a:t>外部示意图</a:t>
            </a:r>
            <a:endParaRPr lang="en-US" sz="1400" dirty="0">
              <a:solidFill>
                <a:srgbClr val="0000FF"/>
              </a:solidFill>
              <a:latin typeface="Times New Roman" panose="02020603050405020304" pitchFamily="18" charset="0"/>
              <a:cs typeface="Times New Roman" panose="02020603050405020304" pitchFamily="18" charset="0"/>
            </a:endParaRPr>
          </a:p>
        </p:txBody>
      </p:sp>
      <p:sp>
        <p:nvSpPr>
          <p:cNvPr id="51" name="文本框 32">
            <a:extLst>
              <a:ext uri="{FF2B5EF4-FFF2-40B4-BE49-F238E27FC236}">
                <a16:creationId xmlns:a16="http://schemas.microsoft.com/office/drawing/2014/main" id="{7226FBF7-BFCA-45D9-ADB2-C2CAF3A9061A}"/>
              </a:ext>
            </a:extLst>
          </p:cNvPr>
          <p:cNvSpPr txBox="1"/>
          <p:nvPr/>
        </p:nvSpPr>
        <p:spPr>
          <a:xfrm>
            <a:off x="8398935" y="6284879"/>
            <a:ext cx="1434914" cy="307777"/>
          </a:xfrm>
          <a:prstGeom prst="rect">
            <a:avLst/>
          </a:prstGeom>
          <a:noFill/>
        </p:spPr>
        <p:txBody>
          <a:bodyPr wrap="square" rtlCol="0">
            <a:spAutoFit/>
          </a:bodyPr>
          <a:lstStyle/>
          <a:p>
            <a:r>
              <a:rPr lang="en-US" sz="1400" dirty="0">
                <a:solidFill>
                  <a:srgbClr val="0000FF"/>
                </a:solidFill>
                <a:latin typeface="Times New Roman" panose="02020603050405020304" pitchFamily="18" charset="0"/>
                <a:cs typeface="Times New Roman" panose="02020603050405020304" pitchFamily="18" charset="0"/>
              </a:rPr>
              <a:t>IEC</a:t>
            </a:r>
            <a:r>
              <a:rPr lang="zh-CN" altLang="en-US" sz="1400" dirty="0">
                <a:solidFill>
                  <a:srgbClr val="0000FF"/>
                </a:solidFill>
                <a:latin typeface="Times New Roman" panose="02020603050405020304" pitchFamily="18" charset="0"/>
                <a:cs typeface="Times New Roman" panose="02020603050405020304" pitchFamily="18" charset="0"/>
              </a:rPr>
              <a:t>内部示意图</a:t>
            </a:r>
            <a:endParaRPr lang="en-US" sz="1400" dirty="0">
              <a:solidFill>
                <a:srgbClr val="0000FF"/>
              </a:solidFill>
              <a:latin typeface="Times New Roman" panose="02020603050405020304" pitchFamily="18" charset="0"/>
              <a:cs typeface="Times New Roman" panose="02020603050405020304" pitchFamily="18" charset="0"/>
            </a:endParaRPr>
          </a:p>
        </p:txBody>
      </p:sp>
      <p:sp>
        <p:nvSpPr>
          <p:cNvPr id="52" name="灯片编号占位符 1">
            <a:extLst>
              <a:ext uri="{FF2B5EF4-FFF2-40B4-BE49-F238E27FC236}">
                <a16:creationId xmlns:a16="http://schemas.microsoft.com/office/drawing/2014/main" id="{EB92DBB4-DECD-47FB-81C3-427C3A7CD7CF}"/>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18</a:t>
            </a:fld>
            <a:endParaRPr lang="en-US" altLang="zh-CN" dirty="0"/>
          </a:p>
        </p:txBody>
      </p:sp>
      <p:sp>
        <p:nvSpPr>
          <p:cNvPr id="22" name="矩形 21">
            <a:extLst>
              <a:ext uri="{FF2B5EF4-FFF2-40B4-BE49-F238E27FC236}">
                <a16:creationId xmlns:a16="http://schemas.microsoft.com/office/drawing/2014/main" id="{9D327919-0DD9-43C1-A003-4A9F21618335}"/>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Tree>
    <p:extLst>
      <p:ext uri="{BB962C8B-B14F-4D97-AF65-F5344CB8AC3E}">
        <p14:creationId xmlns:p14="http://schemas.microsoft.com/office/powerpoint/2010/main" val="1108269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9CF82-8E52-31B1-6DD3-FD5AA479EE03}"/>
            </a:ext>
          </a:extLst>
        </p:cNvPr>
        <p:cNvGrpSpPr/>
        <p:nvPr/>
      </p:nvGrpSpPr>
      <p:grpSpPr>
        <a:xfrm>
          <a:off x="0" y="0"/>
          <a:ext cx="0" cy="0"/>
          <a:chOff x="0" y="0"/>
          <a:chExt cx="0" cy="0"/>
        </a:xfrm>
      </p:grpSpPr>
      <p:pic>
        <p:nvPicPr>
          <p:cNvPr id="12" name="图片 11">
            <a:extLst>
              <a:ext uri="{FF2B5EF4-FFF2-40B4-BE49-F238E27FC236}">
                <a16:creationId xmlns:a16="http://schemas.microsoft.com/office/drawing/2014/main" id="{42ABBC23-E48E-4512-9F27-9B08FC05D44E}"/>
              </a:ext>
            </a:extLst>
          </p:cNvPr>
          <p:cNvPicPr>
            <a:picLocks noChangeAspect="1"/>
          </p:cNvPicPr>
          <p:nvPr/>
        </p:nvPicPr>
        <p:blipFill>
          <a:blip r:embed="rId3"/>
          <a:stretch>
            <a:fillRect/>
          </a:stretch>
        </p:blipFill>
        <p:spPr>
          <a:xfrm>
            <a:off x="2438400" y="1063124"/>
            <a:ext cx="7056740" cy="5679421"/>
          </a:xfrm>
          <a:prstGeom prst="rect">
            <a:avLst/>
          </a:prstGeom>
        </p:spPr>
      </p:pic>
      <p:sp>
        <p:nvSpPr>
          <p:cNvPr id="4" name="矩形 3">
            <a:extLst>
              <a:ext uri="{FF2B5EF4-FFF2-40B4-BE49-F238E27FC236}">
                <a16:creationId xmlns:a16="http://schemas.microsoft.com/office/drawing/2014/main" id="{C9CBB2A6-CDC5-4ED7-B4F5-D7C1262A8A3B}"/>
              </a:ext>
            </a:extLst>
          </p:cNvPr>
          <p:cNvSpPr/>
          <p:nvPr/>
        </p:nvSpPr>
        <p:spPr bwMode="auto">
          <a:xfrm>
            <a:off x="2181225" y="2238984"/>
            <a:ext cx="1181100" cy="580415"/>
          </a:xfrm>
          <a:prstGeom prst="rect">
            <a:avLst/>
          </a:prstGeom>
          <a:noFill/>
          <a:ln w="28575" cap="flat" cmpd="sng" algn="ctr">
            <a:solidFill>
              <a:srgbClr val="00AC46"/>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13" name="矩形 12">
            <a:extLst>
              <a:ext uri="{FF2B5EF4-FFF2-40B4-BE49-F238E27FC236}">
                <a16:creationId xmlns:a16="http://schemas.microsoft.com/office/drawing/2014/main" id="{46001E7C-2C80-47CB-B962-C585171EB2E2}"/>
              </a:ext>
            </a:extLst>
          </p:cNvPr>
          <p:cNvSpPr/>
          <p:nvPr/>
        </p:nvSpPr>
        <p:spPr bwMode="auto">
          <a:xfrm>
            <a:off x="8096250" y="2238984"/>
            <a:ext cx="847725" cy="580415"/>
          </a:xfrm>
          <a:prstGeom prst="rect">
            <a:avLst/>
          </a:prstGeom>
          <a:noFill/>
          <a:ln w="28575" cap="flat" cmpd="sng" algn="ctr">
            <a:solidFill>
              <a:srgbClr val="00AC46"/>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rgbClr val="00AC46"/>
              </a:solidFill>
              <a:effectLst/>
              <a:latin typeface="Arial" charset="0"/>
            </a:endParaRPr>
          </a:p>
        </p:txBody>
      </p:sp>
      <p:sp>
        <p:nvSpPr>
          <p:cNvPr id="14" name="矩形 13">
            <a:extLst>
              <a:ext uri="{FF2B5EF4-FFF2-40B4-BE49-F238E27FC236}">
                <a16:creationId xmlns:a16="http://schemas.microsoft.com/office/drawing/2014/main" id="{D2C8EA00-7EF6-4DD6-8292-97146AE20BFA}"/>
              </a:ext>
            </a:extLst>
          </p:cNvPr>
          <p:cNvSpPr/>
          <p:nvPr/>
        </p:nvSpPr>
        <p:spPr bwMode="auto">
          <a:xfrm>
            <a:off x="6014395" y="6162130"/>
            <a:ext cx="847725" cy="580415"/>
          </a:xfrm>
          <a:prstGeom prst="rect">
            <a:avLst/>
          </a:prstGeom>
          <a:noFill/>
          <a:ln w="28575" cap="flat" cmpd="sng" algn="ctr">
            <a:solidFill>
              <a:srgbClr val="00AC46"/>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15" name="TextBox 14">
            <a:extLst>
              <a:ext uri="{FF2B5EF4-FFF2-40B4-BE49-F238E27FC236}">
                <a16:creationId xmlns:a16="http://schemas.microsoft.com/office/drawing/2014/main" id="{D2765219-4AD9-4AB8-B738-EE151BBC1724}"/>
              </a:ext>
            </a:extLst>
          </p:cNvPr>
          <p:cNvSpPr txBox="1"/>
          <p:nvPr/>
        </p:nvSpPr>
        <p:spPr>
          <a:xfrm>
            <a:off x="337267" y="1066800"/>
            <a:ext cx="3676524" cy="400110"/>
          </a:xfrm>
          <a:prstGeom prst="rect">
            <a:avLst/>
          </a:prstGeom>
          <a:noFill/>
        </p:spPr>
        <p:txBody>
          <a:bodyPr wrap="square">
            <a:spAutoFit/>
          </a:bodyPr>
          <a:lstStyle/>
          <a:p>
            <a:pPr marL="342900" indent="-342900">
              <a:buFont typeface="Wingdings" panose="05000000000000000000" pitchFamily="2" charset="2"/>
              <a:buChar char="Ø"/>
            </a:pPr>
            <a:r>
              <a:rPr lang="en-US" altLang="zh-CN" sz="2000" b="1" dirty="0">
                <a:latin typeface="Times New Roman" panose="02020603050405020304" pitchFamily="18" charset="0"/>
                <a:ea typeface="宋体" panose="02010600030101010101" pitchFamily="2" charset="-122"/>
              </a:rPr>
              <a:t>IEC</a:t>
            </a:r>
            <a:r>
              <a:rPr lang="zh-CN" altLang="en-US" sz="2000" b="1" dirty="0">
                <a:latin typeface="Times New Roman" panose="02020603050405020304" pitchFamily="18" charset="0"/>
                <a:ea typeface="宋体" panose="02010600030101010101" pitchFamily="2" charset="-122"/>
              </a:rPr>
              <a:t>系统的传感器设置情况</a:t>
            </a:r>
            <a:endParaRPr lang="en-US" sz="2000" b="1" dirty="0">
              <a:effectLst/>
              <a:latin typeface="Times New Roman" panose="02020603050405020304" pitchFamily="18" charset="0"/>
              <a:ea typeface="宋体" panose="02010600030101010101" pitchFamily="2" charset="-122"/>
            </a:endParaRPr>
          </a:p>
        </p:txBody>
      </p:sp>
      <p:cxnSp>
        <p:nvCxnSpPr>
          <p:cNvPr id="6" name="直接箭头连接符 5">
            <a:extLst>
              <a:ext uri="{FF2B5EF4-FFF2-40B4-BE49-F238E27FC236}">
                <a16:creationId xmlns:a16="http://schemas.microsoft.com/office/drawing/2014/main" id="{6AD9E881-4124-44DB-BA77-3B79D0C2D47A}"/>
              </a:ext>
            </a:extLst>
          </p:cNvPr>
          <p:cNvCxnSpPr>
            <a:cxnSpLocks/>
          </p:cNvCxnSpPr>
          <p:nvPr/>
        </p:nvCxnSpPr>
        <p:spPr bwMode="auto">
          <a:xfrm flipV="1">
            <a:off x="7052620" y="6009730"/>
            <a:ext cx="0" cy="575413"/>
          </a:xfrm>
          <a:prstGeom prst="straightConnector1">
            <a:avLst/>
          </a:prstGeom>
          <a:noFill/>
          <a:ln w="9525" cap="flat" cmpd="sng" algn="ctr">
            <a:solidFill>
              <a:srgbClr val="FF0000"/>
            </a:solidFill>
            <a:prstDash val="solid"/>
            <a:round/>
            <a:headEnd type="none" w="med" len="med"/>
            <a:tailEnd type="triangle"/>
          </a:ln>
          <a:effectLst/>
        </p:spPr>
      </p:cxnSp>
      <p:cxnSp>
        <p:nvCxnSpPr>
          <p:cNvPr id="21" name="直接箭头连接符 20">
            <a:extLst>
              <a:ext uri="{FF2B5EF4-FFF2-40B4-BE49-F238E27FC236}">
                <a16:creationId xmlns:a16="http://schemas.microsoft.com/office/drawing/2014/main" id="{C5178669-73F4-42DF-929F-FCCA3614A0C3}"/>
              </a:ext>
            </a:extLst>
          </p:cNvPr>
          <p:cNvCxnSpPr>
            <a:cxnSpLocks/>
          </p:cNvCxnSpPr>
          <p:nvPr/>
        </p:nvCxnSpPr>
        <p:spPr bwMode="auto">
          <a:xfrm flipV="1">
            <a:off x="7205020" y="6009729"/>
            <a:ext cx="0" cy="575413"/>
          </a:xfrm>
          <a:prstGeom prst="straightConnector1">
            <a:avLst/>
          </a:prstGeom>
          <a:noFill/>
          <a:ln w="9525" cap="flat" cmpd="sng" algn="ctr">
            <a:solidFill>
              <a:srgbClr val="FF0000"/>
            </a:solidFill>
            <a:prstDash val="solid"/>
            <a:round/>
            <a:headEnd type="none" w="med" len="med"/>
            <a:tailEnd type="triangle"/>
          </a:ln>
          <a:effectLst/>
        </p:spPr>
      </p:cxnSp>
      <p:cxnSp>
        <p:nvCxnSpPr>
          <p:cNvPr id="22" name="直接箭头连接符 21">
            <a:extLst>
              <a:ext uri="{FF2B5EF4-FFF2-40B4-BE49-F238E27FC236}">
                <a16:creationId xmlns:a16="http://schemas.microsoft.com/office/drawing/2014/main" id="{F44AFDBF-0A29-4AEF-82A0-2BFD2DBB5551}"/>
              </a:ext>
            </a:extLst>
          </p:cNvPr>
          <p:cNvCxnSpPr>
            <a:cxnSpLocks/>
          </p:cNvCxnSpPr>
          <p:nvPr/>
        </p:nvCxnSpPr>
        <p:spPr bwMode="auto">
          <a:xfrm flipV="1">
            <a:off x="7347895" y="6009728"/>
            <a:ext cx="0" cy="575413"/>
          </a:xfrm>
          <a:prstGeom prst="straightConnector1">
            <a:avLst/>
          </a:prstGeom>
          <a:noFill/>
          <a:ln w="9525" cap="flat" cmpd="sng" algn="ctr">
            <a:solidFill>
              <a:srgbClr val="FF0000"/>
            </a:solidFill>
            <a:prstDash val="solid"/>
            <a:round/>
            <a:headEnd type="none" w="med" len="med"/>
            <a:tailEnd type="triangle"/>
          </a:ln>
          <a:effectLst/>
        </p:spPr>
      </p:cxnSp>
      <p:cxnSp>
        <p:nvCxnSpPr>
          <p:cNvPr id="23" name="直接箭头连接符 22">
            <a:extLst>
              <a:ext uri="{FF2B5EF4-FFF2-40B4-BE49-F238E27FC236}">
                <a16:creationId xmlns:a16="http://schemas.microsoft.com/office/drawing/2014/main" id="{C4EFBE0F-E02E-4BF8-9094-0FA7013C3854}"/>
              </a:ext>
            </a:extLst>
          </p:cNvPr>
          <p:cNvCxnSpPr>
            <a:cxnSpLocks/>
          </p:cNvCxnSpPr>
          <p:nvPr/>
        </p:nvCxnSpPr>
        <p:spPr bwMode="auto">
          <a:xfrm flipV="1">
            <a:off x="6909745" y="950605"/>
            <a:ext cx="0" cy="575413"/>
          </a:xfrm>
          <a:prstGeom prst="straightConnector1">
            <a:avLst/>
          </a:prstGeom>
          <a:noFill/>
          <a:ln w="9525" cap="flat" cmpd="sng" algn="ctr">
            <a:solidFill>
              <a:srgbClr val="FF0000"/>
            </a:solidFill>
            <a:prstDash val="solid"/>
            <a:round/>
            <a:headEnd type="none" w="med" len="med"/>
            <a:tailEnd type="triangle"/>
          </a:ln>
          <a:effectLst/>
        </p:spPr>
      </p:cxnSp>
      <p:cxnSp>
        <p:nvCxnSpPr>
          <p:cNvPr id="24" name="直接箭头连接符 23">
            <a:extLst>
              <a:ext uri="{FF2B5EF4-FFF2-40B4-BE49-F238E27FC236}">
                <a16:creationId xmlns:a16="http://schemas.microsoft.com/office/drawing/2014/main" id="{30825D2A-2825-4779-8DC1-331981B52814}"/>
              </a:ext>
            </a:extLst>
          </p:cNvPr>
          <p:cNvCxnSpPr>
            <a:cxnSpLocks/>
          </p:cNvCxnSpPr>
          <p:nvPr/>
        </p:nvCxnSpPr>
        <p:spPr bwMode="auto">
          <a:xfrm flipV="1">
            <a:off x="7062145" y="950604"/>
            <a:ext cx="0" cy="575413"/>
          </a:xfrm>
          <a:prstGeom prst="straightConnector1">
            <a:avLst/>
          </a:prstGeom>
          <a:noFill/>
          <a:ln w="9525" cap="flat" cmpd="sng" algn="ctr">
            <a:solidFill>
              <a:srgbClr val="FF0000"/>
            </a:solidFill>
            <a:prstDash val="solid"/>
            <a:round/>
            <a:headEnd type="none" w="med" len="med"/>
            <a:tailEnd type="triangle"/>
          </a:ln>
          <a:effectLst/>
        </p:spPr>
      </p:cxnSp>
      <p:cxnSp>
        <p:nvCxnSpPr>
          <p:cNvPr id="25" name="直接箭头连接符 24">
            <a:extLst>
              <a:ext uri="{FF2B5EF4-FFF2-40B4-BE49-F238E27FC236}">
                <a16:creationId xmlns:a16="http://schemas.microsoft.com/office/drawing/2014/main" id="{44FD1078-A0AD-496D-9DEB-22588BC2CA62}"/>
              </a:ext>
            </a:extLst>
          </p:cNvPr>
          <p:cNvCxnSpPr>
            <a:cxnSpLocks/>
          </p:cNvCxnSpPr>
          <p:nvPr/>
        </p:nvCxnSpPr>
        <p:spPr bwMode="auto">
          <a:xfrm flipV="1">
            <a:off x="7205020" y="950603"/>
            <a:ext cx="0" cy="575413"/>
          </a:xfrm>
          <a:prstGeom prst="straightConnector1">
            <a:avLst/>
          </a:prstGeom>
          <a:noFill/>
          <a:ln w="9525" cap="flat" cmpd="sng" algn="ctr">
            <a:solidFill>
              <a:srgbClr val="FF0000"/>
            </a:solidFill>
            <a:prstDash val="solid"/>
            <a:round/>
            <a:headEnd type="none" w="med" len="med"/>
            <a:tailEnd type="triangle"/>
          </a:ln>
          <a:effectLst/>
        </p:spPr>
      </p:cxnSp>
      <p:sp>
        <p:nvSpPr>
          <p:cNvPr id="26" name="矩形 25">
            <a:extLst>
              <a:ext uri="{FF2B5EF4-FFF2-40B4-BE49-F238E27FC236}">
                <a16:creationId xmlns:a16="http://schemas.microsoft.com/office/drawing/2014/main" id="{B963BFC3-B26A-44DE-89C4-0DC6E9E517A6}"/>
              </a:ext>
            </a:extLst>
          </p:cNvPr>
          <p:cNvSpPr/>
          <p:nvPr/>
        </p:nvSpPr>
        <p:spPr>
          <a:xfrm>
            <a:off x="2438400" y="3421197"/>
            <a:ext cx="1073157" cy="338554"/>
          </a:xfrm>
          <a:prstGeom prst="rect">
            <a:avLst/>
          </a:prstGeom>
        </p:spPr>
        <p:txBody>
          <a:bodyPr wrap="square">
            <a:spAutoFit/>
          </a:bodyPr>
          <a:lstStyle/>
          <a:p>
            <a:pPr>
              <a:spcAft>
                <a:spcPts val="600"/>
              </a:spcAft>
            </a:pPr>
            <a:r>
              <a:rPr lang="zh-CN" altLang="en-US" sz="1600" b="1" dirty="0">
                <a:solidFill>
                  <a:srgbClr val="0000FF"/>
                </a:solidFill>
                <a:latin typeface="Times New Roman" panose="02020603050405020304" pitchFamily="18" charset="0"/>
                <a:cs typeface="Times New Roman" panose="02020603050405020304" pitchFamily="18" charset="0"/>
              </a:rPr>
              <a:t>回风气流</a:t>
            </a:r>
            <a:endParaRPr lang="en-US" sz="1600" b="1" dirty="0">
              <a:solidFill>
                <a:srgbClr val="0000FF"/>
              </a:solidFill>
              <a:latin typeface="Times New Roman" panose="02020603050405020304" pitchFamily="18" charset="0"/>
              <a:cs typeface="Times New Roman" panose="02020603050405020304" pitchFamily="18" charset="0"/>
            </a:endParaRPr>
          </a:p>
        </p:txBody>
      </p:sp>
      <p:sp>
        <p:nvSpPr>
          <p:cNvPr id="29" name="矩形 28">
            <a:extLst>
              <a:ext uri="{FF2B5EF4-FFF2-40B4-BE49-F238E27FC236}">
                <a16:creationId xmlns:a16="http://schemas.microsoft.com/office/drawing/2014/main" id="{2796CCDB-7CB2-4A98-88AC-224BA3AF6EBA}"/>
              </a:ext>
            </a:extLst>
          </p:cNvPr>
          <p:cNvSpPr/>
          <p:nvPr/>
        </p:nvSpPr>
        <p:spPr>
          <a:xfrm>
            <a:off x="7360254" y="6429455"/>
            <a:ext cx="1018268" cy="338554"/>
          </a:xfrm>
          <a:prstGeom prst="rect">
            <a:avLst/>
          </a:prstGeom>
        </p:spPr>
        <p:txBody>
          <a:bodyPr wrap="square">
            <a:spAutoFit/>
          </a:bodyPr>
          <a:lstStyle/>
          <a:p>
            <a:pPr>
              <a:spcAft>
                <a:spcPts val="600"/>
              </a:spcAft>
            </a:pPr>
            <a:r>
              <a:rPr lang="zh-CN" altLang="en-US" sz="1600" b="1" dirty="0">
                <a:solidFill>
                  <a:srgbClr val="FF0000"/>
                </a:solidFill>
                <a:latin typeface="Times New Roman" panose="02020603050405020304" pitchFamily="18" charset="0"/>
                <a:cs typeface="Times New Roman" panose="02020603050405020304" pitchFamily="18" charset="0"/>
              </a:rPr>
              <a:t>新风气流</a:t>
            </a: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30" name="矩形 29">
            <a:extLst>
              <a:ext uri="{FF2B5EF4-FFF2-40B4-BE49-F238E27FC236}">
                <a16:creationId xmlns:a16="http://schemas.microsoft.com/office/drawing/2014/main" id="{ECE464A6-63C5-4ADD-9E6A-8E5FF776445D}"/>
              </a:ext>
            </a:extLst>
          </p:cNvPr>
          <p:cNvSpPr/>
          <p:nvPr/>
        </p:nvSpPr>
        <p:spPr>
          <a:xfrm>
            <a:off x="2365979" y="1877049"/>
            <a:ext cx="996346" cy="338554"/>
          </a:xfrm>
          <a:prstGeom prst="rect">
            <a:avLst/>
          </a:prstGeom>
        </p:spPr>
        <p:txBody>
          <a:bodyPr wrap="square">
            <a:spAutoFit/>
          </a:bodyPr>
          <a:lstStyle/>
          <a:p>
            <a:pPr>
              <a:spcAft>
                <a:spcPts val="600"/>
              </a:spcAft>
            </a:pPr>
            <a:r>
              <a:rPr lang="zh-CN" alt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rPr>
              <a:t>传感器</a:t>
            </a:r>
            <a:endParaRPr 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18" name="矩形 17">
            <a:extLst>
              <a:ext uri="{FF2B5EF4-FFF2-40B4-BE49-F238E27FC236}">
                <a16:creationId xmlns:a16="http://schemas.microsoft.com/office/drawing/2014/main" id="{A708A0AC-512A-4F6F-8F5B-D323AC299E22}"/>
              </a:ext>
            </a:extLst>
          </p:cNvPr>
          <p:cNvSpPr/>
          <p:nvPr/>
        </p:nvSpPr>
        <p:spPr bwMode="auto">
          <a:xfrm>
            <a:off x="3219450" y="4363547"/>
            <a:ext cx="6365875" cy="2067913"/>
          </a:xfrm>
          <a:prstGeom prst="rect">
            <a:avLst/>
          </a:prstGeom>
          <a:noFill/>
          <a:ln w="28575" cap="flat" cmpd="sng" algn="ctr">
            <a:solidFill>
              <a:srgbClr val="00B0F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20000"/>
              </a:spcBef>
              <a:spcAft>
                <a:spcPct val="0"/>
              </a:spcAft>
              <a:buClrTx/>
              <a:buSzTx/>
              <a:buFontTx/>
              <a:buNone/>
              <a:tabLst/>
            </a:pPr>
            <a:endParaRPr kumimoji="0" lang="en-US" sz="3200" b="0" i="0" u="none" strike="noStrike" cap="none" normalizeH="0" baseline="0">
              <a:ln>
                <a:noFill/>
              </a:ln>
              <a:solidFill>
                <a:schemeClr val="bg2"/>
              </a:solidFill>
              <a:effectLst/>
              <a:latin typeface="Arial" charset="0"/>
            </a:endParaRPr>
          </a:p>
        </p:txBody>
      </p:sp>
      <p:sp>
        <p:nvSpPr>
          <p:cNvPr id="34" name="矩形 33">
            <a:extLst>
              <a:ext uri="{FF2B5EF4-FFF2-40B4-BE49-F238E27FC236}">
                <a16:creationId xmlns:a16="http://schemas.microsoft.com/office/drawing/2014/main" id="{5D8F72D7-30F6-4DCB-A6DF-2E542B07CE57}"/>
              </a:ext>
            </a:extLst>
          </p:cNvPr>
          <p:cNvSpPr/>
          <p:nvPr/>
        </p:nvSpPr>
        <p:spPr>
          <a:xfrm>
            <a:off x="9642477" y="5031537"/>
            <a:ext cx="1749424" cy="338554"/>
          </a:xfrm>
          <a:prstGeom prst="rect">
            <a:avLst/>
          </a:prstGeom>
        </p:spPr>
        <p:txBody>
          <a:bodyPr wrap="square">
            <a:spAutoFit/>
          </a:bodyPr>
          <a:lstStyle/>
          <a:p>
            <a:pPr>
              <a:spcAft>
                <a:spcPts val="600"/>
              </a:spcAft>
            </a:pPr>
            <a:r>
              <a:rPr lang="zh-CN" altLang="en-US" sz="1600" b="1" dirty="0">
                <a:solidFill>
                  <a:srgbClr val="00B0F0"/>
                </a:solidFill>
                <a:latin typeface="Times New Roman" panose="02020603050405020304" pitchFamily="18" charset="0"/>
                <a:cs typeface="Times New Roman" panose="02020603050405020304" pitchFamily="18" charset="0"/>
              </a:rPr>
              <a:t>循环水系统</a:t>
            </a:r>
            <a:endParaRPr lang="en-US" sz="1600" b="1" dirty="0">
              <a:solidFill>
                <a:srgbClr val="00B0F0"/>
              </a:solidFill>
              <a:latin typeface="Times New Roman" panose="02020603050405020304" pitchFamily="18" charset="0"/>
              <a:cs typeface="Times New Roman" panose="02020603050405020304" pitchFamily="18" charset="0"/>
            </a:endParaRPr>
          </a:p>
        </p:txBody>
      </p:sp>
      <p:sp>
        <p:nvSpPr>
          <p:cNvPr id="35" name="灯片编号占位符 1">
            <a:extLst>
              <a:ext uri="{FF2B5EF4-FFF2-40B4-BE49-F238E27FC236}">
                <a16:creationId xmlns:a16="http://schemas.microsoft.com/office/drawing/2014/main" id="{C9BEA1C4-6C6C-4948-AD9E-44BD291769BE}"/>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19</a:t>
            </a:fld>
            <a:endParaRPr lang="en-US" altLang="zh-CN" dirty="0"/>
          </a:p>
        </p:txBody>
      </p:sp>
      <p:sp>
        <p:nvSpPr>
          <p:cNvPr id="28" name="矩形 27">
            <a:extLst>
              <a:ext uri="{FF2B5EF4-FFF2-40B4-BE49-F238E27FC236}">
                <a16:creationId xmlns:a16="http://schemas.microsoft.com/office/drawing/2014/main" id="{93C68002-6647-4536-A48B-06FC6ABBC568}"/>
              </a:ext>
            </a:extLst>
          </p:cNvPr>
          <p:cNvSpPr/>
          <p:nvPr/>
        </p:nvSpPr>
        <p:spPr>
          <a:xfrm>
            <a:off x="8105775" y="1877049"/>
            <a:ext cx="996346" cy="338554"/>
          </a:xfrm>
          <a:prstGeom prst="rect">
            <a:avLst/>
          </a:prstGeom>
        </p:spPr>
        <p:txBody>
          <a:bodyPr wrap="square">
            <a:spAutoFit/>
          </a:bodyPr>
          <a:lstStyle/>
          <a:p>
            <a:pPr>
              <a:spcAft>
                <a:spcPts val="600"/>
              </a:spcAft>
            </a:pPr>
            <a:r>
              <a:rPr lang="zh-CN" alt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rPr>
              <a:t>传感器</a:t>
            </a:r>
            <a:endParaRPr 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1" name="矩形 30">
            <a:extLst>
              <a:ext uri="{FF2B5EF4-FFF2-40B4-BE49-F238E27FC236}">
                <a16:creationId xmlns:a16="http://schemas.microsoft.com/office/drawing/2014/main" id="{EAFC7CE2-B9F9-44FD-92E5-1288F95BC08A}"/>
              </a:ext>
            </a:extLst>
          </p:cNvPr>
          <p:cNvSpPr/>
          <p:nvPr/>
        </p:nvSpPr>
        <p:spPr>
          <a:xfrm>
            <a:off x="5125697" y="6417747"/>
            <a:ext cx="996346" cy="338554"/>
          </a:xfrm>
          <a:prstGeom prst="rect">
            <a:avLst/>
          </a:prstGeom>
        </p:spPr>
        <p:txBody>
          <a:bodyPr wrap="square">
            <a:spAutoFit/>
          </a:bodyPr>
          <a:lstStyle/>
          <a:p>
            <a:pPr>
              <a:spcAft>
                <a:spcPts val="600"/>
              </a:spcAft>
            </a:pPr>
            <a:r>
              <a:rPr lang="zh-CN" alt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rPr>
              <a:t>传感器</a:t>
            </a:r>
            <a:endParaRPr lang="en-US" sz="1600" b="1" dirty="0">
              <a:solidFill>
                <a:srgbClr val="00AC46"/>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6" name="矩形 35">
            <a:extLst>
              <a:ext uri="{FF2B5EF4-FFF2-40B4-BE49-F238E27FC236}">
                <a16:creationId xmlns:a16="http://schemas.microsoft.com/office/drawing/2014/main" id="{EC06DA41-3E4C-45DC-8438-8D993C94C3C1}"/>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Tree>
    <p:extLst>
      <p:ext uri="{BB962C8B-B14F-4D97-AF65-F5344CB8AC3E}">
        <p14:creationId xmlns:p14="http://schemas.microsoft.com/office/powerpoint/2010/main" val="2514005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756DFBD-04E7-4522-B2D5-07025A943693}"/>
              </a:ext>
            </a:extLst>
          </p:cNvPr>
          <p:cNvPicPr>
            <a:picLocks noChangeAspect="1"/>
          </p:cNvPicPr>
          <p:nvPr/>
        </p:nvPicPr>
        <p:blipFill>
          <a:blip r:embed="rId5"/>
          <a:stretch>
            <a:fillRect/>
          </a:stretch>
        </p:blipFill>
        <p:spPr>
          <a:xfrm>
            <a:off x="6604082" y="1612143"/>
            <a:ext cx="3630282" cy="2722711"/>
          </a:xfrm>
          <a:prstGeom prst="rect">
            <a:avLst/>
          </a:prstGeom>
        </p:spPr>
      </p:pic>
      <p:pic>
        <p:nvPicPr>
          <p:cNvPr id="18" name="图片 17">
            <a:extLst>
              <a:ext uri="{FF2B5EF4-FFF2-40B4-BE49-F238E27FC236}">
                <a16:creationId xmlns:a16="http://schemas.microsoft.com/office/drawing/2014/main" id="{254C5324-661D-4093-ADA0-3D022DFFA680}"/>
              </a:ext>
            </a:extLst>
          </p:cNvPr>
          <p:cNvPicPr>
            <a:picLocks noChangeAspect="1"/>
          </p:cNvPicPr>
          <p:nvPr/>
        </p:nvPicPr>
        <p:blipFill rotWithShape="1">
          <a:blip r:embed="rId6"/>
          <a:srcRect r="20449"/>
          <a:stretch/>
        </p:blipFill>
        <p:spPr>
          <a:xfrm>
            <a:off x="3036775" y="1612143"/>
            <a:ext cx="2887903" cy="2722711"/>
          </a:xfrm>
          <a:prstGeom prst="rect">
            <a:avLst/>
          </a:prstGeom>
        </p:spPr>
      </p:pic>
      <p:pic>
        <p:nvPicPr>
          <p:cNvPr id="19" name="视频">
            <a:hlinkClick r:id="" action="ppaction://media"/>
            <a:extLst>
              <a:ext uri="{FF2B5EF4-FFF2-40B4-BE49-F238E27FC236}">
                <a16:creationId xmlns:a16="http://schemas.microsoft.com/office/drawing/2014/main" id="{A4DEB212-33AE-4EDA-8B7B-CE102F5D5586}"/>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114800" y="4540928"/>
            <a:ext cx="4833008" cy="2235581"/>
          </a:xfrm>
          <a:prstGeom prst="rect">
            <a:avLst/>
          </a:prstGeom>
        </p:spPr>
      </p:pic>
      <p:sp>
        <p:nvSpPr>
          <p:cNvPr id="20" name="矩形 19">
            <a:extLst>
              <a:ext uri="{FF2B5EF4-FFF2-40B4-BE49-F238E27FC236}">
                <a16:creationId xmlns:a16="http://schemas.microsoft.com/office/drawing/2014/main" id="{A9136767-3CEA-45D6-92DD-32DEE48B9B37}"/>
              </a:ext>
            </a:extLst>
          </p:cNvPr>
          <p:cNvSpPr/>
          <p:nvPr/>
        </p:nvSpPr>
        <p:spPr>
          <a:xfrm>
            <a:off x="710209" y="1412088"/>
            <a:ext cx="2459476"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en-US" altLang="zh-CN" sz="2000" dirty="0">
                <a:latin typeface="Times New Roman" panose="02020603050405020304" pitchFamily="18" charset="0"/>
                <a:cs typeface="Times New Roman" panose="02020603050405020304" pitchFamily="18" charset="0"/>
              </a:rPr>
              <a:t>IEC</a:t>
            </a:r>
            <a:r>
              <a:rPr lang="zh-CN" altLang="en-US" sz="2000" dirty="0">
                <a:latin typeface="宋体" panose="02010600030101010101" pitchFamily="2" charset="-122"/>
                <a:ea typeface="宋体" panose="02010600030101010101" pitchFamily="2" charset="-122"/>
                <a:cs typeface="Times New Roman" panose="02020603050405020304" pitchFamily="18" charset="0"/>
              </a:rPr>
              <a:t>外观展示</a:t>
            </a:r>
            <a:endParaRPr lang="en-US"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21" name="矩形 20">
            <a:extLst>
              <a:ext uri="{FF2B5EF4-FFF2-40B4-BE49-F238E27FC236}">
                <a16:creationId xmlns:a16="http://schemas.microsoft.com/office/drawing/2014/main" id="{E4DC9898-7322-44A2-B402-7725D6A61CCE}"/>
              </a:ext>
            </a:extLst>
          </p:cNvPr>
          <p:cNvSpPr/>
          <p:nvPr/>
        </p:nvSpPr>
        <p:spPr>
          <a:xfrm>
            <a:off x="710209" y="4403366"/>
            <a:ext cx="5738217"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2000" dirty="0">
                <a:latin typeface="Times New Roman" panose="02020603050405020304" pitchFamily="18" charset="0"/>
                <a:cs typeface="Times New Roman" panose="02020603050405020304" pitchFamily="18" charset="0"/>
              </a:rPr>
              <a:t>喷水系统正常运行 </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video</a:t>
            </a:r>
            <a:r>
              <a:rPr lang="en-US" altLang="zh-C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2" name="灯片编号占位符 1">
            <a:extLst>
              <a:ext uri="{FF2B5EF4-FFF2-40B4-BE49-F238E27FC236}">
                <a16:creationId xmlns:a16="http://schemas.microsoft.com/office/drawing/2014/main" id="{283AE527-10A0-4D31-884C-8E4721798AFD}"/>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20</a:t>
            </a:fld>
            <a:endParaRPr lang="en-US" altLang="zh-CN" dirty="0"/>
          </a:p>
        </p:txBody>
      </p:sp>
      <p:sp>
        <p:nvSpPr>
          <p:cNvPr id="9" name="矩形 8">
            <a:extLst>
              <a:ext uri="{FF2B5EF4-FFF2-40B4-BE49-F238E27FC236}">
                <a16:creationId xmlns:a16="http://schemas.microsoft.com/office/drawing/2014/main" id="{B3F49E48-26C2-4484-95A7-2C43C3390250}"/>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
        <p:nvSpPr>
          <p:cNvPr id="10" name="TextBox 14">
            <a:extLst>
              <a:ext uri="{FF2B5EF4-FFF2-40B4-BE49-F238E27FC236}">
                <a16:creationId xmlns:a16="http://schemas.microsoft.com/office/drawing/2014/main" id="{6A9EF0F7-3893-4131-AC41-B43C6666346F}"/>
              </a:ext>
            </a:extLst>
          </p:cNvPr>
          <p:cNvSpPr txBox="1"/>
          <p:nvPr/>
        </p:nvSpPr>
        <p:spPr>
          <a:xfrm>
            <a:off x="299843" y="983954"/>
            <a:ext cx="5263433" cy="400110"/>
          </a:xfrm>
          <a:prstGeom prst="rect">
            <a:avLst/>
          </a:prstGeom>
          <a:noFill/>
        </p:spPr>
        <p:txBody>
          <a:bodyPr wrap="square">
            <a:spAutoFit/>
          </a:bodyPr>
          <a:lstStyle/>
          <a:p>
            <a:pPr marL="457200" indent="-457200">
              <a:buFont typeface="Wingdings" panose="05000000000000000000" pitchFamily="2" charset="2"/>
              <a:buChar char="Ø"/>
            </a:pPr>
            <a:r>
              <a:rPr lang="en-US" altLang="zh-CN" sz="2000" b="1" dirty="0">
                <a:latin typeface="Times New Roman" panose="02020603050405020304" pitchFamily="18" charset="0"/>
                <a:ea typeface="宋体" panose="02010600030101010101" pitchFamily="2" charset="-122"/>
              </a:rPr>
              <a:t>IEC</a:t>
            </a:r>
            <a:r>
              <a:rPr lang="zh-CN" altLang="en-US" sz="2000" b="1" dirty="0">
                <a:latin typeface="Times New Roman" panose="02020603050405020304" pitchFamily="18" charset="0"/>
                <a:ea typeface="宋体" panose="02010600030101010101" pitchFamily="2" charset="-122"/>
              </a:rPr>
              <a:t>系统的现场安装</a:t>
            </a:r>
            <a:endParaRPr lang="en-US" sz="2000" b="1"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1532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80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E4BA97-81A0-4752-9682-7FF2C6B2EF8E}"/>
              </a:ext>
            </a:extLst>
          </p:cNvPr>
          <p:cNvPicPr>
            <a:picLocks noChangeAspect="1"/>
          </p:cNvPicPr>
          <p:nvPr/>
        </p:nvPicPr>
        <p:blipFill>
          <a:blip r:embed="rId3"/>
          <a:stretch>
            <a:fillRect/>
          </a:stretch>
        </p:blipFill>
        <p:spPr>
          <a:xfrm>
            <a:off x="2019299" y="1295206"/>
            <a:ext cx="3233017" cy="2427296"/>
          </a:xfrm>
          <a:prstGeom prst="rect">
            <a:avLst/>
          </a:prstGeom>
        </p:spPr>
      </p:pic>
      <p:pic>
        <p:nvPicPr>
          <p:cNvPr id="7" name="图片 6">
            <a:extLst>
              <a:ext uri="{FF2B5EF4-FFF2-40B4-BE49-F238E27FC236}">
                <a16:creationId xmlns:a16="http://schemas.microsoft.com/office/drawing/2014/main" id="{7F4F12A6-A3CA-44EF-8C0B-8F93085B0891}"/>
              </a:ext>
            </a:extLst>
          </p:cNvPr>
          <p:cNvPicPr>
            <a:picLocks noChangeAspect="1"/>
          </p:cNvPicPr>
          <p:nvPr/>
        </p:nvPicPr>
        <p:blipFill>
          <a:blip r:embed="rId4"/>
          <a:stretch>
            <a:fillRect/>
          </a:stretch>
        </p:blipFill>
        <p:spPr>
          <a:xfrm>
            <a:off x="2015289" y="4226944"/>
            <a:ext cx="3237027" cy="2427296"/>
          </a:xfrm>
          <a:prstGeom prst="rect">
            <a:avLst/>
          </a:prstGeom>
        </p:spPr>
      </p:pic>
      <p:pic>
        <p:nvPicPr>
          <p:cNvPr id="9" name="图片 8">
            <a:extLst>
              <a:ext uri="{FF2B5EF4-FFF2-40B4-BE49-F238E27FC236}">
                <a16:creationId xmlns:a16="http://schemas.microsoft.com/office/drawing/2014/main" id="{BA379EB7-3746-4FAC-9E2C-3D037BD37266}"/>
              </a:ext>
            </a:extLst>
          </p:cNvPr>
          <p:cNvPicPr>
            <a:picLocks noChangeAspect="1"/>
          </p:cNvPicPr>
          <p:nvPr/>
        </p:nvPicPr>
        <p:blipFill>
          <a:blip r:embed="rId5"/>
          <a:stretch>
            <a:fillRect/>
          </a:stretch>
        </p:blipFill>
        <p:spPr>
          <a:xfrm>
            <a:off x="7008541" y="1295206"/>
            <a:ext cx="3237029" cy="2427297"/>
          </a:xfrm>
          <a:prstGeom prst="rect">
            <a:avLst/>
          </a:prstGeom>
        </p:spPr>
      </p:pic>
      <p:pic>
        <p:nvPicPr>
          <p:cNvPr id="11" name="图片 10">
            <a:extLst>
              <a:ext uri="{FF2B5EF4-FFF2-40B4-BE49-F238E27FC236}">
                <a16:creationId xmlns:a16="http://schemas.microsoft.com/office/drawing/2014/main" id="{A760D54E-B357-4E89-A6BF-38B194C1388A}"/>
              </a:ext>
            </a:extLst>
          </p:cNvPr>
          <p:cNvPicPr>
            <a:picLocks noChangeAspect="1"/>
          </p:cNvPicPr>
          <p:nvPr/>
        </p:nvPicPr>
        <p:blipFill>
          <a:blip r:embed="rId6"/>
          <a:stretch>
            <a:fillRect/>
          </a:stretch>
        </p:blipFill>
        <p:spPr>
          <a:xfrm>
            <a:off x="7008951" y="4200458"/>
            <a:ext cx="3271709" cy="2453782"/>
          </a:xfrm>
          <a:prstGeom prst="rect">
            <a:avLst/>
          </a:prstGeom>
        </p:spPr>
      </p:pic>
      <p:sp>
        <p:nvSpPr>
          <p:cNvPr id="14" name="矩形 13">
            <a:extLst>
              <a:ext uri="{FF2B5EF4-FFF2-40B4-BE49-F238E27FC236}">
                <a16:creationId xmlns:a16="http://schemas.microsoft.com/office/drawing/2014/main" id="{A4F63C5A-66DC-4AA5-96F6-59B7141C6635}"/>
              </a:ext>
            </a:extLst>
          </p:cNvPr>
          <p:cNvSpPr/>
          <p:nvPr/>
        </p:nvSpPr>
        <p:spPr>
          <a:xfrm>
            <a:off x="715361" y="895096"/>
            <a:ext cx="2459476"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cs typeface="Times New Roman" panose="02020603050405020304" pitchFamily="18" charset="0"/>
              </a:rPr>
              <a:t>二次风风机</a:t>
            </a:r>
            <a:endParaRPr lang="en-US"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5" name="矩形 14">
            <a:extLst>
              <a:ext uri="{FF2B5EF4-FFF2-40B4-BE49-F238E27FC236}">
                <a16:creationId xmlns:a16="http://schemas.microsoft.com/office/drawing/2014/main" id="{639E95DA-85D0-4C34-B913-8065F21DB715}"/>
              </a:ext>
            </a:extLst>
          </p:cNvPr>
          <p:cNvSpPr/>
          <p:nvPr/>
        </p:nvSpPr>
        <p:spPr>
          <a:xfrm>
            <a:off x="715361" y="3800348"/>
            <a:ext cx="2459476"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cs typeface="Times New Roman" panose="02020603050405020304" pitchFamily="18" charset="0"/>
              </a:rPr>
              <a:t>一次风风机</a:t>
            </a:r>
            <a:endParaRPr lang="en-US"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6" name="矩形 15">
            <a:extLst>
              <a:ext uri="{FF2B5EF4-FFF2-40B4-BE49-F238E27FC236}">
                <a16:creationId xmlns:a16="http://schemas.microsoft.com/office/drawing/2014/main" id="{6C9896C9-5C1E-4F99-BF83-406FDA58DB0E}"/>
              </a:ext>
            </a:extLst>
          </p:cNvPr>
          <p:cNvSpPr/>
          <p:nvPr/>
        </p:nvSpPr>
        <p:spPr>
          <a:xfrm>
            <a:off x="5709948" y="895096"/>
            <a:ext cx="2459476"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cs typeface="Times New Roman" panose="02020603050405020304" pitchFamily="18" charset="0"/>
              </a:rPr>
              <a:t>水泵</a:t>
            </a:r>
            <a:endParaRPr lang="en-US"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7" name="矩形 16">
            <a:extLst>
              <a:ext uri="{FF2B5EF4-FFF2-40B4-BE49-F238E27FC236}">
                <a16:creationId xmlns:a16="http://schemas.microsoft.com/office/drawing/2014/main" id="{668932F9-B06D-47EA-92EE-EC8239F1DC7B}"/>
              </a:ext>
            </a:extLst>
          </p:cNvPr>
          <p:cNvSpPr/>
          <p:nvPr/>
        </p:nvSpPr>
        <p:spPr>
          <a:xfrm>
            <a:off x="5709948" y="3770290"/>
            <a:ext cx="2459476" cy="400110"/>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2000" dirty="0">
                <a:latin typeface="宋体" panose="02010600030101010101" pitchFamily="2" charset="-122"/>
                <a:ea typeface="宋体" panose="02010600030101010101" pitchFamily="2" charset="-122"/>
                <a:cs typeface="Times New Roman" panose="02020603050405020304" pitchFamily="18" charset="0"/>
              </a:rPr>
              <a:t>水箱</a:t>
            </a:r>
            <a:endParaRPr lang="en-US" sz="2000" dirty="0">
              <a:latin typeface="宋体" panose="02010600030101010101" pitchFamily="2" charset="-122"/>
              <a:ea typeface="宋体" panose="02010600030101010101" pitchFamily="2" charset="-122"/>
              <a:cs typeface="Times New Roman" panose="02020603050405020304" pitchFamily="18" charset="0"/>
            </a:endParaRPr>
          </a:p>
        </p:txBody>
      </p:sp>
      <p:sp>
        <p:nvSpPr>
          <p:cNvPr id="20" name="灯片编号占位符 1">
            <a:extLst>
              <a:ext uri="{FF2B5EF4-FFF2-40B4-BE49-F238E27FC236}">
                <a16:creationId xmlns:a16="http://schemas.microsoft.com/office/drawing/2014/main" id="{23C7B39C-BAA5-42A8-9037-F5CBE3E4459E}"/>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21</a:t>
            </a:fld>
            <a:endParaRPr lang="en-US" altLang="zh-CN" dirty="0"/>
          </a:p>
        </p:txBody>
      </p:sp>
      <p:sp>
        <p:nvSpPr>
          <p:cNvPr id="12" name="矩形 11">
            <a:extLst>
              <a:ext uri="{FF2B5EF4-FFF2-40B4-BE49-F238E27FC236}">
                <a16:creationId xmlns:a16="http://schemas.microsoft.com/office/drawing/2014/main" id="{E4C9635F-E474-4830-8A23-19F00AE934DC}"/>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spTree>
    <p:extLst>
      <p:ext uri="{BB962C8B-B14F-4D97-AF65-F5344CB8AC3E}">
        <p14:creationId xmlns:p14="http://schemas.microsoft.com/office/powerpoint/2010/main" val="1877322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317C892E-0EDA-4081-958D-19D33889496D}"/>
              </a:ext>
            </a:extLst>
          </p:cNvPr>
          <p:cNvSpPr txBox="1"/>
          <p:nvPr/>
        </p:nvSpPr>
        <p:spPr>
          <a:xfrm>
            <a:off x="448608" y="975171"/>
            <a:ext cx="3423952" cy="400110"/>
          </a:xfrm>
          <a:prstGeom prst="rect">
            <a:avLst/>
          </a:prstGeom>
          <a:noFill/>
        </p:spPr>
        <p:txBody>
          <a:bodyPr wrap="square">
            <a:spAutoFit/>
          </a:bodyPr>
          <a:lstStyle/>
          <a:p>
            <a:pPr marL="342900" indent="-342900">
              <a:buFont typeface="Wingdings" panose="05000000000000000000" pitchFamily="2" charset="2"/>
              <a:buChar char="Ø"/>
            </a:pPr>
            <a:r>
              <a:rPr lang="zh-CN" altLang="en-US" sz="2000" b="1" dirty="0">
                <a:latin typeface="Times New Roman" panose="02020603050405020304" pitchFamily="18" charset="0"/>
                <a:ea typeface="宋体" panose="02010600030101010101" pitchFamily="2" charset="-122"/>
              </a:rPr>
              <a:t>数据监测系统</a:t>
            </a:r>
            <a:endParaRPr lang="en-US" altLang="zh-CN" sz="2000" b="1" dirty="0">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7D0C7208-AE58-4444-83E7-9679E67F3BB2}"/>
              </a:ext>
            </a:extLst>
          </p:cNvPr>
          <p:cNvPicPr>
            <a:picLocks noChangeAspect="1"/>
          </p:cNvPicPr>
          <p:nvPr/>
        </p:nvPicPr>
        <p:blipFill>
          <a:blip r:embed="rId3"/>
          <a:stretch>
            <a:fillRect/>
          </a:stretch>
        </p:blipFill>
        <p:spPr>
          <a:xfrm rot="5400000">
            <a:off x="6283365" y="2559331"/>
            <a:ext cx="4597082" cy="3447812"/>
          </a:xfrm>
          <a:prstGeom prst="rect">
            <a:avLst/>
          </a:prstGeom>
        </p:spPr>
      </p:pic>
      <p:pic>
        <p:nvPicPr>
          <p:cNvPr id="8" name="图片 7">
            <a:extLst>
              <a:ext uri="{FF2B5EF4-FFF2-40B4-BE49-F238E27FC236}">
                <a16:creationId xmlns:a16="http://schemas.microsoft.com/office/drawing/2014/main" id="{84E29B07-2B42-4EB0-942B-D33D354903A7}"/>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rot="5400000">
            <a:off x="1845355" y="2489237"/>
            <a:ext cx="4577483" cy="3607598"/>
          </a:xfrm>
          <a:prstGeom prst="rect">
            <a:avLst/>
          </a:prstGeom>
        </p:spPr>
      </p:pic>
      <p:pic>
        <p:nvPicPr>
          <p:cNvPr id="18" name="图片 17">
            <a:extLst>
              <a:ext uri="{FF2B5EF4-FFF2-40B4-BE49-F238E27FC236}">
                <a16:creationId xmlns:a16="http://schemas.microsoft.com/office/drawing/2014/main" id="{FE6379C2-45B4-49F1-9C42-088963FF71A6}"/>
              </a:ext>
            </a:extLst>
          </p:cNvPr>
          <p:cNvPicPr>
            <a:picLocks noChangeAspect="1"/>
          </p:cNvPicPr>
          <p:nvPr/>
        </p:nvPicPr>
        <p:blipFill rotWithShape="1">
          <a:blip r:embed="rId5">
            <a:extLst>
              <a:ext uri="{28A0092B-C50C-407E-A947-70E740481C1C}">
                <a14:useLocalDpi xmlns:a14="http://schemas.microsoft.com/office/drawing/2010/main"/>
              </a:ext>
            </a:extLst>
          </a:blip>
          <a:srcRect/>
          <a:stretch/>
        </p:blipFill>
        <p:spPr>
          <a:xfrm>
            <a:off x="3672405" y="2424002"/>
            <a:ext cx="5205575" cy="3276817"/>
          </a:xfrm>
          <a:prstGeom prst="rect">
            <a:avLst/>
          </a:prstGeom>
        </p:spPr>
      </p:pic>
      <p:sp>
        <p:nvSpPr>
          <p:cNvPr id="19" name="矩形 18">
            <a:extLst>
              <a:ext uri="{FF2B5EF4-FFF2-40B4-BE49-F238E27FC236}">
                <a16:creationId xmlns:a16="http://schemas.microsoft.com/office/drawing/2014/main" id="{4DD9DCDC-6D13-4F89-9D92-44977C37299A}"/>
              </a:ext>
            </a:extLst>
          </p:cNvPr>
          <p:cNvSpPr/>
          <p:nvPr/>
        </p:nvSpPr>
        <p:spPr>
          <a:xfrm>
            <a:off x="742174" y="1417582"/>
            <a:ext cx="6190254" cy="400110"/>
          </a:xfrm>
          <a:prstGeom prst="rect">
            <a:avLst/>
          </a:prstGeom>
        </p:spPr>
        <p:txBody>
          <a:bodyPr wrap="square">
            <a:spAutoFit/>
          </a:bodyPr>
          <a:lstStyle/>
          <a:p>
            <a:pPr marL="342900" indent="-342900">
              <a:spcAft>
                <a:spcPts val="600"/>
              </a:spcAft>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Local Motor Control Panel </a:t>
            </a:r>
            <a:r>
              <a:rPr lang="en-HK" altLang="zh-CN" sz="2000" dirty="0">
                <a:latin typeface="Times New Roman" panose="02020603050405020304" pitchFamily="18" charset="0"/>
                <a:cs typeface="Times New Roman" panose="02020603050405020304" pitchFamily="18" charset="0"/>
              </a:rPr>
              <a:t>(LMCP) </a:t>
            </a:r>
            <a:r>
              <a:rPr lang="zh-CN" altLang="en-US" sz="2000" dirty="0">
                <a:latin typeface="Times New Roman" panose="02020603050405020304" pitchFamily="18" charset="0"/>
                <a:cs typeface="Times New Roman" panose="02020603050405020304" pitchFamily="18" charset="0"/>
              </a:rPr>
              <a:t>现场电机控制柜</a:t>
            </a:r>
            <a:endParaRPr lang="en-US" sz="2000" dirty="0">
              <a:latin typeface="Times New Roman" panose="02020603050405020304" pitchFamily="18" charset="0"/>
              <a:cs typeface="Times New Roman" panose="02020603050405020304" pitchFamily="18" charset="0"/>
            </a:endParaRPr>
          </a:p>
        </p:txBody>
      </p:sp>
      <p:sp>
        <p:nvSpPr>
          <p:cNvPr id="20" name="灯片编号占位符 1">
            <a:extLst>
              <a:ext uri="{FF2B5EF4-FFF2-40B4-BE49-F238E27FC236}">
                <a16:creationId xmlns:a16="http://schemas.microsoft.com/office/drawing/2014/main" id="{A061EB92-8852-4564-A37B-8A34E5B30ED7}"/>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22</a:t>
            </a:fld>
            <a:endParaRPr lang="en-US" altLang="zh-CN" dirty="0"/>
          </a:p>
        </p:txBody>
      </p:sp>
      <p:sp>
        <p:nvSpPr>
          <p:cNvPr id="2" name="矩形 1">
            <a:extLst>
              <a:ext uri="{FF2B5EF4-FFF2-40B4-BE49-F238E27FC236}">
                <a16:creationId xmlns:a16="http://schemas.microsoft.com/office/drawing/2014/main" id="{14D0A6C8-0949-1297-683D-BD7188507FB0}"/>
              </a:ext>
            </a:extLst>
          </p:cNvPr>
          <p:cNvSpPr/>
          <p:nvPr/>
        </p:nvSpPr>
        <p:spPr>
          <a:xfrm>
            <a:off x="1175657" y="132304"/>
            <a:ext cx="6509033"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4. 工程应用与节能经济性</a:t>
            </a:r>
          </a:p>
        </p:txBody>
      </p:sp>
      <p:pic>
        <p:nvPicPr>
          <p:cNvPr id="4" name="图片 3">
            <a:extLst>
              <a:ext uri="{FF2B5EF4-FFF2-40B4-BE49-F238E27FC236}">
                <a16:creationId xmlns:a16="http://schemas.microsoft.com/office/drawing/2014/main" id="{BFFAA42C-674A-AEE1-CC59-B1C1DA609EB4}"/>
              </a:ext>
            </a:extLst>
          </p:cNvPr>
          <p:cNvPicPr>
            <a:picLocks noChangeAspect="1"/>
          </p:cNvPicPr>
          <p:nvPr/>
        </p:nvPicPr>
        <p:blipFill>
          <a:blip r:embed="rId6"/>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138110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035B-B5DA-8ED1-4C62-85BDEA11289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62E55C9-5F4B-E098-A16A-1783441FB16A}"/>
              </a:ext>
            </a:extLst>
          </p:cNvPr>
          <p:cNvSpPr>
            <a:spLocks noGrp="1"/>
          </p:cNvSpPr>
          <p:nvPr>
            <p:ph type="sldNum" sz="quarter" idx="12"/>
          </p:nvPr>
        </p:nvSpPr>
        <p:spPr/>
        <p:txBody>
          <a:bodyPr/>
          <a:lstStyle/>
          <a:p>
            <a:pPr>
              <a:defRPr/>
            </a:pPr>
            <a:fld id="{15884886-3D85-4AFD-9D94-33E4AF7428DD}" type="slidenum">
              <a:rPr lang="en-US" altLang="zh-CN" smtClean="0"/>
              <a:pPr>
                <a:defRPr/>
              </a:pPr>
              <a:t>23</a:t>
            </a:fld>
            <a:endParaRPr lang="en-US" altLang="zh-CN"/>
          </a:p>
        </p:txBody>
      </p:sp>
      <p:sp>
        <p:nvSpPr>
          <p:cNvPr id="10" name="Rectangle 5">
            <a:extLst>
              <a:ext uri="{FF2B5EF4-FFF2-40B4-BE49-F238E27FC236}">
                <a16:creationId xmlns:a16="http://schemas.microsoft.com/office/drawing/2014/main" id="{0368BD84-843D-512F-DB84-A90BDAB40B2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8" name="图片 24">
            <a:extLst>
              <a:ext uri="{FF2B5EF4-FFF2-40B4-BE49-F238E27FC236}">
                <a16:creationId xmlns:a16="http://schemas.microsoft.com/office/drawing/2014/main" id="{A528579E-DF99-BF2A-5116-B505C524B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960" y="1388855"/>
            <a:ext cx="4196160" cy="2379935"/>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a:extLst>
              <a:ext uri="{FF2B5EF4-FFF2-40B4-BE49-F238E27FC236}">
                <a16:creationId xmlns:a16="http://schemas.microsoft.com/office/drawing/2014/main" id="{9870A64A-F372-A46B-7685-336CED64D6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5083" y="4162675"/>
            <a:ext cx="4527479" cy="2603251"/>
          </a:xfrm>
          <a:prstGeom prst="rect">
            <a:avLst/>
          </a:prstGeom>
        </p:spPr>
      </p:pic>
      <p:sp>
        <p:nvSpPr>
          <p:cNvPr id="16" name="矩形 15">
            <a:extLst>
              <a:ext uri="{FF2B5EF4-FFF2-40B4-BE49-F238E27FC236}">
                <a16:creationId xmlns:a16="http://schemas.microsoft.com/office/drawing/2014/main" id="{AF3B9155-36E4-9FDF-C105-B7D2FE2DCB62}"/>
              </a:ext>
            </a:extLst>
          </p:cNvPr>
          <p:cNvSpPr/>
          <p:nvPr/>
        </p:nvSpPr>
        <p:spPr>
          <a:xfrm>
            <a:off x="1175657" y="132304"/>
            <a:ext cx="6509033"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4. 工程应用与节能经济性</a:t>
            </a:r>
          </a:p>
        </p:txBody>
      </p:sp>
      <p:sp>
        <p:nvSpPr>
          <p:cNvPr id="18" name="矩形 17">
            <a:extLst>
              <a:ext uri="{FF2B5EF4-FFF2-40B4-BE49-F238E27FC236}">
                <a16:creationId xmlns:a16="http://schemas.microsoft.com/office/drawing/2014/main" id="{86C74400-49F9-D1C8-758F-50A1652AE141}"/>
              </a:ext>
            </a:extLst>
          </p:cNvPr>
          <p:cNvSpPr/>
          <p:nvPr/>
        </p:nvSpPr>
        <p:spPr>
          <a:xfrm>
            <a:off x="641983" y="1334134"/>
            <a:ext cx="2459476" cy="369332"/>
          </a:xfrm>
          <a:prstGeom prst="rect">
            <a:avLst/>
          </a:prstGeom>
        </p:spPr>
        <p:txBody>
          <a:bodyPr wrap="square">
            <a:spAutoFit/>
          </a:bodyPr>
          <a:lstStyle/>
          <a:p>
            <a:pPr marL="285750" indent="-285750">
              <a:spcAft>
                <a:spcPts val="600"/>
              </a:spcAft>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三月</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32">
            <a:extLst>
              <a:ext uri="{FF2B5EF4-FFF2-40B4-BE49-F238E27FC236}">
                <a16:creationId xmlns:a16="http://schemas.microsoft.com/office/drawing/2014/main" id="{37C4F631-EA60-0D35-7B2A-A233A0AA8010}"/>
              </a:ext>
            </a:extLst>
          </p:cNvPr>
          <p:cNvSpPr txBox="1"/>
          <p:nvPr/>
        </p:nvSpPr>
        <p:spPr>
          <a:xfrm>
            <a:off x="292786" y="3751947"/>
            <a:ext cx="3721006"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Times New Roman" panose="02020603050405020304" pitchFamily="18" charset="0"/>
                <a:ea typeface="Times New Roman" panose="02020603050405020304" pitchFamily="18" charset="0"/>
              </a:rPr>
              <a:t>代表性日期的结果分析（八月）</a:t>
            </a:r>
            <a:endParaRPr lang="en-US" sz="1600" b="1" dirty="0">
              <a:solidFill>
                <a:srgbClr val="0000FF"/>
              </a:solidFill>
            </a:endParaRPr>
          </a:p>
        </p:txBody>
      </p:sp>
      <p:sp>
        <p:nvSpPr>
          <p:cNvPr id="6" name="文本框 32">
            <a:extLst>
              <a:ext uri="{FF2B5EF4-FFF2-40B4-BE49-F238E27FC236}">
                <a16:creationId xmlns:a16="http://schemas.microsoft.com/office/drawing/2014/main" id="{88AF5BBB-E37B-D0C6-602A-F66FB3332933}"/>
              </a:ext>
            </a:extLst>
          </p:cNvPr>
          <p:cNvSpPr txBox="1"/>
          <p:nvPr/>
        </p:nvSpPr>
        <p:spPr>
          <a:xfrm>
            <a:off x="292784" y="963975"/>
            <a:ext cx="10028075"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Times New Roman" panose="02020603050405020304" pitchFamily="18" charset="0"/>
                <a:ea typeface="Times New Roman" panose="02020603050405020304" pitchFamily="18" charset="0"/>
              </a:rPr>
              <a:t>代表性月份的结果分析</a:t>
            </a:r>
            <a:endParaRPr lang="en-US" sz="1600" b="1" dirty="0">
              <a:solidFill>
                <a:srgbClr val="0000FF"/>
              </a:solidFill>
            </a:endParaRPr>
          </a:p>
        </p:txBody>
      </p:sp>
      <p:pic>
        <p:nvPicPr>
          <p:cNvPr id="7" name="图片 6">
            <a:extLst>
              <a:ext uri="{FF2B5EF4-FFF2-40B4-BE49-F238E27FC236}">
                <a16:creationId xmlns:a16="http://schemas.microsoft.com/office/drawing/2014/main" id="{979954D1-0504-4A7B-E224-8A932F3DC0B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40102" y="1372347"/>
            <a:ext cx="4177439" cy="2379600"/>
          </a:xfrm>
          <a:prstGeom prst="rect">
            <a:avLst/>
          </a:prstGeom>
          <a:noFill/>
          <a:ln>
            <a:noFill/>
          </a:ln>
        </p:spPr>
      </p:pic>
      <p:pic>
        <p:nvPicPr>
          <p:cNvPr id="9" name="图片 8">
            <a:extLst>
              <a:ext uri="{FF2B5EF4-FFF2-40B4-BE49-F238E27FC236}">
                <a16:creationId xmlns:a16="http://schemas.microsoft.com/office/drawing/2014/main" id="{440EDD3A-6719-0238-FBA1-A705B270D0A7}"/>
              </a:ext>
            </a:extLst>
          </p:cNvPr>
          <p:cNvPicPr>
            <a:picLocks noChangeAspect="1"/>
          </p:cNvPicPr>
          <p:nvPr/>
        </p:nvPicPr>
        <p:blipFill>
          <a:blip r:embed="rId6"/>
          <a:stretch>
            <a:fillRect/>
          </a:stretch>
        </p:blipFill>
        <p:spPr>
          <a:xfrm>
            <a:off x="10783421" y="63989"/>
            <a:ext cx="1199568" cy="1199568"/>
          </a:xfrm>
          <a:prstGeom prst="rect">
            <a:avLst/>
          </a:prstGeom>
        </p:spPr>
      </p:pic>
      <p:sp>
        <p:nvSpPr>
          <p:cNvPr id="19" name="矩形 18">
            <a:extLst>
              <a:ext uri="{FF2B5EF4-FFF2-40B4-BE49-F238E27FC236}">
                <a16:creationId xmlns:a16="http://schemas.microsoft.com/office/drawing/2014/main" id="{7E3F4FFD-00C7-C78C-BB60-E7822733D56A}"/>
              </a:ext>
            </a:extLst>
          </p:cNvPr>
          <p:cNvSpPr/>
          <p:nvPr/>
        </p:nvSpPr>
        <p:spPr>
          <a:xfrm>
            <a:off x="5969677" y="1304178"/>
            <a:ext cx="2459476" cy="369332"/>
          </a:xfrm>
          <a:prstGeom prst="rect">
            <a:avLst/>
          </a:prstGeom>
        </p:spPr>
        <p:txBody>
          <a:bodyPr wrap="square">
            <a:spAutoFit/>
          </a:bodyPr>
          <a:lstStyle/>
          <a:p>
            <a:pPr marL="285750" indent="-285750">
              <a:spcAft>
                <a:spcPts val="600"/>
              </a:spcAft>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八月</a:t>
            </a:r>
            <a:endParaRPr 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3B2608F6-6F47-24E0-BD4C-0D18FF59A54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04967" y="4224266"/>
            <a:ext cx="4460825" cy="2599200"/>
          </a:xfrm>
          <a:prstGeom prst="rect">
            <a:avLst/>
          </a:prstGeom>
        </p:spPr>
      </p:pic>
    </p:spTree>
    <p:extLst>
      <p:ext uri="{BB962C8B-B14F-4D97-AF65-F5344CB8AC3E}">
        <p14:creationId xmlns:p14="http://schemas.microsoft.com/office/powerpoint/2010/main" val="1916580256"/>
      </p:ext>
    </p:extLst>
  </p:cSld>
  <p:clrMapOvr>
    <a:masterClrMapping/>
  </p:clrMapOvr>
  <mc:AlternateContent xmlns:mc="http://schemas.openxmlformats.org/markup-compatibility/2006" xmlns:p14="http://schemas.microsoft.com/office/powerpoint/2010/main">
    <mc:Choice Requires="p14">
      <p:transition spd="slow" p14:dur="2000" advTm="5933"/>
    </mc:Choice>
    <mc:Fallback xmlns="">
      <p:transition spd="slow" advTm="593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2835922-E987-4B42-831A-6D98533096BB}"/>
              </a:ext>
            </a:extLst>
          </p:cNvPr>
          <p:cNvPicPr>
            <a:picLocks noChangeAspect="1"/>
          </p:cNvPicPr>
          <p:nvPr/>
        </p:nvPicPr>
        <p:blipFill>
          <a:blip r:embed="rId3"/>
          <a:stretch>
            <a:fillRect/>
          </a:stretch>
        </p:blipFill>
        <p:spPr>
          <a:xfrm>
            <a:off x="6348926" y="2102827"/>
            <a:ext cx="4635307" cy="2769248"/>
          </a:xfrm>
          <a:prstGeom prst="rect">
            <a:avLst/>
          </a:prstGeom>
        </p:spPr>
      </p:pic>
      <p:pic>
        <p:nvPicPr>
          <p:cNvPr id="5" name="图片 4">
            <a:extLst>
              <a:ext uri="{FF2B5EF4-FFF2-40B4-BE49-F238E27FC236}">
                <a16:creationId xmlns:a16="http://schemas.microsoft.com/office/drawing/2014/main" id="{FF450609-4659-F3CE-ED6B-EE83B16D00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3326" y="2102827"/>
            <a:ext cx="4633821" cy="2700000"/>
          </a:xfrm>
          <a:prstGeom prst="rect">
            <a:avLst/>
          </a:prstGeom>
        </p:spPr>
      </p:pic>
      <p:sp>
        <p:nvSpPr>
          <p:cNvPr id="26" name="文本框 32">
            <a:extLst>
              <a:ext uri="{FF2B5EF4-FFF2-40B4-BE49-F238E27FC236}">
                <a16:creationId xmlns:a16="http://schemas.microsoft.com/office/drawing/2014/main" id="{53F30A20-B03D-4C7C-96A7-E77126DEFDB7}"/>
              </a:ext>
            </a:extLst>
          </p:cNvPr>
          <p:cNvSpPr txBox="1"/>
          <p:nvPr/>
        </p:nvSpPr>
        <p:spPr>
          <a:xfrm>
            <a:off x="140386" y="992089"/>
            <a:ext cx="10028075"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Times New Roman" panose="02020603050405020304" pitchFamily="18" charset="0"/>
                <a:ea typeface="Times New Roman" panose="02020603050405020304" pitchFamily="18" charset="0"/>
              </a:rPr>
              <a:t>代表性日期实验与计算结果分析</a:t>
            </a:r>
            <a:endParaRPr lang="en-US" sz="1600" b="1" dirty="0">
              <a:solidFill>
                <a:srgbClr val="0000FF"/>
              </a:solidFill>
            </a:endParaRPr>
          </a:p>
        </p:txBody>
      </p:sp>
      <p:sp>
        <p:nvSpPr>
          <p:cNvPr id="32" name="灯片编号占位符 1">
            <a:extLst>
              <a:ext uri="{FF2B5EF4-FFF2-40B4-BE49-F238E27FC236}">
                <a16:creationId xmlns:a16="http://schemas.microsoft.com/office/drawing/2014/main" id="{A0D11974-1CD2-48A9-9779-3528CC718A09}"/>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24</a:t>
            </a:fld>
            <a:endParaRPr lang="en-US" altLang="zh-CN" dirty="0"/>
          </a:p>
        </p:txBody>
      </p:sp>
      <p:sp>
        <p:nvSpPr>
          <p:cNvPr id="18" name="文本框 32">
            <a:extLst>
              <a:ext uri="{FF2B5EF4-FFF2-40B4-BE49-F238E27FC236}">
                <a16:creationId xmlns:a16="http://schemas.microsoft.com/office/drawing/2014/main" id="{9C3EDB4B-EC37-4550-8309-F1F38F670AA8}"/>
              </a:ext>
            </a:extLst>
          </p:cNvPr>
          <p:cNvSpPr txBox="1"/>
          <p:nvPr/>
        </p:nvSpPr>
        <p:spPr>
          <a:xfrm>
            <a:off x="311404" y="1562847"/>
            <a:ext cx="3078544" cy="338554"/>
          </a:xfrm>
          <a:prstGeom prst="rect">
            <a:avLst/>
          </a:prstGeom>
          <a:noFill/>
        </p:spPr>
        <p:txBody>
          <a:bodyPr wrap="square" rtlCol="0">
            <a:spAutoFit/>
          </a:bodyPr>
          <a:lstStyle/>
          <a:p>
            <a:pPr marL="285750" indent="-285750">
              <a:buFont typeface="Wingdings" panose="05000000000000000000" pitchFamily="2" charset="2"/>
              <a:buChar char="ü"/>
            </a:pPr>
            <a:r>
              <a:rPr lang="zh-CN" altLang="en-US" sz="1600" dirty="0">
                <a:latin typeface="Times New Roman" panose="02020603050405020304" pitchFamily="18" charset="0"/>
                <a:ea typeface="Times New Roman" panose="02020603050405020304" pitchFamily="18" charset="0"/>
              </a:rPr>
              <a:t>代表性日期温度变化情况</a:t>
            </a:r>
            <a:endParaRPr lang="en-US" sz="1400" b="1" dirty="0">
              <a:solidFill>
                <a:srgbClr val="0000FF"/>
              </a:solidFill>
            </a:endParaRPr>
          </a:p>
        </p:txBody>
      </p:sp>
      <p:sp>
        <p:nvSpPr>
          <p:cNvPr id="12" name="文本框 32">
            <a:extLst>
              <a:ext uri="{FF2B5EF4-FFF2-40B4-BE49-F238E27FC236}">
                <a16:creationId xmlns:a16="http://schemas.microsoft.com/office/drawing/2014/main" id="{17C95F43-DB97-4010-92D7-DC69D140E5B5}"/>
              </a:ext>
            </a:extLst>
          </p:cNvPr>
          <p:cNvSpPr txBox="1"/>
          <p:nvPr/>
        </p:nvSpPr>
        <p:spPr>
          <a:xfrm>
            <a:off x="5865553" y="1562847"/>
            <a:ext cx="5173041" cy="338554"/>
          </a:xfrm>
          <a:prstGeom prst="rect">
            <a:avLst/>
          </a:prstGeom>
          <a:noFill/>
        </p:spPr>
        <p:txBody>
          <a:bodyPr wrap="square" rtlCol="0">
            <a:spAutoFit/>
          </a:bodyPr>
          <a:lstStyle/>
          <a:p>
            <a:pPr marL="285750" indent="-285750">
              <a:buFont typeface="Wingdings" panose="05000000000000000000" pitchFamily="2" charset="2"/>
              <a:buChar char="ü"/>
            </a:pPr>
            <a:r>
              <a:rPr lang="en-US" altLang="zh-CN" sz="1600" dirty="0">
                <a:latin typeface="Times New Roman" panose="02020603050405020304" pitchFamily="18" charset="0"/>
                <a:ea typeface="Times New Roman" panose="02020603050405020304" pitchFamily="18" charset="0"/>
              </a:rPr>
              <a:t>PP-IEC</a:t>
            </a:r>
            <a:r>
              <a:rPr lang="zh-CN" altLang="en-US" sz="1600" dirty="0">
                <a:latin typeface="Times New Roman" panose="02020603050405020304" pitchFamily="18" charset="0"/>
                <a:ea typeface="Times New Roman" panose="02020603050405020304" pitchFamily="18" charset="0"/>
              </a:rPr>
              <a:t>系统的能量回收性能</a:t>
            </a:r>
            <a:endParaRPr lang="en-HK" sz="1600" dirty="0">
              <a:latin typeface="Times New Roman" panose="02020603050405020304" pitchFamily="18" charset="0"/>
              <a:ea typeface="Times New Roman" panose="02020603050405020304" pitchFamily="18" charset="0"/>
            </a:endParaRPr>
          </a:p>
        </p:txBody>
      </p:sp>
      <p:cxnSp>
        <p:nvCxnSpPr>
          <p:cNvPr id="4" name="直接连接符 3">
            <a:extLst>
              <a:ext uri="{FF2B5EF4-FFF2-40B4-BE49-F238E27FC236}">
                <a16:creationId xmlns:a16="http://schemas.microsoft.com/office/drawing/2014/main" id="{472990BC-8E42-4989-AB36-59E21FBFC447}"/>
              </a:ext>
            </a:extLst>
          </p:cNvPr>
          <p:cNvCxnSpPr/>
          <p:nvPr/>
        </p:nvCxnSpPr>
        <p:spPr bwMode="auto">
          <a:xfrm>
            <a:off x="3598031" y="2581809"/>
            <a:ext cx="719091" cy="0"/>
          </a:xfrm>
          <a:prstGeom prst="line">
            <a:avLst/>
          </a:prstGeom>
          <a:ln w="28575">
            <a:solidFill>
              <a:srgbClr val="C0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0" name="直接连接符 19">
            <a:extLst>
              <a:ext uri="{FF2B5EF4-FFF2-40B4-BE49-F238E27FC236}">
                <a16:creationId xmlns:a16="http://schemas.microsoft.com/office/drawing/2014/main" id="{973CABEE-3081-4D9E-81CE-DF8A7CA5FEC0}"/>
              </a:ext>
            </a:extLst>
          </p:cNvPr>
          <p:cNvCxnSpPr/>
          <p:nvPr/>
        </p:nvCxnSpPr>
        <p:spPr bwMode="auto">
          <a:xfrm>
            <a:off x="3598031" y="3564477"/>
            <a:ext cx="719091" cy="0"/>
          </a:xfrm>
          <a:prstGeom prst="line">
            <a:avLst/>
          </a:prstGeom>
          <a:ln w="28575">
            <a:solidFill>
              <a:srgbClr val="C00000"/>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6" name="直接箭头连接符 5">
            <a:extLst>
              <a:ext uri="{FF2B5EF4-FFF2-40B4-BE49-F238E27FC236}">
                <a16:creationId xmlns:a16="http://schemas.microsoft.com/office/drawing/2014/main" id="{5F8733B4-407A-4139-8FB1-DE8AE652F571}"/>
              </a:ext>
            </a:extLst>
          </p:cNvPr>
          <p:cNvCxnSpPr>
            <a:cxnSpLocks/>
          </p:cNvCxnSpPr>
          <p:nvPr/>
        </p:nvCxnSpPr>
        <p:spPr bwMode="auto">
          <a:xfrm>
            <a:off x="3955196" y="2581809"/>
            <a:ext cx="2380" cy="982668"/>
          </a:xfrm>
          <a:prstGeom prst="straightConnector1">
            <a:avLst/>
          </a:prstGeom>
          <a:ln w="19050">
            <a:solidFill>
              <a:srgbClr val="C00000"/>
            </a:solidFill>
            <a:headEnd type="triangle"/>
            <a:tailEnd type="triangle"/>
          </a:ln>
        </p:spPr>
        <p:style>
          <a:lnRef idx="1">
            <a:schemeClr val="accent6"/>
          </a:lnRef>
          <a:fillRef idx="0">
            <a:schemeClr val="accent6"/>
          </a:fillRef>
          <a:effectRef idx="0">
            <a:schemeClr val="accent6"/>
          </a:effectRef>
          <a:fontRef idx="minor">
            <a:schemeClr val="tx1"/>
          </a:fontRef>
        </p:style>
      </p:cxnSp>
      <p:sp>
        <p:nvSpPr>
          <p:cNvPr id="10" name="文本框 9">
            <a:extLst>
              <a:ext uri="{FF2B5EF4-FFF2-40B4-BE49-F238E27FC236}">
                <a16:creationId xmlns:a16="http://schemas.microsoft.com/office/drawing/2014/main" id="{161C41D9-8EEF-4A80-8317-43A7D4612EB1}"/>
              </a:ext>
            </a:extLst>
          </p:cNvPr>
          <p:cNvSpPr txBox="1"/>
          <p:nvPr/>
        </p:nvSpPr>
        <p:spPr>
          <a:xfrm>
            <a:off x="4069627" y="2924191"/>
            <a:ext cx="820049" cy="369332"/>
          </a:xfrm>
          <a:prstGeom prst="rect">
            <a:avLst/>
          </a:prstGeom>
          <a:noFill/>
        </p:spPr>
        <p:txBody>
          <a:bodyPr wrap="square" rtlCol="0">
            <a:spAutoFit/>
          </a:bodyPr>
          <a:lstStyle/>
          <a:p>
            <a:r>
              <a:rPr lang="en-US" b="1" dirty="0">
                <a:solidFill>
                  <a:srgbClr val="C00000"/>
                </a:solidFill>
                <a:latin typeface="Times New Roman" panose="02020603050405020304" pitchFamily="18" charset="0"/>
                <a:cs typeface="Times New Roman" panose="02020603050405020304" pitchFamily="18" charset="0"/>
              </a:rPr>
              <a:t>6.6 </a:t>
            </a:r>
            <a:r>
              <a:rPr lang="zh-CN" altLang="en-US" b="1" dirty="0">
                <a:solidFill>
                  <a:srgbClr val="C00000"/>
                </a:solidFill>
                <a:latin typeface="Times New Roman" panose="02020603050405020304" pitchFamily="18" charset="0"/>
                <a:cs typeface="Times New Roman" panose="02020603050405020304" pitchFamily="18" charset="0"/>
              </a:rPr>
              <a:t>℃</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6B2D7636-6CD7-27E2-7218-3D91B6D83BE3}"/>
              </a:ext>
            </a:extLst>
          </p:cNvPr>
          <p:cNvSpPr/>
          <p:nvPr/>
        </p:nvSpPr>
        <p:spPr>
          <a:xfrm>
            <a:off x="1175657" y="132304"/>
            <a:ext cx="6509033"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4. 工程应用与节能经济性</a:t>
            </a:r>
          </a:p>
        </p:txBody>
      </p:sp>
      <p:pic>
        <p:nvPicPr>
          <p:cNvPr id="7" name="图片 6">
            <a:extLst>
              <a:ext uri="{FF2B5EF4-FFF2-40B4-BE49-F238E27FC236}">
                <a16:creationId xmlns:a16="http://schemas.microsoft.com/office/drawing/2014/main" id="{28A57040-789E-D041-74C9-3D3E95AC1F7A}"/>
              </a:ext>
            </a:extLst>
          </p:cNvPr>
          <p:cNvPicPr>
            <a:picLocks noChangeAspect="1"/>
          </p:cNvPicPr>
          <p:nvPr/>
        </p:nvPicPr>
        <p:blipFill>
          <a:blip r:embed="rId5"/>
          <a:stretch>
            <a:fillRect/>
          </a:stretch>
        </p:blipFill>
        <p:spPr>
          <a:xfrm>
            <a:off x="10783421" y="63989"/>
            <a:ext cx="1199568" cy="1199568"/>
          </a:xfrm>
          <a:prstGeom prst="rect">
            <a:avLst/>
          </a:prstGeom>
        </p:spPr>
      </p:pic>
      <p:sp>
        <p:nvSpPr>
          <p:cNvPr id="14" name="矩形 13">
            <a:extLst>
              <a:ext uri="{FF2B5EF4-FFF2-40B4-BE49-F238E27FC236}">
                <a16:creationId xmlns:a16="http://schemas.microsoft.com/office/drawing/2014/main" id="{499127C6-EC38-DF62-98A7-0ED5CB6BAE4E}"/>
              </a:ext>
            </a:extLst>
          </p:cNvPr>
          <p:cNvSpPr/>
          <p:nvPr/>
        </p:nvSpPr>
        <p:spPr>
          <a:xfrm>
            <a:off x="824346" y="5154452"/>
            <a:ext cx="11329554" cy="1077218"/>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dirty="0">
                <a:latin typeface="Times New Roman" panose="02020603050405020304" pitchFamily="18" charset="0"/>
                <a:cs typeface="Times New Roman" panose="02020603050405020304" pitchFamily="18" charset="0"/>
              </a:rPr>
              <a:t>在午后</a:t>
            </a:r>
            <a:r>
              <a:rPr lang="en-US" altLang="zh-CN" b="1" dirty="0">
                <a:solidFill>
                  <a:srgbClr val="C00000"/>
                </a:solidFill>
                <a:latin typeface="Times New Roman" panose="02020603050405020304" pitchFamily="18" charset="0"/>
                <a:cs typeface="Times New Roman" panose="02020603050405020304" pitchFamily="18" charset="0"/>
              </a:rPr>
              <a:t>14</a:t>
            </a:r>
            <a:r>
              <a:rPr lang="zh-CN" altLang="en-US" b="1" dirty="0">
                <a:solidFill>
                  <a:srgbClr val="C00000"/>
                </a:solidFill>
                <a:latin typeface="Times New Roman" panose="02020603050405020304" pitchFamily="18" charset="0"/>
                <a:cs typeface="Times New Roman" panose="02020603050405020304" pitchFamily="18" charset="0"/>
              </a:rPr>
              <a:t>点</a:t>
            </a:r>
            <a:r>
              <a:rPr lang="zh-CN" altLang="en-US" dirty="0">
                <a:latin typeface="Times New Roman" panose="02020603050405020304" pitchFamily="18" charset="0"/>
                <a:cs typeface="Times New Roman" panose="02020603050405020304" pitchFamily="18" charset="0"/>
              </a:rPr>
              <a:t>左右，新风和送风温差达到最大值约</a:t>
            </a:r>
            <a:r>
              <a:rPr lang="en-US" altLang="zh-CN" b="1" dirty="0">
                <a:solidFill>
                  <a:srgbClr val="C00000"/>
                </a:solidFill>
                <a:latin typeface="Times New Roman" panose="02020603050405020304" pitchFamily="18" charset="0"/>
                <a:cs typeface="Times New Roman" panose="02020603050405020304" pitchFamily="18" charset="0"/>
              </a:rPr>
              <a:t>6.6°C</a:t>
            </a:r>
            <a:r>
              <a:rPr lang="zh-CN" altLang="en-US" b="1" dirty="0">
                <a:solidFill>
                  <a:srgbClr val="C00000"/>
                </a:solidFill>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ü"/>
            </a:pPr>
            <a:r>
              <a:rPr lang="en-HK" altLang="zh-CN" dirty="0">
                <a:latin typeface="Times New Roman" panose="02020603050405020304" pitchFamily="18" charset="0"/>
                <a:cs typeface="Times New Roman" panose="02020603050405020304" pitchFamily="18" charset="0"/>
              </a:rPr>
              <a:t>PP-IEC</a:t>
            </a:r>
            <a:r>
              <a:rPr lang="zh-CN" altLang="en-US" dirty="0">
                <a:latin typeface="Times New Roman" panose="02020603050405020304" pitchFamily="18" charset="0"/>
                <a:cs typeface="Times New Roman" panose="02020603050405020304" pitchFamily="18" charset="0"/>
              </a:rPr>
              <a:t>系统可负担的显热负荷为 </a:t>
            </a:r>
            <a:r>
              <a:rPr lang="en-US" altLang="zh-CN" b="1" dirty="0">
                <a:solidFill>
                  <a:srgbClr val="C00000"/>
                </a:solidFill>
                <a:latin typeface="Times New Roman" panose="02020603050405020304" pitchFamily="18" charset="0"/>
                <a:cs typeface="Times New Roman" panose="02020603050405020304" pitchFamily="18" charset="0"/>
              </a:rPr>
              <a:t>208 kWh/day</a:t>
            </a:r>
            <a:r>
              <a:rPr lang="zh-CN" altLang="en-US" b="1" dirty="0">
                <a:solidFill>
                  <a:srgbClr val="C0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潜热负荷为</a:t>
            </a:r>
            <a:r>
              <a:rPr lang="en-HK" altLang="zh-CN" b="1" dirty="0">
                <a:solidFill>
                  <a:srgbClr val="C00000"/>
                </a:solidFill>
                <a:latin typeface="Times New Roman" panose="02020603050405020304" pitchFamily="18" charset="0"/>
                <a:ea typeface="等线" panose="02010600030101010101" pitchFamily="2" charset="-122"/>
              </a:rPr>
              <a:t>103.4 kWh/day </a:t>
            </a:r>
            <a:r>
              <a:rPr lang="zh-CN" altLang="en-US" dirty="0">
                <a:latin typeface="Times New Roman" panose="02020603050405020304" pitchFamily="18" charset="0"/>
                <a:cs typeface="Times New Roman" panose="02020603050405020304" pitchFamily="18" charset="0"/>
              </a:rPr>
              <a:t>。</a:t>
            </a:r>
            <a:endParaRPr lang="en-HK" altLang="zh-CN" dirty="0">
              <a:latin typeface="Times New Roman" panose="02020603050405020304" pitchFamily="18" charset="0"/>
              <a:cs typeface="Times New Roman" panose="02020603050405020304" pitchFamily="18" charset="0"/>
            </a:endParaRPr>
          </a:p>
          <a:p>
            <a:pPr marL="342900" indent="-342900">
              <a:spcAft>
                <a:spcPts val="600"/>
              </a:spcAft>
              <a:buFont typeface="Wingdings" panose="05000000000000000000" pitchFamily="2" charset="2"/>
              <a:buChar char="ü"/>
            </a:pPr>
            <a:r>
              <a:rPr lang="en-US" altLang="zh-CN" dirty="0">
                <a:latin typeface="Times New Roman" panose="02020603050405020304" pitchFamily="18" charset="0"/>
                <a:cs typeface="Times New Roman" panose="02020603050405020304" pitchFamily="18" charset="0"/>
              </a:rPr>
              <a:t>PP-IEC </a:t>
            </a:r>
            <a:r>
              <a:rPr lang="zh-CN" altLang="en-US" dirty="0">
                <a:latin typeface="Times New Roman" panose="02020603050405020304" pitchFamily="18" charset="0"/>
                <a:cs typeface="Times New Roman" panose="02020603050405020304" pitchFamily="18" charset="0"/>
              </a:rPr>
              <a:t>系统能够成功地</a:t>
            </a:r>
            <a:r>
              <a:rPr lang="zh-CN" altLang="en-US" b="1" dirty="0">
                <a:solidFill>
                  <a:srgbClr val="C00000"/>
                </a:solidFill>
                <a:latin typeface="Times New Roman" panose="02020603050405020304" pitchFamily="18" charset="0"/>
                <a:cs typeface="Times New Roman" panose="02020603050405020304" pitchFamily="18" charset="0"/>
              </a:rPr>
              <a:t>预冷</a:t>
            </a:r>
            <a:r>
              <a:rPr lang="zh-CN" altLang="en-US" dirty="0">
                <a:latin typeface="Times New Roman" panose="02020603050405020304" pitchFamily="18" charset="0"/>
                <a:cs typeface="Times New Roman" panose="02020603050405020304" pitchFamily="18" charset="0"/>
              </a:rPr>
              <a:t>送入室内的新风温度，确保送风更加凉爽和稳定，从而提高室内舒适度。</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7345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1">
            <a:extLst>
              <a:ext uri="{FF2B5EF4-FFF2-40B4-BE49-F238E27FC236}">
                <a16:creationId xmlns:a16="http://schemas.microsoft.com/office/drawing/2014/main" id="{A0D11974-1CD2-48A9-9779-3528CC718A09}"/>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25</a:t>
            </a:fld>
            <a:endParaRPr lang="en-US" altLang="zh-CN" dirty="0"/>
          </a:p>
        </p:txBody>
      </p:sp>
      <p:sp>
        <p:nvSpPr>
          <p:cNvPr id="23" name="文本框 22">
            <a:extLst>
              <a:ext uri="{FF2B5EF4-FFF2-40B4-BE49-F238E27FC236}">
                <a16:creationId xmlns:a16="http://schemas.microsoft.com/office/drawing/2014/main" id="{64E32C5E-F04B-48E1-AE02-5DC306B0F06C}"/>
              </a:ext>
            </a:extLst>
          </p:cNvPr>
          <p:cNvSpPr txBox="1"/>
          <p:nvPr/>
        </p:nvSpPr>
        <p:spPr>
          <a:xfrm>
            <a:off x="373224" y="979341"/>
            <a:ext cx="7861692" cy="400110"/>
          </a:xfrm>
          <a:prstGeom prst="rect">
            <a:avLst/>
          </a:prstGeom>
          <a:noFill/>
        </p:spPr>
        <p:txBody>
          <a:bodyPr wrap="square" rtlCol="0">
            <a:spAutoFit/>
          </a:bodyPr>
          <a:lstStyle/>
          <a:p>
            <a:pPr marL="285750" indent="-285750">
              <a:buFont typeface="Wingdings" panose="05000000000000000000" pitchFamily="2" charset="2"/>
              <a:buChar char="Ø"/>
            </a:pPr>
            <a:r>
              <a:rPr lang="en-HK" sz="2000" b="1" dirty="0">
                <a:latin typeface="Times New Roman" panose="02020603050405020304" pitchFamily="18" charset="0"/>
                <a:cs typeface="Times New Roman" panose="02020603050405020304" pitchFamily="18" charset="0"/>
              </a:rPr>
              <a:t>PP-IEC</a:t>
            </a:r>
            <a:r>
              <a:rPr lang="zh-CN" altLang="en-US" sz="2000" b="1" dirty="0">
                <a:latin typeface="Times New Roman" panose="02020603050405020304" pitchFamily="18" charset="0"/>
                <a:cs typeface="Times New Roman" panose="02020603050405020304" pitchFamily="18" charset="0"/>
              </a:rPr>
              <a:t>系统能量回收性能的逐月分析</a:t>
            </a:r>
          </a:p>
        </p:txBody>
      </p:sp>
      <p:sp>
        <p:nvSpPr>
          <p:cNvPr id="3" name="矩形 2">
            <a:extLst>
              <a:ext uri="{FF2B5EF4-FFF2-40B4-BE49-F238E27FC236}">
                <a16:creationId xmlns:a16="http://schemas.microsoft.com/office/drawing/2014/main" id="{364FB12D-60BC-4FE1-AA88-4A86554A39C2}"/>
              </a:ext>
            </a:extLst>
          </p:cNvPr>
          <p:cNvSpPr/>
          <p:nvPr/>
        </p:nvSpPr>
        <p:spPr>
          <a:xfrm>
            <a:off x="1191491" y="5519281"/>
            <a:ext cx="10546297" cy="800219"/>
          </a:xfrm>
          <a:prstGeom prst="rect">
            <a:avLst/>
          </a:prstGeom>
        </p:spPr>
        <p:txBody>
          <a:bodyPr wrap="square">
            <a:spAutoFit/>
          </a:bodyPr>
          <a:lstStyle/>
          <a:p>
            <a:pPr marL="285750" indent="-285750">
              <a:spcAft>
                <a:spcPts val="1200"/>
              </a:spcAft>
              <a:buFont typeface="Wingdings" panose="05000000000000000000" pitchFamily="2" charset="2"/>
              <a:buChar char="ü"/>
            </a:pPr>
            <a:r>
              <a:rPr lang="zh-CN" altLang="en-US" dirty="0">
                <a:latin typeface="Times New Roman" panose="02020603050405020304" pitchFamily="18" charset="0"/>
                <a:ea typeface="宋体" panose="02010600030101010101" pitchFamily="2" charset="-122"/>
              </a:rPr>
              <a:t>系统能量回收最显著的增长出现在</a:t>
            </a:r>
            <a:r>
              <a:rPr lang="en-US" altLang="zh-CN" b="1" dirty="0">
                <a:solidFill>
                  <a:srgbClr val="C00000"/>
                </a:solidFill>
                <a:latin typeface="Times New Roman" panose="02020603050405020304" pitchFamily="18" charset="0"/>
                <a:ea typeface="宋体" panose="02010600030101010101" pitchFamily="2" charset="-122"/>
              </a:rPr>
              <a:t>7</a:t>
            </a:r>
            <a:r>
              <a:rPr lang="zh-CN" altLang="en-US" b="1" dirty="0">
                <a:solidFill>
                  <a:srgbClr val="C00000"/>
                </a:solidFill>
                <a:latin typeface="Times New Roman" panose="02020603050405020304" pitchFamily="18" charset="0"/>
                <a:ea typeface="宋体" panose="02010600030101010101" pitchFamily="2" charset="-122"/>
              </a:rPr>
              <a:t>月</a:t>
            </a:r>
            <a:r>
              <a:rPr lang="zh-CN" altLang="en-US" dirty="0">
                <a:latin typeface="Times New Roman" panose="02020603050405020304" pitchFamily="18" charset="0"/>
                <a:ea typeface="宋体" panose="02010600030101010101" pitchFamily="2" charset="-122"/>
              </a:rPr>
              <a:t>和</a:t>
            </a:r>
            <a:r>
              <a:rPr lang="en-US" altLang="zh-CN" b="1" dirty="0">
                <a:solidFill>
                  <a:srgbClr val="C00000"/>
                </a:solidFill>
                <a:latin typeface="Times New Roman" panose="02020603050405020304" pitchFamily="18" charset="0"/>
                <a:ea typeface="宋体" panose="02010600030101010101" pitchFamily="2" charset="-122"/>
              </a:rPr>
              <a:t>8</a:t>
            </a:r>
            <a:r>
              <a:rPr lang="zh-CN" altLang="en-US" b="1" dirty="0">
                <a:solidFill>
                  <a:srgbClr val="C00000"/>
                </a:solidFill>
                <a:latin typeface="Times New Roman" panose="02020603050405020304" pitchFamily="18" charset="0"/>
                <a:ea typeface="宋体" panose="02010600030101010101" pitchFamily="2" charset="-122"/>
              </a:rPr>
              <a:t>月</a:t>
            </a:r>
            <a:r>
              <a:rPr lang="zh-CN" altLang="en-US"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marL="285750" indent="-285750">
              <a:spcAft>
                <a:spcPts val="1200"/>
              </a:spcAft>
              <a:buFont typeface="Wingdings" panose="05000000000000000000" pitchFamily="2" charset="2"/>
              <a:buChar char="ü"/>
            </a:pPr>
            <a:r>
              <a:rPr lang="en-US" altLang="zh-CN" b="1" dirty="0">
                <a:solidFill>
                  <a:srgbClr val="C00000"/>
                </a:solidFill>
                <a:latin typeface="Times New Roman" panose="02020603050405020304" pitchFamily="18" charset="0"/>
                <a:ea typeface="宋体" panose="02010600030101010101" pitchFamily="2" charset="-122"/>
              </a:rPr>
              <a:t>8</a:t>
            </a:r>
            <a:r>
              <a:rPr lang="zh-CN" altLang="en-US" b="1" dirty="0">
                <a:solidFill>
                  <a:srgbClr val="C00000"/>
                </a:solidFill>
                <a:latin typeface="Times New Roman" panose="02020603050405020304" pitchFamily="18" charset="0"/>
                <a:ea typeface="宋体" panose="02010600030101010101" pitchFamily="2" charset="-122"/>
              </a:rPr>
              <a:t>月份</a:t>
            </a:r>
            <a:r>
              <a:rPr lang="zh-CN" altLang="en-US" dirty="0">
                <a:latin typeface="Times New Roman" panose="02020603050405020304" pitchFamily="18" charset="0"/>
                <a:ea typeface="宋体" panose="02010600030101010101" pitchFamily="2" charset="-122"/>
              </a:rPr>
              <a:t>的显热回收量约为</a:t>
            </a:r>
            <a:r>
              <a:rPr lang="en-US" altLang="zh-CN" b="1" dirty="0">
                <a:solidFill>
                  <a:srgbClr val="C00000"/>
                </a:solidFill>
                <a:latin typeface="Times New Roman" panose="02020603050405020304" pitchFamily="18" charset="0"/>
                <a:ea typeface="宋体" panose="02010600030101010101" pitchFamily="2" charset="-122"/>
              </a:rPr>
              <a:t>969 kWh/m³</a:t>
            </a:r>
            <a:r>
              <a:rPr lang="zh-CN" altLang="en-US" dirty="0">
                <a:latin typeface="Times New Roman" panose="02020603050405020304" pitchFamily="18" charset="0"/>
                <a:ea typeface="宋体" panose="02010600030101010101" pitchFamily="2" charset="-122"/>
              </a:rPr>
              <a:t>，潜热回收量约为</a:t>
            </a:r>
            <a:r>
              <a:rPr lang="en-US" altLang="zh-CN" b="1" dirty="0">
                <a:solidFill>
                  <a:srgbClr val="C00000"/>
                </a:solidFill>
                <a:latin typeface="Times New Roman" panose="02020603050405020304" pitchFamily="18" charset="0"/>
                <a:ea typeface="宋体" panose="02010600030101010101" pitchFamily="2" charset="-122"/>
              </a:rPr>
              <a:t>469 kWh/m³</a:t>
            </a:r>
            <a:r>
              <a:rPr lang="zh-CN" altLang="en-US" dirty="0">
                <a:latin typeface="Times New Roman" panose="02020603050405020304" pitchFamily="18" charset="0"/>
                <a:ea typeface="宋体" panose="02010600030101010101" pitchFamily="2" charset="-122"/>
              </a:rPr>
              <a:t>。</a:t>
            </a:r>
            <a:endParaRPr lang="en-US" b="1" dirty="0">
              <a:solidFill>
                <a:srgbClr val="C00000"/>
              </a:solidFill>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1DD6784C-0615-4FD0-1B16-BD28F132E0A7}"/>
              </a:ext>
            </a:extLst>
          </p:cNvPr>
          <p:cNvSpPr/>
          <p:nvPr/>
        </p:nvSpPr>
        <p:spPr>
          <a:xfrm>
            <a:off x="1175657" y="132304"/>
            <a:ext cx="6509033"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4. 工程应用与节能经济性</a:t>
            </a:r>
          </a:p>
        </p:txBody>
      </p:sp>
      <p:pic>
        <p:nvPicPr>
          <p:cNvPr id="7" name="图片 6">
            <a:extLst>
              <a:ext uri="{FF2B5EF4-FFF2-40B4-BE49-F238E27FC236}">
                <a16:creationId xmlns:a16="http://schemas.microsoft.com/office/drawing/2014/main" id="{EC21EC70-0B26-9296-2746-7BBCD6C931EE}"/>
              </a:ext>
            </a:extLst>
          </p:cNvPr>
          <p:cNvPicPr>
            <a:picLocks noChangeAspect="1"/>
          </p:cNvPicPr>
          <p:nvPr/>
        </p:nvPicPr>
        <p:blipFill>
          <a:blip r:embed="rId3"/>
          <a:stretch>
            <a:fillRect/>
          </a:stretch>
        </p:blipFill>
        <p:spPr>
          <a:xfrm>
            <a:off x="10783421" y="63989"/>
            <a:ext cx="1199568" cy="1199568"/>
          </a:xfrm>
          <a:prstGeom prst="rect">
            <a:avLst/>
          </a:prstGeom>
        </p:spPr>
      </p:pic>
      <p:pic>
        <p:nvPicPr>
          <p:cNvPr id="6" name="图片 5">
            <a:extLst>
              <a:ext uri="{FF2B5EF4-FFF2-40B4-BE49-F238E27FC236}">
                <a16:creationId xmlns:a16="http://schemas.microsoft.com/office/drawing/2014/main" id="{C072AE2F-0AC4-0BDB-6D54-1C5F5E1581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25078" y="1443738"/>
            <a:ext cx="6647326" cy="4011255"/>
          </a:xfrm>
          <a:prstGeom prst="rect">
            <a:avLst/>
          </a:prstGeom>
        </p:spPr>
      </p:pic>
    </p:spTree>
    <p:extLst>
      <p:ext uri="{BB962C8B-B14F-4D97-AF65-F5344CB8AC3E}">
        <p14:creationId xmlns:p14="http://schemas.microsoft.com/office/powerpoint/2010/main" val="7459990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2EA0A-ED4A-8296-4001-C3623052E4FF}"/>
            </a:ext>
          </a:extLst>
        </p:cNvPr>
        <p:cNvGrpSpPr/>
        <p:nvPr/>
      </p:nvGrpSpPr>
      <p:grpSpPr>
        <a:xfrm>
          <a:off x="0" y="0"/>
          <a:ext cx="0" cy="0"/>
          <a:chOff x="0" y="0"/>
          <a:chExt cx="0" cy="0"/>
        </a:xfrm>
      </p:grpSpPr>
      <p:sp>
        <p:nvSpPr>
          <p:cNvPr id="7" name="TextBox 37">
            <a:extLst>
              <a:ext uri="{FF2B5EF4-FFF2-40B4-BE49-F238E27FC236}">
                <a16:creationId xmlns:a16="http://schemas.microsoft.com/office/drawing/2014/main" id="{FEEED097-CF0F-CBCB-2F56-42FD478ED2EF}"/>
              </a:ext>
            </a:extLst>
          </p:cNvPr>
          <p:cNvSpPr txBox="1"/>
          <p:nvPr/>
        </p:nvSpPr>
        <p:spPr>
          <a:xfrm>
            <a:off x="337267" y="1066800"/>
            <a:ext cx="6961983" cy="369332"/>
          </a:xfrm>
          <a:prstGeom prst="rect">
            <a:avLst/>
          </a:prstGeom>
          <a:noFill/>
        </p:spPr>
        <p:txBody>
          <a:bodyPr wrap="square">
            <a:spAutoFit/>
          </a:bodyPr>
          <a:lstStyle/>
          <a:p>
            <a:pPr marL="457200" indent="-457200">
              <a:buFont typeface="Wingdings" panose="05000000000000000000" pitchFamily="2" charset="2"/>
              <a:buChar char="Ø"/>
            </a:pPr>
            <a:r>
              <a:rPr lang="en-HK" altLang="zh-CN" b="1" dirty="0">
                <a:latin typeface="Times New Roman" panose="02020603050405020304" pitchFamily="18" charset="0"/>
                <a:ea typeface="宋体" panose="02010600030101010101" pitchFamily="2" charset="-122"/>
              </a:rPr>
              <a:t>PP-IEC </a:t>
            </a:r>
            <a:r>
              <a:rPr lang="zh-CN" altLang="en-US" b="1" dirty="0">
                <a:latin typeface="Times New Roman" panose="02020603050405020304" pitchFamily="18" charset="0"/>
                <a:ea typeface="宋体" panose="02010600030101010101" pitchFamily="2" charset="-122"/>
              </a:rPr>
              <a:t>系统与热轮系统的全年节能性能对比分析（模拟结果）</a:t>
            </a:r>
            <a:endParaRPr lang="en-US" sz="1800" b="1" dirty="0">
              <a:effectLst/>
              <a:latin typeface="Times New Roman" panose="02020603050405020304" pitchFamily="18" charset="0"/>
              <a:ea typeface="宋体" panose="02010600030101010101" pitchFamily="2" charset="-122"/>
            </a:endParaRPr>
          </a:p>
        </p:txBody>
      </p:sp>
      <p:sp>
        <p:nvSpPr>
          <p:cNvPr id="13" name="矩形 12">
            <a:extLst>
              <a:ext uri="{FF2B5EF4-FFF2-40B4-BE49-F238E27FC236}">
                <a16:creationId xmlns:a16="http://schemas.microsoft.com/office/drawing/2014/main" id="{B3745021-93CF-6CD9-5FD2-BA31D751827D}"/>
              </a:ext>
            </a:extLst>
          </p:cNvPr>
          <p:cNvSpPr/>
          <p:nvPr/>
        </p:nvSpPr>
        <p:spPr>
          <a:xfrm>
            <a:off x="927976" y="5585753"/>
            <a:ext cx="10986692" cy="984885"/>
          </a:xfrm>
          <a:prstGeom prst="rect">
            <a:avLst/>
          </a:prstGeom>
        </p:spPr>
        <p:txBody>
          <a:bodyPr wrap="square">
            <a:spAutoFit/>
          </a:bodyPr>
          <a:lstStyle/>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在</a:t>
            </a:r>
            <a:r>
              <a:rPr lang="en-US" altLang="zh-CN" sz="1600" b="1" dirty="0">
                <a:solidFill>
                  <a:srgbClr val="C00000"/>
                </a:solidFill>
                <a:latin typeface="Times New Roman" panose="02020603050405020304" pitchFamily="18" charset="0"/>
                <a:cs typeface="Times New Roman" panose="02020603050405020304" pitchFamily="18" charset="0"/>
              </a:rPr>
              <a:t>6</a:t>
            </a:r>
            <a:r>
              <a:rPr lang="zh-CN" altLang="en-US" sz="1600" b="1" dirty="0">
                <a:solidFill>
                  <a:srgbClr val="C00000"/>
                </a:solidFill>
                <a:latin typeface="Times New Roman" panose="02020603050405020304" pitchFamily="18" charset="0"/>
                <a:cs typeface="Times New Roman" panose="02020603050405020304" pitchFamily="18" charset="0"/>
              </a:rPr>
              <a:t>月至</a:t>
            </a:r>
            <a:r>
              <a:rPr lang="en-US" altLang="zh-CN" sz="1600" b="1" dirty="0">
                <a:solidFill>
                  <a:srgbClr val="C00000"/>
                </a:solidFill>
                <a:latin typeface="Times New Roman" panose="02020603050405020304" pitchFamily="18" charset="0"/>
                <a:cs typeface="Times New Roman" panose="02020603050405020304" pitchFamily="18" charset="0"/>
              </a:rPr>
              <a:t>9</a:t>
            </a:r>
            <a:r>
              <a:rPr lang="zh-CN" altLang="en-US" sz="1600" b="1" dirty="0">
                <a:solidFill>
                  <a:srgbClr val="C00000"/>
                </a:solidFill>
                <a:latin typeface="Times New Roman" panose="02020603050405020304" pitchFamily="18" charset="0"/>
                <a:cs typeface="Times New Roman" panose="02020603050405020304" pitchFamily="18" charset="0"/>
              </a:rPr>
              <a:t>月</a:t>
            </a:r>
            <a:r>
              <a:rPr lang="zh-CN" altLang="en-US" sz="1600" dirty="0">
                <a:latin typeface="Times New Roman" panose="02020603050405020304" pitchFamily="18" charset="0"/>
                <a:cs typeface="Times New Roman" panose="02020603050405020304" pitchFamily="18" charset="0"/>
              </a:rPr>
              <a:t>期间，</a:t>
            </a:r>
            <a:r>
              <a:rPr lang="en-US" altLang="zh-CN" sz="1600" dirty="0">
                <a:latin typeface="Times New Roman" panose="02020603050405020304" pitchFamily="18" charset="0"/>
                <a:cs typeface="Times New Roman" panose="02020603050405020304" pitchFamily="18" charset="0"/>
              </a:rPr>
              <a:t>PP-IEC</a:t>
            </a:r>
            <a:r>
              <a:rPr lang="zh-CN" altLang="en-US" sz="1600" dirty="0">
                <a:latin typeface="Times New Roman" panose="02020603050405020304" pitchFamily="18" charset="0"/>
                <a:cs typeface="Times New Roman" panose="02020603050405020304" pitchFamily="18" charset="0"/>
              </a:rPr>
              <a:t>与</a:t>
            </a:r>
            <a:r>
              <a:rPr lang="en-US" altLang="zh-CN" sz="1600" dirty="0">
                <a:latin typeface="Times New Roman" panose="02020603050405020304" pitchFamily="18" charset="0"/>
                <a:cs typeface="Times New Roman" panose="02020603050405020304" pitchFamily="18" charset="0"/>
              </a:rPr>
              <a:t>HRW</a:t>
            </a:r>
            <a:r>
              <a:rPr lang="zh-CN" altLang="en-US" sz="1600" dirty="0">
                <a:latin typeface="Times New Roman" panose="02020603050405020304" pitchFamily="18" charset="0"/>
                <a:cs typeface="Times New Roman" panose="02020603050405020304" pitchFamily="18" charset="0"/>
              </a:rPr>
              <a:t>系统的节能率均处于较高水平。</a:t>
            </a:r>
          </a:p>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两者均在</a:t>
            </a:r>
            <a:r>
              <a:rPr lang="en-US" altLang="zh-CN" sz="1600" b="1" dirty="0">
                <a:solidFill>
                  <a:srgbClr val="C00000"/>
                </a:solidFill>
                <a:latin typeface="Times New Roman" panose="02020603050405020304" pitchFamily="18" charset="0"/>
                <a:cs typeface="Times New Roman" panose="02020603050405020304" pitchFamily="18" charset="0"/>
              </a:rPr>
              <a:t>8</a:t>
            </a:r>
            <a:r>
              <a:rPr lang="zh-CN" altLang="en-US" sz="1600" b="1" dirty="0">
                <a:solidFill>
                  <a:srgbClr val="C00000"/>
                </a:solidFill>
                <a:latin typeface="Times New Roman" panose="02020603050405020304" pitchFamily="18" charset="0"/>
                <a:cs typeface="Times New Roman" panose="02020603050405020304" pitchFamily="18" charset="0"/>
              </a:rPr>
              <a:t>月</a:t>
            </a:r>
            <a:r>
              <a:rPr lang="zh-CN" altLang="en-US" sz="1600" dirty="0">
                <a:latin typeface="Times New Roman" panose="02020603050405020304" pitchFamily="18" charset="0"/>
                <a:cs typeface="Times New Roman" panose="02020603050405020304" pitchFamily="18" charset="0"/>
              </a:rPr>
              <a:t>达到最高节能率，其中</a:t>
            </a:r>
            <a:r>
              <a:rPr lang="en-US" altLang="zh-CN" sz="1600" dirty="0">
                <a:latin typeface="Times New Roman" panose="02020603050405020304" pitchFamily="18" charset="0"/>
                <a:cs typeface="Times New Roman" panose="02020603050405020304" pitchFamily="18" charset="0"/>
              </a:rPr>
              <a:t>IEC</a:t>
            </a:r>
            <a:r>
              <a:rPr lang="zh-CN" altLang="en-US" sz="1600" dirty="0">
                <a:latin typeface="Times New Roman" panose="02020603050405020304" pitchFamily="18" charset="0"/>
                <a:cs typeface="Times New Roman" panose="02020603050405020304" pitchFamily="18" charset="0"/>
              </a:rPr>
              <a:t>约为</a:t>
            </a:r>
            <a:r>
              <a:rPr lang="en-US" altLang="zh-CN" sz="1600" b="1" dirty="0">
                <a:solidFill>
                  <a:srgbClr val="C00000"/>
                </a:solidFill>
                <a:latin typeface="Times New Roman" panose="02020603050405020304" pitchFamily="18" charset="0"/>
                <a:cs typeface="Times New Roman" panose="02020603050405020304" pitchFamily="18" charset="0"/>
              </a:rPr>
              <a:t>25.9%</a:t>
            </a:r>
            <a:r>
              <a:rPr lang="zh-CN" altLang="en-US" sz="1600" dirty="0">
                <a:latin typeface="Times New Roman" panose="02020603050405020304" pitchFamily="18" charset="0"/>
                <a:cs typeface="Times New Roman" panose="02020603050405020304" pitchFamily="18" charset="0"/>
              </a:rPr>
              <a:t>，明显优于</a:t>
            </a:r>
            <a:r>
              <a:rPr lang="en-US" altLang="zh-CN" sz="1600" dirty="0">
                <a:latin typeface="Times New Roman" panose="02020603050405020304" pitchFamily="18" charset="0"/>
                <a:cs typeface="Times New Roman" panose="02020603050405020304" pitchFamily="18" charset="0"/>
              </a:rPr>
              <a:t>HRW</a:t>
            </a:r>
            <a:r>
              <a:rPr lang="zh-CN" altLang="en-US" sz="1600" dirty="0">
                <a:latin typeface="Times New Roman" panose="02020603050405020304" pitchFamily="18" charset="0"/>
                <a:cs typeface="Times New Roman" panose="02020603050405020304" pitchFamily="18" charset="0"/>
              </a:rPr>
              <a:t>的</a:t>
            </a:r>
            <a:r>
              <a:rPr lang="en-US" altLang="zh-CN" sz="1600" b="1" dirty="0">
                <a:solidFill>
                  <a:srgbClr val="C00000"/>
                </a:solidFill>
                <a:latin typeface="Times New Roman" panose="02020603050405020304" pitchFamily="18" charset="0"/>
                <a:cs typeface="Times New Roman" panose="02020603050405020304" pitchFamily="18" charset="0"/>
              </a:rPr>
              <a:t>18.2%</a:t>
            </a:r>
            <a:r>
              <a:rPr lang="zh-CN" altLang="en-US" sz="1600" dirty="0">
                <a:latin typeface="Times New Roman" panose="02020603050405020304" pitchFamily="18" charset="0"/>
                <a:cs typeface="Times New Roman" panose="02020603050405020304" pitchFamily="18" charset="0"/>
              </a:rPr>
              <a:t>。</a:t>
            </a:r>
          </a:p>
          <a:p>
            <a:pPr marL="342900" indent="-342900">
              <a:spcAft>
                <a:spcPts val="600"/>
              </a:spcAft>
              <a:buFont typeface="Wingdings" panose="05000000000000000000" pitchFamily="2" charset="2"/>
              <a:buChar char="ü"/>
            </a:pPr>
            <a:r>
              <a:rPr lang="en-US" altLang="zh-CN" sz="1600" dirty="0">
                <a:latin typeface="Times New Roman" panose="02020603050405020304" pitchFamily="18" charset="0"/>
                <a:cs typeface="Times New Roman" panose="02020603050405020304" pitchFamily="18" charset="0"/>
              </a:rPr>
              <a:t>PP-IEC</a:t>
            </a:r>
            <a:r>
              <a:rPr lang="zh-CN" altLang="en-US" sz="1600" dirty="0">
                <a:latin typeface="Times New Roman" panose="02020603050405020304" pitchFamily="18" charset="0"/>
                <a:cs typeface="Times New Roman" panose="02020603050405020304" pitchFamily="18" charset="0"/>
              </a:rPr>
              <a:t>得益于利用水蒸发焓差潜力处理冷负荷，其全年节能周期为</a:t>
            </a:r>
            <a:r>
              <a:rPr lang="en-US" altLang="zh-CN" sz="1600" dirty="0">
                <a:latin typeface="Times New Roman" panose="02020603050405020304" pitchFamily="18" charset="0"/>
                <a:cs typeface="Times New Roman" panose="02020603050405020304" pitchFamily="18" charset="0"/>
              </a:rPr>
              <a:t>3</a:t>
            </a:r>
            <a:r>
              <a:rPr lang="zh-CN" altLang="en-US" sz="1600" dirty="0">
                <a:latin typeface="Times New Roman" panose="02020603050405020304" pitchFamily="18" charset="0"/>
                <a:cs typeface="Times New Roman" panose="02020603050405020304" pitchFamily="18" charset="0"/>
              </a:rPr>
              <a:t>月至</a:t>
            </a:r>
            <a:r>
              <a:rPr lang="en-US" altLang="zh-CN" sz="1600" dirty="0">
                <a:latin typeface="Times New Roman" panose="02020603050405020304" pitchFamily="18" charset="0"/>
                <a:cs typeface="Times New Roman" panose="02020603050405020304" pitchFamily="18" charset="0"/>
              </a:rPr>
              <a:t>11</a:t>
            </a:r>
            <a:r>
              <a:rPr lang="zh-CN" altLang="en-US" sz="1600" dirty="0">
                <a:latin typeface="Times New Roman" panose="02020603050405020304" pitchFamily="18" charset="0"/>
                <a:cs typeface="Times New Roman" panose="02020603050405020304" pitchFamily="18" charset="0"/>
              </a:rPr>
              <a:t>月，长于仅在</a:t>
            </a: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月至</a:t>
            </a:r>
            <a:r>
              <a:rPr lang="en-US" altLang="zh-CN" sz="1600" dirty="0">
                <a:latin typeface="Times New Roman" panose="02020603050405020304" pitchFamily="18" charset="0"/>
                <a:cs typeface="Times New Roman" panose="02020603050405020304" pitchFamily="18" charset="0"/>
              </a:rPr>
              <a:t>10</a:t>
            </a:r>
            <a:r>
              <a:rPr lang="zh-CN" altLang="en-US" sz="1600" dirty="0">
                <a:latin typeface="Times New Roman" panose="02020603050405020304" pitchFamily="18" charset="0"/>
                <a:cs typeface="Times New Roman" panose="02020603050405020304" pitchFamily="18" charset="0"/>
              </a:rPr>
              <a:t>月有效的</a:t>
            </a:r>
            <a:r>
              <a:rPr lang="en-US" altLang="zh-CN" sz="1600" dirty="0">
                <a:latin typeface="Times New Roman" panose="02020603050405020304" pitchFamily="18" charset="0"/>
                <a:cs typeface="Times New Roman" panose="02020603050405020304" pitchFamily="18" charset="0"/>
              </a:rPr>
              <a:t>HRW</a:t>
            </a:r>
            <a:r>
              <a:rPr lang="zh-CN" altLang="en-US" sz="1600" dirty="0">
                <a:latin typeface="Times New Roman" panose="02020603050405020304" pitchFamily="18" charset="0"/>
                <a:cs typeface="Times New Roman" panose="02020603050405020304" pitchFamily="18" charset="0"/>
              </a:rPr>
              <a:t>系统。</a:t>
            </a:r>
          </a:p>
        </p:txBody>
      </p:sp>
      <p:sp>
        <p:nvSpPr>
          <p:cNvPr id="14" name="灯片编号占位符 1">
            <a:extLst>
              <a:ext uri="{FF2B5EF4-FFF2-40B4-BE49-F238E27FC236}">
                <a16:creationId xmlns:a16="http://schemas.microsoft.com/office/drawing/2014/main" id="{17693A4A-C0C3-A461-A3A6-75C444A1091F}"/>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26</a:t>
            </a:fld>
            <a:endParaRPr lang="en-US" altLang="zh-CN" dirty="0"/>
          </a:p>
        </p:txBody>
      </p:sp>
      <p:sp>
        <p:nvSpPr>
          <p:cNvPr id="9" name="矩形 8">
            <a:extLst>
              <a:ext uri="{FF2B5EF4-FFF2-40B4-BE49-F238E27FC236}">
                <a16:creationId xmlns:a16="http://schemas.microsoft.com/office/drawing/2014/main" id="{3BD09C3F-919A-CB25-E198-E2039E80FA94}"/>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pic>
        <p:nvPicPr>
          <p:cNvPr id="3" name="图片 2">
            <a:extLst>
              <a:ext uri="{FF2B5EF4-FFF2-40B4-BE49-F238E27FC236}">
                <a16:creationId xmlns:a16="http://schemas.microsoft.com/office/drawing/2014/main" id="{FE962EF5-5D78-F4CF-B28A-FDC3849427C9}"/>
              </a:ext>
            </a:extLst>
          </p:cNvPr>
          <p:cNvPicPr>
            <a:picLocks noChangeAspect="1"/>
          </p:cNvPicPr>
          <p:nvPr/>
        </p:nvPicPr>
        <p:blipFill>
          <a:blip r:embed="rId3"/>
          <a:stretch>
            <a:fillRect/>
          </a:stretch>
        </p:blipFill>
        <p:spPr>
          <a:xfrm>
            <a:off x="5125045" y="2090440"/>
            <a:ext cx="6396714" cy="3240000"/>
          </a:xfrm>
          <a:prstGeom prst="rect">
            <a:avLst/>
          </a:prstGeom>
        </p:spPr>
      </p:pic>
      <p:pic>
        <p:nvPicPr>
          <p:cNvPr id="4" name="图片 3">
            <a:extLst>
              <a:ext uri="{FF2B5EF4-FFF2-40B4-BE49-F238E27FC236}">
                <a16:creationId xmlns:a16="http://schemas.microsoft.com/office/drawing/2014/main" id="{21A90998-A0B4-00C3-E876-1C3386D02B4A}"/>
              </a:ext>
            </a:extLst>
          </p:cNvPr>
          <p:cNvPicPr>
            <a:picLocks noChangeAspect="1"/>
          </p:cNvPicPr>
          <p:nvPr/>
        </p:nvPicPr>
        <p:blipFill>
          <a:blip r:embed="rId4"/>
          <a:stretch>
            <a:fillRect/>
          </a:stretch>
        </p:blipFill>
        <p:spPr>
          <a:xfrm>
            <a:off x="978558" y="2362842"/>
            <a:ext cx="3609391" cy="2825422"/>
          </a:xfrm>
          <a:prstGeom prst="rect">
            <a:avLst/>
          </a:prstGeom>
        </p:spPr>
      </p:pic>
      <p:sp>
        <p:nvSpPr>
          <p:cNvPr id="6" name="TextBox 37">
            <a:extLst>
              <a:ext uri="{FF2B5EF4-FFF2-40B4-BE49-F238E27FC236}">
                <a16:creationId xmlns:a16="http://schemas.microsoft.com/office/drawing/2014/main" id="{5A88E2FE-FDE3-4435-F4C3-674F00DA9D2A}"/>
              </a:ext>
            </a:extLst>
          </p:cNvPr>
          <p:cNvSpPr txBox="1"/>
          <p:nvPr/>
        </p:nvSpPr>
        <p:spPr>
          <a:xfrm>
            <a:off x="468402" y="1596021"/>
            <a:ext cx="159963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latin typeface="Times New Roman" panose="02020603050405020304" pitchFamily="18" charset="0"/>
                <a:ea typeface="宋体" panose="02010600030101010101" pitchFamily="2" charset="-122"/>
              </a:rPr>
              <a:t>热轮图样</a:t>
            </a:r>
            <a:endParaRPr lang="en-US" sz="1800" b="1" dirty="0">
              <a:effectLst/>
              <a:latin typeface="Times New Roman" panose="02020603050405020304" pitchFamily="18" charset="0"/>
              <a:ea typeface="宋体" panose="02010600030101010101" pitchFamily="2" charset="-122"/>
            </a:endParaRPr>
          </a:p>
        </p:txBody>
      </p:sp>
      <p:sp>
        <p:nvSpPr>
          <p:cNvPr id="10" name="TextBox 37">
            <a:extLst>
              <a:ext uri="{FF2B5EF4-FFF2-40B4-BE49-F238E27FC236}">
                <a16:creationId xmlns:a16="http://schemas.microsoft.com/office/drawing/2014/main" id="{2074A158-C1FF-3D33-3242-964425C09D19}"/>
              </a:ext>
            </a:extLst>
          </p:cNvPr>
          <p:cNvSpPr txBox="1"/>
          <p:nvPr/>
        </p:nvSpPr>
        <p:spPr>
          <a:xfrm>
            <a:off x="4629278" y="1586523"/>
            <a:ext cx="159963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latin typeface="Times New Roman" panose="02020603050405020304" pitchFamily="18" charset="0"/>
                <a:ea typeface="宋体" panose="02010600030101010101" pitchFamily="2" charset="-122"/>
              </a:rPr>
              <a:t>对比结果</a:t>
            </a:r>
            <a:endParaRPr lang="en-US" sz="1800" b="1"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89573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28C96-38C1-CCEA-38E1-14BE9D558169}"/>
            </a:ext>
          </a:extLst>
        </p:cNvPr>
        <p:cNvGrpSpPr/>
        <p:nvPr/>
      </p:nvGrpSpPr>
      <p:grpSpPr>
        <a:xfrm>
          <a:off x="0" y="0"/>
          <a:ext cx="0" cy="0"/>
          <a:chOff x="0" y="0"/>
          <a:chExt cx="0" cy="0"/>
        </a:xfrm>
      </p:grpSpPr>
      <p:sp>
        <p:nvSpPr>
          <p:cNvPr id="7" name="TextBox 37">
            <a:extLst>
              <a:ext uri="{FF2B5EF4-FFF2-40B4-BE49-F238E27FC236}">
                <a16:creationId xmlns:a16="http://schemas.microsoft.com/office/drawing/2014/main" id="{827693BA-6CF8-B5A0-5C0E-C750AF69DEF7}"/>
              </a:ext>
            </a:extLst>
          </p:cNvPr>
          <p:cNvSpPr txBox="1"/>
          <p:nvPr/>
        </p:nvSpPr>
        <p:spPr>
          <a:xfrm>
            <a:off x="337267" y="1066800"/>
            <a:ext cx="7451082" cy="369332"/>
          </a:xfrm>
          <a:prstGeom prst="rect">
            <a:avLst/>
          </a:prstGeom>
          <a:noFill/>
        </p:spPr>
        <p:txBody>
          <a:bodyPr wrap="square">
            <a:spAutoFit/>
          </a:bodyPr>
          <a:lstStyle/>
          <a:p>
            <a:pPr marL="457200" indent="-457200">
              <a:buFont typeface="Wingdings" panose="05000000000000000000" pitchFamily="2" charset="2"/>
              <a:buChar char="Ø"/>
            </a:pPr>
            <a:r>
              <a:rPr lang="en-US" altLang="zh-CN" b="1" dirty="0">
                <a:latin typeface="Times New Roman" panose="02020603050405020304" pitchFamily="18" charset="0"/>
                <a:ea typeface="宋体" panose="02010600030101010101" pitchFamily="2" charset="-122"/>
              </a:rPr>
              <a:t>PP-IEC</a:t>
            </a:r>
            <a:r>
              <a:rPr lang="zh-CN" altLang="en-US" b="1" dirty="0">
                <a:latin typeface="Times New Roman" panose="02020603050405020304" pitchFamily="18" charset="0"/>
                <a:ea typeface="宋体" panose="02010600030101010101" pitchFamily="2" charset="-122"/>
              </a:rPr>
              <a:t>与</a:t>
            </a:r>
            <a:r>
              <a:rPr lang="en-US" altLang="zh-CN" b="1" dirty="0">
                <a:latin typeface="Times New Roman" panose="02020603050405020304" pitchFamily="18" charset="0"/>
                <a:ea typeface="宋体" panose="02010600030101010101" pitchFamily="2" charset="-122"/>
              </a:rPr>
              <a:t>HRW</a:t>
            </a:r>
            <a:r>
              <a:rPr lang="zh-CN" altLang="en-US" b="1" dirty="0">
                <a:latin typeface="Times New Roman" panose="02020603050405020304" pitchFamily="18" charset="0"/>
                <a:ea typeface="宋体" panose="02010600030101010101" pitchFamily="2" charset="-122"/>
              </a:rPr>
              <a:t>系统的经济性对比总结分析</a:t>
            </a:r>
            <a:endParaRPr lang="en-US" sz="1800" b="1" dirty="0">
              <a:effectLst/>
              <a:latin typeface="Times New Roman" panose="02020603050405020304" pitchFamily="18" charset="0"/>
              <a:ea typeface="宋体" panose="02010600030101010101" pitchFamily="2" charset="-122"/>
            </a:endParaRPr>
          </a:p>
        </p:txBody>
      </p:sp>
      <p:sp>
        <p:nvSpPr>
          <p:cNvPr id="13" name="矩形 12">
            <a:extLst>
              <a:ext uri="{FF2B5EF4-FFF2-40B4-BE49-F238E27FC236}">
                <a16:creationId xmlns:a16="http://schemas.microsoft.com/office/drawing/2014/main" id="{0B4201B8-43FE-92EB-B99D-2F4E5013B104}"/>
              </a:ext>
            </a:extLst>
          </p:cNvPr>
          <p:cNvSpPr/>
          <p:nvPr/>
        </p:nvSpPr>
        <p:spPr>
          <a:xfrm>
            <a:off x="700262" y="5137315"/>
            <a:ext cx="11453638" cy="984885"/>
          </a:xfrm>
          <a:prstGeom prst="rect">
            <a:avLst/>
          </a:prstGeom>
        </p:spPr>
        <p:txBody>
          <a:bodyPr wrap="square">
            <a:spAutoFit/>
          </a:bodyPr>
          <a:lstStyle/>
          <a:p>
            <a:pPr marL="342900" indent="-342900">
              <a:spcAft>
                <a:spcPts val="600"/>
              </a:spcAft>
              <a:buFont typeface="Wingdings" panose="05000000000000000000" pitchFamily="2" charset="2"/>
              <a:buChar char="ü"/>
            </a:pPr>
            <a:r>
              <a:rPr lang="en-US" altLang="zh-CN" sz="1600" dirty="0">
                <a:latin typeface="Times New Roman" panose="02020603050405020304" pitchFamily="18" charset="0"/>
                <a:cs typeface="Times New Roman" panose="02020603050405020304" pitchFamily="18" charset="0"/>
              </a:rPr>
              <a:t>HRW</a:t>
            </a:r>
            <a:r>
              <a:rPr lang="zh-CN" altLang="en-US" sz="1600" dirty="0">
                <a:latin typeface="Times New Roman" panose="02020603050405020304" pitchFamily="18" charset="0"/>
                <a:cs typeface="Times New Roman" panose="02020603050405020304" pitchFamily="18" charset="0"/>
              </a:rPr>
              <a:t>的总收益（含能量回收与冷水机组投资减少）略高于</a:t>
            </a:r>
            <a:r>
              <a:rPr lang="en-US" altLang="zh-CN" sz="1600" dirty="0">
                <a:latin typeface="Times New Roman" panose="02020603050405020304" pitchFamily="18" charset="0"/>
                <a:cs typeface="Times New Roman" panose="02020603050405020304" pitchFamily="18" charset="0"/>
              </a:rPr>
              <a:t>IEC</a:t>
            </a:r>
            <a:r>
              <a:rPr lang="zh-CN" altLang="en-US" sz="1600" dirty="0">
                <a:latin typeface="Times New Roman" panose="02020603050405020304" pitchFamily="18" charset="0"/>
                <a:cs typeface="Times New Roman" panose="02020603050405020304" pitchFamily="18" charset="0"/>
              </a:rPr>
              <a:t>，但其初始投资和维护成本更高。</a:t>
            </a:r>
          </a:p>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综合成本计算后，</a:t>
            </a:r>
            <a:r>
              <a:rPr lang="en-US" altLang="zh-CN" sz="1600" dirty="0">
                <a:latin typeface="Times New Roman" panose="02020603050405020304" pitchFamily="18" charset="0"/>
                <a:cs typeface="Times New Roman" panose="02020603050405020304" pitchFamily="18" charset="0"/>
              </a:rPr>
              <a:t>PP-IEC</a:t>
            </a:r>
            <a:r>
              <a:rPr lang="zh-CN" altLang="en-US" sz="1600" dirty="0">
                <a:latin typeface="Times New Roman" panose="02020603050405020304" pitchFamily="18" charset="0"/>
                <a:cs typeface="Times New Roman" panose="02020603050405020304" pitchFamily="18" charset="0"/>
              </a:rPr>
              <a:t>的</a:t>
            </a:r>
            <a:r>
              <a:rPr lang="zh-CN" altLang="en-US" sz="1600" b="1" dirty="0">
                <a:solidFill>
                  <a:srgbClr val="C00000"/>
                </a:solidFill>
                <a:latin typeface="Times New Roman" panose="02020603050405020304" pitchFamily="18" charset="0"/>
                <a:cs typeface="Times New Roman" panose="02020603050405020304" pitchFamily="18" charset="0"/>
              </a:rPr>
              <a:t>净收益</a:t>
            </a:r>
            <a:r>
              <a:rPr lang="zh-CN" altLang="en-US" sz="1600" dirty="0">
                <a:latin typeface="Times New Roman" panose="02020603050405020304" pitchFamily="18" charset="0"/>
                <a:cs typeface="Times New Roman" panose="02020603050405020304" pitchFamily="18" charset="0"/>
              </a:rPr>
              <a:t>比</a:t>
            </a:r>
            <a:r>
              <a:rPr lang="en-US" altLang="zh-CN" sz="1600" dirty="0">
                <a:latin typeface="Times New Roman" panose="02020603050405020304" pitchFamily="18" charset="0"/>
                <a:cs typeface="Times New Roman" panose="02020603050405020304" pitchFamily="18" charset="0"/>
              </a:rPr>
              <a:t>HRW</a:t>
            </a:r>
            <a:r>
              <a:rPr lang="zh-CN" altLang="en-US" sz="1600" b="1" dirty="0">
                <a:solidFill>
                  <a:srgbClr val="C00000"/>
                </a:solidFill>
                <a:latin typeface="Times New Roman" panose="02020603050405020304" pitchFamily="18" charset="0"/>
                <a:cs typeface="Times New Roman" panose="02020603050405020304" pitchFamily="18" charset="0"/>
              </a:rPr>
              <a:t>高出</a:t>
            </a:r>
            <a:r>
              <a:rPr lang="en-US" altLang="zh-CN" sz="1600" b="1" dirty="0">
                <a:solidFill>
                  <a:srgbClr val="C00000"/>
                </a:solidFill>
                <a:latin typeface="Times New Roman" panose="02020603050405020304" pitchFamily="18" charset="0"/>
                <a:cs typeface="Times New Roman" panose="02020603050405020304" pitchFamily="18" charset="0"/>
              </a:rPr>
              <a:t>9.6%</a:t>
            </a:r>
            <a:r>
              <a:rPr lang="zh-CN" altLang="en-US" sz="1600" dirty="0">
                <a:latin typeface="Times New Roman" panose="02020603050405020304" pitchFamily="18" charset="0"/>
                <a:cs typeface="Times New Roman" panose="02020603050405020304" pitchFamily="18" charset="0"/>
              </a:rPr>
              <a:t>，且动态投资回收期更短（</a:t>
            </a:r>
            <a:r>
              <a:rPr lang="en-US" altLang="zh-CN" sz="1600" b="1" dirty="0">
                <a:solidFill>
                  <a:srgbClr val="C00000"/>
                </a:solidFill>
                <a:latin typeface="Times New Roman" panose="02020603050405020304" pitchFamily="18" charset="0"/>
                <a:cs typeface="Times New Roman" panose="02020603050405020304" pitchFamily="18" charset="0"/>
              </a:rPr>
              <a:t>IEC</a:t>
            </a:r>
            <a:r>
              <a:rPr lang="zh-CN" altLang="en-US" sz="1600" b="1" dirty="0">
                <a:solidFill>
                  <a:srgbClr val="C00000"/>
                </a:solidFill>
                <a:latin typeface="Times New Roman" panose="02020603050405020304" pitchFamily="18" charset="0"/>
                <a:cs typeface="Times New Roman" panose="02020603050405020304" pitchFamily="18" charset="0"/>
              </a:rPr>
              <a:t>为</a:t>
            </a:r>
            <a:r>
              <a:rPr lang="en-US" altLang="zh-CN" sz="1600" b="1" dirty="0">
                <a:solidFill>
                  <a:srgbClr val="C00000"/>
                </a:solidFill>
                <a:latin typeface="Times New Roman" panose="02020603050405020304" pitchFamily="18" charset="0"/>
                <a:cs typeface="Times New Roman" panose="02020603050405020304" pitchFamily="18" charset="0"/>
              </a:rPr>
              <a:t>3.6</a:t>
            </a:r>
            <a:r>
              <a:rPr lang="zh-CN" altLang="en-US" sz="1600" b="1" dirty="0">
                <a:solidFill>
                  <a:srgbClr val="C00000"/>
                </a:solidFill>
                <a:latin typeface="Times New Roman" panose="02020603050405020304" pitchFamily="18" charset="0"/>
                <a:cs typeface="Times New Roman" panose="02020603050405020304" pitchFamily="18" charset="0"/>
              </a:rPr>
              <a:t>年</a:t>
            </a:r>
            <a:r>
              <a:rPr lang="zh-CN" altLang="en-US" sz="1600" dirty="0">
                <a:latin typeface="Times New Roman" panose="02020603050405020304" pitchFamily="18" charset="0"/>
                <a:cs typeface="Times New Roman" panose="02020603050405020304" pitchFamily="18" charset="0"/>
              </a:rPr>
              <a:t>，</a:t>
            </a:r>
            <a:r>
              <a:rPr lang="en-US" altLang="zh-CN" sz="1600" b="1" dirty="0">
                <a:solidFill>
                  <a:srgbClr val="C00000"/>
                </a:solidFill>
                <a:latin typeface="Times New Roman" panose="02020603050405020304" pitchFamily="18" charset="0"/>
                <a:cs typeface="Times New Roman" panose="02020603050405020304" pitchFamily="18" charset="0"/>
              </a:rPr>
              <a:t>HRW</a:t>
            </a:r>
            <a:r>
              <a:rPr lang="zh-CN" altLang="en-US" sz="1600" b="1" dirty="0">
                <a:solidFill>
                  <a:srgbClr val="C00000"/>
                </a:solidFill>
                <a:latin typeface="Times New Roman" panose="02020603050405020304" pitchFamily="18" charset="0"/>
                <a:cs typeface="Times New Roman" panose="02020603050405020304" pitchFamily="18" charset="0"/>
              </a:rPr>
              <a:t>为</a:t>
            </a:r>
            <a:r>
              <a:rPr lang="en-US" altLang="zh-CN" sz="1600" b="1" dirty="0">
                <a:solidFill>
                  <a:srgbClr val="C00000"/>
                </a:solidFill>
                <a:latin typeface="Times New Roman" panose="02020603050405020304" pitchFamily="18" charset="0"/>
                <a:cs typeface="Times New Roman" panose="02020603050405020304" pitchFamily="18" charset="0"/>
              </a:rPr>
              <a:t>7.4</a:t>
            </a:r>
            <a:r>
              <a:rPr lang="zh-CN" altLang="en-US" sz="1600" b="1" dirty="0">
                <a:solidFill>
                  <a:srgbClr val="C00000"/>
                </a:solidFill>
                <a:latin typeface="Times New Roman" panose="02020603050405020304" pitchFamily="18" charset="0"/>
                <a:cs typeface="Times New Roman" panose="02020603050405020304" pitchFamily="18" charset="0"/>
              </a:rPr>
              <a:t>年</a:t>
            </a:r>
            <a:r>
              <a:rPr lang="zh-CN" altLang="en-US" sz="1600" dirty="0">
                <a:latin typeface="Times New Roman" panose="02020603050405020304" pitchFamily="18" charset="0"/>
                <a:cs typeface="Times New Roman" panose="02020603050405020304" pitchFamily="18" charset="0"/>
              </a:rPr>
              <a:t>）。</a:t>
            </a:r>
          </a:p>
          <a:p>
            <a:pPr marL="342900" indent="-342900">
              <a:spcAft>
                <a:spcPts val="600"/>
              </a:spcAft>
              <a:buFont typeface="Wingdings" panose="05000000000000000000" pitchFamily="2" charset="2"/>
              <a:buChar char="ü"/>
            </a:pPr>
            <a:r>
              <a:rPr lang="zh-CN" altLang="en-US" sz="1600" dirty="0">
                <a:latin typeface="Times New Roman" panose="02020603050405020304" pitchFamily="18" charset="0"/>
                <a:cs typeface="Times New Roman" panose="02020603050405020304" pitchFamily="18" charset="0"/>
              </a:rPr>
              <a:t>综合考虑</a:t>
            </a:r>
            <a:r>
              <a:rPr lang="zh-CN" altLang="en-US" sz="1600" b="1" dirty="0">
                <a:solidFill>
                  <a:srgbClr val="C00000"/>
                </a:solidFill>
                <a:latin typeface="Times New Roman" panose="02020603050405020304" pitchFamily="18" charset="0"/>
                <a:cs typeface="Times New Roman" panose="02020603050405020304" pitchFamily="18" charset="0"/>
              </a:rPr>
              <a:t>经济性</a:t>
            </a:r>
            <a:r>
              <a:rPr lang="zh-CN" altLang="en-US" sz="1600" dirty="0">
                <a:latin typeface="Times New Roman" panose="02020603050405020304" pitchFamily="18" charset="0"/>
                <a:cs typeface="Times New Roman" panose="02020603050405020304" pitchFamily="18" charset="0"/>
              </a:rPr>
              <a:t>与</a:t>
            </a:r>
            <a:r>
              <a:rPr lang="zh-CN" altLang="en-US" sz="1600" b="1" dirty="0">
                <a:solidFill>
                  <a:srgbClr val="C00000"/>
                </a:solidFill>
                <a:latin typeface="Times New Roman" panose="02020603050405020304" pitchFamily="18" charset="0"/>
                <a:cs typeface="Times New Roman" panose="02020603050405020304" pitchFamily="18" charset="0"/>
              </a:rPr>
              <a:t>回收期</a:t>
            </a: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PP-IEC</a:t>
            </a:r>
            <a:r>
              <a:rPr lang="zh-CN" altLang="en-US" sz="1600" dirty="0">
                <a:latin typeface="Times New Roman" panose="02020603050405020304" pitchFamily="18" charset="0"/>
                <a:cs typeface="Times New Roman" panose="02020603050405020304" pitchFamily="18" charset="0"/>
              </a:rPr>
              <a:t>系统是中央空调能量回收的更优选择，在香港及广东等湿热地区具有更大的应用潜力。</a:t>
            </a:r>
          </a:p>
        </p:txBody>
      </p:sp>
      <p:sp>
        <p:nvSpPr>
          <p:cNvPr id="14" name="灯片编号占位符 1">
            <a:extLst>
              <a:ext uri="{FF2B5EF4-FFF2-40B4-BE49-F238E27FC236}">
                <a16:creationId xmlns:a16="http://schemas.microsoft.com/office/drawing/2014/main" id="{BD7F2E69-2C9D-191C-00A9-8AC89213FEB0}"/>
              </a:ext>
            </a:extLst>
          </p:cNvPr>
          <p:cNvSpPr>
            <a:spLocks noGrp="1"/>
          </p:cNvSpPr>
          <p:nvPr>
            <p:ph type="sldNum" sz="quarter" idx="12"/>
          </p:nvPr>
        </p:nvSpPr>
        <p:spPr>
          <a:xfrm>
            <a:off x="9309100" y="6400801"/>
            <a:ext cx="2844800" cy="365125"/>
          </a:xfrm>
        </p:spPr>
        <p:txBody>
          <a:bodyPr/>
          <a:lstStyle/>
          <a:p>
            <a:pPr>
              <a:defRPr/>
            </a:pPr>
            <a:fld id="{15884886-3D85-4AFD-9D94-33E4AF7428DD}" type="slidenum">
              <a:rPr lang="en-US" altLang="zh-CN" smtClean="0"/>
              <a:pPr>
                <a:defRPr/>
              </a:pPr>
              <a:t>27</a:t>
            </a:fld>
            <a:endParaRPr lang="en-US" altLang="zh-CN" dirty="0"/>
          </a:p>
        </p:txBody>
      </p:sp>
      <p:sp>
        <p:nvSpPr>
          <p:cNvPr id="9" name="矩形 8">
            <a:extLst>
              <a:ext uri="{FF2B5EF4-FFF2-40B4-BE49-F238E27FC236}">
                <a16:creationId xmlns:a16="http://schemas.microsoft.com/office/drawing/2014/main" id="{756929B1-5CD2-A618-19F4-7C0130CF87CC}"/>
              </a:ext>
            </a:extLst>
          </p:cNvPr>
          <p:cNvSpPr/>
          <p:nvPr/>
        </p:nvSpPr>
        <p:spPr>
          <a:xfrm>
            <a:off x="1117809" y="146190"/>
            <a:ext cx="10753281" cy="57605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ea typeface="Microsoft YaHei" panose="02010600030101010101" pitchFamily="2" charset="-122"/>
                <a:cs typeface="Times New Roman" panose="02020603050405020304" pitchFamily="18" charset="0"/>
              </a:rPr>
              <a:t>4. 工程应用与节能经济性</a:t>
            </a:r>
          </a:p>
        </p:txBody>
      </p:sp>
      <p:graphicFrame>
        <p:nvGraphicFramePr>
          <p:cNvPr id="5" name="表格 4">
            <a:extLst>
              <a:ext uri="{FF2B5EF4-FFF2-40B4-BE49-F238E27FC236}">
                <a16:creationId xmlns:a16="http://schemas.microsoft.com/office/drawing/2014/main" id="{1B1D7990-98E5-A86B-B762-E387BD38501E}"/>
              </a:ext>
            </a:extLst>
          </p:cNvPr>
          <p:cNvGraphicFramePr>
            <a:graphicFrameLocks noGrp="1"/>
          </p:cNvGraphicFramePr>
          <p:nvPr>
            <p:extLst>
              <p:ext uri="{D42A27DB-BD31-4B8C-83A1-F6EECF244321}">
                <p14:modId xmlns:p14="http://schemas.microsoft.com/office/powerpoint/2010/main" val="643234999"/>
              </p:ext>
            </p:extLst>
          </p:nvPr>
        </p:nvGraphicFramePr>
        <p:xfrm>
          <a:off x="1828800" y="1829467"/>
          <a:ext cx="8144541" cy="2742816"/>
        </p:xfrm>
        <a:graphic>
          <a:graphicData uri="http://schemas.openxmlformats.org/drawingml/2006/table">
            <a:tbl>
              <a:tblPr/>
              <a:tblGrid>
                <a:gridCol w="4524154">
                  <a:extLst>
                    <a:ext uri="{9D8B030D-6E8A-4147-A177-3AD203B41FA5}">
                      <a16:colId xmlns:a16="http://schemas.microsoft.com/office/drawing/2014/main" val="4260126818"/>
                    </a:ext>
                  </a:extLst>
                </a:gridCol>
                <a:gridCol w="2414795">
                  <a:extLst>
                    <a:ext uri="{9D8B030D-6E8A-4147-A177-3AD203B41FA5}">
                      <a16:colId xmlns:a16="http://schemas.microsoft.com/office/drawing/2014/main" val="1339065255"/>
                    </a:ext>
                  </a:extLst>
                </a:gridCol>
                <a:gridCol w="1205592">
                  <a:extLst>
                    <a:ext uri="{9D8B030D-6E8A-4147-A177-3AD203B41FA5}">
                      <a16:colId xmlns:a16="http://schemas.microsoft.com/office/drawing/2014/main" val="3542057879"/>
                    </a:ext>
                  </a:extLst>
                </a:gridCol>
              </a:tblGrid>
              <a:tr h="457136">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Item</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buNone/>
                      </a:pPr>
                      <a:r>
                        <a:rPr lang="en-US" altLang="zh-CN" sz="1600" kern="100" dirty="0">
                          <a:effectLst/>
                          <a:latin typeface="Times New Roman" panose="02020603050405020304" pitchFamily="18" charset="0"/>
                          <a:ea typeface="等线" panose="02010600030101010101" pitchFamily="2" charset="-122"/>
                          <a:cs typeface="Times New Roman" panose="02020603050405020304" pitchFamily="18" charset="0"/>
                        </a:rPr>
                        <a:t>PP-</a:t>
                      </a: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IEC</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HRW</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2189493"/>
                  </a:ext>
                </a:extLst>
              </a:tr>
              <a:tr h="457136">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Initial investment (HKD)</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68,000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88,000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04020149"/>
                  </a:ext>
                </a:extLst>
              </a:tr>
              <a:tr h="457136">
                <a:tc>
                  <a:txBody>
                    <a:bodyPr/>
                    <a:lstStyle/>
                    <a:p>
                      <a:pPr algn="just">
                        <a:lnSpc>
                          <a:spcPct val="107000"/>
                        </a:lnSpc>
                        <a:spcAft>
                          <a:spcPts val="800"/>
                        </a:spcAft>
                        <a:buNone/>
                      </a:pP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Operation cost (HKD/year)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8,712</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9,730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extLst>
                  <a:ext uri="{0D108BD9-81ED-4DB2-BD59-A6C34878D82A}">
                    <a16:rowId xmlns:a16="http://schemas.microsoft.com/office/drawing/2014/main" val="3494280716"/>
                  </a:ext>
                </a:extLst>
              </a:tr>
              <a:tr h="457136">
                <a:tc>
                  <a:txBody>
                    <a:bodyPr/>
                    <a:lstStyle/>
                    <a:p>
                      <a:pPr algn="just">
                        <a:lnSpc>
                          <a:spcPct val="107000"/>
                        </a:lnSpc>
                        <a:spcAft>
                          <a:spcPts val="800"/>
                        </a:spcAft>
                        <a:buNone/>
                      </a:pP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Maintenance (HKD/year)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2500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4000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extLst>
                  <a:ext uri="{0D108BD9-81ED-4DB2-BD59-A6C34878D82A}">
                    <a16:rowId xmlns:a16="http://schemas.microsoft.com/office/drawing/2014/main" val="9692331"/>
                  </a:ext>
                </a:extLst>
              </a:tr>
              <a:tr h="457136">
                <a:tc>
                  <a:txBody>
                    <a:bodyPr/>
                    <a:lstStyle/>
                    <a:p>
                      <a:pPr algn="just">
                        <a:lnSpc>
                          <a:spcPct val="107000"/>
                        </a:lnSpc>
                        <a:spcAft>
                          <a:spcPts val="800"/>
                        </a:spcAft>
                        <a:buNone/>
                      </a:pP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Annual net benefits (HKD/year)</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19,697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11,347</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a:noFill/>
                    </a:lnB>
                    <a:noFill/>
                  </a:tcPr>
                </a:tc>
                <a:extLst>
                  <a:ext uri="{0D108BD9-81ED-4DB2-BD59-A6C34878D82A}">
                    <a16:rowId xmlns:a16="http://schemas.microsoft.com/office/drawing/2014/main" val="604535348"/>
                  </a:ext>
                </a:extLst>
              </a:tr>
              <a:tr h="457136">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Payback year</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buNone/>
                      </a:pPr>
                      <a:r>
                        <a:rPr lang="zh-CN" sz="1600" kern="100">
                          <a:effectLst/>
                          <a:latin typeface="Times New Roman" panose="02020603050405020304" pitchFamily="18" charset="0"/>
                          <a:ea typeface="等线" panose="02010600030101010101" pitchFamily="2" charset="-122"/>
                          <a:cs typeface="Times New Roman" panose="02020603050405020304" pitchFamily="18" charset="0"/>
                        </a:rPr>
                        <a:t>3.6</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just">
                        <a:lnSpc>
                          <a:spcPct val="107000"/>
                        </a:lnSpc>
                        <a:spcAft>
                          <a:spcPts val="800"/>
                        </a:spcAft>
                        <a:buNone/>
                      </a:pPr>
                      <a:r>
                        <a:rPr lang="zh-CN" sz="1600" kern="100" dirty="0">
                          <a:effectLst/>
                          <a:latin typeface="Times New Roman" panose="02020603050405020304" pitchFamily="18" charset="0"/>
                          <a:ea typeface="等线" panose="02010600030101010101" pitchFamily="2" charset="-122"/>
                          <a:cs typeface="Times New Roman" panose="02020603050405020304" pitchFamily="18" charset="0"/>
                        </a:rPr>
                        <a:t>7.4</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0782136"/>
                  </a:ext>
                </a:extLst>
              </a:tr>
            </a:tbl>
          </a:graphicData>
        </a:graphic>
      </p:graphicFrame>
    </p:spTree>
    <p:extLst>
      <p:ext uri="{BB962C8B-B14F-4D97-AF65-F5344CB8AC3E}">
        <p14:creationId xmlns:p14="http://schemas.microsoft.com/office/powerpoint/2010/main" val="1670061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9C52746-A8CD-4ED3-DB80-D81B35E02D65}"/>
              </a:ext>
            </a:extLst>
          </p:cNvPr>
          <p:cNvSpPr>
            <a:spLocks noGrp="1"/>
          </p:cNvSpPr>
          <p:nvPr>
            <p:ph type="sldNum" sz="quarter" idx="12"/>
          </p:nvPr>
        </p:nvSpPr>
        <p:spPr/>
        <p:txBody>
          <a:bodyPr/>
          <a:lstStyle/>
          <a:p>
            <a:pPr>
              <a:defRPr/>
            </a:pPr>
            <a:fld id="{15884886-3D85-4AFD-9D94-33E4AF7428DD}" type="slidenum">
              <a:rPr lang="en-US" altLang="zh-CN" smtClean="0"/>
              <a:pPr>
                <a:defRPr/>
              </a:pPr>
              <a:t>28</a:t>
            </a:fld>
            <a:endParaRPr lang="en-US" altLang="zh-CN"/>
          </a:p>
        </p:txBody>
      </p:sp>
      <p:sp>
        <p:nvSpPr>
          <p:cNvPr id="7" name="矩形 4">
            <a:extLst>
              <a:ext uri="{FF2B5EF4-FFF2-40B4-BE49-F238E27FC236}">
                <a16:creationId xmlns:a16="http://schemas.microsoft.com/office/drawing/2014/main" id="{D6152032-6E37-4EDE-97AE-B5BC2F80881C}"/>
              </a:ext>
            </a:extLst>
          </p:cNvPr>
          <p:cNvSpPr/>
          <p:nvPr/>
        </p:nvSpPr>
        <p:spPr>
          <a:xfrm>
            <a:off x="1191491" y="149213"/>
            <a:ext cx="6629400" cy="580415"/>
          </a:xfrm>
          <a:prstGeom prst="rect">
            <a:avLst/>
          </a:prstGeom>
        </p:spPr>
        <p:txBody>
          <a:bodyPr wrap="square">
            <a:spAutoFit/>
          </a:bodyPr>
          <a:lstStyle/>
          <a:p>
            <a:pPr>
              <a:lnSpc>
                <a:spcPct val="125000"/>
              </a:lnSpc>
              <a:spcBef>
                <a:spcPct val="20000"/>
              </a:spcBef>
            </a:pPr>
            <a:r>
              <a:rPr lang="zh-CN" altLang="zh-CN" sz="2800" b="1" dirty="0">
                <a:solidFill>
                  <a:schemeClr val="tx1"/>
                </a:solidFill>
                <a:latin typeface="Times New Roman" panose="02020603050405020304" pitchFamily="18" charset="0"/>
                <a:cs typeface="Times New Roman" panose="02020603050405020304" pitchFamily="18" charset="0"/>
                <a:ea typeface="Microsoft YaHei"/>
              </a:rPr>
              <a:t>5. 研究结论</a:t>
            </a:r>
          </a:p>
        </p:txBody>
      </p:sp>
      <p:pic>
        <p:nvPicPr>
          <p:cNvPr id="3" name="图片 2">
            <a:extLst>
              <a:ext uri="{FF2B5EF4-FFF2-40B4-BE49-F238E27FC236}">
                <a16:creationId xmlns:a16="http://schemas.microsoft.com/office/drawing/2014/main" id="{1CF8FDA5-9961-27E2-DDD6-1671D336E7B3}"/>
              </a:ext>
            </a:extLst>
          </p:cNvPr>
          <p:cNvPicPr>
            <a:picLocks noChangeAspect="1"/>
          </p:cNvPicPr>
          <p:nvPr/>
        </p:nvPicPr>
        <p:blipFill>
          <a:blip r:embed="rId2"/>
          <a:stretch>
            <a:fillRect/>
          </a:stretch>
        </p:blipFill>
        <p:spPr>
          <a:xfrm>
            <a:off x="10783421" y="63989"/>
            <a:ext cx="1199568" cy="1199568"/>
          </a:xfrm>
          <a:prstGeom prst="rect">
            <a:avLst/>
          </a:prstGeom>
        </p:spPr>
      </p:pic>
      <p:sp>
        <p:nvSpPr>
          <p:cNvPr id="8" name="TextBox 7"/>
          <p:cNvSpPr txBox="1"/>
          <p:nvPr/>
        </p:nvSpPr>
        <p:spPr>
          <a:xfrm>
            <a:off x="576072" y="1005840"/>
            <a:ext cx="10881360" cy="5349240"/>
          </a:xfrm>
          <a:prstGeom prst="rect">
            <a:avLst/>
          </a:prstGeom>
          <a:noFill/>
        </p:spPr>
        <p:txBody>
          <a:bodyPr wrap="square">
            <a:spAutoFit/>
          </a:bodyPr>
          <a:lstStyle/>
          <a:p>
            <a:pPr>
              <a:lnSpc>
                <a:spcPct val="112000"/>
              </a:lnSpc>
              <a:spcAft>
                <a:spcPts val="1600"/>
              </a:spcAft>
              <a:defRPr sz="2200">
                <a:solidFill>
                  <a:srgbClr val="000000"/>
                </a:solidFill>
                <a:latin typeface="Microsoft YaHei"/>
              </a:defRPr>
            </a:pPr>
            <a:r>
              <a:rPr>
                <a:ea typeface="Microsoft YaHei"/>
              </a:rPr>
              <a:t>1. 芯体设计：在所研究工况下，4～6 mm 通道间隙的净节能效果最佳；PP 芯体兼顾传热性能与抗结垢需求。</a:t>
            </a:r>
          </a:p>
          <a:p>
            <a:pPr>
              <a:lnSpc>
                <a:spcPct val="112000"/>
              </a:lnSpc>
              <a:spcAft>
                <a:spcPts val="1600"/>
              </a:spcAft>
              <a:defRPr sz="2200">
                <a:solidFill>
                  <a:srgbClr val="000000"/>
                </a:solidFill>
                <a:latin typeface="Microsoft YaHei"/>
              </a:defRPr>
            </a:pPr>
            <a:r>
              <a:rPr>
                <a:ea typeface="Microsoft YaHei"/>
              </a:rPr>
              <a:t>2. 模型验证：考虑 PP 壁面热阻的有限差分模型，与实验值的最大偏差不超过 7%，可用于所研究工况下的性能分析。</a:t>
            </a:r>
          </a:p>
          <a:p>
            <a:pPr>
              <a:lnSpc>
                <a:spcPct val="112000"/>
              </a:lnSpc>
              <a:spcAft>
                <a:spcPts val="1600"/>
              </a:spcAft>
              <a:defRPr sz="2200">
                <a:solidFill>
                  <a:srgbClr val="000000"/>
                </a:solidFill>
                <a:latin typeface="Microsoft YaHei"/>
              </a:defRPr>
            </a:pPr>
            <a:r>
              <a:rPr>
                <a:ea typeface="Microsoft YaHei"/>
              </a:rPr>
              <a:t>3. 现场性能：代表日新风与送风的最大温差约为 6.6 ℃；日显热、潜热回收量分别为 208 和 103.4 kWh。</a:t>
            </a:r>
          </a:p>
          <a:p>
            <a:pPr>
              <a:lnSpc>
                <a:spcPct val="112000"/>
              </a:lnSpc>
              <a:spcAft>
                <a:spcPts val="1600"/>
              </a:spcAft>
              <a:defRPr sz="2200">
                <a:solidFill>
                  <a:srgbClr val="000000"/>
                </a:solidFill>
                <a:latin typeface="Microsoft YaHei"/>
              </a:defRPr>
            </a:pPr>
            <a:r>
              <a:rPr>
                <a:ea typeface="Microsoft YaHei"/>
              </a:rPr>
              <a:t>4. 节能潜力：全年模拟中，PP-IEC 的有效节能期为 3—11 月；8 月节能率约为 25.9%，高于热轮系统的 18.2%。</a:t>
            </a:r>
          </a:p>
          <a:p>
            <a:pPr>
              <a:lnSpc>
                <a:spcPct val="112000"/>
              </a:lnSpc>
              <a:spcAft>
                <a:spcPts val="1600"/>
              </a:spcAft>
              <a:defRPr sz="2200">
                <a:solidFill>
                  <a:srgbClr val="000000"/>
                </a:solidFill>
                <a:latin typeface="Microsoft YaHei"/>
              </a:defRPr>
            </a:pPr>
            <a:r>
              <a:rPr>
                <a:ea typeface="Microsoft YaHei"/>
              </a:rPr>
              <a:t>5. 经济性：在本案例的成本假设下，PP-IEC 净收益比热轮系统高 9.6%，动态投资回收期为 3.6 年，短于热轮的 7.4 年。</a:t>
            </a:r>
          </a:p>
        </p:txBody>
      </p:sp>
    </p:spTree>
    <p:extLst>
      <p:ext uri="{BB962C8B-B14F-4D97-AF65-F5344CB8AC3E}">
        <p14:creationId xmlns:p14="http://schemas.microsoft.com/office/powerpoint/2010/main" val="2956586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AB323E5-390A-4984-AEC3-EE68E57B7938}"/>
              </a:ext>
            </a:extLst>
          </p:cNvPr>
          <p:cNvPicPr>
            <a:picLocks noChangeAspect="1"/>
          </p:cNvPicPr>
          <p:nvPr/>
        </p:nvPicPr>
        <p:blipFill rotWithShape="1">
          <a:blip r:embed="rId2">
            <a:extLst>
              <a:ext uri="{28A0092B-C50C-407E-A947-70E740481C1C}">
                <a14:useLocalDpi xmlns:a14="http://schemas.microsoft.com/office/drawing/2010/main" val="0"/>
              </a:ext>
            </a:extLst>
          </a:blip>
          <a:srcRect l="2738" t="56944"/>
          <a:stretch/>
        </p:blipFill>
        <p:spPr>
          <a:xfrm>
            <a:off x="333828" y="3905250"/>
            <a:ext cx="11858171" cy="2952750"/>
          </a:xfrm>
          <a:prstGeom prst="rect">
            <a:avLst/>
          </a:prstGeom>
        </p:spPr>
      </p:pic>
      <p:sp>
        <p:nvSpPr>
          <p:cNvPr id="6" name="Content Placeholder 2">
            <a:extLst>
              <a:ext uri="{FF2B5EF4-FFF2-40B4-BE49-F238E27FC236}">
                <a16:creationId xmlns:a16="http://schemas.microsoft.com/office/drawing/2014/main" id="{20ECD97B-4511-4EAF-A116-0444BD3F50D8}"/>
              </a:ext>
            </a:extLst>
          </p:cNvPr>
          <p:cNvSpPr txBox="1">
            <a:spLocks/>
          </p:cNvSpPr>
          <p:nvPr/>
        </p:nvSpPr>
        <p:spPr>
          <a:xfrm>
            <a:off x="2015284" y="2583890"/>
            <a:ext cx="9639581" cy="99695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L="0" indent="0" algn="just">
              <a:lnSpc>
                <a:spcPct val="90000"/>
              </a:lnSpc>
              <a:buClr>
                <a:srgbClr val="FF5500"/>
              </a:buClr>
              <a:buSzPts val="3200"/>
              <a:buFont typeface="Play"/>
              <a:buNone/>
              <a:defRPr sz="3200" b="1">
                <a:gradFill flip="none" rotWithShape="1">
                  <a:gsLst>
                    <a:gs pos="36000">
                      <a:srgbClr val="FF6A20"/>
                    </a:gs>
                    <a:gs pos="0">
                      <a:srgbClr val="FF5500"/>
                    </a:gs>
                    <a:gs pos="100000">
                      <a:schemeClr val="bg1"/>
                    </a:gs>
                  </a:gsLst>
                  <a:lin ang="16200000" scaled="1"/>
                  <a:tileRect/>
                </a:gradFill>
                <a:latin typeface="Bahnschrift SemiBold Condensed" panose="020B0502040204020203" pitchFamily="34" charset="0"/>
                <a:ea typeface="Play"/>
                <a:cs typeface="Play"/>
                <a:sym typeface="Play"/>
              </a:defRPr>
            </a:lvl1pPr>
            <a:lvl2pPr>
              <a:buSzPts val="1400"/>
              <a:buNone/>
              <a:defRPr sz="1800"/>
            </a:lvl2pPr>
            <a:lvl3pPr>
              <a:buSzPts val="1400"/>
              <a:buNone/>
              <a:defRPr sz="1800"/>
            </a:lvl3pPr>
            <a:lvl4pPr>
              <a:buSzPts val="1400"/>
              <a:buNone/>
              <a:defRPr sz="1800"/>
            </a:lvl4pPr>
            <a:lvl5pPr>
              <a:buSzPts val="1400"/>
              <a:buNone/>
              <a:defRPr sz="1800"/>
            </a:lvl5pPr>
            <a:lvl6pPr>
              <a:buSzPts val="1400"/>
              <a:buNone/>
              <a:defRPr sz="1800"/>
            </a:lvl6pPr>
            <a:lvl7pPr>
              <a:buSzPts val="1400"/>
              <a:buNone/>
              <a:defRPr sz="1800"/>
            </a:lvl7pPr>
            <a:lvl8pPr>
              <a:buSzPts val="1400"/>
              <a:buNone/>
              <a:defRPr sz="1800"/>
            </a:lvl8pPr>
            <a:lvl9pPr>
              <a:buSzPts val="1400"/>
              <a:buNone/>
              <a:defRPr sz="1800"/>
            </a:lvl9pPr>
          </a:lstStyle>
          <a:p>
            <a:pPr lvl="1">
              <a:lnSpc>
                <a:spcPct val="130000"/>
              </a:lnSpc>
              <a:spcBef>
                <a:spcPts val="600"/>
              </a:spcBef>
            </a:pPr>
            <a:r>
              <a:rPr lang="en-HK" altLang="zh-CN" sz="4400" b="1" i="1" dirty="0">
                <a:latin typeface="Times New Roman" panose="02020603050405020304" pitchFamily="18" charset="0"/>
                <a:cs typeface="Times New Roman" panose="02020603050405020304" pitchFamily="18" charset="0"/>
              </a:rPr>
              <a:t>Thank you for your attention!</a:t>
            </a:r>
          </a:p>
        </p:txBody>
      </p:sp>
      <p:pic>
        <p:nvPicPr>
          <p:cNvPr id="4" name="图片 3">
            <a:extLst>
              <a:ext uri="{FF2B5EF4-FFF2-40B4-BE49-F238E27FC236}">
                <a16:creationId xmlns:a16="http://schemas.microsoft.com/office/drawing/2014/main" id="{5ED34251-FB85-D733-C232-BCA2027AA38F}"/>
              </a:ext>
            </a:extLst>
          </p:cNvPr>
          <p:cNvPicPr>
            <a:picLocks noChangeAspect="1"/>
          </p:cNvPicPr>
          <p:nvPr/>
        </p:nvPicPr>
        <p:blipFill>
          <a:blip r:embed="rId3"/>
          <a:stretch>
            <a:fillRect/>
          </a:stretch>
        </p:blipFill>
        <p:spPr>
          <a:xfrm>
            <a:off x="10783421" y="63989"/>
            <a:ext cx="1199568" cy="1199568"/>
          </a:xfrm>
          <a:prstGeom prst="rect">
            <a:avLst/>
          </a:prstGeom>
        </p:spPr>
      </p:pic>
    </p:spTree>
    <p:extLst>
      <p:ext uri="{BB962C8B-B14F-4D97-AF65-F5344CB8AC3E}">
        <p14:creationId xmlns:p14="http://schemas.microsoft.com/office/powerpoint/2010/main" val="3322539161"/>
      </p:ext>
    </p:extLst>
  </p:cSld>
  <p:clrMapOvr>
    <a:masterClrMapping/>
  </p:clrMapOvr>
</p:sld>
</file>

<file path=ppt/theme/theme1.xml><?xml version="1.0" encoding="utf-8"?>
<a:theme xmlns:a="http://schemas.openxmlformats.org/drawingml/2006/main" name="EBPS Template">
  <a:themeElements>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fontScheme name="EBPS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20000"/>
          </a:spcBef>
          <a:spcAft>
            <a:spcPct val="0"/>
          </a:spcAft>
          <a:buClrTx/>
          <a:buSzTx/>
          <a:buFontTx/>
          <a:buNone/>
          <a:tabLst/>
          <a:defRPr kumimoji="0" lang="en-US" sz="3200" b="0" i="0" u="none" strike="noStrike" cap="none" normalizeH="0" baseline="0">
            <a:ln>
              <a:noFill/>
            </a:ln>
            <a:solidFill>
              <a:schemeClr val="bg2"/>
            </a:solidFill>
            <a:effectLst/>
            <a:latin typeface="Arial" charset="0"/>
          </a:defRPr>
        </a:defPPr>
      </a:lstStyle>
    </a:lnDef>
  </a:objectDefaults>
  <a:extraClrSchemeLst>
    <a:extraClrScheme>
      <a:clrScheme name="EBPS 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BPS 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BPS 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BPS 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BPS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BPS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BPS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EBPS Template 8">
        <a:dk1>
          <a:srgbClr val="000000"/>
        </a:dk1>
        <a:lt1>
          <a:srgbClr val="FFFFFF"/>
        </a:lt1>
        <a:dk2>
          <a:srgbClr val="000000"/>
        </a:dk2>
        <a:lt2>
          <a:srgbClr val="FFFFFF"/>
        </a:lt2>
        <a:accent1>
          <a:srgbClr val="5E8AC5"/>
        </a:accent1>
        <a:accent2>
          <a:srgbClr val="3333CC"/>
        </a:accent2>
        <a:accent3>
          <a:srgbClr val="AAAAAA"/>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9">
        <a:dk1>
          <a:srgbClr val="000000"/>
        </a:dk1>
        <a:lt1>
          <a:srgbClr val="FFFFFF"/>
        </a:lt1>
        <a:dk2>
          <a:srgbClr val="5F5F5F"/>
        </a:dk2>
        <a:lt2>
          <a:srgbClr val="FFFFFF"/>
        </a:lt2>
        <a:accent1>
          <a:srgbClr val="5E8AC5"/>
        </a:accent1>
        <a:accent2>
          <a:srgbClr val="3333CC"/>
        </a:accent2>
        <a:accent3>
          <a:srgbClr val="B6B6B6"/>
        </a:accent3>
        <a:accent4>
          <a:srgbClr val="DADADA"/>
        </a:accent4>
        <a:accent5>
          <a:srgbClr val="B6C4DF"/>
        </a:accent5>
        <a:accent6>
          <a:srgbClr val="2D2DB9"/>
        </a:accent6>
        <a:hlink>
          <a:srgbClr val="CCCCFF"/>
        </a:hlink>
        <a:folHlink>
          <a:srgbClr val="B2B2B2"/>
        </a:folHlink>
      </a:clrScheme>
      <a:clrMap bg1="dk2" tx1="lt1" bg2="dk1" tx2="lt2" accent1="accent1" accent2="accent2" accent3="accent3" accent4="accent4" accent5="accent5" accent6="accent6" hlink="hlink" folHlink="folHlink"/>
    </a:extraClrScheme>
    <a:extraClrScheme>
      <a:clrScheme name="EBPS Template 10">
        <a:dk1>
          <a:srgbClr val="000000"/>
        </a:dk1>
        <a:lt1>
          <a:srgbClr val="FFFFFF"/>
        </a:lt1>
        <a:dk2>
          <a:srgbClr val="FFFFFF"/>
        </a:dk2>
        <a:lt2>
          <a:srgbClr val="000000"/>
        </a:lt2>
        <a:accent1>
          <a:srgbClr val="567EB9"/>
        </a:accent1>
        <a:accent2>
          <a:srgbClr val="ED8500"/>
        </a:accent2>
        <a:accent3>
          <a:srgbClr val="FFFFFF"/>
        </a:accent3>
        <a:accent4>
          <a:srgbClr val="000000"/>
        </a:accent4>
        <a:accent5>
          <a:srgbClr val="B4C0D9"/>
        </a:accent5>
        <a:accent6>
          <a:srgbClr val="D77800"/>
        </a:accent6>
        <a:hlink>
          <a:srgbClr val="0033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36805</TotalTime>
  <Words>2816</Words>
  <Application>Microsoft Office PowerPoint</Application>
  <PresentationFormat>宽屏</PresentationFormat>
  <Paragraphs>276</Paragraphs>
  <Slides>29</Slides>
  <Notes>23</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29</vt:i4>
      </vt:variant>
    </vt:vector>
  </HeadingPairs>
  <TitlesOfParts>
    <vt:vector size="37" baseType="lpstr">
      <vt:lpstr>Arial Unicode MS</vt:lpstr>
      <vt:lpstr>宋体</vt:lpstr>
      <vt:lpstr>Arial</vt:lpstr>
      <vt:lpstr>Calibri</vt:lpstr>
      <vt:lpstr>Helvetica</vt:lpstr>
      <vt:lpstr>Times New Roman</vt:lpstr>
      <vt:lpstr>Wingdings</vt:lpstr>
      <vt:lpstr>EBPS Template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 Ruiyang [Student]</dc:creator>
  <cp:lastModifiedBy>Xiaochen MA</cp:lastModifiedBy>
  <cp:revision>627</cp:revision>
  <cp:lastPrinted>2022-08-23T08:30:30Z</cp:lastPrinted>
  <dcterms:created xsi:type="dcterms:W3CDTF">2021-12-09T08:24:03Z</dcterms:created>
  <dcterms:modified xsi:type="dcterms:W3CDTF">2026-10-25T16:11:10Z</dcterms:modified>
</cp:coreProperties>
</file>