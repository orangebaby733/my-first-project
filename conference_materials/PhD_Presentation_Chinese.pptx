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sdx" ContentType="application/vnd.ms-visio.drawi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 bookmarkIdSeed="13">
  <p:sldMasterIdLst>
    <p:sldMasterId id="2147485796" r:id="rId4"/>
  </p:sldMasterIdLst>
  <p:notesMasterIdLst>
    <p:notesMasterId r:id="rId69"/>
  </p:notesMasterIdLst>
  <p:handoutMasterIdLst>
    <p:handoutMasterId r:id="rId70"/>
  </p:handoutMasterIdLst>
  <p:sldIdLst>
    <p:sldId id="407" r:id="rId5"/>
    <p:sldId id="863" r:id="rId6"/>
    <p:sldId id="864" r:id="rId7"/>
    <p:sldId id="427" r:id="rId8"/>
    <p:sldId id="428" r:id="rId9"/>
    <p:sldId id="873" r:id="rId10"/>
    <p:sldId id="429" r:id="rId11"/>
    <p:sldId id="430" r:id="rId12"/>
    <p:sldId id="453" r:id="rId13"/>
    <p:sldId id="480" r:id="rId14"/>
    <p:sldId id="840" r:id="rId15"/>
    <p:sldId id="432" r:id="rId16"/>
    <p:sldId id="793" r:id="rId17"/>
    <p:sldId id="857" r:id="rId18"/>
    <p:sldId id="865" r:id="rId19"/>
    <p:sldId id="435" r:id="rId20"/>
    <p:sldId id="436" r:id="rId21"/>
    <p:sldId id="439" r:id="rId22"/>
    <p:sldId id="438" r:id="rId23"/>
    <p:sldId id="440" r:id="rId24"/>
    <p:sldId id="870" r:id="rId25"/>
    <p:sldId id="476" r:id="rId26"/>
    <p:sldId id="477" r:id="rId27"/>
    <p:sldId id="478" r:id="rId28"/>
    <p:sldId id="866" r:id="rId29"/>
    <p:sldId id="455" r:id="rId30"/>
    <p:sldId id="462" r:id="rId31"/>
    <p:sldId id="463" r:id="rId32"/>
    <p:sldId id="466" r:id="rId33"/>
    <p:sldId id="858" r:id="rId34"/>
    <p:sldId id="469" r:id="rId35"/>
    <p:sldId id="468" r:id="rId36"/>
    <p:sldId id="470" r:id="rId37"/>
    <p:sldId id="472" r:id="rId38"/>
    <p:sldId id="473" r:id="rId39"/>
    <p:sldId id="867" r:id="rId40"/>
    <p:sldId id="838" r:id="rId41"/>
    <p:sldId id="848" r:id="rId42"/>
    <p:sldId id="849" r:id="rId43"/>
    <p:sldId id="850" r:id="rId44"/>
    <p:sldId id="851" r:id="rId45"/>
    <p:sldId id="852" r:id="rId46"/>
    <p:sldId id="853" r:id="rId47"/>
    <p:sldId id="856" r:id="rId48"/>
    <p:sldId id="855" r:id="rId49"/>
    <p:sldId id="868" r:id="rId50"/>
    <p:sldId id="485" r:id="rId51"/>
    <p:sldId id="486" r:id="rId52"/>
    <p:sldId id="487" r:id="rId53"/>
    <p:sldId id="488" r:id="rId54"/>
    <p:sldId id="859" r:id="rId55"/>
    <p:sldId id="876" r:id="rId56"/>
    <p:sldId id="489" r:id="rId57"/>
    <p:sldId id="824" r:id="rId58"/>
    <p:sldId id="869" r:id="rId59"/>
    <p:sldId id="860" r:id="rId60"/>
    <p:sldId id="861" r:id="rId61"/>
    <p:sldId id="862" r:id="rId62"/>
    <p:sldId id="786" r:id="rId63"/>
    <p:sldId id="452" r:id="rId64"/>
    <p:sldId id="874" r:id="rId65"/>
    <p:sldId id="871" r:id="rId66"/>
    <p:sldId id="875" r:id="rId67"/>
    <p:sldId id="872" r:id="rId68"/>
  </p:sldIdLst>
  <p:sldSz cx="12192000" cy="6858000"/>
  <p:notesSz cx="9928225" cy="6797675"/>
  <p:defaultTextStyle>
    <a:defPPr>
      <a:defRPr lang="en-US">
        <a:latin typeface="Times New Roman"/>
        <a:ea typeface="SimSun"/>
        <a:cs typeface="Times New Roman"/>
      </a:defRPr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B0604030504040204" pitchFamily="34" charset="0"/>
        <a:ea typeface="SimSun" panose="020B0604020202020204" pitchFamily="34" charset="-128"/>
        <a:cs typeface="Times New Roman" panose="020B0604020202020204" pitchFamily="34" charset="-128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B0604030504040204" pitchFamily="34" charset="0"/>
        <a:ea typeface="SimSun" panose="020B0604020202020204" pitchFamily="34" charset="-128"/>
        <a:cs typeface="Times New Roman" panose="020B0604020202020204" pitchFamily="34" charset="-128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B0604030504040204" pitchFamily="34" charset="0"/>
        <a:ea typeface="SimSun" panose="020B0604020202020204" pitchFamily="34" charset="-128"/>
        <a:cs typeface="Times New Roman" panose="020B0604020202020204" pitchFamily="34" charset="-128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B0604030504040204" pitchFamily="34" charset="0"/>
        <a:ea typeface="SimSun" panose="020B0604020202020204" pitchFamily="34" charset="-128"/>
        <a:cs typeface="Times New Roman" panose="020B0604020202020204" pitchFamily="34" charset="-128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B0604030504040204" pitchFamily="34" charset="0"/>
        <a:ea typeface="SimSun" panose="020B0604020202020204" pitchFamily="34" charset="-128"/>
        <a:cs typeface="Times New Roman" panose="020B0604020202020204" pitchFamily="34" charset="-128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B0604030504040204" pitchFamily="34" charset="0"/>
        <a:ea typeface="SimSun" panose="020B0604020202020204" pitchFamily="34" charset="-128"/>
        <a:cs typeface="Times New Roman" panose="020B0604020202020204" pitchFamily="34" charset="-128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B0604030504040204" pitchFamily="34" charset="0"/>
        <a:ea typeface="SimSun" panose="020B0604020202020204" pitchFamily="34" charset="-128"/>
        <a:cs typeface="Times New Roman" panose="020B0604020202020204" pitchFamily="34" charset="-128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B0604030504040204" pitchFamily="34" charset="0"/>
        <a:ea typeface="SimSun" panose="020B0604020202020204" pitchFamily="34" charset="-128"/>
        <a:cs typeface="Times New Roman" panose="020B0604020202020204" pitchFamily="34" charset="-128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B0604030504040204" pitchFamily="34" charset="0"/>
        <a:ea typeface="SimSun" panose="020B0604020202020204" pitchFamily="34" charset="-128"/>
        <a:cs typeface="Times New Roman" panose="020B0604020202020204" pitchFamily="34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1" userDrawn="1">
          <p15:clr>
            <a:srgbClr val="A4A3A4"/>
          </p15:clr>
        </p15:guide>
        <p15:guide id="2" pos="3129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HI, wenchao511 [Student]" initials="Sw[" lastIdx="1" clrIdx="0">
    <p:extLst>
      <p:ext uri="{19B8F6BF-5375-455C-9EA6-DF929625EA0E}">
        <p15:presenceInfo xmlns:p15="http://schemas.microsoft.com/office/powerpoint/2012/main" userId="S::19109659r@connect.polyu.hk::e28bb6dc-d76d-4393-bdfd-a20e3f6f43cc" providerId="AD"/>
      </p:ext>
    </p:extLst>
  </p:cmAuthor>
  <p:cmAuthor id="2" name="SHI, wenchao511 [Student]" initials="Sw[ [2]" lastIdx="2" clrIdx="1">
    <p:extLst>
      <p:ext uri="{19B8F6BF-5375-455C-9EA6-DF929625EA0E}">
        <p15:presenceInfo xmlns:p15="http://schemas.microsoft.com/office/powerpoint/2012/main" userId="SHI, wenchao511 [Student]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F1E3B"/>
    <a:srgbClr val="DFF1CB"/>
    <a:srgbClr val="C9E8A8"/>
    <a:srgbClr val="EFC4F0"/>
    <a:srgbClr val="E5C4E5"/>
    <a:srgbClr val="FFE080"/>
    <a:srgbClr val="B96E87"/>
    <a:srgbClr val="5B98E8"/>
    <a:srgbClr val="A3C5F2"/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中度样式 1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FECB4D8-DB02-4DC6-A0A2-4F2EBAE1DC90}" styleName="中度样式 1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中度样式 1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58" autoAdjust="0"/>
    <p:restoredTop sz="95256" autoAdjust="0"/>
  </p:normalViewPr>
  <p:slideViewPr>
    <p:cSldViewPr snapToGrid="0">
      <p:cViewPr varScale="1">
        <p:scale>
          <a:sx n="70" d="100"/>
          <a:sy n="70" d="100"/>
        </p:scale>
        <p:origin x="288" y="45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970" y="58"/>
      </p:cViewPr>
      <p:guideLst>
        <p:guide orient="horz" pos="2141"/>
        <p:guide pos="312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handoutMaster" Target="handoutMasters/handoutMaster1.xml"/><Relationship Id="rId75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71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2870" cy="3418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6" tIns="45712" rIns="91426" bIns="45712" numCol="1" anchor="t" anchorCtr="0" compatLnSpc="1">
            <a:prstTxWarp prst="textNoShape">
              <a:avLst/>
            </a:prstTxWarp>
          </a:bodyPr>
          <a:lstStyle>
            <a:lvl1pPr defTabSz="914149" eaLnBrk="1" hangingPunct="1">
              <a:defRPr sz="1200">
                <a:latin typeface="Times New Roman" charset="0"/>
                <a:ea typeface="SimSun"/>
                <a:cs typeface="Times New Roman"/>
              </a:defRPr>
            </a:lvl1pPr>
          </a:lstStyle>
          <a:p>
            <a:pPr>
              <a:defRPr>
                <a:latin typeface="Times New Roman"/>
                <a:ea typeface="SimSun"/>
                <a:cs typeface="Times New Roman"/>
              </a:defRPr>
            </a:pPr>
            <a:endParaRPr lang="en-GB">
              <a:latin typeface="Times New Roman"/>
              <a:ea typeface="SimSun"/>
              <a:cs typeface="Times New Roman"/>
            </a:endParaRPr>
          </a:p>
        </p:txBody>
      </p:sp>
      <p:sp>
        <p:nvSpPr>
          <p:cNvPr id="1402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23759" y="0"/>
            <a:ext cx="4302870" cy="3418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6" tIns="45712" rIns="91426" bIns="45712" numCol="1" anchor="t" anchorCtr="0" compatLnSpc="1">
            <a:prstTxWarp prst="textNoShape">
              <a:avLst/>
            </a:prstTxWarp>
          </a:bodyPr>
          <a:lstStyle>
            <a:lvl1pPr algn="r" defTabSz="914149" eaLnBrk="1" hangingPunct="1">
              <a:defRPr sz="1200">
                <a:latin typeface="Times New Roman" charset="0"/>
                <a:ea typeface="SimSun"/>
                <a:cs typeface="Times New Roman"/>
              </a:defRPr>
            </a:lvl1pPr>
          </a:lstStyle>
          <a:p>
            <a:pPr>
              <a:defRPr>
                <a:latin typeface="Times New Roman"/>
                <a:ea typeface="SimSun"/>
                <a:cs typeface="Times New Roman"/>
              </a:defRPr>
            </a:pPr>
            <a:endParaRPr lang="en-GB">
              <a:latin typeface="Times New Roman"/>
              <a:ea typeface="SimSun"/>
              <a:cs typeface="Times New Roman"/>
            </a:endParaRPr>
          </a:p>
        </p:txBody>
      </p:sp>
      <p:sp>
        <p:nvSpPr>
          <p:cNvPr id="1402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54244"/>
            <a:ext cx="4302870" cy="3418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6" tIns="45712" rIns="91426" bIns="45712" numCol="1" anchor="b" anchorCtr="0" compatLnSpc="1">
            <a:prstTxWarp prst="textNoShape">
              <a:avLst/>
            </a:prstTxWarp>
          </a:bodyPr>
          <a:lstStyle>
            <a:lvl1pPr defTabSz="914149" eaLnBrk="1" hangingPunct="1">
              <a:defRPr sz="1200">
                <a:latin typeface="Times New Roman" charset="0"/>
                <a:ea typeface="SimSun"/>
                <a:cs typeface="Times New Roman"/>
              </a:defRPr>
            </a:lvl1pPr>
          </a:lstStyle>
          <a:p>
            <a:pPr>
              <a:defRPr>
                <a:latin typeface="Times New Roman"/>
                <a:ea typeface="SimSun"/>
                <a:cs typeface="Times New Roman"/>
              </a:defRPr>
            </a:pPr>
            <a:endParaRPr lang="en-GB">
              <a:latin typeface="Times New Roman"/>
              <a:ea typeface="SimSun"/>
              <a:cs typeface="Times New Roman"/>
            </a:endParaRPr>
          </a:p>
        </p:txBody>
      </p:sp>
      <p:sp>
        <p:nvSpPr>
          <p:cNvPr id="1402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23759" y="6454244"/>
            <a:ext cx="4302870" cy="3418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6" tIns="45712" rIns="91426" bIns="45712" numCol="1" anchor="b" anchorCtr="0" compatLnSpc="1">
            <a:prstTxWarp prst="textNoShape">
              <a:avLst/>
            </a:prstTxWarp>
          </a:bodyPr>
          <a:lstStyle>
            <a:lvl1pPr algn="r" defTabSz="913833" eaLnBrk="1" hangingPunct="1">
              <a:defRPr sz="1200" smtClean="0">
                <a:latin typeface="Times New Roman" panose="020B0604020202020204" pitchFamily="34" charset="0"/>
                <a:ea typeface="SimSun"/>
                <a:cs typeface="Times New Roman"/>
              </a:defRPr>
            </a:lvl1pPr>
          </a:lstStyle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DD90D8D4-A28F-4BFE-8A9D-4445065CF981}" type="slidenum">
              <a:rPr lang="en-GB" altLang="zh-CN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‹#›</a:t>
            </a:fld>
            <a:endParaRPr lang="en-GB" altLang="zh-CN">
              <a:latin typeface="Times New Roman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2870" cy="3418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6" tIns="45712" rIns="91426" bIns="45712" numCol="1" anchor="t" anchorCtr="0" compatLnSpc="1">
            <a:prstTxWarp prst="textNoShape">
              <a:avLst/>
            </a:prstTxWarp>
          </a:bodyPr>
          <a:lstStyle>
            <a:lvl1pPr defTabSz="912231" eaLnBrk="1" hangingPunct="1">
              <a:defRPr sz="1200">
                <a:latin typeface="Times New Roman"/>
                <a:ea typeface="SimSun" panose="02020500000000000000" pitchFamily="18" charset="-120"/>
                <a:cs typeface="Times New Roman" panose="020B0604020202020204" pitchFamily="34" charset="-122"/>
              </a:defRPr>
            </a:lvl1pPr>
          </a:lstStyle>
          <a:p>
            <a:pPr>
              <a:defRPr>
                <a:latin typeface="Times New Roman"/>
                <a:ea typeface="SimSun"/>
                <a:cs typeface="Times New Roman"/>
              </a:defRPr>
            </a:pPr>
            <a:endParaRPr lang="en-US" altLang="zh-TW">
              <a:latin typeface="Times New Roman"/>
              <a:ea typeface="SimSun"/>
              <a:cs typeface="Times New Roman"/>
            </a:endParaRPr>
          </a:p>
        </p:txBody>
      </p:sp>
      <p:sp>
        <p:nvSpPr>
          <p:cNvPr id="136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5356" y="0"/>
            <a:ext cx="4302870" cy="3418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6" tIns="45712" rIns="91426" bIns="45712" numCol="1" anchor="t" anchorCtr="0" compatLnSpc="1">
            <a:prstTxWarp prst="textNoShape">
              <a:avLst/>
            </a:prstTxWarp>
          </a:bodyPr>
          <a:lstStyle>
            <a:lvl1pPr algn="r" defTabSz="912231" eaLnBrk="1" hangingPunct="1">
              <a:defRPr sz="1200">
                <a:latin typeface="Times New Roman"/>
                <a:ea typeface="SimSun" panose="02020500000000000000" pitchFamily="18" charset="-120"/>
                <a:cs typeface="Times New Roman" panose="020B0604020202020204" pitchFamily="34" charset="-122"/>
              </a:defRPr>
            </a:lvl1pPr>
          </a:lstStyle>
          <a:p>
            <a:pPr>
              <a:defRPr>
                <a:latin typeface="Times New Roman"/>
                <a:ea typeface="SimSun"/>
                <a:cs typeface="Times New Roman"/>
              </a:defRPr>
            </a:pPr>
            <a:endParaRPr lang="en-US" altLang="zh-TW">
              <a:latin typeface="Times New Roman"/>
              <a:ea typeface="SimSun"/>
              <a:cs typeface="Times New Roman"/>
            </a:endParaRPr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697163" y="509588"/>
            <a:ext cx="4537075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6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324084" y="3227929"/>
            <a:ext cx="7280059" cy="30602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6" tIns="45712" rIns="91426" bIns="4571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>
                <a:latin typeface="Times New Roman"/>
                <a:ea typeface="SimSun"/>
                <a:cs typeface="Times New Roman"/>
              </a:rPr>
              <a:t>Click to edit Master text styles</a:t>
            </a:r>
          </a:p>
          <a:p>
            <a:pPr lvl="1"/>
            <a:r>
              <a:rPr lang="en-US" altLang="zh-TW" noProof="0">
                <a:latin typeface="Times New Roman"/>
                <a:ea typeface="SimSun"/>
                <a:cs typeface="Times New Roman"/>
              </a:rPr>
              <a:t>Second level</a:t>
            </a:r>
          </a:p>
          <a:p>
            <a:pPr lvl="2"/>
            <a:r>
              <a:rPr lang="en-US" altLang="zh-TW" noProof="0">
                <a:latin typeface="Times New Roman"/>
                <a:ea typeface="SimSun"/>
                <a:cs typeface="Times New Roman"/>
              </a:rPr>
              <a:t>Third level</a:t>
            </a:r>
          </a:p>
          <a:p>
            <a:pPr lvl="3"/>
            <a:r>
              <a:rPr lang="en-US" altLang="zh-TW" noProof="0">
                <a:latin typeface="Times New Roman"/>
                <a:ea typeface="SimSun"/>
                <a:cs typeface="Times New Roman"/>
              </a:rPr>
              <a:t>Fourth level</a:t>
            </a:r>
          </a:p>
          <a:p>
            <a:pPr lvl="4"/>
            <a:r>
              <a:rPr lang="en-US" altLang="zh-TW" noProof="0">
                <a:latin typeface="Times New Roman"/>
                <a:ea typeface="SimSun"/>
                <a:cs typeface="Times New Roman"/>
              </a:rPr>
              <a:t>Fifth level</a:t>
            </a:r>
          </a:p>
        </p:txBody>
      </p:sp>
      <p:sp>
        <p:nvSpPr>
          <p:cNvPr id="136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55856"/>
            <a:ext cx="4302870" cy="3418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6" tIns="45712" rIns="91426" bIns="45712" numCol="1" anchor="b" anchorCtr="0" compatLnSpc="1">
            <a:prstTxWarp prst="textNoShape">
              <a:avLst/>
            </a:prstTxWarp>
          </a:bodyPr>
          <a:lstStyle>
            <a:lvl1pPr defTabSz="912231" eaLnBrk="1" hangingPunct="1">
              <a:defRPr sz="1200">
                <a:latin typeface="Times New Roman"/>
                <a:ea typeface="SimSun" panose="02020500000000000000" pitchFamily="18" charset="-120"/>
                <a:cs typeface="Times New Roman" panose="020B0604020202020204" pitchFamily="34" charset="-122"/>
              </a:defRPr>
            </a:lvl1pPr>
          </a:lstStyle>
          <a:p>
            <a:pPr>
              <a:defRPr>
                <a:latin typeface="Times New Roman"/>
                <a:ea typeface="SimSun"/>
                <a:cs typeface="Times New Roman"/>
              </a:defRPr>
            </a:pPr>
            <a:endParaRPr lang="en-US" altLang="zh-TW">
              <a:latin typeface="Times New Roman"/>
              <a:ea typeface="SimSun"/>
              <a:cs typeface="Times New Roman"/>
            </a:endParaRPr>
          </a:p>
        </p:txBody>
      </p:sp>
      <p:sp>
        <p:nvSpPr>
          <p:cNvPr id="136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5356" y="6455856"/>
            <a:ext cx="4302870" cy="3418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6" tIns="45712" rIns="91426" bIns="45712" numCol="1" anchor="b" anchorCtr="0" compatLnSpc="1">
            <a:prstTxWarp prst="textNoShape">
              <a:avLst/>
            </a:prstTxWarp>
          </a:bodyPr>
          <a:lstStyle>
            <a:lvl1pPr algn="r" defTabSz="912231" eaLnBrk="1" hangingPunct="1">
              <a:defRPr sz="1200" smtClean="0">
                <a:latin typeface="Times New Roman"/>
                <a:ea typeface="SimSun" pitchFamily="18" charset="-120"/>
                <a:cs typeface="Times New Roman"/>
              </a:defRPr>
            </a:lvl1pPr>
          </a:lstStyle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E9539218-AF35-4C29-B7A1-DCC55E5102B9}" type="slidenum">
              <a:rPr lang="zh-TW" altLang="en-US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‹#›</a:t>
            </a:fld>
            <a:endParaRPr lang="en-US" altLang="zh-TW">
              <a:latin typeface="Times New Roman"/>
              <a:ea typeface="SimSu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SimSun" panose="02010600030101010101" pitchFamily="2" charset="-122"/>
        <a:cs typeface="Times New Roman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SimSun" panose="02010600030101010101" pitchFamily="2" charset="-122"/>
        <a:cs typeface="Times New Roman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SimSun" panose="02010600030101010101" pitchFamily="2" charset="-122"/>
        <a:cs typeface="Times New Roman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SimSun" panose="02010600030101010101" pitchFamily="2" charset="-122"/>
        <a:cs typeface="Times New Roman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SimSun" panose="02010600030101010101" pitchFamily="2" charset="-122"/>
        <a:cs typeface="Times New Roman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Times New Roman"/>
        <a:ea typeface="SimSun"/>
        <a:cs typeface="Times New Roman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Times New Roman"/>
        <a:ea typeface="SimSun"/>
        <a:cs typeface="Times New Roman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Times New Roman"/>
        <a:ea typeface="SimSun"/>
        <a:cs typeface="Times New Roman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Times New Roman"/>
        <a:ea typeface="SimSun"/>
        <a:cs typeface="Times New Roman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7163" y="509588"/>
            <a:ext cx="4537075" cy="2552700"/>
          </a:xfrm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 dirty="0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D183629-4450-420A-874F-A414BC07E2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E9539218-AF35-4C29-B7A1-DCC55E5102B9}" type="slidenum">
              <a:rPr lang="zh-TW" altLang="en-US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1</a:t>
            </a:fld>
            <a:endParaRPr lang="en-US" altLang="zh-TW">
              <a:latin typeface="Times New Roman"/>
              <a:ea typeface="SimSun"/>
              <a:cs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7163" y="509588"/>
            <a:ext cx="4537075" cy="2552700"/>
          </a:xfrm>
          <a:ln/>
        </p:spPr>
      </p:sp>
      <p:sp>
        <p:nvSpPr>
          <p:cNvPr id="2253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2706919-DC0F-4D26-924D-8FAC71F021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E9539218-AF35-4C29-B7A1-DCC55E5102B9}" type="slidenum">
              <a:rPr lang="zh-TW" altLang="en-US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2</a:t>
            </a:fld>
            <a:endParaRPr lang="en-US" altLang="zh-TW">
              <a:latin typeface="Times New Roman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390627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7163" y="509588"/>
            <a:ext cx="4537075" cy="2552700"/>
          </a:xfrm>
          <a:ln/>
        </p:spPr>
      </p:sp>
      <p:sp>
        <p:nvSpPr>
          <p:cNvPr id="2253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2706919-DC0F-4D26-924D-8FAC71F021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E9539218-AF35-4C29-B7A1-DCC55E5102B9}" type="slidenum">
              <a:rPr lang="zh-TW" altLang="en-US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3</a:t>
            </a:fld>
            <a:endParaRPr lang="en-US" altLang="zh-TW">
              <a:latin typeface="Times New Roman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80927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7163" y="509588"/>
            <a:ext cx="4537075" cy="2552700"/>
          </a:xfrm>
          <a:ln/>
        </p:spPr>
      </p:sp>
      <p:sp>
        <p:nvSpPr>
          <p:cNvPr id="2253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9194E2F-0629-48BC-9DB1-C6B062ACE9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E9539218-AF35-4C29-B7A1-DCC55E5102B9}" type="slidenum">
              <a:rPr lang="zh-TW" altLang="en-US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4</a:t>
            </a:fld>
            <a:endParaRPr lang="en-US" altLang="zh-TW">
              <a:latin typeface="Times New Roman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605267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7163" y="509588"/>
            <a:ext cx="4537075" cy="2552700"/>
          </a:xfrm>
          <a:ln/>
        </p:spPr>
      </p:sp>
      <p:sp>
        <p:nvSpPr>
          <p:cNvPr id="2253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17E7CBE-4A32-468F-A9E0-471668CC12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E9539218-AF35-4C29-B7A1-DCC55E5102B9}" type="slidenum">
              <a:rPr lang="zh-TW" altLang="en-US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5</a:t>
            </a:fld>
            <a:endParaRPr lang="en-US" altLang="zh-TW">
              <a:latin typeface="Times New Roman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865788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7163" y="509588"/>
            <a:ext cx="4537075" cy="2552700"/>
          </a:xfrm>
          <a:ln/>
        </p:spPr>
      </p:sp>
      <p:sp>
        <p:nvSpPr>
          <p:cNvPr id="2253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8CCC6FA-9FA2-4CC2-B441-EC5EF64470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E9539218-AF35-4C29-B7A1-DCC55E5102B9}" type="slidenum">
              <a:rPr lang="zh-TW" altLang="en-US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6</a:t>
            </a:fld>
            <a:endParaRPr lang="en-US" altLang="zh-TW">
              <a:latin typeface="Times New Roman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452619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7163" y="509588"/>
            <a:ext cx="4537075" cy="2552700"/>
          </a:xfrm>
          <a:ln/>
        </p:spPr>
      </p:sp>
      <p:sp>
        <p:nvSpPr>
          <p:cNvPr id="2253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53B03EF-6637-4470-9731-4452CD9946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E9539218-AF35-4C29-B7A1-DCC55E5102B9}" type="slidenum">
              <a:rPr lang="zh-TW" altLang="en-US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7</a:t>
            </a:fld>
            <a:endParaRPr lang="en-US" altLang="zh-TW">
              <a:latin typeface="Times New Roman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804195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7163" y="509588"/>
            <a:ext cx="4537075" cy="2552700"/>
          </a:xfrm>
          <a:ln/>
        </p:spPr>
      </p:sp>
      <p:sp>
        <p:nvSpPr>
          <p:cNvPr id="2253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0893CB9-CF87-40A4-8B4F-74D87A1370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E9539218-AF35-4C29-B7A1-DCC55E5102B9}" type="slidenum">
              <a:rPr lang="zh-TW" altLang="en-US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8</a:t>
            </a:fld>
            <a:endParaRPr lang="en-US" altLang="zh-TW">
              <a:latin typeface="Times New Roman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098901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7163" y="509588"/>
            <a:ext cx="4537075" cy="2552700"/>
          </a:xfrm>
          <a:ln/>
        </p:spPr>
      </p:sp>
      <p:sp>
        <p:nvSpPr>
          <p:cNvPr id="2253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D902CAD-1E20-4C8B-9C2D-649EABBE31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E9539218-AF35-4C29-B7A1-DCC55E5102B9}" type="slidenum">
              <a:rPr lang="zh-TW" altLang="en-US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9</a:t>
            </a:fld>
            <a:endParaRPr lang="en-US" altLang="zh-TW">
              <a:latin typeface="Times New Roman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098901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7163" y="509588"/>
            <a:ext cx="4537075" cy="2552700"/>
          </a:xfrm>
          <a:ln/>
        </p:spPr>
      </p:sp>
      <p:sp>
        <p:nvSpPr>
          <p:cNvPr id="2253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61B53A0-4448-48C2-AE73-953308D24A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E9539218-AF35-4C29-B7A1-DCC55E5102B9}" type="slidenum">
              <a:rPr lang="zh-TW" altLang="en-US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10</a:t>
            </a:fld>
            <a:endParaRPr lang="en-US" altLang="zh-TW">
              <a:latin typeface="Times New Roman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73453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7163" y="509588"/>
            <a:ext cx="4537075" cy="2552700"/>
          </a:xfrm>
          <a:ln/>
        </p:spPr>
      </p:sp>
      <p:sp>
        <p:nvSpPr>
          <p:cNvPr id="2253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2706919-DC0F-4D26-924D-8FAC71F021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E9539218-AF35-4C29-B7A1-DCC55E5102B9}" type="slidenum">
              <a:rPr lang="zh-TW" altLang="en-US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11</a:t>
            </a:fld>
            <a:endParaRPr lang="en-US" altLang="zh-TW">
              <a:latin typeface="Times New Roman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847390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7163" y="509588"/>
            <a:ext cx="4537075" cy="2552700"/>
          </a:xfrm>
          <a:ln/>
        </p:spPr>
      </p:sp>
      <p:sp>
        <p:nvSpPr>
          <p:cNvPr id="2253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4033C81-BCEA-4740-8588-86E6A68D77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E9539218-AF35-4C29-B7A1-DCC55E5102B9}" type="slidenum">
              <a:rPr lang="zh-TW" altLang="en-US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12</a:t>
            </a:fld>
            <a:endParaRPr lang="en-US" altLang="zh-TW">
              <a:latin typeface="Times New Roman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103705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697163" y="509588"/>
            <a:ext cx="4537075" cy="25527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latin typeface="Times New Roman"/>
                <a:ea typeface="SimSun"/>
                <a:cs typeface="Times New Roman"/>
              </a:rPr>
              <a:t>PIEC model to do the parameter analysis as and determine the inter…</a:t>
            </a:r>
          </a:p>
          <a:p>
            <a:r>
              <a:rPr lang="en-US" altLang="zh-CN" dirty="0">
                <a:latin typeface="Times New Roman"/>
                <a:ea typeface="SimSun"/>
                <a:cs typeface="Times New Roman"/>
              </a:rPr>
              <a:t>Compare</a:t>
            </a:r>
            <a:endParaRPr lang="zh-CN" altLang="en-US" dirty="0">
              <a:latin typeface="Times New Roman"/>
              <a:ea typeface="SimSun"/>
              <a:cs typeface="Times New Roman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5A47F21-FB41-4669-B2B0-2E94E560D8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E9539218-AF35-4C29-B7A1-DCC55E5102B9}" type="slidenum">
              <a:rPr lang="zh-TW" altLang="en-US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13</a:t>
            </a:fld>
            <a:endParaRPr lang="en-US" altLang="zh-TW">
              <a:latin typeface="Times New Roman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360677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697163" y="509588"/>
            <a:ext cx="4537075" cy="25527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latin typeface="Times New Roman"/>
                <a:ea typeface="SimSun"/>
                <a:cs typeface="Times New Roman"/>
              </a:rPr>
              <a:t>PIEC model to do the parameter analysis as and determine the inter…</a:t>
            </a:r>
          </a:p>
          <a:p>
            <a:r>
              <a:rPr lang="en-US" altLang="zh-CN" dirty="0">
                <a:latin typeface="Times New Roman"/>
                <a:ea typeface="SimSun"/>
                <a:cs typeface="Times New Roman"/>
              </a:rPr>
              <a:t>Compare</a:t>
            </a:r>
            <a:endParaRPr lang="zh-CN" altLang="en-US" dirty="0">
              <a:latin typeface="Times New Roman"/>
              <a:ea typeface="SimSun"/>
              <a:cs typeface="Times New Roman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5A47F21-FB41-4669-B2B0-2E94E560D8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E9539218-AF35-4C29-B7A1-DCC55E5102B9}" type="slidenum">
              <a:rPr lang="zh-TW" altLang="en-US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14</a:t>
            </a:fld>
            <a:endParaRPr lang="en-US" altLang="zh-TW">
              <a:latin typeface="Times New Roman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37481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7163" y="509588"/>
            <a:ext cx="4537075" cy="2552700"/>
          </a:xfrm>
          <a:ln/>
        </p:spPr>
      </p:sp>
      <p:sp>
        <p:nvSpPr>
          <p:cNvPr id="2253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2706919-DC0F-4D26-924D-8FAC71F021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E9539218-AF35-4C29-B7A1-DCC55E5102B9}" type="slidenum">
              <a:rPr lang="zh-TW" altLang="en-US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15</a:t>
            </a:fld>
            <a:endParaRPr lang="en-US" altLang="zh-TW">
              <a:latin typeface="Times New Roman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850539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7163" y="509588"/>
            <a:ext cx="4537075" cy="2552700"/>
          </a:xfrm>
          <a:ln/>
        </p:spPr>
      </p:sp>
      <p:sp>
        <p:nvSpPr>
          <p:cNvPr id="2253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FC6054D-4157-4F34-AEFF-180F948111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E9539218-AF35-4C29-B7A1-DCC55E5102B9}" type="slidenum">
              <a:rPr lang="zh-TW" altLang="en-US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16</a:t>
            </a:fld>
            <a:endParaRPr lang="en-US" altLang="zh-TW">
              <a:latin typeface="Times New Roman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614301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7163" y="509588"/>
            <a:ext cx="4537075" cy="2552700"/>
          </a:xfrm>
          <a:ln/>
        </p:spPr>
      </p:sp>
      <p:sp>
        <p:nvSpPr>
          <p:cNvPr id="2253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6667500-A233-453C-869A-044BCE9806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E9539218-AF35-4C29-B7A1-DCC55E5102B9}" type="slidenum">
              <a:rPr lang="zh-TW" altLang="en-US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17</a:t>
            </a:fld>
            <a:endParaRPr lang="en-US" altLang="zh-TW">
              <a:latin typeface="Times New Roman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132460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7163" y="509588"/>
            <a:ext cx="4537075" cy="2552700"/>
          </a:xfrm>
          <a:ln/>
        </p:spPr>
      </p:sp>
      <p:sp>
        <p:nvSpPr>
          <p:cNvPr id="2253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DE09066-3333-4E50-9686-EFB47E14E8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E9539218-AF35-4C29-B7A1-DCC55E5102B9}" type="slidenum">
              <a:rPr lang="zh-TW" altLang="en-US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18</a:t>
            </a:fld>
            <a:endParaRPr lang="en-US" altLang="zh-TW">
              <a:latin typeface="Times New Roman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844824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2253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7882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1pPr>
            <a:lvl2pPr marL="750305" indent="-288579" defTabSz="937882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2pPr>
            <a:lvl3pPr marL="1154316" indent="-230863" defTabSz="937882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3pPr>
            <a:lvl4pPr marL="1616042" indent="-230863" defTabSz="937882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4pPr>
            <a:lvl5pPr marL="2077768" indent="-230863" defTabSz="937882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5pPr>
            <a:lvl6pPr marL="2539495" indent="-230863" defTabSz="93788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6pPr>
            <a:lvl7pPr marL="3001221" indent="-230863" defTabSz="93788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7pPr>
            <a:lvl8pPr marL="3462947" indent="-230863" defTabSz="93788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8pPr>
            <a:lvl9pPr marL="3924673" indent="-230863" defTabSz="93788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9pPr>
          </a:lstStyle>
          <a:p>
            <a:fld id="{C4C20F0C-580E-42DF-9542-BF2972995143}" type="slidenum">
              <a:rPr lang="en-US" altLang="zh-CN" sz="1200">
                <a:solidFill>
                  <a:srgbClr val="000000"/>
                </a:solidFill>
                <a:latin typeface="Times New Roman" panose="020B0604020202020204" pitchFamily="34" charset="0"/>
                <a:ea typeface="SimSun" panose="020B0600070205080204" pitchFamily="34" charset="-128"/>
                <a:cs typeface="Times New Roman"/>
              </a:rPr>
              <a:pPr/>
              <a:t>19</a:t>
            </a:fld>
            <a:endParaRPr lang="en-US" altLang="zh-CN" sz="1200">
              <a:solidFill>
                <a:srgbClr val="000000"/>
              </a:solidFill>
              <a:latin typeface="Times New Roman" panose="020B0604020202020204" pitchFamily="34" charset="0"/>
              <a:ea typeface="SimSun" panose="020B0600070205080204" pitchFamily="34" charset="-128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415967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7163" y="509588"/>
            <a:ext cx="4537075" cy="2552700"/>
          </a:xfrm>
          <a:ln/>
        </p:spPr>
      </p:sp>
      <p:sp>
        <p:nvSpPr>
          <p:cNvPr id="2253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A131342-79FE-4B23-8C14-4E3EE10072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E9539218-AF35-4C29-B7A1-DCC55E5102B9}" type="slidenum">
              <a:rPr lang="zh-TW" altLang="en-US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20</a:t>
            </a:fld>
            <a:endParaRPr lang="en-US" altLang="zh-TW">
              <a:latin typeface="Times New Roman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519241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7163" y="509588"/>
            <a:ext cx="4537075" cy="2552700"/>
          </a:xfrm>
          <a:ln/>
        </p:spPr>
      </p:sp>
      <p:sp>
        <p:nvSpPr>
          <p:cNvPr id="2253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BF7A27E-ADA4-4831-819F-84B7AC088F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E9539218-AF35-4C29-B7A1-DCC55E5102B9}" type="slidenum">
              <a:rPr lang="zh-TW" altLang="en-US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21</a:t>
            </a:fld>
            <a:endParaRPr lang="en-US" altLang="zh-TW">
              <a:latin typeface="Times New Roman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258104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7163" y="509588"/>
            <a:ext cx="4537075" cy="2552700"/>
          </a:xfrm>
          <a:ln/>
        </p:spPr>
      </p:sp>
      <p:sp>
        <p:nvSpPr>
          <p:cNvPr id="2253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F5D714F-7E49-48B2-81F6-CF4D5BF7FE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E9539218-AF35-4C29-B7A1-DCC55E5102B9}" type="slidenum">
              <a:rPr lang="zh-TW" altLang="en-US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22</a:t>
            </a:fld>
            <a:endParaRPr lang="en-US" altLang="zh-TW">
              <a:latin typeface="Times New Roman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886426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7163" y="509588"/>
            <a:ext cx="4537075" cy="2552700"/>
          </a:xfrm>
          <a:ln/>
        </p:spPr>
      </p:sp>
      <p:sp>
        <p:nvSpPr>
          <p:cNvPr id="2253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9725D98-16E5-465F-A249-F39F9E34A6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E9539218-AF35-4C29-B7A1-DCC55E5102B9}" type="slidenum">
              <a:rPr lang="zh-TW" altLang="en-US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23</a:t>
            </a:fld>
            <a:endParaRPr lang="en-US" altLang="zh-TW">
              <a:latin typeface="Times New Roman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0130602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7163" y="509588"/>
            <a:ext cx="4537075" cy="2552700"/>
          </a:xfrm>
          <a:ln/>
        </p:spPr>
      </p:sp>
      <p:sp>
        <p:nvSpPr>
          <p:cNvPr id="2253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BE4ABEE-E535-4301-B188-1D17E97140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E9539218-AF35-4C29-B7A1-DCC55E5102B9}" type="slidenum">
              <a:rPr lang="zh-TW" altLang="en-US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24</a:t>
            </a:fld>
            <a:endParaRPr lang="en-US" altLang="zh-TW">
              <a:latin typeface="Times New Roman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6415852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7163" y="509588"/>
            <a:ext cx="4537075" cy="2552700"/>
          </a:xfrm>
          <a:ln/>
        </p:spPr>
      </p:sp>
      <p:sp>
        <p:nvSpPr>
          <p:cNvPr id="2253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2706919-DC0F-4D26-924D-8FAC71F021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E9539218-AF35-4C29-B7A1-DCC55E5102B9}" type="slidenum">
              <a:rPr lang="zh-TW" altLang="en-US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25</a:t>
            </a:fld>
            <a:endParaRPr lang="en-US" altLang="zh-TW">
              <a:latin typeface="Times New Roman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3167319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7163" y="509588"/>
            <a:ext cx="4537075" cy="2552700"/>
          </a:xfrm>
          <a:ln/>
        </p:spPr>
      </p:sp>
      <p:sp>
        <p:nvSpPr>
          <p:cNvPr id="2253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3503936-1935-40B5-8DD7-B64E67B9B6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E9539218-AF35-4C29-B7A1-DCC55E5102B9}" type="slidenum">
              <a:rPr lang="zh-TW" altLang="en-US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26</a:t>
            </a:fld>
            <a:endParaRPr lang="en-US" altLang="zh-TW">
              <a:latin typeface="Times New Roman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0772581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7163" y="509588"/>
            <a:ext cx="4537075" cy="2552700"/>
          </a:xfrm>
          <a:ln/>
        </p:spPr>
      </p:sp>
      <p:sp>
        <p:nvSpPr>
          <p:cNvPr id="2253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4354850-8E40-409E-BC36-4237B1608B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E9539218-AF35-4C29-B7A1-DCC55E5102B9}" type="slidenum">
              <a:rPr lang="zh-TW" altLang="en-US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27</a:t>
            </a:fld>
            <a:endParaRPr lang="en-US" altLang="zh-TW">
              <a:latin typeface="Times New Roman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1324603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7163" y="509588"/>
            <a:ext cx="4537075" cy="2552700"/>
          </a:xfrm>
          <a:ln/>
        </p:spPr>
      </p:sp>
      <p:sp>
        <p:nvSpPr>
          <p:cNvPr id="2253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B8014DB-1BC7-405E-9940-73D11F68CB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E9539218-AF35-4C29-B7A1-DCC55E5102B9}" type="slidenum">
              <a:rPr lang="zh-TW" altLang="en-US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28</a:t>
            </a:fld>
            <a:endParaRPr lang="en-US" altLang="zh-TW">
              <a:latin typeface="Times New Roman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2464044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7163" y="509588"/>
            <a:ext cx="4537075" cy="2552700"/>
          </a:xfrm>
          <a:ln/>
        </p:spPr>
      </p:sp>
      <p:sp>
        <p:nvSpPr>
          <p:cNvPr id="2253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E63FE4E-4BAA-4959-A197-7E9C54C6C0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E9539218-AF35-4C29-B7A1-DCC55E5102B9}" type="slidenum">
              <a:rPr lang="zh-TW" altLang="en-US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29</a:t>
            </a:fld>
            <a:endParaRPr lang="en-US" altLang="zh-TW">
              <a:latin typeface="Times New Roman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8448246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7163" y="509588"/>
            <a:ext cx="4537075" cy="2552700"/>
          </a:xfrm>
          <a:ln/>
        </p:spPr>
      </p:sp>
      <p:sp>
        <p:nvSpPr>
          <p:cNvPr id="2253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E63FE4E-4BAA-4959-A197-7E9C54C6C0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E9539218-AF35-4C29-B7A1-DCC55E5102B9}" type="slidenum">
              <a:rPr lang="zh-TW" altLang="en-US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30</a:t>
            </a:fld>
            <a:endParaRPr lang="en-US" altLang="zh-TW">
              <a:latin typeface="Times New Roman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2172368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7163" y="509588"/>
            <a:ext cx="4537075" cy="2552700"/>
          </a:xfrm>
          <a:ln/>
        </p:spPr>
      </p:sp>
      <p:sp>
        <p:nvSpPr>
          <p:cNvPr id="2253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8ACDF66-476E-4AE4-9B23-EA436B49DD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E9539218-AF35-4C29-B7A1-DCC55E5102B9}" type="slidenum">
              <a:rPr lang="zh-TW" altLang="en-US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31</a:t>
            </a:fld>
            <a:endParaRPr lang="en-US" altLang="zh-TW">
              <a:latin typeface="Times New Roman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5736061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7163" y="509588"/>
            <a:ext cx="4537075" cy="2552700"/>
          </a:xfrm>
          <a:ln/>
        </p:spPr>
      </p:sp>
      <p:sp>
        <p:nvSpPr>
          <p:cNvPr id="2253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14EFEF5-6D8D-4118-BD5A-02D919F689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E9539218-AF35-4C29-B7A1-DCC55E5102B9}" type="slidenum">
              <a:rPr lang="zh-TW" altLang="en-US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32</a:t>
            </a:fld>
            <a:endParaRPr lang="en-US" altLang="zh-TW">
              <a:latin typeface="Times New Roman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7210555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7163" y="509588"/>
            <a:ext cx="4537075" cy="2552700"/>
          </a:xfrm>
          <a:ln/>
        </p:spPr>
      </p:sp>
      <p:sp>
        <p:nvSpPr>
          <p:cNvPr id="2253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F6B97D1-3E6B-4E7F-B21C-910F0053E4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E9539218-AF35-4C29-B7A1-DCC55E5102B9}" type="slidenum">
              <a:rPr lang="zh-TW" altLang="en-US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33</a:t>
            </a:fld>
            <a:endParaRPr lang="en-US" altLang="zh-TW">
              <a:latin typeface="Times New Roman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7389549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7163" y="509588"/>
            <a:ext cx="4537075" cy="2552700"/>
          </a:xfrm>
          <a:ln/>
        </p:spPr>
      </p:sp>
      <p:sp>
        <p:nvSpPr>
          <p:cNvPr id="2253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 dirty="0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3DA9766-0269-4B09-9B70-5550489D81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E9539218-AF35-4C29-B7A1-DCC55E5102B9}" type="slidenum">
              <a:rPr lang="zh-TW" altLang="en-US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34</a:t>
            </a:fld>
            <a:endParaRPr lang="en-US" altLang="zh-TW">
              <a:latin typeface="Times New Roman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7314312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7163" y="509588"/>
            <a:ext cx="4537075" cy="2552700"/>
          </a:xfrm>
          <a:ln/>
        </p:spPr>
      </p:sp>
      <p:sp>
        <p:nvSpPr>
          <p:cNvPr id="2253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E992F0C-E04C-4FDA-A244-FDC90C1AC8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E9539218-AF35-4C29-B7A1-DCC55E5102B9}" type="slidenum">
              <a:rPr lang="zh-TW" altLang="en-US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35</a:t>
            </a:fld>
            <a:endParaRPr lang="en-US" altLang="zh-TW">
              <a:latin typeface="Times New Roman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6415852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7163" y="509588"/>
            <a:ext cx="4537075" cy="2552700"/>
          </a:xfrm>
          <a:ln/>
        </p:spPr>
      </p:sp>
      <p:sp>
        <p:nvSpPr>
          <p:cNvPr id="2253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2706919-DC0F-4D26-924D-8FAC71F021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E9539218-AF35-4C29-B7A1-DCC55E5102B9}" type="slidenum">
              <a:rPr lang="zh-TW" altLang="en-US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36</a:t>
            </a:fld>
            <a:endParaRPr lang="en-US" altLang="zh-TW">
              <a:latin typeface="Times New Roman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6395347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7163" y="509588"/>
            <a:ext cx="4537075" cy="2552700"/>
          </a:xfrm>
          <a:ln/>
        </p:spPr>
      </p:sp>
      <p:sp>
        <p:nvSpPr>
          <p:cNvPr id="2253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E4E0FD1-B8C2-4BD0-9DC8-3C61854374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E9539218-AF35-4C29-B7A1-DCC55E5102B9}" type="slidenum">
              <a:rPr lang="zh-TW" altLang="en-US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37</a:t>
            </a:fld>
            <a:endParaRPr lang="en-US" altLang="zh-TW">
              <a:latin typeface="Times New Roman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3372997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7163" y="509588"/>
            <a:ext cx="4537075" cy="2552700"/>
          </a:xfrm>
          <a:ln/>
        </p:spPr>
      </p:sp>
      <p:sp>
        <p:nvSpPr>
          <p:cNvPr id="2253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B8974FC-000C-4ED8-ABA9-BF0F90FAFA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E9539218-AF35-4C29-B7A1-DCC55E5102B9}" type="slidenum">
              <a:rPr lang="zh-TW" altLang="en-US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38</a:t>
            </a:fld>
            <a:endParaRPr lang="en-US" altLang="zh-TW">
              <a:latin typeface="Times New Roman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0929906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7163" y="509588"/>
            <a:ext cx="4537075" cy="2552700"/>
          </a:xfrm>
          <a:ln/>
        </p:spPr>
      </p:sp>
      <p:sp>
        <p:nvSpPr>
          <p:cNvPr id="2253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D721C43-03C8-4BDF-978A-7B5A1B041A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E9539218-AF35-4C29-B7A1-DCC55E5102B9}" type="slidenum">
              <a:rPr lang="zh-TW" altLang="en-US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39</a:t>
            </a:fld>
            <a:endParaRPr lang="en-US" altLang="zh-TW">
              <a:latin typeface="Times New Roman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1324051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7163" y="509588"/>
            <a:ext cx="4537075" cy="2552700"/>
          </a:xfrm>
          <a:ln/>
        </p:spPr>
      </p:sp>
      <p:sp>
        <p:nvSpPr>
          <p:cNvPr id="2253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D721C43-03C8-4BDF-978A-7B5A1B041A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E9539218-AF35-4C29-B7A1-DCC55E5102B9}" type="slidenum">
              <a:rPr lang="zh-TW" altLang="en-US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40</a:t>
            </a:fld>
            <a:endParaRPr lang="en-US" altLang="zh-TW">
              <a:latin typeface="Times New Roman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6678129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7163" y="509588"/>
            <a:ext cx="4537075" cy="2552700"/>
          </a:xfrm>
          <a:ln/>
        </p:spPr>
      </p:sp>
      <p:sp>
        <p:nvSpPr>
          <p:cNvPr id="2253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D721C43-03C8-4BDF-978A-7B5A1B041A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E9539218-AF35-4C29-B7A1-DCC55E5102B9}" type="slidenum">
              <a:rPr lang="zh-TW" altLang="en-US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41</a:t>
            </a:fld>
            <a:endParaRPr lang="en-US" altLang="zh-TW">
              <a:latin typeface="Times New Roman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6471690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7163" y="509588"/>
            <a:ext cx="4537075" cy="2552700"/>
          </a:xfrm>
          <a:ln/>
        </p:spPr>
      </p:sp>
      <p:sp>
        <p:nvSpPr>
          <p:cNvPr id="2253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D721C43-03C8-4BDF-978A-7B5A1B041A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E9539218-AF35-4C29-B7A1-DCC55E5102B9}" type="slidenum">
              <a:rPr lang="zh-TW" altLang="en-US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42</a:t>
            </a:fld>
            <a:endParaRPr lang="en-US" altLang="zh-TW">
              <a:latin typeface="Times New Roman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3748954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7163" y="509588"/>
            <a:ext cx="4537075" cy="2552700"/>
          </a:xfrm>
          <a:ln/>
        </p:spPr>
      </p:sp>
      <p:sp>
        <p:nvSpPr>
          <p:cNvPr id="2253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D721C43-03C8-4BDF-978A-7B5A1B041A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E9539218-AF35-4C29-B7A1-DCC55E5102B9}" type="slidenum">
              <a:rPr lang="zh-TW" altLang="en-US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43</a:t>
            </a:fld>
            <a:endParaRPr lang="en-US" altLang="zh-TW">
              <a:latin typeface="Times New Roman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8245097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7163" y="509588"/>
            <a:ext cx="4537075" cy="2552700"/>
          </a:xfrm>
          <a:ln/>
        </p:spPr>
      </p:sp>
      <p:sp>
        <p:nvSpPr>
          <p:cNvPr id="2253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D721C43-03C8-4BDF-978A-7B5A1B041A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E9539218-AF35-4C29-B7A1-DCC55E5102B9}" type="slidenum">
              <a:rPr lang="zh-TW" altLang="en-US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44</a:t>
            </a:fld>
            <a:endParaRPr lang="en-US" altLang="zh-TW">
              <a:latin typeface="Times New Roman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8420218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7163" y="509588"/>
            <a:ext cx="4537075" cy="2552700"/>
          </a:xfrm>
          <a:ln/>
        </p:spPr>
      </p:sp>
      <p:sp>
        <p:nvSpPr>
          <p:cNvPr id="2253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D721C43-03C8-4BDF-978A-7B5A1B041A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E9539218-AF35-4C29-B7A1-DCC55E5102B9}" type="slidenum">
              <a:rPr lang="zh-TW" altLang="en-US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45</a:t>
            </a:fld>
            <a:endParaRPr lang="en-US" altLang="zh-TW">
              <a:latin typeface="Times New Roman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2114474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7163" y="509588"/>
            <a:ext cx="4537075" cy="2552700"/>
          </a:xfrm>
          <a:ln/>
        </p:spPr>
      </p:sp>
      <p:sp>
        <p:nvSpPr>
          <p:cNvPr id="2253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2706919-DC0F-4D26-924D-8FAC71F021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E9539218-AF35-4C29-B7A1-DCC55E5102B9}" type="slidenum">
              <a:rPr lang="zh-TW" altLang="en-US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46</a:t>
            </a:fld>
            <a:endParaRPr lang="en-US" altLang="zh-TW">
              <a:latin typeface="Times New Roman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6632177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7163" y="509588"/>
            <a:ext cx="4537075" cy="2552700"/>
          </a:xfrm>
          <a:ln/>
        </p:spPr>
      </p:sp>
      <p:sp>
        <p:nvSpPr>
          <p:cNvPr id="2253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05A4EE8-2B30-44DE-B5E4-842990079C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E9539218-AF35-4C29-B7A1-DCC55E5102B9}" type="slidenum">
              <a:rPr lang="zh-TW" altLang="en-US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47</a:t>
            </a:fld>
            <a:endParaRPr lang="en-US" altLang="zh-TW">
              <a:latin typeface="Times New Roman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9800353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7163" y="509588"/>
            <a:ext cx="4537075" cy="2552700"/>
          </a:xfrm>
          <a:ln/>
        </p:spPr>
      </p:sp>
      <p:sp>
        <p:nvSpPr>
          <p:cNvPr id="2253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AC08C26-8868-4C8A-A123-F673C7BA2C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E9539218-AF35-4C29-B7A1-DCC55E5102B9}" type="slidenum">
              <a:rPr lang="zh-TW" altLang="en-US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48</a:t>
            </a:fld>
            <a:endParaRPr lang="en-US" altLang="zh-TW">
              <a:latin typeface="Times New Roman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8294729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7163" y="509588"/>
            <a:ext cx="4537075" cy="2552700"/>
          </a:xfrm>
          <a:ln/>
        </p:spPr>
      </p:sp>
      <p:sp>
        <p:nvSpPr>
          <p:cNvPr id="2253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51AE4B6-F39C-4E87-93C7-37870B38C2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E9539218-AF35-4C29-B7A1-DCC55E5102B9}" type="slidenum">
              <a:rPr lang="zh-TW" altLang="en-US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49</a:t>
            </a:fld>
            <a:endParaRPr lang="en-US" altLang="zh-TW">
              <a:latin typeface="Times New Roman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4145799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7163" y="509588"/>
            <a:ext cx="4537075" cy="2552700"/>
          </a:xfrm>
          <a:ln/>
        </p:spPr>
      </p:sp>
      <p:sp>
        <p:nvSpPr>
          <p:cNvPr id="2253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6263736-D33E-4E4B-AD7C-9010CA7ECE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E9539218-AF35-4C29-B7A1-DCC55E5102B9}" type="slidenum">
              <a:rPr lang="zh-TW" altLang="en-US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50</a:t>
            </a:fld>
            <a:endParaRPr lang="en-US" altLang="zh-TW">
              <a:latin typeface="Times New Roman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4776204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7163" y="509588"/>
            <a:ext cx="4537075" cy="2552700"/>
          </a:xfrm>
          <a:ln/>
        </p:spPr>
      </p:sp>
      <p:sp>
        <p:nvSpPr>
          <p:cNvPr id="2253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6263736-D33E-4E4B-AD7C-9010CA7ECE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E9539218-AF35-4C29-B7A1-DCC55E5102B9}" type="slidenum">
              <a:rPr lang="zh-TW" altLang="en-US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51</a:t>
            </a:fld>
            <a:endParaRPr lang="en-US" altLang="zh-TW">
              <a:latin typeface="Times New Roman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9750849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7163" y="509588"/>
            <a:ext cx="4537075" cy="2552700"/>
          </a:xfrm>
          <a:ln/>
        </p:spPr>
      </p:sp>
      <p:sp>
        <p:nvSpPr>
          <p:cNvPr id="2253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8CCC6FA-9FA2-4CC2-B441-EC5EF64470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E9539218-AF35-4C29-B7A1-DCC55E5102B9}" type="slidenum">
              <a:rPr lang="zh-TW" altLang="en-US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52</a:t>
            </a:fld>
            <a:endParaRPr lang="en-US" altLang="zh-TW">
              <a:latin typeface="Times New Roman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5208794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7163" y="509588"/>
            <a:ext cx="4537075" cy="2552700"/>
          </a:xfrm>
          <a:ln/>
        </p:spPr>
      </p:sp>
      <p:sp>
        <p:nvSpPr>
          <p:cNvPr id="2253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A4DF25D-3FF5-43A0-9E4A-789601482A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E9539218-AF35-4C29-B7A1-DCC55E5102B9}" type="slidenum">
              <a:rPr lang="zh-TW" altLang="en-US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53</a:t>
            </a:fld>
            <a:endParaRPr lang="en-US" altLang="zh-TW">
              <a:latin typeface="Times New Roman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285638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7163" y="509588"/>
            <a:ext cx="4537075" cy="2552700"/>
          </a:xfrm>
          <a:ln/>
        </p:spPr>
      </p:sp>
      <p:sp>
        <p:nvSpPr>
          <p:cNvPr id="2253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C7FD3AC-C2CF-4840-9228-0337133862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E9539218-AF35-4C29-B7A1-DCC55E5102B9}" type="slidenum">
              <a:rPr lang="zh-TW" altLang="en-US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54</a:t>
            </a:fld>
            <a:endParaRPr lang="en-US" altLang="zh-TW">
              <a:latin typeface="Times New Roman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5774995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7163" y="509588"/>
            <a:ext cx="4537075" cy="2552700"/>
          </a:xfrm>
          <a:ln/>
        </p:spPr>
      </p:sp>
      <p:sp>
        <p:nvSpPr>
          <p:cNvPr id="2253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2706919-DC0F-4D26-924D-8FAC71F021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E9539218-AF35-4C29-B7A1-DCC55E5102B9}" type="slidenum">
              <a:rPr lang="zh-TW" altLang="en-US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55</a:t>
            </a:fld>
            <a:endParaRPr lang="en-US" altLang="zh-TW">
              <a:latin typeface="Times New Roman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958570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697163" y="509588"/>
            <a:ext cx="4537075" cy="25527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Times New Roman"/>
              <a:ea typeface="SimSun"/>
              <a:cs typeface="Times New Roman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8FC9E79-C983-4002-BE8C-8533DCFD7C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E9539218-AF35-4C29-B7A1-DCC55E5102B9}" type="slidenum">
              <a:rPr lang="zh-TW" altLang="en-US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59</a:t>
            </a:fld>
            <a:endParaRPr lang="en-US" altLang="zh-TW">
              <a:latin typeface="Times New Roman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6605685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7163" y="509588"/>
            <a:ext cx="4537075" cy="2552700"/>
          </a:xfrm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 dirty="0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319CB7E-98B4-4AD0-ADE3-D778A181B5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E9539218-AF35-4C29-B7A1-DCC55E5102B9}" type="slidenum">
              <a:rPr lang="zh-TW" altLang="en-US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60</a:t>
            </a:fld>
            <a:endParaRPr lang="en-US" altLang="zh-TW">
              <a:latin typeface="Times New Roman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9461755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7163" y="509588"/>
            <a:ext cx="4537075" cy="2552700"/>
          </a:xfrm>
          <a:ln/>
        </p:spPr>
      </p:sp>
      <p:sp>
        <p:nvSpPr>
          <p:cNvPr id="2253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8CCC6FA-9FA2-4CC2-B441-EC5EF64470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E9539218-AF35-4C29-B7A1-DCC55E5102B9}" type="slidenum">
              <a:rPr lang="zh-TW" altLang="en-US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61</a:t>
            </a:fld>
            <a:endParaRPr lang="en-US" altLang="zh-TW">
              <a:latin typeface="Times New Roman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83275826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7163" y="509588"/>
            <a:ext cx="4537075" cy="2552700"/>
          </a:xfrm>
          <a:ln/>
        </p:spPr>
      </p:sp>
      <p:sp>
        <p:nvSpPr>
          <p:cNvPr id="2253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8CCC6FA-9FA2-4CC2-B441-EC5EF64470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E9539218-AF35-4C29-B7A1-DCC55E5102B9}" type="slidenum">
              <a:rPr lang="zh-TW" altLang="en-US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62</a:t>
            </a:fld>
            <a:endParaRPr lang="en-US" altLang="zh-TW">
              <a:latin typeface="Times New Roman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0430152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7163" y="509588"/>
            <a:ext cx="4537075" cy="2552700"/>
          </a:xfrm>
          <a:ln/>
        </p:spPr>
      </p:sp>
      <p:sp>
        <p:nvSpPr>
          <p:cNvPr id="2253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8CCC6FA-9FA2-4CC2-B441-EC5EF64470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E9539218-AF35-4C29-B7A1-DCC55E5102B9}" type="slidenum">
              <a:rPr lang="zh-TW" altLang="en-US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63</a:t>
            </a:fld>
            <a:endParaRPr lang="en-US" altLang="zh-TW">
              <a:latin typeface="Times New Roman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6362921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7163" y="509588"/>
            <a:ext cx="4537075" cy="2552700"/>
          </a:xfrm>
          <a:ln/>
        </p:spPr>
      </p:sp>
      <p:sp>
        <p:nvSpPr>
          <p:cNvPr id="2253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8CCC6FA-9FA2-4CC2-B441-EC5EF64470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E9539218-AF35-4C29-B7A1-DCC55E5102B9}" type="slidenum">
              <a:rPr lang="zh-TW" altLang="en-US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64</a:t>
            </a:fld>
            <a:endParaRPr lang="en-US" altLang="zh-TW">
              <a:latin typeface="Times New Roman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85310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6307139"/>
            <a:ext cx="12192000" cy="53975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wrap="none" anchor="ctr"/>
          <a:lstStyle>
            <a:lvl1pPr>
              <a:spcBef>
                <a:spcPct val="0"/>
              </a:spcBef>
              <a:defRPr sz="3200">
                <a:solidFill>
                  <a:schemeClr val="bg2"/>
                </a:solidFill>
                <a:latin typeface="Times New Roman" panose="020B0604020202020204" pitchFamily="34" charset="0"/>
                <a:ea typeface="SimSun" panose="020B0600070205080204" pitchFamily="34" charset="-128"/>
                <a:cs typeface="Times New Roman"/>
              </a:defRPr>
            </a:lvl1pPr>
            <a:lvl2pPr marL="742950" indent="-285750">
              <a:spcBef>
                <a:spcPct val="0"/>
              </a:spcBef>
              <a:defRPr sz="3200">
                <a:solidFill>
                  <a:schemeClr val="bg2"/>
                </a:solidFill>
                <a:latin typeface="Times New Roman" panose="020B0604020202020204" pitchFamily="34" charset="0"/>
                <a:ea typeface="SimSun" panose="020B0600070205080204" pitchFamily="34" charset="-128"/>
                <a:cs typeface="Times New Roman"/>
              </a:defRPr>
            </a:lvl2pPr>
            <a:lvl3pPr marL="1143000" indent="-228600">
              <a:spcBef>
                <a:spcPct val="0"/>
              </a:spcBef>
              <a:defRPr sz="3200">
                <a:solidFill>
                  <a:schemeClr val="bg2"/>
                </a:solidFill>
                <a:latin typeface="Times New Roman" panose="020B0604020202020204" pitchFamily="34" charset="0"/>
                <a:ea typeface="SimSun" panose="020B0600070205080204" pitchFamily="34" charset="-128"/>
                <a:cs typeface="Times New Roman"/>
              </a:defRPr>
            </a:lvl3pPr>
            <a:lvl4pPr marL="1600200" indent="-228600">
              <a:spcBef>
                <a:spcPct val="0"/>
              </a:spcBef>
              <a:defRPr sz="3200">
                <a:solidFill>
                  <a:schemeClr val="bg2"/>
                </a:solidFill>
                <a:latin typeface="Times New Roman" panose="020B0604020202020204" pitchFamily="34" charset="0"/>
                <a:ea typeface="SimSun" panose="020B0600070205080204" pitchFamily="34" charset="-128"/>
                <a:cs typeface="Times New Roman"/>
              </a:defRPr>
            </a:lvl4pPr>
            <a:lvl5pPr marL="2057400" indent="-228600">
              <a:spcBef>
                <a:spcPct val="0"/>
              </a:spcBef>
              <a:defRPr sz="3200">
                <a:solidFill>
                  <a:schemeClr val="bg2"/>
                </a:solidFill>
                <a:latin typeface="Times New Roman" panose="020B0604020202020204" pitchFamily="34" charset="0"/>
                <a:ea typeface="SimSun" panose="020B0600070205080204" pitchFamily="34" charset="-128"/>
                <a:cs typeface="Times New Roman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2"/>
                </a:solidFill>
                <a:latin typeface="Times New Roman" panose="020B0604020202020204" pitchFamily="34" charset="0"/>
                <a:ea typeface="SimSun" panose="020B0600070205080204" pitchFamily="34" charset="-128"/>
                <a:cs typeface="Times New Roman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2"/>
                </a:solidFill>
                <a:latin typeface="Times New Roman" panose="020B0604020202020204" pitchFamily="34" charset="0"/>
                <a:ea typeface="SimSun" panose="020B0600070205080204" pitchFamily="34" charset="-128"/>
                <a:cs typeface="Times New Roman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2"/>
                </a:solidFill>
                <a:latin typeface="Times New Roman" panose="020B0604020202020204" pitchFamily="34" charset="0"/>
                <a:ea typeface="SimSun" panose="020B0600070205080204" pitchFamily="34" charset="-128"/>
                <a:cs typeface="Times New Roman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2"/>
                </a:solidFill>
                <a:latin typeface="Times New Roman" panose="020B0604020202020204" pitchFamily="34" charset="0"/>
                <a:ea typeface="SimSun" panose="020B0600070205080204" pitchFamily="34" charset="-128"/>
                <a:cs typeface="Times New Roman"/>
              </a:defRPr>
            </a:lvl9pPr>
          </a:lstStyle>
          <a:p>
            <a:pPr algn="ctr">
              <a:defRPr>
                <a:latin typeface="Times New Roman"/>
                <a:ea typeface="SimSun"/>
                <a:cs typeface="Times New Roman"/>
              </a:defRPr>
            </a:pPr>
            <a:endParaRPr lang="fr-FR" altLang="zh-CN" sz="2400">
              <a:solidFill>
                <a:schemeClr val="tx1"/>
              </a:solidFill>
              <a:latin typeface="Times New Roman" panose="02020603050405020304" pitchFamily="18" charset="0"/>
              <a:ea typeface="SimSun"/>
              <a:cs typeface="Times New Roman" panose="020B0604020202020204" pitchFamily="34" charset="-122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1685925"/>
            <a:ext cx="12192000" cy="2286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wrap="none" anchor="ctr"/>
          <a:lstStyle>
            <a:lvl1pPr>
              <a:spcBef>
                <a:spcPct val="0"/>
              </a:spcBef>
              <a:defRPr sz="3200">
                <a:solidFill>
                  <a:schemeClr val="bg2"/>
                </a:solidFill>
                <a:latin typeface="Times New Roman" panose="020B0604020202020204" pitchFamily="34" charset="0"/>
                <a:ea typeface="SimSun" panose="020B0600070205080204" pitchFamily="34" charset="-128"/>
                <a:cs typeface="Times New Roman"/>
              </a:defRPr>
            </a:lvl1pPr>
            <a:lvl2pPr marL="742950" indent="-285750">
              <a:spcBef>
                <a:spcPct val="0"/>
              </a:spcBef>
              <a:defRPr sz="3200">
                <a:solidFill>
                  <a:schemeClr val="bg2"/>
                </a:solidFill>
                <a:latin typeface="Times New Roman" panose="020B0604020202020204" pitchFamily="34" charset="0"/>
                <a:ea typeface="SimSun" panose="020B0600070205080204" pitchFamily="34" charset="-128"/>
                <a:cs typeface="Times New Roman"/>
              </a:defRPr>
            </a:lvl2pPr>
            <a:lvl3pPr marL="1143000" indent="-228600">
              <a:spcBef>
                <a:spcPct val="0"/>
              </a:spcBef>
              <a:defRPr sz="3200">
                <a:solidFill>
                  <a:schemeClr val="bg2"/>
                </a:solidFill>
                <a:latin typeface="Times New Roman" panose="020B0604020202020204" pitchFamily="34" charset="0"/>
                <a:ea typeface="SimSun" panose="020B0600070205080204" pitchFamily="34" charset="-128"/>
                <a:cs typeface="Times New Roman"/>
              </a:defRPr>
            </a:lvl3pPr>
            <a:lvl4pPr marL="1600200" indent="-228600">
              <a:spcBef>
                <a:spcPct val="0"/>
              </a:spcBef>
              <a:defRPr sz="3200">
                <a:solidFill>
                  <a:schemeClr val="bg2"/>
                </a:solidFill>
                <a:latin typeface="Times New Roman" panose="020B0604020202020204" pitchFamily="34" charset="0"/>
                <a:ea typeface="SimSun" panose="020B0600070205080204" pitchFamily="34" charset="-128"/>
                <a:cs typeface="Times New Roman"/>
              </a:defRPr>
            </a:lvl4pPr>
            <a:lvl5pPr marL="2057400" indent="-228600">
              <a:spcBef>
                <a:spcPct val="0"/>
              </a:spcBef>
              <a:defRPr sz="3200">
                <a:solidFill>
                  <a:schemeClr val="bg2"/>
                </a:solidFill>
                <a:latin typeface="Times New Roman" panose="020B0604020202020204" pitchFamily="34" charset="0"/>
                <a:ea typeface="SimSun" panose="020B0600070205080204" pitchFamily="34" charset="-128"/>
                <a:cs typeface="Times New Roman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2"/>
                </a:solidFill>
                <a:latin typeface="Times New Roman" panose="020B0604020202020204" pitchFamily="34" charset="0"/>
                <a:ea typeface="SimSun" panose="020B0600070205080204" pitchFamily="34" charset="-128"/>
                <a:cs typeface="Times New Roman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2"/>
                </a:solidFill>
                <a:latin typeface="Times New Roman" panose="020B0604020202020204" pitchFamily="34" charset="0"/>
                <a:ea typeface="SimSun" panose="020B0600070205080204" pitchFamily="34" charset="-128"/>
                <a:cs typeface="Times New Roman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2"/>
                </a:solidFill>
                <a:latin typeface="Times New Roman" panose="020B0604020202020204" pitchFamily="34" charset="0"/>
                <a:ea typeface="SimSun" panose="020B0600070205080204" pitchFamily="34" charset="-128"/>
                <a:cs typeface="Times New Roman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2"/>
                </a:solidFill>
                <a:latin typeface="Times New Roman" panose="020B0604020202020204" pitchFamily="34" charset="0"/>
                <a:ea typeface="SimSun" panose="020B0600070205080204" pitchFamily="34" charset="-128"/>
                <a:cs typeface="Times New Roman"/>
              </a:defRPr>
            </a:lvl9pPr>
          </a:lstStyle>
          <a:p>
            <a:pPr algn="ctr">
              <a:defRPr>
                <a:latin typeface="Times New Roman"/>
                <a:ea typeface="SimSun"/>
                <a:cs typeface="Times New Roman"/>
              </a:defRPr>
            </a:pPr>
            <a:endParaRPr lang="zh-CN" altLang="zh-CN" sz="1000">
              <a:solidFill>
                <a:schemeClr val="tx1"/>
              </a:solidFill>
              <a:latin typeface="Times New Roman" panose="020B0604020202020204" pitchFamily="34" charset="0"/>
              <a:ea typeface="SimSun"/>
              <a:cs typeface="Times New Roman" panose="020B0604020202020204" pitchFamily="34" charset="0"/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4448174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28"/>
          <a:stretch>
            <a:fillRect/>
          </a:stretch>
        </p:blipFill>
        <p:spPr bwMode="auto">
          <a:xfrm>
            <a:off x="7019924" y="0"/>
            <a:ext cx="5172075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5" name="Rectangle 5"/>
          <p:cNvSpPr>
            <a:spLocks noGrp="1" noChangeArrowheads="1"/>
          </p:cNvSpPr>
          <p:nvPr>
            <p:ph type="ctrTitle" sz="quarter"/>
          </p:nvPr>
        </p:nvSpPr>
        <p:spPr>
          <a:xfrm>
            <a:off x="605367" y="2032001"/>
            <a:ext cx="10363200" cy="1470025"/>
          </a:xfrm>
        </p:spPr>
        <p:txBody>
          <a:bodyPr/>
          <a:lstStyle>
            <a:lvl1pPr>
              <a:lnSpc>
                <a:spcPct val="100000"/>
              </a:lnSpc>
              <a:defRPr sz="2400" b="1">
                <a:solidFill>
                  <a:schemeClr val="bg1"/>
                </a:solidFill>
                <a:latin typeface="Times New Roman"/>
                <a:ea typeface="SimSun"/>
                <a:cs typeface="Times New Roman"/>
              </a:defRPr>
            </a:lvl1pPr>
          </a:lstStyle>
          <a:p>
            <a:r>
              <a:rPr lang="en-US">
                <a:latin typeface="Times New Roman"/>
                <a:ea typeface="SimSun"/>
                <a:cs typeface="Times New Roman"/>
              </a:rPr>
              <a:t>Click to edit Master title style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7226300" y="4310063"/>
            <a:ext cx="3776133" cy="1752600"/>
          </a:xfrm>
        </p:spPr>
        <p:txBody>
          <a:bodyPr/>
          <a:lstStyle>
            <a:lvl1pPr marL="0" indent="0" algn="ctr">
              <a:buFontTx/>
              <a:buNone/>
              <a:defRPr sz="1400">
                <a:latin typeface="Times New Roman"/>
                <a:ea typeface="SimSun"/>
                <a:cs typeface="Times New Roman"/>
              </a:defRPr>
            </a:lvl1pPr>
          </a:lstStyle>
          <a:p>
            <a:r>
              <a:rPr lang="en-US">
                <a:latin typeface="Times New Roman"/>
                <a:ea typeface="SimSun"/>
                <a:cs typeface="Times New Roman"/>
              </a:rP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84300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/>
                <a:ea typeface="SimSun"/>
                <a:cs typeface="Times New Roman"/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>
                <a:latin typeface="Times New Roman"/>
                <a:ea typeface="SimSun"/>
                <a:cs typeface="Times New Roman"/>
              </a:rPr>
              <a:t>Click to edit Master text styles</a:t>
            </a:r>
          </a:p>
          <a:p>
            <a:pPr lvl="1"/>
            <a:r>
              <a:rPr lang="en-US">
                <a:latin typeface="Times New Roman"/>
                <a:ea typeface="SimSun"/>
                <a:cs typeface="Times New Roman"/>
              </a:rPr>
              <a:t>Second level</a:t>
            </a:r>
          </a:p>
          <a:p>
            <a:pPr lvl="2"/>
            <a:r>
              <a:rPr lang="en-US">
                <a:latin typeface="Times New Roman"/>
                <a:ea typeface="SimSun"/>
                <a:cs typeface="Times New Roman"/>
              </a:rPr>
              <a:t>Third level</a:t>
            </a:r>
          </a:p>
          <a:p>
            <a:pPr lvl="3"/>
            <a:r>
              <a:rPr lang="en-US">
                <a:latin typeface="Times New Roman"/>
                <a:ea typeface="SimSun"/>
                <a:cs typeface="Times New Roman"/>
              </a:rPr>
              <a:t>Fourth level</a:t>
            </a:r>
          </a:p>
          <a:p>
            <a:pPr lvl="4"/>
            <a:r>
              <a:rPr lang="en-US">
                <a:latin typeface="Times New Roman"/>
                <a:ea typeface="SimSun"/>
                <a:cs typeface="Times New Roman"/>
              </a:rPr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/>
                <a:ea typeface="SimSun"/>
                <a:cs typeface="Times New Roman"/>
              </a:defRPr>
            </a:lvl1pPr>
          </a:lstStyle>
          <a:p>
            <a:pPr>
              <a:defRPr>
                <a:latin typeface="Times New Roman"/>
                <a:ea typeface="SimSun"/>
                <a:cs typeface="Times New Roman"/>
              </a:defRPr>
            </a:pPr>
            <a:endParaRPr lang="en-US">
              <a:latin typeface="Times New Roman"/>
              <a:ea typeface="SimSun"/>
              <a:cs typeface="Times New Roman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/>
                <a:ea typeface="SimSun"/>
                <a:cs typeface="Times New Roman"/>
              </a:defRPr>
            </a:lvl1pPr>
          </a:lstStyle>
          <a:p>
            <a:pPr>
              <a:defRPr>
                <a:latin typeface="Times New Roman"/>
                <a:ea typeface="SimSun"/>
                <a:cs typeface="Times New Roman"/>
              </a:defRPr>
            </a:pPr>
            <a:endParaRPr lang="en-US">
              <a:latin typeface="Times New Roman"/>
              <a:ea typeface="SimSun"/>
              <a:cs typeface="Times New Roman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09100" y="6400801"/>
            <a:ext cx="2844800" cy="365125"/>
          </a:xfrm>
        </p:spPr>
        <p:txBody>
          <a:bodyPr/>
          <a:lstStyle>
            <a:lvl1pPr>
              <a:defRPr b="1" smtClean="0">
                <a:solidFill>
                  <a:schemeClr val="tx1"/>
                </a:solidFill>
                <a:latin typeface="Times New Roman"/>
                <a:ea typeface="SimSun"/>
                <a:cs typeface="Times New Roman"/>
              </a:defRPr>
            </a:lvl1pPr>
          </a:lstStyle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15884886-3D85-4AFD-9D94-33E4AF7428DD}" type="slidenum">
              <a:rPr lang="en-US" altLang="zh-CN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‹#›</a:t>
            </a:fld>
            <a:endParaRPr lang="en-US" altLang="zh-CN" dirty="0">
              <a:latin typeface="Times New Roman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77080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>
                <a:latin typeface="Times New Roman"/>
                <a:ea typeface="SimSun"/>
                <a:cs typeface="Times New Roman"/>
              </a:defRPr>
            </a:lvl1pPr>
          </a:lstStyle>
          <a:p>
            <a:r>
              <a:rPr lang="en-US">
                <a:latin typeface="Times New Roman"/>
                <a:ea typeface="SimSun"/>
                <a:cs typeface="Times New Roman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latin typeface="Times New Roman"/>
                <a:ea typeface="SimSun"/>
                <a:cs typeface="Times New Roman"/>
              </a:defRPr>
            </a:lvl1pPr>
            <a:lvl2pPr marL="457200" indent="0">
              <a:buNone/>
              <a:defRPr sz="1800">
                <a:latin typeface="Times New Roman"/>
                <a:ea typeface="SimSun"/>
                <a:cs typeface="Times New Roman"/>
              </a:defRPr>
            </a:lvl2pPr>
            <a:lvl3pPr marL="914400" indent="0">
              <a:buNone/>
              <a:defRPr sz="1600">
                <a:latin typeface="Times New Roman"/>
                <a:ea typeface="SimSun"/>
                <a:cs typeface="Times New Roman"/>
              </a:defRPr>
            </a:lvl3pPr>
            <a:lvl4pPr marL="1371600" indent="0">
              <a:buNone/>
              <a:defRPr sz="1400">
                <a:latin typeface="Times New Roman"/>
                <a:ea typeface="SimSun"/>
                <a:cs typeface="Times New Roman"/>
              </a:defRPr>
            </a:lvl4pPr>
            <a:lvl5pPr marL="1828800" indent="0">
              <a:buNone/>
              <a:defRPr sz="1400">
                <a:latin typeface="Times New Roman"/>
                <a:ea typeface="SimSun"/>
                <a:cs typeface="Times New Roman"/>
              </a:defRPr>
            </a:lvl5pPr>
            <a:lvl6pPr marL="2286000" indent="0">
              <a:buNone/>
              <a:defRPr sz="1400">
                <a:latin typeface="Times New Roman"/>
                <a:ea typeface="SimSun"/>
                <a:cs typeface="Times New Roman"/>
              </a:defRPr>
            </a:lvl6pPr>
            <a:lvl7pPr marL="2743200" indent="0">
              <a:buNone/>
              <a:defRPr sz="1400">
                <a:latin typeface="Times New Roman"/>
                <a:ea typeface="SimSun"/>
                <a:cs typeface="Times New Roman"/>
              </a:defRPr>
            </a:lvl7pPr>
            <a:lvl8pPr marL="3200400" indent="0">
              <a:buNone/>
              <a:defRPr sz="1400">
                <a:latin typeface="Times New Roman"/>
                <a:ea typeface="SimSun"/>
                <a:cs typeface="Times New Roman"/>
              </a:defRPr>
            </a:lvl8pPr>
            <a:lvl9pPr marL="3657600" indent="0">
              <a:buNone/>
              <a:defRPr sz="1400">
                <a:latin typeface="Times New Roman"/>
                <a:ea typeface="SimSun"/>
                <a:cs typeface="Times New Roman"/>
              </a:defRPr>
            </a:lvl9pPr>
          </a:lstStyle>
          <a:p>
            <a:pPr lvl="0"/>
            <a:r>
              <a:rPr lang="en-US">
                <a:latin typeface="Times New Roman"/>
                <a:ea typeface="SimSun"/>
                <a:cs typeface="Times New Roman"/>
              </a:rPr>
              <a:t>Click to edit Master text styles</a:t>
            </a:r>
          </a:p>
        </p:txBody>
      </p:sp>
      <p:sp>
        <p:nvSpPr>
          <p:cNvPr id="4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Times New Roman"/>
                <a:ea typeface="SimSun"/>
                <a:cs typeface="Times New Roman"/>
              </a:defRPr>
            </a:lvl1pPr>
          </a:lstStyle>
          <a:p>
            <a:pPr>
              <a:defRPr>
                <a:latin typeface="Times New Roman"/>
                <a:ea typeface="SimSun"/>
                <a:cs typeface="Times New Roman"/>
              </a:defRPr>
            </a:pPr>
            <a:endParaRPr lang="en-US">
              <a:latin typeface="Times New Roman"/>
              <a:ea typeface="SimSun"/>
              <a:cs typeface="Times New Roman"/>
            </a:endParaRP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Times New Roman"/>
                <a:ea typeface="SimSun"/>
                <a:cs typeface="Times New Roman"/>
              </a:defRPr>
            </a:lvl1pPr>
          </a:lstStyle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4318643B-F044-403A-A26B-E19A2779F296}" type="slidenum">
              <a:rPr lang="en-US" altLang="zh-CN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‹#›</a:t>
            </a:fld>
            <a:endParaRPr lang="en-US" altLang="zh-CN">
              <a:latin typeface="Times New Roman"/>
              <a:ea typeface="SimSun"/>
              <a:cs typeface="Times New Roman"/>
            </a:endParaRP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latin typeface="Times New Roman"/>
                <a:ea typeface="SimSun"/>
                <a:cs typeface="Times New Roman"/>
              </a:defRPr>
            </a:lvl1pPr>
          </a:lstStyle>
          <a:p>
            <a:pPr>
              <a:defRPr>
                <a:latin typeface="Times New Roman"/>
                <a:ea typeface="SimSun"/>
                <a:cs typeface="Times New Roman"/>
              </a:defRPr>
            </a:pPr>
            <a:endParaRPr lang="en-US">
              <a:latin typeface="Times New Roman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34866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/>
                <a:ea typeface="SimSun"/>
                <a:cs typeface="Times New Roman"/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266826"/>
            <a:ext cx="5513917" cy="4829175"/>
          </a:xfrm>
        </p:spPr>
        <p:txBody>
          <a:bodyPr/>
          <a:lstStyle>
            <a:lvl1pPr>
              <a:defRPr sz="2800">
                <a:latin typeface="Times New Roman"/>
                <a:ea typeface="SimSun"/>
                <a:cs typeface="Times New Roman"/>
              </a:defRPr>
            </a:lvl1pPr>
            <a:lvl2pPr>
              <a:defRPr sz="2400">
                <a:latin typeface="Times New Roman"/>
                <a:ea typeface="SimSun"/>
                <a:cs typeface="Times New Roman"/>
              </a:defRPr>
            </a:lvl2pPr>
            <a:lvl3pPr>
              <a:defRPr sz="2000">
                <a:latin typeface="Times New Roman"/>
                <a:ea typeface="SimSun"/>
                <a:cs typeface="Times New Roman"/>
              </a:defRPr>
            </a:lvl3pPr>
            <a:lvl4pPr>
              <a:defRPr sz="1800">
                <a:latin typeface="Times New Roman"/>
                <a:ea typeface="SimSun"/>
                <a:cs typeface="Times New Roman"/>
              </a:defRPr>
            </a:lvl4pPr>
            <a:lvl5pPr>
              <a:defRPr sz="1800">
                <a:latin typeface="Times New Roman"/>
                <a:ea typeface="SimSun"/>
                <a:cs typeface="Times New Roman"/>
              </a:defRPr>
            </a:lvl5pPr>
            <a:lvl6pPr>
              <a:defRPr sz="1800">
                <a:latin typeface="Times New Roman"/>
                <a:ea typeface="SimSun"/>
                <a:cs typeface="Times New Roman"/>
              </a:defRPr>
            </a:lvl6pPr>
            <a:lvl7pPr>
              <a:defRPr sz="1800">
                <a:latin typeface="Times New Roman"/>
                <a:ea typeface="SimSun"/>
                <a:cs typeface="Times New Roman"/>
              </a:defRPr>
            </a:lvl7pPr>
            <a:lvl8pPr>
              <a:defRPr sz="1800">
                <a:latin typeface="Times New Roman"/>
                <a:ea typeface="SimSun"/>
                <a:cs typeface="Times New Roman"/>
              </a:defRPr>
            </a:lvl8pPr>
            <a:lvl9pPr>
              <a:defRPr sz="1800">
                <a:latin typeface="Times New Roman"/>
                <a:ea typeface="SimSun"/>
                <a:cs typeface="Times New Roman"/>
              </a:defRPr>
            </a:lvl9pPr>
          </a:lstStyle>
          <a:p>
            <a:pPr lvl="0"/>
            <a:r>
              <a:rPr lang="en-US">
                <a:latin typeface="Times New Roman"/>
                <a:ea typeface="SimSun"/>
                <a:cs typeface="Times New Roman"/>
              </a:rPr>
              <a:t>Click to edit Master text styles</a:t>
            </a:r>
          </a:p>
          <a:p>
            <a:pPr lvl="1"/>
            <a:r>
              <a:rPr lang="en-US">
                <a:latin typeface="Times New Roman"/>
                <a:ea typeface="SimSun"/>
                <a:cs typeface="Times New Roman"/>
              </a:rPr>
              <a:t>Second level</a:t>
            </a:r>
          </a:p>
          <a:p>
            <a:pPr lvl="2"/>
            <a:r>
              <a:rPr lang="en-US">
                <a:latin typeface="Times New Roman"/>
                <a:ea typeface="SimSun"/>
                <a:cs typeface="Times New Roman"/>
              </a:rPr>
              <a:t>Third level</a:t>
            </a:r>
          </a:p>
          <a:p>
            <a:pPr lvl="3"/>
            <a:r>
              <a:rPr lang="en-US">
                <a:latin typeface="Times New Roman"/>
                <a:ea typeface="SimSun"/>
                <a:cs typeface="Times New Roman"/>
              </a:rPr>
              <a:t>Fourth level</a:t>
            </a:r>
          </a:p>
          <a:p>
            <a:pPr lvl="4"/>
            <a:r>
              <a:rPr lang="en-US">
                <a:latin typeface="Times New Roman"/>
                <a:ea typeface="SimSun"/>
                <a:cs typeface="Times New Roman"/>
              </a:rP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2918" y="1266826"/>
            <a:ext cx="5513916" cy="4829175"/>
          </a:xfrm>
        </p:spPr>
        <p:txBody>
          <a:bodyPr/>
          <a:lstStyle>
            <a:lvl1pPr>
              <a:defRPr sz="2800">
                <a:latin typeface="Times New Roman"/>
                <a:ea typeface="SimSun"/>
                <a:cs typeface="Times New Roman"/>
              </a:defRPr>
            </a:lvl1pPr>
            <a:lvl2pPr>
              <a:defRPr sz="2400">
                <a:latin typeface="Times New Roman"/>
                <a:ea typeface="SimSun"/>
                <a:cs typeface="Times New Roman"/>
              </a:defRPr>
            </a:lvl2pPr>
            <a:lvl3pPr>
              <a:defRPr sz="2000">
                <a:latin typeface="Times New Roman"/>
                <a:ea typeface="SimSun"/>
                <a:cs typeface="Times New Roman"/>
              </a:defRPr>
            </a:lvl3pPr>
            <a:lvl4pPr>
              <a:defRPr sz="1800">
                <a:latin typeface="Times New Roman"/>
                <a:ea typeface="SimSun"/>
                <a:cs typeface="Times New Roman"/>
              </a:defRPr>
            </a:lvl4pPr>
            <a:lvl5pPr>
              <a:defRPr sz="1800">
                <a:latin typeface="Times New Roman"/>
                <a:ea typeface="SimSun"/>
                <a:cs typeface="Times New Roman"/>
              </a:defRPr>
            </a:lvl5pPr>
            <a:lvl6pPr>
              <a:defRPr sz="1800">
                <a:latin typeface="Times New Roman"/>
                <a:ea typeface="SimSun"/>
                <a:cs typeface="Times New Roman"/>
              </a:defRPr>
            </a:lvl6pPr>
            <a:lvl7pPr>
              <a:defRPr sz="1800">
                <a:latin typeface="Times New Roman"/>
                <a:ea typeface="SimSun"/>
                <a:cs typeface="Times New Roman"/>
              </a:defRPr>
            </a:lvl7pPr>
            <a:lvl8pPr>
              <a:defRPr sz="1800">
                <a:latin typeface="Times New Roman"/>
                <a:ea typeface="SimSun"/>
                <a:cs typeface="Times New Roman"/>
              </a:defRPr>
            </a:lvl8pPr>
            <a:lvl9pPr>
              <a:defRPr sz="1800">
                <a:latin typeface="Times New Roman"/>
                <a:ea typeface="SimSun"/>
                <a:cs typeface="Times New Roman"/>
              </a:defRPr>
            </a:lvl9pPr>
          </a:lstStyle>
          <a:p>
            <a:pPr lvl="0"/>
            <a:r>
              <a:rPr lang="en-US">
                <a:latin typeface="Times New Roman"/>
                <a:ea typeface="SimSun"/>
                <a:cs typeface="Times New Roman"/>
              </a:rPr>
              <a:t>Click to edit Master text styles</a:t>
            </a:r>
          </a:p>
          <a:p>
            <a:pPr lvl="1"/>
            <a:r>
              <a:rPr lang="en-US">
                <a:latin typeface="Times New Roman"/>
                <a:ea typeface="SimSun"/>
                <a:cs typeface="Times New Roman"/>
              </a:rPr>
              <a:t>Second level</a:t>
            </a:r>
          </a:p>
          <a:p>
            <a:pPr lvl="2"/>
            <a:r>
              <a:rPr lang="en-US">
                <a:latin typeface="Times New Roman"/>
                <a:ea typeface="SimSun"/>
                <a:cs typeface="Times New Roman"/>
              </a:rPr>
              <a:t>Third level</a:t>
            </a:r>
          </a:p>
          <a:p>
            <a:pPr lvl="3"/>
            <a:r>
              <a:rPr lang="en-US">
                <a:latin typeface="Times New Roman"/>
                <a:ea typeface="SimSun"/>
                <a:cs typeface="Times New Roman"/>
              </a:rPr>
              <a:t>Fourth level</a:t>
            </a:r>
          </a:p>
          <a:p>
            <a:pPr lvl="4"/>
            <a:r>
              <a:rPr lang="en-US">
                <a:latin typeface="Times New Roman"/>
                <a:ea typeface="SimSun"/>
                <a:cs typeface="Times New Roman"/>
              </a:rPr>
              <a:t>Fifth level</a:t>
            </a:r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Times New Roman"/>
                <a:ea typeface="SimSun"/>
                <a:cs typeface="Times New Roman"/>
              </a:defRPr>
            </a:lvl1pPr>
          </a:lstStyle>
          <a:p>
            <a:pPr>
              <a:defRPr>
                <a:latin typeface="Times New Roman"/>
                <a:ea typeface="SimSun"/>
                <a:cs typeface="Times New Roman"/>
              </a:defRPr>
            </a:pPr>
            <a:endParaRPr lang="en-US">
              <a:latin typeface="Times New Roman"/>
              <a:ea typeface="SimSun"/>
              <a:cs typeface="Times New Roman"/>
            </a:endParaRPr>
          </a:p>
        </p:txBody>
      </p:sp>
      <p:sp>
        <p:nvSpPr>
          <p:cNvPr id="6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Times New Roman"/>
                <a:ea typeface="SimSun"/>
                <a:cs typeface="Times New Roman"/>
              </a:defRPr>
            </a:lvl1pPr>
          </a:lstStyle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382F559E-D686-4501-B9B1-B66DF32CCD44}" type="slidenum">
              <a:rPr lang="en-US" altLang="zh-CN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‹#›</a:t>
            </a:fld>
            <a:endParaRPr lang="en-US" altLang="zh-CN">
              <a:latin typeface="Times New Roman"/>
              <a:ea typeface="SimSun"/>
              <a:cs typeface="Times New Roman"/>
            </a:endParaRPr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latin typeface="Times New Roman"/>
                <a:ea typeface="SimSun"/>
                <a:cs typeface="Times New Roman"/>
              </a:defRPr>
            </a:lvl1pPr>
          </a:lstStyle>
          <a:p>
            <a:pPr>
              <a:defRPr>
                <a:latin typeface="Times New Roman"/>
                <a:ea typeface="SimSun"/>
                <a:cs typeface="Times New Roman"/>
              </a:defRPr>
            </a:pPr>
            <a:endParaRPr lang="en-US">
              <a:latin typeface="Times New Roman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87366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>
                <a:latin typeface="Times New Roman"/>
                <a:ea typeface="SimSun"/>
                <a:cs typeface="Times New Roman"/>
              </a:defRPr>
            </a:lvl1pPr>
          </a:lstStyle>
          <a:p>
            <a:r>
              <a:rPr lang="en-US">
                <a:latin typeface="Times New Roman"/>
                <a:ea typeface="SimSun"/>
                <a:cs typeface="Times New Roman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latin typeface="Times New Roman"/>
                <a:ea typeface="SimSun"/>
                <a:cs typeface="Times New Roman"/>
              </a:defRPr>
            </a:lvl1pPr>
            <a:lvl2pPr marL="457200" indent="0">
              <a:buNone/>
              <a:defRPr sz="2000" b="1">
                <a:latin typeface="Times New Roman"/>
                <a:ea typeface="SimSun"/>
                <a:cs typeface="Times New Roman"/>
              </a:defRPr>
            </a:lvl2pPr>
            <a:lvl3pPr marL="914400" indent="0">
              <a:buNone/>
              <a:defRPr sz="1800" b="1">
                <a:latin typeface="Times New Roman"/>
                <a:ea typeface="SimSun"/>
                <a:cs typeface="Times New Roman"/>
              </a:defRPr>
            </a:lvl3pPr>
            <a:lvl4pPr marL="1371600" indent="0">
              <a:buNone/>
              <a:defRPr sz="1600" b="1">
                <a:latin typeface="Times New Roman"/>
                <a:ea typeface="SimSun"/>
                <a:cs typeface="Times New Roman"/>
              </a:defRPr>
            </a:lvl4pPr>
            <a:lvl5pPr marL="1828800" indent="0">
              <a:buNone/>
              <a:defRPr sz="1600" b="1">
                <a:latin typeface="Times New Roman"/>
                <a:ea typeface="SimSun"/>
                <a:cs typeface="Times New Roman"/>
              </a:defRPr>
            </a:lvl5pPr>
            <a:lvl6pPr marL="2286000" indent="0">
              <a:buNone/>
              <a:defRPr sz="1600" b="1">
                <a:latin typeface="Times New Roman"/>
                <a:ea typeface="SimSun"/>
                <a:cs typeface="Times New Roman"/>
              </a:defRPr>
            </a:lvl6pPr>
            <a:lvl7pPr marL="2743200" indent="0">
              <a:buNone/>
              <a:defRPr sz="1600" b="1">
                <a:latin typeface="Times New Roman"/>
                <a:ea typeface="SimSun"/>
                <a:cs typeface="Times New Roman"/>
              </a:defRPr>
            </a:lvl7pPr>
            <a:lvl8pPr marL="3200400" indent="0">
              <a:buNone/>
              <a:defRPr sz="1600" b="1">
                <a:latin typeface="Times New Roman"/>
                <a:ea typeface="SimSun"/>
                <a:cs typeface="Times New Roman"/>
              </a:defRPr>
            </a:lvl8pPr>
            <a:lvl9pPr marL="3657600" indent="0">
              <a:buNone/>
              <a:defRPr sz="1600" b="1">
                <a:latin typeface="Times New Roman"/>
                <a:ea typeface="SimSun"/>
                <a:cs typeface="Times New Roman"/>
              </a:defRPr>
            </a:lvl9pPr>
          </a:lstStyle>
          <a:p>
            <a:pPr lvl="0"/>
            <a:r>
              <a:rPr lang="en-US">
                <a:latin typeface="Times New Roman"/>
                <a:ea typeface="SimSun"/>
                <a:cs typeface="Times New Roman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>
                <a:latin typeface="Times New Roman"/>
                <a:ea typeface="SimSun"/>
                <a:cs typeface="Times New Roman"/>
              </a:defRPr>
            </a:lvl1pPr>
            <a:lvl2pPr>
              <a:defRPr sz="2000">
                <a:latin typeface="Times New Roman"/>
                <a:ea typeface="SimSun"/>
                <a:cs typeface="Times New Roman"/>
              </a:defRPr>
            </a:lvl2pPr>
            <a:lvl3pPr>
              <a:defRPr sz="1800">
                <a:latin typeface="Times New Roman"/>
                <a:ea typeface="SimSun"/>
                <a:cs typeface="Times New Roman"/>
              </a:defRPr>
            </a:lvl3pPr>
            <a:lvl4pPr>
              <a:defRPr sz="1600">
                <a:latin typeface="Times New Roman"/>
                <a:ea typeface="SimSun"/>
                <a:cs typeface="Times New Roman"/>
              </a:defRPr>
            </a:lvl4pPr>
            <a:lvl5pPr>
              <a:defRPr sz="1600">
                <a:latin typeface="Times New Roman"/>
                <a:ea typeface="SimSun"/>
                <a:cs typeface="Times New Roman"/>
              </a:defRPr>
            </a:lvl5pPr>
            <a:lvl6pPr>
              <a:defRPr sz="1600">
                <a:latin typeface="Times New Roman"/>
                <a:ea typeface="SimSun"/>
                <a:cs typeface="Times New Roman"/>
              </a:defRPr>
            </a:lvl6pPr>
            <a:lvl7pPr>
              <a:defRPr sz="1600">
                <a:latin typeface="Times New Roman"/>
                <a:ea typeface="SimSun"/>
                <a:cs typeface="Times New Roman"/>
              </a:defRPr>
            </a:lvl7pPr>
            <a:lvl8pPr>
              <a:defRPr sz="1600">
                <a:latin typeface="Times New Roman"/>
                <a:ea typeface="SimSun"/>
                <a:cs typeface="Times New Roman"/>
              </a:defRPr>
            </a:lvl8pPr>
            <a:lvl9pPr>
              <a:defRPr sz="1600">
                <a:latin typeface="Times New Roman"/>
                <a:ea typeface="SimSun"/>
                <a:cs typeface="Times New Roman"/>
              </a:defRPr>
            </a:lvl9pPr>
          </a:lstStyle>
          <a:p>
            <a:pPr lvl="0"/>
            <a:r>
              <a:rPr lang="en-US">
                <a:latin typeface="Times New Roman"/>
                <a:ea typeface="SimSun"/>
                <a:cs typeface="Times New Roman"/>
              </a:rPr>
              <a:t>Click to edit Master text styles</a:t>
            </a:r>
          </a:p>
          <a:p>
            <a:pPr lvl="1"/>
            <a:r>
              <a:rPr lang="en-US">
                <a:latin typeface="Times New Roman"/>
                <a:ea typeface="SimSun"/>
                <a:cs typeface="Times New Roman"/>
              </a:rPr>
              <a:t>Second level</a:t>
            </a:r>
          </a:p>
          <a:p>
            <a:pPr lvl="2"/>
            <a:r>
              <a:rPr lang="en-US">
                <a:latin typeface="Times New Roman"/>
                <a:ea typeface="SimSun"/>
                <a:cs typeface="Times New Roman"/>
              </a:rPr>
              <a:t>Third level</a:t>
            </a:r>
          </a:p>
          <a:p>
            <a:pPr lvl="3"/>
            <a:r>
              <a:rPr lang="en-US">
                <a:latin typeface="Times New Roman"/>
                <a:ea typeface="SimSun"/>
                <a:cs typeface="Times New Roman"/>
              </a:rPr>
              <a:t>Fourth level</a:t>
            </a:r>
          </a:p>
          <a:p>
            <a:pPr lvl="4"/>
            <a:r>
              <a:rPr lang="en-US">
                <a:latin typeface="Times New Roman"/>
                <a:ea typeface="SimSun"/>
                <a:cs typeface="Times New Roman"/>
              </a:rP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latin typeface="Times New Roman"/>
                <a:ea typeface="SimSun"/>
                <a:cs typeface="Times New Roman"/>
              </a:defRPr>
            </a:lvl1pPr>
            <a:lvl2pPr marL="457200" indent="0">
              <a:buNone/>
              <a:defRPr sz="2000" b="1">
                <a:latin typeface="Times New Roman"/>
                <a:ea typeface="SimSun"/>
                <a:cs typeface="Times New Roman"/>
              </a:defRPr>
            </a:lvl2pPr>
            <a:lvl3pPr marL="914400" indent="0">
              <a:buNone/>
              <a:defRPr sz="1800" b="1">
                <a:latin typeface="Times New Roman"/>
                <a:ea typeface="SimSun"/>
                <a:cs typeface="Times New Roman"/>
              </a:defRPr>
            </a:lvl3pPr>
            <a:lvl4pPr marL="1371600" indent="0">
              <a:buNone/>
              <a:defRPr sz="1600" b="1">
                <a:latin typeface="Times New Roman"/>
                <a:ea typeface="SimSun"/>
                <a:cs typeface="Times New Roman"/>
              </a:defRPr>
            </a:lvl4pPr>
            <a:lvl5pPr marL="1828800" indent="0">
              <a:buNone/>
              <a:defRPr sz="1600" b="1">
                <a:latin typeface="Times New Roman"/>
                <a:ea typeface="SimSun"/>
                <a:cs typeface="Times New Roman"/>
              </a:defRPr>
            </a:lvl5pPr>
            <a:lvl6pPr marL="2286000" indent="0">
              <a:buNone/>
              <a:defRPr sz="1600" b="1">
                <a:latin typeface="Times New Roman"/>
                <a:ea typeface="SimSun"/>
                <a:cs typeface="Times New Roman"/>
              </a:defRPr>
            </a:lvl6pPr>
            <a:lvl7pPr marL="2743200" indent="0">
              <a:buNone/>
              <a:defRPr sz="1600" b="1">
                <a:latin typeface="Times New Roman"/>
                <a:ea typeface="SimSun"/>
                <a:cs typeface="Times New Roman"/>
              </a:defRPr>
            </a:lvl7pPr>
            <a:lvl8pPr marL="3200400" indent="0">
              <a:buNone/>
              <a:defRPr sz="1600" b="1">
                <a:latin typeface="Times New Roman"/>
                <a:ea typeface="SimSun"/>
                <a:cs typeface="Times New Roman"/>
              </a:defRPr>
            </a:lvl8pPr>
            <a:lvl9pPr marL="3657600" indent="0">
              <a:buNone/>
              <a:defRPr sz="1600" b="1">
                <a:latin typeface="Times New Roman"/>
                <a:ea typeface="SimSun"/>
                <a:cs typeface="Times New Roman"/>
              </a:defRPr>
            </a:lvl9pPr>
          </a:lstStyle>
          <a:p>
            <a:pPr lvl="0"/>
            <a:r>
              <a:rPr lang="en-US">
                <a:latin typeface="Times New Roman"/>
                <a:ea typeface="SimSun"/>
                <a:cs typeface="Times New Roman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>
                <a:latin typeface="Times New Roman"/>
                <a:ea typeface="SimSun"/>
                <a:cs typeface="Times New Roman"/>
              </a:defRPr>
            </a:lvl1pPr>
            <a:lvl2pPr>
              <a:defRPr sz="2000">
                <a:latin typeface="Times New Roman"/>
                <a:ea typeface="SimSun"/>
                <a:cs typeface="Times New Roman"/>
              </a:defRPr>
            </a:lvl2pPr>
            <a:lvl3pPr>
              <a:defRPr sz="1800">
                <a:latin typeface="Times New Roman"/>
                <a:ea typeface="SimSun"/>
                <a:cs typeface="Times New Roman"/>
              </a:defRPr>
            </a:lvl3pPr>
            <a:lvl4pPr>
              <a:defRPr sz="1600">
                <a:latin typeface="Times New Roman"/>
                <a:ea typeface="SimSun"/>
                <a:cs typeface="Times New Roman"/>
              </a:defRPr>
            </a:lvl4pPr>
            <a:lvl5pPr>
              <a:defRPr sz="1600">
                <a:latin typeface="Times New Roman"/>
                <a:ea typeface="SimSun"/>
                <a:cs typeface="Times New Roman"/>
              </a:defRPr>
            </a:lvl5pPr>
            <a:lvl6pPr>
              <a:defRPr sz="1600">
                <a:latin typeface="Times New Roman"/>
                <a:ea typeface="SimSun"/>
                <a:cs typeface="Times New Roman"/>
              </a:defRPr>
            </a:lvl6pPr>
            <a:lvl7pPr>
              <a:defRPr sz="1600">
                <a:latin typeface="Times New Roman"/>
                <a:ea typeface="SimSun"/>
                <a:cs typeface="Times New Roman"/>
              </a:defRPr>
            </a:lvl7pPr>
            <a:lvl8pPr>
              <a:defRPr sz="1600">
                <a:latin typeface="Times New Roman"/>
                <a:ea typeface="SimSun"/>
                <a:cs typeface="Times New Roman"/>
              </a:defRPr>
            </a:lvl8pPr>
            <a:lvl9pPr>
              <a:defRPr sz="1600">
                <a:latin typeface="Times New Roman"/>
                <a:ea typeface="SimSun"/>
                <a:cs typeface="Times New Roman"/>
              </a:defRPr>
            </a:lvl9pPr>
          </a:lstStyle>
          <a:p>
            <a:pPr lvl="0"/>
            <a:r>
              <a:rPr lang="en-US">
                <a:latin typeface="Times New Roman"/>
                <a:ea typeface="SimSun"/>
                <a:cs typeface="Times New Roman"/>
              </a:rPr>
              <a:t>Click to edit Master text styles</a:t>
            </a:r>
          </a:p>
          <a:p>
            <a:pPr lvl="1"/>
            <a:r>
              <a:rPr lang="en-US">
                <a:latin typeface="Times New Roman"/>
                <a:ea typeface="SimSun"/>
                <a:cs typeface="Times New Roman"/>
              </a:rPr>
              <a:t>Second level</a:t>
            </a:r>
          </a:p>
          <a:p>
            <a:pPr lvl="2"/>
            <a:r>
              <a:rPr lang="en-US">
                <a:latin typeface="Times New Roman"/>
                <a:ea typeface="SimSun"/>
                <a:cs typeface="Times New Roman"/>
              </a:rPr>
              <a:t>Third level</a:t>
            </a:r>
          </a:p>
          <a:p>
            <a:pPr lvl="3"/>
            <a:r>
              <a:rPr lang="en-US">
                <a:latin typeface="Times New Roman"/>
                <a:ea typeface="SimSun"/>
                <a:cs typeface="Times New Roman"/>
              </a:rPr>
              <a:t>Fourth level</a:t>
            </a:r>
          </a:p>
          <a:p>
            <a:pPr lvl="4"/>
            <a:r>
              <a:rPr lang="en-US">
                <a:latin typeface="Times New Roman"/>
                <a:ea typeface="SimSun"/>
                <a:cs typeface="Times New Roman"/>
              </a:rPr>
              <a:t>Fifth level</a:t>
            </a:r>
          </a:p>
        </p:txBody>
      </p:sp>
      <p:sp>
        <p:nvSpPr>
          <p:cNvPr id="7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Times New Roman"/>
                <a:ea typeface="SimSun"/>
                <a:cs typeface="Times New Roman"/>
              </a:defRPr>
            </a:lvl1pPr>
          </a:lstStyle>
          <a:p>
            <a:pPr>
              <a:defRPr>
                <a:latin typeface="Times New Roman"/>
                <a:ea typeface="SimSun"/>
                <a:cs typeface="Times New Roman"/>
              </a:defRPr>
            </a:pPr>
            <a:endParaRPr lang="en-US">
              <a:latin typeface="Times New Roman"/>
              <a:ea typeface="SimSun"/>
              <a:cs typeface="Times New Roman"/>
            </a:endParaRPr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Times New Roman"/>
                <a:ea typeface="SimSun"/>
                <a:cs typeface="Times New Roman"/>
              </a:defRPr>
            </a:lvl1pPr>
          </a:lstStyle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2132E20B-2FAD-4EA5-8E1A-D35CF873D98B}" type="slidenum">
              <a:rPr lang="en-US" altLang="zh-CN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‹#›</a:t>
            </a:fld>
            <a:endParaRPr lang="en-US" altLang="zh-CN">
              <a:latin typeface="Times New Roman"/>
              <a:ea typeface="SimSun"/>
              <a:cs typeface="Times New Roman"/>
            </a:endParaRPr>
          </a:p>
        </p:txBody>
      </p:sp>
      <p:sp>
        <p:nvSpPr>
          <p:cNvPr id="9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latin typeface="Times New Roman"/>
                <a:ea typeface="SimSun"/>
                <a:cs typeface="Times New Roman"/>
              </a:defRPr>
            </a:lvl1pPr>
          </a:lstStyle>
          <a:p>
            <a:pPr>
              <a:defRPr>
                <a:latin typeface="Times New Roman"/>
                <a:ea typeface="SimSun"/>
                <a:cs typeface="Times New Roman"/>
              </a:defRPr>
            </a:pPr>
            <a:endParaRPr lang="en-US">
              <a:latin typeface="Times New Roman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73076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/>
                <a:ea typeface="SimSun"/>
                <a:cs typeface="Times New Roman"/>
              </a:rPr>
              <a:t>Click to edit Master title style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Times New Roman"/>
                <a:ea typeface="SimSun"/>
                <a:cs typeface="Times New Roman"/>
              </a:defRPr>
            </a:lvl1pPr>
          </a:lstStyle>
          <a:p>
            <a:pPr>
              <a:defRPr>
                <a:latin typeface="Times New Roman"/>
                <a:ea typeface="SimSun"/>
                <a:cs typeface="Times New Roman"/>
              </a:defRPr>
            </a:pPr>
            <a:endParaRPr lang="en-US">
              <a:latin typeface="Times New Roman"/>
              <a:ea typeface="SimSun"/>
              <a:cs typeface="Times New Roman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Times New Roman"/>
                <a:ea typeface="SimSun"/>
                <a:cs typeface="Times New Roman"/>
              </a:defRPr>
            </a:lvl1pPr>
          </a:lstStyle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E3BADF75-6C80-4FD4-8F49-963DFD143859}" type="slidenum">
              <a:rPr lang="en-US" altLang="zh-CN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‹#›</a:t>
            </a:fld>
            <a:endParaRPr lang="en-US" altLang="zh-CN">
              <a:latin typeface="Times New Roman"/>
              <a:ea typeface="SimSun"/>
              <a:cs typeface="Times New Roman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latin typeface="Times New Roman"/>
                <a:ea typeface="SimSun"/>
                <a:cs typeface="Times New Roman"/>
              </a:defRPr>
            </a:lvl1pPr>
          </a:lstStyle>
          <a:p>
            <a:pPr>
              <a:defRPr>
                <a:latin typeface="Times New Roman"/>
                <a:ea typeface="SimSun"/>
                <a:cs typeface="Times New Roman"/>
              </a:defRPr>
            </a:pPr>
            <a:endParaRPr lang="en-US">
              <a:latin typeface="Times New Roman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71402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Times New Roman"/>
                <a:ea typeface="SimSun"/>
                <a:cs typeface="Times New Roman"/>
              </a:defRPr>
            </a:lvl1pPr>
          </a:lstStyle>
          <a:p>
            <a:pPr>
              <a:defRPr>
                <a:latin typeface="Times New Roman"/>
                <a:ea typeface="SimSun"/>
                <a:cs typeface="Times New Roman"/>
              </a:defRPr>
            </a:pPr>
            <a:endParaRPr lang="en-US">
              <a:latin typeface="Times New Roman"/>
              <a:ea typeface="SimSun"/>
              <a:cs typeface="Times New Roman"/>
            </a:endParaRPr>
          </a:p>
        </p:txBody>
      </p:sp>
      <p:sp>
        <p:nvSpPr>
          <p:cNvPr id="3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Times New Roman"/>
                <a:ea typeface="SimSun"/>
                <a:cs typeface="Times New Roman"/>
              </a:defRPr>
            </a:lvl1pPr>
          </a:lstStyle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1EC92CF4-4B23-48B8-BC45-AC3B141B1498}" type="slidenum">
              <a:rPr lang="en-US" altLang="zh-CN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‹#›</a:t>
            </a:fld>
            <a:endParaRPr lang="en-US" altLang="zh-CN">
              <a:latin typeface="Times New Roman"/>
              <a:ea typeface="SimSun"/>
              <a:cs typeface="Times New Roman"/>
            </a:endParaRPr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latin typeface="Times New Roman"/>
                <a:ea typeface="SimSun"/>
                <a:cs typeface="Times New Roman"/>
              </a:defRPr>
            </a:lvl1pPr>
          </a:lstStyle>
          <a:p>
            <a:pPr>
              <a:defRPr>
                <a:latin typeface="Times New Roman"/>
                <a:ea typeface="SimSun"/>
                <a:cs typeface="Times New Roman"/>
              </a:defRPr>
            </a:pPr>
            <a:endParaRPr lang="en-US">
              <a:latin typeface="Times New Roman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09721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>
                <a:latin typeface="Times New Roman"/>
                <a:ea typeface="SimSun"/>
                <a:cs typeface="Times New Roman"/>
              </a:defRPr>
            </a:lvl1pPr>
          </a:lstStyle>
          <a:p>
            <a:r>
              <a:rPr lang="en-US">
                <a:latin typeface="Times New Roman"/>
                <a:ea typeface="SimSun"/>
                <a:cs typeface="Times New Roman"/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>
                <a:latin typeface="Times New Roman"/>
                <a:ea typeface="SimSun"/>
                <a:cs typeface="Times New Roman"/>
              </a:defRPr>
            </a:lvl1pPr>
            <a:lvl2pPr>
              <a:defRPr sz="2800">
                <a:latin typeface="Times New Roman"/>
                <a:ea typeface="SimSun"/>
                <a:cs typeface="Times New Roman"/>
              </a:defRPr>
            </a:lvl2pPr>
            <a:lvl3pPr>
              <a:defRPr sz="2400">
                <a:latin typeface="Times New Roman"/>
                <a:ea typeface="SimSun"/>
                <a:cs typeface="Times New Roman"/>
              </a:defRPr>
            </a:lvl3pPr>
            <a:lvl4pPr>
              <a:defRPr sz="2000">
                <a:latin typeface="Times New Roman"/>
                <a:ea typeface="SimSun"/>
                <a:cs typeface="Times New Roman"/>
              </a:defRPr>
            </a:lvl4pPr>
            <a:lvl5pPr>
              <a:defRPr sz="2000">
                <a:latin typeface="Times New Roman"/>
                <a:ea typeface="SimSun"/>
                <a:cs typeface="Times New Roman"/>
              </a:defRPr>
            </a:lvl5pPr>
            <a:lvl6pPr>
              <a:defRPr sz="2000">
                <a:latin typeface="Times New Roman"/>
                <a:ea typeface="SimSun"/>
                <a:cs typeface="Times New Roman"/>
              </a:defRPr>
            </a:lvl6pPr>
            <a:lvl7pPr>
              <a:defRPr sz="2000">
                <a:latin typeface="Times New Roman"/>
                <a:ea typeface="SimSun"/>
                <a:cs typeface="Times New Roman"/>
              </a:defRPr>
            </a:lvl7pPr>
            <a:lvl8pPr>
              <a:defRPr sz="2000">
                <a:latin typeface="Times New Roman"/>
                <a:ea typeface="SimSun"/>
                <a:cs typeface="Times New Roman"/>
              </a:defRPr>
            </a:lvl8pPr>
            <a:lvl9pPr>
              <a:defRPr sz="2000">
                <a:latin typeface="Times New Roman"/>
                <a:ea typeface="SimSun"/>
                <a:cs typeface="Times New Roman"/>
              </a:defRPr>
            </a:lvl9pPr>
          </a:lstStyle>
          <a:p>
            <a:pPr lvl="0"/>
            <a:r>
              <a:rPr lang="en-US">
                <a:latin typeface="Times New Roman"/>
                <a:ea typeface="SimSun"/>
                <a:cs typeface="Times New Roman"/>
              </a:rPr>
              <a:t>Click to edit Master text styles</a:t>
            </a:r>
          </a:p>
          <a:p>
            <a:pPr lvl="1"/>
            <a:r>
              <a:rPr lang="en-US">
                <a:latin typeface="Times New Roman"/>
                <a:ea typeface="SimSun"/>
                <a:cs typeface="Times New Roman"/>
              </a:rPr>
              <a:t>Second level</a:t>
            </a:r>
          </a:p>
          <a:p>
            <a:pPr lvl="2"/>
            <a:r>
              <a:rPr lang="en-US">
                <a:latin typeface="Times New Roman"/>
                <a:ea typeface="SimSun"/>
                <a:cs typeface="Times New Roman"/>
              </a:rPr>
              <a:t>Third level</a:t>
            </a:r>
          </a:p>
          <a:p>
            <a:pPr lvl="3"/>
            <a:r>
              <a:rPr lang="en-US">
                <a:latin typeface="Times New Roman"/>
                <a:ea typeface="SimSun"/>
                <a:cs typeface="Times New Roman"/>
              </a:rPr>
              <a:t>Fourth level</a:t>
            </a:r>
          </a:p>
          <a:p>
            <a:pPr lvl="4"/>
            <a:r>
              <a:rPr lang="en-US">
                <a:latin typeface="Times New Roman"/>
                <a:ea typeface="SimSun"/>
                <a:cs typeface="Times New Roman"/>
              </a:rP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>
                <a:latin typeface="Times New Roman"/>
                <a:ea typeface="SimSun"/>
                <a:cs typeface="Times New Roman"/>
              </a:defRPr>
            </a:lvl1pPr>
            <a:lvl2pPr marL="457200" indent="0">
              <a:buNone/>
              <a:defRPr sz="1200">
                <a:latin typeface="Times New Roman"/>
                <a:ea typeface="SimSun"/>
                <a:cs typeface="Times New Roman"/>
              </a:defRPr>
            </a:lvl2pPr>
            <a:lvl3pPr marL="914400" indent="0">
              <a:buNone/>
              <a:defRPr sz="1000">
                <a:latin typeface="Times New Roman"/>
                <a:ea typeface="SimSun"/>
                <a:cs typeface="Times New Roman"/>
              </a:defRPr>
            </a:lvl3pPr>
            <a:lvl4pPr marL="1371600" indent="0">
              <a:buNone/>
              <a:defRPr sz="900">
                <a:latin typeface="Times New Roman"/>
                <a:ea typeface="SimSun"/>
                <a:cs typeface="Times New Roman"/>
              </a:defRPr>
            </a:lvl4pPr>
            <a:lvl5pPr marL="1828800" indent="0">
              <a:buNone/>
              <a:defRPr sz="900">
                <a:latin typeface="Times New Roman"/>
                <a:ea typeface="SimSun"/>
                <a:cs typeface="Times New Roman"/>
              </a:defRPr>
            </a:lvl5pPr>
            <a:lvl6pPr marL="2286000" indent="0">
              <a:buNone/>
              <a:defRPr sz="900">
                <a:latin typeface="Times New Roman"/>
                <a:ea typeface="SimSun"/>
                <a:cs typeface="Times New Roman"/>
              </a:defRPr>
            </a:lvl6pPr>
            <a:lvl7pPr marL="2743200" indent="0">
              <a:buNone/>
              <a:defRPr sz="900">
                <a:latin typeface="Times New Roman"/>
                <a:ea typeface="SimSun"/>
                <a:cs typeface="Times New Roman"/>
              </a:defRPr>
            </a:lvl7pPr>
            <a:lvl8pPr marL="3200400" indent="0">
              <a:buNone/>
              <a:defRPr sz="900">
                <a:latin typeface="Times New Roman"/>
                <a:ea typeface="SimSun"/>
                <a:cs typeface="Times New Roman"/>
              </a:defRPr>
            </a:lvl8pPr>
            <a:lvl9pPr marL="3657600" indent="0">
              <a:buNone/>
              <a:defRPr sz="900">
                <a:latin typeface="Times New Roman"/>
                <a:ea typeface="SimSun"/>
                <a:cs typeface="Times New Roman"/>
              </a:defRPr>
            </a:lvl9pPr>
          </a:lstStyle>
          <a:p>
            <a:pPr lvl="0"/>
            <a:r>
              <a:rPr lang="en-US">
                <a:latin typeface="Times New Roman"/>
                <a:ea typeface="SimSun"/>
                <a:cs typeface="Times New Roman"/>
              </a:rPr>
              <a:t>Click to edit Master text styles</a:t>
            </a:r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Times New Roman"/>
                <a:ea typeface="SimSun"/>
                <a:cs typeface="Times New Roman"/>
              </a:defRPr>
            </a:lvl1pPr>
          </a:lstStyle>
          <a:p>
            <a:pPr>
              <a:defRPr>
                <a:latin typeface="Times New Roman"/>
                <a:ea typeface="SimSun"/>
                <a:cs typeface="Times New Roman"/>
              </a:defRPr>
            </a:pPr>
            <a:endParaRPr lang="en-US">
              <a:latin typeface="Times New Roman"/>
              <a:ea typeface="SimSun"/>
              <a:cs typeface="Times New Roman"/>
            </a:endParaRPr>
          </a:p>
        </p:txBody>
      </p:sp>
      <p:sp>
        <p:nvSpPr>
          <p:cNvPr id="6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Times New Roman"/>
                <a:ea typeface="SimSun"/>
                <a:cs typeface="Times New Roman"/>
              </a:defRPr>
            </a:lvl1pPr>
          </a:lstStyle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BD49AF38-BE50-4A44-A420-A5410B378050}" type="slidenum">
              <a:rPr lang="en-US" altLang="zh-CN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‹#›</a:t>
            </a:fld>
            <a:endParaRPr lang="en-US" altLang="zh-CN">
              <a:latin typeface="Times New Roman"/>
              <a:ea typeface="SimSun"/>
              <a:cs typeface="Times New Roman"/>
            </a:endParaRPr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latin typeface="Times New Roman"/>
                <a:ea typeface="SimSun"/>
                <a:cs typeface="Times New Roman"/>
              </a:defRPr>
            </a:lvl1pPr>
          </a:lstStyle>
          <a:p>
            <a:pPr>
              <a:defRPr>
                <a:latin typeface="Times New Roman"/>
                <a:ea typeface="SimSun"/>
                <a:cs typeface="Times New Roman"/>
              </a:defRPr>
            </a:pPr>
            <a:endParaRPr lang="en-US">
              <a:latin typeface="Times New Roman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34341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13984" y="0"/>
            <a:ext cx="10261600" cy="838200"/>
          </a:xfrm>
        </p:spPr>
        <p:txBody>
          <a:bodyPr/>
          <a:lstStyle/>
          <a:p>
            <a:r>
              <a:rPr lang="en-US">
                <a:latin typeface="Times New Roman"/>
                <a:ea typeface="SimSun"/>
                <a:cs typeface="Times New Roman"/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266826"/>
            <a:ext cx="5513917" cy="4829175"/>
          </a:xfrm>
        </p:spPr>
        <p:txBody>
          <a:bodyPr/>
          <a:lstStyle/>
          <a:p>
            <a:pPr lvl="0"/>
            <a:r>
              <a:rPr lang="en-US">
                <a:latin typeface="Times New Roman"/>
                <a:ea typeface="SimSun"/>
                <a:cs typeface="Times New Roman"/>
              </a:rPr>
              <a:t>Click to edit Master text styles</a:t>
            </a:r>
          </a:p>
          <a:p>
            <a:pPr lvl="1"/>
            <a:r>
              <a:rPr lang="en-US">
                <a:latin typeface="Times New Roman"/>
                <a:ea typeface="SimSun"/>
                <a:cs typeface="Times New Roman"/>
              </a:rPr>
              <a:t>Second level</a:t>
            </a:r>
          </a:p>
          <a:p>
            <a:pPr lvl="2"/>
            <a:r>
              <a:rPr lang="en-US">
                <a:latin typeface="Times New Roman"/>
                <a:ea typeface="SimSun"/>
                <a:cs typeface="Times New Roman"/>
              </a:rPr>
              <a:t>Third level</a:t>
            </a:r>
          </a:p>
          <a:p>
            <a:pPr lvl="3"/>
            <a:r>
              <a:rPr lang="en-US">
                <a:latin typeface="Times New Roman"/>
                <a:ea typeface="SimSun"/>
                <a:cs typeface="Times New Roman"/>
              </a:rPr>
              <a:t>Fourth level</a:t>
            </a:r>
          </a:p>
          <a:p>
            <a:pPr lvl="4"/>
            <a:r>
              <a:rPr lang="en-US">
                <a:latin typeface="Times New Roman"/>
                <a:ea typeface="SimSun"/>
                <a:cs typeface="Times New Roman"/>
              </a:rP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402918" y="1266825"/>
            <a:ext cx="5513916" cy="2338388"/>
          </a:xfrm>
        </p:spPr>
        <p:txBody>
          <a:bodyPr/>
          <a:lstStyle/>
          <a:p>
            <a:pPr lvl="0"/>
            <a:r>
              <a:rPr lang="en-US">
                <a:latin typeface="Times New Roman"/>
                <a:ea typeface="SimSun"/>
                <a:cs typeface="Times New Roman"/>
              </a:rPr>
              <a:t>Click to edit Master text styles</a:t>
            </a:r>
          </a:p>
          <a:p>
            <a:pPr lvl="1"/>
            <a:r>
              <a:rPr lang="en-US">
                <a:latin typeface="Times New Roman"/>
                <a:ea typeface="SimSun"/>
                <a:cs typeface="Times New Roman"/>
              </a:rPr>
              <a:t>Second level</a:t>
            </a:r>
          </a:p>
          <a:p>
            <a:pPr lvl="2"/>
            <a:r>
              <a:rPr lang="en-US">
                <a:latin typeface="Times New Roman"/>
                <a:ea typeface="SimSun"/>
                <a:cs typeface="Times New Roman"/>
              </a:rPr>
              <a:t>Third level</a:t>
            </a:r>
          </a:p>
          <a:p>
            <a:pPr lvl="3"/>
            <a:r>
              <a:rPr lang="en-US">
                <a:latin typeface="Times New Roman"/>
                <a:ea typeface="SimSun"/>
                <a:cs typeface="Times New Roman"/>
              </a:rPr>
              <a:t>Fourth level</a:t>
            </a:r>
          </a:p>
          <a:p>
            <a:pPr lvl="4"/>
            <a:r>
              <a:rPr lang="en-US">
                <a:latin typeface="Times New Roman"/>
                <a:ea typeface="SimSun"/>
                <a:cs typeface="Times New Roman"/>
              </a:rPr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402918" y="3757614"/>
            <a:ext cx="5513916" cy="2338387"/>
          </a:xfrm>
        </p:spPr>
        <p:txBody>
          <a:bodyPr/>
          <a:lstStyle/>
          <a:p>
            <a:pPr lvl="0"/>
            <a:r>
              <a:rPr lang="en-US">
                <a:latin typeface="Times New Roman"/>
                <a:ea typeface="SimSun"/>
                <a:cs typeface="Times New Roman"/>
              </a:rPr>
              <a:t>Click to edit Master text styles</a:t>
            </a:r>
          </a:p>
          <a:p>
            <a:pPr lvl="1"/>
            <a:r>
              <a:rPr lang="en-US">
                <a:latin typeface="Times New Roman"/>
                <a:ea typeface="SimSun"/>
                <a:cs typeface="Times New Roman"/>
              </a:rPr>
              <a:t>Second level</a:t>
            </a:r>
          </a:p>
          <a:p>
            <a:pPr lvl="2"/>
            <a:r>
              <a:rPr lang="en-US">
                <a:latin typeface="Times New Roman"/>
                <a:ea typeface="SimSun"/>
                <a:cs typeface="Times New Roman"/>
              </a:rPr>
              <a:t>Third level</a:t>
            </a:r>
          </a:p>
          <a:p>
            <a:pPr lvl="3"/>
            <a:r>
              <a:rPr lang="en-US">
                <a:latin typeface="Times New Roman"/>
                <a:ea typeface="SimSun"/>
                <a:cs typeface="Times New Roman"/>
              </a:rPr>
              <a:t>Fourth level</a:t>
            </a:r>
          </a:p>
          <a:p>
            <a:pPr lvl="4"/>
            <a:r>
              <a:rPr lang="en-US">
                <a:latin typeface="Times New Roman"/>
                <a:ea typeface="SimSun"/>
                <a:cs typeface="Times New Roman"/>
              </a:rPr>
              <a:t>Fifth level</a:t>
            </a:r>
          </a:p>
        </p:txBody>
      </p:sp>
      <p:sp>
        <p:nvSpPr>
          <p:cNvPr id="6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Times New Roman"/>
                <a:ea typeface="SimSun"/>
                <a:cs typeface="Times New Roman"/>
              </a:defRPr>
            </a:lvl1pPr>
          </a:lstStyle>
          <a:p>
            <a:pPr>
              <a:defRPr>
                <a:latin typeface="Times New Roman"/>
                <a:ea typeface="SimSun"/>
                <a:cs typeface="Times New Roman"/>
              </a:defRPr>
            </a:pPr>
            <a:endParaRPr lang="en-US">
              <a:latin typeface="Times New Roman"/>
              <a:ea typeface="SimSun"/>
              <a:cs typeface="Times New Roman"/>
            </a:endParaRPr>
          </a:p>
        </p:txBody>
      </p:sp>
      <p:sp>
        <p:nvSpPr>
          <p:cNvPr id="7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Times New Roman"/>
                <a:ea typeface="SimSun"/>
                <a:cs typeface="Times New Roman"/>
              </a:defRPr>
            </a:lvl1pPr>
          </a:lstStyle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263A3B1E-E2F6-4459-B9A7-7A059C28BC97}" type="slidenum">
              <a:rPr lang="en-US" altLang="zh-CN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‹#›</a:t>
            </a:fld>
            <a:endParaRPr lang="en-US" altLang="zh-CN">
              <a:latin typeface="Times New Roman"/>
              <a:ea typeface="SimSun"/>
              <a:cs typeface="Times New Roman"/>
            </a:endParaRPr>
          </a:p>
        </p:txBody>
      </p:sp>
      <p:sp>
        <p:nvSpPr>
          <p:cNvPr id="8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latin typeface="Times New Roman"/>
                <a:ea typeface="SimSun"/>
                <a:cs typeface="Times New Roman"/>
              </a:defRPr>
            </a:lvl1pPr>
          </a:lstStyle>
          <a:p>
            <a:pPr>
              <a:defRPr>
                <a:latin typeface="Times New Roman"/>
                <a:ea typeface="SimSun"/>
                <a:cs typeface="Times New Roman"/>
              </a:defRPr>
            </a:pPr>
            <a:endParaRPr lang="en-US">
              <a:latin typeface="Times New Roman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65704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85800" y="0"/>
            <a:ext cx="11389784" cy="6096000"/>
          </a:xfrm>
        </p:spPr>
        <p:txBody>
          <a:bodyPr/>
          <a:lstStyle/>
          <a:p>
            <a:pPr lvl="0"/>
            <a:r>
              <a:rPr lang="en-US">
                <a:latin typeface="Times New Roman"/>
                <a:ea typeface="SimSun"/>
                <a:cs typeface="Times New Roman"/>
              </a:rPr>
              <a:t>Click to edit Master text styles</a:t>
            </a:r>
          </a:p>
          <a:p>
            <a:pPr lvl="1"/>
            <a:r>
              <a:rPr lang="en-US">
                <a:latin typeface="Times New Roman"/>
                <a:ea typeface="SimSun"/>
                <a:cs typeface="Times New Roman"/>
              </a:rPr>
              <a:t>Second level</a:t>
            </a:r>
          </a:p>
          <a:p>
            <a:pPr lvl="2"/>
            <a:r>
              <a:rPr lang="en-US">
                <a:latin typeface="Times New Roman"/>
                <a:ea typeface="SimSun"/>
                <a:cs typeface="Times New Roman"/>
              </a:rPr>
              <a:t>Third level</a:t>
            </a:r>
          </a:p>
          <a:p>
            <a:pPr lvl="3"/>
            <a:r>
              <a:rPr lang="en-US">
                <a:latin typeface="Times New Roman"/>
                <a:ea typeface="SimSun"/>
                <a:cs typeface="Times New Roman"/>
              </a:rPr>
              <a:t>Fourth level</a:t>
            </a:r>
          </a:p>
          <a:p>
            <a:pPr lvl="4"/>
            <a:r>
              <a:rPr lang="en-US">
                <a:latin typeface="Times New Roman"/>
                <a:ea typeface="SimSun"/>
                <a:cs typeface="Times New Roman"/>
              </a:rPr>
              <a:t>Fifth level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Times New Roman"/>
                <a:ea typeface="SimSun"/>
                <a:cs typeface="Times New Roman"/>
              </a:defRPr>
            </a:lvl1pPr>
          </a:lstStyle>
          <a:p>
            <a:pPr>
              <a:defRPr>
                <a:latin typeface="Times New Roman"/>
                <a:ea typeface="SimSun"/>
                <a:cs typeface="Times New Roman"/>
              </a:defRPr>
            </a:pPr>
            <a:endParaRPr lang="en-US">
              <a:latin typeface="Times New Roman"/>
              <a:ea typeface="SimSun"/>
              <a:cs typeface="Times New Roman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Times New Roman"/>
                <a:ea typeface="SimSun"/>
                <a:cs typeface="Times New Roman"/>
              </a:defRPr>
            </a:lvl1pPr>
          </a:lstStyle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627A70D2-390B-4F3A-A683-629554200820}" type="slidenum">
              <a:rPr lang="en-US" altLang="zh-CN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‹#›</a:t>
            </a:fld>
            <a:endParaRPr lang="en-US" altLang="zh-CN">
              <a:latin typeface="Times New Roman"/>
              <a:ea typeface="SimSun"/>
              <a:cs typeface="Times New Roman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latin typeface="Times New Roman"/>
                <a:ea typeface="SimSun"/>
                <a:cs typeface="Times New Roman"/>
              </a:defRPr>
            </a:lvl1pPr>
          </a:lstStyle>
          <a:p>
            <a:pPr>
              <a:defRPr>
                <a:latin typeface="Times New Roman"/>
                <a:ea typeface="SimSun"/>
                <a:cs typeface="Times New Roman"/>
              </a:defRPr>
            </a:pPr>
            <a:endParaRPr lang="en-US">
              <a:latin typeface="Times New Roman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42627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813984" y="0"/>
            <a:ext cx="102616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>
                <a:latin typeface="Times New Roman"/>
                <a:ea typeface="SimSun"/>
                <a:cs typeface="Times New Roman"/>
              </a:rPr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1" y="1266826"/>
            <a:ext cx="11231033" cy="482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>
                <a:latin typeface="Times New Roman"/>
                <a:ea typeface="SimSun"/>
                <a:cs typeface="Times New Roman"/>
              </a:rPr>
              <a:t>Click to edit Master text styles</a:t>
            </a:r>
          </a:p>
          <a:p>
            <a:pPr lvl="1"/>
            <a:r>
              <a:rPr lang="en-US" altLang="zh-CN">
                <a:latin typeface="Times New Roman"/>
                <a:ea typeface="SimSun"/>
                <a:cs typeface="Times New Roman"/>
              </a:rPr>
              <a:t>Second level</a:t>
            </a:r>
          </a:p>
          <a:p>
            <a:pPr lvl="2"/>
            <a:r>
              <a:rPr lang="en-US" altLang="zh-CN">
                <a:latin typeface="Times New Roman"/>
                <a:ea typeface="SimSun"/>
                <a:cs typeface="Times New Roman"/>
              </a:rPr>
              <a:t>Third level</a:t>
            </a:r>
          </a:p>
          <a:p>
            <a:pPr lvl="3"/>
            <a:r>
              <a:rPr lang="en-US" altLang="zh-CN">
                <a:latin typeface="Times New Roman"/>
                <a:ea typeface="SimSun"/>
                <a:cs typeface="Times New Roman"/>
              </a:rPr>
              <a:t>Fourth level</a:t>
            </a:r>
          </a:p>
          <a:p>
            <a:pPr lvl="4"/>
            <a:r>
              <a:rPr lang="en-US" altLang="zh-CN">
                <a:latin typeface="Times New Roman"/>
                <a:ea typeface="SimSun"/>
                <a:cs typeface="Times New Roman"/>
              </a:rPr>
              <a:t>Fifth level</a:t>
            </a:r>
          </a:p>
        </p:txBody>
      </p:sp>
      <p:pic>
        <p:nvPicPr>
          <p:cNvPr id="2052" name="Picture 5" descr="polylogo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5875"/>
            <a:ext cx="895349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/>
          <p:cNvSpPr/>
          <p:nvPr userDrawn="1"/>
        </p:nvSpPr>
        <p:spPr bwMode="auto">
          <a:xfrm>
            <a:off x="0" y="914400"/>
            <a:ext cx="203200" cy="5943600"/>
          </a:xfrm>
          <a:prstGeom prst="rect">
            <a:avLst/>
          </a:prstGeom>
          <a:gradFill>
            <a:gsLst>
              <a:gs pos="42000">
                <a:srgbClr val="A50021"/>
              </a:gs>
              <a:gs pos="0">
                <a:schemeClr val="accent1">
                  <a:lumMod val="5000"/>
                  <a:lumOff val="95000"/>
                </a:schemeClr>
              </a:gs>
              <a:gs pos="61000">
                <a:srgbClr val="A50021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>
              <a:spcBef>
                <a:spcPct val="0"/>
              </a:spcBef>
              <a:defRPr sz="3200">
                <a:solidFill>
                  <a:schemeClr val="bg2"/>
                </a:solidFill>
                <a:latin typeface="Times New Roman" panose="020B0604020202020204" pitchFamily="34" charset="0"/>
                <a:ea typeface="SimSun" panose="020B0600070205080204" pitchFamily="34" charset="-128"/>
                <a:cs typeface="Times New Roman"/>
              </a:defRPr>
            </a:lvl1pPr>
            <a:lvl2pPr marL="742950" indent="-285750">
              <a:spcBef>
                <a:spcPct val="0"/>
              </a:spcBef>
              <a:defRPr sz="3200">
                <a:solidFill>
                  <a:schemeClr val="bg2"/>
                </a:solidFill>
                <a:latin typeface="Times New Roman" panose="020B0604020202020204" pitchFamily="34" charset="0"/>
                <a:ea typeface="SimSun" panose="020B0600070205080204" pitchFamily="34" charset="-128"/>
                <a:cs typeface="Times New Roman"/>
              </a:defRPr>
            </a:lvl2pPr>
            <a:lvl3pPr marL="1143000" indent="-228600">
              <a:spcBef>
                <a:spcPct val="0"/>
              </a:spcBef>
              <a:defRPr sz="3200">
                <a:solidFill>
                  <a:schemeClr val="bg2"/>
                </a:solidFill>
                <a:latin typeface="Times New Roman" panose="020B0604020202020204" pitchFamily="34" charset="0"/>
                <a:ea typeface="SimSun" panose="020B0600070205080204" pitchFamily="34" charset="-128"/>
                <a:cs typeface="Times New Roman"/>
              </a:defRPr>
            </a:lvl3pPr>
            <a:lvl4pPr marL="1600200" indent="-228600">
              <a:spcBef>
                <a:spcPct val="0"/>
              </a:spcBef>
              <a:defRPr sz="3200">
                <a:solidFill>
                  <a:schemeClr val="bg2"/>
                </a:solidFill>
                <a:latin typeface="Times New Roman" panose="020B0604020202020204" pitchFamily="34" charset="0"/>
                <a:ea typeface="SimSun" panose="020B0600070205080204" pitchFamily="34" charset="-128"/>
                <a:cs typeface="Times New Roman"/>
              </a:defRPr>
            </a:lvl4pPr>
            <a:lvl5pPr marL="2057400" indent="-228600">
              <a:spcBef>
                <a:spcPct val="0"/>
              </a:spcBef>
              <a:defRPr sz="3200">
                <a:solidFill>
                  <a:schemeClr val="bg2"/>
                </a:solidFill>
                <a:latin typeface="Times New Roman" panose="020B0604020202020204" pitchFamily="34" charset="0"/>
                <a:ea typeface="SimSun" panose="020B0600070205080204" pitchFamily="34" charset="-128"/>
                <a:cs typeface="Times New Roman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2"/>
                </a:solidFill>
                <a:latin typeface="Times New Roman" panose="020B0604020202020204" pitchFamily="34" charset="0"/>
                <a:ea typeface="SimSun" panose="020B0600070205080204" pitchFamily="34" charset="-128"/>
                <a:cs typeface="Times New Roman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2"/>
                </a:solidFill>
                <a:latin typeface="Times New Roman" panose="020B0604020202020204" pitchFamily="34" charset="0"/>
                <a:ea typeface="SimSun" panose="020B0600070205080204" pitchFamily="34" charset="-128"/>
                <a:cs typeface="Times New Roman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2"/>
                </a:solidFill>
                <a:latin typeface="Times New Roman" panose="020B0604020202020204" pitchFamily="34" charset="0"/>
                <a:ea typeface="SimSun" panose="020B0600070205080204" pitchFamily="34" charset="-128"/>
                <a:cs typeface="Times New Roman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2"/>
                </a:solidFill>
                <a:latin typeface="Times New Roman" panose="020B0604020202020204" pitchFamily="34" charset="0"/>
                <a:ea typeface="SimSun" panose="020B0600070205080204" pitchFamily="34" charset="-128"/>
                <a:cs typeface="Times New Roman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defRPr>
                <a:latin typeface="Times New Roman"/>
                <a:ea typeface="SimSun"/>
                <a:cs typeface="Times New Roman"/>
              </a:defRPr>
            </a:pPr>
            <a:endParaRPr lang="zh-CN" altLang="en-US" sz="3200">
              <a:latin typeface="Times New Roman"/>
              <a:ea typeface="SimSun"/>
              <a:cs typeface="Times New Roman" panose="020B0604020202020204" pitchFamily="34" charset="-122"/>
            </a:endParaRPr>
          </a:p>
        </p:txBody>
      </p:sp>
      <p:sp>
        <p:nvSpPr>
          <p:cNvPr id="2" name="Rectangle 1"/>
          <p:cNvSpPr/>
          <p:nvPr userDrawn="1"/>
        </p:nvSpPr>
        <p:spPr bwMode="auto">
          <a:xfrm rot="5400000">
            <a:off x="6072982" y="-5204618"/>
            <a:ext cx="46037" cy="12192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A50021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>
              <a:spcBef>
                <a:spcPct val="0"/>
              </a:spcBef>
              <a:defRPr sz="3200">
                <a:solidFill>
                  <a:schemeClr val="bg2"/>
                </a:solidFill>
                <a:latin typeface="Times New Roman" panose="020B0604020202020204" pitchFamily="34" charset="0"/>
                <a:ea typeface="SimSun" panose="020B0600070205080204" pitchFamily="34" charset="-128"/>
                <a:cs typeface="Times New Roman"/>
              </a:defRPr>
            </a:lvl1pPr>
            <a:lvl2pPr marL="742950" indent="-285750">
              <a:spcBef>
                <a:spcPct val="0"/>
              </a:spcBef>
              <a:defRPr sz="3200">
                <a:solidFill>
                  <a:schemeClr val="bg2"/>
                </a:solidFill>
                <a:latin typeface="Times New Roman" panose="020B0604020202020204" pitchFamily="34" charset="0"/>
                <a:ea typeface="SimSun" panose="020B0600070205080204" pitchFamily="34" charset="-128"/>
                <a:cs typeface="Times New Roman"/>
              </a:defRPr>
            </a:lvl2pPr>
            <a:lvl3pPr marL="1143000" indent="-228600">
              <a:spcBef>
                <a:spcPct val="0"/>
              </a:spcBef>
              <a:defRPr sz="3200">
                <a:solidFill>
                  <a:schemeClr val="bg2"/>
                </a:solidFill>
                <a:latin typeface="Times New Roman" panose="020B0604020202020204" pitchFamily="34" charset="0"/>
                <a:ea typeface="SimSun" panose="020B0600070205080204" pitchFamily="34" charset="-128"/>
                <a:cs typeface="Times New Roman"/>
              </a:defRPr>
            </a:lvl3pPr>
            <a:lvl4pPr marL="1600200" indent="-228600">
              <a:spcBef>
                <a:spcPct val="0"/>
              </a:spcBef>
              <a:defRPr sz="3200">
                <a:solidFill>
                  <a:schemeClr val="bg2"/>
                </a:solidFill>
                <a:latin typeface="Times New Roman" panose="020B0604020202020204" pitchFamily="34" charset="0"/>
                <a:ea typeface="SimSun" panose="020B0600070205080204" pitchFamily="34" charset="-128"/>
                <a:cs typeface="Times New Roman"/>
              </a:defRPr>
            </a:lvl4pPr>
            <a:lvl5pPr marL="2057400" indent="-228600">
              <a:spcBef>
                <a:spcPct val="0"/>
              </a:spcBef>
              <a:defRPr sz="3200">
                <a:solidFill>
                  <a:schemeClr val="bg2"/>
                </a:solidFill>
                <a:latin typeface="Times New Roman" panose="020B0604020202020204" pitchFamily="34" charset="0"/>
                <a:ea typeface="SimSun" panose="020B0600070205080204" pitchFamily="34" charset="-128"/>
                <a:cs typeface="Times New Roman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2"/>
                </a:solidFill>
                <a:latin typeface="Times New Roman" panose="020B0604020202020204" pitchFamily="34" charset="0"/>
                <a:ea typeface="SimSun" panose="020B0600070205080204" pitchFamily="34" charset="-128"/>
                <a:cs typeface="Times New Roman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2"/>
                </a:solidFill>
                <a:latin typeface="Times New Roman" panose="020B0604020202020204" pitchFamily="34" charset="0"/>
                <a:ea typeface="SimSun" panose="020B0600070205080204" pitchFamily="34" charset="-128"/>
                <a:cs typeface="Times New Roman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2"/>
                </a:solidFill>
                <a:latin typeface="Times New Roman" panose="020B0604020202020204" pitchFamily="34" charset="0"/>
                <a:ea typeface="SimSun" panose="020B0600070205080204" pitchFamily="34" charset="-128"/>
                <a:cs typeface="Times New Roman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2"/>
                </a:solidFill>
                <a:latin typeface="Times New Roman" panose="020B0604020202020204" pitchFamily="34" charset="0"/>
                <a:ea typeface="SimSun" panose="020B0600070205080204" pitchFamily="34" charset="-128"/>
                <a:cs typeface="Times New Roman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defRPr>
                <a:latin typeface="Times New Roman"/>
                <a:ea typeface="SimSun"/>
                <a:cs typeface="Times New Roman"/>
              </a:defRPr>
            </a:pPr>
            <a:endParaRPr lang="zh-CN" altLang="en-US" sz="3200">
              <a:latin typeface="Times New Roman"/>
              <a:ea typeface="SimSun"/>
              <a:cs typeface="Times New Roman" panose="020B0604020202020204" pitchFamily="34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/>
                <a:ea typeface="SimSun" panose="020B0604020202020204" pitchFamily="34" charset="-122"/>
                <a:cs typeface="Times New Roman" panose="020B0604020202020204" pitchFamily="34" charset="-122"/>
              </a:defRPr>
            </a:lvl1pPr>
          </a:lstStyle>
          <a:p>
            <a:pPr>
              <a:defRPr>
                <a:latin typeface="Times New Roman"/>
                <a:ea typeface="SimSun"/>
                <a:cs typeface="Times New Roman"/>
              </a:defRPr>
            </a:pPr>
            <a:endParaRPr lang="en-US">
              <a:latin typeface="Times New Roman"/>
              <a:ea typeface="SimSun"/>
              <a:cs typeface="Times New Roman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rgbClr val="898989"/>
                </a:solidFill>
                <a:latin typeface="Times New Roman"/>
                <a:ea typeface="SimSun"/>
                <a:cs typeface="Times New Roman"/>
              </a:defRPr>
            </a:lvl1pPr>
          </a:lstStyle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478E3191-473E-4F99-9695-3EEFEE2024C3}" type="slidenum">
              <a:rPr lang="en-US" altLang="zh-CN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‹#›</a:t>
            </a:fld>
            <a:endParaRPr lang="en-US" altLang="zh-CN">
              <a:latin typeface="Times New Roman"/>
              <a:ea typeface="SimSun"/>
              <a:cs typeface="Times New Roman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/>
                <a:ea typeface="SimSun" panose="020B0604020202020204" pitchFamily="34" charset="-122"/>
                <a:cs typeface="Times New Roman" panose="020B0604020202020204" pitchFamily="34" charset="-122"/>
              </a:defRPr>
            </a:lvl1pPr>
          </a:lstStyle>
          <a:p>
            <a:pPr>
              <a:defRPr>
                <a:latin typeface="Times New Roman"/>
                <a:ea typeface="SimSun"/>
                <a:cs typeface="Times New Roman"/>
              </a:defRPr>
            </a:pPr>
            <a:endParaRPr lang="en-US">
              <a:latin typeface="Times New Roman"/>
              <a:ea typeface="SimSu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057" r:id="rId1"/>
    <p:sldLayoutId id="2147486058" r:id="rId2"/>
    <p:sldLayoutId id="2147486037" r:id="rId3"/>
    <p:sldLayoutId id="2147486038" r:id="rId4"/>
    <p:sldLayoutId id="2147486039" r:id="rId5"/>
    <p:sldLayoutId id="2147486040" r:id="rId6"/>
    <p:sldLayoutId id="2147486041" r:id="rId7"/>
    <p:sldLayoutId id="2147486042" r:id="rId8"/>
    <p:sldLayoutId id="2147486043" r:id="rId9"/>
    <p:sldLayoutId id="2147486044" r:id="rId10"/>
  </p:sldLayoutIdLst>
  <p:hf hdr="0" ftr="0" dt="0"/>
  <p:txStyles>
    <p:titleStyle>
      <a:lvl1pPr algn="l" rtl="0" eaLnBrk="0" fontAlgn="base" hangingPunct="0">
        <a:lnSpc>
          <a:spcPts val="28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/>
          <a:ea typeface="SimSun" panose="020B0600070205080204" pitchFamily="34" charset="-128"/>
          <a:cs typeface="Times New Roman" pitchFamily="-111" charset="-128"/>
        </a:defRPr>
      </a:lvl1pPr>
      <a:lvl2pPr algn="l" rtl="0" eaLnBrk="0" fontAlgn="base" hangingPunct="0">
        <a:lnSpc>
          <a:spcPts val="28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charset="0"/>
          <a:ea typeface="SimSun" panose="020B0600070205080204" pitchFamily="34" charset="-128"/>
          <a:cs typeface="Times New Roman" pitchFamily="-111" charset="-128"/>
        </a:defRPr>
      </a:lvl2pPr>
      <a:lvl3pPr algn="l" rtl="0" eaLnBrk="0" fontAlgn="base" hangingPunct="0">
        <a:lnSpc>
          <a:spcPts val="28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charset="0"/>
          <a:ea typeface="SimSun" panose="020B0600070205080204" pitchFamily="34" charset="-128"/>
          <a:cs typeface="Times New Roman" pitchFamily="-111" charset="-128"/>
        </a:defRPr>
      </a:lvl3pPr>
      <a:lvl4pPr algn="l" rtl="0" eaLnBrk="0" fontAlgn="base" hangingPunct="0">
        <a:lnSpc>
          <a:spcPts val="28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charset="0"/>
          <a:ea typeface="SimSun" panose="020B0600070205080204" pitchFamily="34" charset="-128"/>
          <a:cs typeface="Times New Roman" pitchFamily="-111" charset="-128"/>
        </a:defRPr>
      </a:lvl4pPr>
      <a:lvl5pPr algn="l" rtl="0" eaLnBrk="0" fontAlgn="base" hangingPunct="0">
        <a:lnSpc>
          <a:spcPts val="28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charset="0"/>
          <a:ea typeface="SimSun" panose="020B0600070205080204" pitchFamily="34" charset="-128"/>
          <a:cs typeface="Times New Roman" pitchFamily="-111" charset="-128"/>
        </a:defRPr>
      </a:lvl5pPr>
      <a:lvl6pPr marL="457200" algn="l" rtl="0" fontAlgn="base">
        <a:lnSpc>
          <a:spcPts val="2800"/>
        </a:lnSpc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Times New Roman" charset="0"/>
          <a:ea typeface="SimSun"/>
          <a:cs typeface="Times New Roman"/>
        </a:defRPr>
      </a:lvl6pPr>
      <a:lvl7pPr marL="914400" algn="l" rtl="0" fontAlgn="base">
        <a:lnSpc>
          <a:spcPts val="2800"/>
        </a:lnSpc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Times New Roman" charset="0"/>
          <a:ea typeface="SimSun"/>
          <a:cs typeface="Times New Roman"/>
        </a:defRPr>
      </a:lvl7pPr>
      <a:lvl8pPr marL="1371600" algn="l" rtl="0" fontAlgn="base">
        <a:lnSpc>
          <a:spcPts val="2800"/>
        </a:lnSpc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Times New Roman" charset="0"/>
          <a:ea typeface="SimSun"/>
          <a:cs typeface="Times New Roman"/>
        </a:defRPr>
      </a:lvl8pPr>
      <a:lvl9pPr marL="1828800" algn="l" rtl="0" fontAlgn="base">
        <a:lnSpc>
          <a:spcPts val="2800"/>
        </a:lnSpc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Times New Roman" charset="0"/>
          <a:ea typeface="SimSun"/>
          <a:cs typeface="Times New Roman"/>
        </a:defRPr>
      </a:lvl9pPr>
    </p:titleStyle>
    <p:bodyStyle>
      <a:lvl1pPr marL="234950" indent="-2349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bg2"/>
          </a:solidFill>
          <a:latin typeface="Times New Roman"/>
          <a:ea typeface="SimSun" panose="020B0600070205080204" pitchFamily="34" charset="-128"/>
          <a:cs typeface="Times New Roman" pitchFamily="-111" charset="-128"/>
        </a:defRPr>
      </a:lvl1pPr>
      <a:lvl2pPr marL="576263" indent="-227013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§"/>
        <a:defRPr>
          <a:solidFill>
            <a:schemeClr val="bg2"/>
          </a:solidFill>
          <a:latin typeface="Times New Roman"/>
          <a:ea typeface="SimSun" panose="020B0600070205080204" pitchFamily="34" charset="-128"/>
          <a:cs typeface="Times New Roman"/>
        </a:defRPr>
      </a:lvl2pPr>
      <a:lvl3pPr marL="866775" indent="-176213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bg2"/>
          </a:solidFill>
          <a:latin typeface="Times New Roman"/>
          <a:ea typeface="SimSun" panose="020B0600070205080204" pitchFamily="34" charset="-128"/>
          <a:cs typeface="Times New Roman"/>
        </a:defRPr>
      </a:lvl3pPr>
      <a:lvl4pPr marL="1196975" indent="-163513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§"/>
        <a:defRPr>
          <a:solidFill>
            <a:schemeClr val="bg2"/>
          </a:solidFill>
          <a:latin typeface="Times New Roman"/>
          <a:ea typeface="SimSun" panose="020B0600070205080204" pitchFamily="34" charset="-128"/>
          <a:cs typeface="Times New Roman"/>
        </a:defRPr>
      </a:lvl4pPr>
      <a:lvl5pPr marL="1604963" indent="-176213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bg2"/>
          </a:solidFill>
          <a:latin typeface="Times New Roman"/>
          <a:ea typeface="SimSun" panose="020B0600070205080204" pitchFamily="34" charset="-128"/>
          <a:cs typeface="Times New Roman"/>
        </a:defRPr>
      </a:lvl5pPr>
      <a:lvl6pPr marL="2062163" indent="-176213" algn="l" rtl="0" fontAlgn="base">
        <a:spcBef>
          <a:spcPct val="20000"/>
        </a:spcBef>
        <a:spcAft>
          <a:spcPct val="0"/>
        </a:spcAft>
        <a:buChar char="•"/>
        <a:defRPr>
          <a:solidFill>
            <a:schemeClr val="bg2"/>
          </a:solidFill>
          <a:latin typeface="Times New Roman"/>
          <a:ea typeface="SimSun" charset="-128"/>
          <a:cs typeface="Times New Roman"/>
        </a:defRPr>
      </a:lvl6pPr>
      <a:lvl7pPr marL="2519363" indent="-176213" algn="l" rtl="0" fontAlgn="base">
        <a:spcBef>
          <a:spcPct val="20000"/>
        </a:spcBef>
        <a:spcAft>
          <a:spcPct val="0"/>
        </a:spcAft>
        <a:buChar char="•"/>
        <a:defRPr>
          <a:solidFill>
            <a:schemeClr val="bg2"/>
          </a:solidFill>
          <a:latin typeface="Times New Roman"/>
          <a:ea typeface="SimSun" charset="-128"/>
          <a:cs typeface="Times New Roman"/>
        </a:defRPr>
      </a:lvl7pPr>
      <a:lvl8pPr marL="2976563" indent="-176213" algn="l" rtl="0" fontAlgn="base">
        <a:spcBef>
          <a:spcPct val="20000"/>
        </a:spcBef>
        <a:spcAft>
          <a:spcPct val="0"/>
        </a:spcAft>
        <a:buChar char="•"/>
        <a:defRPr>
          <a:solidFill>
            <a:schemeClr val="bg2"/>
          </a:solidFill>
          <a:latin typeface="Times New Roman"/>
          <a:ea typeface="SimSun" charset="-128"/>
          <a:cs typeface="Times New Roman"/>
        </a:defRPr>
      </a:lvl8pPr>
      <a:lvl9pPr marL="3433763" indent="-176213" algn="l" rtl="0" fontAlgn="base">
        <a:spcBef>
          <a:spcPct val="20000"/>
        </a:spcBef>
        <a:spcAft>
          <a:spcPct val="0"/>
        </a:spcAft>
        <a:buChar char="•"/>
        <a:defRPr>
          <a:solidFill>
            <a:schemeClr val="bg2"/>
          </a:solidFill>
          <a:latin typeface="Times New Roman"/>
          <a:ea typeface="SimSun" charset="-128"/>
          <a:cs typeface="Times New Roman"/>
        </a:defRPr>
      </a:lvl9pPr>
    </p:bodyStyle>
    <p:otherStyle>
      <a:defPPr>
        <a:defRPr lang="en-US">
          <a:latin typeface="Times New Roman"/>
          <a:ea typeface="SimSun"/>
          <a:cs typeface="Times New Roman"/>
        </a:defRPr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Times New Roman"/>
          <a:ea typeface="SimSun"/>
          <a:cs typeface="Times New Roman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Times New Roman"/>
          <a:ea typeface="SimSun"/>
          <a:cs typeface="Times New Roman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Times New Roman"/>
          <a:ea typeface="SimSun"/>
          <a:cs typeface="Times New Roman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Times New Roman"/>
          <a:ea typeface="SimSun"/>
          <a:cs typeface="Times New Roman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Times New Roman"/>
          <a:ea typeface="SimSun"/>
          <a:cs typeface="Times New Roman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Times New Roman"/>
          <a:ea typeface="SimSun"/>
          <a:cs typeface="Times New Roman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Times New Roman"/>
          <a:ea typeface="SimSun"/>
          <a:cs typeface="Times New Roman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Times New Roman"/>
          <a:ea typeface="SimSun"/>
          <a:cs typeface="Times New Roman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Times New Roman"/>
          <a:ea typeface="SimSun"/>
          <a:cs typeface="Times New Roman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.vsdx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jp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10" Type="http://schemas.openxmlformats.org/officeDocument/2006/relationships/image" Target="../media/image31.png"/><Relationship Id="rId4" Type="http://schemas.openxmlformats.org/officeDocument/2006/relationships/image" Target="../media/image27.emf"/><Relationship Id="rId9" Type="http://schemas.openxmlformats.org/officeDocument/2006/relationships/image" Target="../media/image30.png"/><Relationship Id="rId1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jpg"/><Relationship Id="rId4" Type="http://schemas.openxmlformats.org/officeDocument/2006/relationships/image" Target="../media/image36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7" Type="http://schemas.openxmlformats.org/officeDocument/2006/relationships/image" Target="../media/image42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jpg"/><Relationship Id="rId5" Type="http://schemas.openxmlformats.org/officeDocument/2006/relationships/image" Target="../media/image40.jpg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11" Type="http://schemas.openxmlformats.org/officeDocument/2006/relationships/image" Target="../media/image41.png"/><Relationship Id="rId5" Type="http://schemas.openxmlformats.org/officeDocument/2006/relationships/image" Target="../media/image46.png"/><Relationship Id="rId10" Type="http://schemas.openxmlformats.org/officeDocument/2006/relationships/image" Target="../media/image40.png"/><Relationship Id="rId4" Type="http://schemas.openxmlformats.org/officeDocument/2006/relationships/image" Target="../media/image45.png"/><Relationship Id="rId9" Type="http://schemas.openxmlformats.org/officeDocument/2006/relationships/image" Target="../media/image39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7" Type="http://schemas.openxmlformats.org/officeDocument/2006/relationships/image" Target="../media/image44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43.jpg"/><Relationship Id="rId4" Type="http://schemas.openxmlformats.org/officeDocument/2006/relationships/image" Target="../media/image54.png"/><Relationship Id="rId9" Type="http://schemas.openxmlformats.org/officeDocument/2006/relationships/image" Target="../media/image45.e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emf"/><Relationship Id="rId3" Type="http://schemas.openxmlformats.org/officeDocument/2006/relationships/image" Target="../media/image50.png"/><Relationship Id="rId7" Type="http://schemas.openxmlformats.org/officeDocument/2006/relationships/oleObject" Target="../embeddings/oleObject5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10" Type="http://schemas.openxmlformats.org/officeDocument/2006/relationships/image" Target="../media/image53.emf"/><Relationship Id="rId4" Type="http://schemas.openxmlformats.org/officeDocument/2006/relationships/image" Target="../media/image51.png"/><Relationship Id="rId9" Type="http://schemas.openxmlformats.org/officeDocument/2006/relationships/oleObject" Target="../embeddings/oleObject6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jpeg"/><Relationship Id="rId5" Type="http://schemas.openxmlformats.org/officeDocument/2006/relationships/image" Target="../media/image57.jpeg"/><Relationship Id="rId4" Type="http://schemas.openxmlformats.org/officeDocument/2006/relationships/image" Target="../media/image5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74.png"/><Relationship Id="rId4" Type="http://schemas.openxmlformats.org/officeDocument/2006/relationships/image" Target="../media/image6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86.png"/><Relationship Id="rId3" Type="http://schemas.openxmlformats.org/officeDocument/2006/relationships/image" Target="../media/image66.png"/><Relationship Id="rId7" Type="http://schemas.openxmlformats.org/officeDocument/2006/relationships/image" Target="../media/image80.png"/><Relationship Id="rId12" Type="http://schemas.openxmlformats.org/officeDocument/2006/relationships/image" Target="../media/image85.png"/><Relationship Id="rId2" Type="http://schemas.openxmlformats.org/officeDocument/2006/relationships/notesSlide" Target="../notesSlides/notesSlide27.xml"/><Relationship Id="rId16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11" Type="http://schemas.openxmlformats.org/officeDocument/2006/relationships/image" Target="../media/image84.png"/><Relationship Id="rId5" Type="http://schemas.openxmlformats.org/officeDocument/2006/relationships/image" Target="../media/image78.png"/><Relationship Id="rId15" Type="http://schemas.openxmlformats.org/officeDocument/2006/relationships/image" Target="../media/image67.png"/><Relationship Id="rId10" Type="http://schemas.openxmlformats.org/officeDocument/2006/relationships/image" Target="../media/image83.png"/><Relationship Id="rId4" Type="http://schemas.openxmlformats.org/officeDocument/2006/relationships/image" Target="../media/image77.png"/><Relationship Id="rId9" Type="http://schemas.openxmlformats.org/officeDocument/2006/relationships/image" Target="../media/image82.png"/><Relationship Id="rId14" Type="http://schemas.openxmlformats.org/officeDocument/2006/relationships/image" Target="../media/image8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7" Type="http://schemas.openxmlformats.org/officeDocument/2006/relationships/image" Target="../media/image7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3.emf"/><Relationship Id="rId4" Type="http://schemas.openxmlformats.org/officeDocument/2006/relationships/oleObject" Target="../embeddings/oleObject8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6.emf"/><Relationship Id="rId4" Type="http://schemas.openxmlformats.org/officeDocument/2006/relationships/oleObject" Target="../embeddings/oleObject9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ciencedirect.com/science/article/pii/S0029549314001496#bib0005" TargetMode="External"/><Relationship Id="rId3" Type="http://schemas.openxmlformats.org/officeDocument/2006/relationships/oleObject" Target="../embeddings/oleObject10.bin"/><Relationship Id="rId7" Type="http://schemas.openxmlformats.org/officeDocument/2006/relationships/image" Target="../media/image99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0.png"/><Relationship Id="rId10" Type="http://schemas.openxmlformats.org/officeDocument/2006/relationships/image" Target="../media/image1010.png"/><Relationship Id="rId4" Type="http://schemas.openxmlformats.org/officeDocument/2006/relationships/image" Target="../media/image77.emf"/><Relationship Id="rId9" Type="http://schemas.openxmlformats.org/officeDocument/2006/relationships/image" Target="../media/image1000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oleObject" Target="../embeddings/oleObject11.bin"/><Relationship Id="rId7" Type="http://schemas.openxmlformats.org/officeDocument/2006/relationships/image" Target="../media/image9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5" Type="http://schemas.openxmlformats.org/officeDocument/2006/relationships/image" Target="../media/image88.png"/><Relationship Id="rId4" Type="http://schemas.openxmlformats.org/officeDocument/2006/relationships/image" Target="../media/image78.emf"/><Relationship Id="rId9" Type="http://schemas.openxmlformats.org/officeDocument/2006/relationships/image" Target="../media/image93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oleObject" Target="../embeddings/oleObject12.bin"/><Relationship Id="rId7" Type="http://schemas.openxmlformats.org/officeDocument/2006/relationships/image" Target="../media/image9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5" Type="http://schemas.openxmlformats.org/officeDocument/2006/relationships/image" Target="../media/image91.png"/><Relationship Id="rId4" Type="http://schemas.openxmlformats.org/officeDocument/2006/relationships/image" Target="../media/image94.e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3" Type="http://schemas.openxmlformats.org/officeDocument/2006/relationships/image" Target="../media/image98.png"/><Relationship Id="rId7" Type="http://schemas.openxmlformats.org/officeDocument/2006/relationships/image" Target="../media/image10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4" Type="http://schemas.openxmlformats.org/officeDocument/2006/relationships/image" Target="../media/image99.png"/><Relationship Id="rId9" Type="http://schemas.openxmlformats.org/officeDocument/2006/relationships/image" Target="../media/image104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image" Target="../media/image59.jpg"/><Relationship Id="rId7" Type="http://schemas.openxmlformats.org/officeDocument/2006/relationships/image" Target="../media/image106.em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4.bin"/><Relationship Id="rId11" Type="http://schemas.openxmlformats.org/officeDocument/2006/relationships/image" Target="../media/image108.emf"/><Relationship Id="rId5" Type="http://schemas.openxmlformats.org/officeDocument/2006/relationships/image" Target="../media/image105.emf"/><Relationship Id="rId10" Type="http://schemas.openxmlformats.org/officeDocument/2006/relationships/oleObject" Target="../embeddings/oleObject16.bin"/><Relationship Id="rId4" Type="http://schemas.openxmlformats.org/officeDocument/2006/relationships/oleObject" Target="../embeddings/oleObject13.bin"/><Relationship Id="rId9" Type="http://schemas.openxmlformats.org/officeDocument/2006/relationships/image" Target="../media/image107.emf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7" Type="http://schemas.openxmlformats.org/officeDocument/2006/relationships/image" Target="../media/image13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3.png"/><Relationship Id="rId5" Type="http://schemas.openxmlformats.org/officeDocument/2006/relationships/image" Target="../media/image112.png"/><Relationship Id="rId4" Type="http://schemas.openxmlformats.org/officeDocument/2006/relationships/image" Target="../media/image13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7" Type="http://schemas.openxmlformats.org/officeDocument/2006/relationships/image" Target="../media/image121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8.png"/><Relationship Id="rId5" Type="http://schemas.openxmlformats.org/officeDocument/2006/relationships/image" Target="../media/image115.png"/><Relationship Id="rId4" Type="http://schemas.openxmlformats.org/officeDocument/2006/relationships/image" Target="../media/image11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30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png"/><Relationship Id="rId3" Type="http://schemas.openxmlformats.org/officeDocument/2006/relationships/image" Target="../media/image117.png"/><Relationship Id="rId7" Type="http://schemas.openxmlformats.org/officeDocument/2006/relationships/image" Target="../media/image12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3.png"/><Relationship Id="rId5" Type="http://schemas.openxmlformats.org/officeDocument/2006/relationships/image" Target="../media/image119.png"/><Relationship Id="rId4" Type="http://schemas.openxmlformats.org/officeDocument/2006/relationships/image" Target="../media/image11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7" Type="http://schemas.openxmlformats.org/officeDocument/2006/relationships/image" Target="../media/image13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5.png"/><Relationship Id="rId5" Type="http://schemas.openxmlformats.org/officeDocument/2006/relationships/image" Target="../media/image123.png"/><Relationship Id="rId4" Type="http://schemas.openxmlformats.org/officeDocument/2006/relationships/image" Target="../media/image12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7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3" Type="http://schemas.openxmlformats.org/officeDocument/2006/relationships/image" Target="../media/image132.png"/><Relationship Id="rId7" Type="http://schemas.openxmlformats.org/officeDocument/2006/relationships/image" Target="../media/image133.emf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153.png"/><Relationship Id="rId9" Type="http://schemas.openxmlformats.org/officeDocument/2006/relationships/image" Target="../media/image134.e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e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139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png"/><Relationship Id="rId3" Type="http://schemas.openxmlformats.org/officeDocument/2006/relationships/image" Target="../media/image141.png"/><Relationship Id="rId7" Type="http://schemas.openxmlformats.org/officeDocument/2006/relationships/image" Target="../media/image146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5.png"/><Relationship Id="rId11" Type="http://schemas.openxmlformats.org/officeDocument/2006/relationships/image" Target="../media/image149.png"/><Relationship Id="rId5" Type="http://schemas.openxmlformats.org/officeDocument/2006/relationships/image" Target="../media/image144.png"/><Relationship Id="rId10" Type="http://schemas.openxmlformats.org/officeDocument/2006/relationships/image" Target="../media/image148.png"/><Relationship Id="rId4" Type="http://schemas.openxmlformats.org/officeDocument/2006/relationships/image" Target="../media/image142.jpeg"/><Relationship Id="rId9" Type="http://schemas.openxmlformats.org/officeDocument/2006/relationships/image" Target="../media/image103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png"/><Relationship Id="rId3" Type="http://schemas.openxmlformats.org/officeDocument/2006/relationships/image" Target="../media/image150.png"/><Relationship Id="rId7" Type="http://schemas.openxmlformats.org/officeDocument/2006/relationships/image" Target="../media/image155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4.png"/><Relationship Id="rId5" Type="http://schemas.openxmlformats.org/officeDocument/2006/relationships/image" Target="../media/image152.png"/><Relationship Id="rId10" Type="http://schemas.openxmlformats.org/officeDocument/2006/relationships/image" Target="../media/image159.png"/><Relationship Id="rId4" Type="http://schemas.openxmlformats.org/officeDocument/2006/relationships/image" Target="../media/image151.png"/><Relationship Id="rId9" Type="http://schemas.openxmlformats.org/officeDocument/2006/relationships/image" Target="../media/image158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0.emf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6.jpg"/><Relationship Id="rId3" Type="http://schemas.openxmlformats.org/officeDocument/2006/relationships/image" Target="../media/image161.png"/><Relationship Id="rId7" Type="http://schemas.openxmlformats.org/officeDocument/2006/relationships/image" Target="../media/image165.jp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4.png"/><Relationship Id="rId5" Type="http://schemas.openxmlformats.org/officeDocument/2006/relationships/image" Target="../media/image163.png"/><Relationship Id="rId4" Type="http://schemas.openxmlformats.org/officeDocument/2006/relationships/image" Target="../media/image162.png"/><Relationship Id="rId9" Type="http://schemas.openxmlformats.org/officeDocument/2006/relationships/image" Target="../media/image19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8.e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167.emf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0.emf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png"/><Relationship Id="rId3" Type="http://schemas.openxmlformats.org/officeDocument/2006/relationships/oleObject" Target="../embeddings/oleObject23.bin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1.png"/><Relationship Id="rId5" Type="http://schemas.openxmlformats.org/officeDocument/2006/relationships/image" Target="../media/image170.png"/><Relationship Id="rId4" Type="http://schemas.openxmlformats.org/officeDocument/2006/relationships/image" Target="../media/image16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352800" y="4038600"/>
            <a:ext cx="5334000" cy="1981200"/>
          </a:xfrm>
        </p:spPr>
        <p:txBody>
          <a:bodyPr/>
          <a:lstStyle/>
          <a:p>
            <a:pPr algn="l">
              <a:lnSpc>
                <a:spcPct val="90000"/>
              </a:lnSpc>
            </a:pPr>
            <a:r>
              <a:rPr lang="en-US" altLang="zh-CN" sz="20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报告人：MA Xiaochen</a:t>
            </a:r>
          </a:p>
          <a:p>
            <a:pPr eaLnBrk="1" hangingPunct="1" algn="l">
              <a:lnSpc>
                <a:spcPct val="80000"/>
              </a:lnSpc>
            </a:pPr>
          </a:p>
          <a:p>
            <a:pPr eaLnBrk="1" hangingPunct="1" algn="l">
              <a:lnSpc>
                <a:spcPct val="8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2024</a:t>
            </a:r>
            <a:r>
              <a:rPr lang="en-US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年</a:t>
            </a:r>
            <a:r>
              <a:rPr lang="en-US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en-US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月</a:t>
            </a:r>
            <a:r>
              <a:rPr lang="en-US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22</a:t>
            </a:r>
            <a:r>
              <a:rPr lang="en-US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日</a:t>
            </a:r>
          </a:p>
        </p:txBody>
      </p:sp>
      <p:sp>
        <p:nvSpPr>
          <p:cNvPr id="19459" name="Rectangle 5"/>
          <p:cNvSpPr>
            <a:spLocks noChangeArrowheads="1"/>
          </p:cNvSpPr>
          <p:nvPr/>
        </p:nvSpPr>
        <p:spPr bwMode="auto">
          <a:xfrm>
            <a:off x="2057400" y="4343400"/>
            <a:ext cx="31242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000">
                <a:solidFill>
                  <a:schemeClr val="bg2"/>
                </a:solidFill>
                <a:latin typeface="Times New Roman" panose="020B0604020202020204" pitchFamily="34" charset="0"/>
                <a:ea typeface="SimSun" panose="020B0600070205080204" pitchFamily="34" charset="-128"/>
                <a:cs typeface="Times New Roman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  <a:latin typeface="Times New Roman" panose="020B0604020202020204" pitchFamily="34" charset="0"/>
                <a:ea typeface="SimSun" panose="020B0600070205080204" pitchFamily="34" charset="-128"/>
                <a:cs typeface="Times New Roman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bg2"/>
                </a:solidFill>
                <a:latin typeface="Times New Roman" panose="020B0604020202020204" pitchFamily="34" charset="0"/>
                <a:ea typeface="SimSun" panose="020B0600070205080204" pitchFamily="34" charset="-128"/>
                <a:cs typeface="Times New Roman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  <a:latin typeface="Times New Roman" panose="020B0604020202020204" pitchFamily="34" charset="0"/>
                <a:ea typeface="SimSun" panose="020B0600070205080204" pitchFamily="34" charset="-128"/>
                <a:cs typeface="Times New Roman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bg2"/>
                </a:solidFill>
                <a:latin typeface="Times New Roman" panose="020B0604020202020204" pitchFamily="34" charset="0"/>
                <a:ea typeface="SimSun" panose="020B0600070205080204" pitchFamily="34" charset="-128"/>
                <a:cs typeface="Times New Roman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 panose="020B0604020202020204" pitchFamily="34" charset="0"/>
                <a:ea typeface="SimSun" panose="020B0600070205080204" pitchFamily="34" charset="-128"/>
                <a:cs typeface="Times New Roman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 panose="020B0604020202020204" pitchFamily="34" charset="0"/>
                <a:ea typeface="SimSun" panose="020B0600070205080204" pitchFamily="34" charset="-128"/>
                <a:cs typeface="Times New Roman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 panose="020B0604020202020204" pitchFamily="34" charset="0"/>
                <a:ea typeface="SimSun" panose="020B0600070205080204" pitchFamily="34" charset="-128"/>
                <a:cs typeface="Times New Roman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 panose="020B0604020202020204" pitchFamily="34" charset="0"/>
                <a:ea typeface="SimSun" panose="020B0600070205080204" pitchFamily="34" charset="-128"/>
                <a:cs typeface="Times New Roman"/>
              </a:defRPr>
            </a:lvl9pPr>
          </a:lstStyle>
          <a:p>
            <a:pPr algn="ctr" eaLnBrk="1" hangingPunct="1">
              <a:buFontTx/>
              <a:buNone/>
            </a:pPr>
            <a:endParaRPr lang="zh-CN" altLang="zh-CN" sz="1600">
              <a:solidFill>
                <a:srgbClr val="000000"/>
              </a:solidFill>
              <a:latin typeface="Times New Roman"/>
              <a:ea typeface="SimSun" panose="020B0604020202020204" pitchFamily="34" charset="-128"/>
              <a:cs typeface="Times New Roman"/>
            </a:endParaRPr>
          </a:p>
        </p:txBody>
      </p:sp>
      <p:sp>
        <p:nvSpPr>
          <p:cNvPr id="19460" name="Rectangle 6"/>
          <p:cNvSpPr>
            <a:spLocks noGrp="1" noChangeArrowheads="1"/>
          </p:cNvSpPr>
          <p:nvPr>
            <p:ph type="ctrTitle" sz="quarter"/>
          </p:nvPr>
        </p:nvSpPr>
        <p:spPr>
          <a:xfrm>
            <a:off x="429623" y="2043100"/>
            <a:ext cx="11332753" cy="1469803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en-US" altLang="zh-CN" sz="3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新型喷淋策略开发及其对间接蒸发冷却系统能效的提升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7B468AD-3765-4211-97AE-355D9398DFA4}"/>
              </a:ext>
            </a:extLst>
          </p:cNvPr>
          <p:cNvSpPr/>
          <p:nvPr/>
        </p:nvSpPr>
        <p:spPr bwMode="auto">
          <a:xfrm>
            <a:off x="5943600" y="1"/>
            <a:ext cx="4724400" cy="1112593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endParaRPr lang="zh-CN" altLang="en-US" sz="3200">
              <a:solidFill>
                <a:schemeClr val="bg2"/>
              </a:solidFill>
              <a:latin typeface="Times New Roman" charset="0"/>
              <a:ea typeface="SimSun"/>
              <a:cs typeface="Times New Roman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19CDA59-C27E-4F69-8FD6-A3C0FE27BC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4165" y="87822"/>
            <a:ext cx="5327835" cy="878576"/>
          </a:xfrm>
          <a:prstGeom prst="rect">
            <a:avLst/>
          </a:prstGeom>
        </p:spPr>
      </p:pic>
    </p:spTree>
  </p:cSld>
  <p:clrMapOvr>
    <a:masterClrMapping/>
  </p:clrMapOvr>
  <p:transition spd="slow" advTm="2290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B57B5CD-351B-409C-8419-7945124A5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15884886-3D85-4AFD-9D94-33E4AF7428DD}" type="slidenum">
              <a:rPr lang="en-US" altLang="zh-CN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2</a:t>
            </a:fld>
            <a:endParaRPr lang="en-US" altLang="zh-CN">
              <a:latin typeface="Times New Roman"/>
              <a:ea typeface="SimSun"/>
              <a:cs typeface="Times New Roman"/>
            </a:endParaRPr>
          </a:p>
        </p:txBody>
      </p:sp>
      <p:sp>
        <p:nvSpPr>
          <p:cNvPr id="8" name="矩形 3">
            <a:extLst>
              <a:ext uri="{FF2B5EF4-FFF2-40B4-BE49-F238E27FC236}">
                <a16:creationId xmlns:a16="http://schemas.microsoft.com/office/drawing/2014/main" id="{D9741B7C-1F8F-4EC9-933F-469EF3EF71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76201"/>
            <a:ext cx="2687638" cy="580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9pPr>
          </a:lstStyle>
          <a:p>
            <a:pPr algn="l">
              <a:lnSpc>
                <a:spcPct val="125000"/>
              </a:lnSpc>
              <a:spcBef>
                <a:spcPct val="20000"/>
              </a:spcBef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汇报提纲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A9CC545-9F15-455E-BB97-2733665CD8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3372" y="1058230"/>
            <a:ext cx="10777490" cy="5418675"/>
          </a:xfrm>
        </p:spPr>
        <p:txBody>
          <a:bodyPr/>
          <a:lstStyle/>
          <a:p>
            <a:pPr marL="457200" indent="-457200" algn="l">
              <a:lnSpc>
                <a:spcPts val="3500"/>
              </a:lnSpc>
              <a:spcBef>
                <a:spcPts val="600"/>
              </a:spcBef>
              <a:spcAft>
                <a:spcPts val="800"/>
              </a:spcAft>
              <a:buAutoNum type="arabicPeriod"/>
            </a:pPr>
            <a:r>
              <a:rPr lang="en-HK" sz="2400" b="1" dirty="0">
                <a:solidFill>
                  <a:schemeClr val="tx1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研究背景与文献综述</a:t>
            </a:r>
          </a:p>
          <a:p>
            <a:pPr marL="457200" indent="-457200" algn="l">
              <a:lnSpc>
                <a:spcPts val="3500"/>
              </a:lnSpc>
              <a:spcBef>
                <a:spcPts val="600"/>
              </a:spcBef>
              <a:spcAft>
                <a:spcPts val="800"/>
              </a:spcAft>
              <a:buAutoNum type="arabicPeriod"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研究不足与研究目标</a:t>
            </a:r>
          </a:p>
          <a:p>
            <a:pPr marL="457200" indent="-457200" algn="l">
              <a:lnSpc>
                <a:spcPts val="3500"/>
              </a:lnSpc>
              <a:spcBef>
                <a:spcPts val="600"/>
              </a:spcBef>
              <a:spcAft>
                <a:spcPts val="800"/>
              </a:spcAft>
              <a:buAutoNum type="arabicPeriod"/>
            </a:pPr>
            <a:r>
              <a:rPr lang="en-HK" sz="2400" b="1" dirty="0">
                <a:solidFill>
                  <a:schemeClr val="tx1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IEC 喷淋分布的 FDM 建模与优化</a:t>
            </a:r>
          </a:p>
          <a:p>
            <a:pPr marL="457200" indent="-457200" algn="l">
              <a:lnSpc>
                <a:spcPts val="3500"/>
              </a:lnSpc>
              <a:spcBef>
                <a:spcPts val="600"/>
              </a:spcBef>
              <a:spcAft>
                <a:spcPts val="800"/>
              </a:spcAft>
              <a:buAutoNum type="arabicPeriod"/>
            </a:pPr>
            <a:r>
              <a:rPr lang="en-HK" sz="2400" b="1" dirty="0">
                <a:solidFill>
                  <a:schemeClr val="tx1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考虑水膜形成的 IEC 三维 CFD 分析</a:t>
            </a:r>
          </a:p>
          <a:p>
            <a:pPr marL="457200" indent="-457200" algn="l">
              <a:lnSpc>
                <a:spcPts val="3500"/>
              </a:lnSpc>
              <a:spcBef>
                <a:spcPts val="600"/>
              </a:spcBef>
              <a:spcAft>
                <a:spcPts val="800"/>
              </a:spcAft>
              <a:buAutoNum type="arabicPeriod"/>
            </a:pPr>
            <a:r>
              <a:rPr lang="en-HK" sz="2400" b="1" dirty="0">
                <a:solidFill>
                  <a:schemeClr val="tx1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基于 ANN 与遗传算法的喷淋策略优化</a:t>
            </a:r>
          </a:p>
          <a:p>
            <a:pPr marL="457200" indent="-457200" algn="l">
              <a:lnSpc>
                <a:spcPts val="3500"/>
              </a:lnSpc>
              <a:spcBef>
                <a:spcPts val="600"/>
              </a:spcBef>
              <a:spcAft>
                <a:spcPts val="800"/>
              </a:spcAft>
              <a:buAutoNum type="arabicPeriod"/>
            </a:pPr>
            <a:r>
              <a:rPr lang="en-HK" sz="2400" b="1" dirty="0">
                <a:solidFill>
                  <a:schemeClr val="tx1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数据中心 IEC 的喷嘴优化与性能强化</a:t>
            </a:r>
          </a:p>
          <a:p>
            <a:pPr marL="457200" indent="-457200" algn="l">
              <a:lnSpc>
                <a:spcPts val="3500"/>
              </a:lnSpc>
              <a:spcBef>
                <a:spcPts val="600"/>
              </a:spcBef>
              <a:spcAft>
                <a:spcPts val="800"/>
              </a:spcAft>
              <a:buAutoNum type="arabicPeriod"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研究结论与未来展望</a:t>
            </a:r>
          </a:p>
        </p:txBody>
      </p:sp>
    </p:spTree>
    <p:extLst>
      <p:ext uri="{BB962C8B-B14F-4D97-AF65-F5344CB8AC3E}">
        <p14:creationId xmlns:p14="http://schemas.microsoft.com/office/powerpoint/2010/main" val="3746978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33"/>
    </mc:Choice>
    <mc:Fallback xmlns="">
      <p:transition spd="slow" advTm="593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B57B5CD-351B-409C-8419-7945124A5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15884886-3D85-4AFD-9D94-33E4AF7428DD}" type="slidenum">
              <a:rPr lang="en-US" altLang="zh-CN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3</a:t>
            </a:fld>
            <a:endParaRPr lang="en-US" altLang="zh-CN">
              <a:latin typeface="Times New Roman"/>
              <a:ea typeface="SimSun"/>
              <a:cs typeface="Times New Roman"/>
            </a:endParaRPr>
          </a:p>
        </p:txBody>
      </p:sp>
      <p:sp>
        <p:nvSpPr>
          <p:cNvPr id="8" name="矩形 3">
            <a:extLst>
              <a:ext uri="{FF2B5EF4-FFF2-40B4-BE49-F238E27FC236}">
                <a16:creationId xmlns:a16="http://schemas.microsoft.com/office/drawing/2014/main" id="{D9741B7C-1F8F-4EC9-933F-469EF3EF71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76201"/>
            <a:ext cx="2687638" cy="580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9pPr>
          </a:lstStyle>
          <a:p>
            <a:pPr algn="l">
              <a:lnSpc>
                <a:spcPct val="125000"/>
              </a:lnSpc>
              <a:spcBef>
                <a:spcPct val="20000"/>
              </a:spcBef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汇报提纲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A9CC545-9F15-455E-BB97-2733665CD8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3372" y="1058230"/>
            <a:ext cx="10777490" cy="5418675"/>
          </a:xfrm>
        </p:spPr>
        <p:txBody>
          <a:bodyPr/>
          <a:lstStyle/>
          <a:p>
            <a:pPr marL="457200" indent="-457200" algn="l">
              <a:lnSpc>
                <a:spcPts val="3500"/>
              </a:lnSpc>
              <a:spcBef>
                <a:spcPts val="600"/>
              </a:spcBef>
              <a:spcAft>
                <a:spcPts val="800"/>
              </a:spcAft>
              <a:buAutoNum type="arabicPeriod"/>
            </a:pPr>
            <a:r>
              <a:rPr lang="en-HK" sz="2400" b="1" dirty="0">
                <a:solidFill>
                  <a:srgbClr val="C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研究背景与文献综述</a:t>
            </a:r>
          </a:p>
          <a:p>
            <a:pPr marL="457200" indent="-457200" algn="l">
              <a:lnSpc>
                <a:spcPts val="3500"/>
              </a:lnSpc>
              <a:spcBef>
                <a:spcPts val="600"/>
              </a:spcBef>
              <a:spcAft>
                <a:spcPts val="800"/>
              </a:spcAft>
              <a:buAutoNum type="arabicPeriod"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研究不足与研究目标</a:t>
            </a:r>
          </a:p>
          <a:p>
            <a:pPr marL="457200" indent="-457200" algn="l">
              <a:lnSpc>
                <a:spcPts val="3500"/>
              </a:lnSpc>
              <a:spcBef>
                <a:spcPts val="600"/>
              </a:spcBef>
              <a:spcAft>
                <a:spcPts val="800"/>
              </a:spcAft>
              <a:buAutoNum type="arabicPeriod"/>
            </a:pPr>
            <a:r>
              <a:rPr lang="en-HK" sz="2400" b="1" dirty="0">
                <a:solidFill>
                  <a:schemeClr val="tx1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IEC 喷淋分布的 FDM 建模与优化</a:t>
            </a:r>
          </a:p>
          <a:p>
            <a:pPr marL="457200" indent="-457200" algn="l">
              <a:lnSpc>
                <a:spcPts val="3500"/>
              </a:lnSpc>
              <a:spcBef>
                <a:spcPts val="600"/>
              </a:spcBef>
              <a:spcAft>
                <a:spcPts val="800"/>
              </a:spcAft>
              <a:buAutoNum type="arabicPeriod"/>
            </a:pPr>
            <a:r>
              <a:rPr lang="en-HK" sz="2400" b="1" dirty="0">
                <a:solidFill>
                  <a:schemeClr val="tx1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考虑水膜形成的 IEC 三维 CFD 分析</a:t>
            </a:r>
          </a:p>
          <a:p>
            <a:pPr marL="457200" indent="-457200" algn="l">
              <a:lnSpc>
                <a:spcPts val="3500"/>
              </a:lnSpc>
              <a:spcBef>
                <a:spcPts val="600"/>
              </a:spcBef>
              <a:spcAft>
                <a:spcPts val="800"/>
              </a:spcAft>
              <a:buAutoNum type="arabicPeriod"/>
            </a:pPr>
            <a:r>
              <a:rPr lang="en-HK" sz="2400" b="1" dirty="0">
                <a:solidFill>
                  <a:schemeClr val="tx1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基于 ANN 与遗传算法的喷淋策略优化</a:t>
            </a:r>
          </a:p>
          <a:p>
            <a:pPr marL="457200" indent="-457200" algn="l">
              <a:lnSpc>
                <a:spcPts val="3500"/>
              </a:lnSpc>
              <a:spcBef>
                <a:spcPts val="600"/>
              </a:spcBef>
              <a:spcAft>
                <a:spcPts val="800"/>
              </a:spcAft>
              <a:buAutoNum type="arabicPeriod"/>
            </a:pPr>
            <a:r>
              <a:rPr lang="en-HK" sz="2400" b="1" dirty="0">
                <a:solidFill>
                  <a:schemeClr val="tx1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数据中心 IEC 的喷嘴优化与性能强化</a:t>
            </a:r>
          </a:p>
          <a:p>
            <a:pPr marL="457200" indent="-457200" algn="l">
              <a:lnSpc>
                <a:spcPts val="3500"/>
              </a:lnSpc>
              <a:spcBef>
                <a:spcPts val="600"/>
              </a:spcBef>
              <a:spcAft>
                <a:spcPts val="800"/>
              </a:spcAft>
              <a:buAutoNum type="arabicPeriod"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研究结论与未来展望</a:t>
            </a:r>
          </a:p>
        </p:txBody>
      </p:sp>
    </p:spTree>
    <p:extLst>
      <p:ext uri="{BB962C8B-B14F-4D97-AF65-F5344CB8AC3E}">
        <p14:creationId xmlns:p14="http://schemas.microsoft.com/office/powerpoint/2010/main" val="2593397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33"/>
    </mc:Choice>
    <mc:Fallback xmlns="">
      <p:transition spd="slow" advTm="5933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A062160-D6C2-4E46-9E7A-5FDC78CED1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2770" y="2617405"/>
            <a:ext cx="2585179" cy="2786400"/>
          </a:xfrm>
          <a:prstGeom prst="rect">
            <a:avLst/>
          </a:prstGeom>
        </p:spPr>
      </p:pic>
      <p:sp>
        <p:nvSpPr>
          <p:cNvPr id="35" name="Title 8">
            <a:extLst>
              <a:ext uri="{FF2B5EF4-FFF2-40B4-BE49-F238E27FC236}">
                <a16:creationId xmlns:a16="http://schemas.microsoft.com/office/drawing/2014/main" id="{8B8F9D25-5CF0-4920-BA0C-E821D0317FC4}"/>
              </a:ext>
            </a:extLst>
          </p:cNvPr>
          <p:cNvSpPr txBox="1">
            <a:spLocks/>
          </p:cNvSpPr>
          <p:nvPr/>
        </p:nvSpPr>
        <p:spPr bwMode="auto">
          <a:xfrm>
            <a:off x="882545" y="259531"/>
            <a:ext cx="8382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defRPr>
                <a:solidFill>
                  <a:schemeClr val="tx1"/>
                </a:solidFill>
                <a:latin typeface="Times New Roman" charset="0"/>
                <a:ea typeface="SimSun" charset="0"/>
                <a:cs typeface="Times New Roman" charset="0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Times New Roman" charset="0"/>
                <a:ea typeface="SimSun" charset="0"/>
                <a:cs typeface="Times New Roman" charset="0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Times New Roman" charset="0"/>
                <a:ea typeface="SimSun" charset="0"/>
                <a:cs typeface="Times New Roman" charset="0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Times New Roman" charset="0"/>
                <a:ea typeface="SimSun" charset="0"/>
                <a:cs typeface="Times New Roman" charset="0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Times New Roman" charset="0"/>
                <a:ea typeface="SimSun" charset="0"/>
                <a:cs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charset="0"/>
                <a:ea typeface="SimSun" charset="0"/>
                <a:cs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charset="0"/>
                <a:ea typeface="SimSun" charset="0"/>
                <a:cs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charset="0"/>
                <a:ea typeface="SimSun" charset="0"/>
                <a:cs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charset="0"/>
                <a:ea typeface="SimSun" charset="0"/>
                <a:cs typeface="Times New Roman" charset="0"/>
              </a:defRPr>
            </a:lvl9pPr>
          </a:lstStyle>
          <a:p>
            <a:pPr eaLnBrk="1" fontAlgn="auto" hangingPunct="1" algn="l">
              <a:spcBef>
                <a:spcPts val="0"/>
              </a:spcBef>
              <a:spcAft>
                <a:spcPts val="0"/>
              </a:spcAft>
            </a:pPr>
            <a:r>
              <a:rPr lang="en-US" b="1" dirty="0" sz="180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1</a:t>
            </a:r>
            <a:r>
              <a:rPr lang="en-US" b="1" dirty="0" sz="180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. 研究背景与文献综述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B62FDF9E-6657-4935-883E-4D42C3A7364F}"/>
              </a:ext>
            </a:extLst>
          </p:cNvPr>
          <p:cNvSpPr txBox="1"/>
          <p:nvPr/>
        </p:nvSpPr>
        <p:spPr>
          <a:xfrm>
            <a:off x="404072" y="956954"/>
            <a:ext cx="5178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eaLnBrk="1" fontAlgn="auto" hangingPunct="1" algn="l">
              <a:spcBef>
                <a:spcPts val="0"/>
              </a:spcBef>
              <a:spcAft>
                <a:spcPts val="0"/>
              </a:spcAft>
            </a:pPr>
            <a:r>
              <a:rPr lang="en-HK" sz="18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1.1</a:t>
            </a:r>
            <a:r>
              <a:rPr lang="en-HK" sz="18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建筑制冷能耗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551DB90-1D98-4950-83C0-04E9F6A855D4}"/>
              </a:ext>
            </a:extLst>
          </p:cNvPr>
          <p:cNvSpPr txBox="1"/>
          <p:nvPr/>
        </p:nvSpPr>
        <p:spPr>
          <a:xfrm>
            <a:off x="1196477" y="1333909"/>
            <a:ext cx="931819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defTabSz="457200" eaLnBrk="1" fontAlgn="auto" hangingPunct="1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HK" sz="18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中国：过去十年，制冷能耗快速增长，约占全球制冷能耗的五分之一。</a:t>
            </a:r>
          </a:p>
          <a:p>
            <a:pPr marL="285750" indent="-285750" defTabSz="457200" eaLnBrk="1" fontAlgn="auto" hangingPunct="1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</a:p>
          <a:p>
            <a:pPr marL="285750" indent="-285750" defTabSz="457200" eaLnBrk="1" fontAlgn="auto" hangingPunct="1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HK" sz="18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香港：过去十年，空调用电量增长了 </a:t>
            </a:r>
            <a:r>
              <a:rPr lang="en-HK" sz="18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29%</a:t>
            </a:r>
            <a:r>
              <a:rPr lang="en-HK" sz="18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，约占建筑部门总用电量的 </a:t>
            </a:r>
            <a:r>
              <a:rPr lang="en-HK" sz="18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30%</a:t>
            </a:r>
            <a:r>
              <a:rPr lang="en-HK" sz="18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A6DEFF5E-18E8-4D1C-A209-C5CEBAA93C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5635" y="2824134"/>
            <a:ext cx="4377809" cy="2344857"/>
          </a:xfrm>
          <a:prstGeom prst="rect">
            <a:avLst/>
          </a:prstGeom>
        </p:spPr>
      </p:pic>
      <p:sp>
        <p:nvSpPr>
          <p:cNvPr id="40" name="文本框 39">
            <a:extLst>
              <a:ext uri="{FF2B5EF4-FFF2-40B4-BE49-F238E27FC236}">
                <a16:creationId xmlns:a16="http://schemas.microsoft.com/office/drawing/2014/main" id="{F73C51D1-DEE3-4BAE-A79D-C4452E0CB51E}"/>
              </a:ext>
            </a:extLst>
          </p:cNvPr>
          <p:cNvSpPr txBox="1"/>
          <p:nvPr/>
        </p:nvSpPr>
        <p:spPr>
          <a:xfrm>
            <a:off x="2491224" y="3035550"/>
            <a:ext cx="6624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eaLnBrk="1" fontAlgn="auto" hangingPunct="1" algn="l">
              <a:spcBef>
                <a:spcPts val="0"/>
              </a:spcBef>
              <a:spcAft>
                <a:spcPts val="0"/>
              </a:spcAft>
            </a:pPr>
            <a:r>
              <a:rPr lang="en-HK" sz="1400" dirty="0">
                <a:solidFill>
                  <a:prstClr val="black"/>
                </a:solidFill>
                <a:latin typeface="Times New Roman" panose="020B0604020202020204" pitchFamily="34" charset="0"/>
                <a:ea typeface="SimSun"/>
                <a:cs typeface="Times New Roman" panose="020B0604020202020204" pitchFamily="34" charset="0"/>
              </a:rPr>
              <a:t>美国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2BD2EA56-3D70-4313-A15A-57E24D0A4D2B}"/>
              </a:ext>
            </a:extLst>
          </p:cNvPr>
          <p:cNvSpPr txBox="1"/>
          <p:nvPr/>
        </p:nvSpPr>
        <p:spPr>
          <a:xfrm>
            <a:off x="2220338" y="3956743"/>
            <a:ext cx="10901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eaLnBrk="1" fontAlgn="auto" hangingPunct="1" algn="l">
              <a:spcBef>
                <a:spcPts val="0"/>
              </a:spcBef>
              <a:spcAft>
                <a:spcPts val="0"/>
              </a:spcAft>
            </a:pPr>
            <a:r>
              <a:rPr lang="en-HK" sz="1400" dirty="0">
                <a:solidFill>
                  <a:prstClr val="black"/>
                </a:solidFill>
                <a:latin typeface="Times New Roman" panose="020B0604020202020204" pitchFamily="34" charset="0"/>
                <a:ea typeface="SimSun"/>
                <a:cs typeface="Times New Roman" panose="020B0604020202020204" pitchFamily="34" charset="0"/>
              </a:rPr>
              <a:t>全球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F34C4778-A79B-4411-A787-0C9210E1434A}"/>
              </a:ext>
            </a:extLst>
          </p:cNvPr>
          <p:cNvSpPr txBox="1"/>
          <p:nvPr/>
        </p:nvSpPr>
        <p:spPr>
          <a:xfrm>
            <a:off x="3153479" y="4362902"/>
            <a:ext cx="9790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eaLnBrk="1" fontAlgn="auto" hangingPunct="1" algn="l">
              <a:spcBef>
                <a:spcPts val="0"/>
              </a:spcBef>
              <a:spcAft>
                <a:spcPts val="0"/>
              </a:spcAft>
            </a:pPr>
            <a:r>
              <a:rPr lang="en-HK" sz="1400" dirty="0">
                <a:solidFill>
                  <a:prstClr val="black"/>
                </a:solidFill>
                <a:latin typeface="Times New Roman" panose="020B0604020202020204" pitchFamily="34" charset="0"/>
                <a:ea typeface="SimSun"/>
                <a:cs typeface="Times New Roman" panose="020B0604020202020204" pitchFamily="34" charset="0"/>
              </a:rPr>
              <a:t>中国</a:t>
            </a:r>
          </a:p>
        </p:txBody>
      </p: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4E1A74DE-2A9D-4489-A6E9-6C2581FECEDE}"/>
              </a:ext>
            </a:extLst>
          </p:cNvPr>
          <p:cNvCxnSpPr/>
          <p:nvPr/>
        </p:nvCxnSpPr>
        <p:spPr>
          <a:xfrm>
            <a:off x="2902845" y="3193137"/>
            <a:ext cx="466530" cy="0"/>
          </a:xfrm>
          <a:prstGeom prst="straightConnector1">
            <a:avLst/>
          </a:prstGeom>
          <a:noFill/>
          <a:ln w="22225" cap="flat" cmpd="sng" algn="ctr">
            <a:solidFill>
              <a:srgbClr val="DA7E3E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4F260449-8138-4D88-BDAA-502C48094806}"/>
              </a:ext>
            </a:extLst>
          </p:cNvPr>
          <p:cNvCxnSpPr>
            <a:cxnSpLocks/>
          </p:cNvCxnSpPr>
          <p:nvPr/>
        </p:nvCxnSpPr>
        <p:spPr>
          <a:xfrm flipV="1">
            <a:off x="3742839" y="4272458"/>
            <a:ext cx="493290" cy="124280"/>
          </a:xfrm>
          <a:prstGeom prst="straightConnector1">
            <a:avLst/>
          </a:prstGeom>
          <a:noFill/>
          <a:ln w="22225" cap="flat" cmpd="sng" algn="ctr">
            <a:solidFill>
              <a:srgbClr val="B2030B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D5D89A26-E711-4EBB-8A5F-C35610160EED}"/>
              </a:ext>
            </a:extLst>
          </p:cNvPr>
          <p:cNvCxnSpPr>
            <a:cxnSpLocks/>
          </p:cNvCxnSpPr>
          <p:nvPr/>
        </p:nvCxnSpPr>
        <p:spPr>
          <a:xfrm flipV="1">
            <a:off x="2910410" y="4077935"/>
            <a:ext cx="593013" cy="69871"/>
          </a:xfrm>
          <a:prstGeom prst="straightConnector1">
            <a:avLst/>
          </a:prstGeom>
          <a:noFill/>
          <a:ln w="22225" cap="flat" cmpd="sng" algn="ctr">
            <a:solidFill>
              <a:srgbClr val="2A899B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6" name="矩形 4">
            <a:extLst>
              <a:ext uri="{FF2B5EF4-FFF2-40B4-BE49-F238E27FC236}">
                <a16:creationId xmlns:a16="http://schemas.microsoft.com/office/drawing/2014/main" id="{F07FE167-2C4A-4929-B2CE-A58C30E337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120" y="5487152"/>
            <a:ext cx="463073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bg2"/>
                </a:solidFill>
                <a:latin typeface="Times New Roman" panose="020B0604020202020204" pitchFamily="34" charset="0"/>
                <a:ea typeface="SimSun" panose="020B0600070205080204" pitchFamily="34" charset="-128"/>
                <a:cs typeface="Times New Roman"/>
              </a:defRPr>
            </a:lvl1pPr>
            <a:lvl2pPr marL="742950" indent="-285750">
              <a:defRPr sz="3200">
                <a:solidFill>
                  <a:schemeClr val="bg2"/>
                </a:solidFill>
                <a:latin typeface="Times New Roman" panose="020B0604020202020204" pitchFamily="34" charset="0"/>
                <a:ea typeface="SimSun" panose="020B0600070205080204" pitchFamily="34" charset="-128"/>
                <a:cs typeface="Times New Roman"/>
              </a:defRPr>
            </a:lvl2pPr>
            <a:lvl3pPr marL="1143000" indent="-228600">
              <a:defRPr sz="3200">
                <a:solidFill>
                  <a:schemeClr val="bg2"/>
                </a:solidFill>
                <a:latin typeface="Times New Roman" panose="020B0604020202020204" pitchFamily="34" charset="0"/>
                <a:ea typeface="SimSun" panose="020B0600070205080204" pitchFamily="34" charset="-128"/>
                <a:cs typeface="Times New Roman"/>
              </a:defRPr>
            </a:lvl3pPr>
            <a:lvl4pPr marL="1600200" indent="-228600">
              <a:defRPr sz="3200">
                <a:solidFill>
                  <a:schemeClr val="bg2"/>
                </a:solidFill>
                <a:latin typeface="Times New Roman" panose="020B0604020202020204" pitchFamily="34" charset="0"/>
                <a:ea typeface="SimSun" panose="020B0600070205080204" pitchFamily="34" charset="-128"/>
                <a:cs typeface="Times New Roman"/>
              </a:defRPr>
            </a:lvl4pPr>
            <a:lvl5pPr marL="2057400" indent="-228600">
              <a:defRPr sz="3200">
                <a:solidFill>
                  <a:schemeClr val="bg2"/>
                </a:solidFill>
                <a:latin typeface="Times New Roman" panose="020B0604020202020204" pitchFamily="34" charset="0"/>
                <a:ea typeface="SimSun" panose="020B0600070205080204" pitchFamily="34" charset="-128"/>
                <a:cs typeface="Times New Roman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2"/>
                </a:solidFill>
                <a:latin typeface="Times New Roman" panose="020B0604020202020204" pitchFamily="34" charset="0"/>
                <a:ea typeface="SimSun" panose="020B0600070205080204" pitchFamily="34" charset="-128"/>
                <a:cs typeface="Times New Roman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2"/>
                </a:solidFill>
                <a:latin typeface="Times New Roman" panose="020B0604020202020204" pitchFamily="34" charset="0"/>
                <a:ea typeface="SimSun" panose="020B0600070205080204" pitchFamily="34" charset="-128"/>
                <a:cs typeface="Times New Roman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2"/>
                </a:solidFill>
                <a:latin typeface="Times New Roman" panose="020B0604020202020204" pitchFamily="34" charset="0"/>
                <a:ea typeface="SimSun" panose="020B0600070205080204" pitchFamily="34" charset="-128"/>
                <a:cs typeface="Times New Roman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2"/>
                </a:solidFill>
                <a:latin typeface="Times New Roman" panose="020B0604020202020204" pitchFamily="34" charset="0"/>
                <a:ea typeface="SimSun" panose="020B0600070205080204" pitchFamily="34" charset="-128"/>
                <a:cs typeface="Times New Roman"/>
              </a:defRPr>
            </a:lvl9pPr>
          </a:lstStyle>
          <a:p>
            <a:pPr algn="l"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altLang="zh-CN" sz="1400" b="1" dirty="0">
                <a:solidFill>
                  <a:srgbClr val="C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/>
              </a:rPr>
              <a:t>2000</a:t>
            </a:r>
            <a:r>
              <a:rPr lang="en-GB" altLang="zh-CN" sz="1400" b="1" dirty="0">
                <a:solidFill>
                  <a:srgbClr val="C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/>
              </a:rPr>
              <a:t>—</a:t>
            </a:r>
            <a:r>
              <a:rPr lang="en-GB" altLang="zh-CN" sz="1400" b="1" dirty="0">
                <a:solidFill>
                  <a:srgbClr val="C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/>
              </a:rPr>
              <a:t>2017</a:t>
            </a:r>
            <a:r>
              <a:rPr lang="en-GB" altLang="zh-CN" sz="1400" b="1" dirty="0">
                <a:solidFill>
                  <a:srgbClr val="C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/>
              </a:rPr>
              <a:t> 年空间制冷用电量</a:t>
            </a:r>
          </a:p>
        </p:txBody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C2AC8092-6D8C-456C-B4BA-665797B5FAD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8606"/>
          <a:stretch/>
        </p:blipFill>
        <p:spPr>
          <a:xfrm>
            <a:off x="1435634" y="5309309"/>
            <a:ext cx="1249680" cy="223139"/>
          </a:xfrm>
          <a:prstGeom prst="rect">
            <a:avLst/>
          </a:prstGeom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F7F8BA0D-1129-45CC-88BE-B276830696E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24" b="56398"/>
          <a:stretch/>
        </p:blipFill>
        <p:spPr>
          <a:xfrm>
            <a:off x="2404623" y="5350768"/>
            <a:ext cx="1249680" cy="232618"/>
          </a:xfrm>
          <a:prstGeom prst="rect">
            <a:avLst/>
          </a:prstGeom>
        </p:spPr>
      </p:pic>
      <p:pic>
        <p:nvPicPr>
          <p:cNvPr id="49" name="图片 48">
            <a:extLst>
              <a:ext uri="{FF2B5EF4-FFF2-40B4-BE49-F238E27FC236}">
                <a16:creationId xmlns:a16="http://schemas.microsoft.com/office/drawing/2014/main" id="{47E3AAB7-59A1-4076-856A-240922A37C7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234" b="29834"/>
          <a:stretch/>
        </p:blipFill>
        <p:spPr>
          <a:xfrm>
            <a:off x="3531722" y="5333421"/>
            <a:ext cx="1249680" cy="174912"/>
          </a:xfrm>
          <a:prstGeom prst="rect">
            <a:avLst/>
          </a:prstGeom>
        </p:spPr>
      </p:pic>
      <p:pic>
        <p:nvPicPr>
          <p:cNvPr id="50" name="图片 49">
            <a:extLst>
              <a:ext uri="{FF2B5EF4-FFF2-40B4-BE49-F238E27FC236}">
                <a16:creationId xmlns:a16="http://schemas.microsoft.com/office/drawing/2014/main" id="{65296F2D-8698-4025-8BC8-B1B69B56387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805"/>
          <a:stretch/>
        </p:blipFill>
        <p:spPr>
          <a:xfrm>
            <a:off x="4658821" y="5296345"/>
            <a:ext cx="1249680" cy="199649"/>
          </a:xfrm>
          <a:prstGeom prst="rect">
            <a:avLst/>
          </a:prstGeom>
        </p:spPr>
      </p:pic>
      <p:sp>
        <p:nvSpPr>
          <p:cNvPr id="51" name="矩形 50">
            <a:extLst>
              <a:ext uri="{FF2B5EF4-FFF2-40B4-BE49-F238E27FC236}">
                <a16:creationId xmlns:a16="http://schemas.microsoft.com/office/drawing/2014/main" id="{9B162169-8957-4488-A548-B25E28DBB077}"/>
              </a:ext>
            </a:extLst>
          </p:cNvPr>
          <p:cNvSpPr/>
          <p:nvPr/>
        </p:nvSpPr>
        <p:spPr>
          <a:xfrm>
            <a:off x="6762313" y="5471452"/>
            <a:ext cx="434580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 eaLnBrk="1" fontAlgn="auto" hangingPunct="1" algn="l">
              <a:spcBef>
                <a:spcPts val="0"/>
              </a:spcBef>
              <a:spcAft>
                <a:spcPts val="0"/>
              </a:spcAft>
            </a:pPr>
            <a:r>
              <a:rPr lang="en-HK" sz="1400" b="1" dirty="0">
                <a:solidFill>
                  <a:srgbClr val="C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/>
              </a:rPr>
              <a:t>2011</a:t>
            </a:r>
            <a:r>
              <a:rPr lang="en-HK" sz="1400" b="1" dirty="0">
                <a:solidFill>
                  <a:srgbClr val="C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/>
              </a:rPr>
              <a:t>—</a:t>
            </a:r>
            <a:r>
              <a:rPr lang="en-HK" sz="1400" b="1" dirty="0">
                <a:solidFill>
                  <a:srgbClr val="C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/>
              </a:rPr>
              <a:t>2021</a:t>
            </a:r>
            <a:r>
              <a:rPr lang="en-HK" sz="1400" b="1" dirty="0">
                <a:solidFill>
                  <a:srgbClr val="C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/>
              </a:rPr>
              <a:t> 年香港各终端用途用电量</a:t>
            </a:r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5A13769F-3A53-4F54-A265-70ABFBF13E9D}"/>
              </a:ext>
            </a:extLst>
          </p:cNvPr>
          <p:cNvSpPr/>
          <p:nvPr/>
        </p:nvSpPr>
        <p:spPr>
          <a:xfrm>
            <a:off x="9264545" y="3387565"/>
            <a:ext cx="428017" cy="311289"/>
          </a:xfrm>
          <a:prstGeom prst="ellipse">
            <a:avLst/>
          </a:prstGeom>
          <a:noFill/>
          <a:ln w="254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Times New Roman"/>
                <a:ea typeface="SimSun"/>
                <a:cs typeface="Times New Roman"/>
              </a:defRPr>
            </a:pPr>
            <a:endParaRPr lang="en-HK" sz="1800" kern="0" dirty="0">
              <a:solidFill>
                <a:prstClr val="white"/>
              </a:solidFill>
              <a:latin typeface="Times New Roman" panose="020F0502020204030204"/>
              <a:ea typeface="SimSun"/>
              <a:cs typeface="Times New Roman"/>
            </a:endParaRPr>
          </a:p>
        </p:txBody>
      </p:sp>
      <p:sp>
        <p:nvSpPr>
          <p:cNvPr id="53" name="椭圆 52">
            <a:extLst>
              <a:ext uri="{FF2B5EF4-FFF2-40B4-BE49-F238E27FC236}">
                <a16:creationId xmlns:a16="http://schemas.microsoft.com/office/drawing/2014/main" id="{D9503317-0037-46EA-8238-6E263CF3BE6A}"/>
              </a:ext>
            </a:extLst>
          </p:cNvPr>
          <p:cNvSpPr/>
          <p:nvPr/>
        </p:nvSpPr>
        <p:spPr>
          <a:xfrm>
            <a:off x="9587048" y="3104655"/>
            <a:ext cx="428017" cy="311289"/>
          </a:xfrm>
          <a:prstGeom prst="ellipse">
            <a:avLst/>
          </a:prstGeom>
          <a:noFill/>
          <a:ln w="254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Times New Roman"/>
                <a:ea typeface="SimSun"/>
                <a:cs typeface="Times New Roman"/>
              </a:defRPr>
            </a:pPr>
            <a:endParaRPr lang="en-HK" sz="1800" kern="0" dirty="0">
              <a:solidFill>
                <a:prstClr val="white"/>
              </a:solidFill>
              <a:latin typeface="Times New Roman" panose="020F0502020204030204"/>
              <a:ea typeface="SimSun"/>
              <a:cs typeface="Times New Roman"/>
            </a:endParaRPr>
          </a:p>
        </p:txBody>
      </p: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599F89E1-666E-4BB7-A690-12313EE46B14}"/>
              </a:ext>
            </a:extLst>
          </p:cNvPr>
          <p:cNvCxnSpPr>
            <a:cxnSpLocks/>
            <a:endCxn id="56" idx="0"/>
          </p:cNvCxnSpPr>
          <p:nvPr/>
        </p:nvCxnSpPr>
        <p:spPr>
          <a:xfrm>
            <a:off x="9579527" y="3706477"/>
            <a:ext cx="124506" cy="188411"/>
          </a:xfrm>
          <a:prstGeom prst="straightConnector1">
            <a:avLst/>
          </a:prstGeom>
          <a:noFill/>
          <a:ln w="19050" cap="flat" cmpd="sng" algn="ctr">
            <a:solidFill>
              <a:srgbClr val="C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55" name="矩形 54">
            <a:extLst>
              <a:ext uri="{FF2B5EF4-FFF2-40B4-BE49-F238E27FC236}">
                <a16:creationId xmlns:a16="http://schemas.microsoft.com/office/drawing/2014/main" id="{22B5F679-ED50-4DA4-AF20-4969400B3586}"/>
              </a:ext>
            </a:extLst>
          </p:cNvPr>
          <p:cNvSpPr/>
          <p:nvPr/>
        </p:nvSpPr>
        <p:spPr>
          <a:xfrm>
            <a:off x="9324064" y="3910605"/>
            <a:ext cx="690056" cy="232701"/>
          </a:xfrm>
          <a:prstGeom prst="rect">
            <a:avLst/>
          </a:prstGeom>
          <a:noFill/>
          <a:ln w="254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Times New Roman"/>
                <a:ea typeface="SimSun"/>
                <a:cs typeface="Times New Roman"/>
              </a:defRPr>
            </a:pPr>
            <a:endParaRPr lang="en-HK" sz="1800" kern="0">
              <a:solidFill>
                <a:prstClr val="white"/>
              </a:solidFill>
              <a:latin typeface="Times New Roman" panose="020F0502020204030204"/>
              <a:ea typeface="SimSun"/>
              <a:cs typeface="Times New Roman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CBCA25D8-979F-4E66-9F25-6F5E1000D302}"/>
              </a:ext>
            </a:extLst>
          </p:cNvPr>
          <p:cNvSpPr txBox="1"/>
          <p:nvPr/>
        </p:nvSpPr>
        <p:spPr>
          <a:xfrm>
            <a:off x="9256973" y="3894888"/>
            <a:ext cx="8941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HK" sz="1200" b="1" dirty="0">
                <a:solidFill>
                  <a:prstClr val="black"/>
                </a:solidFill>
                <a:latin typeface="Times New Roman" panose="020F0502020204030204"/>
                <a:ea typeface="SimSun"/>
                <a:cs typeface="Times New Roman"/>
              </a:rPr>
              <a:t>1.30GWh</a:t>
            </a:r>
          </a:p>
        </p:txBody>
      </p: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B82E30C0-E92B-4DA0-92C7-EB150BEB3353}"/>
              </a:ext>
            </a:extLst>
          </p:cNvPr>
          <p:cNvCxnSpPr>
            <a:cxnSpLocks/>
          </p:cNvCxnSpPr>
          <p:nvPr/>
        </p:nvCxnSpPr>
        <p:spPr>
          <a:xfrm flipV="1">
            <a:off x="9741656" y="2951483"/>
            <a:ext cx="183494" cy="166567"/>
          </a:xfrm>
          <a:prstGeom prst="straightConnector1">
            <a:avLst/>
          </a:prstGeom>
          <a:noFill/>
          <a:ln w="19050" cap="flat" cmpd="sng" algn="ctr">
            <a:solidFill>
              <a:srgbClr val="C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8B8B4ADA-D2B5-400E-9AF2-27A934395748}"/>
              </a:ext>
            </a:extLst>
          </p:cNvPr>
          <p:cNvSpPr txBox="1"/>
          <p:nvPr/>
        </p:nvSpPr>
        <p:spPr>
          <a:xfrm>
            <a:off x="9769937" y="2680612"/>
            <a:ext cx="8941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HK" sz="1200" b="1" dirty="0">
                <a:solidFill>
                  <a:prstClr val="black"/>
                </a:solidFill>
                <a:latin typeface="Times New Roman" panose="020F0502020204030204"/>
                <a:ea typeface="SimSun"/>
                <a:cs typeface="Times New Roman"/>
              </a:rPr>
              <a:t>1.46GWh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E1C98E01-18AB-475C-A476-9474CA24C796}"/>
              </a:ext>
            </a:extLst>
          </p:cNvPr>
          <p:cNvSpPr/>
          <p:nvPr/>
        </p:nvSpPr>
        <p:spPr>
          <a:xfrm>
            <a:off x="9824620" y="2699632"/>
            <a:ext cx="690056" cy="232701"/>
          </a:xfrm>
          <a:prstGeom prst="rect">
            <a:avLst/>
          </a:prstGeom>
          <a:noFill/>
          <a:ln w="254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Times New Roman"/>
                <a:ea typeface="SimSun"/>
                <a:cs typeface="Times New Roman"/>
              </a:defRPr>
            </a:pPr>
            <a:endParaRPr lang="en-HK" sz="1800" kern="0">
              <a:solidFill>
                <a:prstClr val="white"/>
              </a:solidFill>
              <a:latin typeface="Times New Roman" panose="020F0502020204030204"/>
              <a:ea typeface="SimSun"/>
              <a:cs typeface="Times New Roman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6D526305-CC20-4C59-96C4-DB8AA9D455F6}"/>
              </a:ext>
            </a:extLst>
          </p:cNvPr>
          <p:cNvSpPr/>
          <p:nvPr/>
        </p:nvSpPr>
        <p:spPr>
          <a:xfrm>
            <a:off x="595011" y="5811524"/>
            <a:ext cx="6096000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defTabSz="457200" eaLnBrk="1" fontAlgn="auto" hangingPunct="1">
              <a:spcAft>
                <a:spcPts val="0"/>
              </a:spcAft>
            </a:pPr>
            <a:r>
              <a:rPr lang="en-HK" altLang="en-US" sz="1000" i="1" dirty="0">
                <a:solidFill>
                  <a:prstClr val="black"/>
                </a:solidFill>
                <a:latin typeface="Times New Roman" panose="020B0604020202020204" pitchFamily="34" charset="0"/>
                <a:ea typeface="SimSun"/>
                <a:cs typeface="Times New Roman" panose="020B0604020202020204" pitchFamily="34" charset="0"/>
              </a:rPr>
              <a:t>S</a:t>
            </a:r>
            <a:r>
              <a:rPr lang="en-US" altLang="zh-CN" sz="1000" i="1" dirty="0" err="1">
                <a:solidFill>
                  <a:prstClr val="black"/>
                </a:solidFill>
                <a:latin typeface="Times New Roman" panose="020B0604020202020204" pitchFamily="34" charset="0"/>
                <a:ea typeface="SimSun" panose="02010600030101010101" pitchFamily="2" charset="-122"/>
                <a:cs typeface="Times New Roman" panose="020B0604020202020204" pitchFamily="34" charset="0"/>
              </a:rPr>
              <a:t>ource</a:t>
            </a:r>
            <a:r>
              <a:rPr lang="en-HK" altLang="zh-CN" sz="1000" i="1" dirty="0">
                <a:solidFill>
                  <a:prstClr val="black"/>
                </a:solidFill>
                <a:latin typeface="Times New Roman" panose="020B0604020202020204" pitchFamily="34" charset="0"/>
                <a:ea typeface="SimSun" panose="02010600030101010101" pitchFamily="2" charset="-122"/>
                <a:cs typeface="Times New Roman" panose="020B0604020202020204" pitchFamily="34" charset="0"/>
              </a:rPr>
              <a:t>: International Energy Agency (IEA). The Future of Cooling in China. 2019</a:t>
            </a:r>
            <a:endParaRPr lang="en-HK" altLang="en-US" sz="1000" i="1" dirty="0">
              <a:solidFill>
                <a:prstClr val="black"/>
              </a:solidFill>
              <a:latin typeface="Times New Roman" panose="020B0604020202020204" pitchFamily="34" charset="0"/>
              <a:ea typeface="SimSun"/>
              <a:cs typeface="Times New Roman" panose="020B0604020202020204" pitchFamily="34" charset="0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A179BD5E-94DC-4FE0-BFC3-B493299A2E24}"/>
              </a:ext>
            </a:extLst>
          </p:cNvPr>
          <p:cNvSpPr/>
          <p:nvPr/>
        </p:nvSpPr>
        <p:spPr>
          <a:xfrm>
            <a:off x="5582562" y="5795824"/>
            <a:ext cx="6096000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defTabSz="457200" eaLnBrk="1" fontAlgn="auto" hangingPunct="1">
              <a:spcAft>
                <a:spcPts val="0"/>
              </a:spcAft>
            </a:pPr>
            <a:r>
              <a:rPr lang="en-HK" altLang="en-US" sz="1000" i="1" dirty="0">
                <a:solidFill>
                  <a:prstClr val="black"/>
                </a:solidFill>
                <a:latin typeface="Times New Roman" panose="020B0604020202020204" pitchFamily="34" charset="0"/>
                <a:ea typeface="SimSun"/>
                <a:cs typeface="Times New Roman" panose="020B0604020202020204" pitchFamily="34" charset="0"/>
              </a:rPr>
              <a:t>S</a:t>
            </a:r>
            <a:r>
              <a:rPr lang="en-US" altLang="zh-CN" sz="1000" i="1" dirty="0" err="1">
                <a:solidFill>
                  <a:prstClr val="black"/>
                </a:solidFill>
                <a:latin typeface="Times New Roman" panose="020B0604020202020204" pitchFamily="34" charset="0"/>
                <a:ea typeface="SimSun" panose="02010600030101010101" pitchFamily="2" charset="-122"/>
                <a:cs typeface="Times New Roman" panose="020B0604020202020204" pitchFamily="34" charset="0"/>
              </a:rPr>
              <a:t>ource</a:t>
            </a:r>
            <a:r>
              <a:rPr lang="en-HK" altLang="zh-CN" sz="1000" i="1" dirty="0">
                <a:solidFill>
                  <a:prstClr val="black"/>
                </a:solidFill>
                <a:latin typeface="Times New Roman" panose="020B0604020202020204" pitchFamily="34" charset="0"/>
                <a:ea typeface="SimSun" panose="02010600030101010101" pitchFamily="2" charset="-122"/>
                <a:cs typeface="Times New Roman" panose="020B0604020202020204" pitchFamily="34" charset="0"/>
              </a:rPr>
              <a:t>: EMSD. Hong Kong Energy End-use Data. 2023</a:t>
            </a:r>
            <a:endParaRPr lang="en-HK" altLang="en-US" sz="1000" i="1" dirty="0">
              <a:solidFill>
                <a:prstClr val="black"/>
              </a:solidFill>
              <a:latin typeface="Times New Roman" panose="020B0604020202020204" pitchFamily="34" charset="0"/>
              <a:ea typeface="SimSun"/>
              <a:cs typeface="Times New Roman" panose="020B0604020202020204" pitchFamily="34" charset="0"/>
            </a:endParaRPr>
          </a:p>
        </p:txBody>
      </p:sp>
      <p:sp>
        <p:nvSpPr>
          <p:cNvPr id="30" name="Rectangle 18">
            <a:extLst>
              <a:ext uri="{FF2B5EF4-FFF2-40B4-BE49-F238E27FC236}">
                <a16:creationId xmlns:a16="http://schemas.microsoft.com/office/drawing/2014/main" id="{42A46E62-DD70-4B57-AEA1-D6CF1A17DDD1}"/>
              </a:ext>
            </a:extLst>
          </p:cNvPr>
          <p:cNvSpPr/>
          <p:nvPr/>
        </p:nvSpPr>
        <p:spPr>
          <a:xfrm>
            <a:off x="3033996" y="6243421"/>
            <a:ext cx="6444397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>
                <a:latin typeface="Times New Roman"/>
                <a:ea typeface="SimSun"/>
                <a:cs typeface="Times New Roman"/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Times New Roman"/>
                <a:ea typeface="SimSun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Times New Roman"/>
                <a:ea typeface="SimSun"/>
                <a:cs typeface="Times New Roman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Times New Roman"/>
                <a:ea typeface="SimSun"/>
                <a:cs typeface="Times New Roman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Times New Roman"/>
                <a:ea typeface="SimSun"/>
                <a:cs typeface="Times New Roman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Times New Roman"/>
                <a:ea typeface="SimSun"/>
                <a:cs typeface="Times New Roman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Times New Roman"/>
                <a:ea typeface="SimSun"/>
                <a:cs typeface="Times New Roman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Times New Roman"/>
                <a:ea typeface="SimSun"/>
                <a:cs typeface="Times New Roman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Times New Roman"/>
                <a:ea typeface="SimSun"/>
                <a:cs typeface="Times New Roman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Times New Roman"/>
                <a:ea typeface="SimSun"/>
                <a:cs typeface="Times New Roman"/>
              </a:defRPr>
            </a:lvl9pPr>
          </a:lstStyle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en-US" b="1" dirty="0" sz="180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发展环境友好型制冷技术，降低建筑制冷能耗</a:t>
            </a:r>
          </a:p>
        </p:txBody>
      </p:sp>
      <p:sp>
        <p:nvSpPr>
          <p:cNvPr id="31" name="圆角矩形 44">
            <a:extLst>
              <a:ext uri="{FF2B5EF4-FFF2-40B4-BE49-F238E27FC236}">
                <a16:creationId xmlns:a16="http://schemas.microsoft.com/office/drawing/2014/main" id="{F21C7A4B-900A-4EC1-9FAD-679EE6457F62}"/>
              </a:ext>
            </a:extLst>
          </p:cNvPr>
          <p:cNvSpPr/>
          <p:nvPr/>
        </p:nvSpPr>
        <p:spPr>
          <a:xfrm>
            <a:off x="3189624" y="6138939"/>
            <a:ext cx="6240945" cy="615497"/>
          </a:xfrm>
          <a:prstGeom prst="roundRect">
            <a:avLst/>
          </a:prstGeom>
          <a:noFill/>
          <a:ln w="19050" cap="flat" cmpd="sng" algn="ctr">
            <a:solidFill>
              <a:srgbClr val="C00000"/>
            </a:solidFill>
            <a:prstDash val="sysDash"/>
          </a:ln>
          <a:effectLst/>
        </p:spPr>
        <p:txBody>
          <a:bodyPr anchor="ctr"/>
          <a:lstStyle/>
          <a:p>
            <a:pPr algn="ctr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>
                <a:latin typeface="Times New Roman"/>
                <a:ea typeface="SimSun"/>
                <a:cs typeface="Times New Roman"/>
              </a:defRPr>
            </a:pPr>
            <a:endParaRPr lang="zh-CN" altLang="en-US" sz="1800" kern="0">
              <a:solidFill>
                <a:prstClr val="white"/>
              </a:solidFill>
              <a:latin typeface="Times New Roman"/>
              <a:ea typeface="SimSun"/>
              <a:cs typeface="Times New Roman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962393A-D9AD-4A23-9C19-5ADAE49EB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15884886-3D85-4AFD-9D94-33E4AF7428DD}" type="slidenum">
              <a:rPr lang="en-US" altLang="zh-CN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4</a:t>
            </a:fld>
            <a:endParaRPr lang="en-US" altLang="zh-CN">
              <a:latin typeface="Times New Roman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62960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33"/>
    </mc:Choice>
    <mc:Fallback xmlns="">
      <p:transition spd="slow" advTm="593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EA60AB70-41C4-4C00-8D30-E49B8D960DA7}"/>
              </a:ext>
            </a:extLst>
          </p:cNvPr>
          <p:cNvSpPr txBox="1"/>
          <p:nvPr/>
        </p:nvSpPr>
        <p:spPr>
          <a:xfrm>
            <a:off x="386754" y="935893"/>
            <a:ext cx="6867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eaLnBrk="1" fontAlgn="auto" hangingPunct="1" algn="l">
              <a:spcBef>
                <a:spcPts val="0"/>
              </a:spcBef>
              <a:spcAft>
                <a:spcPts val="0"/>
              </a:spcAft>
            </a:pPr>
            <a:r>
              <a:rPr lang="en-HK" sz="18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1.2</a:t>
            </a:r>
            <a:r>
              <a:rPr lang="en-HK" sz="18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间接蒸发冷却（IEC）技术的发展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7946878-A9AF-49F9-845B-00C79F50A193}"/>
              </a:ext>
            </a:extLst>
          </p:cNvPr>
          <p:cNvSpPr txBox="1"/>
          <p:nvPr/>
        </p:nvSpPr>
        <p:spPr>
          <a:xfrm>
            <a:off x="978030" y="2059893"/>
            <a:ext cx="61026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defTabSz="457200" eaLnBrk="1" fontAlgn="auto" hangingPunct="1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HK" sz="18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传统 IEC：适用于干燥气候下以显热负荷为主的建筑。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C454FAB-55F7-4E97-9EC7-9761000498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9339" y="1020824"/>
            <a:ext cx="3459521" cy="239309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139F39C9-1B87-4875-9CAD-E40F11DAA6E0}"/>
              </a:ext>
            </a:extLst>
          </p:cNvPr>
          <p:cNvSpPr txBox="1"/>
          <p:nvPr/>
        </p:nvSpPr>
        <p:spPr>
          <a:xfrm>
            <a:off x="978030" y="2877074"/>
            <a:ext cx="6116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defTabSz="457200" eaLnBrk="1" fontAlgn="auto" hangingPunct="1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HK" sz="18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拓展应用：用于湿热地区的能量回收。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C167412-4EB0-46B9-9050-AE92F86F96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4472" y="3719757"/>
            <a:ext cx="5708644" cy="198000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3BFBECD2-63D3-4D41-B32B-6D1470A4DA26}"/>
              </a:ext>
            </a:extLst>
          </p:cNvPr>
          <p:cNvSpPr/>
          <p:nvPr/>
        </p:nvSpPr>
        <p:spPr>
          <a:xfrm>
            <a:off x="822338" y="1292040"/>
            <a:ext cx="65028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defTabSz="457200" eaLnBrk="1" fontAlgn="auto" hangingPunct="1" algn="l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HK" sz="18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间接蒸发冷却（IEC）利用水蒸发吸热实现降温，是一种绿色节能技术。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D0DF357-23A7-4ED1-9E7C-FF2280E96EFC}"/>
              </a:ext>
            </a:extLst>
          </p:cNvPr>
          <p:cNvSpPr/>
          <p:nvPr/>
        </p:nvSpPr>
        <p:spPr>
          <a:xfrm>
            <a:off x="7690096" y="4114392"/>
            <a:ext cx="321453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defTabSz="457200" eaLnBrk="1" fontAlgn="auto" hangingPunct="1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HK" sz="18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核心过程：水向空气中蒸发，并进行传热传质。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42C4010-8AF0-4BD0-A3CC-94D27DF8E5FB}"/>
              </a:ext>
            </a:extLst>
          </p:cNvPr>
          <p:cNvSpPr/>
          <p:nvPr/>
        </p:nvSpPr>
        <p:spPr>
          <a:xfrm>
            <a:off x="1828869" y="6455109"/>
            <a:ext cx="853426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57200" eaLnBrk="1" fontAlgn="auto" hangingPunct="1">
              <a:spcAft>
                <a:spcPts val="0"/>
              </a:spcAft>
            </a:pPr>
            <a:r>
              <a:rPr lang="en-HK" altLang="en-US" sz="1000" i="1" dirty="0">
                <a:solidFill>
                  <a:prstClr val="black"/>
                </a:solidFill>
                <a:latin typeface="Times New Roman" panose="020B0604020202020204" pitchFamily="34" charset="0"/>
                <a:ea typeface="SimSun"/>
                <a:cs typeface="Times New Roman" panose="020B0604020202020204" pitchFamily="34" charset="0"/>
              </a:rPr>
              <a:t>S</a:t>
            </a:r>
            <a:r>
              <a:rPr lang="en-US" altLang="zh-CN" sz="1000" i="1" dirty="0" err="1">
                <a:solidFill>
                  <a:prstClr val="black"/>
                </a:solidFill>
                <a:latin typeface="Times New Roman" panose="020B0604020202020204" pitchFamily="34" charset="0"/>
                <a:ea typeface="SimSun" panose="02010600030101010101" pitchFamily="2" charset="-122"/>
                <a:cs typeface="Times New Roman" panose="020B0604020202020204" pitchFamily="34" charset="0"/>
              </a:rPr>
              <a:t>ource</a:t>
            </a:r>
            <a:r>
              <a:rPr lang="en-HK" altLang="zh-CN" sz="1000" i="1" dirty="0">
                <a:solidFill>
                  <a:prstClr val="black"/>
                </a:solidFill>
                <a:latin typeface="Times New Roman" panose="020B0604020202020204" pitchFamily="34" charset="0"/>
                <a:ea typeface="SimSun" panose="02010600030101010101" pitchFamily="2" charset="-122"/>
                <a:cs typeface="Times New Roman" panose="020B0604020202020204" pitchFamily="34" charset="0"/>
              </a:rPr>
              <a:t>: A statistical </a:t>
            </a:r>
            <a:r>
              <a:rPr lang="en-HK" altLang="zh-CN" sz="1000" i="1" dirty="0" err="1">
                <a:solidFill>
                  <a:prstClr val="black"/>
                </a:solidFill>
                <a:latin typeface="Times New Roman" panose="020B0604020202020204" pitchFamily="34" charset="0"/>
                <a:ea typeface="SimSun" panose="02010600030101010101" pitchFamily="2" charset="-122"/>
                <a:cs typeface="Times New Roman" panose="020B0604020202020204" pitchFamily="34" charset="0"/>
              </a:rPr>
              <a:t>modeling</a:t>
            </a:r>
            <a:r>
              <a:rPr lang="en-HK" altLang="zh-CN" sz="1000" i="1" dirty="0">
                <a:solidFill>
                  <a:prstClr val="black"/>
                </a:solidFill>
                <a:latin typeface="Times New Roman" panose="020B0604020202020204" pitchFamily="34" charset="0"/>
                <a:ea typeface="SimSun" panose="02010600030101010101" pitchFamily="2" charset="-122"/>
                <a:cs typeface="Times New Roman" panose="020B0604020202020204" pitchFamily="34" charset="0"/>
              </a:rPr>
              <a:t> approach on the performance prediction of indirect evaporative cooling energy recovery systems. 2019 </a:t>
            </a:r>
            <a:endParaRPr lang="en-HK" altLang="en-US" sz="1000" i="1" dirty="0">
              <a:solidFill>
                <a:prstClr val="black"/>
              </a:solidFill>
              <a:latin typeface="Times New Roman" panose="020B0604020202020204" pitchFamily="34" charset="0"/>
              <a:ea typeface="SimSun"/>
              <a:cs typeface="Times New Roman" panose="020B0604020202020204" pitchFamily="34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2ABFBB9-871B-4085-A46D-679911E48F7B}"/>
              </a:ext>
            </a:extLst>
          </p:cNvPr>
          <p:cNvSpPr/>
          <p:nvPr/>
        </p:nvSpPr>
        <p:spPr>
          <a:xfrm>
            <a:off x="7949152" y="3430356"/>
            <a:ext cx="3209533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HK" sz="12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Fig.1.2.1 </a:t>
            </a:r>
            <a:r>
              <a:rPr lang="en-HK" sz="12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Schematic diagram of a traditional IEC</a:t>
            </a:r>
          </a:p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endParaRPr lang="en-HK" sz="1400" dirty="0">
              <a:solidFill>
                <a:prstClr val="black"/>
              </a:solidFill>
              <a:latin typeface="Times New Roman" panose="020B0604020202020204" pitchFamily="34" charset="0"/>
              <a:ea typeface="SimSun"/>
              <a:cs typeface="Times New Roman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CE88D99-8FF1-4BB2-80F5-5D2C72231F59}"/>
              </a:ext>
            </a:extLst>
          </p:cNvPr>
          <p:cNvSpPr/>
          <p:nvPr/>
        </p:nvSpPr>
        <p:spPr>
          <a:xfrm>
            <a:off x="2192731" y="5754065"/>
            <a:ext cx="367325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HK" sz="12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Fig.1.2.2 </a:t>
            </a:r>
            <a:r>
              <a:rPr lang="en-HK" sz="12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System diagram of an IEC for energy recovery</a:t>
            </a:r>
          </a:p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endParaRPr lang="en-HK" sz="1400" dirty="0">
              <a:solidFill>
                <a:prstClr val="black"/>
              </a:solidFill>
              <a:latin typeface="Times New Roman" panose="020B0604020202020204" pitchFamily="34" charset="0"/>
              <a:ea typeface="SimSun"/>
              <a:cs typeface="Times New Roman" panose="020B0604020202020204" pitchFamily="34" charset="0"/>
            </a:endParaRPr>
          </a:p>
        </p:txBody>
      </p:sp>
      <p:sp>
        <p:nvSpPr>
          <p:cNvPr id="19" name="圆角矩形 44">
            <a:extLst>
              <a:ext uri="{FF2B5EF4-FFF2-40B4-BE49-F238E27FC236}">
                <a16:creationId xmlns:a16="http://schemas.microsoft.com/office/drawing/2014/main" id="{40DE1E30-75F0-43E9-BAA7-7AE86F43BB84}"/>
              </a:ext>
            </a:extLst>
          </p:cNvPr>
          <p:cNvSpPr/>
          <p:nvPr/>
        </p:nvSpPr>
        <p:spPr>
          <a:xfrm>
            <a:off x="7704333" y="4047766"/>
            <a:ext cx="3209533" cy="852578"/>
          </a:xfrm>
          <a:prstGeom prst="roundRect">
            <a:avLst/>
          </a:prstGeom>
          <a:noFill/>
          <a:ln w="19050" cap="flat" cmpd="sng" algn="ctr">
            <a:solidFill>
              <a:srgbClr val="C00000"/>
            </a:solidFill>
            <a:prstDash val="sysDash"/>
          </a:ln>
          <a:effectLst/>
        </p:spPr>
        <p:txBody>
          <a:bodyPr anchor="ctr"/>
          <a:lstStyle/>
          <a:p>
            <a:pPr algn="ctr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>
                <a:latin typeface="Times New Roman"/>
                <a:ea typeface="SimSun"/>
                <a:cs typeface="Times New Roman"/>
              </a:defRPr>
            </a:pPr>
            <a:endParaRPr lang="zh-CN" altLang="en-US" sz="1800" kern="0">
              <a:solidFill>
                <a:prstClr val="white"/>
              </a:solidFill>
              <a:latin typeface="Times New Roman"/>
              <a:ea typeface="SimSun"/>
              <a:cs typeface="Times New Roman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206DD3F-AB6C-4127-9134-1BFC5812D031}"/>
              </a:ext>
            </a:extLst>
          </p:cNvPr>
          <p:cNvSpPr txBox="1"/>
          <p:nvPr/>
        </p:nvSpPr>
        <p:spPr>
          <a:xfrm>
            <a:off x="8675260" y="5419740"/>
            <a:ext cx="18549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b="1" i="1" dirty="0" sz="1800">
                <a:solidFill>
                  <a:srgbClr val="C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强化换热！</a:t>
            </a:r>
          </a:p>
        </p:txBody>
      </p:sp>
      <p:sp>
        <p:nvSpPr>
          <p:cNvPr id="3" name="箭头: 下 2">
            <a:extLst>
              <a:ext uri="{FF2B5EF4-FFF2-40B4-BE49-F238E27FC236}">
                <a16:creationId xmlns:a16="http://schemas.microsoft.com/office/drawing/2014/main" id="{25EAB784-FFDA-4CA2-A466-A53200F0FCFE}"/>
              </a:ext>
            </a:extLst>
          </p:cNvPr>
          <p:cNvSpPr/>
          <p:nvPr/>
        </p:nvSpPr>
        <p:spPr bwMode="auto">
          <a:xfrm>
            <a:off x="9273141" y="5003051"/>
            <a:ext cx="184826" cy="400249"/>
          </a:xfrm>
          <a:prstGeom prst="downArrow">
            <a:avLst/>
          </a:prstGeom>
          <a:solidFill>
            <a:srgbClr val="C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endParaRPr lang="en-HK" sz="3200">
              <a:solidFill>
                <a:schemeClr val="bg2"/>
              </a:solidFill>
              <a:latin typeface="Times New Roman" charset="0"/>
              <a:ea typeface="SimSun"/>
              <a:cs typeface="Times New Roman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E66AE7F-39D1-46F6-9803-1881DC508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15884886-3D85-4AFD-9D94-33E4AF7428DD}" type="slidenum">
              <a:rPr lang="en-US" altLang="zh-CN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5</a:t>
            </a:fld>
            <a:endParaRPr lang="en-US" altLang="zh-CN">
              <a:latin typeface="Times New Roman"/>
              <a:ea typeface="SimSun"/>
              <a:cs typeface="Times New Roman"/>
            </a:endParaRPr>
          </a:p>
        </p:txBody>
      </p:sp>
      <p:sp>
        <p:nvSpPr>
          <p:cNvPr id="21" name="Title 8">
            <a:extLst>
              <a:ext uri="{FF2B5EF4-FFF2-40B4-BE49-F238E27FC236}">
                <a16:creationId xmlns:a16="http://schemas.microsoft.com/office/drawing/2014/main" id="{62444E56-741C-49A3-896F-6AB341798218}"/>
              </a:ext>
            </a:extLst>
          </p:cNvPr>
          <p:cNvSpPr txBox="1">
            <a:spLocks/>
          </p:cNvSpPr>
          <p:nvPr/>
        </p:nvSpPr>
        <p:spPr bwMode="auto">
          <a:xfrm>
            <a:off x="882545" y="259531"/>
            <a:ext cx="8382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defRPr>
                <a:solidFill>
                  <a:schemeClr val="tx1"/>
                </a:solidFill>
                <a:latin typeface="Times New Roman" charset="0"/>
                <a:ea typeface="SimSun" charset="0"/>
                <a:cs typeface="Times New Roman" charset="0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Times New Roman" charset="0"/>
                <a:ea typeface="SimSun" charset="0"/>
                <a:cs typeface="Times New Roman" charset="0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Times New Roman" charset="0"/>
                <a:ea typeface="SimSun" charset="0"/>
                <a:cs typeface="Times New Roman" charset="0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Times New Roman" charset="0"/>
                <a:ea typeface="SimSun" charset="0"/>
                <a:cs typeface="Times New Roman" charset="0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Times New Roman" charset="0"/>
                <a:ea typeface="SimSun" charset="0"/>
                <a:cs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charset="0"/>
                <a:ea typeface="SimSun" charset="0"/>
                <a:cs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charset="0"/>
                <a:ea typeface="SimSun" charset="0"/>
                <a:cs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charset="0"/>
                <a:ea typeface="SimSun" charset="0"/>
                <a:cs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charset="0"/>
                <a:ea typeface="SimSun" charset="0"/>
                <a:cs typeface="Times New Roman" charset="0"/>
              </a:defRPr>
            </a:lvl9pPr>
          </a:lstStyle>
          <a:p>
            <a:pPr eaLnBrk="1" fontAlgn="auto" hangingPunct="1" algn="l">
              <a:spcBef>
                <a:spcPts val="0"/>
              </a:spcBef>
              <a:spcAft>
                <a:spcPts val="0"/>
              </a:spcAft>
            </a:pPr>
            <a:r>
              <a:rPr lang="en-US" b="1" dirty="0" sz="180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1</a:t>
            </a:r>
            <a:r>
              <a:rPr lang="en-US" b="1" dirty="0" sz="180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. 研究背景与文献综述</a:t>
            </a:r>
          </a:p>
        </p:txBody>
      </p:sp>
    </p:spTree>
    <p:extLst>
      <p:ext uri="{BB962C8B-B14F-4D97-AF65-F5344CB8AC3E}">
        <p14:creationId xmlns:p14="http://schemas.microsoft.com/office/powerpoint/2010/main" val="3298598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33"/>
    </mc:Choice>
    <mc:Fallback xmlns="">
      <p:transition spd="slow" advTm="593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E47B88EA-F4F3-B3C2-BF2D-E7FF5F546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232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>
              <a:latin typeface="Times New Roman"/>
              <a:ea typeface="SimSun"/>
              <a:cs typeface="Times New Roman"/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9591E8A8-4CAD-45AF-EB7D-DB21CF6852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232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>
              <a:latin typeface="Times New Roman"/>
              <a:ea typeface="SimSun"/>
              <a:cs typeface="Times New Roman"/>
            </a:endParaRP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C8C92458-B04A-08B5-453C-ED3BC9E702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3517" y="6727195"/>
            <a:ext cx="344966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1100">
                <a:latin typeface="Times New Roman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    </a:t>
            </a:r>
            <a:endParaRPr lang="en-US" altLang="zh-CN" sz="1800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15" name="Rectangle 18">
            <a:extLst>
              <a:ext uri="{FF2B5EF4-FFF2-40B4-BE49-F238E27FC236}">
                <a16:creationId xmlns:a16="http://schemas.microsoft.com/office/drawing/2014/main" id="{BC658CD1-871B-0AF6-8CB0-4FCB617027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1855" y="7964144"/>
            <a:ext cx="248786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1100" i="1">
                <a:latin typeface="Times New Roman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 </a:t>
            </a:r>
            <a:endParaRPr lang="en-US" altLang="zh-CN" sz="1800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17" name="Rectangle 20">
            <a:extLst>
              <a:ext uri="{FF2B5EF4-FFF2-40B4-BE49-F238E27FC236}">
                <a16:creationId xmlns:a16="http://schemas.microsoft.com/office/drawing/2014/main" id="{2BFF3A44-E09A-9464-BFB0-878683DE36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3765" y="12336119"/>
            <a:ext cx="344966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1100">
                <a:latin typeface="Times New Roman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    </a:t>
            </a:r>
            <a:endParaRPr lang="en-US" altLang="zh-CN" sz="1800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18" name="Rectangle 21">
            <a:extLst>
              <a:ext uri="{FF2B5EF4-FFF2-40B4-BE49-F238E27FC236}">
                <a16:creationId xmlns:a16="http://schemas.microsoft.com/office/drawing/2014/main" id="{65FCB56F-B73E-952B-18B4-AE1D2ECC78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7735" y="14317319"/>
            <a:ext cx="377026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1100">
                <a:latin typeface="Times New Roman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en-US" altLang="zh-CN" sz="1100" i="1">
                <a:latin typeface="Times New Roman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endParaRPr lang="en-US" altLang="zh-CN" sz="1800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19" name="Rectangle 22">
            <a:extLst>
              <a:ext uri="{FF2B5EF4-FFF2-40B4-BE49-F238E27FC236}">
                <a16:creationId xmlns:a16="http://schemas.microsoft.com/office/drawing/2014/main" id="{E8006BBB-C852-DF42-DD43-574C72BFC5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2867" y="16402550"/>
            <a:ext cx="3866763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 sz="1100">
                <a:latin typeface="Times New Roman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（c）上侧布置               （d）下侧布置</a:t>
            </a:r>
          </a:p>
        </p:txBody>
      </p:sp>
      <p:sp>
        <p:nvSpPr>
          <p:cNvPr id="5" name="Content Placeholder 23">
            <a:extLst>
              <a:ext uri="{FF2B5EF4-FFF2-40B4-BE49-F238E27FC236}">
                <a16:creationId xmlns:a16="http://schemas.microsoft.com/office/drawing/2014/main" id="{EEC3F662-50D0-19BB-E64A-65591AA5C574}"/>
              </a:ext>
            </a:extLst>
          </p:cNvPr>
          <p:cNvSpPr txBox="1">
            <a:spLocks/>
          </p:cNvSpPr>
          <p:nvPr/>
        </p:nvSpPr>
        <p:spPr bwMode="auto">
          <a:xfrm>
            <a:off x="388998" y="945844"/>
            <a:ext cx="4490331" cy="37911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234950" indent="-23495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 pitchFamily="-111" charset="-128"/>
              </a:defRPr>
            </a:lvl1pPr>
            <a:lvl2pPr marL="576263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2pPr>
            <a:lvl3pPr marL="866775" indent="-176213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3pPr>
            <a:lvl4pPr marL="1196975" indent="-1635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4pPr>
            <a:lvl5pPr marL="1604963" indent="-176213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5pPr>
            <a:lvl6pPr marL="20621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6pPr>
            <a:lvl7pPr marL="25193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7pPr>
            <a:lvl8pPr marL="29765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8pPr>
            <a:lvl9pPr marL="34337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9pPr>
          </a:lstStyle>
          <a:p>
            <a:pPr marL="285750" lvl="1" indent="-285750" algn="l">
              <a:spcBef>
                <a:spcPts val="1200"/>
              </a:spcBef>
              <a:spcAft>
                <a:spcPts val="1200"/>
              </a:spcAft>
              <a:buClrTx/>
              <a:buFont typeface="Wingdings" panose="05000000000000000000" pitchFamily="2" charset="2"/>
              <a:buChar char="Ø"/>
              <a:defRPr>
                <a:latin typeface="Times New Roman"/>
                <a:ea typeface="SimSun"/>
                <a:cs typeface="Times New Roman"/>
              </a:defRPr>
            </a:pPr>
            <a:r>
              <a:rPr lang="en-US" altLang="en-US" sz="1800" b="1" kern="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工作原理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6E5958E-E7A8-8206-F4C3-2DB88B2C8BC3}"/>
              </a:ext>
            </a:extLst>
          </p:cNvPr>
          <p:cNvSpPr txBox="1"/>
          <p:nvPr/>
        </p:nvSpPr>
        <p:spPr>
          <a:xfrm>
            <a:off x="3475592" y="4042391"/>
            <a:ext cx="4895850" cy="280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altLang="zh-CN" sz="12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Fig. 8.1 </a:t>
            </a:r>
            <a:r>
              <a:rPr lang="en-HK" altLang="zh-CN" sz="12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(a) schematics and (b) psychrometric process of traditional IEC</a:t>
            </a:r>
            <a:endParaRPr lang="zh-CN" altLang="zh-CN" sz="1200" dirty="0">
              <a:latin typeface="Times New Roman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A6E6B83-037F-337A-2F2C-BA728907C8FA}"/>
              </a:ext>
            </a:extLst>
          </p:cNvPr>
          <p:cNvSpPr txBox="1"/>
          <p:nvPr/>
        </p:nvSpPr>
        <p:spPr>
          <a:xfrm>
            <a:off x="1718897" y="4936200"/>
            <a:ext cx="8754206" cy="1128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HK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在湿热地区，一次空气湿度较高，而空调空间排风作为二次空气时，其湿球温度较低。当换热板表面温度低于一次空气露点温度时，一次空气侧会发生冷凝。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E9AB80-94C7-4782-9A17-1570D2B4D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15884886-3D85-4AFD-9D94-33E4AF7428DD}" type="slidenum">
              <a:rPr lang="en-US" altLang="zh-CN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6</a:t>
            </a:fld>
            <a:endParaRPr lang="en-US" altLang="zh-CN">
              <a:latin typeface="Times New Roman"/>
              <a:ea typeface="SimSun"/>
              <a:cs typeface="Times New Roman"/>
            </a:endParaRPr>
          </a:p>
        </p:txBody>
      </p:sp>
      <p:sp>
        <p:nvSpPr>
          <p:cNvPr id="11" name="Rectangle 223">
            <a:extLst>
              <a:ext uri="{FF2B5EF4-FFF2-40B4-BE49-F238E27FC236}">
                <a16:creationId xmlns:a16="http://schemas.microsoft.com/office/drawing/2014/main" id="{00D7A72C-B310-4C20-AAD3-3A2C842E38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1855" y="312930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latin typeface="Times New Roman"/>
              <a:ea typeface="SimSun"/>
              <a:cs typeface="Times New Roman"/>
            </a:endParaRPr>
          </a:p>
        </p:txBody>
      </p:sp>
      <p:sp>
        <p:nvSpPr>
          <p:cNvPr id="20" name="矩形 3">
            <a:extLst>
              <a:ext uri="{FF2B5EF4-FFF2-40B4-BE49-F238E27FC236}">
                <a16:creationId xmlns:a16="http://schemas.microsoft.com/office/drawing/2014/main" id="{34CB1C1B-84EC-490A-8EAD-C1DF75371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441" y="163095"/>
            <a:ext cx="393576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1pPr>
            <a:lvl2pPr marL="323850" indent="-358775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9pPr>
          </a:lstStyle>
          <a:p>
            <a:pPr lvl="1" algn="l" eaLnBrk="1" hangingPunct="1">
              <a:spcBef>
                <a:spcPts val="2400"/>
              </a:spcBef>
              <a:buClr>
                <a:srgbClr val="0099FF"/>
              </a:buClr>
            </a:pPr>
            <a:r>
              <a:rPr lang="en-US" altLang="zh-CN" sz="2800" b="1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附录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52554368-D56A-48DB-BCF5-F219E06A7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3119" y="1451399"/>
            <a:ext cx="8024576" cy="2549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103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33"/>
    </mc:Choice>
    <mc:Fallback xmlns="">
      <p:transition spd="slow" advTm="5933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523D1FCB-F41A-4EF6-BB9A-E5E2546B0349}"/>
              </a:ext>
            </a:extLst>
          </p:cNvPr>
          <p:cNvSpPr txBox="1"/>
          <p:nvPr/>
        </p:nvSpPr>
        <p:spPr>
          <a:xfrm>
            <a:off x="478152" y="959032"/>
            <a:ext cx="6867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eaLnBrk="1" fontAlgn="auto" hangingPunct="1" algn="l">
              <a:spcBef>
                <a:spcPts val="0"/>
              </a:spcBef>
              <a:spcAft>
                <a:spcPts val="0"/>
              </a:spcAft>
            </a:pPr>
            <a:r>
              <a:rPr lang="en-HK" sz="18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1.3</a:t>
            </a:r>
            <a:r>
              <a:rPr lang="en-HK" sz="18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二次空气通道的润湿性研究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13C73EA-AFF4-4314-A19B-943ED48BE4C5}"/>
              </a:ext>
            </a:extLst>
          </p:cNvPr>
          <p:cNvSpPr txBox="1"/>
          <p:nvPr/>
        </p:nvSpPr>
        <p:spPr>
          <a:xfrm>
            <a:off x="1520346" y="1729825"/>
            <a:ext cx="8824492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defTabSz="457200" eaLnBrk="1" fontAlgn="auto" hangingPunct="1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HK" sz="20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供水量过低 → 润湿不足，传热传质性能下降</a:t>
            </a:r>
          </a:p>
          <a:p>
            <a:pPr marL="285750" indent="-285750" defTabSz="457200" eaLnBrk="1" fontAlgn="auto" hangingPunct="1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HK" sz="20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供水量过高 → 水膜增厚，传热热阻增大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5C3AF333-D36D-439E-9EC5-9E2C6211B517}"/>
              </a:ext>
            </a:extLst>
          </p:cNvPr>
          <p:cNvSpPr/>
          <p:nvPr/>
        </p:nvSpPr>
        <p:spPr>
          <a:xfrm>
            <a:off x="3811517" y="1865649"/>
            <a:ext cx="706438" cy="180000"/>
          </a:xfrm>
          <a:prstGeom prst="rightArrow">
            <a:avLst/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wrap="square" anchor="ctr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600" b="1">
                <a:solidFill>
                  <a:schemeClr val="tx1"/>
                </a:solidFill>
                <a:latin typeface="Times New Roman"/>
                <a:ea typeface="SimSun" pitchFamily="34" charset="-122"/>
                <a:cs typeface="Times New Roman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Times New Roman"/>
                <a:ea typeface="SimSun" pitchFamily="34" charset="-122"/>
                <a:cs typeface="Times New Roman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400">
                <a:solidFill>
                  <a:schemeClr val="tx1"/>
                </a:solidFill>
                <a:latin typeface="Times New Roman"/>
                <a:ea typeface="SimSun" pitchFamily="34" charset="-122"/>
                <a:cs typeface="Times New Roman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/>
                <a:ea typeface="SimSun" pitchFamily="34" charset="-122"/>
                <a:cs typeface="Times New Roman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/>
                <a:ea typeface="SimSun" pitchFamily="34" charset="-122"/>
                <a:cs typeface="Times New Roman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/>
                <a:ea typeface="SimSun" pitchFamily="34" charset="-122"/>
                <a:cs typeface="Times New Roman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/>
                <a:ea typeface="SimSun" pitchFamily="34" charset="-122"/>
                <a:cs typeface="Times New Roman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/>
                <a:ea typeface="SimSun" pitchFamily="34" charset="-122"/>
                <a:cs typeface="Times New Roman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/>
                <a:ea typeface="SimSun" pitchFamily="34" charset="-122"/>
                <a:cs typeface="Times New Roman"/>
              </a:defRPr>
            </a:lvl9pPr>
          </a:lstStyle>
          <a:p>
            <a:pPr algn="ctr" defTabSz="457200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>
                <a:latin typeface="Times New Roman"/>
                <a:ea typeface="SimSun"/>
                <a:cs typeface="Times New Roman"/>
              </a:defRPr>
            </a:pPr>
            <a:endParaRPr lang="en-HK" altLang="en-US" sz="2400" b="0" i="1" kern="0" dirty="0"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45283EF-9DC4-4754-A67B-07468085ABB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584"/>
          <a:stretch/>
        </p:blipFill>
        <p:spPr>
          <a:xfrm>
            <a:off x="1744725" y="3119572"/>
            <a:ext cx="3505958" cy="1402933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CAA5E4BC-7257-4E7D-B55A-5E7F7A558561}"/>
              </a:ext>
            </a:extLst>
          </p:cNvPr>
          <p:cNvSpPr/>
          <p:nvPr/>
        </p:nvSpPr>
        <p:spPr>
          <a:xfrm>
            <a:off x="6259409" y="2665506"/>
            <a:ext cx="232146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defTabSz="457200" eaLnBrk="1" fontAlgn="auto" hangingPunct="1" algn="l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HK" sz="20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气流方向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53D0933D-9024-4FB6-9D0B-438AE4E2C64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0773" y="3234971"/>
            <a:ext cx="5293392" cy="249321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F8E1EDF5-DB63-43BD-9B4E-4ECD2AB65D20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117"/>
          <a:stretch/>
        </p:blipFill>
        <p:spPr>
          <a:xfrm>
            <a:off x="2203521" y="4481577"/>
            <a:ext cx="2314434" cy="1402933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1660984A-5705-45EB-800B-BE30FF291B07}"/>
              </a:ext>
            </a:extLst>
          </p:cNvPr>
          <p:cNvSpPr/>
          <p:nvPr/>
        </p:nvSpPr>
        <p:spPr>
          <a:xfrm>
            <a:off x="1291291" y="5909414"/>
            <a:ext cx="378225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HK" sz="12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Fig.1.3.1 </a:t>
            </a:r>
            <a:r>
              <a:rPr lang="en-HK" sz="12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Plate with different pitch or protrusion geometry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C5F9486-09F4-4DE1-A107-43036D5C7A83}"/>
              </a:ext>
            </a:extLst>
          </p:cNvPr>
          <p:cNvSpPr/>
          <p:nvPr/>
        </p:nvSpPr>
        <p:spPr>
          <a:xfrm>
            <a:off x="6827975" y="5909414"/>
            <a:ext cx="315753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HK" sz="12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Fig.1.3.2 </a:t>
            </a:r>
            <a:r>
              <a:rPr lang="en-HK" sz="12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Scheme of Top and Side configuration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32FA8AC-8E88-4DAB-A20C-C129DA0584AD}"/>
              </a:ext>
            </a:extLst>
          </p:cNvPr>
          <p:cNvSpPr/>
          <p:nvPr/>
        </p:nvSpPr>
        <p:spPr>
          <a:xfrm>
            <a:off x="1959006" y="6259757"/>
            <a:ext cx="853426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57200" eaLnBrk="1" fontAlgn="auto" hangingPunct="1">
              <a:spcAft>
                <a:spcPts val="0"/>
              </a:spcAft>
            </a:pPr>
            <a:r>
              <a:rPr lang="en-HK" altLang="en-US" sz="1000" i="1" dirty="0">
                <a:solidFill>
                  <a:prstClr val="black"/>
                </a:solidFill>
                <a:latin typeface="Times New Roman" panose="020B0604020202020204" pitchFamily="34" charset="0"/>
                <a:ea typeface="SimSun"/>
                <a:cs typeface="Times New Roman" panose="020B0604020202020204" pitchFamily="34" charset="0"/>
              </a:rPr>
              <a:t>S</a:t>
            </a:r>
            <a:r>
              <a:rPr lang="en-US" altLang="zh-CN" sz="1000" i="1" dirty="0" err="1">
                <a:solidFill>
                  <a:prstClr val="black"/>
                </a:solidFill>
                <a:latin typeface="Times New Roman" panose="020B0604020202020204" pitchFamily="34" charset="0"/>
                <a:ea typeface="SimSun" panose="02010600030101010101" pitchFamily="2" charset="-122"/>
                <a:cs typeface="Times New Roman" panose="020B0604020202020204" pitchFamily="34" charset="0"/>
              </a:rPr>
              <a:t>ource</a:t>
            </a:r>
            <a:r>
              <a:rPr lang="en-HK" altLang="zh-CN" sz="1000" i="1" dirty="0">
                <a:solidFill>
                  <a:prstClr val="black"/>
                </a:solidFill>
                <a:latin typeface="Times New Roman" panose="020B0604020202020204" pitchFamily="34" charset="0"/>
                <a:ea typeface="SimSun" panose="02010600030101010101" pitchFamily="2" charset="-122"/>
                <a:cs typeface="Times New Roman" panose="020B0604020202020204" pitchFamily="34" charset="0"/>
              </a:rPr>
              <a:t>: Effect of plates coating on performance of an indirect evaporative cooling system. 2019;</a:t>
            </a:r>
          </a:p>
          <a:p>
            <a:pPr algn="ctr" defTabSz="457200" eaLnBrk="1" fontAlgn="auto" hangingPunct="1">
              <a:spcAft>
                <a:spcPts val="0"/>
              </a:spcAft>
            </a:pPr>
            <a:r>
              <a:rPr lang="en-HK" altLang="zh-CN" sz="1000" i="1" dirty="0">
                <a:solidFill>
                  <a:prstClr val="black"/>
                </a:solidFill>
                <a:latin typeface="Times New Roman" panose="020B0604020202020204" pitchFamily="34" charset="0"/>
                <a:ea typeface="SimSun" panose="02010600030101010101" pitchFamily="2" charset="-122"/>
                <a:cs typeface="Times New Roman" panose="020B0604020202020204" pitchFamily="34" charset="0"/>
              </a:rPr>
              <a:t> Effect of heat exchanger plates geometry on performance of an indirect evaporative cooling system, 2020</a:t>
            </a:r>
            <a:endParaRPr lang="en-HK" altLang="en-US" sz="1000" i="1" dirty="0">
              <a:solidFill>
                <a:prstClr val="black"/>
              </a:solidFill>
              <a:latin typeface="Times New Roman" panose="020B0604020202020204" pitchFamily="34" charset="0"/>
              <a:ea typeface="SimSun"/>
              <a:cs typeface="Times New Roman" panose="020B0604020202020204" pitchFamily="34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A51D581-844B-4922-B4E6-85A9AAF4D125}"/>
              </a:ext>
            </a:extLst>
          </p:cNvPr>
          <p:cNvSpPr/>
          <p:nvPr/>
        </p:nvSpPr>
        <p:spPr>
          <a:xfrm>
            <a:off x="1170411" y="2666384"/>
            <a:ext cx="194316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defTabSz="457200" eaLnBrk="1" fontAlgn="auto" hangingPunct="1" algn="l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HK" sz="20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换热板结构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8281F5F-93D5-4DAE-A76D-59CFFE3A72BB}"/>
              </a:ext>
            </a:extLst>
          </p:cNvPr>
          <p:cNvSpPr/>
          <p:nvPr/>
        </p:nvSpPr>
        <p:spPr>
          <a:xfrm>
            <a:off x="1170411" y="1321706"/>
            <a:ext cx="182485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defTabSz="457200" eaLnBrk="1" fontAlgn="auto" hangingPunct="1" algn="l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HK" sz="20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供水方式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4D37DC7-6603-45E5-9710-38C891386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15884886-3D85-4AFD-9D94-33E4AF7428DD}" type="slidenum">
              <a:rPr lang="en-US" altLang="zh-CN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7</a:t>
            </a:fld>
            <a:endParaRPr lang="en-US" altLang="zh-CN" dirty="0">
              <a:latin typeface="Times New Roman"/>
              <a:ea typeface="SimSun"/>
              <a:cs typeface="Times New Roman"/>
            </a:endParaRPr>
          </a:p>
        </p:txBody>
      </p:sp>
      <p:sp>
        <p:nvSpPr>
          <p:cNvPr id="19" name="Title 8">
            <a:extLst>
              <a:ext uri="{FF2B5EF4-FFF2-40B4-BE49-F238E27FC236}">
                <a16:creationId xmlns:a16="http://schemas.microsoft.com/office/drawing/2014/main" id="{14AC1D15-B791-4138-A6A6-DE4BF26CBA81}"/>
              </a:ext>
            </a:extLst>
          </p:cNvPr>
          <p:cNvSpPr txBox="1">
            <a:spLocks/>
          </p:cNvSpPr>
          <p:nvPr/>
        </p:nvSpPr>
        <p:spPr bwMode="auto">
          <a:xfrm>
            <a:off x="882545" y="259531"/>
            <a:ext cx="8382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defRPr>
                <a:solidFill>
                  <a:schemeClr val="tx1"/>
                </a:solidFill>
                <a:latin typeface="Times New Roman" charset="0"/>
                <a:ea typeface="SimSun" charset="0"/>
                <a:cs typeface="Times New Roman" charset="0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Times New Roman" charset="0"/>
                <a:ea typeface="SimSun" charset="0"/>
                <a:cs typeface="Times New Roman" charset="0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Times New Roman" charset="0"/>
                <a:ea typeface="SimSun" charset="0"/>
                <a:cs typeface="Times New Roman" charset="0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Times New Roman" charset="0"/>
                <a:ea typeface="SimSun" charset="0"/>
                <a:cs typeface="Times New Roman" charset="0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Times New Roman" charset="0"/>
                <a:ea typeface="SimSun" charset="0"/>
                <a:cs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charset="0"/>
                <a:ea typeface="SimSun" charset="0"/>
                <a:cs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charset="0"/>
                <a:ea typeface="SimSun" charset="0"/>
                <a:cs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charset="0"/>
                <a:ea typeface="SimSun" charset="0"/>
                <a:cs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charset="0"/>
                <a:ea typeface="SimSun" charset="0"/>
                <a:cs typeface="Times New Roman" charset="0"/>
              </a:defRPr>
            </a:lvl9pPr>
          </a:lstStyle>
          <a:p>
            <a:pPr eaLnBrk="1" fontAlgn="auto" hangingPunct="1" algn="l">
              <a:spcBef>
                <a:spcPts val="0"/>
              </a:spcBef>
              <a:spcAft>
                <a:spcPts val="0"/>
              </a:spcAft>
            </a:pPr>
            <a:r>
              <a:rPr lang="en-US" b="1" dirty="0" sz="180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1</a:t>
            </a:r>
            <a:r>
              <a:rPr lang="en-US" b="1" dirty="0" sz="180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. 研究背景与文献综述</a:t>
            </a:r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08250E77-0F66-4150-93A9-601564A34DE7}"/>
              </a:ext>
            </a:extLst>
          </p:cNvPr>
          <p:cNvSpPr/>
          <p:nvPr/>
        </p:nvSpPr>
        <p:spPr>
          <a:xfrm>
            <a:off x="3811517" y="2161942"/>
            <a:ext cx="706438" cy="180000"/>
          </a:xfrm>
          <a:prstGeom prst="rightArrow">
            <a:avLst/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wrap="square" anchor="ctr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600" b="1">
                <a:solidFill>
                  <a:schemeClr val="tx1"/>
                </a:solidFill>
                <a:latin typeface="Times New Roman"/>
                <a:ea typeface="SimSun" pitchFamily="34" charset="-122"/>
                <a:cs typeface="Times New Roman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Times New Roman"/>
                <a:ea typeface="SimSun" pitchFamily="34" charset="-122"/>
                <a:cs typeface="Times New Roman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400">
                <a:solidFill>
                  <a:schemeClr val="tx1"/>
                </a:solidFill>
                <a:latin typeface="Times New Roman"/>
                <a:ea typeface="SimSun" pitchFamily="34" charset="-122"/>
                <a:cs typeface="Times New Roman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/>
                <a:ea typeface="SimSun" pitchFamily="34" charset="-122"/>
                <a:cs typeface="Times New Roman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/>
                <a:ea typeface="SimSun" pitchFamily="34" charset="-122"/>
                <a:cs typeface="Times New Roman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/>
                <a:ea typeface="SimSun" pitchFamily="34" charset="-122"/>
                <a:cs typeface="Times New Roman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/>
                <a:ea typeface="SimSun" pitchFamily="34" charset="-122"/>
                <a:cs typeface="Times New Roman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/>
                <a:ea typeface="SimSun" pitchFamily="34" charset="-122"/>
                <a:cs typeface="Times New Roman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/>
                <a:ea typeface="SimSun" pitchFamily="34" charset="-122"/>
                <a:cs typeface="Times New Roman"/>
              </a:defRPr>
            </a:lvl9pPr>
          </a:lstStyle>
          <a:p>
            <a:pPr algn="ctr" defTabSz="457200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>
                <a:latin typeface="Times New Roman"/>
                <a:ea typeface="SimSun"/>
                <a:cs typeface="Times New Roman"/>
              </a:defRPr>
            </a:pPr>
            <a:endParaRPr lang="en-HK" altLang="en-US" sz="2400" b="0" i="1" kern="0" dirty="0"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32982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33"/>
    </mc:Choice>
    <mc:Fallback xmlns="">
      <p:transition spd="slow" advTm="5933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564FF9B8-0D28-4CAC-A562-6424332E77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621" y="1721279"/>
            <a:ext cx="4919082" cy="422291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72D5F79-9D0A-411C-A040-152CF80DB7FC}"/>
              </a:ext>
            </a:extLst>
          </p:cNvPr>
          <p:cNvSpPr txBox="1"/>
          <p:nvPr/>
        </p:nvSpPr>
        <p:spPr>
          <a:xfrm>
            <a:off x="775066" y="930300"/>
            <a:ext cx="78934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defTabSz="457200" eaLnBrk="1" fontAlgn="auto" hangingPunct="1" algn="l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HK" sz="2000" dirty="0" b="1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喷淋喷嘴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35B12EB-A562-42F7-84F4-D83D5AC6A9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8961" y="1660828"/>
            <a:ext cx="2895890" cy="147682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CFEA6F62-D93B-4DE6-B8E2-1D5C6626D810}"/>
              </a:ext>
            </a:extLst>
          </p:cNvPr>
          <p:cNvSpPr txBox="1"/>
          <p:nvPr/>
        </p:nvSpPr>
        <p:spPr>
          <a:xfrm>
            <a:off x="906767" y="1260718"/>
            <a:ext cx="19316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defTabSz="457200" eaLnBrk="1" fontAlgn="auto" hangingPunct="1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HK" sz="20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布置方式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E4AB835-1458-4B7E-86C3-561D053D893C}"/>
              </a:ext>
            </a:extLst>
          </p:cNvPr>
          <p:cNvSpPr txBox="1"/>
          <p:nvPr/>
        </p:nvSpPr>
        <p:spPr>
          <a:xfrm>
            <a:off x="910297" y="3343277"/>
            <a:ext cx="12230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defTabSz="457200" eaLnBrk="1" fontAlgn="auto" hangingPunct="1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HK" sz="20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喷嘴类型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BD39E2F-B5DF-4E80-A0FD-4E702CDC2B6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511"/>
          <a:stretch/>
        </p:blipFill>
        <p:spPr>
          <a:xfrm>
            <a:off x="1652249" y="3700825"/>
            <a:ext cx="2947537" cy="125987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6BE8FC5-02EE-4E51-ACCA-994E65E01EF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833"/>
          <a:stretch/>
        </p:blipFill>
        <p:spPr>
          <a:xfrm>
            <a:off x="2014867" y="5030651"/>
            <a:ext cx="1995091" cy="121158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75E41081-C36A-4D1C-AECE-41C93056FDE2}"/>
              </a:ext>
            </a:extLst>
          </p:cNvPr>
          <p:cNvSpPr/>
          <p:nvPr/>
        </p:nvSpPr>
        <p:spPr>
          <a:xfrm>
            <a:off x="1372956" y="3126651"/>
            <a:ext cx="32789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HK" sz="12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Fig.1.3.3 </a:t>
            </a:r>
            <a:r>
              <a:rPr lang="en-HK" sz="12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The photos of water distribution effect</a:t>
            </a:r>
            <a:r>
              <a:rPr lang="en-US" sz="1200" baseline="300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[1]</a:t>
            </a:r>
            <a:endParaRPr lang="en-HK" sz="1200" baseline="30000" dirty="0">
              <a:solidFill>
                <a:prstClr val="black"/>
              </a:solidFill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endParaRPr lang="en-HK" sz="1200" dirty="0">
              <a:solidFill>
                <a:prstClr val="black"/>
              </a:solidFill>
              <a:latin typeface="Times New Roman" panose="020B0604020202020204" pitchFamily="34" charset="0"/>
              <a:ea typeface="SimSun"/>
              <a:cs typeface="Times New Roman" panose="020B0604020202020204" pitchFamily="34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E7CFE02-F62C-43D5-B3A7-84E54DB6610B}"/>
              </a:ext>
            </a:extLst>
          </p:cNvPr>
          <p:cNvSpPr/>
          <p:nvPr/>
        </p:nvSpPr>
        <p:spPr>
          <a:xfrm>
            <a:off x="1460500" y="6210354"/>
            <a:ext cx="35413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HK" sz="12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Fig.1.3.4 </a:t>
            </a:r>
            <a:r>
              <a:rPr lang="en-HK" sz="12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Five types of commonly used spray nozzle</a:t>
            </a:r>
            <a:r>
              <a:rPr lang="en-US" sz="1200" baseline="300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[1]</a:t>
            </a:r>
            <a:endParaRPr lang="en-HK" sz="1200" baseline="30000" dirty="0">
              <a:solidFill>
                <a:prstClr val="black"/>
              </a:solidFill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endParaRPr lang="en-HK" sz="1200" dirty="0">
              <a:solidFill>
                <a:prstClr val="black"/>
              </a:solidFill>
              <a:latin typeface="Times New Roman" panose="020B0604020202020204" pitchFamily="34" charset="0"/>
              <a:ea typeface="SimSun"/>
              <a:cs typeface="Times New Roman" panose="020B0604020202020204" pitchFamily="34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8350991-79F4-40F0-BD4B-2486795F9C6A}"/>
              </a:ext>
            </a:extLst>
          </p:cNvPr>
          <p:cNvSpPr/>
          <p:nvPr/>
        </p:nvSpPr>
        <p:spPr>
          <a:xfrm>
            <a:off x="6637653" y="5935438"/>
            <a:ext cx="436901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HK" sz="12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Fig.1.3.5 </a:t>
            </a:r>
            <a:r>
              <a:rPr lang="en-HK" sz="12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Water distribution volume of spraying nozzles(220 L/h)</a:t>
            </a:r>
            <a:r>
              <a:rPr lang="en-US" sz="1200" baseline="300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[1</a:t>
            </a:r>
            <a:r>
              <a:rPr lang="en-US" sz="1200" baseline="30000" dirty="0">
                <a:solidFill>
                  <a:prstClr val="black"/>
                </a:solidFill>
                <a:latin typeface="Times New Roman" panose="020F0502020204030204"/>
                <a:ea typeface="SimSun"/>
                <a:cs typeface="Times New Roman"/>
              </a:rPr>
              <a:t>]</a:t>
            </a:r>
            <a:endParaRPr lang="en-HK" sz="1200" baseline="30000" dirty="0">
              <a:solidFill>
                <a:prstClr val="black"/>
              </a:solidFill>
              <a:latin typeface="Times New Roman" panose="020F0502020204030204"/>
              <a:ea typeface="SimSun"/>
              <a:cs typeface="Times New Roman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91E4C07-B92B-4844-BBED-212125B89E9F}"/>
              </a:ext>
            </a:extLst>
          </p:cNvPr>
          <p:cNvSpPr/>
          <p:nvPr/>
        </p:nvSpPr>
        <p:spPr>
          <a:xfrm>
            <a:off x="906766" y="6480683"/>
            <a:ext cx="9662662" cy="2612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06400" indent="-406400" defTabSz="457200" eaLnBrk="1" fontAlgn="auto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[1] Sun T, Huang X, Chen Y, Zhang H. Experimental investigation of water spraying in an indirect evaporative cooler from nozzle type and spray strategy perspectives. </a:t>
            </a:r>
            <a:endParaRPr lang="en-HK" sz="1100" dirty="0">
              <a:solidFill>
                <a:prstClr val="black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B482234-D86D-4C48-BC4C-1674A8712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15884886-3D85-4AFD-9D94-33E4AF7428DD}" type="slidenum">
              <a:rPr lang="en-US" altLang="zh-CN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8</a:t>
            </a:fld>
            <a:endParaRPr lang="en-US" altLang="zh-CN">
              <a:latin typeface="Times New Roman"/>
              <a:ea typeface="SimSun"/>
              <a:cs typeface="Times New Roman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36BCB2F-72AD-4008-B678-9A07005B8EA9}"/>
              </a:ext>
            </a:extLst>
          </p:cNvPr>
          <p:cNvSpPr txBox="1"/>
          <p:nvPr/>
        </p:nvSpPr>
        <p:spPr>
          <a:xfrm>
            <a:off x="6162675" y="1258391"/>
            <a:ext cx="19316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defTabSz="457200" eaLnBrk="1" fontAlgn="auto" hangingPunct="1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HK" sz="20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喷淋分布</a:t>
            </a:r>
          </a:p>
        </p:txBody>
      </p:sp>
      <p:sp>
        <p:nvSpPr>
          <p:cNvPr id="20" name="Title 8">
            <a:extLst>
              <a:ext uri="{FF2B5EF4-FFF2-40B4-BE49-F238E27FC236}">
                <a16:creationId xmlns:a16="http://schemas.microsoft.com/office/drawing/2014/main" id="{099B9800-76A0-4C9E-9283-74EBD0592B1E}"/>
              </a:ext>
            </a:extLst>
          </p:cNvPr>
          <p:cNvSpPr txBox="1">
            <a:spLocks/>
          </p:cNvSpPr>
          <p:nvPr/>
        </p:nvSpPr>
        <p:spPr bwMode="auto">
          <a:xfrm>
            <a:off x="882545" y="259531"/>
            <a:ext cx="8382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defRPr>
                <a:solidFill>
                  <a:schemeClr val="tx1"/>
                </a:solidFill>
                <a:latin typeface="Times New Roman" charset="0"/>
                <a:ea typeface="SimSun" charset="0"/>
                <a:cs typeface="Times New Roman" charset="0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Times New Roman" charset="0"/>
                <a:ea typeface="SimSun" charset="0"/>
                <a:cs typeface="Times New Roman" charset="0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Times New Roman" charset="0"/>
                <a:ea typeface="SimSun" charset="0"/>
                <a:cs typeface="Times New Roman" charset="0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Times New Roman" charset="0"/>
                <a:ea typeface="SimSun" charset="0"/>
                <a:cs typeface="Times New Roman" charset="0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Times New Roman" charset="0"/>
                <a:ea typeface="SimSun" charset="0"/>
                <a:cs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charset="0"/>
                <a:ea typeface="SimSun" charset="0"/>
                <a:cs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charset="0"/>
                <a:ea typeface="SimSun" charset="0"/>
                <a:cs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charset="0"/>
                <a:ea typeface="SimSun" charset="0"/>
                <a:cs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charset="0"/>
                <a:ea typeface="SimSun" charset="0"/>
                <a:cs typeface="Times New Roman" charset="0"/>
              </a:defRPr>
            </a:lvl9pPr>
          </a:lstStyle>
          <a:p>
            <a:pPr eaLnBrk="1" fontAlgn="auto" hangingPunct="1" algn="l">
              <a:spcBef>
                <a:spcPts val="0"/>
              </a:spcBef>
              <a:spcAft>
                <a:spcPts val="0"/>
              </a:spcAft>
            </a:pPr>
            <a:r>
              <a:rPr lang="en-US" b="1" dirty="0" sz="180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1</a:t>
            </a:r>
            <a:r>
              <a:rPr lang="en-US" b="1" dirty="0" sz="180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. 研究背景与文献综述</a:t>
            </a:r>
          </a:p>
        </p:txBody>
      </p:sp>
    </p:spTree>
    <p:extLst>
      <p:ext uri="{BB962C8B-B14F-4D97-AF65-F5344CB8AC3E}">
        <p14:creationId xmlns:p14="http://schemas.microsoft.com/office/powerpoint/2010/main" val="2848175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33"/>
    </mc:Choice>
    <mc:Fallback xmlns="">
      <p:transition spd="slow" advTm="5933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25CBF3B0-E901-4873-A723-7AA928F895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9347" y="1378030"/>
            <a:ext cx="7148037" cy="4184569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8E7CFE02-F62C-43D5-B3A7-84E54DB6610B}"/>
              </a:ext>
            </a:extLst>
          </p:cNvPr>
          <p:cNvSpPr/>
          <p:nvPr/>
        </p:nvSpPr>
        <p:spPr>
          <a:xfrm>
            <a:off x="4888438" y="5562599"/>
            <a:ext cx="24288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HK" sz="12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Fig.1.3.5 </a:t>
            </a:r>
            <a:r>
              <a:rPr lang="en-HK" sz="12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Previous model of the IEC</a:t>
            </a:r>
            <a:endParaRPr lang="en-HK" sz="1200" baseline="30000" dirty="0">
              <a:solidFill>
                <a:prstClr val="black"/>
              </a:solidFill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endParaRPr lang="en-HK" sz="1200" dirty="0">
              <a:solidFill>
                <a:prstClr val="black"/>
              </a:solidFill>
              <a:latin typeface="Times New Roman" panose="020B0604020202020204" pitchFamily="34" charset="0"/>
              <a:ea typeface="SimSun"/>
              <a:cs typeface="Times New Roman" panose="020B0604020202020204" pitchFamily="34" charset="0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3D378700-1184-42B0-BC78-8BC8371E099F}"/>
              </a:ext>
            </a:extLst>
          </p:cNvPr>
          <p:cNvSpPr/>
          <p:nvPr/>
        </p:nvSpPr>
        <p:spPr bwMode="auto">
          <a:xfrm>
            <a:off x="3409651" y="1791989"/>
            <a:ext cx="290049" cy="2751071"/>
          </a:xfrm>
          <a:prstGeom prst="ellipse">
            <a:avLst/>
          </a:prstGeom>
          <a:noFill/>
          <a:ln w="22225" cap="flat" cmpd="sng" algn="ctr">
            <a:solidFill>
              <a:srgbClr val="A6062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endParaRPr lang="en-HK" sz="3200" dirty="0">
              <a:solidFill>
                <a:schemeClr val="bg2"/>
              </a:solidFill>
              <a:latin typeface="Times New Roman" charset="0"/>
              <a:ea typeface="SimSun"/>
              <a:cs typeface="Times New Roman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E3DEC194-6E28-4884-990E-FFC1823815C8}"/>
              </a:ext>
            </a:extLst>
          </p:cNvPr>
          <p:cNvSpPr/>
          <p:nvPr/>
        </p:nvSpPr>
        <p:spPr bwMode="auto">
          <a:xfrm>
            <a:off x="6122388" y="1723413"/>
            <a:ext cx="290049" cy="2835108"/>
          </a:xfrm>
          <a:prstGeom prst="ellipse">
            <a:avLst/>
          </a:prstGeom>
          <a:noFill/>
          <a:ln w="22225" cap="flat" cmpd="sng" algn="ctr">
            <a:solidFill>
              <a:srgbClr val="A6062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endParaRPr lang="en-HK" sz="3200" dirty="0">
              <a:solidFill>
                <a:schemeClr val="bg2"/>
              </a:solidFill>
              <a:latin typeface="Times New Roman" charset="0"/>
              <a:ea typeface="SimSun"/>
              <a:cs typeface="Times New Roman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F029131F-E6FC-4848-92C8-DA8DDA95290A}"/>
              </a:ext>
            </a:extLst>
          </p:cNvPr>
          <p:cNvSpPr/>
          <p:nvPr/>
        </p:nvSpPr>
        <p:spPr bwMode="auto">
          <a:xfrm>
            <a:off x="8610981" y="1802399"/>
            <a:ext cx="290049" cy="2710543"/>
          </a:xfrm>
          <a:prstGeom prst="ellipse">
            <a:avLst/>
          </a:prstGeom>
          <a:noFill/>
          <a:ln w="22225" cap="flat" cmpd="sng" algn="ctr">
            <a:solidFill>
              <a:srgbClr val="A6062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endParaRPr lang="en-HK" sz="3200" dirty="0">
              <a:solidFill>
                <a:schemeClr val="bg2"/>
              </a:solidFill>
              <a:latin typeface="Times New Roman" charset="0"/>
              <a:ea typeface="SimSun"/>
              <a:cs typeface="Times New Roman"/>
            </a:endParaRP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A2AD6BAD-522A-4E0D-92A7-68563455EA24}"/>
              </a:ext>
            </a:extLst>
          </p:cNvPr>
          <p:cNvCxnSpPr>
            <a:cxnSpLocks/>
            <a:stCxn id="5" idx="4"/>
          </p:cNvCxnSpPr>
          <p:nvPr/>
        </p:nvCxnSpPr>
        <p:spPr bwMode="auto">
          <a:xfrm>
            <a:off x="3554676" y="4543060"/>
            <a:ext cx="1927751" cy="1377303"/>
          </a:xfrm>
          <a:prstGeom prst="straightConnector1">
            <a:avLst/>
          </a:prstGeom>
          <a:ln>
            <a:solidFill>
              <a:srgbClr val="C00000"/>
            </a:solidFill>
            <a:headEnd type="none" w="med" len="me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42E955AA-A101-4E43-A9B9-F5FF16A3C183}"/>
              </a:ext>
            </a:extLst>
          </p:cNvPr>
          <p:cNvCxnSpPr>
            <a:cxnSpLocks/>
            <a:stCxn id="20" idx="4"/>
          </p:cNvCxnSpPr>
          <p:nvPr/>
        </p:nvCxnSpPr>
        <p:spPr bwMode="auto">
          <a:xfrm>
            <a:off x="6267413" y="4558521"/>
            <a:ext cx="0" cy="1345541"/>
          </a:xfrm>
          <a:prstGeom prst="straightConnector1">
            <a:avLst/>
          </a:prstGeom>
          <a:ln>
            <a:solidFill>
              <a:srgbClr val="C00000"/>
            </a:solidFill>
            <a:headEnd type="none" w="med" len="me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2C0854CB-3A56-4522-BCA5-2E5F1FDAFB38}"/>
              </a:ext>
            </a:extLst>
          </p:cNvPr>
          <p:cNvCxnSpPr>
            <a:cxnSpLocks/>
          </p:cNvCxnSpPr>
          <p:nvPr/>
        </p:nvCxnSpPr>
        <p:spPr bwMode="auto">
          <a:xfrm flipH="1">
            <a:off x="6709720" y="4490009"/>
            <a:ext cx="2057921" cy="1454844"/>
          </a:xfrm>
          <a:prstGeom prst="straightConnector1">
            <a:avLst/>
          </a:prstGeom>
          <a:ln>
            <a:solidFill>
              <a:srgbClr val="C00000"/>
            </a:solidFill>
            <a:headEnd type="none" w="med" len="me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503B77FD-B937-426C-8785-AAC4A219E9AD}"/>
              </a:ext>
            </a:extLst>
          </p:cNvPr>
          <p:cNvSpPr txBox="1"/>
          <p:nvPr/>
        </p:nvSpPr>
        <p:spPr>
          <a:xfrm>
            <a:off x="1556127" y="5904062"/>
            <a:ext cx="9313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defTabSz="457200" eaLnBrk="1" fontAlgn="auto" hangingPunct="1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HK" sz="18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理想假设：薄水膜完整、均匀地覆盖湿通道表面。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1FD4503-2693-4DBE-B8D8-827EE31A8078}"/>
              </a:ext>
            </a:extLst>
          </p:cNvPr>
          <p:cNvSpPr/>
          <p:nvPr/>
        </p:nvSpPr>
        <p:spPr>
          <a:xfrm>
            <a:off x="5408670" y="6273394"/>
            <a:ext cx="108074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i="1" dirty="0">
                <a:solidFill>
                  <a:srgbClr val="A60626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理想！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BB6A41B-B989-4BB1-93D3-8B7041E8C517}"/>
              </a:ext>
            </a:extLst>
          </p:cNvPr>
          <p:cNvSpPr txBox="1"/>
          <p:nvPr/>
        </p:nvSpPr>
        <p:spPr>
          <a:xfrm>
            <a:off x="535303" y="937637"/>
            <a:ext cx="3427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eaLnBrk="1" fontAlgn="auto" hangingPunct="1" algn="l">
              <a:spcBef>
                <a:spcPts val="0"/>
              </a:spcBef>
              <a:spcAft>
                <a:spcPts val="0"/>
              </a:spcAft>
            </a:pPr>
            <a:r>
              <a:rPr lang="en-HK" sz="18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1.4</a:t>
            </a:r>
            <a:r>
              <a:rPr lang="en-HK" sz="18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现有 IEC 模型研究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5AA2B23-CD6E-49B1-AE8D-2AC5B4516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15884886-3D85-4AFD-9D94-33E4AF7428DD}" type="slidenum">
              <a:rPr lang="en-US" altLang="zh-CN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9</a:t>
            </a:fld>
            <a:endParaRPr lang="en-US" altLang="zh-CN">
              <a:latin typeface="Times New Roman"/>
              <a:ea typeface="SimSun"/>
              <a:cs typeface="Times New Roman"/>
            </a:endParaRPr>
          </a:p>
        </p:txBody>
      </p:sp>
      <p:sp>
        <p:nvSpPr>
          <p:cNvPr id="18" name="Title 8">
            <a:extLst>
              <a:ext uri="{FF2B5EF4-FFF2-40B4-BE49-F238E27FC236}">
                <a16:creationId xmlns:a16="http://schemas.microsoft.com/office/drawing/2014/main" id="{31252C30-804E-4227-9AE8-D551D1A10476}"/>
              </a:ext>
            </a:extLst>
          </p:cNvPr>
          <p:cNvSpPr txBox="1">
            <a:spLocks/>
          </p:cNvSpPr>
          <p:nvPr/>
        </p:nvSpPr>
        <p:spPr bwMode="auto">
          <a:xfrm>
            <a:off x="882545" y="259531"/>
            <a:ext cx="8382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defRPr>
                <a:solidFill>
                  <a:schemeClr val="tx1"/>
                </a:solidFill>
                <a:latin typeface="Times New Roman" charset="0"/>
                <a:ea typeface="SimSun" charset="0"/>
                <a:cs typeface="Times New Roman" charset="0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Times New Roman" charset="0"/>
                <a:ea typeface="SimSun" charset="0"/>
                <a:cs typeface="Times New Roman" charset="0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Times New Roman" charset="0"/>
                <a:ea typeface="SimSun" charset="0"/>
                <a:cs typeface="Times New Roman" charset="0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Times New Roman" charset="0"/>
                <a:ea typeface="SimSun" charset="0"/>
                <a:cs typeface="Times New Roman" charset="0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Times New Roman" charset="0"/>
                <a:ea typeface="SimSun" charset="0"/>
                <a:cs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charset="0"/>
                <a:ea typeface="SimSun" charset="0"/>
                <a:cs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charset="0"/>
                <a:ea typeface="SimSun" charset="0"/>
                <a:cs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charset="0"/>
                <a:ea typeface="SimSun" charset="0"/>
                <a:cs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charset="0"/>
                <a:ea typeface="SimSun" charset="0"/>
                <a:cs typeface="Times New Roman" charset="0"/>
              </a:defRPr>
            </a:lvl9pPr>
          </a:lstStyle>
          <a:p>
            <a:pPr eaLnBrk="1" fontAlgn="auto" hangingPunct="1" algn="l">
              <a:spcBef>
                <a:spcPts val="0"/>
              </a:spcBef>
              <a:spcAft>
                <a:spcPts val="0"/>
              </a:spcAft>
            </a:pPr>
            <a:r>
              <a:rPr lang="en-US" b="1" dirty="0" sz="180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1</a:t>
            </a:r>
            <a:r>
              <a:rPr lang="en-US" b="1" dirty="0" sz="180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. 研究背景与文献综述</a:t>
            </a:r>
          </a:p>
        </p:txBody>
      </p:sp>
    </p:spTree>
    <p:extLst>
      <p:ext uri="{BB962C8B-B14F-4D97-AF65-F5344CB8AC3E}">
        <p14:creationId xmlns:p14="http://schemas.microsoft.com/office/powerpoint/2010/main" val="568602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33"/>
    </mc:Choice>
    <mc:Fallback xmlns="">
      <p:transition spd="slow" advTm="5933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523D1FCB-F41A-4EF6-BB9A-E5E2546B0349}"/>
              </a:ext>
            </a:extLst>
          </p:cNvPr>
          <p:cNvSpPr txBox="1"/>
          <p:nvPr/>
        </p:nvSpPr>
        <p:spPr>
          <a:xfrm>
            <a:off x="478152" y="948355"/>
            <a:ext cx="68670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eaLnBrk="1" fontAlgn="auto" hangingPunct="1" algn="l">
              <a:spcBef>
                <a:spcPts val="0"/>
              </a:spcBef>
              <a:spcAft>
                <a:spcPts val="0"/>
              </a:spcAft>
            </a:pPr>
            <a:r>
              <a:rPr lang="en-HK" sz="20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1.5</a:t>
            </a:r>
            <a:r>
              <a:rPr lang="en-HK" sz="20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IEC 作为能量回收单元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660984A-5705-45EB-800B-BE30FF291B07}"/>
              </a:ext>
            </a:extLst>
          </p:cNvPr>
          <p:cNvSpPr/>
          <p:nvPr/>
        </p:nvSpPr>
        <p:spPr>
          <a:xfrm>
            <a:off x="4102185" y="3300147"/>
            <a:ext cx="362746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HK" sz="12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Fig.1.5.1 </a:t>
            </a:r>
            <a:r>
              <a:rPr 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Schematics diagram of IEC followed by AHU</a:t>
            </a:r>
            <a:endParaRPr lang="en-HK" sz="1200" dirty="0">
              <a:solidFill>
                <a:prstClr val="black"/>
              </a:solidFill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B091CBB-CBBD-6E24-920D-550D736160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8495" y="1348465"/>
            <a:ext cx="6195010" cy="19800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F835B20-1FE2-5AD4-5C0C-9C88D6FC8312}"/>
              </a:ext>
            </a:extLst>
          </p:cNvPr>
          <p:cNvSpPr txBox="1"/>
          <p:nvPr/>
        </p:nvSpPr>
        <p:spPr>
          <a:xfrm>
            <a:off x="2274773" y="6178467"/>
            <a:ext cx="82786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尚缺乏标准化的喷嘴布置指导方法。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B35BE47-F0F4-4F1C-98DE-F2162EE381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5695" y="3965897"/>
            <a:ext cx="3805759" cy="1980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B9C0565-9603-4709-98FF-1206B8A58E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1453" y="3973457"/>
            <a:ext cx="2996400" cy="1980000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C43E418A-A63E-41B4-ACD9-BD1EECBBCE6B}"/>
              </a:ext>
            </a:extLst>
          </p:cNvPr>
          <p:cNvSpPr/>
          <p:nvPr/>
        </p:nvSpPr>
        <p:spPr>
          <a:xfrm>
            <a:off x="900996" y="3586237"/>
            <a:ext cx="543014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defTabSz="457200" eaLnBrk="1" fontAlgn="auto" hangingPunct="1" algn="l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HK" sz="20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菱形 IEC 的不同喷嘴布置方式</a:t>
            </a:r>
          </a:p>
        </p:txBody>
      </p:sp>
      <p:sp>
        <p:nvSpPr>
          <p:cNvPr id="19" name="圆角矩形 44">
            <a:extLst>
              <a:ext uri="{FF2B5EF4-FFF2-40B4-BE49-F238E27FC236}">
                <a16:creationId xmlns:a16="http://schemas.microsoft.com/office/drawing/2014/main" id="{EFA8BA0F-3A53-4119-8208-58CDB0207DAD}"/>
              </a:ext>
            </a:extLst>
          </p:cNvPr>
          <p:cNvSpPr/>
          <p:nvPr/>
        </p:nvSpPr>
        <p:spPr>
          <a:xfrm>
            <a:off x="2123476" y="6178468"/>
            <a:ext cx="7793751" cy="512075"/>
          </a:xfrm>
          <a:prstGeom prst="roundRect">
            <a:avLst/>
          </a:prstGeom>
          <a:noFill/>
          <a:ln w="19050" cap="flat" cmpd="sng" algn="ctr">
            <a:solidFill>
              <a:srgbClr val="C00000"/>
            </a:solidFill>
            <a:prstDash val="sysDash"/>
          </a:ln>
          <a:effectLst/>
        </p:spPr>
        <p:txBody>
          <a:bodyPr anchor="ctr"/>
          <a:lstStyle/>
          <a:p>
            <a:pPr algn="ctr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>
                <a:latin typeface="Times New Roman"/>
                <a:ea typeface="SimSun"/>
                <a:cs typeface="Times New Roman"/>
              </a:defRPr>
            </a:pPr>
            <a:endParaRPr lang="zh-CN" altLang="en-US" sz="1800" kern="0">
              <a:solidFill>
                <a:prstClr val="white"/>
              </a:solidFill>
              <a:latin typeface="Times New Roman"/>
              <a:ea typeface="SimSun"/>
              <a:cs typeface="Times New Roman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2548687-009F-4747-894B-0D4F64FF0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15884886-3D85-4AFD-9D94-33E4AF7428DD}" type="slidenum">
              <a:rPr lang="en-US" altLang="zh-CN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10</a:t>
            </a:fld>
            <a:endParaRPr lang="en-US" altLang="zh-CN">
              <a:latin typeface="Times New Roman"/>
              <a:ea typeface="SimSun"/>
              <a:cs typeface="Times New Roman"/>
            </a:endParaRPr>
          </a:p>
        </p:txBody>
      </p:sp>
      <p:sp>
        <p:nvSpPr>
          <p:cNvPr id="13" name="Title 8">
            <a:extLst>
              <a:ext uri="{FF2B5EF4-FFF2-40B4-BE49-F238E27FC236}">
                <a16:creationId xmlns:a16="http://schemas.microsoft.com/office/drawing/2014/main" id="{BD1A0AA3-C312-48E2-9FC2-006C72C0AA13}"/>
              </a:ext>
            </a:extLst>
          </p:cNvPr>
          <p:cNvSpPr txBox="1">
            <a:spLocks/>
          </p:cNvSpPr>
          <p:nvPr/>
        </p:nvSpPr>
        <p:spPr bwMode="auto">
          <a:xfrm>
            <a:off x="882545" y="259531"/>
            <a:ext cx="8382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defRPr>
                <a:solidFill>
                  <a:schemeClr val="tx1"/>
                </a:solidFill>
                <a:latin typeface="Times New Roman" charset="0"/>
                <a:ea typeface="SimSun" charset="0"/>
                <a:cs typeface="Times New Roman" charset="0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Times New Roman" charset="0"/>
                <a:ea typeface="SimSun" charset="0"/>
                <a:cs typeface="Times New Roman" charset="0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Times New Roman" charset="0"/>
                <a:ea typeface="SimSun" charset="0"/>
                <a:cs typeface="Times New Roman" charset="0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Times New Roman" charset="0"/>
                <a:ea typeface="SimSun" charset="0"/>
                <a:cs typeface="Times New Roman" charset="0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Times New Roman" charset="0"/>
                <a:ea typeface="SimSun" charset="0"/>
                <a:cs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charset="0"/>
                <a:ea typeface="SimSun" charset="0"/>
                <a:cs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charset="0"/>
                <a:ea typeface="SimSun" charset="0"/>
                <a:cs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charset="0"/>
                <a:ea typeface="SimSun" charset="0"/>
                <a:cs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charset="0"/>
                <a:ea typeface="SimSun" charset="0"/>
                <a:cs typeface="Times New Roman" charset="0"/>
              </a:defRPr>
            </a:lvl9pPr>
          </a:lstStyle>
          <a:p>
            <a:pPr eaLnBrk="1" fontAlgn="auto" hangingPunct="1" algn="l">
              <a:spcBef>
                <a:spcPts val="0"/>
              </a:spcBef>
              <a:spcAft>
                <a:spcPts val="0"/>
              </a:spcAft>
            </a:pPr>
            <a:r>
              <a:rPr lang="en-US" b="1" dirty="0" sz="180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1</a:t>
            </a:r>
            <a:r>
              <a:rPr lang="en-US" b="1" dirty="0" sz="180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. 研究背景与文献综述</a:t>
            </a:r>
          </a:p>
        </p:txBody>
      </p:sp>
    </p:spTree>
    <p:extLst>
      <p:ext uri="{BB962C8B-B14F-4D97-AF65-F5344CB8AC3E}">
        <p14:creationId xmlns:p14="http://schemas.microsoft.com/office/powerpoint/2010/main" val="2398867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33"/>
    </mc:Choice>
    <mc:Fallback xmlns="">
      <p:transition spd="slow" advTm="593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B57B5CD-351B-409C-8419-7945124A5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15884886-3D85-4AFD-9D94-33E4AF7428DD}" type="slidenum">
              <a:rPr lang="en-US" altLang="zh-CN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11</a:t>
            </a:fld>
            <a:endParaRPr lang="en-US" altLang="zh-CN">
              <a:latin typeface="Times New Roman"/>
              <a:ea typeface="SimSun"/>
              <a:cs typeface="Times New Roman"/>
            </a:endParaRPr>
          </a:p>
        </p:txBody>
      </p:sp>
      <p:sp>
        <p:nvSpPr>
          <p:cNvPr id="8" name="矩形 3">
            <a:extLst>
              <a:ext uri="{FF2B5EF4-FFF2-40B4-BE49-F238E27FC236}">
                <a16:creationId xmlns:a16="http://schemas.microsoft.com/office/drawing/2014/main" id="{D9741B7C-1F8F-4EC9-933F-469EF3EF71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76201"/>
            <a:ext cx="2687638" cy="580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9pPr>
          </a:lstStyle>
          <a:p>
            <a:pPr algn="l">
              <a:lnSpc>
                <a:spcPct val="125000"/>
              </a:lnSpc>
              <a:spcBef>
                <a:spcPct val="20000"/>
              </a:spcBef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汇报提纲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A9CC545-9F15-455E-BB97-2733665CD8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3372" y="1058230"/>
            <a:ext cx="10777490" cy="5418675"/>
          </a:xfrm>
        </p:spPr>
        <p:txBody>
          <a:bodyPr/>
          <a:lstStyle/>
          <a:p>
            <a:pPr marL="457200" indent="-457200" algn="l">
              <a:lnSpc>
                <a:spcPts val="3500"/>
              </a:lnSpc>
              <a:spcBef>
                <a:spcPts val="600"/>
              </a:spcBef>
              <a:spcAft>
                <a:spcPts val="800"/>
              </a:spcAft>
              <a:buAutoNum type="arabicPeriod"/>
            </a:pPr>
            <a:r>
              <a:rPr lang="en-HK" sz="2400" b="1" dirty="0">
                <a:solidFill>
                  <a:schemeClr val="tx1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研究背景与文献综述</a:t>
            </a:r>
          </a:p>
          <a:p>
            <a:pPr marL="457200" indent="-457200" algn="l">
              <a:lnSpc>
                <a:spcPts val="3500"/>
              </a:lnSpc>
              <a:spcBef>
                <a:spcPts val="600"/>
              </a:spcBef>
              <a:spcAft>
                <a:spcPts val="800"/>
              </a:spcAft>
              <a:buAutoNum type="arabicPeriod"/>
            </a:pP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研究不足与研究目标</a:t>
            </a:r>
          </a:p>
          <a:p>
            <a:pPr marL="457200" indent="-457200" algn="l">
              <a:lnSpc>
                <a:spcPts val="3500"/>
              </a:lnSpc>
              <a:spcBef>
                <a:spcPts val="600"/>
              </a:spcBef>
              <a:spcAft>
                <a:spcPts val="800"/>
              </a:spcAft>
              <a:buAutoNum type="arabicPeriod"/>
            </a:pPr>
            <a:r>
              <a:rPr lang="en-HK" sz="2400" b="1" dirty="0">
                <a:solidFill>
                  <a:schemeClr val="tx1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IEC 喷淋分布的 FDM 建模与优化</a:t>
            </a:r>
          </a:p>
          <a:p>
            <a:pPr marL="457200" indent="-457200" algn="l">
              <a:lnSpc>
                <a:spcPts val="3500"/>
              </a:lnSpc>
              <a:spcBef>
                <a:spcPts val="600"/>
              </a:spcBef>
              <a:spcAft>
                <a:spcPts val="800"/>
              </a:spcAft>
              <a:buAutoNum type="arabicPeriod"/>
            </a:pPr>
            <a:r>
              <a:rPr lang="en-HK" sz="2400" b="1" dirty="0">
                <a:solidFill>
                  <a:schemeClr val="tx1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考虑水膜形成的 IEC 三维 CFD 分析</a:t>
            </a:r>
          </a:p>
          <a:p>
            <a:pPr marL="457200" indent="-457200" algn="l">
              <a:lnSpc>
                <a:spcPts val="3500"/>
              </a:lnSpc>
              <a:spcBef>
                <a:spcPts val="600"/>
              </a:spcBef>
              <a:spcAft>
                <a:spcPts val="800"/>
              </a:spcAft>
              <a:buAutoNum type="arabicPeriod"/>
            </a:pPr>
            <a:r>
              <a:rPr lang="en-HK" sz="2400" b="1" dirty="0">
                <a:solidFill>
                  <a:schemeClr val="tx1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基于 ANN 与遗传算法的喷淋策略优化</a:t>
            </a:r>
          </a:p>
          <a:p>
            <a:pPr marL="457200" indent="-457200" algn="l">
              <a:lnSpc>
                <a:spcPts val="3500"/>
              </a:lnSpc>
              <a:spcBef>
                <a:spcPts val="600"/>
              </a:spcBef>
              <a:spcAft>
                <a:spcPts val="800"/>
              </a:spcAft>
              <a:buAutoNum type="arabicPeriod"/>
            </a:pPr>
            <a:r>
              <a:rPr lang="en-HK" sz="2400" b="1" dirty="0">
                <a:solidFill>
                  <a:schemeClr val="tx1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数据中心 IEC 的喷嘴优化与性能强化</a:t>
            </a:r>
          </a:p>
          <a:p>
            <a:pPr marL="457200" indent="-457200" algn="l">
              <a:lnSpc>
                <a:spcPts val="3500"/>
              </a:lnSpc>
              <a:spcBef>
                <a:spcPts val="600"/>
              </a:spcBef>
              <a:spcAft>
                <a:spcPts val="800"/>
              </a:spcAft>
              <a:buAutoNum type="arabicPeriod"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研究结论与未来展望</a:t>
            </a:r>
          </a:p>
        </p:txBody>
      </p:sp>
    </p:spTree>
    <p:extLst>
      <p:ext uri="{BB962C8B-B14F-4D97-AF65-F5344CB8AC3E}">
        <p14:creationId xmlns:p14="http://schemas.microsoft.com/office/powerpoint/2010/main" val="3758916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33"/>
    </mc:Choice>
    <mc:Fallback xmlns="">
      <p:transition spd="slow" advTm="5933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>
            <a:extLst>
              <a:ext uri="{FF2B5EF4-FFF2-40B4-BE49-F238E27FC236}">
                <a16:creationId xmlns:a16="http://schemas.microsoft.com/office/drawing/2014/main" id="{107BC49E-AA96-4902-F3C6-CF680147B4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2025" y="1301847"/>
            <a:ext cx="10115550" cy="5490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9pPr>
          </a:lstStyle>
          <a:p>
            <a:pPr marL="457200" indent="-457200" algn="l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HK" altLang="zh-CN" sz="18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现有 IEC 喷淋分析多依赖实验数据，能够定量模拟各项参数的数学模型较少。</a:t>
            </a:r>
          </a:p>
          <a:p>
            <a:pPr marL="457200" indent="-457200" algn="l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HK" altLang="zh-CN" sz="18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现有传热传质模型对润湿率的讨论不足，需修正完全润湿的理想假设。</a:t>
            </a:r>
          </a:p>
          <a:p>
            <a:pPr marL="457200" indent="-457200" algn="l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HK" altLang="zh-CN" sz="18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二维模型难以准确描述水膜分布，也难以处理复杂的水力与热力特性。</a:t>
            </a:r>
          </a:p>
          <a:p>
            <a:pPr marL="457200" indent="-457200" algn="l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altLang="zh-CN" sz="18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湿通道达到最佳润湿状态所需的喷嘴布置与参数尚不明确。</a:t>
            </a:r>
          </a:p>
          <a:p>
            <a:pPr marL="457200" indent="-457200" algn="l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HK" altLang="zh-CN" sz="18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大型工程需要简便、高效的 IEC 性能预测与喷淋参数优化方法。</a:t>
            </a:r>
          </a:p>
          <a:p>
            <a:pPr marL="457200" indent="-457200" algn="l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HK" altLang="zh-CN" sz="18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数据中心采用的菱形 IEC 与空气处理机组（AHU）耦合时，需要有针对性的喷淋设计。</a:t>
            </a:r>
          </a:p>
        </p:txBody>
      </p:sp>
      <p:sp>
        <p:nvSpPr>
          <p:cNvPr id="5" name="Content Placeholder 23">
            <a:extLst>
              <a:ext uri="{FF2B5EF4-FFF2-40B4-BE49-F238E27FC236}">
                <a16:creationId xmlns:a16="http://schemas.microsoft.com/office/drawing/2014/main" id="{F5B213E1-BA12-4FA4-8700-DF6FD91B2CA8}"/>
              </a:ext>
            </a:extLst>
          </p:cNvPr>
          <p:cNvSpPr txBox="1">
            <a:spLocks/>
          </p:cNvSpPr>
          <p:nvPr/>
        </p:nvSpPr>
        <p:spPr bwMode="auto">
          <a:xfrm>
            <a:off x="364331" y="885825"/>
            <a:ext cx="8510587" cy="5397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234950" indent="-23495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 pitchFamily="-111" charset="-128"/>
              </a:defRPr>
            </a:lvl1pPr>
            <a:lvl2pPr marL="576263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2pPr>
            <a:lvl3pPr marL="866775" indent="-176213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3pPr>
            <a:lvl4pPr marL="1196975" indent="-1635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4pPr>
            <a:lvl5pPr marL="1604963" indent="-176213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5pPr>
            <a:lvl6pPr marL="20621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6pPr>
            <a:lvl7pPr marL="25193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7pPr>
            <a:lvl8pPr marL="29765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8pPr>
            <a:lvl9pPr marL="34337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9pPr>
          </a:lstStyle>
          <a:p>
            <a:pPr marL="0" lvl="1" indent="0" algn="l">
              <a:spcBef>
                <a:spcPts val="1200"/>
              </a:spcBef>
              <a:spcAft>
                <a:spcPts val="1200"/>
              </a:spcAft>
              <a:buClrTx/>
              <a:buNone/>
              <a:defRPr>
                <a:latin typeface="Times New Roman"/>
                <a:ea typeface="SimSun"/>
                <a:cs typeface="Times New Roman"/>
              </a:defRPr>
            </a:pPr>
            <a:r>
              <a:rPr lang="en-US" altLang="en-US" sz="1800" b="1" kern="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2.1</a:t>
            </a:r>
            <a:r>
              <a:rPr lang="en-US" altLang="en-US" sz="1800" b="1" kern="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研究不足</a:t>
            </a:r>
          </a:p>
        </p:txBody>
      </p:sp>
      <p:sp>
        <p:nvSpPr>
          <p:cNvPr id="7" name="矩形 3">
            <a:extLst>
              <a:ext uri="{FF2B5EF4-FFF2-40B4-BE49-F238E27FC236}">
                <a16:creationId xmlns:a16="http://schemas.microsoft.com/office/drawing/2014/main" id="{B117BA7A-DC86-46C3-A64F-CB32A5B876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2025" y="142876"/>
            <a:ext cx="7315200" cy="5107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9pPr>
          </a:lstStyle>
          <a:p>
            <a:pPr algn="l">
              <a:lnSpc>
                <a:spcPct val="125000"/>
              </a:lnSpc>
              <a:spcBef>
                <a:spcPct val="20000"/>
              </a:spcBef>
            </a:pPr>
            <a:r>
              <a:rPr lang="en-US" altLang="zh-CN" b="1" dirty="0" sz="1800"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2</a:t>
            </a:r>
            <a:r>
              <a:rPr lang="en-US" altLang="zh-CN" b="1" dirty="0" sz="1800"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. 研究不足与研究目标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C26C1E1-6E4F-47BE-9F5A-82EE8FEB8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15884886-3D85-4AFD-9D94-33E4AF7428DD}" type="slidenum">
              <a:rPr lang="en-US" altLang="zh-CN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12</a:t>
            </a:fld>
            <a:endParaRPr lang="en-US" altLang="zh-CN">
              <a:latin typeface="Times New Roman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15759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33"/>
    </mc:Choice>
    <mc:Fallback xmlns="">
      <p:transition spd="slow" advTm="5933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3"/>
          <p:cNvSpPr txBox="1">
            <a:spLocks/>
          </p:cNvSpPr>
          <p:nvPr/>
        </p:nvSpPr>
        <p:spPr bwMode="auto">
          <a:xfrm>
            <a:off x="623889" y="942975"/>
            <a:ext cx="8510587" cy="5397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234950" indent="-23495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 pitchFamily="-111" charset="-128"/>
              </a:defRPr>
            </a:lvl1pPr>
            <a:lvl2pPr marL="576263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2pPr>
            <a:lvl3pPr marL="866775" indent="-176213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3pPr>
            <a:lvl4pPr marL="1196975" indent="-1635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4pPr>
            <a:lvl5pPr marL="1604963" indent="-176213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5pPr>
            <a:lvl6pPr marL="20621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6pPr>
            <a:lvl7pPr marL="25193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7pPr>
            <a:lvl8pPr marL="29765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8pPr>
            <a:lvl9pPr marL="34337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9pPr>
          </a:lstStyle>
          <a:p>
            <a:pPr marL="0" lvl="1" indent="0" algn="l">
              <a:spcBef>
                <a:spcPts val="1200"/>
              </a:spcBef>
              <a:spcAft>
                <a:spcPts val="1200"/>
              </a:spcAft>
              <a:buClrTx/>
              <a:buNone/>
              <a:defRPr>
                <a:latin typeface="Times New Roman"/>
                <a:ea typeface="SimSun"/>
                <a:cs typeface="Times New Roman"/>
              </a:defRPr>
            </a:pPr>
            <a:r>
              <a:rPr lang="en-US" altLang="en-US" sz="1800" b="1" kern="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2.2</a:t>
            </a:r>
            <a:r>
              <a:rPr lang="en-US" altLang="en-US" sz="1800" b="1" kern="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研究目标</a:t>
            </a:r>
          </a:p>
        </p:txBody>
      </p:sp>
      <p:sp>
        <p:nvSpPr>
          <p:cNvPr id="8" name="文本框 2">
            <a:extLst>
              <a:ext uri="{FF2B5EF4-FFF2-40B4-BE49-F238E27FC236}">
                <a16:creationId xmlns:a16="http://schemas.microsoft.com/office/drawing/2014/main" id="{967DC070-33C9-4337-93BC-ADACBB0DD5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5363" y="1336348"/>
            <a:ext cx="10201274" cy="4997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9pPr>
          </a:lstStyle>
          <a:p>
            <a:pPr marL="457200" indent="-457200" algn="l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altLang="zh-CN" sz="18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建立有限差分（FDM）模型，预测 IEC 喷嘴的喷淋分布。</a:t>
            </a:r>
          </a:p>
          <a:p>
            <a:pPr marL="457200" indent="-457200" algn="l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altLang="zh-CN" sz="18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建立三维 CFD 模型，研究换热板表面水膜的形成与流动状态。</a:t>
            </a:r>
          </a:p>
          <a:p>
            <a:pPr marL="457200" indent="-457200" algn="l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altLang="zh-CN" sz="18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搭建完整 IEC 实验台，测量单对通道的实际润湿区域并验证模型。</a:t>
            </a:r>
          </a:p>
          <a:p>
            <a:pPr marL="457200" indent="-457200" algn="l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altLang="zh-CN" sz="18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开展参数分析，确定 IEC 系统的最优喷淋策略。</a:t>
            </a:r>
          </a:p>
          <a:p>
            <a:pPr marL="457200" indent="-457200" algn="l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HK" altLang="zh-CN" sz="18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建立高效的机器学习预测模型，结合遗传算法开展多目标优化。</a:t>
            </a:r>
          </a:p>
          <a:p>
            <a:pPr marL="457200" indent="-457200" algn="l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altLang="zh-CN" sz="18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建立并验证菱形 IEC 的 CFD 模型，优化喷嘴布置并研究数据中心应用中的性能强化策略。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853DE87-8E23-4C3B-844F-56A0FFBFD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15884886-3D85-4AFD-9D94-33E4AF7428DD}" type="slidenum">
              <a:rPr lang="en-US" altLang="zh-CN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13</a:t>
            </a:fld>
            <a:endParaRPr lang="en-US" altLang="zh-CN">
              <a:latin typeface="Times New Roman"/>
              <a:ea typeface="SimSun"/>
              <a:cs typeface="Times New Roman"/>
            </a:endParaRPr>
          </a:p>
        </p:txBody>
      </p:sp>
      <p:sp>
        <p:nvSpPr>
          <p:cNvPr id="7" name="矩形 3">
            <a:extLst>
              <a:ext uri="{FF2B5EF4-FFF2-40B4-BE49-F238E27FC236}">
                <a16:creationId xmlns:a16="http://schemas.microsoft.com/office/drawing/2014/main" id="{76A06385-B35A-4EB9-86C0-5166E3E12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2025" y="142876"/>
            <a:ext cx="7315200" cy="5107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9pPr>
          </a:lstStyle>
          <a:p>
            <a:pPr algn="l">
              <a:lnSpc>
                <a:spcPct val="125000"/>
              </a:lnSpc>
              <a:spcBef>
                <a:spcPct val="20000"/>
              </a:spcBef>
            </a:pPr>
            <a:r>
              <a:rPr lang="en-US" altLang="zh-CN" b="1" dirty="0" sz="1800"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2</a:t>
            </a:r>
            <a:r>
              <a:rPr lang="en-US" altLang="zh-CN" b="1" dirty="0" sz="1800"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. 研究不足与研究目标</a:t>
            </a:r>
          </a:p>
        </p:txBody>
      </p:sp>
    </p:spTree>
    <p:extLst>
      <p:ext uri="{BB962C8B-B14F-4D97-AF65-F5344CB8AC3E}">
        <p14:creationId xmlns:p14="http://schemas.microsoft.com/office/powerpoint/2010/main" val="1626659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7774"/>
    </mc:Choice>
    <mc:Fallback xmlns="">
      <p:transition spd="slow" advTm="47774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853DE87-8E23-4C3B-844F-56A0FFBFD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15884886-3D85-4AFD-9D94-33E4AF7428DD}" type="slidenum">
              <a:rPr lang="en-US" altLang="zh-CN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14</a:t>
            </a:fld>
            <a:endParaRPr lang="en-US" altLang="zh-CN">
              <a:latin typeface="Times New Roman"/>
              <a:ea typeface="SimSun"/>
              <a:cs typeface="Times New Roman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0A53435-5E66-4FD2-B6E6-769376465A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2025" y="323639"/>
            <a:ext cx="14321887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latin typeface="Times New Roman"/>
              <a:ea typeface="SimSun"/>
              <a:cs typeface="Times New Roman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8024DDC6-D731-4D53-AF6A-1F4C29FC01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6520294"/>
              </p:ext>
            </p:extLst>
          </p:nvPr>
        </p:nvGraphicFramePr>
        <p:xfrm>
          <a:off x="1162050" y="231565"/>
          <a:ext cx="10258425" cy="65343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2420571" imgH="7917098" progId="Visio.Drawing.15">
                  <p:embed/>
                </p:oleObj>
              </mc:Choice>
              <mc:Fallback>
                <p:oleObj name="Visio" r:id="rId3" imgW="12420571" imgH="7917098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2050" y="231565"/>
                        <a:ext cx="10258425" cy="653436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1258FFE4-CC42-9598-ED29-2045DC52D9E2}"/>
              </a:ext>
            </a:extLst>
          </p:cNvPr>
          <p:cNvSpPr/>
          <p:nvPr/>
        </p:nvSpPr>
        <p:spPr bwMode="auto">
          <a:xfrm>
            <a:off x="1339566" y="309473"/>
            <a:ext cx="1211435" cy="456001"/>
          </a:xfrm>
          <a:prstGeom prst="rect">
            <a:avLst/>
          </a:prstGeom>
          <a:solidFill>
            <a:srgbClr val="FFE08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第</a:t>
            </a:r>
            <a:r>
              <a:rPr kumimoji="0" lang="en-US" altLang="zh-CN" sz="12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3</a:t>
            </a:r>
            <a:r>
              <a:rPr kumimoji="0" lang="en-US" altLang="zh-CN" sz="12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部分</a:t>
            </a: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dirty="0" b="1">
                <a:solidFill>
                  <a:schemeClr val="bg2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FDM 模型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7269DCB-2C8E-C839-90D8-3233BED13225}"/>
              </a:ext>
            </a:extLst>
          </p:cNvPr>
          <p:cNvSpPr/>
          <p:nvPr/>
        </p:nvSpPr>
        <p:spPr bwMode="auto">
          <a:xfrm>
            <a:off x="4324688" y="3070835"/>
            <a:ext cx="1113394" cy="408055"/>
          </a:xfrm>
          <a:prstGeom prst="rect">
            <a:avLst/>
          </a:prstGeom>
          <a:solidFill>
            <a:srgbClr val="EFC4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第</a:t>
            </a:r>
            <a:r>
              <a:rPr kumimoji="0" lang="en-US" altLang="zh-CN" sz="12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5</a:t>
            </a:r>
            <a:r>
              <a:rPr kumimoji="0" lang="en-US" altLang="zh-CN" sz="12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部分</a:t>
            </a: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dirty="0">
                <a:solidFill>
                  <a:schemeClr val="bg2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ANN 模型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3D91274-9D7B-8228-FB25-8D25A4EADA54}"/>
              </a:ext>
            </a:extLst>
          </p:cNvPr>
          <p:cNvSpPr/>
          <p:nvPr/>
        </p:nvSpPr>
        <p:spPr bwMode="auto">
          <a:xfrm>
            <a:off x="6444033" y="1155659"/>
            <a:ext cx="1043765" cy="536130"/>
          </a:xfrm>
          <a:prstGeom prst="rect">
            <a:avLst/>
          </a:prstGeom>
          <a:solidFill>
            <a:srgbClr val="C9E8A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第</a:t>
            </a:r>
            <a:r>
              <a:rPr kumimoji="0" lang="en-US" altLang="zh-CN" sz="12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4</a:t>
            </a:r>
            <a:r>
              <a:rPr kumimoji="0" lang="en-US" altLang="zh-CN" sz="12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部分</a:t>
            </a: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50" dirty="0">
                <a:solidFill>
                  <a:schemeClr val="bg2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常规叉流式 IEC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25BEDB0-1A94-E868-8308-2B33529EE459}"/>
              </a:ext>
            </a:extLst>
          </p:cNvPr>
          <p:cNvSpPr/>
          <p:nvPr/>
        </p:nvSpPr>
        <p:spPr bwMode="auto">
          <a:xfrm>
            <a:off x="7753039" y="1155659"/>
            <a:ext cx="908443" cy="515280"/>
          </a:xfrm>
          <a:prstGeom prst="rect">
            <a:avLst/>
          </a:prstGeom>
          <a:solidFill>
            <a:srgbClr val="DFF1C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第</a:t>
            </a:r>
            <a:r>
              <a:rPr kumimoji="0" lang="en-US" altLang="zh-CN" sz="12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6</a:t>
            </a:r>
            <a:r>
              <a:rPr kumimoji="0" lang="en-US" altLang="zh-CN" sz="12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部分</a:t>
            </a: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50" dirty="0">
                <a:solidFill>
                  <a:schemeClr val="bg2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菱形 IEC</a:t>
            </a:r>
          </a:p>
        </p:txBody>
      </p:sp>
    </p:spTree>
    <p:extLst>
      <p:ext uri="{BB962C8B-B14F-4D97-AF65-F5344CB8AC3E}">
        <p14:creationId xmlns:p14="http://schemas.microsoft.com/office/powerpoint/2010/main" val="3914939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7774"/>
    </mc:Choice>
    <mc:Fallback xmlns="">
      <p:transition spd="slow" advTm="47774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B57B5CD-351B-409C-8419-7945124A5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15884886-3D85-4AFD-9D94-33E4AF7428DD}" type="slidenum">
              <a:rPr lang="en-US" altLang="zh-CN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15</a:t>
            </a:fld>
            <a:endParaRPr lang="en-US" altLang="zh-CN">
              <a:latin typeface="Times New Roman"/>
              <a:ea typeface="SimSun"/>
              <a:cs typeface="Times New Roman"/>
            </a:endParaRPr>
          </a:p>
        </p:txBody>
      </p:sp>
      <p:sp>
        <p:nvSpPr>
          <p:cNvPr id="8" name="矩形 3">
            <a:extLst>
              <a:ext uri="{FF2B5EF4-FFF2-40B4-BE49-F238E27FC236}">
                <a16:creationId xmlns:a16="http://schemas.microsoft.com/office/drawing/2014/main" id="{D9741B7C-1F8F-4EC9-933F-469EF3EF71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76201"/>
            <a:ext cx="2687638" cy="580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9pPr>
          </a:lstStyle>
          <a:p>
            <a:pPr algn="l">
              <a:lnSpc>
                <a:spcPct val="125000"/>
              </a:lnSpc>
              <a:spcBef>
                <a:spcPct val="20000"/>
              </a:spcBef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汇报提纲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A9CC545-9F15-455E-BB97-2733665CD8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3372" y="1058230"/>
            <a:ext cx="10777490" cy="5418675"/>
          </a:xfrm>
        </p:spPr>
        <p:txBody>
          <a:bodyPr/>
          <a:lstStyle/>
          <a:p>
            <a:pPr marL="457200" indent="-457200" algn="l">
              <a:lnSpc>
                <a:spcPts val="3500"/>
              </a:lnSpc>
              <a:spcBef>
                <a:spcPts val="600"/>
              </a:spcBef>
              <a:spcAft>
                <a:spcPts val="800"/>
              </a:spcAft>
              <a:buAutoNum type="arabicPeriod"/>
            </a:pPr>
            <a:r>
              <a:rPr lang="en-HK" sz="2400" b="1" dirty="0">
                <a:solidFill>
                  <a:schemeClr val="tx1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研究背景与文献综述</a:t>
            </a:r>
          </a:p>
          <a:p>
            <a:pPr marL="457200" indent="-457200" algn="l">
              <a:lnSpc>
                <a:spcPts val="3500"/>
              </a:lnSpc>
              <a:spcBef>
                <a:spcPts val="600"/>
              </a:spcBef>
              <a:spcAft>
                <a:spcPts val="800"/>
              </a:spcAft>
              <a:buAutoNum type="arabicPeriod"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研究不足与研究目标</a:t>
            </a:r>
          </a:p>
          <a:p>
            <a:pPr marL="457200" indent="-457200" algn="l">
              <a:lnSpc>
                <a:spcPts val="3500"/>
              </a:lnSpc>
              <a:spcBef>
                <a:spcPts val="600"/>
              </a:spcBef>
              <a:spcAft>
                <a:spcPts val="800"/>
              </a:spcAft>
              <a:buAutoNum type="arabicPeriod"/>
            </a:pPr>
            <a:r>
              <a:rPr lang="en-HK" sz="2400" b="1" dirty="0">
                <a:solidFill>
                  <a:srgbClr val="C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IEC 喷淋分布的 FDM 建模与优化</a:t>
            </a:r>
          </a:p>
          <a:p>
            <a:pPr marL="457200" indent="-457200" algn="l">
              <a:lnSpc>
                <a:spcPts val="3500"/>
              </a:lnSpc>
              <a:spcBef>
                <a:spcPts val="600"/>
              </a:spcBef>
              <a:spcAft>
                <a:spcPts val="800"/>
              </a:spcAft>
              <a:buAutoNum type="arabicPeriod"/>
            </a:pPr>
            <a:r>
              <a:rPr lang="en-HK" sz="2400" b="1" dirty="0">
                <a:solidFill>
                  <a:schemeClr val="tx1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考虑水膜形成的 IEC 三维 CFD 分析</a:t>
            </a:r>
          </a:p>
          <a:p>
            <a:pPr marL="457200" indent="-457200" algn="l">
              <a:lnSpc>
                <a:spcPts val="3500"/>
              </a:lnSpc>
              <a:spcBef>
                <a:spcPts val="600"/>
              </a:spcBef>
              <a:spcAft>
                <a:spcPts val="800"/>
              </a:spcAft>
              <a:buAutoNum type="arabicPeriod"/>
            </a:pPr>
            <a:r>
              <a:rPr lang="en-HK" sz="2400" b="1" dirty="0">
                <a:solidFill>
                  <a:schemeClr val="tx1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基于 ANN 与遗传算法的喷淋策略优化</a:t>
            </a:r>
          </a:p>
          <a:p>
            <a:pPr marL="457200" indent="-457200" algn="l">
              <a:lnSpc>
                <a:spcPts val="3500"/>
              </a:lnSpc>
              <a:spcBef>
                <a:spcPts val="600"/>
              </a:spcBef>
              <a:spcAft>
                <a:spcPts val="800"/>
              </a:spcAft>
              <a:buAutoNum type="arabicPeriod"/>
            </a:pPr>
            <a:r>
              <a:rPr lang="en-HK" sz="2400" b="1" dirty="0">
                <a:solidFill>
                  <a:schemeClr val="tx1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数据中心 IEC 的喷嘴优化与性能强化</a:t>
            </a:r>
          </a:p>
          <a:p>
            <a:pPr marL="457200" indent="-457200" algn="l">
              <a:lnSpc>
                <a:spcPts val="3500"/>
              </a:lnSpc>
              <a:spcBef>
                <a:spcPts val="600"/>
              </a:spcBef>
              <a:spcAft>
                <a:spcPts val="800"/>
              </a:spcAft>
              <a:buAutoNum type="arabicPeriod"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研究结论与未来展望</a:t>
            </a:r>
          </a:p>
        </p:txBody>
      </p:sp>
    </p:spTree>
    <p:extLst>
      <p:ext uri="{BB962C8B-B14F-4D97-AF65-F5344CB8AC3E}">
        <p14:creationId xmlns:p14="http://schemas.microsoft.com/office/powerpoint/2010/main" val="1004443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33"/>
    </mc:Choice>
    <mc:Fallback xmlns="">
      <p:transition spd="slow" advTm="5933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736EF977-B5E6-4612-B4E0-760D482E8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8996" y="4282820"/>
            <a:ext cx="4584112" cy="19521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8BE0C2B-0B3E-4C2D-9420-4C3ECFCE5D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1382" y="1035157"/>
            <a:ext cx="3397479" cy="303668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97745E3-102C-45DA-8D4E-780E6123C0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908" y="1520194"/>
            <a:ext cx="5087333" cy="3240000"/>
          </a:xfrm>
          <a:prstGeom prst="rect">
            <a:avLst/>
          </a:prstGeom>
        </p:spPr>
      </p:pic>
      <p:sp>
        <p:nvSpPr>
          <p:cNvPr id="11" name="椭圆 10">
            <a:extLst>
              <a:ext uri="{FF2B5EF4-FFF2-40B4-BE49-F238E27FC236}">
                <a16:creationId xmlns:a16="http://schemas.microsoft.com/office/drawing/2014/main" id="{79F29C5C-DF92-4F2A-8E3C-E689D058AF2E}"/>
              </a:ext>
            </a:extLst>
          </p:cNvPr>
          <p:cNvSpPr/>
          <p:nvPr/>
        </p:nvSpPr>
        <p:spPr>
          <a:xfrm>
            <a:off x="1755844" y="1569937"/>
            <a:ext cx="1573452" cy="828259"/>
          </a:xfrm>
          <a:prstGeom prst="ellipse">
            <a:avLst/>
          </a:prstGeom>
          <a:noFill/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Times New Roman"/>
                <a:ea typeface="SimSun"/>
                <a:cs typeface="Times New Roman"/>
              </a:defRPr>
            </a:pPr>
            <a:endParaRPr lang="en-HK" sz="1800" kern="0" dirty="0">
              <a:solidFill>
                <a:prstClr val="white"/>
              </a:solidFill>
              <a:latin typeface="Times New Roman" panose="020F0502020204030204"/>
              <a:ea typeface="SimSun"/>
              <a:cs typeface="Times New Roman"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1F4553F9-4CD6-40EF-8B1C-5D11EEAD4DA7}"/>
              </a:ext>
            </a:extLst>
          </p:cNvPr>
          <p:cNvCxnSpPr>
            <a:cxnSpLocks/>
          </p:cNvCxnSpPr>
          <p:nvPr/>
        </p:nvCxnSpPr>
        <p:spPr>
          <a:xfrm flipV="1">
            <a:off x="3329296" y="1618728"/>
            <a:ext cx="4185929" cy="290034"/>
          </a:xfrm>
          <a:prstGeom prst="straightConnector1">
            <a:avLst/>
          </a:prstGeom>
          <a:noFill/>
          <a:ln w="6350" cap="flat" cmpd="sng" algn="ctr">
            <a:solidFill>
              <a:srgbClr val="C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1BB2590E-3C33-462D-856F-620D5822B162}"/>
              </a:ext>
            </a:extLst>
          </p:cNvPr>
          <p:cNvSpPr/>
          <p:nvPr/>
        </p:nvSpPr>
        <p:spPr>
          <a:xfrm>
            <a:off x="1402676" y="4947054"/>
            <a:ext cx="479206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HK" sz="12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Fig. 3.1.1 </a:t>
            </a:r>
            <a:r>
              <a:rPr lang="en-HK" sz="12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Configuration of an IEC system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3C7E495-B22F-4CB1-BAC0-69116BBB6588}"/>
              </a:ext>
            </a:extLst>
          </p:cNvPr>
          <p:cNvSpPr/>
          <p:nvPr/>
        </p:nvSpPr>
        <p:spPr>
          <a:xfrm>
            <a:off x="6740410" y="4071841"/>
            <a:ext cx="479206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HK" sz="12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Fig. 3.1.2 </a:t>
            </a:r>
            <a:r>
              <a:rPr lang="en-HK" sz="12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Geometry used in volumetric flux distribution model</a:t>
            </a:r>
            <a:r>
              <a:rPr lang="en-US" sz="1200" baseline="300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[1]</a:t>
            </a:r>
            <a:endParaRPr lang="en-HK" sz="1200" dirty="0">
              <a:solidFill>
                <a:prstClr val="black"/>
              </a:solidFill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2930FF6-07BE-4486-A5C5-CEA70EC2414A}"/>
              </a:ext>
            </a:extLst>
          </p:cNvPr>
          <p:cNvSpPr/>
          <p:nvPr/>
        </p:nvSpPr>
        <p:spPr>
          <a:xfrm>
            <a:off x="7515225" y="6164188"/>
            <a:ext cx="479206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HK" sz="12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Fig. 3.1.3 </a:t>
            </a:r>
            <a:r>
              <a:rPr lang="en-HK" sz="12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Three scenarios of spray impact area</a:t>
            </a:r>
          </a:p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endParaRPr lang="en-HK" sz="1200" dirty="0">
              <a:solidFill>
                <a:prstClr val="black"/>
              </a:solidFill>
              <a:latin typeface="Times New Roman" panose="020B0604020202020204" pitchFamily="34" charset="0"/>
              <a:ea typeface="SimSun"/>
              <a:cs typeface="Times New Roman" panose="020B0604020202020204" pitchFamily="34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DB86AE5-5915-4DED-8B6C-85D34F70AFB5}"/>
              </a:ext>
            </a:extLst>
          </p:cNvPr>
          <p:cNvSpPr/>
          <p:nvPr/>
        </p:nvSpPr>
        <p:spPr>
          <a:xfrm>
            <a:off x="1552576" y="6611780"/>
            <a:ext cx="9979897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[1] </a:t>
            </a:r>
            <a:r>
              <a:rPr lang="en-US" sz="1000" dirty="0" err="1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Mudawar</a:t>
            </a:r>
            <a:r>
              <a:rPr lang="en-US" sz="1000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I, Estes KA. Optimizing and predicting CHF in spray cooling of a square surface. J Heat Transfer 1996;118:672–9. https://doi.org/10.1115/1.2822685.</a:t>
            </a:r>
            <a:endParaRPr lang="en-HK" sz="1000" dirty="0">
              <a:solidFill>
                <a:prstClr val="black"/>
              </a:solidFill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FC2E9D6-DD4B-40D6-8701-5917191F2CDA}"/>
              </a:ext>
            </a:extLst>
          </p:cNvPr>
          <p:cNvSpPr/>
          <p:nvPr/>
        </p:nvSpPr>
        <p:spPr>
          <a:xfrm>
            <a:off x="998892" y="5199053"/>
            <a:ext cx="4792063" cy="11560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HK" sz="1600" b="1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模型假设：</a:t>
            </a:r>
          </a:p>
          <a:p>
            <a:pPr algn="l">
              <a:lnSpc>
                <a:spcPct val="150000"/>
              </a:lnSpc>
            </a:pPr>
            <a:r>
              <a:rPr lang="en-HK" sz="16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总喷淋流量 Q 在以喷口为球心的任一球面上均匀分布。</a:t>
            </a:r>
          </a:p>
        </p:txBody>
      </p:sp>
      <p:sp>
        <p:nvSpPr>
          <p:cNvPr id="14" name="矩形 3">
            <a:extLst>
              <a:ext uri="{FF2B5EF4-FFF2-40B4-BE49-F238E27FC236}">
                <a16:creationId xmlns:a16="http://schemas.microsoft.com/office/drawing/2014/main" id="{ACE7F072-BF5C-4B0C-A972-CAEBCE5307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4432" y="147580"/>
            <a:ext cx="9099077" cy="5107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9pPr>
          </a:lstStyle>
          <a:p>
            <a:pPr algn="l">
              <a:lnSpc>
                <a:spcPct val="125000"/>
              </a:lnSpc>
              <a:spcBef>
                <a:spcPct val="20000"/>
              </a:spcBef>
            </a:pPr>
            <a:r>
              <a:rPr lang="en-US" altLang="zh-CN" b="1" dirty="0" sz="1800"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3</a:t>
            </a:r>
            <a:r>
              <a:rPr lang="en-US" altLang="zh-CN" b="1" dirty="0" sz="1800"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. IEC 喷淋分布的 FDM 建模与优化</a:t>
            </a:r>
          </a:p>
        </p:txBody>
      </p:sp>
      <p:sp>
        <p:nvSpPr>
          <p:cNvPr id="15" name="Content Placeholder 23">
            <a:extLst>
              <a:ext uri="{FF2B5EF4-FFF2-40B4-BE49-F238E27FC236}">
                <a16:creationId xmlns:a16="http://schemas.microsoft.com/office/drawing/2014/main" id="{1D69A371-8A3F-4C13-B12D-633F6189A6DE}"/>
              </a:ext>
            </a:extLst>
          </p:cNvPr>
          <p:cNvSpPr txBox="1">
            <a:spLocks/>
          </p:cNvSpPr>
          <p:nvPr/>
        </p:nvSpPr>
        <p:spPr bwMode="auto">
          <a:xfrm>
            <a:off x="542065" y="1012054"/>
            <a:ext cx="8510587" cy="5397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234950" indent="-23495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 pitchFamily="-111" charset="-128"/>
              </a:defRPr>
            </a:lvl1pPr>
            <a:lvl2pPr marL="576263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2pPr>
            <a:lvl3pPr marL="866775" indent="-176213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3pPr>
            <a:lvl4pPr marL="1196975" indent="-1635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4pPr>
            <a:lvl5pPr marL="1604963" indent="-176213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5pPr>
            <a:lvl6pPr marL="20621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6pPr>
            <a:lvl7pPr marL="25193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7pPr>
            <a:lvl8pPr marL="29765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8pPr>
            <a:lvl9pPr marL="34337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9pPr>
          </a:lstStyle>
          <a:p>
            <a:pPr marL="0" lvl="1" indent="0" algn="l">
              <a:spcBef>
                <a:spcPts val="1200"/>
              </a:spcBef>
              <a:spcAft>
                <a:spcPts val="1200"/>
              </a:spcAft>
              <a:buClrTx/>
              <a:buNone/>
              <a:defRPr>
                <a:latin typeface="Times New Roman"/>
                <a:ea typeface="SimSun"/>
                <a:cs typeface="Times New Roman"/>
              </a:defRPr>
            </a:pPr>
            <a:r>
              <a:rPr lang="en-US" altLang="en-US" sz="1800" b="1" kern="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3.1</a:t>
            </a:r>
            <a:r>
              <a:rPr lang="en-US" altLang="en-US" sz="1800" b="1" kern="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数学模型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5045246-EE37-4BB8-A189-B23A69178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15884886-3D85-4AFD-9D94-33E4AF7428DD}" type="slidenum">
              <a:rPr lang="en-US" altLang="zh-CN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16</a:t>
            </a:fld>
            <a:endParaRPr lang="en-US" altLang="zh-CN" dirty="0">
              <a:latin typeface="Times New Roman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50509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33"/>
    </mc:Choice>
    <mc:Fallback xmlns="">
      <p:transition spd="slow" advTm="5933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721F317A-D05B-4100-A9B4-D94F506BE0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4438092"/>
              </p:ext>
            </p:extLst>
          </p:nvPr>
        </p:nvGraphicFramePr>
        <p:xfrm>
          <a:off x="4147664" y="3694666"/>
          <a:ext cx="3862129" cy="30157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6940973" imgH="5420971" progId="Origin50.Graph">
                  <p:embed/>
                </p:oleObj>
              </mc:Choice>
              <mc:Fallback>
                <p:oleObj name="Graph" r:id="rId3" imgW="6940973" imgH="5420971" progId="Origin50.Graph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7664" y="3694666"/>
                        <a:ext cx="3862129" cy="301575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3F1180BE-ECF2-4826-AE0C-151653CEE077}"/>
                  </a:ext>
                </a:extLst>
              </p:cNvPr>
              <p:cNvSpPr/>
              <p:nvPr/>
            </p:nvSpPr>
            <p:spPr>
              <a:xfrm>
                <a:off x="386739" y="1325869"/>
                <a:ext cx="3702307" cy="13281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 defTabSz="457200" eaLnBrk="1" fontAlgn="auto" hangingPunct="1">
                  <a:spcBef>
                    <a:spcPts val="0"/>
                  </a:spcBef>
                  <a:spcAft>
                    <a:spcPts val="0"/>
                  </a:spcAft>
                  <a:buFont typeface="Wingdings" panose="05000000000000000000" pitchFamily="2" charset="2"/>
                  <a:buChar char="Ø"/>
                </a:pPr>
                <a:r>
                  <a:rPr lang="en-HK" sz="1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SimSun"/>
                    <a:cs typeface="Times New Roman" panose="02020603050405020304" pitchFamily="18" charset="0"/>
                  </a:rPr>
                  <a:t>  </a:t>
                </a:r>
                <a:r>
                  <a:rPr lang="en-HK" sz="1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SimSun"/>
                    <a:cs typeface="Times New Roman" panose="02020603050405020304" pitchFamily="18" charset="0"/>
                  </a:rPr>
                  <a:t>Boundary </a:t>
                </a:r>
                <a:r>
                  <a:rPr lang="en-US" altLang="zh-CN" sz="1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condition</a:t>
                </a:r>
                <a:r>
                  <a:rPr lang="en-HK" altLang="zh-CN" sz="1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:</a:t>
                </a:r>
              </a:p>
              <a:p>
                <a:pPr defTabSz="457200" eaLnBrk="1" fontAlgn="auto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>
                      <m:eqArr>
                        <m:eqArrPr>
                          <m:ctrlPr>
                            <a:rPr lang="en-HK" sz="1400" i="1">
                              <a:solidFill>
                                <a:prstClr val="black"/>
                              </a:solidFill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eqArrPr>
                        <m:e>
                          <m:sSup>
                            <m:sSupPr>
                              <m:ctrlPr>
                                <a:rPr lang="en-US" sz="14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</m:ctrlPr>
                            </m:sSupPr>
                            <m:e>
                              <m:r>
                                <a:rPr lang="en-US" sz="14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400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400">
                              <a:solidFill>
                                <a:prstClr val="black"/>
                              </a:solidFill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4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</m:ctrlPr>
                            </m:sSupPr>
                            <m:e>
                              <m:r>
                                <a:rPr lang="en-US" sz="14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1400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400">
                              <a:solidFill>
                                <a:prstClr val="black"/>
                              </a:solidFill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=</m:t>
                          </m:r>
                          <m:sSup>
                            <m:sSupPr>
                              <m:ctrlPr>
                                <a:rPr lang="en-HK" sz="14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400" i="1">
                                      <a:solidFill>
                                        <a:prstClr val="black"/>
                                      </a:solidFill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>
                                      <a:solidFill>
                                        <a:prstClr val="black"/>
                                      </a:solidFill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  <m:t>𝐻</m:t>
                                  </m:r>
                                  <m:r>
                                    <a:rPr lang="en-US" sz="1400" i="1">
                                      <a:solidFill>
                                        <a:prstClr val="black"/>
                                      </a:solidFill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  <m:t>×</m:t>
                                  </m:r>
                                  <m:func>
                                    <m:funcPr>
                                      <m:ctrlPr>
                                        <a:rPr lang="en-US" sz="1400">
                                          <a:solidFill>
                                            <a:prstClr val="black"/>
                                          </a:solidFill>
                                          <a:latin typeface="Times New Roman" panose="02040503050406030204" pitchFamily="18" charset="0"/>
                                          <a:ea typeface="SimSun"/>
                                          <a:cs typeface="Times New Roman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1400">
                                          <a:solidFill>
                                            <a:prstClr val="black"/>
                                          </a:solidFill>
                                          <a:latin typeface="Times New Roman" panose="02040503050406030204" pitchFamily="18" charset="0"/>
                                          <a:ea typeface="SimSun"/>
                                          <a:cs typeface="Times New Roman"/>
                                        </a:rPr>
                                        <m:t>tan</m:t>
                                      </m:r>
                                    </m:fName>
                                    <m:e>
                                      <m:f>
                                        <m:fPr>
                                          <m:ctrlPr>
                                            <a:rPr lang="en-US" sz="1400" i="1">
                                              <a:solidFill>
                                                <a:prstClr val="black"/>
                                              </a:solidFill>
                                              <a:latin typeface="Times New Roman" panose="02040503050406030204" pitchFamily="18" charset="0"/>
                                              <a:ea typeface="SimSun"/>
                                              <a:cs typeface="Times New Roman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1400" i="1">
                                              <a:solidFill>
                                                <a:prstClr val="black"/>
                                              </a:solidFill>
                                              <a:latin typeface="Times New Roman" panose="02040503050406030204" pitchFamily="18" charset="0"/>
                                              <a:ea typeface="SimSun"/>
                                              <a:cs typeface="Times New Roman"/>
                                            </a:rPr>
                                            <m:t>𝜃</m:t>
                                          </m:r>
                                        </m:num>
                                        <m:den>
                                          <m:r>
                                            <a:rPr lang="en-US" sz="1400">
                                              <a:solidFill>
                                                <a:prstClr val="black"/>
                                              </a:solidFill>
                                              <a:latin typeface="Times New Roman" panose="02040503050406030204" pitchFamily="18" charset="0"/>
                                              <a:ea typeface="SimSun"/>
                                              <a:cs typeface="Times New Roman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func>
                                </m:e>
                              </m:d>
                            </m:e>
                            <m:sup>
                              <m:r>
                                <a:rPr lang="en-US" sz="1400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2</m:t>
                              </m:r>
                            </m:sup>
                          </m:sSup>
                        </m:e>
                      </m:eqArr>
                    </m:oMath>
                  </m:oMathPara>
                </a14:m>
                <a:endParaRPr lang="en-HK" sz="1400" dirty="0">
                  <a:solidFill>
                    <a:prstClr val="black"/>
                  </a:solidFill>
                  <a:latin typeface="Times New Roman" panose="020F0502020204030204"/>
                  <a:ea typeface="SimSun"/>
                  <a:cs typeface="Times New Roman"/>
                </a:endParaRPr>
              </a:p>
              <a:p>
                <a:pPr defTabSz="457200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>
                      <m:eqArr>
                        <m:eqArrPr>
                          <m:ctrlPr>
                            <a:rPr lang="en-HK" sz="1400" i="1">
                              <a:solidFill>
                                <a:prstClr val="black"/>
                              </a:solidFill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eqArrPr>
                        <m:e>
                          <m:f>
                            <m:fPr>
                              <m:ctrlPr>
                                <a:rPr lang="en-HK" sz="14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HK" sz="1400" i="1">
                                      <a:solidFill>
                                        <a:prstClr val="black"/>
                                      </a:solidFill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400" i="1">
                                          <a:solidFill>
                                            <a:prstClr val="black"/>
                                          </a:solidFill>
                                          <a:latin typeface="Times New Roman" panose="02040503050406030204" pitchFamily="18" charset="0"/>
                                          <a:ea typeface="SimSun"/>
                                          <a:cs typeface="Times New Roman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i="1">
                                          <a:solidFill>
                                            <a:prstClr val="black"/>
                                          </a:solidFill>
                                          <a:latin typeface="Times New Roman" panose="02040503050406030204" pitchFamily="18" charset="0"/>
                                          <a:ea typeface="SimSun"/>
                                          <a:cs typeface="Times New Roman"/>
                                        </a:rPr>
                                        <m:t>𝑥</m:t>
                                      </m:r>
                                      <m:r>
                                        <a:rPr lang="en-US" sz="1400" i="1">
                                          <a:solidFill>
                                            <a:prstClr val="black"/>
                                          </a:solidFill>
                                          <a:latin typeface="Times New Roman" panose="02040503050406030204" pitchFamily="18" charset="0"/>
                                          <a:ea typeface="SimSun"/>
                                          <a:cs typeface="Times New Roman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solidFill>
                                                <a:prstClr val="black"/>
                                              </a:solidFill>
                                              <a:latin typeface="Times New Roman" panose="02040503050406030204" pitchFamily="18" charset="0"/>
                                              <a:ea typeface="SimSun"/>
                                              <a:cs typeface="Times New Roman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solidFill>
                                                <a:prstClr val="black"/>
                                              </a:solidFill>
                                              <a:latin typeface="Times New Roman" panose="02040503050406030204" pitchFamily="18" charset="0"/>
                                              <a:ea typeface="SimSun"/>
                                              <a:cs typeface="Times New Roman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solidFill>
                                                <a:prstClr val="black"/>
                                              </a:solidFill>
                                              <a:latin typeface="Times New Roman" panose="02040503050406030204" pitchFamily="18" charset="0"/>
                                              <a:ea typeface="SimSun"/>
                                              <a:cs typeface="Times New Roman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1400" i="1">
                                      <a:solidFill>
                                        <a:prstClr val="black"/>
                                      </a:solidFill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sz="1400" i="1">
                                      <a:solidFill>
                                        <a:prstClr val="black"/>
                                      </a:solidFill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>
                                      <a:solidFill>
                                        <a:prstClr val="black"/>
                                      </a:solidFill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1400" i="1">
                                      <a:solidFill>
                                        <a:prstClr val="black"/>
                                      </a:solidFill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1400" i="1">
                              <a:solidFill>
                                <a:prstClr val="black"/>
                              </a:solidFill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+</m:t>
                          </m:r>
                          <m:f>
                            <m:fPr>
                              <m:ctrlPr>
                                <a:rPr lang="en-HK" sz="14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HK" sz="1400" i="1">
                                      <a:solidFill>
                                        <a:prstClr val="black"/>
                                      </a:solidFill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400" i="1">
                                          <a:solidFill>
                                            <a:prstClr val="black"/>
                                          </a:solidFill>
                                          <a:latin typeface="Times New Roman" panose="02040503050406030204" pitchFamily="18" charset="0"/>
                                          <a:ea typeface="SimSun"/>
                                          <a:cs typeface="Times New Roman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i="1">
                                          <a:solidFill>
                                            <a:prstClr val="black"/>
                                          </a:solidFill>
                                          <a:latin typeface="Times New Roman" panose="02040503050406030204" pitchFamily="18" charset="0"/>
                                          <a:ea typeface="SimSun"/>
                                          <a:cs typeface="Times New Roman"/>
                                        </a:rPr>
                                        <m:t>𝑦</m:t>
                                      </m:r>
                                      <m:r>
                                        <a:rPr lang="en-US" sz="1400" i="1">
                                          <a:solidFill>
                                            <a:prstClr val="black"/>
                                          </a:solidFill>
                                          <a:latin typeface="Times New Roman" panose="02040503050406030204" pitchFamily="18" charset="0"/>
                                          <a:ea typeface="SimSun"/>
                                          <a:cs typeface="Times New Roman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solidFill>
                                                <a:prstClr val="black"/>
                                              </a:solidFill>
                                              <a:latin typeface="Times New Roman" panose="02040503050406030204" pitchFamily="18" charset="0"/>
                                              <a:ea typeface="SimSun"/>
                                              <a:cs typeface="Times New Roman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solidFill>
                                                <a:prstClr val="black"/>
                                              </a:solidFill>
                                              <a:latin typeface="Times New Roman" panose="02040503050406030204" pitchFamily="18" charset="0"/>
                                              <a:ea typeface="SimSun"/>
                                              <a:cs typeface="Times New Roman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solidFill>
                                                <a:prstClr val="black"/>
                                              </a:solidFill>
                                              <a:latin typeface="Times New Roman" panose="02040503050406030204" pitchFamily="18" charset="0"/>
                                              <a:ea typeface="SimSun"/>
                                              <a:cs typeface="Times New Roman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1400" i="1">
                                      <a:solidFill>
                                        <a:prstClr val="black"/>
                                      </a:solidFill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sz="1400" i="1">
                                      <a:solidFill>
                                        <a:prstClr val="black"/>
                                      </a:solidFill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>
                                      <a:solidFill>
                                        <a:prstClr val="black"/>
                                      </a:solidFill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1400" i="1">
                                      <a:solidFill>
                                        <a:prstClr val="black"/>
                                      </a:solidFill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1400" i="1">
                              <a:solidFill>
                                <a:prstClr val="black"/>
                              </a:solidFill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=1</m:t>
                          </m:r>
                        </m:e>
                      </m:eqArr>
                    </m:oMath>
                  </m:oMathPara>
                </a14:m>
                <a:endParaRPr lang="en-HK" altLang="zh-CN" sz="1400" dirty="0">
                  <a:solidFill>
                    <a:prstClr val="black"/>
                  </a:solidFill>
                  <a:latin typeface="Times New Roman" panose="020B0604020202020204" pitchFamily="34" charset="0"/>
                  <a:ea typeface="SimSun" panose="02010600030101010101" pitchFamily="2" charset="-122"/>
                  <a:cs typeface="Times New Roman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3F1180BE-ECF2-4826-AE0C-151653CEE0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739" y="1325869"/>
                <a:ext cx="3702307" cy="1328120"/>
              </a:xfrm>
              <a:prstGeom prst="rect">
                <a:avLst/>
              </a:prstGeom>
              <a:blipFill>
                <a:blip r:embed="rId6"/>
                <a:stretch>
                  <a:fillRect l="-658" t="-2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  <a:latin typeface="Times New Roman"/>
                    <a:ea typeface="SimSun"/>
                    <a:cs typeface="Times New Roman"/>
                  </a:rPr>
                  <a:t> </a:t>
                </a:r>
              </a:p>
            </p:txBody>
          </p:sp>
        </mc:Fallback>
      </mc:AlternateContent>
      <p:sp>
        <p:nvSpPr>
          <p:cNvPr id="3" name="矩形 2">
            <a:extLst>
              <a:ext uri="{FF2B5EF4-FFF2-40B4-BE49-F238E27FC236}">
                <a16:creationId xmlns:a16="http://schemas.microsoft.com/office/drawing/2014/main" id="{75BA3A70-0BD7-421C-A684-35C6EABF3E1B}"/>
              </a:ext>
            </a:extLst>
          </p:cNvPr>
          <p:cNvSpPr/>
          <p:nvPr/>
        </p:nvSpPr>
        <p:spPr>
          <a:xfrm>
            <a:off x="386739" y="4979133"/>
            <a:ext cx="36558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defTabSz="457200" eaLnBrk="1" fontAlgn="auto" hangingPunct="1" algn="l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HK" sz="18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喷淋表面的体积通量：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28E42BD7-6979-4C2C-A4DC-8263F33608C9}"/>
                  </a:ext>
                </a:extLst>
              </p:cNvPr>
              <p:cNvSpPr/>
              <p:nvPr/>
            </p:nvSpPr>
            <p:spPr>
              <a:xfrm>
                <a:off x="1199044" y="5331534"/>
                <a:ext cx="2520562" cy="62177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457200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>
                      <m:eqArr>
                        <m:eqArrPr>
                          <m:ctrlPr>
                            <a:rPr lang="en-HK" sz="1200" i="1">
                              <a:solidFill>
                                <a:prstClr val="black"/>
                              </a:solidFill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eqArrPr>
                        <m:e>
                          <m:r>
                            <a:rPr lang="en-HK" sz="1200">
                              <a:solidFill>
                                <a:prstClr val="black"/>
                              </a:solidFill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&amp;</m:t>
                          </m:r>
                          <m:sSup>
                            <m:sSupPr>
                              <m:ctrlPr>
                                <a:rPr lang="en-HK" sz="12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</m:ctrlPr>
                            </m:sSupPr>
                            <m:e>
                              <m:r>
                                <a:rPr lang="en-HK" sz="12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HK" sz="1200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′′</m:t>
                              </m:r>
                            </m:sup>
                          </m:sSup>
                          <m:r>
                            <a:rPr lang="en-HK" sz="1200">
                              <a:solidFill>
                                <a:prstClr val="black"/>
                              </a:solidFill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=</m:t>
                          </m:r>
                          <m:f>
                            <m:fPr>
                              <m:ctrlPr>
                                <a:rPr lang="en-HK" sz="12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</m:ctrlPr>
                            </m:fPr>
                            <m:num>
                              <m:r>
                                <a:rPr lang="en-HK" sz="12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𝑄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HK" sz="1200">
                                      <a:solidFill>
                                        <a:prstClr val="black"/>
                                      </a:solidFill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</m:ctrlPr>
                                </m:sSupPr>
                                <m:e>
                                  <m:r>
                                    <a:rPr lang="en-HK" sz="1200">
                                      <a:solidFill>
                                        <a:prstClr val="black"/>
                                      </a:solidFill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  <m:t>2</m:t>
                                  </m:r>
                                  <m:r>
                                    <a:rPr lang="en-HK" sz="1200" i="1">
                                      <a:solidFill>
                                        <a:prstClr val="black"/>
                                      </a:solidFill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  <m:t>𝜋</m:t>
                                  </m:r>
                                  <m:r>
                                    <a:rPr lang="en-HK" sz="1200" i="1">
                                      <a:solidFill>
                                        <a:prstClr val="black"/>
                                      </a:solidFill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en-HK" sz="1200">
                                      <a:solidFill>
                                        <a:prstClr val="black"/>
                                      </a:solidFill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HK" sz="1200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×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HK" sz="1200">
                                      <a:solidFill>
                                        <a:prstClr val="black"/>
                                      </a:solidFill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</m:ctrlPr>
                                </m:dPr>
                                <m:e>
                                  <m:r>
                                    <a:rPr lang="en-HK" sz="1200">
                                      <a:solidFill>
                                        <a:prstClr val="black"/>
                                      </a:solidFill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  <m:t>1−</m:t>
                                  </m:r>
                                  <m:func>
                                    <m:funcPr>
                                      <m:ctrlPr>
                                        <a:rPr lang="en-HK" sz="1200">
                                          <a:solidFill>
                                            <a:prstClr val="black"/>
                                          </a:solidFill>
                                          <a:latin typeface="Times New Roman" panose="02040503050406030204" pitchFamily="18" charset="0"/>
                                          <a:ea typeface="SimSun"/>
                                          <a:cs typeface="Times New Roman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HK" sz="1200">
                                          <a:solidFill>
                                            <a:prstClr val="black"/>
                                          </a:solidFill>
                                          <a:latin typeface="Times New Roman" panose="02040503050406030204" pitchFamily="18" charset="0"/>
                                          <a:ea typeface="SimSun"/>
                                          <a:cs typeface="Times New Roman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HK" sz="1200" i="1">
                                              <a:solidFill>
                                                <a:prstClr val="black"/>
                                              </a:solidFill>
                                              <a:latin typeface="Times New Roman" panose="02040503050406030204" pitchFamily="18" charset="0"/>
                                              <a:ea typeface="SimSun"/>
                                              <a:cs typeface="Times New Roman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en-HK" sz="1200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Times New Roman" panose="02040503050406030204" pitchFamily="18" charset="0"/>
                                                  <a:ea typeface="SimSun"/>
                                                  <a:cs typeface="Times New Roman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HK" sz="1200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Times New Roman" panose="02040503050406030204" pitchFamily="18" charset="0"/>
                                                  <a:ea typeface="SimSun"/>
                                                  <a:cs typeface="Times New Roman"/>
                                                </a:rPr>
                                                <m:t>𝜃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HK" sz="1200">
                                                  <a:solidFill>
                                                    <a:prstClr val="black"/>
                                                  </a:solidFill>
                                                  <a:latin typeface="Times New Roman" panose="02040503050406030204" pitchFamily="18" charset="0"/>
                                                  <a:ea typeface="SimSun"/>
                                                  <a:cs typeface="Times New Roman"/>
                                                </a:rPr>
                                                <m:t>2</m:t>
                                              </m:r>
                                            </m:den>
                                          </m:f>
                                        </m:e>
                                      </m:d>
                                    </m:e>
                                  </m:func>
                                </m:e>
                              </m:d>
                            </m:den>
                          </m:f>
                          <m:r>
                            <a:rPr lang="en-HK" sz="1200">
                              <a:solidFill>
                                <a:prstClr val="black"/>
                              </a:solidFill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×</m:t>
                          </m:r>
                          <m:r>
                            <a:rPr lang="en-HK" sz="1200" i="1">
                              <a:solidFill>
                                <a:prstClr val="black"/>
                              </a:solidFill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𝑐𝑜𝑠</m:t>
                          </m:r>
                          <m:r>
                            <a:rPr lang="en-HK" sz="1200" i="1">
                              <a:solidFill>
                                <a:prstClr val="black"/>
                              </a:solidFill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𝛼</m:t>
                          </m:r>
                          <m:r>
                            <a:rPr lang="en-HK" sz="1200">
                              <a:solidFill>
                                <a:prstClr val="black"/>
                              </a:solidFill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#</m:t>
                          </m:r>
                        </m:e>
                      </m:eqArr>
                    </m:oMath>
                  </m:oMathPara>
                </a14:m>
                <a:endParaRPr lang="en-HK" sz="1200" dirty="0">
                  <a:solidFill>
                    <a:prstClr val="black"/>
                  </a:solidFill>
                  <a:latin typeface="Times New Roman" panose="020F0502020204030204"/>
                  <a:ea typeface="SimSun"/>
                  <a:cs typeface="Times New Roman"/>
                </a:endParaRP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28E42BD7-6979-4C2C-A4DC-8263F33608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9044" y="5331534"/>
                <a:ext cx="2520562" cy="62177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  <a:latin typeface="Times New Roman"/>
                    <a:ea typeface="SimSun"/>
                    <a:cs typeface="Times New Roman"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BBB0DF55-EC34-4F6B-86C1-EF2AF1F7BCB1}"/>
                  </a:ext>
                </a:extLst>
              </p:cNvPr>
              <p:cNvSpPr/>
              <p:nvPr/>
            </p:nvSpPr>
            <p:spPr>
              <a:xfrm>
                <a:off x="962499" y="5995519"/>
                <a:ext cx="3147144" cy="62177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457200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HK" sz="1200" i="1">
                          <a:solidFill>
                            <a:prstClr val="black"/>
                          </a:solidFill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𝑑𝑄</m:t>
                      </m:r>
                      <m:r>
                        <a:rPr lang="en-HK" sz="1200">
                          <a:solidFill>
                            <a:prstClr val="black"/>
                          </a:solidFill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=</m:t>
                      </m:r>
                      <m:sSup>
                        <m:sSupPr>
                          <m:ctrlPr>
                            <a:rPr lang="en-HK" sz="1200" i="1">
                              <a:solidFill>
                                <a:prstClr val="black"/>
                              </a:solidFill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sSupPr>
                        <m:e>
                          <m:r>
                            <a:rPr lang="en-HK" sz="1200" i="1">
                              <a:solidFill>
                                <a:prstClr val="black"/>
                              </a:solidFill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𝑄</m:t>
                          </m:r>
                        </m:e>
                        <m:sup>
                          <m:r>
                            <a:rPr lang="en-HK" sz="1200">
                              <a:solidFill>
                                <a:prstClr val="black"/>
                              </a:solidFill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′′</m:t>
                          </m:r>
                        </m:sup>
                      </m:sSup>
                      <m:r>
                        <a:rPr lang="en-HK" sz="1200" i="1">
                          <a:solidFill>
                            <a:prstClr val="black"/>
                          </a:solidFill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𝑑𝑥𝑑𝑦</m:t>
                      </m:r>
                      <m:r>
                        <a:rPr lang="en-HK" sz="1200">
                          <a:solidFill>
                            <a:prstClr val="black"/>
                          </a:solidFill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=</m:t>
                      </m:r>
                      <m:f>
                        <m:fPr>
                          <m:ctrlPr>
                            <a:rPr lang="en-HK" sz="1200" i="1">
                              <a:solidFill>
                                <a:prstClr val="black"/>
                              </a:solidFill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fPr>
                        <m:num>
                          <m:r>
                            <a:rPr lang="en-HK" sz="1200" i="1">
                              <a:solidFill>
                                <a:prstClr val="black"/>
                              </a:solidFill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𝑄</m:t>
                          </m:r>
                          <m:r>
                            <a:rPr lang="en-HK" sz="1200">
                              <a:solidFill>
                                <a:prstClr val="black"/>
                              </a:solidFill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×</m:t>
                          </m:r>
                          <m:r>
                            <a:rPr lang="en-HK" sz="1200" i="1">
                              <a:solidFill>
                                <a:prstClr val="black"/>
                              </a:solidFill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𝐻</m:t>
                          </m:r>
                        </m:num>
                        <m:den>
                          <m:sSup>
                            <m:sSupPr>
                              <m:ctrlPr>
                                <a:rPr lang="en-HK" sz="1200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</m:ctrlPr>
                            </m:sSupPr>
                            <m:e>
                              <m:r>
                                <a:rPr lang="en-HK" sz="1200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2</m:t>
                              </m:r>
                              <m:r>
                                <a:rPr lang="en-HK" sz="12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𝜋</m:t>
                              </m:r>
                              <m:r>
                                <a:rPr lang="en-HK" sz="12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HK" sz="1200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3</m:t>
                              </m:r>
                            </m:sup>
                          </m:sSup>
                          <m:r>
                            <a:rPr lang="en-HK" sz="1200">
                              <a:solidFill>
                                <a:prstClr val="black"/>
                              </a:solidFill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×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HK" sz="1200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</m:ctrlPr>
                            </m:dPr>
                            <m:e>
                              <m:r>
                                <a:rPr lang="en-HK" sz="1200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1−</m:t>
                              </m:r>
                              <m:func>
                                <m:funcPr>
                                  <m:ctrlPr>
                                    <a:rPr lang="en-HK" sz="1200">
                                      <a:solidFill>
                                        <a:prstClr val="black"/>
                                      </a:solidFill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HK" sz="1200">
                                      <a:solidFill>
                                        <a:prstClr val="black"/>
                                      </a:solidFill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HK" sz="1200" i="1">
                                          <a:solidFill>
                                            <a:prstClr val="black"/>
                                          </a:solidFill>
                                          <a:latin typeface="Times New Roman" panose="02040503050406030204" pitchFamily="18" charset="0"/>
                                          <a:ea typeface="SimSun"/>
                                          <a:cs typeface="Times New Roman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HK" sz="1200" i="1">
                                              <a:solidFill>
                                                <a:prstClr val="black"/>
                                              </a:solidFill>
                                              <a:latin typeface="Times New Roman" panose="02040503050406030204" pitchFamily="18" charset="0"/>
                                              <a:ea typeface="SimSun"/>
                                              <a:cs typeface="Times New Roman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HK" sz="1200" i="1">
                                              <a:solidFill>
                                                <a:prstClr val="black"/>
                                              </a:solidFill>
                                              <a:latin typeface="Times New Roman" panose="02040503050406030204" pitchFamily="18" charset="0"/>
                                              <a:ea typeface="SimSun"/>
                                              <a:cs typeface="Times New Roman"/>
                                            </a:rPr>
                                            <m:t>𝜃</m:t>
                                          </m:r>
                                        </m:num>
                                        <m:den>
                                          <m:r>
                                            <a:rPr lang="en-HK" sz="1200">
                                              <a:solidFill>
                                                <a:prstClr val="black"/>
                                              </a:solidFill>
                                              <a:latin typeface="Times New Roman" panose="02040503050406030204" pitchFamily="18" charset="0"/>
                                              <a:ea typeface="SimSun"/>
                                              <a:cs typeface="Times New Roman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d>
                        </m:den>
                      </m:f>
                      <m:r>
                        <a:rPr lang="en-HK" sz="1200" i="1">
                          <a:solidFill>
                            <a:prstClr val="black"/>
                          </a:solidFill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𝑑𝑥𝑑𝑦</m:t>
                      </m:r>
                    </m:oMath>
                  </m:oMathPara>
                </a14:m>
                <a:endParaRPr lang="en-HK" sz="1200" dirty="0">
                  <a:solidFill>
                    <a:prstClr val="black"/>
                  </a:solidFill>
                  <a:latin typeface="Times New Roman" panose="020F0502020204030204"/>
                  <a:ea typeface="SimSun"/>
                  <a:cs typeface="Times New Roman"/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BBB0DF55-EC34-4F6B-86C1-EF2AF1F7BC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499" y="5995519"/>
                <a:ext cx="3147144" cy="62177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  <a:latin typeface="Times New Roman"/>
                    <a:ea typeface="SimSun"/>
                    <a:cs typeface="Times New Roman"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D81325FD-6598-416B-A911-A27A5BFE0A26}"/>
              </a:ext>
            </a:extLst>
          </p:cNvPr>
          <p:cNvSpPr/>
          <p:nvPr/>
        </p:nvSpPr>
        <p:spPr>
          <a:xfrm>
            <a:off x="388929" y="2694872"/>
            <a:ext cx="30957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defTabSz="457200" eaLnBrk="1" fontAlgn="auto" hangingPunct="1" algn="l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HK" sz="18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假想球面：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FACE45A-EBFE-4DE9-B77A-056DA9265416}"/>
                  </a:ext>
                </a:extLst>
              </p:cNvPr>
              <p:cNvSpPr/>
              <p:nvPr/>
            </p:nvSpPr>
            <p:spPr>
              <a:xfrm>
                <a:off x="1199044" y="3059368"/>
                <a:ext cx="1750800" cy="3532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457200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HK" sz="1400" i="1">
                          <a:solidFill>
                            <a:prstClr val="black"/>
                          </a:solidFill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𝑅</m:t>
                      </m:r>
                      <m:r>
                        <a:rPr lang="en-HK" sz="1400">
                          <a:solidFill>
                            <a:prstClr val="black"/>
                          </a:solidFill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HK" sz="1400" i="1">
                              <a:solidFill>
                                <a:prstClr val="black"/>
                              </a:solidFill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HK" sz="14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</m:ctrlPr>
                            </m:sSupPr>
                            <m:e>
                              <m:r>
                                <a:rPr lang="en-HK" sz="14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HK" sz="1400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2</m:t>
                              </m:r>
                            </m:sup>
                          </m:sSup>
                          <m:r>
                            <a:rPr lang="en-HK" sz="1400">
                              <a:solidFill>
                                <a:prstClr val="black"/>
                              </a:solidFill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+</m:t>
                          </m:r>
                          <m:sSup>
                            <m:sSupPr>
                              <m:ctrlPr>
                                <a:rPr lang="en-HK" sz="14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</m:ctrlPr>
                            </m:sSupPr>
                            <m:e>
                              <m:r>
                                <a:rPr lang="en-HK" sz="14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HK" sz="1400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2</m:t>
                              </m:r>
                            </m:sup>
                          </m:sSup>
                          <m:r>
                            <a:rPr lang="en-HK" sz="1400">
                              <a:solidFill>
                                <a:prstClr val="black"/>
                              </a:solidFill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+</m:t>
                          </m:r>
                          <m:sSup>
                            <m:sSupPr>
                              <m:ctrlPr>
                                <a:rPr lang="en-HK" sz="14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</m:ctrlPr>
                            </m:sSupPr>
                            <m:e>
                              <m:r>
                                <a:rPr lang="en-HK" sz="14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HK" sz="1400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HK" sz="1400" dirty="0">
                  <a:solidFill>
                    <a:prstClr val="black"/>
                  </a:solidFill>
                  <a:latin typeface="Times New Roman" panose="020F0502020204030204"/>
                  <a:ea typeface="SimSun"/>
                  <a:cs typeface="Times New Roman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FACE45A-EBFE-4DE9-B77A-056DA92654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9044" y="3059368"/>
                <a:ext cx="1750800" cy="353238"/>
              </a:xfrm>
              <a:prstGeom prst="rect">
                <a:avLst/>
              </a:prstGeom>
              <a:blipFill>
                <a:blip r:embed="rId9"/>
                <a:stretch>
                  <a:fillRect b="-1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  <a:latin typeface="Times New Roman"/>
                    <a:ea typeface="SimSun"/>
                    <a:cs typeface="Times New Roman"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85313A41-88CC-4CA8-A22A-534DE7410CD8}"/>
                  </a:ext>
                </a:extLst>
              </p:cNvPr>
              <p:cNvSpPr/>
              <p:nvPr/>
            </p:nvSpPr>
            <p:spPr>
              <a:xfrm>
                <a:off x="-865966" y="3375394"/>
                <a:ext cx="6096000" cy="1481046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algn="ctr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sz="1400" i="1">
                          <a:latin typeface="Times New Roman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1400" i="1">
                          <a:latin typeface="Times New Roman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𝑐𝑜𝑠</m:t>
                      </m:r>
                      <m:r>
                        <a:rPr lang="en-US" sz="1400" i="1">
                          <a:latin typeface="Times New Roman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𝛼</m:t>
                      </m:r>
                      <m:r>
                        <a:rPr lang="en-US" sz="1400">
                          <a:latin typeface="Times New Roman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>
                              <a:latin typeface="Times New Roman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Times New Roman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𝐻</m:t>
                          </m:r>
                        </m:num>
                        <m:den>
                          <m:r>
                            <a:rPr lang="en-US" sz="1400" i="1">
                              <a:latin typeface="Times New Roman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𝑅</m:t>
                          </m:r>
                        </m:den>
                      </m:f>
                      <m:r>
                        <a:rPr lang="en-US" sz="1400" i="1">
                          <a:latin typeface="Times New Roman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  </m:t>
                      </m:r>
                    </m:oMath>
                  </m:oMathPara>
                </a14:m>
                <a:endParaRPr lang="en-HK" sz="1400" i="1" dirty="0">
                  <a:latin typeface="Times New Roman" panose="02040503050406030204" pitchFamily="18" charset="0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pPr algn="ctr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>
                      <m:eqArr>
                        <m:eqArrPr>
                          <m:ctrlPr>
                            <a:rPr lang="en-HK" sz="1400" i="1">
                              <a:latin typeface="Times New Roman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eqArrPr>
                        <m:e>
                          <m:r>
                            <a:rPr lang="en-US" sz="1400" i="1">
                              <a:latin typeface="Times New Roman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𝑑𝐴</m:t>
                          </m:r>
                          <m:r>
                            <a:rPr lang="en-US" sz="1400">
                              <a:latin typeface="Times New Roman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1400">
                                  <a:latin typeface="Times New Roman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>
                                  <a:latin typeface="Times New Roman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a:rPr lang="en-US" sz="1400" i="1">
                                  <a:latin typeface="Times New Roman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𝜋</m:t>
                              </m:r>
                              <m:r>
                                <a:rPr lang="en-US" sz="1400" i="1">
                                  <a:latin typeface="Times New Roman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sz="1400">
                                  <a:latin typeface="Times New Roman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400" i="1">
                              <a:latin typeface="Times New Roman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×</m:t>
                          </m:r>
                          <m:f>
                            <m:fPr>
                              <m:ctrlPr>
                                <a:rPr lang="en-US" sz="1400" i="1">
                                  <a:latin typeface="Times New Roman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i="1">
                                  <a:latin typeface="Times New Roman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𝑠𝑖𝑛</m:t>
                              </m:r>
                              <m:r>
                                <a:rPr lang="en-US" sz="1400" i="1">
                                  <a:latin typeface="Times New Roman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</m:num>
                            <m:den>
                              <m:r>
                                <a:rPr lang="en-US" sz="1400" i="1">
                                  <a:latin typeface="Times New Roman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𝑐𝑜𝑠</m:t>
                              </m:r>
                              <m:r>
                                <a:rPr lang="en-US" sz="1400" i="1">
                                  <a:latin typeface="Times New Roman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</m:den>
                          </m:f>
                          <m:r>
                            <a:rPr lang="en-US" sz="1400" i="1">
                              <a:latin typeface="Times New Roman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𝑑</m:t>
                          </m:r>
                          <m:r>
                            <a:rPr lang="en-US" sz="1400" i="1">
                              <a:latin typeface="Times New Roman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𝛼</m:t>
                          </m:r>
                          <m:r>
                            <a:rPr lang="en-US" sz="1400" i="1">
                              <a:latin typeface="Times New Roman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#</m:t>
                          </m:r>
                        </m:e>
                      </m:eqArr>
                    </m:oMath>
                  </m:oMathPara>
                </a14:m>
                <a:endParaRPr lang="en-HK" sz="1400" dirty="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>
                      <m:eqArr>
                        <m:eqArrPr>
                          <m:ctrlPr>
                            <a:rPr lang="en-HK" sz="1400" i="1">
                              <a:latin typeface="Times New Roman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eqArrPr>
                        <m:e>
                          <m:r>
                            <a:rPr lang="en-US" sz="1400" i="1">
                              <a:latin typeface="Times New Roman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𝐴</m:t>
                          </m:r>
                          <m:r>
                            <a:rPr lang="en-US" sz="1400">
                              <a:latin typeface="Times New Roman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1400">
                                  <a:latin typeface="Times New Roman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>
                                  <a:latin typeface="Times New Roman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a:rPr lang="en-US" sz="1400" i="1">
                                  <a:latin typeface="Times New Roman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𝜋</m:t>
                              </m:r>
                              <m:r>
                                <a:rPr lang="en-US" sz="1400" i="1">
                                  <a:latin typeface="Times New Roman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sz="1400">
                                  <a:latin typeface="Times New Roman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400" i="1">
                              <a:latin typeface="Times New Roman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×</m:t>
                          </m:r>
                          <m:f>
                            <m:fPr>
                              <m:ctrlPr>
                                <a:rPr lang="en-HK" sz="1400" i="1">
                                  <a:latin typeface="Times New Roman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400">
                                      <a:latin typeface="Times New Roman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>
                                      <a:latin typeface="Times New Roman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  <m:r>
                                    <a:rPr lang="en-US" sz="1400" i="1">
                                      <a:latin typeface="Times New Roman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func>
                                    <m:funcPr>
                                      <m:ctrlPr>
                                        <a:rPr lang="en-US" sz="1400">
                                          <a:latin typeface="Times New Roman" panose="02040503050406030204" pitchFamily="18" charset="0"/>
                                          <a:ea typeface="SimSu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1400">
                                          <a:latin typeface="Times New Roman" panose="02040503050406030204" pitchFamily="18" charset="0"/>
                                          <a:ea typeface="SimSu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HK" sz="1400" i="1">
                                              <a:latin typeface="Times New Roman" panose="02040503050406030204" pitchFamily="18" charset="0"/>
                                              <a:ea typeface="SimSu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en-US" sz="1400" i="1">
                                                  <a:latin typeface="Times New Roman" panose="02040503050406030204" pitchFamily="18" charset="0"/>
                                                  <a:ea typeface="SimSu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sz="1400" i="1">
                                                  <a:latin typeface="Times New Roman" panose="02040503050406030204" pitchFamily="18" charset="0"/>
                                                  <a:ea typeface="SimSu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𝜃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sz="1400">
                                                  <a:latin typeface="Times New Roman" panose="02040503050406030204" pitchFamily="18" charset="0"/>
                                                  <a:ea typeface="SimSu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2</m:t>
                                              </m:r>
                                            </m:den>
                                          </m:f>
                                        </m:e>
                                      </m:d>
                                    </m:e>
                                  </m:func>
                                </m:e>
                              </m:d>
                            </m:num>
                            <m:den>
                              <m:r>
                                <a:rPr lang="en-US" sz="1400" i="1">
                                  <a:latin typeface="Times New Roman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𝑐𝑜𝑠</m:t>
                              </m:r>
                              <m:r>
                                <a:rPr lang="en-US" sz="1400" i="1">
                                  <a:latin typeface="Times New Roman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</m:den>
                          </m:f>
                          <m:r>
                            <a:rPr lang="en-US" sz="1400" i="1">
                              <a:latin typeface="Times New Roman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#</m:t>
                          </m:r>
                        </m:e>
                      </m:eqArr>
                    </m:oMath>
                  </m:oMathPara>
                </a14:m>
                <a:endParaRPr lang="en-HK" sz="1400" dirty="0">
                  <a:latin typeface="Times New Roman"/>
                  <a:ea typeface="SimSun"/>
                  <a:cs typeface="Times New Roman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85313A41-88CC-4CA8-A22A-534DE7410C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65966" y="3375394"/>
                <a:ext cx="6096000" cy="148104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  <a:latin typeface="Times New Roman"/>
                    <a:ea typeface="SimSun"/>
                    <a:cs typeface="Times New Roman"/>
                  </a:rPr>
                  <a:t> </a:t>
                </a:r>
              </a:p>
            </p:txBody>
          </p:sp>
        </mc:Fallback>
      </mc:AlternateContent>
      <p:sp>
        <p:nvSpPr>
          <p:cNvPr id="10" name="矩形 9">
            <a:extLst>
              <a:ext uri="{FF2B5EF4-FFF2-40B4-BE49-F238E27FC236}">
                <a16:creationId xmlns:a16="http://schemas.microsoft.com/office/drawing/2014/main" id="{67F9244A-EAB9-4A7B-8F26-6F4AB0F29C64}"/>
              </a:ext>
            </a:extLst>
          </p:cNvPr>
          <p:cNvSpPr/>
          <p:nvPr/>
        </p:nvSpPr>
        <p:spPr>
          <a:xfrm>
            <a:off x="4086518" y="3492981"/>
            <a:ext cx="23455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defTabSz="457200" eaLnBrk="1" fontAlgn="auto" hangingPunct="1" algn="l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网格无关性：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CA7E5A9-851F-479C-BBB2-B769415132CD}"/>
              </a:ext>
            </a:extLst>
          </p:cNvPr>
          <p:cNvSpPr/>
          <p:nvPr/>
        </p:nvSpPr>
        <p:spPr>
          <a:xfrm>
            <a:off x="4078136" y="1078708"/>
            <a:ext cx="32582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defTabSz="457200" eaLnBrk="1" fontAlgn="auto" hangingPunct="1" algn="l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微元划分：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4BE7B695-C333-499B-BAF4-1000334E1CE5}"/>
              </a:ext>
            </a:extLst>
          </p:cNvPr>
          <p:cNvPicPr/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6114" y="1350283"/>
            <a:ext cx="2484273" cy="131928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D7C7AB55-A93B-47FB-96A7-966DC1534839}"/>
              </a:ext>
            </a:extLst>
          </p:cNvPr>
          <p:cNvPicPr/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8032" y="1681647"/>
            <a:ext cx="1238082" cy="100233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0A8CD6AA-A02A-4168-AD8E-381AA197D84E}"/>
                  </a:ext>
                </a:extLst>
              </p:cNvPr>
              <p:cNvSpPr/>
              <p:nvPr/>
            </p:nvSpPr>
            <p:spPr>
              <a:xfrm>
                <a:off x="2992149" y="2789469"/>
                <a:ext cx="6096000" cy="642805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algn="just" defTabSz="457200" eaLnBrk="1" fontAlgn="auto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>
                      <m:eqArr>
                        <m:eqArrPr>
                          <m:ctrlPr>
                            <a:rPr lang="en-HK" sz="1200" i="1">
                              <a:solidFill>
                                <a:prstClr val="black"/>
                              </a:solidFill>
                              <a:latin typeface="Times New Roman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eqArrPr>
                        <m:e>
                          <m:sSub>
                            <m:sSubPr>
                              <m:ctrlPr>
                                <a:rPr lang="en-HK" sz="12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sz="12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HK" sz="12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HK" sz="12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HK" sz="12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HK" sz="12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n-HK" sz="12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sub>
                          </m:sSub>
                          <m:r>
                            <m:rPr>
                              <m:brk/>
                            </m:rPr>
                            <a:rPr lang="en-HK" sz="1200" i="1">
                              <a:solidFill>
                                <a:prstClr val="black"/>
                              </a:solidFill>
                              <a:latin typeface="Times New Roman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=</m:t>
                          </m:r>
                          <m:nary>
                            <m:naryPr>
                              <m:limLoc m:val="subSup"/>
                              <m:ctrlPr>
                                <a:rPr lang="en-HK" sz="12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prstClr val="black"/>
                                      </a:solidFill>
                                      <a:latin typeface="Times New Roman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solidFill>
                                        <a:prstClr val="black"/>
                                      </a:solidFill>
                                      <a:latin typeface="Times New Roman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solidFill>
                                        <a:prstClr val="black"/>
                                      </a:solidFill>
                                      <a:latin typeface="Times New Roman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prstClr val="black"/>
                                      </a:solidFill>
                                      <a:latin typeface="Times New Roman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solidFill>
                                        <a:prstClr val="black"/>
                                      </a:solidFill>
                                      <a:latin typeface="Times New Roman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solidFill>
                                        <a:prstClr val="black"/>
                                      </a:solidFill>
                                      <a:latin typeface="Times New Roman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sz="1200">
                                      <a:solidFill>
                                        <a:prstClr val="black"/>
                                      </a:solidFill>
                                      <a:latin typeface="Times New Roman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sup>
                            <m:e>
                              <m:nary>
                                <m:naryPr>
                                  <m:limLoc m:val="subSup"/>
                                  <m:ctrlPr>
                                    <a:rPr lang="en-HK" sz="1200" i="1">
                                      <a:solidFill>
                                        <a:prstClr val="black"/>
                                      </a:solidFill>
                                      <a:latin typeface="Times New Roman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sSub>
                                    <m:sSubPr>
                                      <m:ctrlPr>
                                        <a:rPr lang="en-US" sz="1200" i="1">
                                          <a:solidFill>
                                            <a:prstClr val="black"/>
                                          </a:solidFill>
                                          <a:latin typeface="Times New Roman" panose="02040503050406030204" pitchFamily="18" charset="0"/>
                                          <a:ea typeface="SimSu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solidFill>
                                            <a:prstClr val="black"/>
                                          </a:solidFill>
                                          <a:latin typeface="Times New Roman" panose="02040503050406030204" pitchFamily="18" charset="0"/>
                                          <a:ea typeface="SimSu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solidFill>
                                            <a:prstClr val="black"/>
                                          </a:solidFill>
                                          <a:latin typeface="Times New Roman" panose="02040503050406030204" pitchFamily="18" charset="0"/>
                                          <a:ea typeface="SimSu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  <m:sup>
                                  <m:sSub>
                                    <m:sSubPr>
                                      <m:ctrlPr>
                                        <a:rPr lang="en-US" sz="1200" i="1">
                                          <a:solidFill>
                                            <a:prstClr val="black"/>
                                          </a:solidFill>
                                          <a:latin typeface="Times New Roman" panose="02040503050406030204" pitchFamily="18" charset="0"/>
                                          <a:ea typeface="SimSu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solidFill>
                                            <a:prstClr val="black"/>
                                          </a:solidFill>
                                          <a:latin typeface="Times New Roman" panose="02040503050406030204" pitchFamily="18" charset="0"/>
                                          <a:ea typeface="SimSu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solidFill>
                                            <a:prstClr val="black"/>
                                          </a:solidFill>
                                          <a:latin typeface="Times New Roman" panose="02040503050406030204" pitchFamily="18" charset="0"/>
                                          <a:ea typeface="SimSu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1200">
                                          <a:solidFill>
                                            <a:prstClr val="black"/>
                                          </a:solidFill>
                                          <a:latin typeface="Times New Roman" panose="02040503050406030204" pitchFamily="18" charset="0"/>
                                          <a:ea typeface="SimSu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</m:sup>
                                <m:e>
                                  <m:f>
                                    <m:fPr>
                                      <m:ctrlPr>
                                        <a:rPr lang="en-US" sz="1200" i="1">
                                          <a:solidFill>
                                            <a:prstClr val="black"/>
                                          </a:solidFill>
                                          <a:latin typeface="Times New Roman" panose="02040503050406030204" pitchFamily="18" charset="0"/>
                                          <a:ea typeface="SimSu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200" i="1">
                                          <a:solidFill>
                                            <a:prstClr val="black"/>
                                          </a:solidFill>
                                          <a:latin typeface="Times New Roman" panose="02040503050406030204" pitchFamily="18" charset="0"/>
                                          <a:ea typeface="SimSu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𝑄</m:t>
                                      </m:r>
                                      <m:r>
                                        <a:rPr lang="en-US" sz="1200">
                                          <a:solidFill>
                                            <a:prstClr val="black"/>
                                          </a:solidFill>
                                          <a:latin typeface="Times New Roman" panose="02040503050406030204" pitchFamily="18" charset="0"/>
                                          <a:ea typeface="SimSu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×</m:t>
                                      </m:r>
                                      <m:r>
                                        <a:rPr lang="en-US" sz="1200" i="1">
                                          <a:solidFill>
                                            <a:prstClr val="black"/>
                                          </a:solidFill>
                                          <a:latin typeface="Times New Roman" panose="02040503050406030204" pitchFamily="18" charset="0"/>
                                          <a:ea typeface="SimSu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𝐻</m:t>
                                      </m:r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en-US" sz="1200">
                                              <a:solidFill>
                                                <a:prstClr val="black"/>
                                              </a:solidFill>
                                              <a:latin typeface="Times New Roman" panose="02040503050406030204" pitchFamily="18" charset="0"/>
                                              <a:ea typeface="SimSu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200">
                                              <a:solidFill>
                                                <a:prstClr val="black"/>
                                              </a:solidFill>
                                              <a:latin typeface="Times New Roman" panose="02040503050406030204" pitchFamily="18" charset="0"/>
                                              <a:ea typeface="SimSu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sz="1200" i="1">
                                              <a:solidFill>
                                                <a:prstClr val="black"/>
                                              </a:solidFill>
                                              <a:latin typeface="Times New Roman" panose="02040503050406030204" pitchFamily="18" charset="0"/>
                                              <a:ea typeface="SimSu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𝜋</m:t>
                                          </m:r>
                                          <m:d>
                                            <m:dPr>
                                              <m:ctrlPr>
                                                <a:rPr lang="en-HK" sz="1200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Times New Roman" panose="02040503050406030204" pitchFamily="18" charset="0"/>
                                                  <a:ea typeface="SimSu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ad>
                                                <m:radPr>
                                                  <m:degHide m:val="on"/>
                                                  <m:ctrlPr>
                                                    <a:rPr lang="en-HK" sz="1200" i="1">
                                                      <a:solidFill>
                                                        <a:prstClr val="black"/>
                                                      </a:solidFill>
                                                      <a:latin typeface="Times New Roman" panose="02040503050406030204" pitchFamily="18" charset="0"/>
                                                      <a:ea typeface="SimSu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radPr>
                                                <m:deg/>
                                                <m:e>
                                                  <m:sSup>
                                                    <m:sSupPr>
                                                      <m:ctrlPr>
                                                        <a:rPr lang="en-US" sz="1200" i="1">
                                                          <a:solidFill>
                                                            <a:prstClr val="black"/>
                                                          </a:solidFill>
                                                          <a:latin typeface="Times New Roman" panose="02040503050406030204" pitchFamily="18" charset="0"/>
                                                          <a:ea typeface="SimSu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a:rPr lang="en-US" sz="1200" i="1">
                                                          <a:solidFill>
                                                            <a:prstClr val="black"/>
                                                          </a:solidFill>
                                                          <a:latin typeface="Times New Roman" panose="02040503050406030204" pitchFamily="18" charset="0"/>
                                                          <a:ea typeface="SimSu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𝑥</m:t>
                                                      </m:r>
                                                    </m:e>
                                                    <m:sup>
                                                      <m:r>
                                                        <a:rPr lang="en-US" sz="1200">
                                                          <a:solidFill>
                                                            <a:prstClr val="black"/>
                                                          </a:solidFill>
                                                          <a:latin typeface="Times New Roman" panose="02040503050406030204" pitchFamily="18" charset="0"/>
                                                          <a:ea typeface="SimSu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2</m:t>
                                                      </m:r>
                                                    </m:sup>
                                                  </m:sSup>
                                                  <m:r>
                                                    <a:rPr lang="en-US" sz="1200">
                                                      <a:solidFill>
                                                        <a:prstClr val="black"/>
                                                      </a:solidFill>
                                                      <a:latin typeface="Times New Roman" panose="02040503050406030204" pitchFamily="18" charset="0"/>
                                                      <a:ea typeface="SimSu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+</m:t>
                                                  </m:r>
                                                  <m:sSup>
                                                    <m:sSupPr>
                                                      <m:ctrlPr>
                                                        <a:rPr lang="en-US" sz="1200" i="1">
                                                          <a:solidFill>
                                                            <a:prstClr val="black"/>
                                                          </a:solidFill>
                                                          <a:latin typeface="Times New Roman" panose="02040503050406030204" pitchFamily="18" charset="0"/>
                                                          <a:ea typeface="SimSu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a:rPr lang="en-US" sz="1200" i="1">
                                                          <a:solidFill>
                                                            <a:prstClr val="black"/>
                                                          </a:solidFill>
                                                          <a:latin typeface="Times New Roman" panose="02040503050406030204" pitchFamily="18" charset="0"/>
                                                          <a:ea typeface="SimSu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𝑦</m:t>
                                                      </m:r>
                                                    </m:e>
                                                    <m:sup>
                                                      <m:r>
                                                        <a:rPr lang="en-US" sz="1200">
                                                          <a:solidFill>
                                                            <a:prstClr val="black"/>
                                                          </a:solidFill>
                                                          <a:latin typeface="Times New Roman" panose="02040503050406030204" pitchFamily="18" charset="0"/>
                                                          <a:ea typeface="SimSu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2</m:t>
                                                      </m:r>
                                                    </m:sup>
                                                  </m:sSup>
                                                  <m:r>
                                                    <a:rPr lang="en-US" sz="1200">
                                                      <a:solidFill>
                                                        <a:prstClr val="black"/>
                                                      </a:solidFill>
                                                      <a:latin typeface="Times New Roman" panose="02040503050406030204" pitchFamily="18" charset="0"/>
                                                      <a:ea typeface="SimSu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+</m:t>
                                                  </m:r>
                                                  <m:sSup>
                                                    <m:sSupPr>
                                                      <m:ctrlPr>
                                                        <a:rPr lang="en-US" sz="1200" i="1">
                                                          <a:solidFill>
                                                            <a:prstClr val="black"/>
                                                          </a:solidFill>
                                                          <a:latin typeface="Times New Roman" panose="02040503050406030204" pitchFamily="18" charset="0"/>
                                                          <a:ea typeface="SimSu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a:rPr lang="en-US" sz="1200" i="1">
                                                          <a:solidFill>
                                                            <a:prstClr val="black"/>
                                                          </a:solidFill>
                                                          <a:latin typeface="Times New Roman" panose="02040503050406030204" pitchFamily="18" charset="0"/>
                                                          <a:ea typeface="SimSu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𝐻</m:t>
                                                      </m:r>
                                                    </m:e>
                                                    <m:sup>
                                                      <m:r>
                                                        <a:rPr lang="en-US" sz="1200">
                                                          <a:solidFill>
                                                            <a:prstClr val="black"/>
                                                          </a:solidFill>
                                                          <a:latin typeface="Times New Roman" panose="02040503050406030204" pitchFamily="18" charset="0"/>
                                                          <a:ea typeface="SimSu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2</m:t>
                                                      </m:r>
                                                    </m:sup>
                                                  </m:sSup>
                                                </m:e>
                                              </m:rad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sz="1200">
                                              <a:solidFill>
                                                <a:prstClr val="black"/>
                                              </a:solidFill>
                                              <a:latin typeface="Times New Roman" panose="02040503050406030204" pitchFamily="18" charset="0"/>
                                              <a:ea typeface="SimSu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3</m:t>
                                          </m:r>
                                        </m:sup>
                                      </m:sSup>
                                      <m:r>
                                        <a:rPr lang="en-US" sz="1200">
                                          <a:solidFill>
                                            <a:prstClr val="black"/>
                                          </a:solidFill>
                                          <a:latin typeface="Times New Roman" panose="02040503050406030204" pitchFamily="18" charset="0"/>
                                          <a:ea typeface="SimSu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×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sz="1200">
                                              <a:solidFill>
                                                <a:prstClr val="black"/>
                                              </a:solidFill>
                                              <a:latin typeface="Times New Roman" panose="02040503050406030204" pitchFamily="18" charset="0"/>
                                              <a:ea typeface="SimSu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200">
                                              <a:solidFill>
                                                <a:prstClr val="black"/>
                                              </a:solidFill>
                                              <a:latin typeface="Times New Roman" panose="02040503050406030204" pitchFamily="18" charset="0"/>
                                              <a:ea typeface="SimSu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en-US" sz="1200" i="1">
                                              <a:solidFill>
                                                <a:prstClr val="black"/>
                                              </a:solidFill>
                                              <a:latin typeface="Times New Roman" panose="02040503050406030204" pitchFamily="18" charset="0"/>
                                              <a:ea typeface="SimSu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−</m:t>
                                          </m:r>
                                          <m:func>
                                            <m:funcPr>
                                              <m:ctrlPr>
                                                <a:rPr lang="en-US" sz="1200">
                                                  <a:solidFill>
                                                    <a:prstClr val="black"/>
                                                  </a:solidFill>
                                                  <a:latin typeface="Times New Roman" panose="02040503050406030204" pitchFamily="18" charset="0"/>
                                                  <a:ea typeface="SimSu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funcPr>
                                            <m:fNam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200">
                                                  <a:solidFill>
                                                    <a:prstClr val="black"/>
                                                  </a:solidFill>
                                                  <a:latin typeface="Times New Roman" panose="02040503050406030204" pitchFamily="18" charset="0"/>
                                                  <a:ea typeface="SimSu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cos</m:t>
                                              </m:r>
                                            </m:fName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en-HK" sz="1200" i="1">
                                                      <a:solidFill>
                                                        <a:prstClr val="black"/>
                                                      </a:solidFill>
                                                      <a:latin typeface="Times New Roman" panose="02040503050406030204" pitchFamily="18" charset="0"/>
                                                      <a:ea typeface="SimSu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f>
                                                    <m:fPr>
                                                      <m:ctrlPr>
                                                        <a:rPr lang="en-US" sz="1200" i="1">
                                                          <a:solidFill>
                                                            <a:prstClr val="black"/>
                                                          </a:solidFill>
                                                          <a:latin typeface="Times New Roman" panose="02040503050406030204" pitchFamily="18" charset="0"/>
                                                          <a:ea typeface="SimSu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</m:ctrlPr>
                                                    </m:fPr>
                                                    <m:num>
                                                      <m:r>
                                                        <a:rPr lang="en-US" sz="1200" i="1">
                                                          <a:solidFill>
                                                            <a:prstClr val="black"/>
                                                          </a:solidFill>
                                                          <a:latin typeface="Times New Roman" panose="02040503050406030204" pitchFamily="18" charset="0"/>
                                                          <a:ea typeface="SimSu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𝜃</m:t>
                                                      </m:r>
                                                    </m:num>
                                                    <m:den>
                                                      <m:r>
                                                        <a:rPr lang="en-US" sz="1200">
                                                          <a:solidFill>
                                                            <a:prstClr val="black"/>
                                                          </a:solidFill>
                                                          <a:latin typeface="Times New Roman" panose="02040503050406030204" pitchFamily="18" charset="0"/>
                                                          <a:ea typeface="SimSu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2</m:t>
                                                      </m:r>
                                                    </m:den>
                                                  </m:f>
                                                </m:e>
                                              </m:d>
                                            </m:e>
                                          </m:func>
                                        </m:e>
                                      </m:d>
                                    </m:den>
                                  </m:f>
                                  <m:r>
                                    <a:rPr lang="en-US" sz="1200" i="1">
                                      <a:solidFill>
                                        <a:prstClr val="black"/>
                                      </a:solidFill>
                                      <a:latin typeface="Times New Roman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𝑑𝑥𝑑𝑦</m:t>
                                  </m:r>
                                </m:e>
                              </m:nary>
                            </m:e>
                          </m:nary>
                          <m:r>
                            <a:rPr lang="en-US" sz="1200" i="1">
                              <a:solidFill>
                                <a:prstClr val="black"/>
                              </a:solidFill>
                              <a:latin typeface="Times New Roman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#</m:t>
                          </m:r>
                        </m:e>
                      </m:eqArr>
                    </m:oMath>
                  </m:oMathPara>
                </a14:m>
                <a:endParaRPr lang="en-HK" sz="1200" dirty="0">
                  <a:solidFill>
                    <a:prstClr val="black"/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0A8CD6AA-A02A-4168-AD8E-381AA197D8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2149" y="2789469"/>
                <a:ext cx="6096000" cy="64280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  <a:latin typeface="Times New Roman"/>
                    <a:ea typeface="SimSun"/>
                    <a:cs typeface="Times New Roman"/>
                  </a:rPr>
                  <a:t> </a:t>
                </a:r>
              </a:p>
            </p:txBody>
          </p:sp>
        </mc:Fallback>
      </mc:AlternateContent>
      <p:sp>
        <p:nvSpPr>
          <p:cNvPr id="15" name="矩形 14">
            <a:extLst>
              <a:ext uri="{FF2B5EF4-FFF2-40B4-BE49-F238E27FC236}">
                <a16:creationId xmlns:a16="http://schemas.microsoft.com/office/drawing/2014/main" id="{B3DAD248-BB63-410B-93D2-EEE45B7FED29}"/>
              </a:ext>
            </a:extLst>
          </p:cNvPr>
          <p:cNvSpPr/>
          <p:nvPr/>
        </p:nvSpPr>
        <p:spPr>
          <a:xfrm>
            <a:off x="4772172" y="6558683"/>
            <a:ext cx="479206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HK" sz="1200" b="1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Fig.3.2.1 </a:t>
            </a:r>
            <a:r>
              <a:rPr lang="en-HK" sz="12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Proof of grid independence</a:t>
            </a:r>
          </a:p>
        </p:txBody>
      </p:sp>
      <p:sp>
        <p:nvSpPr>
          <p:cNvPr id="16" name="灯片编号占位符 15">
            <a:extLst>
              <a:ext uri="{FF2B5EF4-FFF2-40B4-BE49-F238E27FC236}">
                <a16:creationId xmlns:a16="http://schemas.microsoft.com/office/drawing/2014/main" id="{7C0267CB-089B-4557-984A-DB1AE2D85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4711" y="6487542"/>
            <a:ext cx="2844800" cy="365125"/>
          </a:xfrm>
        </p:spPr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15884886-3D85-4AFD-9D94-33E4AF7428DD}" type="slidenum">
              <a:rPr lang="en-US" altLang="zh-CN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17</a:t>
            </a:fld>
            <a:endParaRPr lang="en-US" altLang="zh-CN">
              <a:latin typeface="Times New Roman"/>
              <a:ea typeface="SimSun"/>
              <a:cs typeface="Times New Roman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C3A47AC5-2B11-4EBD-B925-F22AAE0E552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4469" y="1688619"/>
            <a:ext cx="3342867" cy="4046213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B78B787F-784D-4CAD-8D60-2CE3AA6748E4}"/>
              </a:ext>
            </a:extLst>
          </p:cNvPr>
          <p:cNvSpPr/>
          <p:nvPr/>
        </p:nvSpPr>
        <p:spPr>
          <a:xfrm>
            <a:off x="8113865" y="1201401"/>
            <a:ext cx="35189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defTabSz="457200" eaLnBrk="1" fontAlgn="auto" hangingPunct="1" algn="l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模拟流程（MATLAB）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37DC1B0-6F53-4232-A698-3439F87647A9}"/>
              </a:ext>
            </a:extLst>
          </p:cNvPr>
          <p:cNvSpPr/>
          <p:nvPr/>
        </p:nvSpPr>
        <p:spPr>
          <a:xfrm>
            <a:off x="8528343" y="5796757"/>
            <a:ext cx="30551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HK" sz="1200" b="1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Fig. 3.2.2 </a:t>
            </a:r>
            <a:r>
              <a:rPr lang="en-HK" sz="12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Flow chart of simulation procedure</a:t>
            </a:r>
          </a:p>
          <a:p>
            <a:endParaRPr lang="en-HK" sz="1200" dirty="0">
              <a:latin typeface="Times New Roman" panose="020B0604020202020204" pitchFamily="34" charset="0"/>
              <a:ea typeface="SimSun"/>
              <a:cs typeface="Times New Roman" panose="020B0604020202020204" pitchFamily="34" charset="0"/>
            </a:endParaRPr>
          </a:p>
        </p:txBody>
      </p:sp>
      <p:sp>
        <p:nvSpPr>
          <p:cNvPr id="28" name="矩形 3">
            <a:extLst>
              <a:ext uri="{FF2B5EF4-FFF2-40B4-BE49-F238E27FC236}">
                <a16:creationId xmlns:a16="http://schemas.microsoft.com/office/drawing/2014/main" id="{1DBEC96F-257C-4757-8CD3-B2F8DF6A88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4432" y="147580"/>
            <a:ext cx="9099077" cy="5107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9pPr>
          </a:lstStyle>
          <a:p>
            <a:pPr algn="l">
              <a:lnSpc>
                <a:spcPct val="125000"/>
              </a:lnSpc>
              <a:spcBef>
                <a:spcPct val="20000"/>
              </a:spcBef>
            </a:pPr>
            <a:r>
              <a:rPr lang="en-US" altLang="zh-CN" b="1" dirty="0" sz="1800"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3</a:t>
            </a:r>
            <a:r>
              <a:rPr lang="en-US" altLang="zh-CN" b="1" dirty="0" sz="1800"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. IEC 喷淋分布的 FDM 建模与优化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8379A05-B185-4BD6-A5EF-39C79A675BDD}"/>
              </a:ext>
            </a:extLst>
          </p:cNvPr>
          <p:cNvSpPr/>
          <p:nvPr/>
        </p:nvSpPr>
        <p:spPr>
          <a:xfrm>
            <a:off x="293347" y="970929"/>
            <a:ext cx="21659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 eaLnBrk="1" fontAlgn="auto" hangingPunct="1" algn="l">
              <a:spcBef>
                <a:spcPts val="0"/>
              </a:spcBef>
              <a:spcAft>
                <a:spcPts val="0"/>
              </a:spcAft>
            </a:pPr>
            <a:r>
              <a:rPr lang="en-HK" sz="18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3.2</a:t>
            </a:r>
            <a:r>
              <a:rPr lang="en-HK" sz="18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模型方程</a:t>
            </a:r>
          </a:p>
        </p:txBody>
      </p:sp>
    </p:spTree>
    <p:extLst>
      <p:ext uri="{BB962C8B-B14F-4D97-AF65-F5344CB8AC3E}">
        <p14:creationId xmlns:p14="http://schemas.microsoft.com/office/powerpoint/2010/main" val="535428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33"/>
    </mc:Choice>
    <mc:Fallback xmlns="">
      <p:transition spd="slow" advTm="5933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E385AD6F-9D60-417F-AB5C-D745CFB401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7545382"/>
              </p:ext>
            </p:extLst>
          </p:nvPr>
        </p:nvGraphicFramePr>
        <p:xfrm>
          <a:off x="6885594" y="1474689"/>
          <a:ext cx="4178001" cy="345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6384906" imgH="5282235" progId="Origin50.Graph">
                  <p:embed/>
                </p:oleObj>
              </mc:Choice>
              <mc:Fallback>
                <p:oleObj name="Graph" r:id="rId3" imgW="6384906" imgH="5282235" progId="Origin50.Graph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5594" y="1474689"/>
                        <a:ext cx="4178001" cy="34575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31066FB5-E48A-4263-927E-D4B5E2AEDF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640" y="3839344"/>
            <a:ext cx="4739982" cy="25200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CAF00261-34FA-4ECD-A573-3967B1E4F44B}"/>
              </a:ext>
            </a:extLst>
          </p:cNvPr>
          <p:cNvSpPr/>
          <p:nvPr/>
        </p:nvSpPr>
        <p:spPr>
          <a:xfrm>
            <a:off x="956177" y="1488750"/>
            <a:ext cx="1576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defTabSz="457200" eaLnBrk="1" fontAlgn="auto" hangingPunct="1" algn="l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实验条件：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176E1F98-FD43-4050-A1E8-D860DABC40CF}"/>
                  </a:ext>
                </a:extLst>
              </p:cNvPr>
              <p:cNvSpPr/>
              <p:nvPr/>
            </p:nvSpPr>
            <p:spPr>
              <a:xfrm>
                <a:off x="1288203" y="1842686"/>
                <a:ext cx="5826584" cy="17851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defTabSz="457200" eaLnBrk="1" fontAlgn="auto" hangingPunct="1">
                  <a:spcBef>
                    <a:spcPts val="600"/>
                  </a:spcBef>
                  <a:spcAft>
                    <a:spcPts val="0"/>
                  </a:spcAft>
                </a:pPr>
                <a:r>
                  <a:rPr lang="en-HK" sz="1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SimSun"/>
                    <a:cs typeface="Times New Roman" panose="02020603050405020304" pitchFamily="18" charset="0"/>
                  </a:rPr>
                  <a:t>Q=220 L/h, </a:t>
                </a:r>
              </a:p>
              <a:p>
                <a:pPr defTabSz="457200" eaLnBrk="1" fontAlgn="auto" hangingPunct="1">
                  <a:spcBef>
                    <a:spcPts val="600"/>
                  </a:spcBef>
                  <a:spcAft>
                    <a:spcPts val="0"/>
                  </a:spcAft>
                </a:pPr>
                <a:r>
                  <a:rPr lang="en-HK" sz="1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SimSun"/>
                    <a:cs typeface="Times New Roman" panose="02020603050405020304" pitchFamily="18" charset="0"/>
                  </a:rPr>
                  <a:t>Spray cone angle 45°, </a:t>
                </a:r>
              </a:p>
              <a:p>
                <a:pPr defTabSz="457200" eaLnBrk="1" fontAlgn="auto" hangingPunct="1">
                  <a:spcBef>
                    <a:spcPts val="600"/>
                  </a:spcBef>
                  <a:spcAft>
                    <a:spcPts val="0"/>
                  </a:spcAft>
                </a:pPr>
                <a:r>
                  <a:rPr lang="en-HK" sz="1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SimSun"/>
                    <a:cs typeface="Times New Roman" panose="02020603050405020304" pitchFamily="18" charset="0"/>
                  </a:rPr>
                  <a:t>Nozzle height 330 mm without inclined angle, </a:t>
                </a:r>
              </a:p>
              <a:p>
                <a:pPr defTabSz="457200" eaLnBrk="1" fontAlgn="auto" hangingPunct="1">
                  <a:spcBef>
                    <a:spcPts val="600"/>
                  </a:spcBef>
                  <a:spcAft>
                    <a:spcPts val="0"/>
                  </a:spcAft>
                </a:pPr>
                <a:r>
                  <a:rPr lang="en-HK" sz="1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SimSun"/>
                    <a:cs typeface="Times New Roman" panose="02020603050405020304" pitchFamily="18" charset="0"/>
                  </a:rPr>
                  <a:t>Grid number is 10 </a:t>
                </a:r>
                <a14:m>
                  <m:oMath xmlns:m="http://schemas.openxmlformats.org/officeDocument/2006/math">
                    <m:r>
                      <a:rPr lang="en-HK" sz="1800" i="1">
                        <a:solidFill>
                          <a:prstClr val="black"/>
                        </a:solidFill>
                        <a:latin typeface="Times New Roman" panose="02040503050406030204" pitchFamily="18" charset="0"/>
                        <a:ea typeface="SimSun" panose="02040503050406030204" pitchFamily="18" charset="0"/>
                        <a:cs typeface="Times New Roman" panose="020B0604020202020204" pitchFamily="34" charset="0"/>
                      </a:rPr>
                      <m:t>×</m:t>
                    </m:r>
                  </m:oMath>
                </a14:m>
                <a:r>
                  <a:rPr lang="en-HK" sz="1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SimSun"/>
                    <a:cs typeface="Times New Roman" panose="02020603050405020304" pitchFamily="18" charset="0"/>
                  </a:rPr>
                  <a:t> 10,</a:t>
                </a:r>
              </a:p>
              <a:p>
                <a:pPr defTabSz="457200" eaLnBrk="1" fontAlgn="auto" hangingPunct="1">
                  <a:spcBef>
                    <a:spcPts val="600"/>
                  </a:spcBef>
                  <a:spcAft>
                    <a:spcPts val="0"/>
                  </a:spcAft>
                </a:pPr>
                <a:r>
                  <a:rPr lang="en-HK" sz="1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SimSun"/>
                    <a:cs typeface="Times New Roman" panose="02020603050405020304" pitchFamily="18" charset="0"/>
                  </a:rPr>
                  <a:t>Grid size is 50 mm </a:t>
                </a:r>
                <a14:m>
                  <m:oMath xmlns:m="http://schemas.openxmlformats.org/officeDocument/2006/math">
                    <m:r>
                      <a:rPr lang="en-HK" sz="1800" i="1">
                        <a:solidFill>
                          <a:prstClr val="black"/>
                        </a:solidFill>
                        <a:latin typeface="Times New Roman" panose="02040503050406030204" pitchFamily="18" charset="0"/>
                        <a:ea typeface="SimSun" panose="02040503050406030204" pitchFamily="18" charset="0"/>
                        <a:cs typeface="Times New Roman" panose="020B0604020202020204" pitchFamily="34" charset="0"/>
                      </a:rPr>
                      <m:t>×</m:t>
                    </m:r>
                  </m:oMath>
                </a14:m>
                <a:r>
                  <a:rPr lang="en-HK" sz="1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SimSun"/>
                    <a:cs typeface="Times New Roman" panose="02020603050405020304" pitchFamily="18" charset="0"/>
                  </a:rPr>
                  <a:t> 50 mm </a:t>
                </a:r>
                <a14:m>
                  <m:oMath xmlns:m="http://schemas.openxmlformats.org/officeDocument/2006/math">
                    <m:r>
                      <a:rPr lang="en-HK" sz="1800" i="1">
                        <a:solidFill>
                          <a:prstClr val="black"/>
                        </a:solidFill>
                        <a:latin typeface="Times New Roman" panose="02040503050406030204" pitchFamily="18" charset="0"/>
                        <a:ea typeface="SimSun" panose="02040503050406030204" pitchFamily="18" charset="0"/>
                        <a:cs typeface="Times New Roman" panose="020B0604020202020204" pitchFamily="34" charset="0"/>
                      </a:rPr>
                      <m:t>×</m:t>
                    </m:r>
                  </m:oMath>
                </a14:m>
                <a:r>
                  <a:rPr lang="en-HK" sz="1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SimSun"/>
                    <a:cs typeface="Times New Roman" panose="02020603050405020304" pitchFamily="18" charset="0"/>
                  </a:rPr>
                  <a:t> 60mm.</a:t>
                </a: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176E1F98-FD43-4050-A1E8-D860DABC40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8203" y="1842686"/>
                <a:ext cx="5826584" cy="1785104"/>
              </a:xfrm>
              <a:prstGeom prst="rect">
                <a:avLst/>
              </a:prstGeom>
              <a:blipFill>
                <a:blip r:embed="rId7"/>
                <a:stretch>
                  <a:fillRect l="-837" t="-1706" b="-44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  <a:latin typeface="Times New Roman"/>
                    <a:ea typeface="SimSun"/>
                    <a:cs typeface="Times New Roman"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1D6E575A-1BAA-495C-9A4F-C625BE84BAF2}"/>
              </a:ext>
            </a:extLst>
          </p:cNvPr>
          <p:cNvSpPr/>
          <p:nvPr/>
        </p:nvSpPr>
        <p:spPr>
          <a:xfrm>
            <a:off x="6764988" y="1191432"/>
            <a:ext cx="21147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defTabSz="457200" eaLnBrk="1" fontAlgn="auto" hangingPunct="1" algn="l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验证结果：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39F54A4-73F9-47DE-8A44-242E65CFCB32}"/>
              </a:ext>
            </a:extLst>
          </p:cNvPr>
          <p:cNvSpPr/>
          <p:nvPr/>
        </p:nvSpPr>
        <p:spPr>
          <a:xfrm>
            <a:off x="7005145" y="5391940"/>
            <a:ext cx="460791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eaLnBrk="1" fontAlgn="auto" hangingPunct="1" algn="l">
              <a:spcBef>
                <a:spcPts val="0"/>
              </a:spcBef>
              <a:spcAft>
                <a:spcPts val="0"/>
              </a:spcAft>
            </a:pPr>
            <a:r>
              <a:rPr lang="en-US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最大偏差在可接受范围内。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32B8ECB-2DBF-4ECE-93FD-8ADC7D4825D6}"/>
              </a:ext>
            </a:extLst>
          </p:cNvPr>
          <p:cNvSpPr/>
          <p:nvPr/>
        </p:nvSpPr>
        <p:spPr>
          <a:xfrm>
            <a:off x="2732540" y="6293899"/>
            <a:ext cx="479206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HK" sz="12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Fig. 3.3.1 </a:t>
            </a:r>
            <a:r>
              <a:rPr lang="en-HK" sz="12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Experiment bench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450D832-42A3-4396-AF51-9EEB6188644E}"/>
              </a:ext>
            </a:extLst>
          </p:cNvPr>
          <p:cNvSpPr/>
          <p:nvPr/>
        </p:nvSpPr>
        <p:spPr>
          <a:xfrm>
            <a:off x="8116491" y="4932227"/>
            <a:ext cx="2114746" cy="283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HK" sz="12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Fig. 3.3.2 </a:t>
            </a:r>
            <a:r>
              <a:rPr lang="en-HK" sz="12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Validation results</a:t>
            </a: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3DA9FD2-B64A-4050-B0C5-362FD0039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15884886-3D85-4AFD-9D94-33E4AF7428DD}" type="slidenum">
              <a:rPr lang="en-US" altLang="zh-CN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18</a:t>
            </a:fld>
            <a:endParaRPr lang="en-US" altLang="zh-CN" dirty="0">
              <a:latin typeface="Times New Roman"/>
              <a:ea typeface="SimSun"/>
              <a:cs typeface="Times New Roman"/>
            </a:endParaRPr>
          </a:p>
        </p:txBody>
      </p:sp>
      <p:sp>
        <p:nvSpPr>
          <p:cNvPr id="15" name="矩形 3">
            <a:extLst>
              <a:ext uri="{FF2B5EF4-FFF2-40B4-BE49-F238E27FC236}">
                <a16:creationId xmlns:a16="http://schemas.microsoft.com/office/drawing/2014/main" id="{40AB118C-3093-466F-8D57-A34BF920C9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4013" y="-22029"/>
            <a:ext cx="10813218" cy="972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9pPr>
          </a:lstStyle>
          <a:p>
            <a:pPr algn="l">
              <a:lnSpc>
                <a:spcPct val="125000"/>
              </a:lnSpc>
              <a:spcBef>
                <a:spcPct val="20000"/>
              </a:spcBef>
            </a:pPr>
            <a:r>
              <a:rPr lang="en-US" altLang="zh-CN" b="1" dirty="0" sz="1800"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3</a:t>
            </a:r>
            <a:r>
              <a:rPr lang="en-US" altLang="zh-CN" b="1" dirty="0" sz="1800"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. IEC 喷淋分布的 FDM 建模与优化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0143F42-FAFE-4178-B0F3-9A249829053E}"/>
              </a:ext>
            </a:extLst>
          </p:cNvPr>
          <p:cNvSpPr txBox="1"/>
          <p:nvPr/>
        </p:nvSpPr>
        <p:spPr>
          <a:xfrm>
            <a:off x="346177" y="1013641"/>
            <a:ext cx="5178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eaLnBrk="1" fontAlgn="auto" hangingPunct="1" algn="l">
              <a:spcBef>
                <a:spcPts val="0"/>
              </a:spcBef>
              <a:spcAft>
                <a:spcPts val="0"/>
              </a:spcAft>
            </a:pPr>
            <a:r>
              <a:rPr lang="en-HK" sz="18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3.3</a:t>
            </a:r>
            <a:r>
              <a:rPr lang="en-HK" sz="18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实验验证</a:t>
            </a:r>
          </a:p>
        </p:txBody>
      </p:sp>
    </p:spTree>
    <p:extLst>
      <p:ext uri="{BB962C8B-B14F-4D97-AF65-F5344CB8AC3E}">
        <p14:creationId xmlns:p14="http://schemas.microsoft.com/office/powerpoint/2010/main" val="892479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33"/>
    </mc:Choice>
    <mc:Fallback xmlns="">
      <p:transition spd="slow" advTm="5933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4B6CA80-9723-4E48-AAFD-8771FD7AF0D1}"/>
              </a:ext>
            </a:extLst>
          </p:cNvPr>
          <p:cNvSpPr/>
          <p:nvPr/>
        </p:nvSpPr>
        <p:spPr>
          <a:xfrm>
            <a:off x="458076" y="1055509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defTabSz="457200" eaLnBrk="1" fontAlgn="auto" hangingPunct="1" algn="l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实验仪器选型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6EDBB7A-178D-4498-B61C-F2E57641B09D}"/>
              </a:ext>
            </a:extLst>
          </p:cNvPr>
          <p:cNvGraphicFramePr>
            <a:graphicFrameLocks noGrp="1"/>
          </p:cNvGraphicFramePr>
          <p:nvPr/>
        </p:nvGraphicFramePr>
        <p:xfrm>
          <a:off x="993672" y="2129804"/>
          <a:ext cx="4489082" cy="1566473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653930">
                  <a:extLst>
                    <a:ext uri="{9D8B030D-6E8A-4147-A177-3AD203B41FA5}">
                      <a16:colId xmlns:a16="http://schemas.microsoft.com/office/drawing/2014/main" val="1492680179"/>
                    </a:ext>
                  </a:extLst>
                </a:gridCol>
                <a:gridCol w="994299">
                  <a:extLst>
                    <a:ext uri="{9D8B030D-6E8A-4147-A177-3AD203B41FA5}">
                      <a16:colId xmlns:a16="http://schemas.microsoft.com/office/drawing/2014/main" val="1099582554"/>
                    </a:ext>
                  </a:extLst>
                </a:gridCol>
                <a:gridCol w="985421">
                  <a:extLst>
                    <a:ext uri="{9D8B030D-6E8A-4147-A177-3AD203B41FA5}">
                      <a16:colId xmlns:a16="http://schemas.microsoft.com/office/drawing/2014/main" val="936513701"/>
                    </a:ext>
                  </a:extLst>
                </a:gridCol>
                <a:gridCol w="850135">
                  <a:extLst>
                    <a:ext uri="{9D8B030D-6E8A-4147-A177-3AD203B41FA5}">
                      <a16:colId xmlns:a16="http://schemas.microsoft.com/office/drawing/2014/main" val="2488443368"/>
                    </a:ext>
                  </a:extLst>
                </a:gridCol>
                <a:gridCol w="1005297">
                  <a:extLst>
                    <a:ext uri="{9D8B030D-6E8A-4147-A177-3AD203B41FA5}">
                      <a16:colId xmlns:a16="http://schemas.microsoft.com/office/drawing/2014/main" val="2263846524"/>
                    </a:ext>
                  </a:extLst>
                </a:gridCol>
              </a:tblGrid>
              <a:tr h="688419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9pPr>
                    </a:lstStyle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/>
                          <a:cs typeface="Times New Roman" panose="02020603050405020304" pitchFamily="18" charset="0"/>
                        </a:rPr>
                        <a:t>喷嘴</a:t>
                      </a:r>
                    </a:p>
                  </a:txBody>
                  <a:tcPr marL="68580" marR="68580" marT="0" marB="0">
                    <a:solidFill>
                      <a:srgbClr val="AF1E3B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9pPr>
                    </a:lstStyle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/>
                          <a:cs typeface="Times New Roman" panose="02020603050405020304" pitchFamily="18" charset="0"/>
                        </a:rPr>
                        <a:t>孔径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/>
                          <a:cs typeface="Times New Roman" panose="02020603050405020304" pitchFamily="18" charset="0"/>
                        </a:rPr>
                        <a:t>（mm）</a:t>
                      </a:r>
                    </a:p>
                  </a:txBody>
                  <a:tcPr marL="68580" marR="68580" marT="0" marB="0">
                    <a:solidFill>
                      <a:srgbClr val="AF1E3B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9pPr>
                    </a:lstStyle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/>
                          <a:cs typeface="Times New Roman" panose="02020603050405020304" pitchFamily="18" charset="0"/>
                        </a:rPr>
                        <a:t>体积流量</a:t>
                      </a:r>
                    </a:p>
                  </a:txBody>
                  <a:tcPr marL="68580" marR="68580" marT="0" marB="0">
                    <a:solidFill>
                      <a:srgbClr val="AF1E3B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9pPr>
                    </a:lstStyle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/>
                          <a:cs typeface="Times New Roman" panose="02020603050405020304" pitchFamily="18" charset="0"/>
                        </a:rPr>
                        <a:t>压力</a:t>
                      </a:r>
                    </a:p>
                  </a:txBody>
                  <a:tcPr marL="68580" marR="68580" marT="0" marB="0">
                    <a:solidFill>
                      <a:srgbClr val="AF1E3B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9pPr>
                    </a:lstStyle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/>
                          <a:cs typeface="Times New Roman" panose="02020603050405020304" pitchFamily="18" charset="0"/>
                        </a:rPr>
                        <a:t>喷雾锥角</a:t>
                      </a:r>
                    </a:p>
                  </a:txBody>
                  <a:tcPr marL="68580" marR="68580" marT="0" marB="0">
                    <a:solidFill>
                      <a:srgbClr val="AF1E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1868659"/>
                  </a:ext>
                </a:extLst>
              </a:tr>
              <a:tr h="222882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/>
                          <a:cs typeface="Times New Roman" panose="02020603050405020304" pitchFamily="18" charset="0"/>
                        </a:rPr>
                        <a:t>1</a:t>
                      </a:r>
                      <a:endParaRPr lang="en-HK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SimSun"/>
                          <a:cs typeface="Times New Roman" panose="02020603050405020304" pitchFamily="18" charset="0"/>
                        </a:rPr>
                        <a:t>2.4</a:t>
                      </a:r>
                      <a:endParaRPr lang="en-HK" sz="1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SimSun"/>
                          <a:cs typeface="Times New Roman" panose="02020603050405020304" pitchFamily="18" charset="0"/>
                        </a:rPr>
                        <a:t>1.9-8.4</a:t>
                      </a:r>
                      <a:endParaRPr lang="en-HK" sz="1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/>
                          <a:cs typeface="Times New Roman" panose="02020603050405020304" pitchFamily="18" charset="0"/>
                        </a:rPr>
                        <a:t>0.4-10</a:t>
                      </a:r>
                      <a:endParaRPr lang="en-HK" sz="1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/>
                          <a:cs typeface="Times New Roman" panose="02020603050405020304" pitchFamily="18" charset="0"/>
                        </a:rPr>
                        <a:t>45-50</a:t>
                      </a:r>
                      <a:endParaRPr lang="en-HK" sz="1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3721296"/>
                  </a:ext>
                </a:extLst>
              </a:tr>
              <a:tr h="222882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/>
                          <a:cs typeface="Times New Roman" panose="02020603050405020304" pitchFamily="18" charset="0"/>
                        </a:rPr>
                        <a:t>2</a:t>
                      </a:r>
                      <a:endParaRPr lang="en-HK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SimSun"/>
                          <a:cs typeface="Times New Roman" panose="02020603050405020304" pitchFamily="18" charset="0"/>
                        </a:rPr>
                        <a:t>3.0</a:t>
                      </a:r>
                      <a:endParaRPr lang="en-HK" sz="1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SimSun"/>
                          <a:cs typeface="Times New Roman" panose="02020603050405020304" pitchFamily="18" charset="0"/>
                        </a:rPr>
                        <a:t>2.9-13</a:t>
                      </a:r>
                      <a:endParaRPr lang="en-HK" sz="1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SimSun"/>
                          <a:cs typeface="Times New Roman" panose="02020603050405020304" pitchFamily="18" charset="0"/>
                        </a:rPr>
                        <a:t>0.4-10</a:t>
                      </a:r>
                      <a:endParaRPr lang="en-HK" sz="1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SimSun"/>
                          <a:cs typeface="Times New Roman" panose="02020603050405020304" pitchFamily="18" charset="0"/>
                        </a:rPr>
                        <a:t>60-70</a:t>
                      </a:r>
                      <a:endParaRPr lang="en-HK" sz="1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60300693"/>
                  </a:ext>
                </a:extLst>
              </a:tr>
              <a:tr h="222882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/>
                          <a:cs typeface="Times New Roman" panose="02020603050405020304" pitchFamily="18" charset="0"/>
                        </a:rPr>
                        <a:t>3</a:t>
                      </a:r>
                      <a:endParaRPr lang="en-HK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/>
                          <a:cs typeface="Times New Roman" panose="02020603050405020304" pitchFamily="18" charset="0"/>
                        </a:rPr>
                        <a:t>3.2</a:t>
                      </a:r>
                      <a:endParaRPr lang="en-HK" sz="1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/>
                          <a:cs typeface="Times New Roman" panose="02020603050405020304" pitchFamily="18" charset="0"/>
                        </a:rPr>
                        <a:t>6.7-16.2</a:t>
                      </a:r>
                      <a:endParaRPr lang="en-HK" sz="1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SimSun"/>
                          <a:cs typeface="Times New Roman" panose="02020603050405020304" pitchFamily="18" charset="0"/>
                        </a:rPr>
                        <a:t>0.4-10</a:t>
                      </a:r>
                      <a:endParaRPr lang="en-HK" sz="1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/>
                          <a:cs typeface="Times New Roman" panose="02020603050405020304" pitchFamily="18" charset="0"/>
                        </a:rPr>
                        <a:t>70-75</a:t>
                      </a:r>
                      <a:endParaRPr lang="en-HK" sz="1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5279380"/>
                  </a:ext>
                </a:extLst>
              </a:tr>
            </a:tbl>
          </a:graphicData>
        </a:graphic>
      </p:graphicFrame>
      <p:pic>
        <p:nvPicPr>
          <p:cNvPr id="6" name="图片 5">
            <a:extLst>
              <a:ext uri="{FF2B5EF4-FFF2-40B4-BE49-F238E27FC236}">
                <a16:creationId xmlns:a16="http://schemas.microsoft.com/office/drawing/2014/main" id="{E9030BCD-2D58-4A13-BAA4-AA512AA549C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3191" b="33534"/>
          <a:stretch/>
        </p:blipFill>
        <p:spPr>
          <a:xfrm>
            <a:off x="7025944" y="1824097"/>
            <a:ext cx="1508456" cy="155791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21BA7C6-A9E6-4037-A95D-BF85FEB91C10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7049" y="1742835"/>
            <a:ext cx="1917332" cy="1793121"/>
          </a:xfrm>
          <a:prstGeom prst="rect">
            <a:avLst/>
          </a:prstGeom>
        </p:spPr>
      </p:pic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7B07609B-CAAB-4FF6-932E-E4CDAA452014}"/>
              </a:ext>
            </a:extLst>
          </p:cNvPr>
          <p:cNvGraphicFramePr>
            <a:graphicFrameLocks noGrp="1"/>
          </p:cNvGraphicFramePr>
          <p:nvPr/>
        </p:nvGraphicFramePr>
        <p:xfrm>
          <a:off x="993672" y="4071414"/>
          <a:ext cx="4489082" cy="1793825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1081229">
                  <a:extLst>
                    <a:ext uri="{9D8B030D-6E8A-4147-A177-3AD203B41FA5}">
                      <a16:colId xmlns:a16="http://schemas.microsoft.com/office/drawing/2014/main" val="1492680179"/>
                    </a:ext>
                  </a:extLst>
                </a:gridCol>
                <a:gridCol w="1380306">
                  <a:extLst>
                    <a:ext uri="{9D8B030D-6E8A-4147-A177-3AD203B41FA5}">
                      <a16:colId xmlns:a16="http://schemas.microsoft.com/office/drawing/2014/main" val="1099582554"/>
                    </a:ext>
                  </a:extLst>
                </a:gridCol>
                <a:gridCol w="732775">
                  <a:extLst>
                    <a:ext uri="{9D8B030D-6E8A-4147-A177-3AD203B41FA5}">
                      <a16:colId xmlns:a16="http://schemas.microsoft.com/office/drawing/2014/main" val="936513701"/>
                    </a:ext>
                  </a:extLst>
                </a:gridCol>
                <a:gridCol w="1294772">
                  <a:extLst>
                    <a:ext uri="{9D8B030D-6E8A-4147-A177-3AD203B41FA5}">
                      <a16:colId xmlns:a16="http://schemas.microsoft.com/office/drawing/2014/main" val="2488443368"/>
                    </a:ext>
                  </a:extLst>
                </a:gridCol>
              </a:tblGrid>
              <a:tr h="688419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9pPr>
                    </a:lstStyle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SimSun"/>
                          <a:cs typeface="Times New Roman" panose="02020603050405020304" pitchFamily="18" charset="0"/>
                        </a:rPr>
                        <a:t>仪器</a:t>
                      </a:r>
                    </a:p>
                  </a:txBody>
                  <a:tcPr marL="68580" marR="68580" marT="0" marB="0">
                    <a:solidFill>
                      <a:srgbClr val="AF1E3B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9pPr>
                    </a:lstStyle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HK" sz="1400" dirty="0">
                          <a:effectLst/>
                          <a:latin typeface="Times New Roman" panose="02020603050405020304" pitchFamily="18" charset="0"/>
                          <a:ea typeface="SimSun"/>
                          <a:cs typeface="Times New Roman" panose="02020603050405020304" pitchFamily="18" charset="0"/>
                        </a:rPr>
                        <a:t>参数</a:t>
                      </a:r>
                    </a:p>
                  </a:txBody>
                  <a:tcPr marL="68580" marR="68580" marT="0" marB="0">
                    <a:solidFill>
                      <a:srgbClr val="AF1E3B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9pPr>
                    </a:lstStyle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/>
                          <a:cs typeface="Times New Roman" panose="02020603050405020304" pitchFamily="18" charset="0"/>
                        </a:rPr>
                        <a:t>量程</a:t>
                      </a:r>
                    </a:p>
                  </a:txBody>
                  <a:tcPr marL="68580" marR="68580" marT="0" marB="0">
                    <a:solidFill>
                      <a:srgbClr val="AF1E3B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9pPr>
                    </a:lstStyle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/>
                          <a:cs typeface="Times New Roman" panose="02020603050405020304" pitchFamily="18" charset="0"/>
                        </a:rPr>
                        <a:t>精度</a:t>
                      </a:r>
                    </a:p>
                  </a:txBody>
                  <a:tcPr marL="68580" marR="68580" marT="0" marB="0">
                    <a:solidFill>
                      <a:srgbClr val="AF1E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1868659"/>
                  </a:ext>
                </a:extLst>
              </a:tr>
              <a:tr h="222882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9pPr>
                    </a:lstStyle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/>
                          <a:cs typeface="Times New Roman" panose="02020603050405020304" pitchFamily="18" charset="0"/>
                        </a:rPr>
                        <a:t>流量计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9pPr>
                    </a:lstStyle>
                    <a:p>
                      <a:r>
                        <a:rPr lang="en-HK" sz="1400" kern="1200" dirty="0">
                          <a:effectLst/>
                          <a:latin typeface="Times New Roman" panose="02020603050405020304" pitchFamily="18" charset="0"/>
                          <a:ea typeface="SimSun"/>
                          <a:cs typeface="Times New Roman" panose="02020603050405020304" pitchFamily="18" charset="0"/>
                        </a:rPr>
                        <a:t>水流量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/>
                          <a:cs typeface="Times New Roman" panose="02020603050405020304" pitchFamily="18" charset="0"/>
                        </a:rPr>
                        <a:t>1.9-8.4</a:t>
                      </a:r>
                      <a:endParaRPr lang="en-HK" sz="1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/>
                          <a:cs typeface="Times New Roman" panose="02020603050405020304" pitchFamily="18" charset="0"/>
                        </a:rPr>
                        <a:t>0.4-10</a:t>
                      </a:r>
                      <a:endParaRPr lang="en-HK" sz="1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3721296"/>
                  </a:ext>
                </a:extLst>
              </a:tr>
              <a:tr h="222882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9pPr>
                    </a:lstStyle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/>
                          <a:cs typeface="Times New Roman" panose="02020603050405020304" pitchFamily="18" charset="0"/>
                        </a:rPr>
                        <a:t>压力表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9pPr>
                    </a:lstStyle>
                    <a:p>
                      <a:r>
                        <a:rPr lang="en-HK" sz="1400" kern="1200" dirty="0">
                          <a:effectLst/>
                          <a:latin typeface="Times New Roman" panose="02020603050405020304" pitchFamily="18" charset="0"/>
                          <a:ea typeface="SimSun"/>
                          <a:cs typeface="Times New Roman" panose="02020603050405020304" pitchFamily="18" charset="0"/>
                        </a:rPr>
                        <a:t>水压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/>
                          <a:cs typeface="Times New Roman" panose="02020603050405020304" pitchFamily="18" charset="0"/>
                        </a:rPr>
                        <a:t>2.9-13</a:t>
                      </a:r>
                      <a:endParaRPr lang="en-HK" sz="1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/>
                          <a:cs typeface="Times New Roman" panose="02020603050405020304" pitchFamily="18" charset="0"/>
                        </a:rPr>
                        <a:t>0.4-10</a:t>
                      </a:r>
                      <a:endParaRPr lang="en-HK" sz="1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60300693"/>
                  </a:ext>
                </a:extLst>
              </a:tr>
              <a:tr h="222882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9pPr>
                    </a:lstStyle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/>
                          <a:cs typeface="Times New Roman" panose="02020603050405020304" pitchFamily="18" charset="0"/>
                        </a:rPr>
                        <a:t>量筒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9pPr>
                    </a:lstStyle>
                    <a:p>
                      <a:r>
                        <a:rPr lang="en-HK" sz="1400" kern="1200" dirty="0">
                          <a:effectLst/>
                          <a:latin typeface="Times New Roman" panose="02020603050405020304" pitchFamily="18" charset="0"/>
                          <a:ea typeface="SimSun"/>
                          <a:cs typeface="Times New Roman" panose="02020603050405020304" pitchFamily="18" charset="0"/>
                        </a:rPr>
                        <a:t>水体积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/>
                          <a:cs typeface="Times New Roman" panose="02020603050405020304" pitchFamily="18" charset="0"/>
                        </a:rPr>
                        <a:t>6.7-16.2</a:t>
                      </a:r>
                      <a:endParaRPr lang="en-HK" sz="1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 panose="020F0502020204030204"/>
                          <a:ea typeface="SimSun"/>
                          <a:cs typeface="Times New Roman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/>
                          <a:cs typeface="Times New Roman" panose="02020603050405020304" pitchFamily="18" charset="0"/>
                        </a:rPr>
                        <a:t>0.4-10</a:t>
                      </a:r>
                      <a:endParaRPr lang="en-HK" sz="1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5279380"/>
                  </a:ext>
                </a:extLst>
              </a:tr>
            </a:tbl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27391731-49C3-4478-AA8F-533231BC2DF4}"/>
              </a:ext>
            </a:extLst>
          </p:cNvPr>
          <p:cNvSpPr/>
          <p:nvPr/>
        </p:nvSpPr>
        <p:spPr>
          <a:xfrm>
            <a:off x="7780172" y="6398438"/>
            <a:ext cx="479206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HK" sz="12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Fig. 8.3 </a:t>
            </a:r>
            <a:r>
              <a:rPr lang="en-HK" sz="12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Photos of test instrument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16A5827-1BF1-428B-B40E-8930B035533B}"/>
              </a:ext>
            </a:extLst>
          </p:cNvPr>
          <p:cNvSpPr/>
          <p:nvPr/>
        </p:nvSpPr>
        <p:spPr>
          <a:xfrm>
            <a:off x="917267" y="1794035"/>
            <a:ext cx="479206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HK" sz="14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Table 8.1 </a:t>
            </a:r>
            <a:r>
              <a:rPr lang="en-HK" sz="14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Solid nozzle selection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782D03B-DB3C-4802-AB9A-7D478BF27D5F}"/>
              </a:ext>
            </a:extLst>
          </p:cNvPr>
          <p:cNvSpPr/>
          <p:nvPr/>
        </p:nvSpPr>
        <p:spPr>
          <a:xfrm>
            <a:off x="907889" y="3722380"/>
            <a:ext cx="479206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HK" sz="14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Table 8.2 </a:t>
            </a:r>
            <a:r>
              <a:rPr lang="en-HK" sz="14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Instrument parameters list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C022CD82-34CA-450C-A69C-80B92DAA0A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8595" y="3722380"/>
            <a:ext cx="1508455" cy="1430168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EB747129-FC9B-4B86-9191-BFD1F05FF4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5387" y="5153580"/>
            <a:ext cx="1404818" cy="1226503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0961E9B6-4010-4919-B44E-FD0F2920E5D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9666" y="3722380"/>
            <a:ext cx="1584245" cy="1429360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134E097A-F791-46FB-A270-EF66965E1CED}"/>
              </a:ext>
            </a:extLst>
          </p:cNvPr>
          <p:cNvSpPr/>
          <p:nvPr/>
        </p:nvSpPr>
        <p:spPr>
          <a:xfrm>
            <a:off x="7593360" y="3440460"/>
            <a:ext cx="479206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HK" sz="12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Fig. 3.3.1 </a:t>
            </a:r>
            <a:r>
              <a:rPr lang="en-HK" sz="12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Photos of the nozzles</a:t>
            </a:r>
          </a:p>
        </p:txBody>
      </p:sp>
      <p:sp>
        <p:nvSpPr>
          <p:cNvPr id="20" name="灯片编号占位符 3">
            <a:extLst>
              <a:ext uri="{FF2B5EF4-FFF2-40B4-BE49-F238E27FC236}">
                <a16:creationId xmlns:a16="http://schemas.microsoft.com/office/drawing/2014/main" id="{6AEADC08-85C1-46B6-9C3C-44F0ED3D3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89392" y="6492875"/>
            <a:ext cx="2133600" cy="365125"/>
          </a:xfrm>
        </p:spPr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15884886-3D85-4AFD-9D94-33E4AF7428DD}" type="slidenum">
              <a:rPr lang="en-US" altLang="zh-CN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19</a:t>
            </a:fld>
            <a:endParaRPr lang="en-US" altLang="zh-CN" dirty="0">
              <a:latin typeface="Times New Roman"/>
              <a:ea typeface="SimSun"/>
              <a:cs typeface="Times New Roman"/>
            </a:endParaRPr>
          </a:p>
        </p:txBody>
      </p:sp>
      <p:sp>
        <p:nvSpPr>
          <p:cNvPr id="21" name="矩形 3">
            <a:extLst>
              <a:ext uri="{FF2B5EF4-FFF2-40B4-BE49-F238E27FC236}">
                <a16:creationId xmlns:a16="http://schemas.microsoft.com/office/drawing/2014/main" id="{FA7ED50A-0F21-4FFD-B7C0-C471AA883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441" y="163095"/>
            <a:ext cx="393576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1pPr>
            <a:lvl2pPr marL="323850" indent="-358775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9pPr>
          </a:lstStyle>
          <a:p>
            <a:pPr lvl="1" algn="l" eaLnBrk="1" hangingPunct="1">
              <a:spcBef>
                <a:spcPts val="2400"/>
              </a:spcBef>
              <a:buClr>
                <a:srgbClr val="0099FF"/>
              </a:buClr>
            </a:pPr>
            <a:r>
              <a:rPr lang="en-US" altLang="zh-CN" sz="2800" b="1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附录</a:t>
            </a:r>
          </a:p>
        </p:txBody>
      </p:sp>
    </p:spTree>
    <p:extLst>
      <p:ext uri="{BB962C8B-B14F-4D97-AF65-F5344CB8AC3E}">
        <p14:creationId xmlns:p14="http://schemas.microsoft.com/office/powerpoint/2010/main" val="2511217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33"/>
    </mc:Choice>
    <mc:Fallback xmlns="">
      <p:transition spd="slow" advTm="5933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E3251C6-9A89-4FAA-9B79-BD4DAD9F863F}"/>
              </a:ext>
            </a:extLst>
          </p:cNvPr>
          <p:cNvSpPr txBox="1"/>
          <p:nvPr/>
        </p:nvSpPr>
        <p:spPr>
          <a:xfrm>
            <a:off x="691176" y="933626"/>
            <a:ext cx="5178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eaLnBrk="1" fontAlgn="auto" hangingPunct="1" algn="l">
              <a:spcBef>
                <a:spcPts val="0"/>
              </a:spcBef>
              <a:spcAft>
                <a:spcPts val="0"/>
              </a:spcAft>
            </a:pPr>
            <a:r>
              <a:rPr lang="en-HK" sz="18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3.4</a:t>
            </a:r>
            <a:r>
              <a:rPr lang="en-HK" sz="18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性能评价指标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995711F7-5B13-4371-9CD5-5D3334820BD0}"/>
                  </a:ext>
                </a:extLst>
              </p:cNvPr>
              <p:cNvSpPr/>
              <p:nvPr/>
            </p:nvSpPr>
            <p:spPr>
              <a:xfrm>
                <a:off x="1677699" y="1544385"/>
                <a:ext cx="4931887" cy="18725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 defTabSz="457200" eaLnBrk="1" fontAlgn="auto" hangingPunct="1">
                  <a:spcBef>
                    <a:spcPts val="0"/>
                  </a:spcBef>
                  <a:spcAft>
                    <a:spcPts val="0"/>
                  </a:spcAft>
                  <a:buFont typeface="Wingdings" panose="05000000000000000000" pitchFamily="2" charset="2"/>
                  <a:buChar char="Ø"/>
                </a:pPr>
                <a:r>
                  <a:rPr lang="en-US" sz="2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SimSun"/>
                    <a:cs typeface="Times New Roman" panose="02020603050405020304" pitchFamily="18" charset="0"/>
                  </a:rPr>
                  <a:t>Water distribution</a:t>
                </a:r>
              </a:p>
              <a:p>
                <a:pPr marL="285750" indent="-285750" defTabSz="457200" eaLnBrk="1" fontAlgn="auto" hangingPunct="1">
                  <a:spcBef>
                    <a:spcPts val="0"/>
                  </a:spcBef>
                  <a:spcAft>
                    <a:spcPts val="0"/>
                  </a:spcAft>
                  <a:buFont typeface="Wingdings" panose="05000000000000000000" pitchFamily="2" charset="2"/>
                  <a:buChar char="Ø"/>
                </a:pPr>
                <a:endParaRPr lang="en-US" sz="1800" dirty="0">
                  <a:solidFill>
                    <a:prstClr val="black"/>
                  </a:solidFill>
                  <a:latin typeface="Times New Roman" panose="02020603050405020304" pitchFamily="18" charset="0"/>
                  <a:ea typeface="SimSun"/>
                  <a:cs typeface="Times New Roman" panose="02020603050405020304" pitchFamily="18" charset="0"/>
                </a:endParaRPr>
              </a:p>
              <a:p>
                <a:pPr defTabSz="457200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SimSun"/>
                    <a:cs typeface="Times New Roman" panose="02020603050405020304" pitchFamily="18" charset="0"/>
                  </a:rPr>
                  <a:t>Uniformity coefficient: </a:t>
                </a:r>
              </a:p>
              <a:p>
                <a:pPr defTabSz="457200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en-US" sz="1800" dirty="0">
                  <a:solidFill>
                    <a:prstClr val="black"/>
                  </a:solidFill>
                  <a:latin typeface="Times New Roman" panose="02020603050405020304" pitchFamily="18" charset="0"/>
                  <a:ea typeface="SimSun"/>
                  <a:cs typeface="Times New Roman" panose="02020603050405020304" pitchFamily="18" charset="0"/>
                </a:endParaRPr>
              </a:p>
              <a:p>
                <a:pPr defTabSz="457200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SimSun"/>
                    <a:cs typeface="Times New Roman" panose="02020603050405020304" pitchFamily="18" charset="0"/>
                  </a:rPr>
                  <a:t>Coverage ratio: </a:t>
                </a:r>
                <a14:m>
                  <m:oMath xmlns:m="http://schemas.openxmlformats.org/officeDocument/2006/math">
                    <m:r>
                      <a:rPr lang="en-HK" sz="1800">
                        <a:solidFill>
                          <a:prstClr val="black"/>
                        </a:solidFill>
                        <a:latin typeface="Times New Roman" panose="02040503050406030204" pitchFamily="18" charset="0"/>
                        <a:ea typeface="SimSun"/>
                        <a:cs typeface="Times New Roman"/>
                      </a:rPr>
                      <m:t> </m:t>
                    </m:r>
                    <m:r>
                      <m:rPr>
                        <m:sty m:val="p"/>
                      </m:rPr>
                      <a:rPr lang="en-US" sz="1800">
                        <a:solidFill>
                          <a:prstClr val="black"/>
                        </a:solidFill>
                        <a:latin typeface="Times New Roman" panose="02040503050406030204" pitchFamily="18" charset="0"/>
                        <a:ea typeface="SimSun"/>
                        <a:cs typeface="Times New Roman"/>
                      </a:rPr>
                      <m:t>γ</m:t>
                    </m:r>
                    <m:r>
                      <a:rPr lang="en-US" sz="1800">
                        <a:solidFill>
                          <a:prstClr val="black"/>
                        </a:solidFill>
                        <a:latin typeface="Times New Roman" panose="02040503050406030204" pitchFamily="18" charset="0"/>
                        <a:ea typeface="SimSun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HK" sz="1800" i="1">
                            <a:solidFill>
                              <a:prstClr val="black"/>
                            </a:solidFill>
                            <a:latin typeface="Times New Roman" panose="02040503050406030204" pitchFamily="18" charset="0"/>
                            <a:ea typeface="SimSun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800" i="1">
                                <a:solidFill>
                                  <a:prstClr val="black"/>
                                </a:solidFill>
                                <a:latin typeface="Times New Roman" panose="02040503050406030204" pitchFamily="18" charset="0"/>
                                <a:ea typeface="SimSun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prstClr val="black"/>
                                </a:solidFill>
                                <a:latin typeface="Times New Roman" panose="02040503050406030204" pitchFamily="18" charset="0"/>
                                <a:ea typeface="SimSun"/>
                                <a:cs typeface="Times New Roman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prstClr val="black"/>
                                </a:solidFill>
                                <a:latin typeface="Times New Roman" panose="02040503050406030204" pitchFamily="18" charset="0"/>
                                <a:ea typeface="SimSun"/>
                                <a:cs typeface="Times New Roman"/>
                              </a:rPr>
                              <m:t>𝑤</m:t>
                            </m:r>
                          </m:sub>
                        </m:sSub>
                      </m:num>
                      <m:den>
                        <m:r>
                          <a:rPr lang="en-US" sz="1800" i="1">
                            <a:solidFill>
                              <a:prstClr val="black"/>
                            </a:solidFill>
                            <a:latin typeface="Times New Roman" panose="02040503050406030204" pitchFamily="18" charset="0"/>
                            <a:ea typeface="SimSun"/>
                            <a:cs typeface="Times New Roman"/>
                          </a:rPr>
                          <m:t>𝑆</m:t>
                        </m:r>
                      </m:den>
                    </m:f>
                  </m:oMath>
                </a14:m>
                <a:endParaRPr lang="en-US" sz="1800" dirty="0">
                  <a:solidFill>
                    <a:prstClr val="black"/>
                  </a:solidFill>
                  <a:latin typeface="Times New Roman" panose="02020603050405020304" pitchFamily="18" charset="0"/>
                  <a:ea typeface="SimSun"/>
                  <a:cs typeface="Times New Roman" panose="02020603050405020304" pitchFamily="18" charset="0"/>
                </a:endParaRPr>
              </a:p>
              <a:p>
                <a:pPr defTabSz="457200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en-HK" sz="1600" dirty="0">
                  <a:solidFill>
                    <a:prstClr val="black"/>
                  </a:solidFill>
                  <a:latin typeface="Times New Roman" panose="020B0604020202020204" pitchFamily="34" charset="0"/>
                  <a:ea typeface="SimSun"/>
                  <a:cs typeface="Times New Roman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995711F7-5B13-4371-9CD5-5D3334820B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7699" y="1544385"/>
                <a:ext cx="4931887" cy="1872564"/>
              </a:xfrm>
              <a:prstGeom prst="rect">
                <a:avLst/>
              </a:prstGeom>
              <a:blipFill>
                <a:blip r:embed="rId3"/>
                <a:stretch>
                  <a:fillRect l="-1112" t="-16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  <a:latin typeface="Times New Roman"/>
                    <a:ea typeface="SimSun"/>
                    <a:cs typeface="Times New Roman"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50EF7F27-4875-480E-8001-F9840C8D6E6D}"/>
                  </a:ext>
                </a:extLst>
              </p:cNvPr>
              <p:cNvSpPr/>
              <p:nvPr/>
            </p:nvSpPr>
            <p:spPr>
              <a:xfrm>
                <a:off x="3852414" y="1824747"/>
                <a:ext cx="1783116" cy="7859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457200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HK" sz="1400">
                          <a:solidFill>
                            <a:prstClr val="black"/>
                          </a:solidFill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ξ</m:t>
                      </m:r>
                      <m:r>
                        <a:rPr lang="en-HK" sz="1400">
                          <a:solidFill>
                            <a:prstClr val="black"/>
                          </a:solidFill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=</m:t>
                      </m:r>
                      <m:f>
                        <m:fPr>
                          <m:ctrlPr>
                            <a:rPr lang="en-HK" sz="1400">
                              <a:solidFill>
                                <a:prstClr val="black"/>
                              </a:solidFill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fPr>
                        <m:num>
                          <m:r>
                            <a:rPr lang="en-HK" sz="1400">
                              <a:solidFill>
                                <a:prstClr val="black"/>
                              </a:solidFill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1</m:t>
                          </m:r>
                        </m:num>
                        <m:den>
                          <m:acc>
                            <m:accPr>
                              <m:chr m:val="̅"/>
                              <m:ctrlPr>
                                <a:rPr lang="en-HK" sz="14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</m:ctrlPr>
                            </m:accPr>
                            <m:e>
                              <m:r>
                                <a:rPr lang="en-HK" sz="14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𝑥</m:t>
                              </m:r>
                            </m:e>
                          </m:acc>
                        </m:den>
                      </m:f>
                      <m:d>
                        <m:dPr>
                          <m:ctrlPr>
                            <a:rPr lang="en-HK" sz="1400" i="1">
                              <a:solidFill>
                                <a:prstClr val="black"/>
                              </a:solidFill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HK" sz="14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HK" sz="1400" i="1">
                                      <a:solidFill>
                                        <a:prstClr val="black"/>
                                      </a:solidFill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</m:ctrlPr>
                                </m:fPr>
                                <m:num>
                                  <m:nary>
                                    <m:naryPr>
                                      <m:chr m:val="∑"/>
                                      <m:limLoc m:val="subSup"/>
                                      <m:ctrlPr>
                                        <a:rPr lang="en-HK" sz="1400" i="1">
                                          <a:solidFill>
                                            <a:prstClr val="black"/>
                                          </a:solidFill>
                                          <a:latin typeface="Times New Roman" panose="02040503050406030204" pitchFamily="18" charset="0"/>
                                          <a:ea typeface="SimSun"/>
                                          <a:cs typeface="Times New Roman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HK" sz="1400" i="1">
                                          <a:solidFill>
                                            <a:prstClr val="black"/>
                                          </a:solidFill>
                                          <a:latin typeface="Times New Roman" panose="02040503050406030204" pitchFamily="18" charset="0"/>
                                          <a:ea typeface="SimSun"/>
                                          <a:cs typeface="Times New Roman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HK" sz="1400" i="1">
                                          <a:solidFill>
                                            <a:prstClr val="black"/>
                                          </a:solidFill>
                                          <a:latin typeface="Times New Roman" panose="02040503050406030204" pitchFamily="18" charset="0"/>
                                          <a:ea typeface="SimSun"/>
                                          <a:cs typeface="Times New Roman"/>
                                        </a:rPr>
                                        <m:t>𝑁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en-HK" sz="1400" i="1">
                                              <a:solidFill>
                                                <a:prstClr val="black"/>
                                              </a:solidFill>
                                              <a:latin typeface="Times New Roman" panose="02040503050406030204" pitchFamily="18" charset="0"/>
                                              <a:ea typeface="SimSun"/>
                                              <a:cs typeface="Times New Roman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HK" sz="1400" i="1">
                                              <a:solidFill>
                                                <a:prstClr val="black"/>
                                              </a:solidFill>
                                              <a:latin typeface="Times New Roman" panose="02040503050406030204" pitchFamily="18" charset="0"/>
                                              <a:ea typeface="SimSun"/>
                                              <a:cs typeface="Times New Roman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HK" sz="1400" i="1">
                                              <a:solidFill>
                                                <a:prstClr val="black"/>
                                              </a:solidFill>
                                              <a:latin typeface="Times New Roman" panose="02040503050406030204" pitchFamily="18" charset="0"/>
                                              <a:ea typeface="SimSun"/>
                                              <a:cs typeface="Times New Roman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HK" sz="1400">
                                          <a:solidFill>
                                            <a:prstClr val="black"/>
                                          </a:solidFill>
                                          <a:latin typeface="Times New Roman" panose="02040503050406030204" pitchFamily="18" charset="0"/>
                                          <a:ea typeface="SimSun"/>
                                          <a:cs typeface="Times New Roman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HK" sz="1400" i="1">
                                              <a:solidFill>
                                                <a:prstClr val="black"/>
                                              </a:solidFill>
                                              <a:latin typeface="Times New Roman" panose="02040503050406030204" pitchFamily="18" charset="0"/>
                                              <a:ea typeface="SimSun"/>
                                              <a:cs typeface="Times New Roman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HK" sz="1400" i="1">
                                              <a:solidFill>
                                                <a:prstClr val="black"/>
                                              </a:solidFill>
                                              <a:latin typeface="Times New Roman" panose="02040503050406030204" pitchFamily="18" charset="0"/>
                                              <a:ea typeface="SimSun"/>
                                              <a:cs typeface="Times New Roman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nary>
                                </m:num>
                                <m:den>
                                  <m:r>
                                    <a:rPr lang="en-HK" sz="1400" i="1">
                                      <a:solidFill>
                                        <a:prstClr val="black"/>
                                      </a:solidFill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  <m:t>𝑁</m:t>
                                  </m:r>
                                </m:den>
                              </m:f>
                            </m:e>
                          </m:rad>
                        </m:e>
                      </m:d>
                    </m:oMath>
                  </m:oMathPara>
                </a14:m>
                <a:endParaRPr lang="en-HK" sz="1400" dirty="0">
                  <a:solidFill>
                    <a:prstClr val="black"/>
                  </a:solidFill>
                  <a:latin typeface="Times New Roman" panose="020F0502020204030204"/>
                  <a:ea typeface="SimSun"/>
                  <a:cs typeface="Times New Roman"/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50EF7F27-4875-480E-8001-F9840C8D6E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2414" y="1824747"/>
                <a:ext cx="1783116" cy="7859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  <a:latin typeface="Times New Roman"/>
                    <a:ea typeface="SimSun"/>
                    <a:cs typeface="Times New Roman"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D29886C2-ACAD-4374-BE41-CAF6E2238FDF}"/>
                  </a:ext>
                </a:extLst>
              </p:cNvPr>
              <p:cNvSpPr/>
              <p:nvPr/>
            </p:nvSpPr>
            <p:spPr>
              <a:xfrm>
                <a:off x="1677699" y="3517904"/>
                <a:ext cx="4931887" cy="299364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 defTabSz="457200" eaLnBrk="1" fontAlgn="auto" hangingPunct="1">
                  <a:spcBef>
                    <a:spcPts val="0"/>
                  </a:spcBef>
                  <a:spcAft>
                    <a:spcPts val="0"/>
                  </a:spcAft>
                  <a:buFont typeface="Wingdings" panose="05000000000000000000" pitchFamily="2" charset="2"/>
                  <a:buChar char="Ø"/>
                </a:pPr>
                <a:r>
                  <a:rPr lang="en-US" sz="2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SimSun"/>
                    <a:cs typeface="Times New Roman" panose="02020603050405020304" pitchFamily="18" charset="0"/>
                  </a:rPr>
                  <a:t>Water membrane</a:t>
                </a:r>
              </a:p>
              <a:p>
                <a:pPr defTabSz="457200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en-US" sz="1600" dirty="0">
                  <a:solidFill>
                    <a:prstClr val="black"/>
                  </a:solidFill>
                  <a:latin typeface="Times New Roman" panose="020B0604020202020204" pitchFamily="34" charset="0"/>
                  <a:ea typeface="SimSun"/>
                  <a:cs typeface="Times New Roman" panose="020B0604020202020204" pitchFamily="34" charset="0"/>
                </a:endParaRPr>
              </a:p>
              <a:p>
                <a:pPr defTabSz="457200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SimSun"/>
                    <a:cs typeface="Times New Roman" panose="02020603050405020304" pitchFamily="18" charset="0"/>
                  </a:rPr>
                  <a:t>Reynolds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number</a:t>
                </a:r>
                <a:r>
                  <a:rPr lang="en-HK" altLang="zh-CN" sz="1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sz="1600" i="1">
                            <a:solidFill>
                              <a:prstClr val="black"/>
                            </a:solidFill>
                            <a:latin typeface="Times New Roman" panose="02040503050406030204" pitchFamily="18" charset="0"/>
                            <a:ea typeface="SimSun"/>
                            <a:cs typeface="Times New Roman"/>
                          </a:rPr>
                        </m:ctrlPr>
                      </m:sSubPr>
                      <m:e>
                        <m:r>
                          <a:rPr lang="en-HK" sz="1600" i="1">
                            <a:solidFill>
                              <a:prstClr val="black"/>
                            </a:solidFill>
                            <a:latin typeface="Times New Roman" panose="02040503050406030204" pitchFamily="18" charset="0"/>
                            <a:ea typeface="SimSun"/>
                            <a:cs typeface="Times New Roman"/>
                          </a:rPr>
                          <m:t>   </m:t>
                        </m:r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Times New Roman" panose="02040503050406030204" pitchFamily="18" charset="0"/>
                            <a:ea typeface="SimSun"/>
                            <a:cs typeface="Times New Roman"/>
                          </a:rPr>
                          <m:t>𝑅𝑒</m:t>
                        </m:r>
                      </m:e>
                      <m:sub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Times New Roman" panose="02040503050406030204" pitchFamily="18" charset="0"/>
                            <a:ea typeface="SimSun"/>
                            <a:cs typeface="Times New Roman"/>
                          </a:rPr>
                          <m:t>𝑤</m:t>
                        </m:r>
                      </m:sub>
                    </m:sSub>
                    <m:r>
                      <a:rPr lang="en-US" sz="1600" i="1">
                        <a:solidFill>
                          <a:prstClr val="black"/>
                        </a:solidFill>
                        <a:latin typeface="Times New Roman" panose="02040503050406030204" pitchFamily="18" charset="0"/>
                        <a:ea typeface="SimSun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HK" sz="1600" i="1">
                            <a:solidFill>
                              <a:prstClr val="black"/>
                            </a:solidFill>
                            <a:latin typeface="Times New Roman" panose="02040503050406030204" pitchFamily="18" charset="0"/>
                            <a:ea typeface="SimSun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i="1">
                                <a:solidFill>
                                  <a:prstClr val="black"/>
                                </a:solidFill>
                                <a:latin typeface="Times New Roman" panose="02040503050406030204" pitchFamily="18" charset="0"/>
                                <a:ea typeface="SimSun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prstClr val="black"/>
                                </a:solidFill>
                                <a:latin typeface="Times New Roman" panose="02040503050406030204" pitchFamily="18" charset="0"/>
                                <a:ea typeface="SimSun"/>
                                <a:cs typeface="Times New Roman"/>
                              </a:rPr>
                              <m:t>𝑚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prstClr val="black"/>
                                </a:solidFill>
                                <a:latin typeface="Times New Roman" panose="02040503050406030204" pitchFamily="18" charset="0"/>
                                <a:ea typeface="SimSun"/>
                                <a:cs typeface="Times New Roman"/>
                              </a:rPr>
                              <m:t>𝑤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600" i="1">
                                <a:solidFill>
                                  <a:prstClr val="black"/>
                                </a:solidFill>
                                <a:latin typeface="Times New Roman" panose="02040503050406030204" pitchFamily="18" charset="0"/>
                                <a:ea typeface="SimSun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prstClr val="black"/>
                                </a:solidFill>
                                <a:latin typeface="Times New Roman" panose="02040503050406030204" pitchFamily="18" charset="0"/>
                                <a:ea typeface="SimSun"/>
                                <a:cs typeface="Times New Roman"/>
                              </a:rPr>
                              <m:t>𝐿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prstClr val="black"/>
                                </a:solidFill>
                                <a:latin typeface="Times New Roman" panose="02040503050406030204" pitchFamily="18" charset="0"/>
                                <a:ea typeface="SimSun"/>
                                <a:cs typeface="Times New Roman"/>
                              </a:rPr>
                              <m:t>𝑓</m:t>
                            </m:r>
                          </m:sub>
                        </m:sSub>
                        <m:sSub>
                          <m:sSubPr>
                            <m:ctrlPr>
                              <a:rPr lang="en-US" sz="1600" i="1">
                                <a:solidFill>
                                  <a:prstClr val="black"/>
                                </a:solidFill>
                                <a:latin typeface="Times New Roman" panose="02040503050406030204" pitchFamily="18" charset="0"/>
                                <a:ea typeface="SimSun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prstClr val="black"/>
                                </a:solidFill>
                                <a:latin typeface="Times New Roman" panose="02040503050406030204" pitchFamily="18" charset="0"/>
                                <a:ea typeface="SimSun"/>
                                <a:cs typeface="Times New Roman"/>
                              </a:rPr>
                              <m:t>𝜇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prstClr val="black"/>
                                </a:solidFill>
                                <a:latin typeface="Times New Roman" panose="02040503050406030204" pitchFamily="18" charset="0"/>
                                <a:ea typeface="SimSun"/>
                                <a:cs typeface="Times New Roman"/>
                              </a:rPr>
                              <m:t>𝑤</m:t>
                            </m:r>
                          </m:sub>
                        </m:sSub>
                      </m:den>
                    </m:f>
                  </m:oMath>
                </a14:m>
                <a:endParaRPr lang="en-US" sz="1600" dirty="0">
                  <a:solidFill>
                    <a:prstClr val="black"/>
                  </a:solidFill>
                  <a:latin typeface="Times New Roman" panose="02020603050405020304" pitchFamily="18" charset="0"/>
                  <a:ea typeface="SimSun"/>
                  <a:cs typeface="Times New Roman" panose="02020603050405020304" pitchFamily="18" charset="0"/>
                </a:endParaRPr>
              </a:p>
              <a:p>
                <a:pPr defTabSz="457200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SimSun"/>
                    <a:cs typeface="Times New Roman" panose="02020603050405020304" pitchFamily="18" charset="0"/>
                  </a:rPr>
                  <a:t>Velocity: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prstClr val="black"/>
                            </a:solidFill>
                            <a:latin typeface="Times New Roman" panose="02040503050406030204" pitchFamily="18" charset="0"/>
                            <a:ea typeface="SimSun"/>
                            <a:cs typeface="Times New Roman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Times New Roman" panose="02040503050406030204" pitchFamily="18" charset="0"/>
                            <a:ea typeface="SimSun"/>
                            <a:cs typeface="Times New Roman"/>
                          </a:rPr>
                          <m:t>𝑣</m:t>
                        </m:r>
                      </m:e>
                      <m:sub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Times New Roman" panose="02040503050406030204" pitchFamily="18" charset="0"/>
                            <a:ea typeface="SimSun"/>
                            <a:cs typeface="Times New Roman"/>
                          </a:rPr>
                          <m:t>𝑤</m:t>
                        </m:r>
                      </m:sub>
                    </m:sSub>
                    <m:r>
                      <a:rPr lang="en-US" sz="1600" i="1">
                        <a:solidFill>
                          <a:prstClr val="black"/>
                        </a:solidFill>
                        <a:latin typeface="Times New Roman" panose="02040503050406030204" pitchFamily="18" charset="0"/>
                        <a:ea typeface="SimSun"/>
                        <a:cs typeface="Times New Roman"/>
                      </a:rPr>
                      <m:t>=1.5×</m:t>
                    </m:r>
                    <m:sSup>
                      <m:sSupPr>
                        <m:ctrlPr>
                          <a:rPr lang="en-HK" sz="1600" i="1">
                            <a:solidFill>
                              <a:prstClr val="black"/>
                            </a:solidFill>
                            <a:latin typeface="Times New Roman" panose="02040503050406030204" pitchFamily="18" charset="0"/>
                            <a:ea typeface="SimSun"/>
                            <a:cs typeface="Times New Roman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HK" sz="1600" i="1">
                                <a:solidFill>
                                  <a:prstClr val="black"/>
                                </a:solidFill>
                                <a:latin typeface="Times New Roman" panose="02040503050406030204" pitchFamily="18" charset="0"/>
                                <a:ea typeface="SimSun"/>
                                <a:cs typeface="Times New Roman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HK" sz="1600" i="1">
                                    <a:solidFill>
                                      <a:prstClr val="black"/>
                                    </a:solidFill>
                                    <a:latin typeface="Times New Roman" panose="02040503050406030204" pitchFamily="18" charset="0"/>
                                    <a:ea typeface="SimSun"/>
                                    <a:cs typeface="Times New Roman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prstClr val="black"/>
                                        </a:solidFill>
                                        <a:latin typeface="Times New Roman" panose="02040503050406030204" pitchFamily="18" charset="0"/>
                                        <a:ea typeface="SimSun" panose="02040503050406030204" pitchFamily="18" charset="0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prstClr val="black"/>
                                        </a:solidFill>
                                        <a:latin typeface="Times New Roman" panose="02040503050406030204" pitchFamily="18" charset="0"/>
                                        <a:ea typeface="SimSun" panose="02040503050406030204" pitchFamily="18" charset="0"/>
                                        <a:cs typeface="Times New Roman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solidFill>
                                          <a:prstClr val="black"/>
                                        </a:solidFill>
                                        <a:latin typeface="Times New Roman" panose="02040503050406030204" pitchFamily="18" charset="0"/>
                                        <a:ea typeface="SimSun"/>
                                        <a:cs typeface="Times New Roman"/>
                                      </a:rPr>
                                      <m:t>𝑤</m:t>
                                    </m:r>
                                  </m:sub>
                                </m:sSub>
                                <m:r>
                                  <a:rPr lang="en-US" sz="1600" i="1">
                                    <a:solidFill>
                                      <a:prstClr val="black"/>
                                    </a:solidFill>
                                    <a:latin typeface="Times New Roman" panose="02040503050406030204" pitchFamily="18" charset="0"/>
                                    <a:ea typeface="SimSun"/>
                                    <a:cs typeface="Times New Roman"/>
                                  </a:rPr>
                                  <m:t>𝑔</m:t>
                                </m:r>
                              </m:num>
                              <m:den>
                                <m:r>
                                  <a:rPr lang="en-US" sz="1600" i="1">
                                    <a:solidFill>
                                      <a:prstClr val="black"/>
                                    </a:solidFill>
                                    <a:latin typeface="Times New Roman" panose="02040503050406030204" pitchFamily="18" charset="0"/>
                                    <a:ea typeface="SimSun"/>
                                    <a:cs typeface="Times New Roman"/>
                                  </a:rPr>
                                  <m:t>48</m:t>
                                </m:r>
                              </m:den>
                            </m:f>
                          </m:e>
                        </m:d>
                      </m:e>
                      <m:sup>
                        <m:f>
                          <m:fPr>
                            <m:ctrlPr>
                              <a:rPr lang="en-US" sz="1600" i="1">
                                <a:solidFill>
                                  <a:prstClr val="black"/>
                                </a:solidFill>
                                <a:latin typeface="Times New Roman" panose="02040503050406030204" pitchFamily="18" charset="0"/>
                                <a:ea typeface="SimSun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sz="1600" i="1">
                                <a:solidFill>
                                  <a:prstClr val="black"/>
                                </a:solidFill>
                                <a:latin typeface="Times New Roman" panose="02040503050406030204" pitchFamily="18" charset="0"/>
                                <a:ea typeface="SimSun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r>
                              <a:rPr lang="en-US" sz="1600" i="1">
                                <a:solidFill>
                                  <a:prstClr val="black"/>
                                </a:solidFill>
                                <a:latin typeface="Times New Roman" panose="02040503050406030204" pitchFamily="18" charset="0"/>
                                <a:ea typeface="SimSun"/>
                                <a:cs typeface="Times New Roman"/>
                              </a:rPr>
                              <m:t>3</m:t>
                            </m:r>
                          </m:den>
                        </m:f>
                      </m:sup>
                    </m:sSup>
                    <m:sSup>
                      <m:sSupPr>
                        <m:ctrlPr>
                          <a:rPr lang="en-US" sz="1600" i="1">
                            <a:solidFill>
                              <a:prstClr val="black"/>
                            </a:solidFill>
                            <a:latin typeface="Times New Roman" panose="02040503050406030204" pitchFamily="18" charset="0"/>
                            <a:ea typeface="SimSun"/>
                            <a:cs typeface="Times New Roman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Times New Roman" panose="02040503050406030204" pitchFamily="18" charset="0"/>
                            <a:ea typeface="SimSun"/>
                            <a:cs typeface="Times New Roman"/>
                          </a:rPr>
                          <m:t>(</m:t>
                        </m:r>
                        <m:sSub>
                          <m:sSubPr>
                            <m:ctrlPr>
                              <a:rPr lang="en-US" sz="1600" i="1">
                                <a:solidFill>
                                  <a:prstClr val="black"/>
                                </a:solidFill>
                                <a:latin typeface="Times New Roman" panose="02040503050406030204" pitchFamily="18" charset="0"/>
                                <a:ea typeface="SimSun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prstClr val="black"/>
                                </a:solidFill>
                                <a:latin typeface="Times New Roman" panose="02040503050406030204" pitchFamily="18" charset="0"/>
                                <a:ea typeface="SimSun"/>
                                <a:cs typeface="Times New Roman"/>
                              </a:rPr>
                              <m:t>𝑅𝑒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prstClr val="black"/>
                                </a:solidFill>
                                <a:latin typeface="Times New Roman" panose="02040503050406030204" pitchFamily="18" charset="0"/>
                                <a:ea typeface="SimSun"/>
                                <a:cs typeface="Times New Roman"/>
                              </a:rPr>
                              <m:t>𝑤</m:t>
                            </m:r>
                          </m:sub>
                        </m:sSub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Times New Roman" panose="02040503050406030204" pitchFamily="18" charset="0"/>
                            <a:ea typeface="SimSun"/>
                            <a:cs typeface="Times New Roman"/>
                          </a:rPr>
                          <m:t>)</m:t>
                        </m:r>
                      </m:e>
                      <m:sup>
                        <m:f>
                          <m:fPr>
                            <m:ctrlPr>
                              <a:rPr lang="en-US" sz="1600" i="1">
                                <a:solidFill>
                                  <a:prstClr val="black"/>
                                </a:solidFill>
                                <a:latin typeface="Times New Roman" panose="02040503050406030204" pitchFamily="18" charset="0"/>
                                <a:ea typeface="SimSun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sz="1600" i="1">
                                <a:solidFill>
                                  <a:prstClr val="black"/>
                                </a:solidFill>
                                <a:latin typeface="Times New Roman" panose="02040503050406030204" pitchFamily="18" charset="0"/>
                                <a:ea typeface="SimSun"/>
                                <a:cs typeface="Times New Roman"/>
                              </a:rPr>
                              <m:t>2</m:t>
                            </m:r>
                          </m:num>
                          <m:den>
                            <m:r>
                              <a:rPr lang="en-US" sz="1600" i="1">
                                <a:solidFill>
                                  <a:prstClr val="black"/>
                                </a:solidFill>
                                <a:latin typeface="Times New Roman" panose="02040503050406030204" pitchFamily="18" charset="0"/>
                                <a:ea typeface="SimSun"/>
                                <a:cs typeface="Times New Roman"/>
                              </a:rPr>
                              <m:t>3</m:t>
                            </m:r>
                          </m:den>
                        </m:f>
                      </m:sup>
                    </m:sSup>
                  </m:oMath>
                </a14:m>
                <a:endParaRPr lang="en-HK" sz="1600" dirty="0">
                  <a:solidFill>
                    <a:prstClr val="black"/>
                  </a:solidFill>
                  <a:latin typeface="Times New Roman" panose="02020603050405020304" pitchFamily="18" charset="0"/>
                  <a:ea typeface="SimSun"/>
                  <a:cs typeface="Times New Roman" panose="02020603050405020304" pitchFamily="18" charset="0"/>
                </a:endParaRPr>
              </a:p>
              <a:p>
                <a:pPr defTabSz="457200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en-US" sz="1600" dirty="0">
                  <a:solidFill>
                    <a:prstClr val="black"/>
                  </a:solidFill>
                  <a:latin typeface="Times New Roman" panose="02020603050405020304" pitchFamily="18" charset="0"/>
                  <a:ea typeface="SimSun"/>
                  <a:cs typeface="Times New Roman" panose="02020603050405020304" pitchFamily="18" charset="0"/>
                </a:endParaRPr>
              </a:p>
              <a:p>
                <a:pPr defTabSz="457200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SimSun"/>
                    <a:cs typeface="Times New Roman" panose="02020603050405020304" pitchFamily="18" charset="0"/>
                  </a:rPr>
                  <a:t>Spraying density: </a:t>
                </a:r>
              </a:p>
              <a:p>
                <a:pPr defTabSz="457200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en-US" sz="1600" dirty="0">
                  <a:solidFill>
                    <a:prstClr val="black"/>
                  </a:solidFill>
                  <a:latin typeface="Times New Roman" panose="02020603050405020304" pitchFamily="18" charset="0"/>
                  <a:ea typeface="SimSun"/>
                  <a:cs typeface="Times New Roman" panose="02020603050405020304" pitchFamily="18" charset="0"/>
                </a:endParaRPr>
              </a:p>
              <a:p>
                <a:pPr defTabSz="457200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SimSun"/>
                    <a:cs typeface="Times New Roman" panose="02020603050405020304" pitchFamily="18" charset="0"/>
                  </a:rPr>
                  <a:t>Water membrane thickness:</a:t>
                </a:r>
                <a:endParaRPr lang="en-HK" sz="1600" dirty="0">
                  <a:solidFill>
                    <a:prstClr val="black"/>
                  </a:solidFill>
                  <a:latin typeface="Times New Roman" panose="02020603050405020304" pitchFamily="18" charset="0"/>
                  <a:ea typeface="SimSun"/>
                  <a:cs typeface="Times New Roman" panose="02020603050405020304" pitchFamily="18" charset="0"/>
                </a:endParaRPr>
              </a:p>
              <a:p>
                <a:pPr defTabSz="457200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en-HK" sz="1600" dirty="0">
                  <a:solidFill>
                    <a:srgbClr val="A30000"/>
                  </a:solidFill>
                  <a:latin typeface="Times New Roman" panose="02020603050405020304" pitchFamily="18" charset="0"/>
                  <a:ea typeface="SimSun"/>
                  <a:cs typeface="Times New Roman" panose="02020603050405020304" pitchFamily="18" charset="0"/>
                </a:endParaRPr>
              </a:p>
              <a:p>
                <a:pPr defTabSz="457200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HK" sz="1600" b="1" dirty="0">
                    <a:solidFill>
                      <a:srgbClr val="A30000"/>
                    </a:solidFill>
                    <a:latin typeface="Times New Roman" panose="02020603050405020304" pitchFamily="18" charset="0"/>
                    <a:ea typeface="SimSun"/>
                    <a:cs typeface="Times New Roman" panose="02020603050405020304" pitchFamily="18" charset="0"/>
                  </a:rPr>
                  <a:t>Wettability factor</a:t>
                </a:r>
                <a:r>
                  <a:rPr lang="en-HK" sz="1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SimSun"/>
                    <a:cs typeface="Times New Roman" panose="02020603050405020304" pitchFamily="18" charset="0"/>
                  </a:rPr>
                  <a:t>: </a:t>
                </a:r>
                <a:endParaRPr lang="en-US" sz="1600" dirty="0">
                  <a:solidFill>
                    <a:prstClr val="black"/>
                  </a:solidFill>
                  <a:latin typeface="Times New Roman" panose="02020603050405020304" pitchFamily="18" charset="0"/>
                  <a:ea typeface="SimSun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D29886C2-ACAD-4374-BE41-CAF6E2238F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7699" y="3517904"/>
                <a:ext cx="4931887" cy="2993640"/>
              </a:xfrm>
              <a:prstGeom prst="rect">
                <a:avLst/>
              </a:prstGeom>
              <a:blipFill>
                <a:blip r:embed="rId5"/>
                <a:stretch>
                  <a:fillRect l="-1112" t="-1018" b="-1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  <a:latin typeface="Times New Roman"/>
                    <a:ea typeface="SimSun"/>
                    <a:cs typeface="Times New Roman"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D308DDAB-5310-4C84-B837-AE646A4A7FB0}"/>
                  </a:ext>
                </a:extLst>
              </p:cNvPr>
              <p:cNvSpPr/>
              <p:nvPr/>
            </p:nvSpPr>
            <p:spPr>
              <a:xfrm>
                <a:off x="3351510" y="5073059"/>
                <a:ext cx="1308307" cy="5586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457200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1400">
                          <a:solidFill>
                            <a:prstClr val="black"/>
                          </a:solidFill>
                          <a:latin typeface="Times New Roman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Γ</m:t>
                      </m:r>
                      <m:r>
                        <a:rPr lang="en-US" sz="1400">
                          <a:solidFill>
                            <a:prstClr val="black"/>
                          </a:solidFill>
                          <a:latin typeface="Times New Roman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HK" sz="1400" i="1">
                              <a:solidFill>
                                <a:prstClr val="black"/>
                              </a:solidFill>
                              <a:latin typeface="Times New Roman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HK" sz="14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sz="1400" i="1">
                                      <a:solidFill>
                                        <a:prstClr val="black"/>
                                      </a:solidFill>
                                      <a:latin typeface="Times New Roman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400" i="1">
                                      <a:solidFill>
                                        <a:prstClr val="black"/>
                                      </a:solidFill>
                                      <a:latin typeface="Times New Roman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4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ctrlPr>
                                <a:rPr lang="en-US" sz="14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US" sz="1400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+1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14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HK" sz="1400" dirty="0">
                  <a:solidFill>
                    <a:prstClr val="black"/>
                  </a:solidFill>
                  <a:latin typeface="Times New Roman" panose="020F0502020204030204"/>
                  <a:ea typeface="SimSun"/>
                  <a:cs typeface="Times New Roman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D308DDAB-5310-4C84-B837-AE646A4A7F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1510" y="5073059"/>
                <a:ext cx="1308307" cy="55861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  <a:latin typeface="Times New Roman"/>
                    <a:ea typeface="SimSun"/>
                    <a:cs typeface="Times New Roman"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6F87DF60-5F15-42B2-8460-4D61F95C40C6}"/>
                  </a:ext>
                </a:extLst>
              </p:cNvPr>
              <p:cNvSpPr/>
              <p:nvPr/>
            </p:nvSpPr>
            <p:spPr>
              <a:xfrm>
                <a:off x="4282601" y="5439046"/>
                <a:ext cx="1367618" cy="69506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457200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i="1">
                              <a:solidFill>
                                <a:prstClr val="black"/>
                              </a:solidFill>
                              <a:latin typeface="Times New Roman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solidFill>
                                <a:prstClr val="black"/>
                              </a:solidFill>
                              <a:latin typeface="Times New Roman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1400" i="1">
                              <a:solidFill>
                                <a:prstClr val="black"/>
                              </a:solidFill>
                              <a:latin typeface="Times New Roman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sz="1400">
                          <a:solidFill>
                            <a:prstClr val="black"/>
                          </a:solidFill>
                          <a:latin typeface="Times New Roman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HK" sz="1400" i="1">
                              <a:solidFill>
                                <a:prstClr val="black"/>
                              </a:solidFill>
                              <a:latin typeface="Times New Roman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HK" sz="14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HK" sz="1400" i="1">
                                      <a:solidFill>
                                        <a:prstClr val="black"/>
                                      </a:solidFill>
                                      <a:latin typeface="Times New Roman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1400">
                                          <a:solidFill>
                                            <a:prstClr val="black"/>
                                          </a:solidFill>
                                          <a:latin typeface="Times New Roman" panose="02040503050406030204" pitchFamily="18" charset="0"/>
                                          <a:ea typeface="SimSu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>
                                          <a:solidFill>
                                            <a:prstClr val="black"/>
                                          </a:solidFill>
                                          <a:latin typeface="Times New Roman" panose="02040503050406030204" pitchFamily="18" charset="0"/>
                                          <a:ea typeface="SimSu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3</m:t>
                                      </m:r>
                                      <m:r>
                                        <a:rPr lang="en-US" sz="1400" i="1">
                                          <a:solidFill>
                                            <a:prstClr val="black"/>
                                          </a:solidFill>
                                          <a:latin typeface="Times New Roman" panose="02040503050406030204" pitchFamily="18" charset="0"/>
                                          <a:ea typeface="SimSun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solidFill>
                                            <a:prstClr val="black"/>
                                          </a:solidFill>
                                          <a:latin typeface="Times New Roman" panose="02040503050406030204" pitchFamily="18" charset="0"/>
                                          <a:ea typeface="SimSu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𝑤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solidFill>
                                        <a:prstClr val="black"/>
                                      </a:solidFill>
                                      <a:latin typeface="Times New Roman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Γ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400" i="1">
                                          <a:solidFill>
                                            <a:prstClr val="black"/>
                                          </a:solidFill>
                                          <a:latin typeface="Times New Roman" panose="02040503050406030204" pitchFamily="18" charset="0"/>
                                          <a:ea typeface="SimSu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solidFill>
                                            <a:prstClr val="black"/>
                                          </a:solidFill>
                                          <a:latin typeface="Times New Roman" panose="02040503050406030204" pitchFamily="18" charset="0"/>
                                          <a:ea typeface="SimSu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𝜌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solidFill>
                                            <a:prstClr val="black"/>
                                          </a:solidFill>
                                          <a:latin typeface="Times New Roman" panose="02040503050406030204" pitchFamily="18" charset="0"/>
                                          <a:ea typeface="SimSu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𝑤</m:t>
                                      </m:r>
                                    </m:sub>
                                  </m:sSub>
                                  <m:r>
                                    <a:rPr lang="en-US" sz="1400" i="1">
                                      <a:solidFill>
                                        <a:prstClr val="black"/>
                                      </a:solidFill>
                                      <a:latin typeface="Times New Roman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𝑔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sz="1400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400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HK" sz="1400" dirty="0">
                  <a:solidFill>
                    <a:prstClr val="black"/>
                  </a:solidFill>
                  <a:latin typeface="Times New Roman" panose="020F0502020204030204"/>
                  <a:ea typeface="SimSun"/>
                  <a:cs typeface="Times New Roman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6F87DF60-5F15-42B2-8460-4D61F95C40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2601" y="5439046"/>
                <a:ext cx="1367618" cy="69506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  <a:latin typeface="Times New Roman"/>
                    <a:ea typeface="SimSun"/>
                    <a:cs typeface="Times New Roman"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31F8DDE0-1E96-4E88-B9E3-C464B695CFFA}"/>
                  </a:ext>
                </a:extLst>
              </p:cNvPr>
              <p:cNvSpPr/>
              <p:nvPr/>
            </p:nvSpPr>
            <p:spPr>
              <a:xfrm>
                <a:off x="3529263" y="6024027"/>
                <a:ext cx="1596270" cy="5378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457200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1400">
                          <a:solidFill>
                            <a:prstClr val="black"/>
                          </a:solidFill>
                          <a:latin typeface="Times New Roman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σ</m:t>
                      </m:r>
                      <m:r>
                        <a:rPr lang="en-US" sz="1400">
                          <a:solidFill>
                            <a:prstClr val="black"/>
                          </a:solidFill>
                          <a:latin typeface="Times New Roman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HK" sz="1400" i="1">
                              <a:solidFill>
                                <a:prstClr val="black"/>
                              </a:solidFill>
                              <a:latin typeface="Times New Roman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14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e>
                          </m:acc>
                        </m:e>
                        <m:sub>
                          <m:r>
                            <a:rPr lang="en-US" sz="1400" i="1">
                              <a:solidFill>
                                <a:prstClr val="black"/>
                              </a:solidFill>
                              <a:latin typeface="Times New Roman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𝑤</m:t>
                          </m:r>
                        </m:sub>
                      </m:sSub>
                      <m:f>
                        <m:fPr>
                          <m:ctrlPr>
                            <a:rPr lang="en-US" sz="1400" i="1">
                              <a:solidFill>
                                <a:prstClr val="black"/>
                              </a:solidFill>
                              <a:latin typeface="Times New Roman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solidFill>
                                <a:prstClr val="black"/>
                              </a:solidFill>
                              <a:latin typeface="Times New Roman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ℎ</m:t>
                          </m:r>
                        </m:num>
                        <m:den>
                          <m:r>
                            <a:rPr lang="en-US" sz="1400">
                              <a:solidFill>
                                <a:prstClr val="black"/>
                              </a:solidFill>
                              <a:latin typeface="Times New Roman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sz="14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4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4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HK" sz="1400" dirty="0">
                  <a:solidFill>
                    <a:prstClr val="black"/>
                  </a:solidFill>
                  <a:latin typeface="Times New Roman" panose="020F0502020204030204"/>
                  <a:ea typeface="SimSun"/>
                  <a:cs typeface="Times New Roman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31F8DDE0-1E96-4E88-B9E3-C464B695CF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9263" y="6024027"/>
                <a:ext cx="1596270" cy="537840"/>
              </a:xfrm>
              <a:prstGeom prst="rect">
                <a:avLst/>
              </a:prstGeom>
              <a:blipFill>
                <a:blip r:embed="rId8"/>
                <a:stretch>
                  <a:fillRect b="-2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  <a:latin typeface="Times New Roman"/>
                    <a:ea typeface="SimSun"/>
                    <a:cs typeface="Times New Roman"/>
                  </a:rPr>
                  <a:t> </a:t>
                </a:r>
              </a:p>
            </p:txBody>
          </p:sp>
        </mc:Fallback>
      </mc:AlternateContent>
      <p:sp>
        <p:nvSpPr>
          <p:cNvPr id="10" name="矩形 9">
            <a:extLst>
              <a:ext uri="{FF2B5EF4-FFF2-40B4-BE49-F238E27FC236}">
                <a16:creationId xmlns:a16="http://schemas.microsoft.com/office/drawing/2014/main" id="{E96617A6-5933-491A-A373-11ADE0AC5851}"/>
              </a:ext>
            </a:extLst>
          </p:cNvPr>
          <p:cNvSpPr/>
          <p:nvPr/>
        </p:nvSpPr>
        <p:spPr>
          <a:xfrm>
            <a:off x="6623004" y="4847944"/>
            <a:ext cx="4931887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eaLnBrk="1" fontAlgn="auto" hangingPunct="1" algn="l">
              <a:spcBef>
                <a:spcPts val="0"/>
              </a:spcBef>
              <a:spcAft>
                <a:spcPts val="0"/>
              </a:spcAft>
            </a:pPr>
          </a:p>
          <a:p>
            <a:pPr defTabSz="457200" eaLnBrk="1" fontAlgn="auto" hangingPunct="1" algn="l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湿球效率：</a:t>
            </a:r>
          </a:p>
          <a:p>
            <a:pPr defTabSz="457200" eaLnBrk="1" fontAlgn="auto" hangingPunct="1" algn="l">
              <a:spcBef>
                <a:spcPts val="0"/>
              </a:spcBef>
              <a:spcAft>
                <a:spcPts val="0"/>
              </a:spcAft>
            </a:pPr>
          </a:p>
          <a:p>
            <a:pPr defTabSz="457200" eaLnBrk="1" fontAlgn="auto" hangingPunct="1" algn="l">
              <a:spcBef>
                <a:spcPts val="0"/>
              </a:spcBef>
              <a:spcAft>
                <a:spcPts val="0"/>
              </a:spcAft>
            </a:pPr>
            <a:r>
              <a:rPr lang="en-HK" sz="16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制冷量：</a:t>
            </a:r>
          </a:p>
          <a:p>
            <a:pPr defTabSz="457200" eaLnBrk="1" fontAlgn="auto" hangingPunct="1" algn="l">
              <a:spcBef>
                <a:spcPts val="0"/>
              </a:spcBef>
              <a:spcAft>
                <a:spcPts val="0"/>
              </a:spcAft>
            </a:p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C6FFDB3F-9583-40DD-9EBE-33075881A0B2}"/>
                  </a:ext>
                </a:extLst>
              </p:cNvPr>
              <p:cNvSpPr txBox="1"/>
              <p:nvPr/>
            </p:nvSpPr>
            <p:spPr>
              <a:xfrm>
                <a:off x="7819435" y="4984252"/>
                <a:ext cx="3134360" cy="5469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457200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sz="1400" i="1">
                              <a:solidFill>
                                <a:prstClr val="black"/>
                              </a:solidFill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zh-CN" altLang="en-US" sz="1400" i="1">
                              <a:solidFill>
                                <a:prstClr val="black"/>
                              </a:solidFill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𝜂</m:t>
                          </m:r>
                        </m:e>
                        <m:sub>
                          <m:r>
                            <a:rPr lang="zh-CN" altLang="en-US" sz="1400" i="1">
                              <a:solidFill>
                                <a:prstClr val="black"/>
                              </a:solidFill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𝑤𝑏</m:t>
                          </m:r>
                        </m:sub>
                      </m:sSub>
                      <m:r>
                        <a:rPr lang="zh-CN" altLang="en-US" sz="1400">
                          <a:solidFill>
                            <a:prstClr val="black"/>
                          </a:solidFill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=</m:t>
                      </m:r>
                      <m:f>
                        <m:fPr>
                          <m:ctrlPr>
                            <a:rPr lang="zh-CN" altLang="en-US" sz="1400" i="1">
                              <a:solidFill>
                                <a:srgbClr val="836967"/>
                              </a:solidFill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14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zh-CN" altLang="en-US" sz="14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zh-CN" altLang="en-US" sz="14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𝑝</m:t>
                              </m:r>
                              <m:r>
                                <a:rPr lang="zh-CN" altLang="en-US" sz="1400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,</m:t>
                              </m:r>
                              <m:r>
                                <a:rPr lang="zh-CN" altLang="en-US" sz="14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𝑖𝑛</m:t>
                              </m:r>
                            </m:sub>
                          </m:sSub>
                          <m:r>
                            <a:rPr lang="zh-CN" altLang="en-US" sz="1400">
                              <a:solidFill>
                                <a:prstClr val="black"/>
                              </a:solidFill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14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zh-CN" altLang="en-US" sz="14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zh-CN" altLang="en-US" sz="14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𝑝</m:t>
                              </m:r>
                              <m:r>
                                <a:rPr lang="zh-CN" altLang="en-US" sz="1400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,</m:t>
                              </m:r>
                              <m:r>
                                <a:rPr lang="zh-CN" altLang="en-US" sz="14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𝑜𝑢𝑡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en-US" sz="14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zh-CN" altLang="en-US" sz="14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zh-CN" altLang="en-US" sz="14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𝑝</m:t>
                              </m:r>
                              <m:r>
                                <a:rPr lang="zh-CN" altLang="en-US" sz="1400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,</m:t>
                              </m:r>
                              <m:r>
                                <a:rPr lang="zh-CN" altLang="en-US" sz="14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𝑖𝑛</m:t>
                              </m:r>
                            </m:sub>
                          </m:sSub>
                          <m:r>
                            <a:rPr lang="zh-CN" altLang="en-US" sz="1400">
                              <a:solidFill>
                                <a:prstClr val="black"/>
                              </a:solidFill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14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zh-CN" altLang="en-US" sz="14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zh-CN" altLang="en-US" sz="14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𝑤𝑏</m:t>
                              </m:r>
                              <m:r>
                                <a:rPr lang="zh-CN" altLang="en-US" sz="1400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,</m:t>
                              </m:r>
                              <m:r>
                                <a:rPr lang="zh-CN" altLang="en-US" sz="14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𝑠</m:t>
                              </m:r>
                              <m:r>
                                <a:rPr lang="zh-CN" altLang="en-US" sz="1400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,</m:t>
                              </m:r>
                              <m:r>
                                <a:rPr lang="zh-CN" altLang="en-US" sz="14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𝑖𝑛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1400" dirty="0">
                  <a:solidFill>
                    <a:prstClr val="black"/>
                  </a:solidFill>
                  <a:latin typeface="Times New Roman" panose="020F0502020204030204"/>
                  <a:ea typeface="SimSun" panose="02010600030101010101" pitchFamily="2" charset="-122"/>
                  <a:cs typeface="Times New Roman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C6FFDB3F-9583-40DD-9EBE-33075881A0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9435" y="4984252"/>
                <a:ext cx="3134360" cy="54694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  <a:latin typeface="Times New Roman"/>
                    <a:ea typeface="SimSun"/>
                    <a:cs typeface="Times New Roman"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1ACD5137-AC2E-491D-831E-DDDF70F49F2F}"/>
                  </a:ext>
                </a:extLst>
              </p:cNvPr>
              <p:cNvSpPr txBox="1"/>
              <p:nvPr/>
            </p:nvSpPr>
            <p:spPr>
              <a:xfrm>
                <a:off x="7802111" y="5620531"/>
                <a:ext cx="3134360" cy="3397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457200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sz="1400" i="1">
                              <a:solidFill>
                                <a:prstClr val="black"/>
                              </a:solidFill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zh-CN" altLang="en-US" sz="1400" i="1">
                              <a:solidFill>
                                <a:prstClr val="black"/>
                              </a:solidFill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𝑄</m:t>
                          </m:r>
                        </m:e>
                        <m:sub>
                          <m:r>
                            <a:rPr lang="zh-CN" altLang="en-US" sz="1400" i="1">
                              <a:solidFill>
                                <a:prstClr val="black"/>
                              </a:solidFill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𝑐</m:t>
                          </m:r>
                        </m:sub>
                      </m:sSub>
                      <m:r>
                        <a:rPr lang="zh-CN" altLang="en-US" sz="1400">
                          <a:solidFill>
                            <a:prstClr val="black"/>
                          </a:solidFill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=</m:t>
                      </m:r>
                      <m:sSub>
                        <m:sSubPr>
                          <m:ctrlPr>
                            <a:rPr lang="zh-CN" altLang="en-US" sz="1400" i="1">
                              <a:solidFill>
                                <a:prstClr val="black"/>
                              </a:solidFill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zh-CN" altLang="en-US" sz="1400" i="1">
                              <a:solidFill>
                                <a:prstClr val="black"/>
                              </a:solidFill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𝑚</m:t>
                          </m:r>
                        </m:e>
                        <m:sub>
                          <m:r>
                            <a:rPr lang="zh-CN" altLang="en-US" sz="1400" i="1">
                              <a:solidFill>
                                <a:prstClr val="black"/>
                              </a:solidFill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zh-CN" altLang="en-US" sz="1400" i="1">
                              <a:solidFill>
                                <a:prstClr val="black"/>
                              </a:solidFill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zh-CN" altLang="en-US" sz="1400" i="1">
                              <a:solidFill>
                                <a:prstClr val="black"/>
                              </a:solidFill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𝑐</m:t>
                          </m:r>
                        </m:e>
                        <m:sub>
                          <m:r>
                            <a:rPr lang="zh-CN" altLang="en-US" sz="1400" i="1">
                              <a:solidFill>
                                <a:prstClr val="black"/>
                              </a:solidFill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𝑝𝑎</m:t>
                          </m:r>
                        </m:sub>
                      </m:sSub>
                      <m:d>
                        <m:dPr>
                          <m:ctrlPr>
                            <a:rPr lang="zh-CN" altLang="en-US" sz="1400" i="1">
                              <a:solidFill>
                                <a:srgbClr val="836967"/>
                              </a:solidFill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14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zh-CN" altLang="en-US" sz="14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zh-CN" altLang="en-US" sz="14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𝑝</m:t>
                              </m:r>
                              <m:r>
                                <a:rPr lang="zh-CN" altLang="en-US" sz="1400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,</m:t>
                              </m:r>
                              <m:r>
                                <a:rPr lang="zh-CN" altLang="en-US" sz="14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𝑖𝑛</m:t>
                              </m:r>
                            </m:sub>
                          </m:sSub>
                          <m:r>
                            <a:rPr lang="zh-CN" altLang="en-US" sz="1400">
                              <a:solidFill>
                                <a:prstClr val="black"/>
                              </a:solidFill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14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zh-CN" altLang="en-US" sz="14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zh-CN" altLang="en-US" sz="14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𝑝</m:t>
                              </m:r>
                              <m:r>
                                <a:rPr lang="zh-CN" altLang="en-US" sz="1400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,</m:t>
                              </m:r>
                              <m:r>
                                <a:rPr lang="zh-CN" altLang="en-US" sz="14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𝑜𝑢𝑡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1400" dirty="0">
                  <a:solidFill>
                    <a:prstClr val="black"/>
                  </a:solidFill>
                  <a:latin typeface="Times New Roman" panose="020F0502020204030204"/>
                  <a:ea typeface="SimSun" panose="02010600030101010101" pitchFamily="2" charset="-122"/>
                  <a:cs typeface="Times New Roman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1ACD5137-AC2E-491D-831E-DDDF70F49F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2111" y="5620531"/>
                <a:ext cx="3134360" cy="339773"/>
              </a:xfrm>
              <a:prstGeom prst="rect">
                <a:avLst/>
              </a:prstGeom>
              <a:blipFill>
                <a:blip r:embed="rId10"/>
                <a:stretch>
                  <a:fillRect b="-17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  <a:latin typeface="Times New Roman"/>
                    <a:ea typeface="SimSun"/>
                    <a:cs typeface="Times New Roman"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876B4F8-F90D-443A-9617-8CBA13CF6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2552" y="6483412"/>
            <a:ext cx="2844800" cy="365125"/>
          </a:xfrm>
        </p:spPr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15884886-3D85-4AFD-9D94-33E4AF7428DD}" type="slidenum">
              <a:rPr lang="en-US" altLang="zh-CN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20</a:t>
            </a:fld>
            <a:endParaRPr lang="en-US" altLang="zh-CN">
              <a:latin typeface="Times New Roman"/>
              <a:ea typeface="SimSun"/>
              <a:cs typeface="Times New Roman"/>
            </a:endParaRPr>
          </a:p>
        </p:txBody>
      </p:sp>
      <p:sp>
        <p:nvSpPr>
          <p:cNvPr id="16" name="矩形 3">
            <a:extLst>
              <a:ext uri="{FF2B5EF4-FFF2-40B4-BE49-F238E27FC236}">
                <a16:creationId xmlns:a16="http://schemas.microsoft.com/office/drawing/2014/main" id="{3DD9B40B-E37D-4C9C-9B2C-BA7B87109E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4013" y="-22029"/>
            <a:ext cx="10813218" cy="972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9pPr>
          </a:lstStyle>
          <a:p>
            <a:pPr algn="l">
              <a:lnSpc>
                <a:spcPct val="125000"/>
              </a:lnSpc>
              <a:spcBef>
                <a:spcPct val="20000"/>
              </a:spcBef>
            </a:pPr>
            <a:r>
              <a:rPr lang="en-US" altLang="zh-CN" b="1" dirty="0" sz="1800"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3</a:t>
            </a:r>
            <a:r>
              <a:rPr lang="en-US" altLang="zh-CN" b="1" dirty="0" sz="1800"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. IEC 喷淋分布的 FDM 建模与优化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B347E6B-7A7E-48C2-9DC4-433797CC6B6F}"/>
              </a:ext>
            </a:extLst>
          </p:cNvPr>
          <p:cNvSpPr/>
          <p:nvPr/>
        </p:nvSpPr>
        <p:spPr bwMode="auto">
          <a:xfrm>
            <a:off x="1380629" y="1379461"/>
            <a:ext cx="4489037" cy="1872564"/>
          </a:xfrm>
          <a:prstGeom prst="roundRect">
            <a:avLst/>
          </a:prstGeom>
          <a:noFill/>
          <a:ln>
            <a:solidFill>
              <a:srgbClr val="AF1E3B"/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Times New Roman" charset="0"/>
              <a:ea typeface="SimSun"/>
              <a:cs typeface="Times New Roman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7B205D15-E9F6-4A81-912A-2A763F7787D2}"/>
              </a:ext>
            </a:extLst>
          </p:cNvPr>
          <p:cNvSpPr/>
          <p:nvPr/>
        </p:nvSpPr>
        <p:spPr bwMode="auto">
          <a:xfrm>
            <a:off x="1380629" y="3504278"/>
            <a:ext cx="4489037" cy="3134092"/>
          </a:xfrm>
          <a:prstGeom prst="roundRect">
            <a:avLst/>
          </a:prstGeom>
          <a:noFill/>
          <a:ln>
            <a:solidFill>
              <a:srgbClr val="AF1E3B"/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Times New Roman" charset="0"/>
              <a:ea typeface="SimSun"/>
              <a:cs typeface="Times New Roman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F6334B0-7C24-414B-B40A-8C4940EF649A}"/>
              </a:ext>
            </a:extLst>
          </p:cNvPr>
          <p:cNvSpPr/>
          <p:nvPr/>
        </p:nvSpPr>
        <p:spPr bwMode="auto">
          <a:xfrm>
            <a:off x="6654594" y="2718826"/>
            <a:ext cx="507389" cy="332117"/>
          </a:xfrm>
          <a:prstGeom prst="rect">
            <a:avLst/>
          </a:prstGeom>
          <a:solidFill>
            <a:srgbClr val="AF1E3B">
              <a:alpha val="35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Times New Roman" charset="0"/>
              <a:ea typeface="SimSun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76750317-A2D6-4907-9498-450E08BB728F}"/>
                  </a:ext>
                </a:extLst>
              </p:cNvPr>
              <p:cNvSpPr/>
              <p:nvPr/>
            </p:nvSpPr>
            <p:spPr>
              <a:xfrm>
                <a:off x="6588015" y="1480628"/>
                <a:ext cx="3624838" cy="32051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 defTabSz="457200" eaLnBrk="1" fontAlgn="auto" hangingPunct="1">
                  <a:lnSpc>
                    <a:spcPts val="28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en-US" sz="1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SimSun"/>
                    <a:cs typeface="Times New Roman" panose="02020603050405020304" pitchFamily="18" charset="0"/>
                  </a:rPr>
                  <a:t>IEC performance</a:t>
                </a:r>
                <a:endParaRPr lang="en-US" sz="1800" dirty="0">
                  <a:latin typeface="Times New Roman" panose="02020603050405020304" pitchFamily="18" charset="0"/>
                  <a:ea typeface="SimSun"/>
                  <a:cs typeface="Times New Roman" panose="02020603050405020304" pitchFamily="18" charset="0"/>
                </a:endParaRPr>
              </a:p>
              <a:p>
                <a:pPr>
                  <a:lnSpc>
                    <a:spcPts val="2800"/>
                  </a:lnSpc>
                </a:pPr>
                <a:r>
                  <a:rPr lang="en-US" sz="1800" dirty="0">
                    <a:latin typeface="Times New Roman" panose="02020603050405020304" pitchFamily="18" charset="0"/>
                    <a:ea typeface="SimSun"/>
                    <a:cs typeface="Times New Roman" panose="02020603050405020304" pitchFamily="18" charset="0"/>
                  </a:rPr>
                  <a:t>Pressure </a:t>
                </a:r>
                <a:r>
                  <a:rPr lang="en-US" sz="1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SimSun"/>
                    <a:cs typeface="Times New Roman" panose="02020603050405020304" pitchFamily="18" charset="0"/>
                  </a:rPr>
                  <a:t>drop</a:t>
                </a:r>
                <a:r>
                  <a:rPr lang="en-US" sz="1800" dirty="0">
                    <a:latin typeface="Times New Roman" panose="02020603050405020304" pitchFamily="18" charset="0"/>
                    <a:ea typeface="SimSun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eqArr>
                      <m:eqArrPr>
                        <m:ctrlPr>
                          <a:rPr lang="en-HK" sz="1600" i="1">
                            <a:latin typeface="Times New Roman" panose="02040503050406030204" pitchFamily="18" charset="0"/>
                            <a:ea typeface="SimSun"/>
                            <a:cs typeface="Times New Roman"/>
                          </a:rPr>
                        </m:ctrlPr>
                      </m:eqArrPr>
                      <m:e>
                        <m:r>
                          <a:rPr lang="en-HK" sz="1600" i="1">
                            <a:latin typeface="Times New Roman" panose="02040503050406030204" pitchFamily="18" charset="0"/>
                            <a:ea typeface="SimSun"/>
                            <a:cs typeface="Times New Roman"/>
                          </a:rPr>
                          <m:t>△</m:t>
                        </m:r>
                        <m:r>
                          <a:rPr lang="en-US" sz="1600" i="1">
                            <a:latin typeface="Times New Roman" panose="02040503050406030204" pitchFamily="18" charset="0"/>
                            <a:ea typeface="SimSun"/>
                            <a:cs typeface="Times New Roman"/>
                          </a:rPr>
                          <m:t>𝑃</m:t>
                        </m:r>
                        <m:r>
                          <a:rPr lang="en-US" sz="1600">
                            <a:latin typeface="Times New Roman" panose="02040503050406030204" pitchFamily="18" charset="0"/>
                            <a:ea typeface="SimSun"/>
                            <a:cs typeface="Times New Roman"/>
                          </a:rPr>
                          <m:t>=</m:t>
                        </m:r>
                        <m:f>
                          <m:fPr>
                            <m:ctrlPr>
                              <a:rPr lang="en-HK" sz="1600" i="1">
                                <a:latin typeface="Times New Roman" panose="02040503050406030204" pitchFamily="18" charset="0"/>
                                <a:ea typeface="SimSun"/>
                                <a:cs typeface="Times New Roman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600" i="1">
                                    <a:latin typeface="Times New Roman" panose="02040503050406030204" pitchFamily="18" charset="0"/>
                                    <a:ea typeface="SimSun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Times New Roman" panose="02040503050406030204" pitchFamily="18" charset="0"/>
                                    <a:ea typeface="SimSun"/>
                                    <a:cs typeface="Times New Roman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Times New Roman" panose="02040503050406030204" pitchFamily="18" charset="0"/>
                                    <a:ea typeface="SimSun"/>
                                    <a:cs typeface="Times New Roman"/>
                                  </a:rPr>
                                  <m:t>𝑅𝑒</m:t>
                                </m:r>
                              </m:sub>
                            </m:sSub>
                            <m:r>
                              <a:rPr lang="en-US" sz="1600" i="1">
                                <a:latin typeface="Times New Roman" panose="02040503050406030204" pitchFamily="18" charset="0"/>
                                <a:ea typeface="SimSun"/>
                                <a:cs typeface="Times New Roman"/>
                              </a:rPr>
                              <m:t>𝐿</m:t>
                            </m:r>
                            <m:r>
                              <a:rPr lang="en-US" sz="1600" i="1">
                                <a:latin typeface="Times New Roman" panose="02040503050406030204" pitchFamily="18" charset="0"/>
                                <a:ea typeface="SimSun"/>
                                <a:cs typeface="Times New Roman"/>
                              </a:rPr>
                              <m:t>𝜌</m:t>
                            </m:r>
                            <m:sSup>
                              <m:sSupPr>
                                <m:ctrlPr>
                                  <a:rPr lang="en-US" sz="1600" i="1">
                                    <a:latin typeface="Times New Roman" panose="02040503050406030204" pitchFamily="18" charset="0"/>
                                    <a:ea typeface="SimSun"/>
                                    <a:cs typeface="Times New Roman"/>
                                  </a:rPr>
                                </m:ctrlPr>
                              </m:sSupPr>
                              <m:e>
                                <m:r>
                                  <a:rPr lang="en-US" sz="1600" i="1">
                                    <a:latin typeface="Times New Roman" panose="02040503050406030204" pitchFamily="18" charset="0"/>
                                    <a:ea typeface="SimSun"/>
                                    <a:cs typeface="Times New Roman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US" sz="1600" i="1">
                                    <a:latin typeface="Times New Roman" panose="02040503050406030204" pitchFamily="18" charset="0"/>
                                    <a:ea typeface="SimSun"/>
                                    <a:cs typeface="Times New Roman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1600" i="1">
                                <a:latin typeface="Times New Roman" panose="02040503050406030204" pitchFamily="18" charset="0"/>
                                <a:ea typeface="SimSun"/>
                                <a:cs typeface="Times New Roman"/>
                              </a:rPr>
                              <m:t>2</m:t>
                            </m:r>
                            <m:r>
                              <a:rPr lang="en-US" sz="1600" i="1">
                                <a:latin typeface="Times New Roman" panose="02040503050406030204" pitchFamily="18" charset="0"/>
                                <a:ea typeface="SimSun"/>
                                <a:cs typeface="Times New Roman"/>
                              </a:rPr>
                              <m:t>𝑅𝑒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Times New Roman" panose="02040503050406030204" pitchFamily="18" charset="0"/>
                                    <a:ea typeface="SimSun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Times New Roman" panose="02040503050406030204" pitchFamily="18" charset="0"/>
                                    <a:ea typeface="SimSun"/>
                                    <a:cs typeface="Times New Roman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Times New Roman" panose="02040503050406030204" pitchFamily="18" charset="0"/>
                                    <a:ea typeface="SimSun"/>
                                    <a:cs typeface="Times New Roman"/>
                                  </a:rPr>
                                  <m:t>𝑒</m:t>
                                </m:r>
                              </m:sub>
                            </m:sSub>
                          </m:den>
                        </m:f>
                      </m:e>
                    </m:eqArr>
                  </m:oMath>
                </a14:m>
                <a:endParaRPr lang="en-US" sz="1600" dirty="0">
                  <a:latin typeface="Times New Roman" panose="020B0604020202020204" pitchFamily="34" charset="0"/>
                  <a:ea typeface="SimSun"/>
                  <a:cs typeface="Times New Roman" panose="020B0604020202020204" pitchFamily="34" charset="0"/>
                </a:endParaRPr>
              </a:p>
              <a:p>
                <a:pPr>
                  <a:lnSpc>
                    <a:spcPts val="3000"/>
                  </a:lnSpc>
                </a:pPr>
                <a:r>
                  <a:rPr lang="en-US" sz="1800" dirty="0">
                    <a:latin typeface="Times New Roman" panose="02020603050405020304" pitchFamily="18" charset="0"/>
                    <a:ea typeface="SimSun"/>
                    <a:cs typeface="Times New Roman" panose="02020603050405020304" pitchFamily="18" charset="0"/>
                  </a:rPr>
                  <a:t>Fan consumption: </a:t>
                </a:r>
                <a14:m>
                  <m:oMath xmlns:m="http://schemas.openxmlformats.org/officeDocument/2006/math">
                    <m:eqArr>
                      <m:eqArrPr>
                        <m:ctrlPr>
                          <a:rPr lang="en-HK" sz="1600" i="1">
                            <a:latin typeface="Times New Roman" panose="02040503050406030204" pitchFamily="18" charset="0"/>
                            <a:ea typeface="SimSun"/>
                            <a:cs typeface="Times New Roman"/>
                          </a:rPr>
                        </m:ctrlPr>
                      </m:eqArrPr>
                      <m:e>
                        <m:sSub>
                          <m:sSubPr>
                            <m:ctrlPr>
                              <a:rPr lang="en-US" sz="1600" i="1">
                                <a:latin typeface="Times New Roman" panose="02040503050406030204" pitchFamily="18" charset="0"/>
                                <a:ea typeface="SimSun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Times New Roman" panose="02040503050406030204" pitchFamily="18" charset="0"/>
                                <a:ea typeface="SimSun"/>
                                <a:cs typeface="Times New Roman"/>
                              </a:rPr>
                              <m:t>𝑊</m:t>
                            </m:r>
                          </m:e>
                          <m:sub>
                            <m:r>
                              <a:rPr lang="en-US" sz="1600" i="1">
                                <a:latin typeface="Times New Roman" panose="02040503050406030204" pitchFamily="18" charset="0"/>
                                <a:ea typeface="SimSun"/>
                                <a:cs typeface="Times New Roman"/>
                              </a:rPr>
                              <m:t>𝑓𝑎𝑛</m:t>
                            </m:r>
                          </m:sub>
                        </m:sSub>
                        <m:r>
                          <a:rPr lang="en-US" sz="1600">
                            <a:latin typeface="Times New Roman" panose="02040503050406030204" pitchFamily="18" charset="0"/>
                            <a:ea typeface="SimSun"/>
                            <a:cs typeface="Times New Roman"/>
                          </a:rPr>
                          <m:t>=</m:t>
                        </m:r>
                        <m:f>
                          <m:fPr>
                            <m:ctrlPr>
                              <a:rPr lang="en-HK" sz="1600" i="1">
                                <a:latin typeface="Times New Roman" panose="02040503050406030204" pitchFamily="18" charset="0"/>
                                <a:ea typeface="SimSun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HK" sz="1600" i="1">
                                <a:latin typeface="Times New Roman" panose="02040503050406030204" pitchFamily="18" charset="0"/>
                                <a:ea typeface="SimSun"/>
                                <a:cs typeface="Times New Roman"/>
                              </a:rPr>
                              <m:t>𝑄</m:t>
                            </m:r>
                            <m:r>
                              <a:rPr lang="en-HK" sz="1600" i="1">
                                <a:latin typeface="Times New Roman" panose="02040503050406030204" pitchFamily="18" charset="0"/>
                                <a:ea typeface="SimSun"/>
                                <a:cs typeface="Times New Roman"/>
                              </a:rPr>
                              <m:t>△</m:t>
                            </m:r>
                            <m:r>
                              <a:rPr lang="en-US" sz="1600" i="1">
                                <a:latin typeface="Times New Roman" panose="02040503050406030204" pitchFamily="18" charset="0"/>
                                <a:ea typeface="SimSun"/>
                                <a:cs typeface="Times New Roman"/>
                              </a:rPr>
                              <m:t>𝑃</m:t>
                            </m:r>
                          </m:num>
                          <m:den>
                            <m:r>
                              <a:rPr lang="en-US" sz="1600" i="1">
                                <a:latin typeface="Times New Roman" panose="02040503050406030204" pitchFamily="18" charset="0"/>
                                <a:ea typeface="SimSun"/>
                                <a:cs typeface="Times New Roman"/>
                              </a:rPr>
                              <m:t>3600×1000×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Times New Roman" panose="02040503050406030204" pitchFamily="18" charset="0"/>
                                    <a:ea typeface="SimSun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Times New Roman" panose="02040503050406030204" pitchFamily="18" charset="0"/>
                                    <a:ea typeface="SimSun"/>
                                    <a:cs typeface="Times New Roman"/>
                                  </a:rPr>
                                  <m:t>𝜂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Times New Roman" panose="02040503050406030204" pitchFamily="18" charset="0"/>
                                    <a:ea typeface="SimSun"/>
                                    <a:cs typeface="Times New Roman"/>
                                  </a:rPr>
                                  <m:t>0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600" i="1">
                                    <a:latin typeface="Times New Roman" panose="02040503050406030204" pitchFamily="18" charset="0"/>
                                    <a:ea typeface="SimSun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Times New Roman" panose="02040503050406030204" pitchFamily="18" charset="0"/>
                                    <a:ea typeface="SimSun"/>
                                    <a:cs typeface="Times New Roman"/>
                                  </a:rPr>
                                  <m:t>×</m:t>
                                </m:r>
                                <m:r>
                                  <a:rPr lang="en-US" sz="1600" i="1">
                                    <a:latin typeface="Times New Roman" panose="02040503050406030204" pitchFamily="18" charset="0"/>
                                    <a:ea typeface="SimSun"/>
                                    <a:cs typeface="Times New Roman"/>
                                  </a:rPr>
                                  <m:t>𝜂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Times New Roman" panose="02040503050406030204" pitchFamily="18" charset="0"/>
                                    <a:ea typeface="SimSun"/>
                                    <a:cs typeface="Times New Roman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sz="1600" i="1">
                            <a:latin typeface="Times New Roman" panose="02040503050406030204" pitchFamily="18" charset="0"/>
                            <a:ea typeface="SimSun"/>
                            <a:cs typeface="Times New Roman"/>
                          </a:rPr>
                          <m:t>×</m:t>
                        </m:r>
                        <m:r>
                          <a:rPr lang="en-US" sz="1600" i="1">
                            <a:latin typeface="Times New Roman" panose="02040503050406030204" pitchFamily="18" charset="0"/>
                            <a:ea typeface="SimSun"/>
                            <a:cs typeface="Times New Roman"/>
                          </a:rPr>
                          <m:t>𝐾</m:t>
                        </m:r>
                      </m:e>
                    </m:eqArr>
                  </m:oMath>
                </a14:m>
                <a:endParaRPr lang="en-US" sz="1600" dirty="0">
                  <a:latin typeface="Times New Roman" panose="020B0604020202020204" pitchFamily="34" charset="0"/>
                  <a:ea typeface="SimSun"/>
                  <a:cs typeface="Times New Roman" panose="020B0604020202020204" pitchFamily="34" charset="0"/>
                </a:endParaRPr>
              </a:p>
              <a:p>
                <a:pPr>
                  <a:lnSpc>
                    <a:spcPts val="3000"/>
                  </a:lnSpc>
                </a:pPr>
                <a:r>
                  <a:rPr lang="en-HK" sz="1800" dirty="0">
                    <a:latin typeface="Times New Roman" panose="02020603050405020304" pitchFamily="18" charset="0"/>
                    <a:ea typeface="SimSun"/>
                    <a:cs typeface="Times New Roman" panose="02020603050405020304" pitchFamily="18" charset="0"/>
                  </a:rPr>
                  <a:t>Pump consumption: </a:t>
                </a:r>
                <a14:m>
                  <m:oMath xmlns:m="http://schemas.openxmlformats.org/officeDocument/2006/math">
                    <m:eqArr>
                      <m:eqArrPr>
                        <m:ctrlPr>
                          <a:rPr lang="en-HK" sz="1400" i="1">
                            <a:latin typeface="Times New Roman" panose="02040503050406030204" pitchFamily="18" charset="0"/>
                            <a:ea typeface="SimSun"/>
                            <a:cs typeface="Times New Roman"/>
                          </a:rPr>
                        </m:ctrlPr>
                      </m:eqArrPr>
                      <m:e>
                        <m:sSub>
                          <m:sSubPr>
                            <m:ctrlPr>
                              <a:rPr lang="en-US" sz="1400" i="1">
                                <a:latin typeface="Times New Roman" panose="02040503050406030204" pitchFamily="18" charset="0"/>
                                <a:ea typeface="SimSun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Times New Roman" panose="02040503050406030204" pitchFamily="18" charset="0"/>
                                <a:ea typeface="SimSun"/>
                                <a:cs typeface="Times New Roman"/>
                              </a:rPr>
                              <m:t>𝑊</m:t>
                            </m:r>
                          </m:e>
                          <m:sub>
                            <m:r>
                              <a:rPr lang="en-US" sz="1400" i="1">
                                <a:latin typeface="Times New Roman" panose="02040503050406030204" pitchFamily="18" charset="0"/>
                                <a:ea typeface="SimSun"/>
                                <a:cs typeface="Times New Roman"/>
                              </a:rPr>
                              <m:t>𝑝𝑢𝑚𝑝</m:t>
                            </m:r>
                          </m:sub>
                        </m:sSub>
                        <m:r>
                          <a:rPr lang="en-US" sz="1400" i="1">
                            <a:latin typeface="Times New Roman" panose="02040503050406030204" pitchFamily="18" charset="0"/>
                            <a:ea typeface="SimSun"/>
                            <a:cs typeface="Times New Roman"/>
                          </a:rPr>
                          <m:t>=</m:t>
                        </m:r>
                        <m:sSub>
                          <m:sSubPr>
                            <m:ctrlPr>
                              <a:rPr lang="en-US" sz="1400" i="1">
                                <a:latin typeface="Times New Roman" panose="02040503050406030204" pitchFamily="18" charset="0"/>
                                <a:ea typeface="SimSun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Times New Roman" panose="02040503050406030204" pitchFamily="18" charset="0"/>
                                <a:ea typeface="SimSun"/>
                                <a:cs typeface="Times New Roman"/>
                              </a:rPr>
                              <m:t>𝑚</m:t>
                            </m:r>
                          </m:e>
                          <m:sub>
                            <m:r>
                              <a:rPr lang="en-US" sz="1400" i="1">
                                <a:latin typeface="Times New Roman" panose="02040503050406030204" pitchFamily="18" charset="0"/>
                                <a:ea typeface="SimSun"/>
                                <a:cs typeface="Times New Roman"/>
                              </a:rPr>
                              <m:t>𝑤</m:t>
                            </m:r>
                          </m:sub>
                        </m:sSub>
                        <m:r>
                          <a:rPr lang="en-US" sz="1400" i="1">
                            <a:latin typeface="Times New Roman" panose="02040503050406030204" pitchFamily="18" charset="0"/>
                            <a:ea typeface="SimSun"/>
                            <a:cs typeface="Times New Roman"/>
                          </a:rPr>
                          <m:t>𝑔</m:t>
                        </m:r>
                        <m:d>
                          <m:dPr>
                            <m:ctrlPr>
                              <a:rPr lang="en-HK" sz="1400" i="1">
                                <a:latin typeface="Times New Roman" panose="02040503050406030204" pitchFamily="18" charset="0"/>
                                <a:ea typeface="SimSun"/>
                                <a:cs typeface="Times New Roman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400" i="1">
                                    <a:latin typeface="Times New Roman" panose="02040503050406030204" pitchFamily="18" charset="0"/>
                                    <a:ea typeface="SimSun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latin typeface="Times New Roman" panose="02040503050406030204" pitchFamily="18" charset="0"/>
                                    <a:ea typeface="SimSun"/>
                                    <a:cs typeface="Times New Roman"/>
                                  </a:rPr>
                                  <m:t>ℎ</m:t>
                                </m:r>
                              </m:e>
                              <m:sub>
                                <m:r>
                                  <a:rPr lang="en-US" sz="1400" i="1">
                                    <a:latin typeface="Times New Roman" panose="02040503050406030204" pitchFamily="18" charset="0"/>
                                    <a:ea typeface="SimSun"/>
                                    <a:cs typeface="Times New Roman"/>
                                  </a:rPr>
                                  <m:t>𝑔𝑟𝑎𝑣𝑖𝑡𝑦</m:t>
                                </m:r>
                              </m:sub>
                            </m:sSub>
                            <m:r>
                              <a:rPr lang="en-US" sz="1400" i="1">
                                <a:latin typeface="Times New Roman" panose="02040503050406030204" pitchFamily="18" charset="0"/>
                                <a:ea typeface="SimSun"/>
                                <a:cs typeface="Times New Roman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1400" i="1">
                                    <a:latin typeface="Times New Roman" panose="02040503050406030204" pitchFamily="18" charset="0"/>
                                    <a:ea typeface="SimSun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latin typeface="Times New Roman" panose="02040503050406030204" pitchFamily="18" charset="0"/>
                                    <a:ea typeface="SimSun"/>
                                    <a:cs typeface="Times New Roman"/>
                                  </a:rPr>
                                  <m:t>ℎ</m:t>
                                </m:r>
                              </m:e>
                              <m:sub>
                                <m:r>
                                  <a:rPr lang="en-US" sz="1400" i="1">
                                    <a:latin typeface="Times New Roman" panose="02040503050406030204" pitchFamily="18" charset="0"/>
                                    <a:ea typeface="SimSun"/>
                                    <a:cs typeface="Times New Roman"/>
                                  </a:rPr>
                                  <m:t>𝑛𝑜𝑧𝑧𝑙𝑒𝑠</m:t>
                                </m:r>
                              </m:sub>
                            </m:sSub>
                            <m:r>
                              <a:rPr lang="en-US" sz="1400" i="1">
                                <a:latin typeface="Times New Roman" panose="02040503050406030204" pitchFamily="18" charset="0"/>
                                <a:ea typeface="SimSun"/>
                                <a:cs typeface="Times New Roman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1400" i="1">
                                    <a:latin typeface="Times New Roman" panose="02040503050406030204" pitchFamily="18" charset="0"/>
                                    <a:ea typeface="SimSun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latin typeface="Times New Roman" panose="02040503050406030204" pitchFamily="18" charset="0"/>
                                    <a:ea typeface="SimSun"/>
                                    <a:cs typeface="Times New Roman"/>
                                  </a:rPr>
                                  <m:t>ℎ</m:t>
                                </m:r>
                              </m:e>
                              <m:sub>
                                <m:r>
                                  <a:rPr lang="en-US" sz="1400" i="1">
                                    <a:latin typeface="Times New Roman" panose="02040503050406030204" pitchFamily="18" charset="0"/>
                                    <a:ea typeface="SimSun"/>
                                    <a:cs typeface="Times New Roman"/>
                                  </a:rPr>
                                  <m:t>𝑣𝑎𝑙𝑣𝑒𝑠</m:t>
                                </m:r>
                              </m:sub>
                            </m:sSub>
                          </m:e>
                        </m:d>
                        <m:r>
                          <a:rPr lang="en-HK" sz="1400" i="1">
                            <a:latin typeface="Times New Roman" panose="02040503050406030204" pitchFamily="18" charset="0"/>
                            <a:ea typeface="SimSun"/>
                            <a:cs typeface="Times New Roman"/>
                          </a:rPr>
                          <m:t>×</m:t>
                        </m:r>
                        <m:r>
                          <a:rPr lang="en-HK" sz="1400" i="1">
                            <a:latin typeface="Times New Roman" panose="02040503050406030204" pitchFamily="18" charset="0"/>
                            <a:ea typeface="SimSun"/>
                            <a:cs typeface="Times New Roman"/>
                          </a:rPr>
                          <m:t>𝐾</m:t>
                        </m:r>
                      </m:e>
                    </m:eqArr>
                  </m:oMath>
                </a14:m>
                <a:endParaRPr lang="en-HK" sz="1600" dirty="0">
                  <a:latin typeface="Times New Roman" panose="020B0604020202020204" pitchFamily="34" charset="0"/>
                  <a:ea typeface="SimSun"/>
                  <a:cs typeface="Times New Roman" panose="020B0604020202020204" pitchFamily="34" charset="0"/>
                </a:endParaRPr>
              </a:p>
              <a:p>
                <a:pPr>
                  <a:lnSpc>
                    <a:spcPts val="3000"/>
                  </a:lnSpc>
                </a:pPr>
                <a:r>
                  <a:rPr lang="en-HK" sz="1800" dirty="0">
                    <a:latin typeface="Times New Roman" panose="02020603050405020304" pitchFamily="18" charset="0"/>
                    <a:ea typeface="SimSun"/>
                    <a:cs typeface="Times New Roman" panose="02020603050405020304" pitchFamily="18" charset="0"/>
                  </a:rPr>
                  <a:t>The coefficient of performance: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Times New Roman" panose="02040503050406030204" pitchFamily="18" charset="0"/>
                        <a:ea typeface="SimSun"/>
                        <a:cs typeface="Times New Roman"/>
                      </a:rPr>
                      <m:t>𝐶𝑂𝑃</m:t>
                    </m:r>
                    <m:r>
                      <a:rPr lang="en-US" sz="1600" i="1">
                        <a:latin typeface="Times New Roman" panose="02040503050406030204" pitchFamily="18" charset="0"/>
                        <a:ea typeface="SimSun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HK" sz="1600" i="1">
                            <a:latin typeface="Times New Roman" panose="02040503050406030204" pitchFamily="18" charset="0"/>
                            <a:ea typeface="SimSun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i="1">
                                <a:latin typeface="Times New Roman" panose="02040503050406030204" pitchFamily="18" charset="0"/>
                                <a:ea typeface="SimSun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Times New Roman" panose="02040503050406030204" pitchFamily="18" charset="0"/>
                                <a:ea typeface="SimSun"/>
                                <a:cs typeface="Times New Roman"/>
                              </a:rPr>
                              <m:t>𝑄</m:t>
                            </m:r>
                          </m:e>
                          <m:sub>
                            <m:r>
                              <a:rPr lang="en-US" sz="1600" i="1">
                                <a:latin typeface="Times New Roman" panose="02040503050406030204" pitchFamily="18" charset="0"/>
                                <a:ea typeface="SimSun"/>
                                <a:cs typeface="Times New Roman"/>
                              </a:rPr>
                              <m:t>𝑝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600" i="1">
                                <a:latin typeface="Times New Roman" panose="02040503050406030204" pitchFamily="18" charset="0"/>
                                <a:ea typeface="SimSun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Times New Roman" panose="02040503050406030204" pitchFamily="18" charset="0"/>
                                <a:ea typeface="SimSun"/>
                                <a:cs typeface="Times New Roman"/>
                              </a:rPr>
                              <m:t>𝑊</m:t>
                            </m:r>
                          </m:e>
                          <m:sub>
                            <m:r>
                              <a:rPr lang="en-US" sz="1600" i="1">
                                <a:latin typeface="Times New Roman" panose="02040503050406030204" pitchFamily="18" charset="0"/>
                                <a:ea typeface="SimSun"/>
                                <a:cs typeface="Times New Roman"/>
                              </a:rPr>
                              <m:t>𝑓𝑎𝑛</m:t>
                            </m:r>
                          </m:sub>
                        </m:sSub>
                        <m:r>
                          <a:rPr lang="en-US" sz="1600" i="1">
                            <a:latin typeface="Times New Roman" panose="02040503050406030204" pitchFamily="18" charset="0"/>
                            <a:ea typeface="SimSun"/>
                            <a:cs typeface="Times New Roman"/>
                          </a:rPr>
                          <m:t>+</m:t>
                        </m:r>
                        <m:sSub>
                          <m:sSubPr>
                            <m:ctrlPr>
                              <a:rPr lang="en-US" sz="1600" i="1">
                                <a:latin typeface="Times New Roman" panose="02040503050406030204" pitchFamily="18" charset="0"/>
                                <a:ea typeface="SimSun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Times New Roman" panose="02040503050406030204" pitchFamily="18" charset="0"/>
                                <a:ea typeface="SimSun"/>
                                <a:cs typeface="Times New Roman"/>
                              </a:rPr>
                              <m:t>𝑊</m:t>
                            </m:r>
                          </m:e>
                          <m:sub>
                            <m:r>
                              <a:rPr lang="en-US" sz="1600" i="1">
                                <a:latin typeface="Times New Roman" panose="02040503050406030204" pitchFamily="18" charset="0"/>
                                <a:ea typeface="SimSun"/>
                                <a:cs typeface="Times New Roman"/>
                              </a:rPr>
                              <m:t>𝑝𝑢𝑚𝑝</m:t>
                            </m:r>
                          </m:sub>
                        </m:sSub>
                      </m:den>
                    </m:f>
                  </m:oMath>
                </a14:m>
                <a:endParaRPr lang="en-HK" sz="1600" dirty="0">
                  <a:latin typeface="Times New Roman" panose="020B0604020202020204" pitchFamily="34" charset="0"/>
                  <a:ea typeface="SimSun"/>
                  <a:cs typeface="Times New Roman" panose="020B0604020202020204" pitchFamily="34" charset="0"/>
                </a:endParaRPr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76750317-A2D6-4907-9498-450E08BB72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8015" y="1480628"/>
                <a:ext cx="3624838" cy="3205108"/>
              </a:xfrm>
              <a:prstGeom prst="rect">
                <a:avLst/>
              </a:prstGeom>
              <a:blipFill>
                <a:blip r:embed="rId11"/>
                <a:stretch>
                  <a:fillRect l="-1515" r="-70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  <a:latin typeface="Times New Roman"/>
                    <a:ea typeface="SimSun"/>
                    <a:cs typeface="Times New Roman"/>
                  </a:rPr>
                  <a:t> </a:t>
                </a:r>
              </a:p>
            </p:txBody>
          </p:sp>
        </mc:Fallback>
      </mc:AlternateContent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1309ED2F-F544-47BC-99F1-90A1AA32B9A2}"/>
              </a:ext>
            </a:extLst>
          </p:cNvPr>
          <p:cNvSpPr/>
          <p:nvPr/>
        </p:nvSpPr>
        <p:spPr bwMode="auto">
          <a:xfrm>
            <a:off x="6161185" y="1379460"/>
            <a:ext cx="4483767" cy="5258909"/>
          </a:xfrm>
          <a:prstGeom prst="roundRect">
            <a:avLst/>
          </a:prstGeom>
          <a:noFill/>
          <a:ln>
            <a:solidFill>
              <a:srgbClr val="AF1E3B"/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Times New Roman" charset="0"/>
              <a:ea typeface="SimSun"/>
              <a:cs typeface="Times New Roman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52E01CA-34F4-4696-9F96-5062403B90C1}"/>
              </a:ext>
            </a:extLst>
          </p:cNvPr>
          <p:cNvSpPr/>
          <p:nvPr/>
        </p:nvSpPr>
        <p:spPr bwMode="auto">
          <a:xfrm>
            <a:off x="6684575" y="3572510"/>
            <a:ext cx="507389" cy="332117"/>
          </a:xfrm>
          <a:prstGeom prst="rect">
            <a:avLst/>
          </a:prstGeom>
          <a:solidFill>
            <a:srgbClr val="AF1E3B">
              <a:alpha val="35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Times New Roman" charset="0"/>
              <a:ea typeface="SimSun"/>
              <a:cs typeface="Times New Roman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801FA2E-E0E2-4767-BA62-A384CE395DA4}"/>
              </a:ext>
            </a:extLst>
          </p:cNvPr>
          <p:cNvSpPr/>
          <p:nvPr/>
        </p:nvSpPr>
        <p:spPr bwMode="auto">
          <a:xfrm>
            <a:off x="7260754" y="4408830"/>
            <a:ext cx="507389" cy="332117"/>
          </a:xfrm>
          <a:prstGeom prst="rect">
            <a:avLst/>
          </a:prstGeom>
          <a:solidFill>
            <a:srgbClr val="AF1E3B">
              <a:alpha val="35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Times New Roman" charset="0"/>
              <a:ea typeface="SimSun"/>
              <a:cs typeface="Times New Roman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710880B-9F98-4084-86BF-2923D8B1AE9F}"/>
              </a:ext>
            </a:extLst>
          </p:cNvPr>
          <p:cNvSpPr/>
          <p:nvPr/>
        </p:nvSpPr>
        <p:spPr bwMode="auto">
          <a:xfrm>
            <a:off x="7852006" y="4412333"/>
            <a:ext cx="507389" cy="332117"/>
          </a:xfrm>
          <a:prstGeom prst="rect">
            <a:avLst/>
          </a:prstGeom>
          <a:solidFill>
            <a:srgbClr val="AF1E3B">
              <a:alpha val="35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Times New Roman" charset="0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72385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33"/>
    </mc:Choice>
    <mc:Fallback xmlns="">
      <p:transition spd="slow" advTm="5933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8588B8E-16A1-4E8F-A642-ED148466DEEA}"/>
              </a:ext>
            </a:extLst>
          </p:cNvPr>
          <p:cNvSpPr txBox="1"/>
          <p:nvPr/>
        </p:nvSpPr>
        <p:spPr>
          <a:xfrm>
            <a:off x="1303238" y="1383274"/>
            <a:ext cx="6428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eaLnBrk="1" fontAlgn="auto" hangingPunct="1" algn="l">
              <a:spcBef>
                <a:spcPts val="0"/>
              </a:spcBef>
              <a:spcAft>
                <a:spcPts val="0"/>
              </a:spcAft>
            </a:pPr>
            <a:r>
              <a:rPr lang="en-HK" sz="18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3.5.1</a:t>
            </a:r>
            <a:r>
              <a:rPr lang="en-HK" sz="18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通道内的喷淋密度与润湿性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568EE4D-6AB2-499B-ABF8-7E00C95A3C08}"/>
              </a:ext>
            </a:extLst>
          </p:cNvPr>
          <p:cNvSpPr/>
          <p:nvPr/>
        </p:nvSpPr>
        <p:spPr>
          <a:xfrm>
            <a:off x="1536432" y="1842407"/>
            <a:ext cx="298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defTabSz="457200" eaLnBrk="1" fontAlgn="auto" hangingPunct="1" algn="l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HK" sz="18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喷淋密度修正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B7567DF-D2B5-4E92-83AE-DA5F85BA1736}"/>
              </a:ext>
            </a:extLst>
          </p:cNvPr>
          <p:cNvSpPr/>
          <p:nvPr/>
        </p:nvSpPr>
        <p:spPr>
          <a:xfrm>
            <a:off x="1687913" y="2328195"/>
            <a:ext cx="239200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 eaLnBrk="1" fontAlgn="auto" hangingPunct="1" algn="l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原始喷淋密度：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C2897123-5B2E-44C6-9546-F002E9796C0F}"/>
                  </a:ext>
                </a:extLst>
              </p:cNvPr>
              <p:cNvSpPr/>
              <p:nvPr/>
            </p:nvSpPr>
            <p:spPr>
              <a:xfrm>
                <a:off x="4005559" y="2222442"/>
                <a:ext cx="1308307" cy="5586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457200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1400">
                          <a:solidFill>
                            <a:prstClr val="black"/>
                          </a:solidFill>
                          <a:latin typeface="Times New Roman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Γ</m:t>
                      </m:r>
                      <m:r>
                        <a:rPr lang="en-US" sz="1400">
                          <a:solidFill>
                            <a:prstClr val="black"/>
                          </a:solidFill>
                          <a:latin typeface="Times New Roman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HK" sz="1400" i="1">
                              <a:solidFill>
                                <a:prstClr val="black"/>
                              </a:solidFill>
                              <a:latin typeface="Times New Roman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HK" sz="14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sz="1400" i="1">
                                      <a:solidFill>
                                        <a:prstClr val="black"/>
                                      </a:solidFill>
                                      <a:latin typeface="Times New Roman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400" i="1">
                                      <a:solidFill>
                                        <a:prstClr val="black"/>
                                      </a:solidFill>
                                      <a:latin typeface="Times New Roman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4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ctrlPr>
                                <a:rPr lang="en-US" sz="14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US" sz="1400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+1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14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prstClr val="black"/>
                                  </a:solidFill>
                                  <a:latin typeface="Times New Roman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HK" sz="1400" dirty="0">
                  <a:solidFill>
                    <a:prstClr val="black"/>
                  </a:solidFill>
                  <a:latin typeface="Times New Roman" panose="020F0502020204030204"/>
                  <a:ea typeface="SimSun"/>
                  <a:cs typeface="Times New Roman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C2897123-5B2E-44C6-9546-F002E9796C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5559" y="2222442"/>
                <a:ext cx="1308307" cy="558614"/>
              </a:xfrm>
              <a:prstGeom prst="rect">
                <a:avLst/>
              </a:prstGeom>
              <a:blipFill>
                <a:blip r:embed="rId4"/>
                <a:stretch>
                  <a:fillRect b="-10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  <a:latin typeface="Times New Roman"/>
                    <a:ea typeface="SimSun"/>
                    <a:cs typeface="Times New Roman"/>
                  </a:rPr>
                  <a:t> </a:t>
                </a:r>
              </a:p>
            </p:txBody>
          </p:sp>
        </mc:Fallback>
      </mc:AlternateContent>
      <p:sp>
        <p:nvSpPr>
          <p:cNvPr id="10" name="矩形 9">
            <a:extLst>
              <a:ext uri="{FF2B5EF4-FFF2-40B4-BE49-F238E27FC236}">
                <a16:creationId xmlns:a16="http://schemas.microsoft.com/office/drawing/2014/main" id="{365A11DE-7118-406B-9E8D-65F063DDD022}"/>
              </a:ext>
            </a:extLst>
          </p:cNvPr>
          <p:cNvSpPr/>
          <p:nvPr/>
        </p:nvSpPr>
        <p:spPr>
          <a:xfrm>
            <a:off x="1816589" y="6031469"/>
            <a:ext cx="1473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 eaLnBrk="1" fontAlgn="auto" hangingPunct="1" algn="l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理想工况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5BBD14C-4AD1-4782-A85F-6A33F5323102}"/>
              </a:ext>
            </a:extLst>
          </p:cNvPr>
          <p:cNvSpPr/>
          <p:nvPr/>
        </p:nvSpPr>
        <p:spPr>
          <a:xfrm>
            <a:off x="5355892" y="6031469"/>
            <a:ext cx="16786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 eaLnBrk="1" fontAlgn="auto" hangingPunct="1" algn="l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实际工况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360BD3B8-8AB3-43AF-AD63-7422515FA9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5165" y="2858179"/>
            <a:ext cx="3562356" cy="2048112"/>
          </a:xfrm>
          <a:prstGeom prst="rect">
            <a:avLst/>
          </a:prstGeom>
        </p:spPr>
      </p:pic>
      <p:sp>
        <p:nvSpPr>
          <p:cNvPr id="13" name="椭圆 12">
            <a:extLst>
              <a:ext uri="{FF2B5EF4-FFF2-40B4-BE49-F238E27FC236}">
                <a16:creationId xmlns:a16="http://schemas.microsoft.com/office/drawing/2014/main" id="{2A9E1777-AA53-4FF1-A2B3-EB091B6898E2}"/>
              </a:ext>
            </a:extLst>
          </p:cNvPr>
          <p:cNvSpPr/>
          <p:nvPr/>
        </p:nvSpPr>
        <p:spPr>
          <a:xfrm>
            <a:off x="9003387" y="3617747"/>
            <a:ext cx="262647" cy="340468"/>
          </a:xfrm>
          <a:prstGeom prst="ellipse">
            <a:avLst/>
          </a:prstGeom>
          <a:noFill/>
          <a:ln w="254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Times New Roman"/>
                <a:ea typeface="SimSun"/>
                <a:cs typeface="Times New Roman"/>
              </a:defRPr>
            </a:pPr>
            <a:endParaRPr lang="en-HK" sz="1800" kern="0">
              <a:solidFill>
                <a:prstClr val="white"/>
              </a:solidFill>
              <a:latin typeface="Times New Roman" panose="020F0502020204030204"/>
              <a:ea typeface="SimSun"/>
              <a:cs typeface="Times New Roman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B191E51-CD88-4DD4-A748-84FCFC12D6A3}"/>
              </a:ext>
            </a:extLst>
          </p:cNvPr>
          <p:cNvSpPr/>
          <p:nvPr/>
        </p:nvSpPr>
        <p:spPr>
          <a:xfrm>
            <a:off x="8834234" y="5113545"/>
            <a:ext cx="365490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HK" sz="12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Fig. 3.5.1 </a:t>
            </a:r>
            <a:r>
              <a:rPr lang="en-HK" sz="12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H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eat and mass </a:t>
            </a:r>
            <a:r>
              <a:rPr lang="en-HK" sz="12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transfer of the </a:t>
            </a:r>
          </a:p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HK" sz="12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           secondary air flow channel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395D8DC-FC62-4460-9702-9D690491332B}"/>
              </a:ext>
            </a:extLst>
          </p:cNvPr>
          <p:cNvSpPr txBox="1"/>
          <p:nvPr/>
        </p:nvSpPr>
        <p:spPr>
          <a:xfrm>
            <a:off x="700824" y="1013942"/>
            <a:ext cx="5178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eaLnBrk="1" fontAlgn="auto" hangingPunct="1" algn="l">
              <a:spcBef>
                <a:spcPts val="0"/>
              </a:spcBef>
              <a:spcAft>
                <a:spcPts val="0"/>
              </a:spcAft>
            </a:pPr>
            <a:r>
              <a:rPr lang="en-HK" sz="18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3.5</a:t>
            </a:r>
            <a:r>
              <a:rPr lang="en-HK" sz="18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结果与讨论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2A57EB6-2B08-4E86-ADC5-FFFA37F5E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6034" y="6400801"/>
            <a:ext cx="2844800" cy="365125"/>
          </a:xfrm>
        </p:spPr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15884886-3D85-4AFD-9D94-33E4AF7428DD}" type="slidenum">
              <a:rPr lang="en-US" altLang="zh-CN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21</a:t>
            </a:fld>
            <a:endParaRPr lang="en-US" altLang="zh-CN" dirty="0">
              <a:latin typeface="Times New Roman"/>
              <a:ea typeface="SimSun"/>
              <a:cs typeface="Times New Roman"/>
            </a:endParaRPr>
          </a:p>
        </p:txBody>
      </p:sp>
      <p:sp>
        <p:nvSpPr>
          <p:cNvPr id="19" name="矩形 3">
            <a:extLst>
              <a:ext uri="{FF2B5EF4-FFF2-40B4-BE49-F238E27FC236}">
                <a16:creationId xmlns:a16="http://schemas.microsoft.com/office/drawing/2014/main" id="{E071AB9A-85B9-46D9-AA9C-40C228DBDA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4013" y="-22029"/>
            <a:ext cx="10813218" cy="972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9pPr>
          </a:lstStyle>
          <a:p>
            <a:pPr algn="l">
              <a:lnSpc>
                <a:spcPct val="125000"/>
              </a:lnSpc>
              <a:spcBef>
                <a:spcPct val="20000"/>
              </a:spcBef>
            </a:pPr>
            <a:r>
              <a:rPr lang="en-US" altLang="zh-CN" b="1" dirty="0" sz="1800"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3</a:t>
            </a:r>
            <a:r>
              <a:rPr lang="en-US" altLang="zh-CN" b="1" dirty="0" sz="1800"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. IEC 喷淋分布的 FDM 建模与优化</a:t>
            </a: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3E98F2FE-7A59-425D-B694-FD31049822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latin typeface="Times New Roman"/>
              <a:ea typeface="SimSun"/>
              <a:cs typeface="Times New Roman"/>
            </a:endParaRPr>
          </a:p>
        </p:txBody>
      </p: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8418C967-C800-4B36-B473-179EB88976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" y="2816725"/>
          <a:ext cx="3853356" cy="32149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6" imgW="6384906" imgH="5420971" progId="Origin50.Graph">
                  <p:embed/>
                </p:oleObj>
              </mc:Choice>
              <mc:Fallback>
                <p:oleObj name="Graph" r:id="rId6" imgW="6384906" imgH="5420971" progId="Origin50.Graph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8418C967-C800-4B36-B473-179EB88976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" y="2816725"/>
                        <a:ext cx="3853356" cy="321499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4">
            <a:extLst>
              <a:ext uri="{FF2B5EF4-FFF2-40B4-BE49-F238E27FC236}">
                <a16:creationId xmlns:a16="http://schemas.microsoft.com/office/drawing/2014/main" id="{C6F8DE7B-769F-40B8-8AF9-1F5EE5343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latin typeface="Times New Roman"/>
              <a:ea typeface="SimSun"/>
              <a:cs typeface="Times New Roman"/>
            </a:endParaRPr>
          </a:p>
        </p:txBody>
      </p:sp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AB3C3E67-99AF-4D54-A704-013D219F90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25647" y="2921176"/>
          <a:ext cx="3575327" cy="30739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8" imgW="6107567" imgH="5282235" progId="Origin50.Graph">
                  <p:embed/>
                </p:oleObj>
              </mc:Choice>
              <mc:Fallback>
                <p:oleObj name="Graph" r:id="rId8" imgW="6107567" imgH="5282235" progId="Origin50.Graph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AB3C3E67-99AF-4D54-A704-013D219F90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5647" y="2921176"/>
                        <a:ext cx="3575327" cy="307392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3707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33"/>
    </mc:Choice>
    <mc:Fallback xmlns="">
      <p:transition spd="slow" advTm="5933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C4728E8C-08D8-4CB7-9715-B9B4E0E5F1BE}"/>
              </a:ext>
            </a:extLst>
          </p:cNvPr>
          <p:cNvSpPr/>
          <p:nvPr/>
        </p:nvSpPr>
        <p:spPr>
          <a:xfrm>
            <a:off x="1379078" y="1613225"/>
            <a:ext cx="25314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defTabSz="457200" eaLnBrk="1" fontAlgn="auto" hangingPunct="1" algn="l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HK" sz="18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喷嘴布置方案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37BA7FE-40E9-437E-86AE-9FCD3E8E17D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271" b="61733"/>
          <a:stretch/>
        </p:blipFill>
        <p:spPr bwMode="auto">
          <a:xfrm>
            <a:off x="7293631" y="1306872"/>
            <a:ext cx="1350279" cy="1260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B3668D4-0B59-42BD-A70F-53B540351FC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67" t="53966" r="51931" b="11619"/>
          <a:stretch/>
        </p:blipFill>
        <p:spPr bwMode="auto">
          <a:xfrm>
            <a:off x="8773092" y="1341696"/>
            <a:ext cx="1220023" cy="11448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66920EDB-9D69-4594-A6C5-2AB1453745AA}"/>
                  </a:ext>
                </a:extLst>
              </p:cNvPr>
              <p:cNvSpPr/>
              <p:nvPr/>
            </p:nvSpPr>
            <p:spPr>
              <a:xfrm>
                <a:off x="1705231" y="2018375"/>
                <a:ext cx="5207963" cy="6617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defTabSz="457200" eaLnBrk="1" fontAlgn="auto" hangingPunct="1"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HK" sz="1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SimSun"/>
                    <a:cs typeface="Times New Roman" panose="02020603050405020304" pitchFamily="18" charset="0"/>
                  </a:rPr>
                  <a:t>The size of heat exchanger: 400 mm </a:t>
                </a:r>
                <a14:m>
                  <m:oMath xmlns:m="http://schemas.openxmlformats.org/officeDocument/2006/math">
                    <m:r>
                      <a:rPr lang="en-HK" sz="1600" i="1" smtClean="0">
                        <a:solidFill>
                          <a:prstClr val="black"/>
                        </a:solidFill>
                        <a:latin typeface="Times New Roman" panose="02040503050406030204" pitchFamily="18" charset="0"/>
                        <a:ea typeface="SimSun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HK" sz="1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SimSun"/>
                    <a:cs typeface="Times New Roman" panose="02020603050405020304" pitchFamily="18" charset="0"/>
                  </a:rPr>
                  <a:t> 400 mm</a:t>
                </a:r>
              </a:p>
              <a:p>
                <a:pPr defTabSz="457200" eaLnBrk="1" fontAlgn="auto" hangingPunct="1"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HK" sz="1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SimSun"/>
                    <a:cs typeface="Times New Roman" panose="02020603050405020304" pitchFamily="18" charset="0"/>
                  </a:rPr>
                  <a:t>The height of the nozzle: 300 mm</a:t>
                </a: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66920EDB-9D69-4594-A6C5-2AB1453745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5231" y="2018375"/>
                <a:ext cx="5207963" cy="661720"/>
              </a:xfrm>
              <a:prstGeom prst="rect">
                <a:avLst/>
              </a:prstGeom>
              <a:blipFill>
                <a:blip r:embed="rId6"/>
                <a:stretch>
                  <a:fillRect l="-703" t="-2752" b="-110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  <a:latin typeface="Times New Roman"/>
                    <a:ea typeface="SimSun"/>
                    <a:cs typeface="Times New Roman"/>
                  </a:rPr>
                  <a:t> </a:t>
                </a:r>
              </a:p>
            </p:txBody>
          </p:sp>
        </mc:Fallback>
      </mc:AlternateContent>
      <p:sp>
        <p:nvSpPr>
          <p:cNvPr id="12" name="矩形 11">
            <a:extLst>
              <a:ext uri="{FF2B5EF4-FFF2-40B4-BE49-F238E27FC236}">
                <a16:creationId xmlns:a16="http://schemas.microsoft.com/office/drawing/2014/main" id="{217AF81E-EF44-45C7-A6E4-50B612F2B928}"/>
              </a:ext>
            </a:extLst>
          </p:cNvPr>
          <p:cNvSpPr/>
          <p:nvPr/>
        </p:nvSpPr>
        <p:spPr>
          <a:xfrm>
            <a:off x="2843847" y="6211928"/>
            <a:ext cx="6686365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defTabSz="457200" eaLnBrk="1" fontAlgn="auto" hangingPunct="1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HK" sz="16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最优布置：沿中心线布置，喷嘴间距为 </a:t>
            </a:r>
            <a:r>
              <a:rPr lang="en-HK" sz="16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160 mm</a:t>
            </a:r>
            <a:r>
              <a:rPr lang="en-HK" sz="16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A6EA3F4-D166-469F-8FF3-91A46C8B3E01}"/>
              </a:ext>
            </a:extLst>
          </p:cNvPr>
          <p:cNvSpPr/>
          <p:nvPr/>
        </p:nvSpPr>
        <p:spPr>
          <a:xfrm>
            <a:off x="7439768" y="2483862"/>
            <a:ext cx="249299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defTabSz="457200" eaLnBrk="1" fontAlgn="auto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（a）对角线布置     （b）中心线布置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2D13C86-5010-4DE5-A895-B7F88753292E}"/>
              </a:ext>
            </a:extLst>
          </p:cNvPr>
          <p:cNvSpPr/>
          <p:nvPr/>
        </p:nvSpPr>
        <p:spPr>
          <a:xfrm>
            <a:off x="7439231" y="2750676"/>
            <a:ext cx="305321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HK" sz="12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Fig. 3.5.2 </a:t>
            </a:r>
            <a:r>
              <a:rPr lang="en-HK" sz="12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Nozzle arrangement schemes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EB984EE-A871-407E-B74B-62BB1A4B974C}"/>
              </a:ext>
            </a:extLst>
          </p:cNvPr>
          <p:cNvSpPr/>
          <p:nvPr/>
        </p:nvSpPr>
        <p:spPr>
          <a:xfrm>
            <a:off x="1379078" y="2918498"/>
            <a:ext cx="520796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defTabSz="457200" eaLnBrk="1" fontAlgn="auto" hangingPunct="1" algn="l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HK" sz="16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喷嘴间距对喷淋分布的影响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301A508-1B3D-4F15-BBC8-D01E9083B3E9}"/>
              </a:ext>
            </a:extLst>
          </p:cNvPr>
          <p:cNvSpPr/>
          <p:nvPr/>
        </p:nvSpPr>
        <p:spPr>
          <a:xfrm>
            <a:off x="2843847" y="6473538"/>
            <a:ext cx="625353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defTabSz="457200" eaLnBrk="1" fontAlgn="auto" hangingPunct="1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HK" sz="16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均匀性系数为 </a:t>
            </a:r>
            <a:r>
              <a:rPr lang="en-HK" sz="16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0.74</a:t>
            </a:r>
            <a:r>
              <a:rPr lang="en-HK" sz="16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，覆盖率为 </a:t>
            </a:r>
            <a:r>
              <a:rPr lang="en-HK" sz="16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0.72</a:t>
            </a:r>
            <a:r>
              <a:rPr lang="en-HK" sz="16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14657C8-4033-4177-ABD4-A0D3FE4B9D19}"/>
              </a:ext>
            </a:extLst>
          </p:cNvPr>
          <p:cNvSpPr txBox="1"/>
          <p:nvPr/>
        </p:nvSpPr>
        <p:spPr>
          <a:xfrm>
            <a:off x="1065607" y="1237378"/>
            <a:ext cx="3334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eaLnBrk="1" fontAlgn="auto" hangingPunct="1" algn="l">
              <a:spcBef>
                <a:spcPts val="0"/>
              </a:spcBef>
              <a:spcAft>
                <a:spcPts val="0"/>
              </a:spcAft>
            </a:pPr>
            <a:r>
              <a:rPr lang="en-HK" sz="18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3.5.2</a:t>
            </a:r>
            <a:r>
              <a:rPr lang="en-HK" sz="18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多喷嘴喷淋结果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9D30361-7369-46DA-9620-49D6A90A8091}"/>
              </a:ext>
            </a:extLst>
          </p:cNvPr>
          <p:cNvSpPr/>
          <p:nvPr/>
        </p:nvSpPr>
        <p:spPr>
          <a:xfrm>
            <a:off x="678164" y="937740"/>
            <a:ext cx="2826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 eaLnBrk="1" fontAlgn="auto" hangingPunct="1" algn="l">
              <a:spcBef>
                <a:spcPts val="0"/>
              </a:spcBef>
              <a:spcAft>
                <a:spcPts val="0"/>
              </a:spcAft>
            </a:pPr>
            <a:r>
              <a:rPr lang="en-HK" sz="18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3.5</a:t>
            </a:r>
            <a:r>
              <a:rPr lang="en-HK" sz="18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结果与讨论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D0E81DE-025E-4176-B7F5-E905DD8D3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15884886-3D85-4AFD-9D94-33E4AF7428DD}" type="slidenum">
              <a:rPr lang="en-US" altLang="zh-CN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22</a:t>
            </a:fld>
            <a:endParaRPr lang="en-US" altLang="zh-CN">
              <a:latin typeface="Times New Roman"/>
              <a:ea typeface="SimSun"/>
              <a:cs typeface="Times New Roman"/>
            </a:endParaRPr>
          </a:p>
        </p:txBody>
      </p:sp>
      <p:sp>
        <p:nvSpPr>
          <p:cNvPr id="22" name="矩形 3">
            <a:extLst>
              <a:ext uri="{FF2B5EF4-FFF2-40B4-BE49-F238E27FC236}">
                <a16:creationId xmlns:a16="http://schemas.microsoft.com/office/drawing/2014/main" id="{981081A4-17ED-47E5-A92D-C74F08ECE1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4013" y="-22029"/>
            <a:ext cx="10813218" cy="972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9pPr>
          </a:lstStyle>
          <a:p>
            <a:pPr algn="l">
              <a:lnSpc>
                <a:spcPct val="125000"/>
              </a:lnSpc>
              <a:spcBef>
                <a:spcPct val="20000"/>
              </a:spcBef>
            </a:pPr>
            <a:r>
              <a:rPr lang="en-US" altLang="zh-CN" b="1" dirty="0" sz="1800"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3</a:t>
            </a:r>
            <a:r>
              <a:rPr lang="en-US" altLang="zh-CN" b="1" dirty="0" sz="1800"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. IEC 喷淋分布的 FDM 建模与优化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CC0698A-1A8C-401D-B546-403765FDA322}"/>
              </a:ext>
            </a:extLst>
          </p:cNvPr>
          <p:cNvSpPr/>
          <p:nvPr/>
        </p:nvSpPr>
        <p:spPr>
          <a:xfrm>
            <a:off x="1480323" y="3263712"/>
            <a:ext cx="232897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defTabSz="457200" eaLnBrk="1" fontAlgn="auto" hangingPunct="1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HK" sz="16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均匀性系数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37078DB-BEBA-4BBB-9C0C-BCF534FD04C8}"/>
              </a:ext>
            </a:extLst>
          </p:cNvPr>
          <p:cNvSpPr/>
          <p:nvPr/>
        </p:nvSpPr>
        <p:spPr>
          <a:xfrm>
            <a:off x="6169541" y="3263712"/>
            <a:ext cx="168988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defTabSz="457200" eaLnBrk="1" fontAlgn="auto" hangingPunct="1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HK" sz="16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覆盖率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2B9D44-92C7-447B-AF2B-A48FAA6CB0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3577" y="354656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latin typeface="Times New Roman"/>
              <a:ea typeface="SimSun"/>
              <a:cs typeface="Times New Roman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C33FC933-619B-4D13-82B7-349F555167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7168674"/>
              </p:ext>
            </p:extLst>
          </p:nvPr>
        </p:nvGraphicFramePr>
        <p:xfrm>
          <a:off x="1705231" y="3468228"/>
          <a:ext cx="3319131" cy="2806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7" imgW="6107567" imgH="5143222" progId="Origin95.Graph">
                  <p:embed/>
                </p:oleObj>
              </mc:Choice>
              <mc:Fallback>
                <p:oleObj name="Graph" r:id="rId7" imgW="6107567" imgH="5143222" progId="Origin95.Graph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5231" y="3468228"/>
                        <a:ext cx="3319131" cy="280609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5317BF5D-9588-451C-9B65-3388997C09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3102" y="34722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latin typeface="Times New Roman"/>
              <a:ea typeface="SimSun"/>
              <a:cs typeface="Times New Roman"/>
            </a:endParaRP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CF63ED6A-DA18-48B6-B902-078F7E027B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7146516"/>
              </p:ext>
            </p:extLst>
          </p:nvPr>
        </p:nvGraphicFramePr>
        <p:xfrm>
          <a:off x="6503102" y="3472210"/>
          <a:ext cx="3319131" cy="28337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9" imgW="6107567" imgH="5282235" progId="Origin95.Graph">
                  <p:embed/>
                </p:oleObj>
              </mc:Choice>
              <mc:Fallback>
                <p:oleObj name="Graph" r:id="rId9" imgW="6107567" imgH="5282235" progId="Origin95.Graph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3102" y="3472210"/>
                        <a:ext cx="3319131" cy="283372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1986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33"/>
    </mc:Choice>
    <mc:Fallback xmlns="">
      <p:transition spd="slow" advTm="5933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26B9BE8-4BC3-4600-8861-5919840325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2080" y="3217800"/>
            <a:ext cx="3479308" cy="2698239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B57CA2B8-CD4D-4BC2-BDAF-DB95580D22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0142" y="3217801"/>
            <a:ext cx="3459780" cy="272819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C4728E8C-08D8-4CB7-9715-B9B4E0E5F1BE}"/>
              </a:ext>
            </a:extLst>
          </p:cNvPr>
          <p:cNvSpPr/>
          <p:nvPr/>
        </p:nvSpPr>
        <p:spPr>
          <a:xfrm>
            <a:off x="1435864" y="1629369"/>
            <a:ext cx="32047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defTabSz="457200" eaLnBrk="1" fontAlgn="auto" hangingPunct="1" algn="l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HK" sz="18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原始布置方案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17AF81E-EF44-45C7-A6E4-50B612F2B928}"/>
              </a:ext>
            </a:extLst>
          </p:cNvPr>
          <p:cNvSpPr/>
          <p:nvPr/>
        </p:nvSpPr>
        <p:spPr>
          <a:xfrm>
            <a:off x="2427633" y="6163669"/>
            <a:ext cx="287183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defTabSz="457200" eaLnBrk="1" fontAlgn="auto" hangingPunct="1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HK" sz="16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润湿系数：</a:t>
            </a:r>
            <a:r>
              <a:rPr lang="en-HK" sz="16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0.48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2D13C86-5010-4DE5-A895-B7F88753292E}"/>
              </a:ext>
            </a:extLst>
          </p:cNvPr>
          <p:cNvSpPr/>
          <p:nvPr/>
        </p:nvSpPr>
        <p:spPr>
          <a:xfrm>
            <a:off x="2324250" y="5886670"/>
            <a:ext cx="277156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HK" sz="12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Fig. 3.5.3 </a:t>
            </a:r>
            <a:r>
              <a:rPr lang="en-HK" sz="12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Original arrangement scheme 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14657C8-4033-4177-ABD4-A0D3FE4B9D19}"/>
              </a:ext>
            </a:extLst>
          </p:cNvPr>
          <p:cNvSpPr txBox="1"/>
          <p:nvPr/>
        </p:nvSpPr>
        <p:spPr>
          <a:xfrm>
            <a:off x="1058107" y="1273605"/>
            <a:ext cx="6867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eaLnBrk="1" fontAlgn="auto" hangingPunct="1" algn="l">
              <a:spcBef>
                <a:spcPts val="0"/>
              </a:spcBef>
              <a:spcAft>
                <a:spcPts val="0"/>
              </a:spcAft>
            </a:pPr>
            <a:r>
              <a:rPr lang="en-HK" sz="18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3.5.3</a:t>
            </a:r>
            <a:r>
              <a:rPr lang="en-HK" sz="18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原始与优化布置方案对比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281A0B71-939A-459F-9895-FE0BD0F58189}"/>
              </a:ext>
            </a:extLst>
          </p:cNvPr>
          <p:cNvPicPr/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313"/>
          <a:stretch/>
        </p:blipFill>
        <p:spPr bwMode="auto">
          <a:xfrm>
            <a:off x="2572719" y="2060102"/>
            <a:ext cx="1440000" cy="126345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5E5CFAC3-E335-4901-BB86-4EFB9FB40F8A}"/>
              </a:ext>
            </a:extLst>
          </p:cNvPr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1763" y="2030867"/>
            <a:ext cx="1263600" cy="1263600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FBE49DA3-3150-407A-A87B-4E36686596FE}"/>
              </a:ext>
            </a:extLst>
          </p:cNvPr>
          <p:cNvSpPr/>
          <p:nvPr/>
        </p:nvSpPr>
        <p:spPr>
          <a:xfrm>
            <a:off x="7092086" y="5916039"/>
            <a:ext cx="277156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HK" sz="12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Fig. 3.5.4 </a:t>
            </a:r>
            <a:r>
              <a:rPr lang="en-HK" sz="12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Optimized arrangement scheme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5CD633F-5A8D-486B-8716-9D8B8A5261DB}"/>
              </a:ext>
            </a:extLst>
          </p:cNvPr>
          <p:cNvSpPr/>
          <p:nvPr/>
        </p:nvSpPr>
        <p:spPr>
          <a:xfrm>
            <a:off x="6064560" y="1612079"/>
            <a:ext cx="34676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defTabSz="457200" eaLnBrk="1" fontAlgn="auto" hangingPunct="1" algn="l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HK" sz="18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优化布置方案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4976721-7031-423F-B9FF-99CFDAE48F29}"/>
              </a:ext>
            </a:extLst>
          </p:cNvPr>
          <p:cNvSpPr/>
          <p:nvPr/>
        </p:nvSpPr>
        <p:spPr>
          <a:xfrm>
            <a:off x="6983368" y="6204889"/>
            <a:ext cx="269781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defTabSz="457200" eaLnBrk="1" fontAlgn="auto" hangingPunct="1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HK" sz="16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润湿系数：</a:t>
            </a:r>
            <a:r>
              <a:rPr lang="en-HK" sz="16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0.89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6F1B659-8693-4A46-8667-A91895DF15EA}"/>
              </a:ext>
            </a:extLst>
          </p:cNvPr>
          <p:cNvSpPr/>
          <p:nvPr/>
        </p:nvSpPr>
        <p:spPr>
          <a:xfrm>
            <a:off x="9316256" y="6214031"/>
            <a:ext cx="7298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HK" sz="1800" b="1" dirty="0">
                <a:solidFill>
                  <a:srgbClr val="A3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46% </a:t>
            </a:r>
          </a:p>
        </p:txBody>
      </p:sp>
      <p:sp>
        <p:nvSpPr>
          <p:cNvPr id="9" name="箭头: 上 8">
            <a:extLst>
              <a:ext uri="{FF2B5EF4-FFF2-40B4-BE49-F238E27FC236}">
                <a16:creationId xmlns:a16="http://schemas.microsoft.com/office/drawing/2014/main" id="{EF3D36B4-A021-41F9-8941-CBE13AB75163}"/>
              </a:ext>
            </a:extLst>
          </p:cNvPr>
          <p:cNvSpPr/>
          <p:nvPr/>
        </p:nvSpPr>
        <p:spPr bwMode="auto">
          <a:xfrm>
            <a:off x="9902198" y="6193037"/>
            <a:ext cx="177222" cy="338554"/>
          </a:xfrm>
          <a:prstGeom prst="upArrow">
            <a:avLst/>
          </a:prstGeom>
          <a:solidFill>
            <a:srgbClr val="A30000"/>
          </a:solidFill>
          <a:ln w="9525" cap="flat" cmpd="sng" algn="ctr">
            <a:solidFill>
              <a:srgbClr val="A3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endParaRPr lang="en-HK" sz="3200">
              <a:solidFill>
                <a:schemeClr val="bg2"/>
              </a:solidFill>
              <a:latin typeface="Times New Roman" charset="0"/>
              <a:ea typeface="SimSun"/>
              <a:cs typeface="Times New Roman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1CD1251-FE7E-4EFB-8C00-DEB270DB1448}"/>
              </a:ext>
            </a:extLst>
          </p:cNvPr>
          <p:cNvSpPr/>
          <p:nvPr/>
        </p:nvSpPr>
        <p:spPr>
          <a:xfrm>
            <a:off x="818163" y="962422"/>
            <a:ext cx="2826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 eaLnBrk="1" fontAlgn="auto" hangingPunct="1" algn="l">
              <a:spcBef>
                <a:spcPts val="0"/>
              </a:spcBef>
              <a:spcAft>
                <a:spcPts val="0"/>
              </a:spcAft>
            </a:pPr>
            <a:r>
              <a:rPr lang="en-HK" sz="18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3.5</a:t>
            </a:r>
            <a:r>
              <a:rPr lang="en-HK" sz="18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结果与讨论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6143030-507C-45D8-AC60-1D4012360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15884886-3D85-4AFD-9D94-33E4AF7428DD}" type="slidenum">
              <a:rPr lang="en-US" altLang="zh-CN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23</a:t>
            </a:fld>
            <a:endParaRPr lang="en-US" altLang="zh-CN" dirty="0">
              <a:latin typeface="Times New Roman"/>
              <a:ea typeface="SimSun"/>
              <a:cs typeface="Times New Roman"/>
            </a:endParaRPr>
          </a:p>
        </p:txBody>
      </p:sp>
      <p:sp>
        <p:nvSpPr>
          <p:cNvPr id="24" name="矩形 3">
            <a:extLst>
              <a:ext uri="{FF2B5EF4-FFF2-40B4-BE49-F238E27FC236}">
                <a16:creationId xmlns:a16="http://schemas.microsoft.com/office/drawing/2014/main" id="{C07D2443-0D14-467B-999C-206A4DCAB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4013" y="-22029"/>
            <a:ext cx="10813218" cy="972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9pPr>
          </a:lstStyle>
          <a:p>
            <a:pPr algn="l">
              <a:lnSpc>
                <a:spcPct val="125000"/>
              </a:lnSpc>
              <a:spcBef>
                <a:spcPct val="20000"/>
              </a:spcBef>
            </a:pPr>
            <a:r>
              <a:rPr lang="en-US" altLang="zh-CN" b="1" dirty="0" sz="1800"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3</a:t>
            </a:r>
            <a:r>
              <a:rPr lang="en-US" altLang="zh-CN" b="1" dirty="0" sz="1800"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. IEC 喷淋分布的 FDM 建模与优化</a:t>
            </a:r>
          </a:p>
        </p:txBody>
      </p:sp>
    </p:spTree>
    <p:extLst>
      <p:ext uri="{BB962C8B-B14F-4D97-AF65-F5344CB8AC3E}">
        <p14:creationId xmlns:p14="http://schemas.microsoft.com/office/powerpoint/2010/main" val="3533055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33"/>
    </mc:Choice>
    <mc:Fallback xmlns="">
      <p:transition spd="slow" advTm="5933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:a16="http://schemas.microsoft.com/office/drawing/2014/main" id="{4F42FD25-23FF-473E-BC8E-550852925D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2730" y="4799818"/>
            <a:ext cx="403860" cy="39624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995D16E1-70DB-46F2-9239-1ADC3F96D9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5091" y="4922138"/>
            <a:ext cx="403860" cy="396240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34568366-1EBB-4BEA-9843-705BF866DA92}"/>
              </a:ext>
            </a:extLst>
          </p:cNvPr>
          <p:cNvSpPr/>
          <p:nvPr/>
        </p:nvSpPr>
        <p:spPr>
          <a:xfrm>
            <a:off x="2106611" y="5091438"/>
            <a:ext cx="37326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HK" sz="12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Fig. 3.5.5 </a:t>
            </a:r>
            <a:r>
              <a:rPr lang="en-HK" sz="12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Average value of the dehumidification rate </a:t>
            </a:r>
          </a:p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endParaRPr lang="en-HK" sz="1200" dirty="0">
              <a:solidFill>
                <a:prstClr val="black"/>
              </a:solidFill>
              <a:latin typeface="Times New Roman" panose="020B0604020202020204" pitchFamily="34" charset="0"/>
              <a:ea typeface="SimSun"/>
              <a:cs typeface="Times New Roman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EC4E648-8DBF-4B25-87C4-3AFDBCA0FCF7}"/>
              </a:ext>
            </a:extLst>
          </p:cNvPr>
          <p:cNvSpPr/>
          <p:nvPr/>
        </p:nvSpPr>
        <p:spPr>
          <a:xfrm>
            <a:off x="7161255" y="4714833"/>
            <a:ext cx="479206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HK" sz="12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Fig. 15 </a:t>
            </a:r>
            <a:r>
              <a:rPr lang="en-HK" sz="12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Average value of COP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3B165FD-229B-457C-BFBB-10E12C3FB96D}"/>
              </a:ext>
            </a:extLst>
          </p:cNvPr>
          <p:cNvSpPr/>
          <p:nvPr/>
        </p:nvSpPr>
        <p:spPr>
          <a:xfrm>
            <a:off x="2371700" y="5553103"/>
            <a:ext cx="7421361" cy="723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HK" sz="18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除湿率提高 </a:t>
            </a:r>
            <a:r>
              <a:rPr lang="en-HK" sz="18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5.85%</a:t>
            </a:r>
            <a:r>
              <a:rPr lang="en-HK" sz="18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。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HK" sz="18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性能系数（COP）提高 </a:t>
            </a:r>
            <a:r>
              <a:rPr lang="en-HK" sz="18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16%</a:t>
            </a:r>
            <a:r>
              <a:rPr lang="en-HK" sz="18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631AB29-848B-4391-9135-3AB5EB159ED0}"/>
              </a:ext>
            </a:extLst>
          </p:cNvPr>
          <p:cNvSpPr txBox="1"/>
          <p:nvPr/>
        </p:nvSpPr>
        <p:spPr>
          <a:xfrm>
            <a:off x="1149560" y="1325037"/>
            <a:ext cx="6867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eaLnBrk="1" fontAlgn="auto" hangingPunct="1" algn="l">
              <a:spcBef>
                <a:spcPts val="0"/>
              </a:spcBef>
              <a:spcAft>
                <a:spcPts val="0"/>
              </a:spcAft>
            </a:pPr>
            <a:r>
              <a:rPr lang="en-HK" sz="18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3.5.4</a:t>
            </a:r>
            <a:r>
              <a:rPr lang="en-HK" sz="18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优化喷嘴布置带来的性能提升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28488B4-BF20-401B-A0CC-A9F331195E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594" y="2113065"/>
            <a:ext cx="3467198" cy="2905163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AA5372B4-9714-4EE0-8851-F064274F08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4815" y="2227872"/>
            <a:ext cx="3299746" cy="2888230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7A1E5716-2774-4AB8-BE52-30382057EF8E}"/>
              </a:ext>
            </a:extLst>
          </p:cNvPr>
          <p:cNvSpPr/>
          <p:nvPr/>
        </p:nvSpPr>
        <p:spPr>
          <a:xfrm>
            <a:off x="1462689" y="1769935"/>
            <a:ext cx="24288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defTabSz="457200" eaLnBrk="1" fontAlgn="auto" hangingPunct="1" algn="l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HK" sz="18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除湿性能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58F90EF-8332-4CF8-9B57-86FE30E52EB6}"/>
              </a:ext>
            </a:extLst>
          </p:cNvPr>
          <p:cNvSpPr/>
          <p:nvPr/>
        </p:nvSpPr>
        <p:spPr>
          <a:xfrm>
            <a:off x="6167022" y="1800039"/>
            <a:ext cx="18496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defTabSz="457200" eaLnBrk="1" fontAlgn="auto" hangingPunct="1" algn="l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HK" sz="18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性能系数（COP）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4822A32-C550-4CE8-AF40-174A09E39595}"/>
              </a:ext>
            </a:extLst>
          </p:cNvPr>
          <p:cNvSpPr/>
          <p:nvPr/>
        </p:nvSpPr>
        <p:spPr>
          <a:xfrm>
            <a:off x="844778" y="937187"/>
            <a:ext cx="2826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 eaLnBrk="1" fontAlgn="auto" hangingPunct="1" algn="l">
              <a:spcBef>
                <a:spcPts val="0"/>
              </a:spcBef>
              <a:spcAft>
                <a:spcPts val="0"/>
              </a:spcAft>
            </a:pPr>
            <a:r>
              <a:rPr lang="en-HK" sz="18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3.5</a:t>
            </a:r>
            <a:r>
              <a:rPr lang="en-HK" sz="18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结果与讨论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76FC50E-68FC-43B7-BAE5-7142E3986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15884886-3D85-4AFD-9D94-33E4AF7428DD}" type="slidenum">
              <a:rPr lang="en-US" altLang="zh-CN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24</a:t>
            </a:fld>
            <a:endParaRPr lang="en-US" altLang="zh-CN">
              <a:latin typeface="Times New Roman"/>
              <a:ea typeface="SimSun"/>
              <a:cs typeface="Times New Roman"/>
            </a:endParaRPr>
          </a:p>
        </p:txBody>
      </p:sp>
      <p:sp>
        <p:nvSpPr>
          <p:cNvPr id="24" name="矩形 3">
            <a:extLst>
              <a:ext uri="{FF2B5EF4-FFF2-40B4-BE49-F238E27FC236}">
                <a16:creationId xmlns:a16="http://schemas.microsoft.com/office/drawing/2014/main" id="{6B8E4C10-AE51-44EF-BFD9-04B2F744F4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4013" y="-22029"/>
            <a:ext cx="10813218" cy="972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9pPr>
          </a:lstStyle>
          <a:p>
            <a:pPr algn="l">
              <a:lnSpc>
                <a:spcPct val="125000"/>
              </a:lnSpc>
              <a:spcBef>
                <a:spcPct val="20000"/>
              </a:spcBef>
            </a:pPr>
            <a:r>
              <a:rPr lang="en-US" altLang="zh-CN" b="1" dirty="0" sz="1800"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3</a:t>
            </a:r>
            <a:r>
              <a:rPr lang="en-US" altLang="zh-CN" b="1" dirty="0" sz="1800"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. IEC 喷淋分布的 FDM 建模与优化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786030D-C7EA-4D06-9765-8B90B1BDE786}"/>
              </a:ext>
            </a:extLst>
          </p:cNvPr>
          <p:cNvSpPr/>
          <p:nvPr/>
        </p:nvSpPr>
        <p:spPr>
          <a:xfrm>
            <a:off x="7091826" y="5118044"/>
            <a:ext cx="37326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HK" sz="12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Fig. 3.5.6 </a:t>
            </a:r>
            <a:r>
              <a:rPr lang="en-HK" sz="12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Average value of the COP</a:t>
            </a:r>
          </a:p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endParaRPr lang="en-HK" sz="1200" dirty="0">
              <a:solidFill>
                <a:prstClr val="black"/>
              </a:solidFill>
              <a:latin typeface="Times New Roman" panose="020B0604020202020204" pitchFamily="34" charset="0"/>
              <a:ea typeface="SimSun"/>
              <a:cs typeface="Times New Roman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48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33"/>
    </mc:Choice>
    <mc:Fallback xmlns="">
      <p:transition spd="slow" advTm="5933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B57B5CD-351B-409C-8419-7945124A5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15884886-3D85-4AFD-9D94-33E4AF7428DD}" type="slidenum">
              <a:rPr lang="en-US" altLang="zh-CN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25</a:t>
            </a:fld>
            <a:endParaRPr lang="en-US" altLang="zh-CN">
              <a:latin typeface="Times New Roman"/>
              <a:ea typeface="SimSun"/>
              <a:cs typeface="Times New Roman"/>
            </a:endParaRPr>
          </a:p>
        </p:txBody>
      </p:sp>
      <p:sp>
        <p:nvSpPr>
          <p:cNvPr id="8" name="矩形 3">
            <a:extLst>
              <a:ext uri="{FF2B5EF4-FFF2-40B4-BE49-F238E27FC236}">
                <a16:creationId xmlns:a16="http://schemas.microsoft.com/office/drawing/2014/main" id="{D9741B7C-1F8F-4EC9-933F-469EF3EF71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76201"/>
            <a:ext cx="2687638" cy="580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9pPr>
          </a:lstStyle>
          <a:p>
            <a:pPr algn="l">
              <a:lnSpc>
                <a:spcPct val="125000"/>
              </a:lnSpc>
              <a:spcBef>
                <a:spcPct val="20000"/>
              </a:spcBef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汇报提纲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A9CC545-9F15-455E-BB97-2733665CD8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3372" y="1058230"/>
            <a:ext cx="10777490" cy="5418675"/>
          </a:xfrm>
        </p:spPr>
        <p:txBody>
          <a:bodyPr/>
          <a:lstStyle/>
          <a:p>
            <a:pPr marL="457200" indent="-457200" algn="l">
              <a:lnSpc>
                <a:spcPts val="3500"/>
              </a:lnSpc>
              <a:spcBef>
                <a:spcPts val="600"/>
              </a:spcBef>
              <a:spcAft>
                <a:spcPts val="800"/>
              </a:spcAft>
              <a:buAutoNum type="arabicPeriod"/>
            </a:pPr>
            <a:r>
              <a:rPr lang="en-HK" sz="2400" b="1" dirty="0">
                <a:solidFill>
                  <a:schemeClr val="tx1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研究背景与文献综述</a:t>
            </a:r>
          </a:p>
          <a:p>
            <a:pPr marL="457200" indent="-457200" algn="l">
              <a:lnSpc>
                <a:spcPts val="3500"/>
              </a:lnSpc>
              <a:spcBef>
                <a:spcPts val="600"/>
              </a:spcBef>
              <a:spcAft>
                <a:spcPts val="800"/>
              </a:spcAft>
              <a:buAutoNum type="arabicPeriod"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研究不足与研究目标</a:t>
            </a:r>
          </a:p>
          <a:p>
            <a:pPr marL="457200" indent="-457200" algn="l">
              <a:lnSpc>
                <a:spcPts val="3500"/>
              </a:lnSpc>
              <a:spcBef>
                <a:spcPts val="600"/>
              </a:spcBef>
              <a:spcAft>
                <a:spcPts val="800"/>
              </a:spcAft>
              <a:buAutoNum type="arabicPeriod"/>
            </a:pPr>
            <a:r>
              <a:rPr lang="en-HK" sz="2400" b="1" dirty="0">
                <a:solidFill>
                  <a:schemeClr val="tx1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IEC 喷淋分布的 FDM 建模与优化</a:t>
            </a:r>
          </a:p>
          <a:p>
            <a:pPr marL="457200" indent="-457200" algn="l">
              <a:lnSpc>
                <a:spcPts val="3500"/>
              </a:lnSpc>
              <a:spcBef>
                <a:spcPts val="600"/>
              </a:spcBef>
              <a:spcAft>
                <a:spcPts val="800"/>
              </a:spcAft>
              <a:buAutoNum type="arabicPeriod"/>
            </a:pPr>
            <a:r>
              <a:rPr lang="en-HK" sz="2400" b="1" dirty="0">
                <a:solidFill>
                  <a:srgbClr val="C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考虑水膜形成的 IEC 三维 CFD 分析</a:t>
            </a:r>
          </a:p>
          <a:p>
            <a:pPr marL="457200" indent="-457200" algn="l">
              <a:lnSpc>
                <a:spcPts val="3500"/>
              </a:lnSpc>
              <a:spcBef>
                <a:spcPts val="600"/>
              </a:spcBef>
              <a:spcAft>
                <a:spcPts val="800"/>
              </a:spcAft>
              <a:buAutoNum type="arabicPeriod"/>
            </a:pPr>
            <a:r>
              <a:rPr lang="en-HK" sz="2400" b="1" dirty="0">
                <a:solidFill>
                  <a:schemeClr val="tx1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基于 ANN 与遗传算法的喷淋策略优化</a:t>
            </a:r>
          </a:p>
          <a:p>
            <a:pPr marL="457200" indent="-457200" algn="l">
              <a:lnSpc>
                <a:spcPts val="3500"/>
              </a:lnSpc>
              <a:spcBef>
                <a:spcPts val="600"/>
              </a:spcBef>
              <a:spcAft>
                <a:spcPts val="800"/>
              </a:spcAft>
              <a:buAutoNum type="arabicPeriod"/>
            </a:pPr>
            <a:r>
              <a:rPr lang="en-HK" sz="2400" b="1" dirty="0">
                <a:solidFill>
                  <a:schemeClr val="tx1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数据中心 IEC 的喷嘴优化与性能强化</a:t>
            </a:r>
          </a:p>
          <a:p>
            <a:pPr marL="457200" indent="-457200" algn="l">
              <a:lnSpc>
                <a:spcPts val="3500"/>
              </a:lnSpc>
              <a:spcBef>
                <a:spcPts val="600"/>
              </a:spcBef>
              <a:spcAft>
                <a:spcPts val="800"/>
              </a:spcAft>
              <a:buAutoNum type="arabicPeriod"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研究结论与未来展望</a:t>
            </a:r>
          </a:p>
        </p:txBody>
      </p:sp>
    </p:spTree>
    <p:extLst>
      <p:ext uri="{BB962C8B-B14F-4D97-AF65-F5344CB8AC3E}">
        <p14:creationId xmlns:p14="http://schemas.microsoft.com/office/powerpoint/2010/main" val="2462976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33"/>
    </mc:Choice>
    <mc:Fallback xmlns="">
      <p:transition spd="slow" advTm="5933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7CB8AF9-DC9E-4161-A939-0CC3373708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546" y="1980471"/>
            <a:ext cx="2729792" cy="479695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A1864603-06F1-4AE8-965F-BFE9A824EEBF}"/>
              </a:ext>
            </a:extLst>
          </p:cNvPr>
          <p:cNvSpPr/>
          <p:nvPr/>
        </p:nvSpPr>
        <p:spPr>
          <a:xfrm>
            <a:off x="257319" y="1019422"/>
            <a:ext cx="32880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 eaLnBrk="1" fontAlgn="auto" hangingPunct="1" algn="l">
              <a:spcBef>
                <a:spcPts val="0"/>
              </a:spcBef>
              <a:spcAft>
                <a:spcPts val="0"/>
              </a:spcAft>
            </a:pPr>
            <a:r>
              <a:rPr lang="en-HK" sz="18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4.1</a:t>
            </a:r>
            <a:r>
              <a:rPr lang="en-HK" sz="18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模型描述（ANSYS）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E844E5D-FE2B-4D13-BD02-DAE1F502F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33742" y="6412296"/>
            <a:ext cx="2844800" cy="365125"/>
          </a:xfrm>
        </p:spPr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15884886-3D85-4AFD-9D94-33E4AF7428DD}" type="slidenum">
              <a:rPr lang="en-US" altLang="zh-CN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26</a:t>
            </a:fld>
            <a:endParaRPr lang="en-US" altLang="zh-CN">
              <a:latin typeface="Times New Roman"/>
              <a:ea typeface="SimSun"/>
              <a:cs typeface="Times New Roman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E9CAB4BB-262F-45A3-879E-41998BBBE8E4}"/>
              </a:ext>
            </a:extLst>
          </p:cNvPr>
          <p:cNvSpPr/>
          <p:nvPr/>
        </p:nvSpPr>
        <p:spPr bwMode="auto">
          <a:xfrm>
            <a:off x="9964977" y="5710159"/>
            <a:ext cx="943493" cy="894178"/>
          </a:xfrm>
          <a:prstGeom prst="ellipse">
            <a:avLst/>
          </a:prstGeom>
          <a:ln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endParaRPr lang="en-HK" sz="3200" dirty="0">
              <a:solidFill>
                <a:srgbClr val="A60626"/>
              </a:solidFill>
              <a:latin typeface="Times New Roman" charset="0"/>
              <a:ea typeface="SimSun"/>
              <a:cs typeface="Times New Roman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22598D-9535-4E3E-A25D-BA28755CF18D}"/>
              </a:ext>
            </a:extLst>
          </p:cNvPr>
          <p:cNvSpPr/>
          <p:nvPr/>
        </p:nvSpPr>
        <p:spPr>
          <a:xfrm>
            <a:off x="4265583" y="5778563"/>
            <a:ext cx="315701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HK" sz="1200" b="1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Fig.4.1.2 </a:t>
            </a:r>
            <a:r>
              <a:rPr lang="en-HK" sz="12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Configuration of an IEC system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BE9E6F9-F6C2-4EFA-A99F-C75EA8A46D72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8839" y="2157644"/>
            <a:ext cx="3483145" cy="2999479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9E61F4F3-7295-48C8-8C55-DD777A473AEF}"/>
              </a:ext>
            </a:extLst>
          </p:cNvPr>
          <p:cNvSpPr/>
          <p:nvPr/>
        </p:nvSpPr>
        <p:spPr>
          <a:xfrm>
            <a:off x="7705457" y="5251685"/>
            <a:ext cx="479206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HK" sz="1200" b="1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Fig.4.1.3 </a:t>
            </a:r>
            <a:r>
              <a:rPr lang="en-HK" sz="12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Geometry used in volumetric flux distribution model</a:t>
            </a:r>
            <a:endParaRPr lang="en-HK" sz="1200" dirty="0">
              <a:latin typeface="Times New Roman" panose="020B0604020202020204" pitchFamily="34" charset="0"/>
              <a:ea typeface="SimSun"/>
              <a:cs typeface="Times New Roman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4CC4EC12-D2E2-4BFE-80BA-21509A6B70CA}"/>
                  </a:ext>
                </a:extLst>
              </p:cNvPr>
              <p:cNvSpPr/>
              <p:nvPr/>
            </p:nvSpPr>
            <p:spPr>
              <a:xfrm>
                <a:off x="9964977" y="5862508"/>
                <a:ext cx="854849" cy="5570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HK" sz="1400" i="1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𝜑</m:t>
                      </m:r>
                      <m:r>
                        <a:rPr lang="en-HK" sz="1400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=</m:t>
                      </m:r>
                      <m:f>
                        <m:fPr>
                          <m:ctrlPr>
                            <a:rPr lang="en-HK" sz="14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HK" sz="14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HK" sz="14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HK" sz="14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𝑤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HK" sz="14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HK" sz="14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HK" sz="14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𝑝𝑙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HK" sz="1400" dirty="0">
                  <a:latin typeface="Times New Roman"/>
                  <a:ea typeface="SimSun"/>
                  <a:cs typeface="Times New Roman"/>
                </a:endParaRPr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4CC4EC12-D2E2-4BFE-80BA-21509A6B70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4977" y="5862508"/>
                <a:ext cx="854849" cy="557076"/>
              </a:xfrm>
              <a:prstGeom prst="rect">
                <a:avLst/>
              </a:prstGeom>
              <a:blipFill>
                <a:blip r:embed="rId5"/>
                <a:stretch>
                  <a:fillRect b="-10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  <a:latin typeface="Times New Roman"/>
                    <a:ea typeface="SimSun"/>
                    <a:cs typeface="Times New Roman"/>
                  </a:rPr>
                  <a:t> </a:t>
                </a:r>
              </a:p>
            </p:txBody>
          </p:sp>
        </mc:Fallback>
      </mc:AlternateContent>
      <p:sp>
        <p:nvSpPr>
          <p:cNvPr id="13" name="矩形 12">
            <a:extLst>
              <a:ext uri="{FF2B5EF4-FFF2-40B4-BE49-F238E27FC236}">
                <a16:creationId xmlns:a16="http://schemas.microsoft.com/office/drawing/2014/main" id="{B5DA5B7F-FDDD-4602-A2BF-D99B9D52C614}"/>
              </a:ext>
            </a:extLst>
          </p:cNvPr>
          <p:cNvSpPr/>
          <p:nvPr/>
        </p:nvSpPr>
        <p:spPr>
          <a:xfrm>
            <a:off x="8488547" y="5987158"/>
            <a:ext cx="161294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HK" sz="16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覆盖系数：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BDD8AE5-E139-4D61-B1EF-042597C2DE2B}"/>
              </a:ext>
            </a:extLst>
          </p:cNvPr>
          <p:cNvSpPr/>
          <p:nvPr/>
        </p:nvSpPr>
        <p:spPr>
          <a:xfrm>
            <a:off x="3709338" y="1469299"/>
            <a:ext cx="286649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HK" sz="16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单个湿通道模型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9CFA491-2490-4D9F-93B9-D66A35988A3D}"/>
              </a:ext>
            </a:extLst>
          </p:cNvPr>
          <p:cNvSpPr/>
          <p:nvPr/>
        </p:nvSpPr>
        <p:spPr>
          <a:xfrm>
            <a:off x="7235996" y="1469282"/>
            <a:ext cx="45352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HK" sz="16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不同润湿区域的传热过程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73D5DB88-9437-457C-9E6D-7E2E73638BA1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7491" y="1975695"/>
            <a:ext cx="1968490" cy="3635026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65E5F680-4B2B-41F7-8B28-D80F0CFCB1C0}"/>
              </a:ext>
            </a:extLst>
          </p:cNvPr>
          <p:cNvSpPr/>
          <p:nvPr/>
        </p:nvSpPr>
        <p:spPr>
          <a:xfrm>
            <a:off x="594591" y="1469299"/>
            <a:ext cx="130676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HK" sz="16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建模流程</a:t>
            </a:r>
          </a:p>
        </p:txBody>
      </p:sp>
      <p:sp>
        <p:nvSpPr>
          <p:cNvPr id="19" name="矩形 3">
            <a:extLst>
              <a:ext uri="{FF2B5EF4-FFF2-40B4-BE49-F238E27FC236}">
                <a16:creationId xmlns:a16="http://schemas.microsoft.com/office/drawing/2014/main" id="{B1D8C289-DDD6-4A5B-A999-61ACB53281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3879" y="-47372"/>
            <a:ext cx="9807621" cy="972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9pPr>
          </a:lstStyle>
          <a:p>
            <a:pPr algn="l">
              <a:lnSpc>
                <a:spcPct val="125000"/>
              </a:lnSpc>
              <a:spcBef>
                <a:spcPct val="20000"/>
              </a:spcBef>
            </a:pPr>
            <a:r>
              <a:rPr lang="en-US" altLang="zh-CN" b="1" dirty="0" sz="1800"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4</a:t>
            </a:r>
            <a:r>
              <a:rPr lang="en-US" altLang="zh-CN" b="1" dirty="0" sz="1800"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. 考虑水膜形成的 IEC 三维 CFD 分析</a:t>
            </a:r>
          </a:p>
        </p:txBody>
      </p:sp>
    </p:spTree>
    <p:extLst>
      <p:ext uri="{BB962C8B-B14F-4D97-AF65-F5344CB8AC3E}">
        <p14:creationId xmlns:p14="http://schemas.microsoft.com/office/powerpoint/2010/main" val="2354765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33"/>
    </mc:Choice>
    <mc:Fallback xmlns="">
      <p:transition spd="slow" advTm="5933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图片 46">
            <a:extLst>
              <a:ext uri="{FF2B5EF4-FFF2-40B4-BE49-F238E27FC236}">
                <a16:creationId xmlns:a16="http://schemas.microsoft.com/office/drawing/2014/main" id="{688A77F0-8416-4D0B-8E46-BBEA898A5C8F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2437" y="3723758"/>
            <a:ext cx="553085" cy="1547495"/>
          </a:xfrm>
          <a:prstGeom prst="rect">
            <a:avLst/>
          </a:prstGeom>
          <a:noFill/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6709DF6D-D34C-4D60-B37D-56C4DA8F6791}"/>
              </a:ext>
            </a:extLst>
          </p:cNvPr>
          <p:cNvSpPr/>
          <p:nvPr/>
        </p:nvSpPr>
        <p:spPr>
          <a:xfrm>
            <a:off x="1179133" y="1334647"/>
            <a:ext cx="2258952" cy="3427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n-HK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HK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HK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）质量守恒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9784B58F-FAD0-4985-94F1-077B985EA0E2}"/>
                  </a:ext>
                </a:extLst>
              </p:cNvPr>
              <p:cNvSpPr/>
              <p:nvPr/>
            </p:nvSpPr>
            <p:spPr>
              <a:xfrm>
                <a:off x="1528202" y="1626427"/>
                <a:ext cx="2086597" cy="5605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HK" sz="1600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fPr>
                        <m:num>
                          <m:r>
                            <a:rPr lang="en-HK" sz="1600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𝜕</m:t>
                          </m:r>
                        </m:num>
                        <m:den>
                          <m:r>
                            <a:rPr lang="en-HK" sz="1600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𝜕</m:t>
                          </m:r>
                          <m: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𝑡</m:t>
                          </m:r>
                        </m:den>
                      </m:f>
                      <m:d>
                        <m:dPr>
                          <m:ctrlP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dPr>
                        <m:e>
                          <m: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𝜌</m:t>
                          </m:r>
                        </m:e>
                      </m:d>
                      <m:r>
                        <a:rPr lang="en-HK" sz="1600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+</m:t>
                      </m:r>
                      <m:r>
                        <a:rPr lang="en-HK" sz="1600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𝛻</m:t>
                      </m:r>
                      <m:r>
                        <a:rPr lang="en-HK" sz="1600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∙</m:t>
                      </m:r>
                      <m:d>
                        <m:dPr>
                          <m:ctrlP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dPr>
                        <m:e>
                          <m: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𝜌</m:t>
                          </m:r>
                          <m: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𝑢</m:t>
                          </m:r>
                        </m:e>
                      </m:d>
                      <m:r>
                        <a:rPr lang="en-HK" sz="1600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=0</m:t>
                      </m:r>
                    </m:oMath>
                  </m:oMathPara>
                </a14:m>
                <a:endParaRPr lang="en-HK" sz="1600" dirty="0">
                  <a:latin typeface="Times New Roman"/>
                  <a:ea typeface="SimSun"/>
                  <a:cs typeface="Times New Roman"/>
                </a:endParaRPr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9784B58F-FAD0-4985-94F1-077B985EA0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8202" y="1626427"/>
                <a:ext cx="2086597" cy="5605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  <a:latin typeface="Times New Roman"/>
                    <a:ea typeface="SimSun"/>
                    <a:cs typeface="Times New Roman"/>
                  </a:rPr>
                  <a:t> </a:t>
                </a:r>
              </a:p>
            </p:txBody>
          </p:sp>
        </mc:Fallback>
      </mc:AlternateContent>
      <p:sp>
        <p:nvSpPr>
          <p:cNvPr id="20" name="矩形 19">
            <a:extLst>
              <a:ext uri="{FF2B5EF4-FFF2-40B4-BE49-F238E27FC236}">
                <a16:creationId xmlns:a16="http://schemas.microsoft.com/office/drawing/2014/main" id="{B4FE9C60-D2C9-4987-935F-D33A4FB7F143}"/>
              </a:ext>
            </a:extLst>
          </p:cNvPr>
          <p:cNvSpPr/>
          <p:nvPr/>
        </p:nvSpPr>
        <p:spPr>
          <a:xfrm>
            <a:off x="1179131" y="2280034"/>
            <a:ext cx="2784737" cy="3427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n-HK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HK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HK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）动量守恒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2F204E31-4AF7-43F6-866C-289013849E15}"/>
                  </a:ext>
                </a:extLst>
              </p:cNvPr>
              <p:cNvSpPr/>
              <p:nvPr/>
            </p:nvSpPr>
            <p:spPr>
              <a:xfrm>
                <a:off x="1417173" y="2611800"/>
                <a:ext cx="3732966" cy="8384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HK" sz="1600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fPr>
                        <m:num>
                          <m:r>
                            <a:rPr lang="en-HK" sz="1600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𝜕</m:t>
                          </m:r>
                        </m:num>
                        <m:den>
                          <m:r>
                            <a:rPr lang="en-HK" sz="1600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𝜕</m:t>
                          </m:r>
                          <m: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𝑡</m:t>
                          </m:r>
                        </m:den>
                      </m:f>
                      <m:d>
                        <m:dPr>
                          <m:ctrlP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dPr>
                        <m:e>
                          <m: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𝜌</m:t>
                          </m:r>
                          <m: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𝐸</m:t>
                          </m:r>
                        </m:e>
                      </m:d>
                      <m:r>
                        <a:rPr lang="en-HK" sz="1600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+</m:t>
                      </m:r>
                      <m:r>
                        <a:rPr lang="en-HK" sz="1600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𝛻</m:t>
                      </m:r>
                      <m:r>
                        <a:rPr lang="en-HK" sz="1600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∙</m:t>
                      </m:r>
                      <m:d>
                        <m:dPr>
                          <m:ctrlP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dPr>
                        <m:e>
                          <m: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𝜌</m:t>
                          </m:r>
                          <m:sSup>
                            <m:sSupPr>
                              <m:ctrlPr>
                                <a:rPr lang="en-HK" sz="16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</m:ctrlPr>
                            </m:sSupPr>
                            <m:e>
                              <m:r>
                                <a:rPr lang="en-HK" sz="16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HK" sz="1600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HK" sz="1600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=−</m:t>
                      </m:r>
                      <m:r>
                        <a:rPr lang="en-HK" sz="1600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𝛻</m:t>
                      </m:r>
                      <m:r>
                        <a:rPr lang="en-HK" sz="1600" i="1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𝑃</m:t>
                      </m:r>
                      <m:r>
                        <a:rPr lang="en-HK" sz="1600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+</m:t>
                      </m:r>
                      <m:r>
                        <a:rPr lang="en-HK" sz="1600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𝛻</m:t>
                      </m:r>
                      <m:r>
                        <a:rPr lang="en-HK" sz="1600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∙</m:t>
                      </m:r>
                      <m:d>
                        <m:dPr>
                          <m:ctrlP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dPr>
                        <m:e>
                          <m: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𝜇</m:t>
                          </m:r>
                          <m:d>
                            <m:dPr>
                              <m:ctrlPr>
                                <a:rPr lang="en-HK" sz="1600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</m:ctrlPr>
                            </m:dPr>
                            <m:e>
                              <m:r>
                                <a:rPr lang="en-HK" sz="1600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𝛻</m:t>
                              </m:r>
                              <m:r>
                                <a:rPr lang="en-HK" sz="16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𝑢</m:t>
                              </m:r>
                              <m:r>
                                <a:rPr lang="en-HK" sz="1600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+</m:t>
                              </m:r>
                              <m:r>
                                <a:rPr lang="en-HK" sz="1600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𝛻</m:t>
                              </m:r>
                              <m:sSup>
                                <m:sSupPr>
                                  <m:ctrlPr>
                                    <a:rPr lang="en-HK" sz="16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</m:ctrlPr>
                                </m:sSupPr>
                                <m:e>
                                  <m:r>
                                    <a:rPr lang="en-HK" sz="16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HK" sz="16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</m:d>
                        </m:e>
                      </m:d>
                      <m:r>
                        <a:rPr lang="en-HK" sz="1600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+</m:t>
                      </m:r>
                      <m:r>
                        <a:rPr lang="en-HK" sz="1600" i="1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𝜌</m:t>
                      </m:r>
                      <m:r>
                        <a:rPr lang="en-HK" sz="1600" i="1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𝑔</m:t>
                      </m:r>
                      <m:r>
                        <a:rPr lang="en-HK" sz="1600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+</m:t>
                      </m:r>
                      <m:r>
                        <a:rPr lang="en-HK" sz="1600" i="1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𝐹</m:t>
                      </m:r>
                    </m:oMath>
                  </m:oMathPara>
                </a14:m>
                <a:endParaRPr lang="en-HK" sz="1600" dirty="0">
                  <a:latin typeface="Times New Roman"/>
                  <a:ea typeface="SimSun"/>
                  <a:cs typeface="Times New Roman"/>
                </a:endParaRPr>
              </a:p>
            </p:txBody>
          </p:sp>
        </mc:Choice>
        <mc:Fallback xmlns="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2F204E31-4AF7-43F6-866C-289013849E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7173" y="2611800"/>
                <a:ext cx="3732966" cy="8384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  <a:latin typeface="Times New Roman"/>
                    <a:ea typeface="SimSun"/>
                    <a:cs typeface="Times New Roman"/>
                  </a:rPr>
                  <a:t> </a:t>
                </a:r>
              </a:p>
            </p:txBody>
          </p:sp>
        </mc:Fallback>
      </mc:AlternateContent>
      <p:sp>
        <p:nvSpPr>
          <p:cNvPr id="22" name="矩形 21">
            <a:extLst>
              <a:ext uri="{FF2B5EF4-FFF2-40B4-BE49-F238E27FC236}">
                <a16:creationId xmlns:a16="http://schemas.microsoft.com/office/drawing/2014/main" id="{0C38144E-90D3-4157-8395-F70A0D7FE96E}"/>
              </a:ext>
            </a:extLst>
          </p:cNvPr>
          <p:cNvSpPr/>
          <p:nvPr/>
        </p:nvSpPr>
        <p:spPr>
          <a:xfrm>
            <a:off x="1177327" y="3458983"/>
            <a:ext cx="1643399" cy="3427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n-HK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HK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HK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）传质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489DAD21-4DD6-4C86-8037-4F26A74EBB81}"/>
                  </a:ext>
                </a:extLst>
              </p:cNvPr>
              <p:cNvSpPr/>
              <p:nvPr/>
            </p:nvSpPr>
            <p:spPr>
              <a:xfrm>
                <a:off x="1508428" y="3697032"/>
                <a:ext cx="3603935" cy="60260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ℎ</m:t>
                          </m:r>
                        </m:e>
                        <m:sub>
                          <m: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𝑚𝑠</m:t>
                          </m:r>
                        </m:sub>
                      </m:sSub>
                      <m:d>
                        <m:dPr>
                          <m:ctrlP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HK" sz="16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HK" sz="16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𝜔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HK" sz="16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a:rPr lang="en-HK" sz="16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HK" sz="16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  <m:t>𝑤</m:t>
                                  </m:r>
                                </m:sub>
                              </m:sSub>
                            </m:sub>
                          </m:sSub>
                          <m:r>
                            <a:rPr lang="en-HK" sz="1600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HK" sz="16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HK" sz="16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HK" sz="16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𝑠</m:t>
                              </m:r>
                            </m:sub>
                          </m:sSub>
                        </m:e>
                      </m:d>
                      <m:r>
                        <a:rPr lang="en-HK" sz="1600" i="1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𝜎</m:t>
                      </m:r>
                      <m:r>
                        <a:rPr lang="en-HK" sz="1600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∙</m:t>
                      </m:r>
                      <m:r>
                        <a:rPr lang="en-HK" sz="1600" i="1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𝑑𝑥𝑑𝑦</m:t>
                      </m:r>
                      <m:r>
                        <a:rPr lang="en-HK" sz="1600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=</m:t>
                      </m:r>
                      <m:sSub>
                        <m:sSubPr>
                          <m:ctrlP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HK" sz="16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</m:ctrlPr>
                            </m:accPr>
                            <m:e>
                              <m:r>
                                <a:rPr lang="en-HK" sz="16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𝑚</m:t>
                              </m:r>
                            </m:e>
                          </m:acc>
                        </m:e>
                        <m:sub>
                          <m: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𝑠</m:t>
                          </m:r>
                        </m:sub>
                      </m:sSub>
                      <m:f>
                        <m:fPr>
                          <m:ctrlPr>
                            <a:rPr lang="en-HK" sz="1600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fPr>
                        <m:num>
                          <m:r>
                            <a:rPr lang="en-HK" sz="1600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HK" sz="16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HK" sz="16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HK" sz="16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r>
                            <a:rPr lang="en-HK" sz="1600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𝜕</m:t>
                          </m:r>
                          <m: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𝑦</m:t>
                          </m:r>
                        </m:den>
                      </m:f>
                      <m:r>
                        <a:rPr lang="en-HK" sz="1600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∙</m:t>
                      </m:r>
                      <m:r>
                        <a:rPr lang="en-HK" sz="1600" i="1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𝑑𝑦</m:t>
                      </m:r>
                    </m:oMath>
                  </m:oMathPara>
                </a14:m>
                <a:endParaRPr lang="en-HK" sz="1600" dirty="0">
                  <a:latin typeface="Times New Roman"/>
                  <a:ea typeface="SimSun"/>
                  <a:cs typeface="Times New Roman"/>
                </a:endParaRPr>
              </a:p>
            </p:txBody>
          </p:sp>
        </mc:Choice>
        <mc:Fallback xmlns="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489DAD21-4DD6-4C86-8037-4F26A74EBB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8428" y="3697032"/>
                <a:ext cx="3603935" cy="60260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  <a:latin typeface="Times New Roman"/>
                    <a:ea typeface="SimSun"/>
                    <a:cs typeface="Times New Roman"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2DAD2746-6358-4584-A5F0-FC93C43A7218}"/>
                  </a:ext>
                </a:extLst>
              </p:cNvPr>
              <p:cNvSpPr/>
              <p:nvPr/>
            </p:nvSpPr>
            <p:spPr>
              <a:xfrm>
                <a:off x="1508428" y="4260928"/>
                <a:ext cx="1504836" cy="60260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HK" sz="1600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fPr>
                        <m:num>
                          <m:r>
                            <a:rPr lang="en-HK" sz="1600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HK" sz="16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HK" sz="16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HK" sz="16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𝑒</m:t>
                              </m:r>
                            </m:sub>
                          </m:sSub>
                        </m:num>
                        <m:den>
                          <m:r>
                            <a:rPr lang="en-HK" sz="1600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𝜕</m:t>
                          </m:r>
                          <m: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𝑦</m:t>
                          </m:r>
                        </m:den>
                      </m:f>
                      <m:r>
                        <a:rPr lang="en-HK" sz="1600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=</m:t>
                      </m:r>
                      <m:sSub>
                        <m:sSubPr>
                          <m:ctrlP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HK" sz="16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</m:ctrlPr>
                            </m:accPr>
                            <m:e>
                              <m:r>
                                <a:rPr lang="en-HK" sz="16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𝑚</m:t>
                              </m:r>
                            </m:e>
                          </m:acc>
                        </m:e>
                        <m:sub>
                          <m: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𝑠</m:t>
                          </m:r>
                        </m:sub>
                      </m:sSub>
                      <m:f>
                        <m:fPr>
                          <m:ctrlPr>
                            <a:rPr lang="en-HK" sz="1600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fPr>
                        <m:num>
                          <m:r>
                            <a:rPr lang="en-HK" sz="1600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HK" sz="16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HK" sz="16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HK" sz="16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r>
                            <a:rPr lang="en-HK" sz="1600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𝜕</m:t>
                          </m:r>
                          <m: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lang="en-HK" sz="1600" dirty="0">
                  <a:latin typeface="Times New Roman"/>
                  <a:ea typeface="SimSun"/>
                  <a:cs typeface="Times New Roman"/>
                </a:endParaRPr>
              </a:p>
            </p:txBody>
          </p:sp>
        </mc:Choice>
        <mc:Fallback xmlns=""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2DAD2746-6358-4584-A5F0-FC93C43A72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8428" y="4260928"/>
                <a:ext cx="1504836" cy="60260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  <a:latin typeface="Times New Roman"/>
                    <a:ea typeface="SimSun"/>
                    <a:cs typeface="Times New Roman"/>
                  </a:rPr>
                  <a:t> </a:t>
                </a:r>
              </a:p>
            </p:txBody>
          </p:sp>
        </mc:Fallback>
      </mc:AlternateContent>
      <p:sp>
        <p:nvSpPr>
          <p:cNvPr id="25" name="矩形 24">
            <a:extLst>
              <a:ext uri="{FF2B5EF4-FFF2-40B4-BE49-F238E27FC236}">
                <a16:creationId xmlns:a16="http://schemas.microsoft.com/office/drawing/2014/main" id="{A47138F7-B70D-40EC-98CD-3CEFC7B16BBB}"/>
              </a:ext>
            </a:extLst>
          </p:cNvPr>
          <p:cNvSpPr/>
          <p:nvPr/>
        </p:nvSpPr>
        <p:spPr>
          <a:xfrm>
            <a:off x="1174139" y="4863529"/>
            <a:ext cx="247163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HK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/>
              </a:rPr>
              <a:t>（</a:t>
            </a:r>
            <a:r>
              <a:rPr lang="en-HK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/>
              </a:rPr>
              <a:t>4</a:t>
            </a:r>
            <a:r>
              <a:rPr lang="en-HK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/>
              </a:rPr>
              <a:t>）流体体积（VOF）多相流模型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084CEEDF-7DED-43EA-9FA3-6B3CE26FED7B}"/>
                  </a:ext>
                </a:extLst>
              </p:cNvPr>
              <p:cNvSpPr/>
              <p:nvPr/>
            </p:nvSpPr>
            <p:spPr>
              <a:xfrm>
                <a:off x="1531252" y="5252293"/>
                <a:ext cx="1971822" cy="3585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HK" sz="1600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ρ</m:t>
                      </m:r>
                      <m:r>
                        <a:rPr lang="en-HK" sz="1600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=</m:t>
                      </m:r>
                      <m:sSub>
                        <m:sSubPr>
                          <m:ctrlP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𝛼</m:t>
                          </m:r>
                        </m:e>
                        <m:sub>
                          <m:r>
                            <a:rPr lang="en-HK" sz="1600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𝜌</m:t>
                          </m:r>
                        </m:e>
                        <m:sub>
                          <m:r>
                            <a:rPr lang="en-HK" sz="1600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1</m:t>
                          </m:r>
                        </m:sub>
                      </m:sSub>
                      <m:r>
                        <a:rPr lang="en-HK" sz="1600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+</m:t>
                      </m:r>
                      <m:sSub>
                        <m:sSubPr>
                          <m:ctrlP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𝛼</m:t>
                          </m:r>
                        </m:e>
                        <m:sub>
                          <m: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𝑔</m:t>
                          </m:r>
                        </m:sub>
                      </m:sSub>
                      <m:r>
                        <a:rPr lang="en-HK" sz="1600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+</m:t>
                      </m:r>
                      <m:sSub>
                        <m:sSubPr>
                          <m:ctrlP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𝜌</m:t>
                          </m:r>
                        </m:e>
                        <m:sub>
                          <m: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lang="en-HK" sz="1600" dirty="0">
                  <a:latin typeface="Times New Roman"/>
                  <a:ea typeface="SimSun"/>
                  <a:cs typeface="Times New Roman"/>
                </a:endParaRPr>
              </a:p>
            </p:txBody>
          </p:sp>
        </mc:Choice>
        <mc:Fallback xmlns="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084CEEDF-7DED-43EA-9FA3-6B3CE26FED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1252" y="5252293"/>
                <a:ext cx="1971822" cy="358560"/>
              </a:xfrm>
              <a:prstGeom prst="rect">
                <a:avLst/>
              </a:prstGeom>
              <a:blipFill>
                <a:blip r:embed="rId8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  <a:latin typeface="Times New Roman"/>
                    <a:ea typeface="SimSun"/>
                    <a:cs typeface="Times New Roman"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4F72ED22-F12F-4F37-8EC8-803AAA3928F7}"/>
                  </a:ext>
                </a:extLst>
              </p:cNvPr>
              <p:cNvSpPr/>
              <p:nvPr/>
            </p:nvSpPr>
            <p:spPr>
              <a:xfrm>
                <a:off x="1533707" y="5723243"/>
                <a:ext cx="1983172" cy="3585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HK" sz="1600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μ</m:t>
                      </m:r>
                      <m:r>
                        <a:rPr lang="en-HK" sz="1600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=</m:t>
                      </m:r>
                      <m:sSub>
                        <m:sSubPr>
                          <m:ctrlP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𝛼</m:t>
                          </m:r>
                        </m:e>
                        <m:sub>
                          <m:r>
                            <a:rPr lang="en-HK" sz="1600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𝜇</m:t>
                          </m:r>
                        </m:e>
                        <m:sub>
                          <m:r>
                            <a:rPr lang="en-HK" sz="1600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1</m:t>
                          </m:r>
                        </m:sub>
                      </m:sSub>
                      <m:r>
                        <a:rPr lang="en-HK" sz="1600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+</m:t>
                      </m:r>
                      <m:sSub>
                        <m:sSubPr>
                          <m:ctrlP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𝛼</m:t>
                          </m:r>
                        </m:e>
                        <m:sub>
                          <m: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𝑔</m:t>
                          </m:r>
                        </m:sub>
                      </m:sSub>
                      <m:r>
                        <a:rPr lang="en-HK" sz="1600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+</m:t>
                      </m:r>
                      <m:sSub>
                        <m:sSubPr>
                          <m:ctrlP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𝜇</m:t>
                          </m:r>
                        </m:e>
                        <m:sub>
                          <m: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lang="en-HK" sz="1600" dirty="0">
                  <a:latin typeface="Times New Roman"/>
                  <a:ea typeface="SimSun"/>
                  <a:cs typeface="Times New Roman"/>
                </a:endParaRPr>
              </a:p>
            </p:txBody>
          </p:sp>
        </mc:Choice>
        <mc:Fallback xmlns=""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4F72ED22-F12F-4F37-8EC8-803AAA3928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3707" y="5723243"/>
                <a:ext cx="1983172" cy="358560"/>
              </a:xfrm>
              <a:prstGeom prst="rect">
                <a:avLst/>
              </a:prstGeom>
              <a:blipFill>
                <a:blip r:embed="rId9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  <a:latin typeface="Times New Roman"/>
                    <a:ea typeface="SimSun"/>
                    <a:cs typeface="Times New Roman"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EBC87E3B-4DC7-4C08-8D39-DDA5612D9B4A}"/>
                  </a:ext>
                </a:extLst>
              </p:cNvPr>
              <p:cNvSpPr/>
              <p:nvPr/>
            </p:nvSpPr>
            <p:spPr>
              <a:xfrm>
                <a:off x="1507981" y="6124461"/>
                <a:ext cx="2203680" cy="5677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HK" sz="1600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fPr>
                        <m:num>
                          <m:r>
                            <a:rPr lang="en-HK" sz="1600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HK" sz="16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HK" sz="16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𝛼</m:t>
                              </m:r>
                            </m:e>
                            <m:sub>
                              <m:f>
                                <m:fPr>
                                  <m:type m:val="lin"/>
                                  <m:ctrlPr>
                                    <a:rPr lang="en-HK" sz="1600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</m:ctrlPr>
                                </m:fPr>
                                <m:num>
                                  <m:r>
                                    <a:rPr lang="en-HK" sz="1600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HK" sz="16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  <m:t>𝑔</m:t>
                                  </m:r>
                                </m:den>
                              </m:f>
                            </m:sub>
                          </m:sSub>
                        </m:num>
                        <m:den>
                          <m:r>
                            <a:rPr lang="en-HK" sz="1600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𝜕</m:t>
                          </m:r>
                          <m: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𝑡</m:t>
                          </m:r>
                        </m:den>
                      </m:f>
                      <m:r>
                        <a:rPr lang="en-HK" sz="1600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accPr>
                        <m:e>
                          <m: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𝑢</m:t>
                          </m:r>
                        </m:e>
                      </m:acc>
                      <m:r>
                        <a:rPr lang="en-HK" sz="1600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∙</m:t>
                      </m:r>
                      <m:r>
                        <a:rPr lang="en-HK" sz="1600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𝛻</m:t>
                      </m:r>
                      <m:sSub>
                        <m:sSubPr>
                          <m:ctrlP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𝛼</m:t>
                          </m:r>
                        </m:e>
                        <m:sub>
                          <m:f>
                            <m:fPr>
                              <m:type m:val="lin"/>
                              <m:ctrlPr>
                                <a:rPr lang="en-HK" sz="1600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</m:ctrlPr>
                            </m:fPr>
                            <m:num>
                              <m:r>
                                <a:rPr lang="en-HK" sz="1600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HK" sz="16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𝑔</m:t>
                              </m:r>
                            </m:den>
                          </m:f>
                        </m:sub>
                      </m:sSub>
                      <m:r>
                        <a:rPr lang="en-HK" sz="1600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=0</m:t>
                      </m:r>
                    </m:oMath>
                  </m:oMathPara>
                </a14:m>
                <a:endParaRPr lang="en-HK" sz="1600" dirty="0">
                  <a:latin typeface="Times New Roman"/>
                  <a:ea typeface="SimSun"/>
                  <a:cs typeface="Times New Roman"/>
                </a:endParaRPr>
              </a:p>
            </p:txBody>
          </p:sp>
        </mc:Choice>
        <mc:Fallback xmlns=""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EBC87E3B-4DC7-4C08-8D39-DDA5612D9B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7981" y="6124461"/>
                <a:ext cx="2203680" cy="56778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  <a:latin typeface="Times New Roman"/>
                    <a:ea typeface="SimSun"/>
                    <a:cs typeface="Times New Roman"/>
                  </a:rPr>
                  <a:t> </a:t>
                </a:r>
              </a:p>
            </p:txBody>
          </p:sp>
        </mc:Fallback>
      </mc:AlternateContent>
      <p:sp>
        <p:nvSpPr>
          <p:cNvPr id="29" name="矩形 28">
            <a:extLst>
              <a:ext uri="{FF2B5EF4-FFF2-40B4-BE49-F238E27FC236}">
                <a16:creationId xmlns:a16="http://schemas.microsoft.com/office/drawing/2014/main" id="{3BA7EDA3-69FA-4DDC-BED3-86D5F6606E8F}"/>
              </a:ext>
            </a:extLst>
          </p:cNvPr>
          <p:cNvSpPr/>
          <p:nvPr/>
        </p:nvSpPr>
        <p:spPr>
          <a:xfrm>
            <a:off x="5176190" y="1336452"/>
            <a:ext cx="2880917" cy="3427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n-HK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HK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HK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）离散相模型（DPM）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A42D7DB2-03BD-473E-8855-F0E657132544}"/>
                  </a:ext>
                </a:extLst>
              </p:cNvPr>
              <p:cNvSpPr/>
              <p:nvPr/>
            </p:nvSpPr>
            <p:spPr>
              <a:xfrm>
                <a:off x="5459711" y="1729399"/>
                <a:ext cx="1233799" cy="6243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fPr>
                        <m:num>
                          <m: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𝑑</m:t>
                          </m:r>
                          <m:d>
                            <m:dPr>
                              <m:ctrlPr>
                                <a:rPr lang="en-HK" sz="16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HK" sz="16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HK" sz="1600" i="1">
                                          <a:latin typeface="Times New Roman" panose="02040503050406030204" pitchFamily="18" charset="0"/>
                                          <a:ea typeface="SimSun"/>
                                          <a:cs typeface="Times New Roman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HK" sz="1600" i="1">
                                          <a:latin typeface="Times New Roman" panose="02040503050406030204" pitchFamily="18" charset="0"/>
                                          <a:ea typeface="SimSun"/>
                                          <a:cs typeface="Times New Roman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HK" sz="1600" i="1">
                                          <a:latin typeface="Times New Roman" panose="02040503050406030204" pitchFamily="18" charset="0"/>
                                          <a:ea typeface="SimSun"/>
                                          <a:cs typeface="Times New Roman"/>
                                        </a:rPr>
                                        <m:t>𝑔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</m:num>
                        <m:den>
                          <m: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𝑑𝑡</m:t>
                          </m:r>
                        </m:den>
                      </m:f>
                      <m:r>
                        <a:rPr lang="en-HK" sz="1600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HK" sz="16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HK" sz="16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HK" sz="16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𝑔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HK" sz="1600" dirty="0">
                  <a:latin typeface="Times New Roman"/>
                  <a:ea typeface="SimSun"/>
                  <a:cs typeface="Times New Roman"/>
                </a:endParaRPr>
              </a:p>
            </p:txBody>
          </p:sp>
        </mc:Choice>
        <mc:Fallback xmlns=""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A42D7DB2-03BD-473E-8855-F0E6571325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9711" y="1729399"/>
                <a:ext cx="1233799" cy="62433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  <a:latin typeface="Times New Roman"/>
                    <a:ea typeface="SimSun"/>
                    <a:cs typeface="Times New Roman"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9CFF45E8-885C-4D77-91D9-E424F63501B3}"/>
                  </a:ext>
                </a:extLst>
              </p:cNvPr>
              <p:cNvSpPr/>
              <p:nvPr/>
            </p:nvSpPr>
            <p:spPr>
              <a:xfrm>
                <a:off x="5459710" y="2388185"/>
                <a:ext cx="1973169" cy="61843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fPr>
                        <m:num>
                          <m: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𝑑</m:t>
                          </m:r>
                          <m:d>
                            <m:dPr>
                              <m:ctrlPr>
                                <a:rPr lang="en-HK" sz="16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HK" sz="16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a:rPr lang="en-HK" sz="16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HK" sz="16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  <m:t>𝑑</m:t>
                                  </m:r>
                                </m:sub>
                              </m:sSub>
                              <m:acc>
                                <m:accPr>
                                  <m:chr m:val="⃗"/>
                                  <m:ctrlPr>
                                    <a:rPr lang="en-HK" sz="16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HK" sz="1600" i="1">
                                          <a:latin typeface="Times New Roman" panose="02040503050406030204" pitchFamily="18" charset="0"/>
                                          <a:ea typeface="SimSun"/>
                                          <a:cs typeface="Times New Roman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HK" sz="1600" i="1">
                                          <a:latin typeface="Times New Roman" panose="02040503050406030204" pitchFamily="18" charset="0"/>
                                          <a:ea typeface="SimSun"/>
                                          <a:cs typeface="Times New Roman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lang="en-HK" sz="1600" i="1">
                                          <a:latin typeface="Times New Roman" panose="02040503050406030204" pitchFamily="18" charset="0"/>
                                          <a:ea typeface="SimSun"/>
                                          <a:cs typeface="Times New Roman"/>
                                        </a:rPr>
                                        <m:t>𝑑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</m:num>
                        <m:den>
                          <m: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𝑑𝑡</m:t>
                          </m:r>
                        </m:den>
                      </m:f>
                      <m:r>
                        <a:rPr lang="en-HK" sz="1600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HK" sz="16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HK" sz="16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HK" sz="16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𝐷</m:t>
                              </m:r>
                            </m:sub>
                          </m:sSub>
                        </m:e>
                      </m:acc>
                      <m:r>
                        <a:rPr lang="en-HK" sz="1600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HK" sz="16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HK" sz="16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HK" sz="16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𝑔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HK" sz="1600" dirty="0">
                  <a:latin typeface="Times New Roman"/>
                  <a:ea typeface="SimSun"/>
                  <a:cs typeface="Times New Roman"/>
                </a:endParaRPr>
              </a:p>
            </p:txBody>
          </p:sp>
        </mc:Choice>
        <mc:Fallback xmlns="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9CFF45E8-885C-4D77-91D9-E424F63501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9710" y="2388185"/>
                <a:ext cx="1973169" cy="61843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  <a:latin typeface="Times New Roman"/>
                    <a:ea typeface="SimSun"/>
                    <a:cs typeface="Times New Roman"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DDE7A3DE-B2BA-4BA8-9CA6-EA91F0447FFD}"/>
                  </a:ext>
                </a:extLst>
              </p:cNvPr>
              <p:cNvSpPr/>
              <p:nvPr/>
            </p:nvSpPr>
            <p:spPr>
              <a:xfrm>
                <a:off x="5459710" y="2862581"/>
                <a:ext cx="2236831" cy="5123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HK" sz="16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</m:ctrlPr>
                            </m:accPr>
                            <m:e>
                              <m:r>
                                <a:rPr lang="en-HK" sz="16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𝑑</m:t>
                          </m:r>
                        </m:sub>
                      </m:sSub>
                      <m:r>
                        <a:rPr lang="en-HK" sz="1600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=−</m:t>
                      </m:r>
                      <m:f>
                        <m:fPr>
                          <m:ctrlP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fPr>
                        <m:num>
                          <m: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𝜋</m:t>
                          </m:r>
                        </m:num>
                        <m:den>
                          <m:r>
                            <a:rPr lang="en-HK" sz="1600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8</m:t>
                          </m:r>
                        </m:den>
                      </m:f>
                      <m:sSub>
                        <m:sSubPr>
                          <m:ctrlP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𝐶</m:t>
                          </m:r>
                        </m:e>
                        <m:sub>
                          <m: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𝐷</m:t>
                          </m:r>
                        </m:sub>
                      </m:sSub>
                      <m:sSub>
                        <m:sSubPr>
                          <m:ctrlP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𝜌</m:t>
                          </m:r>
                        </m:e>
                        <m:sub>
                          <m: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𝑎</m:t>
                          </m:r>
                        </m:sub>
                      </m:sSub>
                      <m:sSubSup>
                        <m:sSubSupPr>
                          <m:ctrlP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sSubSupPr>
                        <m:e>
                          <m: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𝐷</m:t>
                          </m:r>
                        </m:e>
                        <m:sub>
                          <m: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𝑑</m:t>
                          </m:r>
                        </m:sub>
                        <m:sup>
                          <m:r>
                            <a:rPr lang="en-HK" sz="1600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2</m:t>
                          </m:r>
                        </m:sup>
                      </m:sSubSup>
                      <m:sSub>
                        <m:sSubPr>
                          <m:ctrlP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HK" sz="16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</m:ctrlPr>
                            </m:accPr>
                            <m:e>
                              <m:r>
                                <a:rPr lang="en-HK" sz="16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𝑟</m:t>
                          </m:r>
                        </m:sub>
                      </m:sSub>
                      <m:d>
                        <m:dPr>
                          <m:begChr m:val="|"/>
                          <m:endChr m:val="|"/>
                          <m:ctrlP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HK" sz="16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HK" sz="16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</m:ctrlPr>
                                </m:accPr>
                                <m:e>
                                  <m:r>
                                    <a:rPr lang="en-HK" sz="16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  <m:t>𝑉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HK" sz="16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𝑟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HK" sz="1600" dirty="0">
                  <a:latin typeface="Times New Roman"/>
                  <a:ea typeface="SimSun"/>
                  <a:cs typeface="Times New Roman"/>
                </a:endParaRPr>
              </a:p>
            </p:txBody>
          </p:sp>
        </mc:Choice>
        <mc:Fallback xmlns="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DDE7A3DE-B2BA-4BA8-9CA6-EA91F0447F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9710" y="2862581"/>
                <a:ext cx="2236831" cy="512384"/>
              </a:xfrm>
              <a:prstGeom prst="rect">
                <a:avLst/>
              </a:prstGeom>
              <a:blipFill>
                <a:blip r:embed="rId13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  <a:latin typeface="Times New Roman"/>
                    <a:ea typeface="SimSun"/>
                    <a:cs typeface="Times New Roman"/>
                  </a:rPr>
                  <a:t> </a:t>
                </a:r>
              </a:p>
            </p:txBody>
          </p:sp>
        </mc:Fallback>
      </mc:AlternateContent>
      <p:sp>
        <p:nvSpPr>
          <p:cNvPr id="33" name="矩形 32">
            <a:extLst>
              <a:ext uri="{FF2B5EF4-FFF2-40B4-BE49-F238E27FC236}">
                <a16:creationId xmlns:a16="http://schemas.microsoft.com/office/drawing/2014/main" id="{4C8FBD9D-EBC3-41B1-A099-270EFC7B604F}"/>
              </a:ext>
            </a:extLst>
          </p:cNvPr>
          <p:cNvSpPr/>
          <p:nvPr/>
        </p:nvSpPr>
        <p:spPr>
          <a:xfrm>
            <a:off x="5268673" y="3374965"/>
            <a:ext cx="1967462" cy="3427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n-HK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HK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HK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）湍流模型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CC0C75E1-F80A-42B8-9E91-E89C78BA5AFA}"/>
                  </a:ext>
                </a:extLst>
              </p:cNvPr>
              <p:cNvSpPr/>
              <p:nvPr/>
            </p:nvSpPr>
            <p:spPr>
              <a:xfrm>
                <a:off x="5459710" y="3791273"/>
                <a:ext cx="1480470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𝑅𝑒</m:t>
                          </m:r>
                        </m:e>
                        <m:sub>
                          <m: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𝑠</m:t>
                          </m:r>
                        </m:sub>
                      </m:sSub>
                      <m:r>
                        <a:rPr lang="en-HK" sz="1600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=4</m:t>
                      </m:r>
                      <m:acc>
                        <m:accPr>
                          <m:chr m:val="̅"/>
                          <m:ctrlP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accPr>
                        <m:e>
                          <m: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𝜔</m:t>
                          </m:r>
                        </m:e>
                      </m:acc>
                      <m:f>
                        <m:fPr>
                          <m:type m:val="lin"/>
                          <m:ctrlP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fPr>
                        <m:num>
                          <m: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𝛿</m:t>
                          </m:r>
                        </m:num>
                        <m:den>
                          <m:r>
                            <a:rPr lang="en-HK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𝑣</m:t>
                          </m:r>
                        </m:den>
                      </m:f>
                    </m:oMath>
                  </m:oMathPara>
                </a14:m>
                <a:endParaRPr lang="en-HK" sz="1600" dirty="0">
                  <a:latin typeface="Times New Roman"/>
                  <a:ea typeface="SimSun"/>
                  <a:cs typeface="Times New Roman"/>
                </a:endParaRPr>
              </a:p>
            </p:txBody>
          </p:sp>
        </mc:Choice>
        <mc:Fallback xmlns=""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CC0C75E1-F80A-42B8-9E91-E89C78BA5A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9710" y="3791273"/>
                <a:ext cx="1480470" cy="338554"/>
              </a:xfrm>
              <a:prstGeom prst="rect">
                <a:avLst/>
              </a:prstGeom>
              <a:blipFill>
                <a:blip r:embed="rId14"/>
                <a:stretch>
                  <a:fillRect t="-100000" r="-26033" b="-17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  <a:latin typeface="Times New Roman"/>
                    <a:ea typeface="SimSun"/>
                    <a:cs typeface="Times New Roman"/>
                  </a:rPr>
                  <a:t> </a:t>
                </a:r>
              </a:p>
            </p:txBody>
          </p:sp>
        </mc:Fallback>
      </mc:AlternateContent>
      <p:pic>
        <p:nvPicPr>
          <p:cNvPr id="35" name="图片 34">
            <a:extLst>
              <a:ext uri="{FF2B5EF4-FFF2-40B4-BE49-F238E27FC236}">
                <a16:creationId xmlns:a16="http://schemas.microsoft.com/office/drawing/2014/main" id="{23EC7CA3-ABAA-4E7F-B3D8-608BD825342B}"/>
              </a:ext>
            </a:extLst>
          </p:cNvPr>
          <p:cNvPicPr/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1800" y="2770302"/>
            <a:ext cx="1819115" cy="2868645"/>
          </a:xfrm>
          <a:prstGeom prst="rect">
            <a:avLst/>
          </a:prstGeom>
        </p:spPr>
      </p:pic>
      <p:sp>
        <p:nvSpPr>
          <p:cNvPr id="36" name="矩形 35">
            <a:extLst>
              <a:ext uri="{FF2B5EF4-FFF2-40B4-BE49-F238E27FC236}">
                <a16:creationId xmlns:a16="http://schemas.microsoft.com/office/drawing/2014/main" id="{3FA405FF-3B2A-417F-8A00-0A953952158C}"/>
              </a:ext>
            </a:extLst>
          </p:cNvPr>
          <p:cNvSpPr/>
          <p:nvPr/>
        </p:nvSpPr>
        <p:spPr>
          <a:xfrm>
            <a:off x="5282414" y="4529147"/>
            <a:ext cx="2093843" cy="3427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n-HK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HK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en-HK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）求解方法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A6987E3-F859-4074-9331-C20E4498BBB0}"/>
              </a:ext>
            </a:extLst>
          </p:cNvPr>
          <p:cNvSpPr/>
          <p:nvPr/>
        </p:nvSpPr>
        <p:spPr>
          <a:xfrm>
            <a:off x="5503120" y="4928467"/>
            <a:ext cx="2380780" cy="3427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n-HK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欧拉壁膜（EWF）与 DPM 耦合模型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2EB13829-A891-44E9-8FDD-8E8A86C243E2}"/>
                  </a:ext>
                </a:extLst>
              </p:cNvPr>
              <p:cNvSpPr/>
              <p:nvPr/>
            </p:nvSpPr>
            <p:spPr>
              <a:xfrm>
                <a:off x="5499208" y="4100180"/>
                <a:ext cx="2912529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HK" sz="1600" dirty="0">
                    <a:latin typeface="Times New Roman" panose="02020603050405020304" pitchFamily="18" charset="0"/>
                    <a:ea typeface="SimSun" panose="02010600030101010101" pitchFamily="2" charset="-122"/>
                    <a:cs typeface="Times New Roman"/>
                  </a:rPr>
                  <a:t>Applied</a:t>
                </a:r>
                <a:r>
                  <a:rPr lang="en-HK" sz="1600" dirty="0">
                    <a:latin typeface="Times New Roman"/>
                    <a:ea typeface="SimSun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HK" sz="1600" i="1">
                        <a:latin typeface="Times New Roman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HK" sz="1600" i="1">
                        <a:latin typeface="Times New Roman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HK" sz="1600" i="1">
                        <a:latin typeface="Times New Roman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𝜀</m:t>
                    </m:r>
                  </m:oMath>
                </a14:m>
                <a:r>
                  <a:rPr lang="en-HK" sz="1600" dirty="0">
                    <a:latin typeface="Times New Roman" panose="02020603050405020304" pitchFamily="18" charset="0"/>
                    <a:ea typeface="SimSun" panose="02010600030101010101" pitchFamily="2" charset="-122"/>
                    <a:cs typeface="Times New Roman"/>
                  </a:rPr>
                  <a:t> turbulence model </a:t>
                </a:r>
                <a:endParaRPr lang="en-HK" sz="1600" dirty="0">
                  <a:latin typeface="Times New Roman"/>
                  <a:ea typeface="SimSun"/>
                  <a:cs typeface="Times New Roman"/>
                </a:endParaRPr>
              </a:p>
            </p:txBody>
          </p:sp>
        </mc:Choice>
        <mc:Fallback xmlns=""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2EB13829-A891-44E9-8FDD-8E8A86C243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9208" y="4100180"/>
                <a:ext cx="2912529" cy="338554"/>
              </a:xfrm>
              <a:prstGeom prst="rect">
                <a:avLst/>
              </a:prstGeom>
              <a:blipFill>
                <a:blip r:embed="rId16"/>
                <a:stretch>
                  <a:fillRect l="-1046" t="-5455" r="-209" b="-2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  <a:latin typeface="Times New Roman"/>
                    <a:ea typeface="SimSun"/>
                    <a:cs typeface="Times New Roman"/>
                  </a:rPr>
                  <a:t> </a:t>
                </a:r>
              </a:p>
            </p:txBody>
          </p:sp>
        </mc:Fallback>
      </mc:AlternateContent>
      <p:sp>
        <p:nvSpPr>
          <p:cNvPr id="39" name="矩形 38">
            <a:extLst>
              <a:ext uri="{FF2B5EF4-FFF2-40B4-BE49-F238E27FC236}">
                <a16:creationId xmlns:a16="http://schemas.microsoft.com/office/drawing/2014/main" id="{A9D30FF3-9469-4424-B2D5-4563CAC6F326}"/>
              </a:ext>
            </a:extLst>
          </p:cNvPr>
          <p:cNvSpPr/>
          <p:nvPr/>
        </p:nvSpPr>
        <p:spPr>
          <a:xfrm>
            <a:off x="5499208" y="5302385"/>
            <a:ext cx="329878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HK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采用 SIMPLE 算法与 PRESTO! 压力插值格式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3F17D9C1-855F-414C-92BF-CFDF3B41B5BA}"/>
              </a:ext>
            </a:extLst>
          </p:cNvPr>
          <p:cNvSpPr/>
          <p:nvPr/>
        </p:nvSpPr>
        <p:spPr>
          <a:xfrm>
            <a:off x="8783641" y="5701047"/>
            <a:ext cx="3157011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HK" sz="1100" b="1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Fig.4.2.1 </a:t>
            </a:r>
            <a:r>
              <a:rPr lang="en-HK" sz="11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Sketch of meshing in the model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520FDF5-2393-4ACF-AFFA-60C8494F619F}"/>
              </a:ext>
            </a:extLst>
          </p:cNvPr>
          <p:cNvSpPr/>
          <p:nvPr/>
        </p:nvSpPr>
        <p:spPr>
          <a:xfrm>
            <a:off x="432473" y="954192"/>
            <a:ext cx="21659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 eaLnBrk="1" fontAlgn="auto" hangingPunct="1" algn="l">
              <a:spcBef>
                <a:spcPts val="0"/>
              </a:spcBef>
              <a:spcAft>
                <a:spcPts val="0"/>
              </a:spcAft>
            </a:pPr>
            <a:r>
              <a:rPr lang="en-HK" sz="18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4.2</a:t>
            </a:r>
            <a:r>
              <a:rPr lang="en-HK" sz="18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模型方程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A06B125-5902-4538-AEB1-33F0B3E7E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15884886-3D85-4AFD-9D94-33E4AF7428DD}" type="slidenum">
              <a:rPr lang="en-US" altLang="zh-CN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27</a:t>
            </a:fld>
            <a:endParaRPr lang="en-US" altLang="zh-CN">
              <a:latin typeface="Times New Roman"/>
              <a:ea typeface="SimSun"/>
              <a:cs typeface="Times New Roman"/>
            </a:endParaRPr>
          </a:p>
        </p:txBody>
      </p:sp>
      <p:sp>
        <p:nvSpPr>
          <p:cNvPr id="44" name="矩形 3">
            <a:extLst>
              <a:ext uri="{FF2B5EF4-FFF2-40B4-BE49-F238E27FC236}">
                <a16:creationId xmlns:a16="http://schemas.microsoft.com/office/drawing/2014/main" id="{237CE9BB-87C2-4BD8-81BD-BF23306BD5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3879" y="-47372"/>
            <a:ext cx="9807621" cy="972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9pPr>
          </a:lstStyle>
          <a:p>
            <a:pPr algn="l">
              <a:lnSpc>
                <a:spcPct val="125000"/>
              </a:lnSpc>
              <a:spcBef>
                <a:spcPct val="20000"/>
              </a:spcBef>
            </a:pPr>
            <a:r>
              <a:rPr lang="en-US" altLang="zh-CN" b="1" dirty="0" sz="1800"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4</a:t>
            </a:r>
            <a:r>
              <a:rPr lang="en-US" altLang="zh-CN" b="1" dirty="0" sz="1800"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. 考虑水膜形成的 IEC 三维 CFD 分析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689AE2E5-5A55-4800-ADF6-BA5649DB4678}"/>
              </a:ext>
            </a:extLst>
          </p:cNvPr>
          <p:cNvSpPr/>
          <p:nvPr/>
        </p:nvSpPr>
        <p:spPr>
          <a:xfrm>
            <a:off x="9999754" y="4331116"/>
            <a:ext cx="120015" cy="42481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HK">
              <a:latin typeface="Times New Roman"/>
              <a:ea typeface="SimSun"/>
              <a:cs typeface="Times New Roman"/>
            </a:endParaRPr>
          </a:p>
        </p:txBody>
      </p: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B33F72BF-0B7F-4F6C-8C4F-89703A639675}"/>
              </a:ext>
            </a:extLst>
          </p:cNvPr>
          <p:cNvCxnSpPr>
            <a:cxnSpLocks/>
          </p:cNvCxnSpPr>
          <p:nvPr/>
        </p:nvCxnSpPr>
        <p:spPr>
          <a:xfrm flipV="1">
            <a:off x="10120404" y="4496851"/>
            <a:ext cx="878275" cy="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0238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33"/>
    </mc:Choice>
    <mc:Fallback xmlns="">
      <p:transition spd="slow" advTm="5933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60C4AA45-821C-49F5-B928-C5C40E7526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8621797"/>
              </p:ext>
            </p:extLst>
          </p:nvPr>
        </p:nvGraphicFramePr>
        <p:xfrm>
          <a:off x="6791255" y="1674622"/>
          <a:ext cx="4230818" cy="35218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6523715" imgH="5420971" progId="Origin95.Graph">
                  <p:embed/>
                </p:oleObj>
              </mc:Choice>
              <mc:Fallback>
                <p:oleObj name="Graph" r:id="rId3" imgW="6523715" imgH="5420971" progId="Origin95.Graph">
                  <p:embed/>
                  <p:pic>
                    <p:nvPicPr>
                      <p:cNvPr id="0" name="Object 2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1255" y="1674622"/>
                        <a:ext cx="4230818" cy="352184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E720DF96-1927-4522-88AC-6E975D11B44C}"/>
              </a:ext>
            </a:extLst>
          </p:cNvPr>
          <p:cNvSpPr txBox="1"/>
          <p:nvPr/>
        </p:nvSpPr>
        <p:spPr>
          <a:xfrm>
            <a:off x="452142" y="935958"/>
            <a:ext cx="5178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eaLnBrk="1" fontAlgn="auto" hangingPunct="1" algn="l">
              <a:spcBef>
                <a:spcPts val="0"/>
              </a:spcBef>
              <a:spcAft>
                <a:spcPts val="0"/>
              </a:spcAft>
            </a:pPr>
            <a:r>
              <a:rPr lang="en-HK" sz="1800" b="1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4.3</a:t>
            </a:r>
            <a:r>
              <a:rPr lang="en-HK" sz="1800" b="1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模型验证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64456A3-825F-41A6-9980-75AECC33CD3B}"/>
              </a:ext>
            </a:extLst>
          </p:cNvPr>
          <p:cNvSpPr/>
          <p:nvPr/>
        </p:nvSpPr>
        <p:spPr>
          <a:xfrm>
            <a:off x="6660241" y="1305290"/>
            <a:ext cx="2223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HK" sz="18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网格无关性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0D258E3-16A2-4582-8DFB-8660D91BF356}"/>
              </a:ext>
            </a:extLst>
          </p:cNvPr>
          <p:cNvSpPr/>
          <p:nvPr/>
        </p:nvSpPr>
        <p:spPr>
          <a:xfrm>
            <a:off x="576955" y="1305290"/>
            <a:ext cx="53719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HK" sz="18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实验与数值模拟结果对比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B84F03E-DC0E-4981-8621-C431E1B1C42E}"/>
              </a:ext>
            </a:extLst>
          </p:cNvPr>
          <p:cNvSpPr/>
          <p:nvPr/>
        </p:nvSpPr>
        <p:spPr>
          <a:xfrm>
            <a:off x="1035561" y="6129215"/>
            <a:ext cx="463545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HK" sz="16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采用 ANSYS ICEM 对计算模型进行网格划分。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65F77BF4-E7CB-4B11-BE0F-ACEBD86B085A}"/>
              </a:ext>
            </a:extLst>
          </p:cNvPr>
          <p:cNvSpPr/>
          <p:nvPr/>
        </p:nvSpPr>
        <p:spPr>
          <a:xfrm>
            <a:off x="8551119" y="1811718"/>
            <a:ext cx="332808" cy="2925213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 sz="1400" dirty="0">
              <a:latin typeface="Times New Roman"/>
              <a:ea typeface="SimSun"/>
              <a:cs typeface="Times New Roman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10268D4-C98E-42E1-B80C-BE2152297D0F}"/>
              </a:ext>
            </a:extLst>
          </p:cNvPr>
          <p:cNvSpPr/>
          <p:nvPr/>
        </p:nvSpPr>
        <p:spPr>
          <a:xfrm>
            <a:off x="6768490" y="5552710"/>
            <a:ext cx="448089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HK" sz="16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后续模拟采用 </a:t>
            </a:r>
            <a:r>
              <a:rPr lang="en-HK" sz="16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113,200</a:t>
            </a:r>
            <a:r>
              <a:rPr lang="en-HK" sz="16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个网格。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5D9223E-70D2-4655-8994-DCF81BC8338D}"/>
              </a:ext>
            </a:extLst>
          </p:cNvPr>
          <p:cNvSpPr/>
          <p:nvPr/>
        </p:nvSpPr>
        <p:spPr>
          <a:xfrm>
            <a:off x="7455810" y="5165837"/>
            <a:ext cx="390066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HK" sz="1200" b="1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Fig.4.3.1 </a:t>
            </a:r>
            <a:r>
              <a:rPr lang="en-HK" sz="12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Coverage ratio at different numbers of grid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D9371E1-430D-430F-986C-929F04056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15884886-3D85-4AFD-9D94-33E4AF7428DD}" type="slidenum">
              <a:rPr lang="en-US" altLang="zh-CN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28</a:t>
            </a:fld>
            <a:endParaRPr lang="en-US" altLang="zh-CN">
              <a:latin typeface="Times New Roman"/>
              <a:ea typeface="SimSun"/>
              <a:cs typeface="Times New Roman"/>
            </a:endParaRPr>
          </a:p>
        </p:txBody>
      </p:sp>
      <p:sp>
        <p:nvSpPr>
          <p:cNvPr id="19" name="矩形 3">
            <a:extLst>
              <a:ext uri="{FF2B5EF4-FFF2-40B4-BE49-F238E27FC236}">
                <a16:creationId xmlns:a16="http://schemas.microsoft.com/office/drawing/2014/main" id="{98996587-E9AA-4C1F-91AE-2F3EA546BE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3879" y="-47372"/>
            <a:ext cx="9807621" cy="972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9pPr>
          </a:lstStyle>
          <a:p>
            <a:pPr algn="l">
              <a:lnSpc>
                <a:spcPct val="125000"/>
              </a:lnSpc>
              <a:spcBef>
                <a:spcPct val="20000"/>
              </a:spcBef>
            </a:pPr>
            <a:r>
              <a:rPr lang="en-US" altLang="zh-CN" b="1" dirty="0" sz="1800"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4</a:t>
            </a:r>
            <a:r>
              <a:rPr lang="en-US" altLang="zh-CN" b="1" dirty="0" sz="1800"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. 考虑水膜形成的 IEC 三维 CFD 分析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79E66591-B8EB-46AB-A9EF-7DCAAAD47A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81"/>
          <a:stretch>
            <a:fillRect/>
          </a:stretch>
        </p:blipFill>
        <p:spPr bwMode="auto">
          <a:xfrm>
            <a:off x="2650762" y="3960758"/>
            <a:ext cx="1775675" cy="1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3DFF2F3-4345-44AF-815A-C5419A0BEDF4}"/>
              </a:ext>
            </a:extLst>
          </p:cNvPr>
          <p:cNvSpPr/>
          <p:nvPr/>
        </p:nvSpPr>
        <p:spPr>
          <a:xfrm>
            <a:off x="1553290" y="3652981"/>
            <a:ext cx="178927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（a）实验板面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4C10F30-1AC7-46CF-9B64-B90CD72EEE80}"/>
              </a:ext>
            </a:extLst>
          </p:cNvPr>
          <p:cNvSpPr/>
          <p:nvPr/>
        </p:nvSpPr>
        <p:spPr>
          <a:xfrm>
            <a:off x="3734637" y="3630295"/>
            <a:ext cx="16401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（b）数值模拟结果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3B3D0E2-335B-4FE7-9938-BF9FAFB0B6A5}"/>
              </a:ext>
            </a:extLst>
          </p:cNvPr>
          <p:cNvSpPr/>
          <p:nvPr/>
        </p:nvSpPr>
        <p:spPr>
          <a:xfrm>
            <a:off x="2339350" y="5737521"/>
            <a:ext cx="25875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（c）ImageJ 处理后的实验结果</a:t>
            </a:r>
          </a:p>
        </p:txBody>
      </p:sp>
      <p:sp>
        <p:nvSpPr>
          <p:cNvPr id="8" name="Rectangle 217">
            <a:extLst>
              <a:ext uri="{FF2B5EF4-FFF2-40B4-BE49-F238E27FC236}">
                <a16:creationId xmlns:a16="http://schemas.microsoft.com/office/drawing/2014/main" id="{258704E8-107F-4D40-9FD2-327B0A1A28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8409" y="157935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latin typeface="Times New Roman"/>
              <a:ea typeface="SimSun"/>
              <a:cs typeface="Times New Roman"/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786C0105-77AF-4D31-AC98-EEED70A33B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1923" y="1807609"/>
            <a:ext cx="1832579" cy="1800000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8BFB16C4-D647-4E5B-BECB-32383676EA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33134" y="1818952"/>
            <a:ext cx="1840269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82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33"/>
    </mc:Choice>
    <mc:Fallback xmlns="">
      <p:transition spd="slow" advTm="5933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0DB48571-81F7-4F2B-A0D7-8CC87FE44C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7013" y="1494937"/>
            <a:ext cx="3650638" cy="4320000"/>
          </a:xfrm>
          <a:prstGeom prst="rect">
            <a:avLst/>
          </a:prstGeom>
          <a:noFill/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CAF00261-34FA-4ECD-A573-3967B1E4F44B}"/>
              </a:ext>
            </a:extLst>
          </p:cNvPr>
          <p:cNvSpPr/>
          <p:nvPr/>
        </p:nvSpPr>
        <p:spPr>
          <a:xfrm>
            <a:off x="630078" y="1551392"/>
            <a:ext cx="16145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defTabSz="457200" eaLnBrk="1" fontAlgn="auto" hangingPunct="1" algn="l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实验条件：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D6E575A-1BAA-495C-9A4F-C625BE84BAF2}"/>
              </a:ext>
            </a:extLst>
          </p:cNvPr>
          <p:cNvSpPr/>
          <p:nvPr/>
        </p:nvSpPr>
        <p:spPr>
          <a:xfrm>
            <a:off x="7217651" y="1433145"/>
            <a:ext cx="21147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defTabSz="457200" eaLnBrk="1" fontAlgn="auto" hangingPunct="1" algn="l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验证结果：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450D832-42A3-4396-AF51-9EEB6188644E}"/>
              </a:ext>
            </a:extLst>
          </p:cNvPr>
          <p:cNvSpPr/>
          <p:nvPr/>
        </p:nvSpPr>
        <p:spPr>
          <a:xfrm>
            <a:off x="8599912" y="5080566"/>
            <a:ext cx="479206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HK" sz="12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Fig.4.4.2 </a:t>
            </a:r>
            <a:r>
              <a:rPr lang="en-HK" sz="12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Validation results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A203863-08F8-46E9-926E-0DF68D4222A3}"/>
              </a:ext>
            </a:extLst>
          </p:cNvPr>
          <p:cNvSpPr/>
          <p:nvPr/>
        </p:nvSpPr>
        <p:spPr>
          <a:xfrm>
            <a:off x="1117980" y="1876520"/>
            <a:ext cx="2253285" cy="11560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HK" sz="16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流量 Q = </a:t>
            </a:r>
            <a:r>
              <a:rPr lang="en-HK" sz="16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0.01 kg/s</a:t>
            </a:r>
          </a:p>
          <a:p>
            <a:pPr algn="l">
              <a:lnSpc>
                <a:spcPct val="150000"/>
              </a:lnSpc>
            </a:pPr>
            <a:r>
              <a:rPr lang="en-HK" sz="16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喷雾锥角 = </a:t>
            </a:r>
            <a:r>
              <a:rPr lang="en-HK" sz="16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45</a:t>
            </a:r>
            <a:r>
              <a:rPr lang="en-HK" sz="16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°</a:t>
            </a:r>
          </a:p>
          <a:p>
            <a:pPr algn="l">
              <a:lnSpc>
                <a:spcPct val="150000"/>
              </a:lnSpc>
            </a:pPr>
            <a:r>
              <a:rPr lang="en-HK" sz="16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喷嘴高度 = </a:t>
            </a:r>
            <a:r>
              <a:rPr lang="en-HK" sz="16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150 mm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BA0274F-8C33-4B7C-9AEC-7734D827EDD8}"/>
              </a:ext>
            </a:extLst>
          </p:cNvPr>
          <p:cNvSpPr/>
          <p:nvPr/>
        </p:nvSpPr>
        <p:spPr>
          <a:xfrm>
            <a:off x="4418026" y="5876729"/>
            <a:ext cx="260235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HK" sz="1200" b="1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Fig.4.4.1 </a:t>
            </a:r>
            <a:r>
              <a:rPr lang="en-HK" sz="12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Experiment bench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C6C3AE7-DE30-4069-956A-A66B44179A5E}"/>
              </a:ext>
            </a:extLst>
          </p:cNvPr>
          <p:cNvSpPr/>
          <p:nvPr/>
        </p:nvSpPr>
        <p:spPr>
          <a:xfrm>
            <a:off x="630078" y="3654937"/>
            <a:ext cx="18774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defTabSz="457200" eaLnBrk="1" fontAlgn="auto" hangingPunct="1" algn="l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实验要求：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CCC74D0-844C-4C05-AC6A-2A8C1070422C}"/>
              </a:ext>
            </a:extLst>
          </p:cNvPr>
          <p:cNvSpPr/>
          <p:nvPr/>
        </p:nvSpPr>
        <p:spPr>
          <a:xfrm>
            <a:off x="1085265" y="4100473"/>
            <a:ext cx="4572000" cy="786754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>
              <a:lnSpc>
                <a:spcPct val="150000"/>
              </a:lnSpc>
            </a:pPr>
            <a:r>
              <a:rPr lang="en-HK" sz="16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外壳采用透明材料；</a:t>
            </a:r>
          </a:p>
          <a:p>
            <a:pPr algn="l">
              <a:lnSpc>
                <a:spcPct val="150000"/>
              </a:lnSpc>
            </a:pPr>
            <a:r>
              <a:rPr lang="en-HK" sz="16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顶部安装可滑动喷嘴。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2A402BC-637D-41EB-96A1-02AC96781A3D}"/>
              </a:ext>
            </a:extLst>
          </p:cNvPr>
          <p:cNvSpPr/>
          <p:nvPr/>
        </p:nvSpPr>
        <p:spPr>
          <a:xfrm>
            <a:off x="7323000" y="5439170"/>
            <a:ext cx="450237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最大偏差为 </a:t>
            </a:r>
            <a:r>
              <a:rPr lang="en-US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7.1%</a:t>
            </a:r>
            <a:r>
              <a:rPr lang="en-US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，满足后续分析要求。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8E0AE2A-E407-4B45-9629-848DC903A987}"/>
              </a:ext>
            </a:extLst>
          </p:cNvPr>
          <p:cNvSpPr txBox="1"/>
          <p:nvPr/>
        </p:nvSpPr>
        <p:spPr>
          <a:xfrm>
            <a:off x="405649" y="961202"/>
            <a:ext cx="5178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eaLnBrk="1" fontAlgn="auto" hangingPunct="1" algn="l">
              <a:spcBef>
                <a:spcPts val="0"/>
              </a:spcBef>
              <a:spcAft>
                <a:spcPts val="0"/>
              </a:spcAft>
            </a:pPr>
            <a:r>
              <a:rPr lang="en-HK" sz="18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4.4</a:t>
            </a:r>
            <a:r>
              <a:rPr lang="en-HK" sz="18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实验验证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F0321DA-606C-4F03-8CFE-CB3D18F5A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15884886-3D85-4AFD-9D94-33E4AF7428DD}" type="slidenum">
              <a:rPr lang="en-US" altLang="zh-CN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29</a:t>
            </a:fld>
            <a:endParaRPr lang="en-US" altLang="zh-CN">
              <a:latin typeface="Times New Roman"/>
              <a:ea typeface="SimSun"/>
              <a:cs typeface="Times New Roman"/>
            </a:endParaRPr>
          </a:p>
        </p:txBody>
      </p:sp>
      <p:sp>
        <p:nvSpPr>
          <p:cNvPr id="22" name="矩形 3">
            <a:extLst>
              <a:ext uri="{FF2B5EF4-FFF2-40B4-BE49-F238E27FC236}">
                <a16:creationId xmlns:a16="http://schemas.microsoft.com/office/drawing/2014/main" id="{A83E1EC0-E872-49D1-AA95-3A74B7DC3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3879" y="-47372"/>
            <a:ext cx="9807621" cy="972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9pPr>
          </a:lstStyle>
          <a:p>
            <a:pPr algn="l">
              <a:lnSpc>
                <a:spcPct val="125000"/>
              </a:lnSpc>
              <a:spcBef>
                <a:spcPct val="20000"/>
              </a:spcBef>
            </a:pPr>
            <a:r>
              <a:rPr lang="en-US" altLang="zh-CN" b="1" dirty="0" sz="1800"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4</a:t>
            </a:r>
            <a:r>
              <a:rPr lang="en-US" altLang="zh-CN" b="1" dirty="0" sz="1800"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. 考虑水膜形成的 IEC 三维 CFD 分析</a:t>
            </a:r>
          </a:p>
        </p:txBody>
      </p:sp>
      <p:sp>
        <p:nvSpPr>
          <p:cNvPr id="6" name="Rectangle 219">
            <a:extLst>
              <a:ext uri="{FF2B5EF4-FFF2-40B4-BE49-F238E27FC236}">
                <a16:creationId xmlns:a16="http://schemas.microsoft.com/office/drawing/2014/main" id="{9C3718CC-FF8B-4A64-8DC6-BB7FFCD46D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latin typeface="Times New Roman"/>
              <a:ea typeface="SimSun"/>
              <a:cs typeface="Times New Roman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3DDBFAEC-D5A7-4EFA-8F5B-020AB16ABD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0729710"/>
              </p:ext>
            </p:extLst>
          </p:nvPr>
        </p:nvGraphicFramePr>
        <p:xfrm>
          <a:off x="7454519" y="1860087"/>
          <a:ext cx="3900063" cy="33013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6246376" imgH="5254989" progId="Origin95.Graph">
                  <p:embed/>
                </p:oleObj>
              </mc:Choice>
              <mc:Fallback>
                <p:oleObj name="Graph" r:id="rId4" imgW="6246376" imgH="5254989" progId="Origin95.Graph">
                  <p:embed/>
                  <p:pic>
                    <p:nvPicPr>
                      <p:cNvPr id="0" name="Object 2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4519" y="1860087"/>
                        <a:ext cx="3900063" cy="330136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71573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33"/>
    </mc:Choice>
    <mc:Fallback xmlns="">
      <p:transition spd="slow" advTm="5933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CAF00261-34FA-4ECD-A573-3967B1E4F44B}"/>
              </a:ext>
            </a:extLst>
          </p:cNvPr>
          <p:cNvSpPr/>
          <p:nvPr/>
        </p:nvSpPr>
        <p:spPr>
          <a:xfrm>
            <a:off x="630078" y="1551392"/>
            <a:ext cx="2159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defTabSz="457200" eaLnBrk="1" fontAlgn="auto" hangingPunct="1" algn="l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实验台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D6E575A-1BAA-495C-9A4F-C625BE84BAF2}"/>
              </a:ext>
            </a:extLst>
          </p:cNvPr>
          <p:cNvSpPr/>
          <p:nvPr/>
        </p:nvSpPr>
        <p:spPr>
          <a:xfrm>
            <a:off x="7079628" y="1551392"/>
            <a:ext cx="21147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defTabSz="457200" eaLnBrk="1" fontAlgn="auto" hangingPunct="1" algn="l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验证结果：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450D832-42A3-4396-AF51-9EEB6188644E}"/>
              </a:ext>
            </a:extLst>
          </p:cNvPr>
          <p:cNvSpPr/>
          <p:nvPr/>
        </p:nvSpPr>
        <p:spPr>
          <a:xfrm>
            <a:off x="8538707" y="5268305"/>
            <a:ext cx="201920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HK" sz="12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Fig.4.4.4 </a:t>
            </a:r>
            <a:r>
              <a:rPr lang="en-HK" sz="12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Validation results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2A402BC-637D-41EB-96A1-02AC96781A3D}"/>
              </a:ext>
            </a:extLst>
          </p:cNvPr>
          <p:cNvSpPr/>
          <p:nvPr/>
        </p:nvSpPr>
        <p:spPr>
          <a:xfrm>
            <a:off x="7328008" y="5678574"/>
            <a:ext cx="450237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最大偏差为 </a:t>
            </a:r>
            <a:r>
              <a:rPr lang="en-US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8.2%</a:t>
            </a:r>
            <a:r>
              <a:rPr lang="en-US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，满足后续分析要求。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8E0AE2A-E407-4B45-9629-848DC903A987}"/>
              </a:ext>
            </a:extLst>
          </p:cNvPr>
          <p:cNvSpPr txBox="1"/>
          <p:nvPr/>
        </p:nvSpPr>
        <p:spPr>
          <a:xfrm>
            <a:off x="405649" y="961202"/>
            <a:ext cx="5178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eaLnBrk="1" fontAlgn="auto" hangingPunct="1" algn="l">
              <a:spcBef>
                <a:spcPts val="0"/>
              </a:spcBef>
              <a:spcAft>
                <a:spcPts val="0"/>
              </a:spcAft>
            </a:pPr>
            <a:r>
              <a:rPr lang="en-HK" sz="18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4.4</a:t>
            </a:r>
            <a:r>
              <a:rPr lang="en-HK" sz="18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实验验证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F0321DA-606C-4F03-8CFE-CB3D18F5A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15884886-3D85-4AFD-9D94-33E4AF7428DD}" type="slidenum">
              <a:rPr lang="en-US" altLang="zh-CN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30</a:t>
            </a:fld>
            <a:endParaRPr lang="en-US" altLang="zh-CN">
              <a:latin typeface="Times New Roman"/>
              <a:ea typeface="SimSun"/>
              <a:cs typeface="Times New Roman"/>
            </a:endParaRPr>
          </a:p>
        </p:txBody>
      </p:sp>
      <p:sp>
        <p:nvSpPr>
          <p:cNvPr id="22" name="矩形 3">
            <a:extLst>
              <a:ext uri="{FF2B5EF4-FFF2-40B4-BE49-F238E27FC236}">
                <a16:creationId xmlns:a16="http://schemas.microsoft.com/office/drawing/2014/main" id="{A83E1EC0-E872-49D1-AA95-3A74B7DC3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3879" y="-47372"/>
            <a:ext cx="9807621" cy="972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9pPr>
          </a:lstStyle>
          <a:p>
            <a:pPr algn="l">
              <a:lnSpc>
                <a:spcPct val="125000"/>
              </a:lnSpc>
              <a:spcBef>
                <a:spcPct val="20000"/>
              </a:spcBef>
            </a:pPr>
            <a:r>
              <a:rPr lang="en-US" altLang="zh-CN" b="1" dirty="0" sz="1800"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4</a:t>
            </a:r>
            <a:r>
              <a:rPr lang="en-US" altLang="zh-CN" b="1" dirty="0" sz="1800"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. 考虑水膜形成的 IEC 三维 CFD 分析</a:t>
            </a:r>
          </a:p>
        </p:txBody>
      </p:sp>
      <p:sp>
        <p:nvSpPr>
          <p:cNvPr id="6" name="Rectangle 219">
            <a:extLst>
              <a:ext uri="{FF2B5EF4-FFF2-40B4-BE49-F238E27FC236}">
                <a16:creationId xmlns:a16="http://schemas.microsoft.com/office/drawing/2014/main" id="{9C3718CC-FF8B-4A64-8DC6-BB7FFCD46D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latin typeface="Times New Roman"/>
              <a:ea typeface="SimSun"/>
              <a:cs typeface="Times New Roman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2DB0A7BF-2080-4A24-92AC-95090B602E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115" y="2018735"/>
            <a:ext cx="5512971" cy="3600000"/>
          </a:xfrm>
          <a:prstGeom prst="rect">
            <a:avLst/>
          </a:prstGeom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0EC59F86-389A-485F-8724-09E44747A7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7651" y="195240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latin typeface="Times New Roman"/>
              <a:ea typeface="SimSun"/>
              <a:cs typeface="Times New Roman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C694B137-4033-4701-B03E-3B8C9EF35B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2724867"/>
              </p:ext>
            </p:extLst>
          </p:nvPr>
        </p:nvGraphicFramePr>
        <p:xfrm>
          <a:off x="7328008" y="2005795"/>
          <a:ext cx="3962183" cy="3326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6246376" imgH="5254989" progId="Origin95.Graph">
                  <p:embed/>
                </p:oleObj>
              </mc:Choice>
              <mc:Fallback>
                <p:oleObj name="Graph" r:id="rId4" imgW="6246376" imgH="5254989" progId="Origin95.Graph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8008" y="2005795"/>
                        <a:ext cx="3962183" cy="33268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矩形 19">
            <a:extLst>
              <a:ext uri="{FF2B5EF4-FFF2-40B4-BE49-F238E27FC236}">
                <a16:creationId xmlns:a16="http://schemas.microsoft.com/office/drawing/2014/main" id="{1A42B36B-9477-4B63-AE31-5169BBDEC44A}"/>
              </a:ext>
            </a:extLst>
          </p:cNvPr>
          <p:cNvSpPr/>
          <p:nvPr/>
        </p:nvSpPr>
        <p:spPr>
          <a:xfrm>
            <a:off x="2994894" y="5716746"/>
            <a:ext cx="201920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HK" sz="12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Fig.4.4.3 </a:t>
            </a:r>
            <a:r>
              <a:rPr lang="en-HK" sz="12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Validation results</a:t>
            </a:r>
          </a:p>
        </p:txBody>
      </p:sp>
    </p:spTree>
    <p:extLst>
      <p:ext uri="{BB962C8B-B14F-4D97-AF65-F5344CB8AC3E}">
        <p14:creationId xmlns:p14="http://schemas.microsoft.com/office/powerpoint/2010/main" val="3400369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33"/>
    </mc:Choice>
    <mc:Fallback xmlns="">
      <p:transition spd="slow" advTm="5933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8FD1B34B-0BFD-4D75-8B26-4106966E69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6674" y="1337638"/>
          <a:ext cx="4440300" cy="33050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6857410" imgH="5143222" progId="Origin95.Graph">
                  <p:embed/>
                </p:oleObj>
              </mc:Choice>
              <mc:Fallback>
                <p:oleObj name="Graph" r:id="rId3" imgW="6857410" imgH="5143222" progId="Origin95.Graph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8FD1B34B-0BFD-4D75-8B26-4106966E69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6674" y="1337638"/>
                        <a:ext cx="4440300" cy="330501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矩形 46">
            <a:extLst>
              <a:ext uri="{FF2B5EF4-FFF2-40B4-BE49-F238E27FC236}">
                <a16:creationId xmlns:a16="http://schemas.microsoft.com/office/drawing/2014/main" id="{A6753483-5E34-4527-A3C3-A492FDD07860}"/>
              </a:ext>
            </a:extLst>
          </p:cNvPr>
          <p:cNvSpPr/>
          <p:nvPr/>
        </p:nvSpPr>
        <p:spPr bwMode="auto">
          <a:xfrm>
            <a:off x="1334004" y="5267495"/>
            <a:ext cx="4267887" cy="1384400"/>
          </a:xfrm>
          <a:prstGeom prst="rect">
            <a:avLst/>
          </a:prstGeom>
          <a:ln>
            <a:solidFill>
              <a:srgbClr val="A60626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endParaRPr lang="en-HK" sz="3200">
              <a:solidFill>
                <a:schemeClr val="bg2"/>
              </a:solidFill>
              <a:latin typeface="Times New Roman" charset="0"/>
              <a:ea typeface="SimSun"/>
              <a:cs typeface="Times New Roman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9606707-B646-48A5-9DE1-5BAE9D2680F2}"/>
              </a:ext>
            </a:extLst>
          </p:cNvPr>
          <p:cNvSpPr/>
          <p:nvPr/>
        </p:nvSpPr>
        <p:spPr>
          <a:xfrm>
            <a:off x="688961" y="1100888"/>
            <a:ext cx="30321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喷雾特性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6BF9115-8775-4D40-81C7-6B6F64425C40}"/>
              </a:ext>
            </a:extLst>
          </p:cNvPr>
          <p:cNvSpPr/>
          <p:nvPr/>
        </p:nvSpPr>
        <p:spPr>
          <a:xfrm>
            <a:off x="861980" y="1617063"/>
            <a:ext cx="57181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Times New Roman" pitchFamily="18" charset="0"/>
                <a:ea typeface="SimSun"/>
                <a:cs typeface="Times New Roman" pitchFamily="18" charset="0"/>
              </a:rPr>
              <a:t>理论质量流量采用 Lefebvre 与 McDonell 的关联式计算。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04AEFD1A-F491-478B-AB3F-DEA2A908B11D}"/>
                  </a:ext>
                </a:extLst>
              </p:cNvPr>
              <p:cNvSpPr/>
              <p:nvPr/>
            </p:nvSpPr>
            <p:spPr>
              <a:xfrm>
                <a:off x="1947313" y="1910749"/>
                <a:ext cx="2424831" cy="59663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zh-CN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altLang="zh-CN" sz="1600" i="1">
                                  <a:latin typeface="Times New Roman"/>
                                  <a:ea typeface="SimSun"/>
                                  <a:cs typeface="Times New Roman"/>
                                </a:rPr>
                              </m:ctrlPr>
                            </m:accPr>
                            <m:e>
                              <m:r>
                                <a:rPr lang="en-US" altLang="zh-CN" sz="1600" i="1">
                                  <a:latin typeface="Times New Roman"/>
                                  <a:ea typeface="SimSun"/>
                                  <a:cs typeface="Times New Roman"/>
                                </a:rPr>
                                <m:t>𝑚</m:t>
                              </m:r>
                            </m:e>
                          </m:acc>
                        </m:e>
                        <m:sub>
                          <m:r>
                            <a:rPr lang="en-US" altLang="zh-CN" sz="1600" i="1">
                              <a:latin typeface="Times New Roman"/>
                              <a:ea typeface="SimSun"/>
                              <a:cs typeface="Times New Roman"/>
                            </a:rPr>
                            <m:t>𝑡ℎ</m:t>
                          </m:r>
                        </m:sub>
                      </m:sSub>
                      <m:r>
                        <a:rPr lang="en-US" altLang="zh-CN" sz="1600" i="1">
                          <a:latin typeface="Times New Roman"/>
                          <a:ea typeface="SimSun"/>
                          <a:cs typeface="Times New Roman"/>
                        </a:rPr>
                        <m:t>=</m:t>
                      </m:r>
                      <m:r>
                        <a:rPr lang="en-US" altLang="zh-CN" sz="1600" i="1">
                          <a:latin typeface="Times New Roman"/>
                          <a:ea typeface="SimSun"/>
                          <a:cs typeface="Times New Roman"/>
                        </a:rPr>
                        <m:t>𝜌</m:t>
                      </m:r>
                      <m:sSub>
                        <m:sSubPr>
                          <m:ctrlPr>
                            <a:rPr lang="en-US" altLang="zh-CN" sz="1600" i="1">
                              <a:latin typeface="Times New Roman"/>
                              <a:ea typeface="SimSun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Times New Roman"/>
                              <a:ea typeface="SimSun"/>
                              <a:cs typeface="Times New Roman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1600" i="1">
                              <a:latin typeface="Times New Roman"/>
                              <a:ea typeface="SimSun"/>
                              <a:cs typeface="Times New Roman"/>
                            </a:rPr>
                            <m:t>𝑂</m:t>
                          </m:r>
                        </m:sub>
                      </m:sSub>
                      <m:sSup>
                        <m:sSupPr>
                          <m:ctrlPr>
                            <a:rPr lang="en-US" altLang="zh-CN" sz="1600" i="1">
                              <a:latin typeface="Times New Roman"/>
                              <a:ea typeface="SimSun"/>
                              <a:cs typeface="Times New Roman"/>
                            </a:rPr>
                          </m:ctrlPr>
                        </m:sSupPr>
                        <m:e>
                          <m:r>
                            <a:rPr lang="en-US" altLang="zh-CN" sz="1600" i="1">
                              <a:latin typeface="Times New Roman"/>
                              <a:ea typeface="SimSun"/>
                              <a:cs typeface="Times New Roman"/>
                            </a:rPr>
                            <m:t>(</m:t>
                          </m:r>
                          <m:f>
                            <m:fPr>
                              <m:ctrlPr>
                                <a:rPr lang="en-US" altLang="zh-CN" sz="1600" i="1">
                                  <a:latin typeface="Times New Roman"/>
                                  <a:ea typeface="SimSun"/>
                                  <a:cs typeface="Times New Roman"/>
                                </a:rPr>
                              </m:ctrlPr>
                            </m:fPr>
                            <m:num>
                              <m:r>
                                <a:rPr lang="en-US" altLang="zh-CN" sz="1600" i="1">
                                  <a:latin typeface="Times New Roman"/>
                                  <a:ea typeface="SimSun"/>
                                  <a:cs typeface="Times New Roman"/>
                                </a:rPr>
                                <m:t>2∆</m:t>
                              </m:r>
                              <m:r>
                                <a:rPr lang="en-US" altLang="zh-CN" sz="1600" i="1">
                                  <a:latin typeface="Times New Roman"/>
                                  <a:ea typeface="SimSun"/>
                                  <a:cs typeface="Times New Roman"/>
                                </a:rPr>
                                <m:t>𝑃</m:t>
                              </m:r>
                            </m:num>
                            <m:den>
                              <m:r>
                                <a:rPr lang="en-US" altLang="zh-CN" sz="1600" i="1">
                                  <a:latin typeface="Times New Roman"/>
                                  <a:ea typeface="SimSun"/>
                                  <a:cs typeface="Times New Roman"/>
                                </a:rPr>
                                <m:t>𝜌</m:t>
                              </m:r>
                            </m:den>
                          </m:f>
                          <m:r>
                            <a:rPr lang="en-US" altLang="zh-CN" sz="1600" i="1">
                              <a:latin typeface="Times New Roman"/>
                              <a:ea typeface="SimSun"/>
                              <a:cs typeface="Times New Roman"/>
                            </a:rPr>
                            <m:t>)</m:t>
                          </m:r>
                        </m:e>
                        <m:sup>
                          <m:r>
                            <a:rPr lang="en-US" altLang="zh-CN" sz="1600" i="1">
                              <a:latin typeface="Times New Roman"/>
                              <a:ea typeface="SimSun"/>
                              <a:cs typeface="Times New Roman"/>
                            </a:rPr>
                            <m:t>0.5</m:t>
                          </m:r>
                        </m:sup>
                      </m:sSup>
                    </m:oMath>
                  </m:oMathPara>
                </a14:m>
                <a:endParaRPr lang="zh-CN" altLang="zh-CN" sz="1600" dirty="0">
                  <a:latin typeface="Times New Roman"/>
                  <a:ea typeface="SimSun"/>
                  <a:cs typeface="Times New Roman"/>
                </a:endParaRPr>
              </a:p>
            </p:txBody>
          </p:sp>
        </mc:Choice>
        <mc:Fallback xmlns=""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04AEFD1A-F491-478B-AB3F-DEA2A908B1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7313" y="1910749"/>
                <a:ext cx="2424831" cy="59663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  <a:latin typeface="Times New Roman"/>
                    <a:ea typeface="SimSun"/>
                    <a:cs typeface="Times New Roman"/>
                  </a:rPr>
                  <a:t> </a:t>
                </a:r>
              </a:p>
            </p:txBody>
          </p:sp>
        </mc:Fallback>
      </mc:AlternateContent>
      <p:sp>
        <p:nvSpPr>
          <p:cNvPr id="38" name="矩形 37">
            <a:extLst>
              <a:ext uri="{FF2B5EF4-FFF2-40B4-BE49-F238E27FC236}">
                <a16:creationId xmlns:a16="http://schemas.microsoft.com/office/drawing/2014/main" id="{2791F8FC-218F-45C2-BE7B-62E9DB989D47}"/>
              </a:ext>
            </a:extLst>
          </p:cNvPr>
          <p:cNvSpPr/>
          <p:nvPr/>
        </p:nvSpPr>
        <p:spPr>
          <a:xfrm>
            <a:off x="861980" y="2541867"/>
            <a:ext cx="543991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Times New Roman" pitchFamily="18" charset="0"/>
                <a:ea typeface="SimSun"/>
                <a:cs typeface="Times New Roman" pitchFamily="18" charset="0"/>
              </a:rPr>
              <a:t>平均液滴直径由下式计算：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5EF7F9EB-37AE-4981-B1A5-EE5B140C6B93}"/>
                  </a:ext>
                </a:extLst>
              </p:cNvPr>
              <p:cNvSpPr/>
              <p:nvPr/>
            </p:nvSpPr>
            <p:spPr>
              <a:xfrm>
                <a:off x="1832660" y="3061674"/>
                <a:ext cx="2654135" cy="35836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sz="1600" i="1">
                          <a:latin typeface="Times New Roman"/>
                          <a:ea typeface="SimSun"/>
                          <a:cs typeface="Times New Roman"/>
                        </a:rPr>
                        <m:t>𝑑</m:t>
                      </m:r>
                      <m:r>
                        <a:rPr lang="en-US" altLang="zh-CN" sz="1600">
                          <a:latin typeface="Times New Roman"/>
                          <a:ea typeface="SimSun"/>
                          <a:cs typeface="Times New Roman"/>
                        </a:rPr>
                        <m:t>=9.5</m:t>
                      </m:r>
                      <m:sSub>
                        <m:sSubPr>
                          <m:ctrlPr>
                            <a:rPr lang="en-US" altLang="zh-CN" sz="1600" i="1">
                              <a:latin typeface="Times New Roman"/>
                              <a:ea typeface="SimSun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Times New Roman"/>
                              <a:ea typeface="SimSun"/>
                              <a:cs typeface="Times New Roman"/>
                            </a:rPr>
                            <m:t>𝑑</m:t>
                          </m:r>
                        </m:e>
                        <m:sub>
                          <m:r>
                            <a:rPr lang="en-US" altLang="zh-CN" sz="1600" i="1">
                              <a:latin typeface="Times New Roman"/>
                              <a:ea typeface="SimSun"/>
                              <a:cs typeface="Times New Roman"/>
                            </a:rPr>
                            <m:t>𝑗</m:t>
                          </m:r>
                        </m:sub>
                      </m:sSub>
                      <m:r>
                        <a:rPr lang="en-US" altLang="zh-CN" sz="1600">
                          <a:latin typeface="Times New Roman"/>
                          <a:ea typeface="SimSun"/>
                          <a:cs typeface="Times New Roman"/>
                        </a:rPr>
                        <m:t>/(∆</m:t>
                      </m:r>
                      <m:sSub>
                        <m:sSubPr>
                          <m:ctrlPr>
                            <a:rPr lang="en-US" altLang="zh-CN" sz="1600" i="1">
                              <a:latin typeface="Times New Roman"/>
                              <a:ea typeface="SimSun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Times New Roman"/>
                              <a:ea typeface="SimSun"/>
                              <a:cs typeface="Times New Roman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1600">
                              <a:latin typeface="Times New Roman"/>
                              <a:ea typeface="SimSun"/>
                              <a:cs typeface="Times New Roman"/>
                            </a:rPr>
                            <m:t>1</m:t>
                          </m:r>
                        </m:sub>
                      </m:sSub>
                      <m:r>
                        <a:rPr lang="en-US" altLang="zh-CN" sz="1600" i="1">
                          <a:latin typeface="Times New Roman"/>
                          <a:ea typeface="SimSun"/>
                          <a:cs typeface="Times New Roman"/>
                        </a:rPr>
                        <m:t>𝑠𝑖𝑛</m:t>
                      </m:r>
                      <m:r>
                        <a:rPr lang="en-US" altLang="zh-CN" sz="1600">
                          <a:latin typeface="Times New Roman"/>
                          <a:ea typeface="SimSun"/>
                          <a:cs typeface="Times New Roman"/>
                        </a:rPr>
                        <m:t>(</m:t>
                      </m:r>
                      <m:r>
                        <a:rPr lang="en-US" altLang="zh-CN" sz="1600" i="1">
                          <a:latin typeface="Times New Roman"/>
                          <a:ea typeface="SimSun"/>
                          <a:cs typeface="Times New Roman"/>
                        </a:rPr>
                        <m:t>𝛼</m:t>
                      </m:r>
                      <m:r>
                        <a:rPr lang="en-US" altLang="zh-CN" sz="1600">
                          <a:latin typeface="Times New Roman"/>
                          <a:ea typeface="SimSun"/>
                          <a:cs typeface="Times New Roman"/>
                        </a:rPr>
                        <m:t>/2))</m:t>
                      </m:r>
                    </m:oMath>
                  </m:oMathPara>
                </a14:m>
                <a:endParaRPr lang="zh-CN" altLang="zh-CN" sz="1600" dirty="0">
                  <a:latin typeface="Times New Roman"/>
                  <a:ea typeface="SimSun"/>
                  <a:cs typeface="Times New Roman"/>
                </a:endParaRPr>
              </a:p>
            </p:txBody>
          </p:sp>
        </mc:Choice>
        <mc:Fallback xmlns=""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5EF7F9EB-37AE-4981-B1A5-EE5B140C6B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2660" y="3061674"/>
                <a:ext cx="2654135" cy="358368"/>
              </a:xfrm>
              <a:prstGeom prst="rect">
                <a:avLst/>
              </a:prstGeom>
              <a:blipFill>
                <a:blip r:embed="rId7"/>
                <a:stretch>
                  <a:fillRect b="-67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  <a:latin typeface="Times New Roman"/>
                    <a:ea typeface="SimSun"/>
                    <a:cs typeface="Times New Roman"/>
                  </a:rPr>
                  <a:t> </a:t>
                </a:r>
              </a:p>
            </p:txBody>
          </p:sp>
        </mc:Fallback>
      </mc:AlternateContent>
      <p:sp>
        <p:nvSpPr>
          <p:cNvPr id="40" name="矩形 39">
            <a:extLst>
              <a:ext uri="{FF2B5EF4-FFF2-40B4-BE49-F238E27FC236}">
                <a16:creationId xmlns:a16="http://schemas.microsoft.com/office/drawing/2014/main" id="{30CF54E5-5DAD-4CA1-90ED-33FCFC47D452}"/>
              </a:ext>
            </a:extLst>
          </p:cNvPr>
          <p:cNvSpPr/>
          <p:nvPr/>
        </p:nvSpPr>
        <p:spPr>
          <a:xfrm>
            <a:off x="857642" y="3579763"/>
            <a:ext cx="543991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Times New Roman" pitchFamily="18" charset="0"/>
                <a:ea typeface="SimSun"/>
                <a:cs typeface="Times New Roman" pitchFamily="18" charset="0"/>
              </a:rPr>
              <a:t>基于无黏理论的喷雾锥角关联式（Abramovich，</a:t>
            </a:r>
            <a:r>
              <a:rPr lang="en-US" altLang="zh-CN" sz="1600" dirty="0" b="1">
                <a:latin typeface="Times New Roman" pitchFamily="18" charset="0"/>
                <a:ea typeface="SimSun"/>
                <a:cs typeface="Times New Roman" pitchFamily="18" charset="0"/>
              </a:rPr>
              <a:t>1944</a:t>
            </a:r>
            <a:r>
              <a:rPr lang="en-US" altLang="zh-CN" sz="1600" dirty="0">
                <a:latin typeface="Times New Roman" pitchFamily="18" charset="0"/>
                <a:ea typeface="SimSun"/>
                <a:cs typeface="Times New Roman" pitchFamily="18" charset="0"/>
              </a:rPr>
              <a:t>）会将喷雾锥角高估约 </a:t>
            </a:r>
            <a:r>
              <a:rPr lang="en-US" altLang="zh-CN" sz="1600" dirty="0" b="1">
                <a:latin typeface="Times New Roman" pitchFamily="18" charset="0"/>
                <a:ea typeface="SimSun"/>
                <a:cs typeface="Times New Roman" pitchFamily="18" charset="0"/>
              </a:rPr>
              <a:t>25%</a:t>
            </a:r>
            <a:r>
              <a:rPr lang="en-US" altLang="zh-CN" sz="1600" dirty="0">
                <a:latin typeface="Times New Roman" pitchFamily="18" charset="0"/>
                <a:ea typeface="SimSun"/>
                <a:cs typeface="Times New Roman" pitchFamily="18" charset="0"/>
              </a:rPr>
              <a:t>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498D7BEB-7674-4C14-9BA3-FC1800626FB4}"/>
                  </a:ext>
                </a:extLst>
              </p:cNvPr>
              <p:cNvSpPr/>
              <p:nvPr/>
            </p:nvSpPr>
            <p:spPr>
              <a:xfrm>
                <a:off x="1129740" y="4188537"/>
                <a:ext cx="4750666" cy="5952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sz="1600" i="1">
                          <a:latin typeface="Times New Roman"/>
                          <a:ea typeface="SimSun"/>
                          <a:cs typeface="Times New Roman"/>
                        </a:rPr>
                        <m:t>2</m:t>
                      </m:r>
                      <m:r>
                        <a:rPr lang="en-US" altLang="zh-CN" sz="1600" i="1">
                          <a:latin typeface="Times New Roman"/>
                          <a:ea typeface="SimSun"/>
                          <a:cs typeface="Times New Roman"/>
                        </a:rPr>
                        <m:t>𝛼</m:t>
                      </m:r>
                      <m:r>
                        <a:rPr lang="en-US" altLang="zh-CN" sz="1600" i="1">
                          <a:latin typeface="Times New Roman"/>
                          <a:ea typeface="SimSun"/>
                          <a:cs typeface="Times New Roman"/>
                        </a:rPr>
                        <m:t>=334.32</m:t>
                      </m:r>
                      <m:sSup>
                        <m:sSupPr>
                          <m:ctrlPr>
                            <a:rPr lang="en-US" altLang="zh-CN" sz="1600" i="1">
                              <a:latin typeface="Times New Roman"/>
                              <a:ea typeface="SimSun"/>
                              <a:cs typeface="Times New Roman"/>
                            </a:rPr>
                          </m:ctrlPr>
                        </m:sSupPr>
                        <m:e>
                          <m:r>
                            <a:rPr lang="en-US" altLang="zh-CN" sz="1600" i="1">
                              <a:latin typeface="Times New Roman"/>
                              <a:ea typeface="SimSun"/>
                              <a:cs typeface="Times New Roman"/>
                            </a:rPr>
                            <m:t>𝐾</m:t>
                          </m:r>
                        </m:e>
                        <m:sup>
                          <m:r>
                            <a:rPr lang="en-US" altLang="zh-CN" sz="1600" i="1">
                              <a:latin typeface="Times New Roman"/>
                              <a:ea typeface="SimSun"/>
                              <a:cs typeface="Times New Roman"/>
                            </a:rPr>
                            <m:t>−0.165</m:t>
                          </m:r>
                        </m:sup>
                      </m:sSup>
                      <m:sSup>
                        <m:sSupPr>
                          <m:ctrlPr>
                            <a:rPr lang="en-US" altLang="zh-CN" sz="1600" i="1">
                              <a:latin typeface="Times New Roman"/>
                              <a:ea typeface="SimSun"/>
                              <a:cs typeface="Times New Roman"/>
                            </a:rPr>
                          </m:ctrlPr>
                        </m:sSupPr>
                        <m:e>
                          <m:r>
                            <a:rPr lang="en-US" altLang="zh-CN" sz="1600" i="1">
                              <a:latin typeface="Times New Roman"/>
                              <a:ea typeface="SimSun"/>
                              <a:cs typeface="Times New Roman"/>
                            </a:rPr>
                            <m:t>(</m:t>
                          </m:r>
                          <m:f>
                            <m:fPr>
                              <m:ctrlPr>
                                <a:rPr lang="zh-CN" altLang="zh-CN" sz="1600" i="1">
                                  <a:latin typeface="Times New Roman"/>
                                  <a:ea typeface="SimSun"/>
                                  <a:cs typeface="Times New Roman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1600" i="1">
                                      <a:latin typeface="Times New Roman"/>
                                      <a:ea typeface="SimSun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>
                                      <a:latin typeface="Times New Roman"/>
                                      <a:ea typeface="SimSun"/>
                                      <a:cs typeface="Times New Roman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Times New Roman"/>
                                      <a:ea typeface="SimSun"/>
                                      <a:cs typeface="Times New Roman"/>
                                    </a:rPr>
                                    <m:t>𝑆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sz="1600" i="1">
                                      <a:latin typeface="Times New Roman"/>
                                      <a:ea typeface="SimSun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>
                                      <a:latin typeface="Times New Roman"/>
                                      <a:ea typeface="SimSun"/>
                                      <a:cs typeface="Times New Roman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Times New Roman"/>
                                      <a:ea typeface="SimSun"/>
                                      <a:cs typeface="Times New Roman"/>
                                    </a:rPr>
                                    <m:t>𝑂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sz="1600" i="1">
                              <a:latin typeface="Times New Roman"/>
                              <a:ea typeface="SimSun"/>
                              <a:cs typeface="Times New Roman"/>
                            </a:rPr>
                            <m:t>)</m:t>
                          </m:r>
                        </m:e>
                        <m:sup>
                          <m:r>
                            <a:rPr lang="en-US" altLang="zh-CN" sz="1600" i="1">
                              <a:latin typeface="Times New Roman"/>
                              <a:ea typeface="SimSun"/>
                              <a:cs typeface="Times New Roman"/>
                            </a:rPr>
                            <m:t>−0.484</m:t>
                          </m:r>
                        </m:sup>
                      </m:sSup>
                      <m:sSubSup>
                        <m:sSubSupPr>
                          <m:ctrlPr>
                            <a:rPr lang="en-US" altLang="zh-CN" sz="1600" i="1">
                              <a:latin typeface="Times New Roman"/>
                              <a:ea typeface="SimSun"/>
                              <a:cs typeface="Times New Roman"/>
                            </a:rPr>
                          </m:ctrlPr>
                        </m:sSubSupPr>
                        <m:e>
                          <m:r>
                            <a:rPr lang="en-US" altLang="zh-CN" sz="1600" i="1">
                              <a:latin typeface="Times New Roman"/>
                              <a:ea typeface="SimSun"/>
                              <a:cs typeface="Times New Roman"/>
                            </a:rPr>
                            <m:t>𝑊</m:t>
                          </m:r>
                        </m:e>
                        <m:sub>
                          <m:r>
                            <a:rPr lang="en-US" altLang="zh-CN" sz="1600" i="1">
                              <a:latin typeface="Times New Roman"/>
                              <a:ea typeface="SimSun"/>
                              <a:cs typeface="Times New Roman"/>
                            </a:rPr>
                            <m:t>𝑒</m:t>
                          </m:r>
                        </m:sub>
                        <m:sup>
                          <m:r>
                            <a:rPr lang="en-US" altLang="zh-CN" sz="1600" i="1">
                              <a:latin typeface="Times New Roman"/>
                              <a:ea typeface="SimSun"/>
                              <a:cs typeface="Times New Roman"/>
                            </a:rPr>
                            <m:t>0.043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1600" i="1">
                              <a:latin typeface="Times New Roman"/>
                              <a:ea typeface="SimSun"/>
                              <a:cs typeface="Times New Roman"/>
                            </a:rPr>
                          </m:ctrlPr>
                        </m:sSubSupPr>
                        <m:e>
                          <m:r>
                            <a:rPr lang="en-US" altLang="zh-CN" sz="1600" i="1">
                              <a:latin typeface="Times New Roman"/>
                              <a:ea typeface="SimSun"/>
                              <a:cs typeface="Times New Roman"/>
                            </a:rPr>
                            <m:t>𝑅𝑒</m:t>
                          </m:r>
                        </m:e>
                        <m:sub>
                          <m:r>
                            <a:rPr lang="en-US" altLang="zh-CN" sz="1600" i="1">
                              <a:latin typeface="Times New Roman"/>
                              <a:ea typeface="SimSun"/>
                              <a:cs typeface="Times New Roman"/>
                            </a:rPr>
                            <m:t>𝑝</m:t>
                          </m:r>
                        </m:sub>
                        <m:sup>
                          <m:r>
                            <a:rPr lang="en-US" altLang="zh-CN" sz="1600" i="1">
                              <a:latin typeface="Times New Roman"/>
                              <a:ea typeface="SimSun"/>
                              <a:cs typeface="Times New Roman"/>
                            </a:rPr>
                            <m:t>−0.065</m:t>
                          </m:r>
                        </m:sup>
                      </m:sSubSup>
                    </m:oMath>
                  </m:oMathPara>
                </a14:m>
                <a:endParaRPr lang="zh-CN" altLang="zh-CN" sz="1600" dirty="0">
                  <a:latin typeface="Times New Roman"/>
                  <a:ea typeface="SimSun"/>
                  <a:cs typeface="Times New Roman"/>
                </a:endParaRPr>
              </a:p>
            </p:txBody>
          </p:sp>
        </mc:Choice>
        <mc:Fallback xmlns="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498D7BEB-7674-4C14-9BA3-FC1800626F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9740" y="4188537"/>
                <a:ext cx="4750666" cy="59522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  <a:latin typeface="Times New Roman"/>
                    <a:ea typeface="SimSun"/>
                    <a:cs typeface="Times New Roman"/>
                  </a:rPr>
                  <a:t> </a:t>
                </a:r>
              </a:p>
            </p:txBody>
          </p:sp>
        </mc:Fallback>
      </mc:AlternateContent>
      <p:sp>
        <p:nvSpPr>
          <p:cNvPr id="2" name="Rectangle 2">
            <a:extLst>
              <a:ext uri="{FF2B5EF4-FFF2-40B4-BE49-F238E27FC236}">
                <a16:creationId xmlns:a16="http://schemas.microsoft.com/office/drawing/2014/main" id="{2A1D18B0-DD8A-40D3-BED3-BC78BF7831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6515" y="1027131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HK">
              <a:latin typeface="Times New Roman"/>
              <a:ea typeface="SimSun"/>
              <a:cs typeface="Times New Roman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0CF10C1C-9B67-4E7E-BA3A-642DB8DBB3A0}"/>
              </a:ext>
            </a:extLst>
          </p:cNvPr>
          <p:cNvSpPr/>
          <p:nvPr/>
        </p:nvSpPr>
        <p:spPr>
          <a:xfrm>
            <a:off x="9747905" y="2833839"/>
            <a:ext cx="130302" cy="9592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HK">
              <a:latin typeface="Times New Roman"/>
              <a:ea typeface="SimSun"/>
              <a:cs typeface="Times New Roman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444B6EC6-EA5E-48C6-ADA7-EAEF2EBCF809}"/>
              </a:ext>
            </a:extLst>
          </p:cNvPr>
          <p:cNvSpPr/>
          <p:nvPr/>
        </p:nvSpPr>
        <p:spPr>
          <a:xfrm>
            <a:off x="7717832" y="4612288"/>
            <a:ext cx="301366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HK" sz="1200" b="1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Fig. 8.4 </a:t>
            </a:r>
            <a:r>
              <a:rPr lang="en-HK" sz="12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Nozzle spray characteristics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F24F0BF-8D97-4EA2-97A8-A5EA06AB6A50}"/>
              </a:ext>
            </a:extLst>
          </p:cNvPr>
          <p:cNvSpPr/>
          <p:nvPr/>
        </p:nvSpPr>
        <p:spPr>
          <a:xfrm>
            <a:off x="1394618" y="5344173"/>
            <a:ext cx="3994388" cy="12310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l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HK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各喷淋参数相互关联，不能独立调节。</a:t>
            </a:r>
          </a:p>
          <a:p>
            <a:pPr marL="285750" indent="-285750" algn="l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HK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需平衡各因素影响，以最大化水膜覆盖率。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6FD23F5F-A11C-43E3-B85B-3FE693F07103}"/>
                  </a:ext>
                </a:extLst>
              </p:cNvPr>
              <p:cNvSpPr/>
              <p:nvPr/>
            </p:nvSpPr>
            <p:spPr>
              <a:xfrm>
                <a:off x="6763482" y="5130995"/>
                <a:ext cx="5091236" cy="11549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HK" sz="1600" dirty="0">
                    <a:latin typeface="Times New Roman" panose="02020603050405020304" pitchFamily="18" charset="0"/>
                    <a:ea typeface="SimSun" panose="02010600030101010101" pitchFamily="2" charset="-122"/>
                    <a:cs typeface="Times New Roman"/>
                  </a:rPr>
                  <a:t>Ideal object: nozzle with a orifice diameter of </a:t>
                </a:r>
                <a:r>
                  <a:rPr lang="en-HK" sz="1600" dirty="0">
                    <a:solidFill>
                      <a:srgbClr val="A60626"/>
                    </a:solidFill>
                    <a:latin typeface="Times New Roman" panose="02020603050405020304" pitchFamily="18" charset="0"/>
                    <a:ea typeface="SimSun" panose="02010600030101010101" pitchFamily="2" charset="-122"/>
                    <a:cs typeface="Times New Roman"/>
                  </a:rPr>
                  <a:t>3.0 mm</a:t>
                </a: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HK" sz="1600" dirty="0">
                    <a:latin typeface="Times New Roman" panose="02020603050405020304" pitchFamily="18" charset="0"/>
                    <a:ea typeface="SimSun" panose="02010600030101010101" pitchFamily="2" charset="-122"/>
                    <a:cs typeface="Times New Roman"/>
                  </a:rPr>
                  <a:t>Operating condition: at a pressure of </a:t>
                </a:r>
                <a:r>
                  <a:rPr lang="en-HK" sz="1600" dirty="0">
                    <a:solidFill>
                      <a:srgbClr val="A60626"/>
                    </a:solidFill>
                    <a:latin typeface="Times New Roman" panose="02020603050405020304" pitchFamily="18" charset="0"/>
                    <a:ea typeface="SimSun" panose="02010600030101010101" pitchFamily="2" charset="-122"/>
                    <a:cs typeface="Times New Roman"/>
                  </a:rPr>
                  <a:t>1.5 bar</a:t>
                </a:r>
                <a:r>
                  <a:rPr lang="en-HK" sz="1600" dirty="0">
                    <a:latin typeface="Times New Roman" panose="02020603050405020304" pitchFamily="18" charset="0"/>
                    <a:ea typeface="SimSun" panose="02010600030101010101" pitchFamily="2" charset="-122"/>
                    <a:cs typeface="Times New Roman"/>
                  </a:rPr>
                  <a:t>, the spray flow rate is </a:t>
                </a:r>
                <a:r>
                  <a:rPr lang="en-HK" sz="1600" dirty="0">
                    <a:solidFill>
                      <a:srgbClr val="A60626"/>
                    </a:solidFill>
                    <a:latin typeface="Times New Roman" panose="02020603050405020304" pitchFamily="18" charset="0"/>
                    <a:ea typeface="SimSun" panose="02010600030101010101" pitchFamily="2" charset="-122"/>
                    <a:cs typeface="Times New Roman"/>
                  </a:rPr>
                  <a:t>5.4 L/min, </a:t>
                </a:r>
                <a:r>
                  <a:rPr lang="en-HK" sz="1600" dirty="0">
                    <a:latin typeface="Times New Roman" panose="02020603050405020304" pitchFamily="18" charset="0"/>
                    <a:ea typeface="SimSun" panose="02010600030101010101" pitchFamily="2" charset="-122"/>
                    <a:cs typeface="Times New Roman"/>
                  </a:rPr>
                  <a:t>the spray cone angle is </a:t>
                </a:r>
                <a:r>
                  <a:rPr lang="en-HK" sz="1600" dirty="0">
                    <a:solidFill>
                      <a:srgbClr val="A60626"/>
                    </a:solidFill>
                    <a:latin typeface="Times New Roman" panose="02020603050405020304" pitchFamily="18" charset="0"/>
                    <a:ea typeface="SimSun" panose="02010600030101010101" pitchFamily="2" charset="-122"/>
                    <a:cs typeface="Times New Roman"/>
                  </a:rPr>
                  <a:t>68</a:t>
                </a:r>
                <a14:m>
                  <m:oMath xmlns:m="http://schemas.openxmlformats.org/officeDocument/2006/math">
                    <m:r>
                      <a:rPr lang="en-HK" sz="1600">
                        <a:solidFill>
                          <a:srgbClr val="A60626"/>
                        </a:solidFill>
                        <a:latin typeface="Times New Roman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°</m:t>
                    </m:r>
                  </m:oMath>
                </a14:m>
                <a:r>
                  <a:rPr lang="en-HK" sz="1600" dirty="0">
                    <a:solidFill>
                      <a:srgbClr val="A60626"/>
                    </a:solidFill>
                    <a:latin typeface="Times New Roman" panose="02020603050405020304" pitchFamily="18" charset="0"/>
                    <a:ea typeface="SimSun" panose="02010600030101010101" pitchFamily="2" charset="-122"/>
                    <a:cs typeface="Times New Roman"/>
                  </a:rPr>
                  <a:t>. </a:t>
                </a:r>
                <a:endParaRPr lang="en-HK" sz="1600" dirty="0">
                  <a:latin typeface="Times New Roman"/>
                  <a:ea typeface="SimSun"/>
                  <a:cs typeface="Times New Roman"/>
                </a:endParaRPr>
              </a:p>
            </p:txBody>
          </p:sp>
        </mc:Choice>
        <mc:Fallback xmlns=""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6FD23F5F-A11C-43E3-B85B-3FE693F071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3482" y="5130995"/>
                <a:ext cx="5091236" cy="1154932"/>
              </a:xfrm>
              <a:prstGeom prst="rect">
                <a:avLst/>
              </a:prstGeom>
              <a:blipFill>
                <a:blip r:embed="rId10"/>
                <a:stretch>
                  <a:fillRect l="-478" r="-598" b="-6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  <a:latin typeface="Times New Roman"/>
                    <a:ea typeface="SimSun"/>
                    <a:cs typeface="Times New Roman"/>
                  </a:rPr>
                  <a:t> </a:t>
                </a:r>
              </a:p>
            </p:txBody>
          </p:sp>
        </mc:Fallback>
      </mc:AlternateContent>
      <p:sp>
        <p:nvSpPr>
          <p:cNvPr id="48" name="箭头: 燕尾形 47">
            <a:extLst>
              <a:ext uri="{FF2B5EF4-FFF2-40B4-BE49-F238E27FC236}">
                <a16:creationId xmlns:a16="http://schemas.microsoft.com/office/drawing/2014/main" id="{8C7B6167-F2DA-43F8-A95A-3128EDD58F75}"/>
              </a:ext>
            </a:extLst>
          </p:cNvPr>
          <p:cNvSpPr/>
          <p:nvPr/>
        </p:nvSpPr>
        <p:spPr bwMode="auto">
          <a:xfrm rot="5400000">
            <a:off x="3259091" y="4888241"/>
            <a:ext cx="491963" cy="217058"/>
          </a:xfrm>
          <a:prstGeom prst="notchedRightArrow">
            <a:avLst/>
          </a:prstGeom>
          <a:solidFill>
            <a:srgbClr val="A6062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endParaRPr lang="en-HK" sz="3200">
              <a:solidFill>
                <a:schemeClr val="bg2"/>
              </a:solidFill>
              <a:latin typeface="Times New Roman" charset="0"/>
              <a:ea typeface="SimSun"/>
              <a:cs typeface="Times New Roman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147FB26-A310-475E-979C-ED0EBD2DA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15884886-3D85-4AFD-9D94-33E4AF7428DD}" type="slidenum">
              <a:rPr lang="en-US" altLang="zh-CN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31</a:t>
            </a:fld>
            <a:endParaRPr lang="en-US" altLang="zh-CN">
              <a:latin typeface="Times New Roman"/>
              <a:ea typeface="SimSun"/>
              <a:cs typeface="Times New Roman"/>
            </a:endParaRPr>
          </a:p>
        </p:txBody>
      </p:sp>
      <p:sp>
        <p:nvSpPr>
          <p:cNvPr id="4" name="Rectangle 219">
            <a:extLst>
              <a:ext uri="{FF2B5EF4-FFF2-40B4-BE49-F238E27FC236}">
                <a16:creationId xmlns:a16="http://schemas.microsoft.com/office/drawing/2014/main" id="{CD6700ED-B3FA-4462-8647-7EC8905D83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1898" y="120450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latin typeface="Times New Roman"/>
              <a:ea typeface="SimSun"/>
              <a:cs typeface="Times New Roman"/>
            </a:endParaRPr>
          </a:p>
        </p:txBody>
      </p:sp>
      <p:sp>
        <p:nvSpPr>
          <p:cNvPr id="6" name="矩形 3">
            <a:extLst>
              <a:ext uri="{FF2B5EF4-FFF2-40B4-BE49-F238E27FC236}">
                <a16:creationId xmlns:a16="http://schemas.microsoft.com/office/drawing/2014/main" id="{B01C1A9C-426F-C430-26F2-AAE9460595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441" y="163095"/>
            <a:ext cx="393576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1pPr>
            <a:lvl2pPr marL="323850" indent="-358775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9pPr>
          </a:lstStyle>
          <a:p>
            <a:pPr lvl="1" algn="l" eaLnBrk="1" hangingPunct="1">
              <a:spcBef>
                <a:spcPts val="2400"/>
              </a:spcBef>
              <a:buClr>
                <a:srgbClr val="0099FF"/>
              </a:buClr>
            </a:pPr>
            <a:r>
              <a:rPr lang="en-US" altLang="zh-CN" sz="2800" b="1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附录</a:t>
            </a:r>
          </a:p>
        </p:txBody>
      </p:sp>
    </p:spTree>
    <p:extLst>
      <p:ext uri="{BB962C8B-B14F-4D97-AF65-F5344CB8AC3E}">
        <p14:creationId xmlns:p14="http://schemas.microsoft.com/office/powerpoint/2010/main" val="3231625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33"/>
    </mc:Choice>
    <mc:Fallback xmlns="">
      <p:transition spd="slow" advTm="5933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16DBDCFE-81FA-4E17-AC4F-30B829BBCC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1130512"/>
              </p:ext>
            </p:extLst>
          </p:nvPr>
        </p:nvGraphicFramePr>
        <p:xfrm>
          <a:off x="6907294" y="1369223"/>
          <a:ext cx="3749793" cy="30784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6246376" imgH="5143222" progId="Origin95.Graph">
                  <p:embed/>
                </p:oleObj>
              </mc:Choice>
              <mc:Fallback>
                <p:oleObj name="Graph" r:id="rId3" imgW="6246376" imgH="5143222" progId="Origin95.Graph">
                  <p:embed/>
                  <p:pic>
                    <p:nvPicPr>
                      <p:cNvPr id="0" name="Object 2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7294" y="1369223"/>
                        <a:ext cx="3749793" cy="307846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5791BBB0-0537-4A98-A5B4-42487898E978}"/>
              </a:ext>
            </a:extLst>
          </p:cNvPr>
          <p:cNvSpPr txBox="1"/>
          <p:nvPr/>
        </p:nvSpPr>
        <p:spPr>
          <a:xfrm>
            <a:off x="769327" y="1210646"/>
            <a:ext cx="5178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eaLnBrk="1" fontAlgn="auto" hangingPunct="1" algn="l">
              <a:spcBef>
                <a:spcPts val="0"/>
              </a:spcBef>
              <a:spcAft>
                <a:spcPts val="0"/>
              </a:spcAft>
            </a:pPr>
            <a:r>
              <a:rPr lang="en-HK" sz="18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4.5.1</a:t>
            </a:r>
            <a:r>
              <a:rPr lang="en-HK" sz="18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单喷嘴参数的影响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EA956CB-BB35-41F6-9808-F4F1B9FC2426}"/>
              </a:ext>
            </a:extLst>
          </p:cNvPr>
          <p:cNvSpPr/>
          <p:nvPr/>
        </p:nvSpPr>
        <p:spPr>
          <a:xfrm>
            <a:off x="1008449" y="1564606"/>
            <a:ext cx="25891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HK" sz="18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喷雾液滴直径</a:t>
            </a: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7ED8E8C8-93B1-4351-9FD6-ECD4D8E0A531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9421" y="2126191"/>
            <a:ext cx="1620000" cy="1620000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2CE8FED2-C2F7-4E4D-99E8-EB83FEFEBB28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9421" y="2126191"/>
            <a:ext cx="1620000" cy="1620000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2725080A-6028-4072-BDB6-A337A3C4877F}"/>
              </a:ext>
            </a:extLst>
          </p:cNvPr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9421" y="2126191"/>
            <a:ext cx="1620000" cy="1620000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3B9B6799-980D-4FD3-AA4F-ACC6A840B3BD}"/>
              </a:ext>
            </a:extLst>
          </p:cNvPr>
          <p:cNvPicPr/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3010" y="4092486"/>
            <a:ext cx="1620000" cy="1620000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48B64F94-DDC6-4427-912F-CC95066593A2}"/>
              </a:ext>
            </a:extLst>
          </p:cNvPr>
          <p:cNvPicPr/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7544" y="4092486"/>
            <a:ext cx="1620000" cy="1620000"/>
          </a:xfrm>
          <a:prstGeom prst="rect">
            <a:avLst/>
          </a:prstGeom>
        </p:spPr>
      </p:pic>
      <p:sp>
        <p:nvSpPr>
          <p:cNvPr id="31" name="矩形 30">
            <a:extLst>
              <a:ext uri="{FF2B5EF4-FFF2-40B4-BE49-F238E27FC236}">
                <a16:creationId xmlns:a16="http://schemas.microsoft.com/office/drawing/2014/main" id="{E3BB488C-8ABF-4576-923D-B78811EAA501}"/>
              </a:ext>
            </a:extLst>
          </p:cNvPr>
          <p:cNvSpPr/>
          <p:nvPr/>
        </p:nvSpPr>
        <p:spPr>
          <a:xfrm>
            <a:off x="2285011" y="6009569"/>
            <a:ext cx="479206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HK" sz="1200" b="1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Fig. 4.5.1 </a:t>
            </a:r>
            <a:r>
              <a:rPr lang="en-HK" sz="12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Coverage area with different diameter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06103F3-88F8-430B-9F75-03F3A91EA4A9}"/>
              </a:ext>
            </a:extLst>
          </p:cNvPr>
          <p:cNvSpPr/>
          <p:nvPr/>
        </p:nvSpPr>
        <p:spPr>
          <a:xfrm>
            <a:off x="1688497" y="3712129"/>
            <a:ext cx="99276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HK" sz="12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   0.05 mm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E4945EF-DD5F-4ADB-8B02-F9267F83AF24}"/>
              </a:ext>
            </a:extLst>
          </p:cNvPr>
          <p:cNvSpPr/>
          <p:nvPr/>
        </p:nvSpPr>
        <p:spPr>
          <a:xfrm>
            <a:off x="3253571" y="3746192"/>
            <a:ext cx="99276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HK" sz="12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   0.15 mm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3DF0DDD-4B46-41EB-AFE4-E102B4A71FB6}"/>
              </a:ext>
            </a:extLst>
          </p:cNvPr>
          <p:cNvSpPr/>
          <p:nvPr/>
        </p:nvSpPr>
        <p:spPr>
          <a:xfrm>
            <a:off x="4941576" y="3746192"/>
            <a:ext cx="99276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HK" sz="12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   0.25 mm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0CCBC60-5AED-4E93-9213-58255C146CEB}"/>
              </a:ext>
            </a:extLst>
          </p:cNvPr>
          <p:cNvSpPr/>
          <p:nvPr/>
        </p:nvSpPr>
        <p:spPr>
          <a:xfrm>
            <a:off x="2456628" y="5736043"/>
            <a:ext cx="99276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HK" sz="12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   0.35 mm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F95D3C9-D347-418E-B5B3-35C316F5F777}"/>
              </a:ext>
            </a:extLst>
          </p:cNvPr>
          <p:cNvSpPr/>
          <p:nvPr/>
        </p:nvSpPr>
        <p:spPr>
          <a:xfrm>
            <a:off x="4076628" y="5736043"/>
            <a:ext cx="99276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HK" sz="12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   0.45 mm</a:t>
            </a:r>
          </a:p>
        </p:txBody>
      </p:sp>
      <p:sp>
        <p:nvSpPr>
          <p:cNvPr id="23" name="Rectangle 12">
            <a:extLst>
              <a:ext uri="{FF2B5EF4-FFF2-40B4-BE49-F238E27FC236}">
                <a16:creationId xmlns:a16="http://schemas.microsoft.com/office/drawing/2014/main" id="{A98DDBF6-D20F-4EA3-8782-CE156D7E84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8996" y="1726153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HK">
              <a:latin typeface="Times New Roman"/>
              <a:ea typeface="SimSun"/>
              <a:cs typeface="Times New Roman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F8964B0-E1C9-40E5-B879-54D0D044323B}"/>
              </a:ext>
            </a:extLst>
          </p:cNvPr>
          <p:cNvSpPr/>
          <p:nvPr/>
        </p:nvSpPr>
        <p:spPr>
          <a:xfrm>
            <a:off x="7399937" y="4363560"/>
            <a:ext cx="479206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HK" sz="1200" b="1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Fig. 4.5.2 </a:t>
            </a:r>
            <a:r>
              <a:rPr lang="en-HK" sz="12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Coverage ratio with different diameter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13B2A23D-C721-44F2-B96D-620ED4B34ED1}"/>
              </a:ext>
            </a:extLst>
          </p:cNvPr>
          <p:cNvSpPr/>
          <p:nvPr/>
        </p:nvSpPr>
        <p:spPr>
          <a:xfrm>
            <a:off x="6952534" y="4849250"/>
            <a:ext cx="440018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n-HK" sz="16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液滴与气流呈逆流运动。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HK" sz="16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液滴过小：接触板面前易被气流吹离。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HK" sz="16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液滴过大：接触板面前可能滑出湿通道。</a:t>
            </a:r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EA761F19-2622-41F4-A302-E870D640F2E3}"/>
              </a:ext>
            </a:extLst>
          </p:cNvPr>
          <p:cNvSpPr/>
          <p:nvPr/>
        </p:nvSpPr>
        <p:spPr>
          <a:xfrm>
            <a:off x="8738750" y="1634755"/>
            <a:ext cx="413876" cy="2457731"/>
          </a:xfrm>
          <a:prstGeom prst="ellipse">
            <a:avLst/>
          </a:prstGeom>
          <a:noFill/>
          <a:ln w="19050">
            <a:solidFill>
              <a:srgbClr val="A606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 dirty="0">
              <a:latin typeface="Times New Roman"/>
              <a:ea typeface="SimSun"/>
              <a:cs typeface="Times New Roman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297C73F-6EA8-47DE-A871-F3A425E88FDC}"/>
              </a:ext>
            </a:extLst>
          </p:cNvPr>
          <p:cNvSpPr txBox="1"/>
          <p:nvPr/>
        </p:nvSpPr>
        <p:spPr>
          <a:xfrm>
            <a:off x="416279" y="909638"/>
            <a:ext cx="5178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eaLnBrk="1" fontAlgn="auto" hangingPunct="1" algn="l">
              <a:spcBef>
                <a:spcPts val="0"/>
              </a:spcBef>
              <a:spcAft>
                <a:spcPts val="0"/>
              </a:spcAft>
            </a:pPr>
            <a:r>
              <a:rPr lang="en-HK" sz="18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4.5</a:t>
            </a:r>
            <a:r>
              <a:rPr lang="en-HK" sz="18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结果与讨论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BB02FD7-DB76-4A6C-9C77-68CD6D0D4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15884886-3D85-4AFD-9D94-33E4AF7428DD}" type="slidenum">
              <a:rPr lang="en-US" altLang="zh-CN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32</a:t>
            </a:fld>
            <a:endParaRPr lang="en-US" altLang="zh-CN">
              <a:latin typeface="Times New Roman"/>
              <a:ea typeface="SimSun"/>
              <a:cs typeface="Times New Roman"/>
            </a:endParaRPr>
          </a:p>
        </p:txBody>
      </p:sp>
      <p:sp>
        <p:nvSpPr>
          <p:cNvPr id="32" name="矩形 3">
            <a:extLst>
              <a:ext uri="{FF2B5EF4-FFF2-40B4-BE49-F238E27FC236}">
                <a16:creationId xmlns:a16="http://schemas.microsoft.com/office/drawing/2014/main" id="{8874DCA7-C8E2-40FE-97B5-33AAAFDF05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3879" y="-47372"/>
            <a:ext cx="9807621" cy="972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9pPr>
          </a:lstStyle>
          <a:p>
            <a:pPr algn="l">
              <a:lnSpc>
                <a:spcPct val="125000"/>
              </a:lnSpc>
              <a:spcBef>
                <a:spcPct val="20000"/>
              </a:spcBef>
            </a:pPr>
            <a:r>
              <a:rPr lang="en-US" altLang="zh-CN" b="1" dirty="0" sz="1800"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4</a:t>
            </a:r>
            <a:r>
              <a:rPr lang="en-US" altLang="zh-CN" b="1" dirty="0" sz="1800"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. 考虑水膜形成的 IEC 三维 CFD 分析</a:t>
            </a:r>
          </a:p>
        </p:txBody>
      </p:sp>
      <p:sp>
        <p:nvSpPr>
          <p:cNvPr id="5" name="Rectangle 219">
            <a:extLst>
              <a:ext uri="{FF2B5EF4-FFF2-40B4-BE49-F238E27FC236}">
                <a16:creationId xmlns:a16="http://schemas.microsoft.com/office/drawing/2014/main" id="{BD433699-E2A8-4B25-9DCD-2DBDF2D9E7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9999" y="89035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latin typeface="Times New Roman"/>
              <a:ea typeface="SimSun"/>
              <a:cs typeface="Times New Roman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16E71C9-ED78-49D5-A467-40E77F824EF6}"/>
              </a:ext>
            </a:extLst>
          </p:cNvPr>
          <p:cNvSpPr/>
          <p:nvPr/>
        </p:nvSpPr>
        <p:spPr bwMode="auto">
          <a:xfrm>
            <a:off x="6819999" y="4713216"/>
            <a:ext cx="4568260" cy="1674447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dash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Times New Roman" charset="0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43736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33"/>
    </mc:Choice>
    <mc:Fallback xmlns="">
      <p:transition spd="slow" advTm="5933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2E35C2B6-C808-4851-90E8-225E7B6DF4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8118860"/>
              </p:ext>
            </p:extLst>
          </p:nvPr>
        </p:nvGraphicFramePr>
        <p:xfrm>
          <a:off x="6653530" y="1228688"/>
          <a:ext cx="3589338" cy="297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6246376" imgH="5143222" progId="Origin95.Graph">
                  <p:embed/>
                </p:oleObj>
              </mc:Choice>
              <mc:Fallback>
                <p:oleObj name="Graph" r:id="rId3" imgW="6246376" imgH="5143222" progId="Origin95.Graph">
                  <p:embed/>
                  <p:pic>
                    <p:nvPicPr>
                      <p:cNvPr id="0" name="Object 2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3530" y="1228688"/>
                        <a:ext cx="3589338" cy="297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AA5CBF6D-5A83-45E2-B781-700FA31D83FE}"/>
              </a:ext>
            </a:extLst>
          </p:cNvPr>
          <p:cNvSpPr txBox="1"/>
          <p:nvPr/>
        </p:nvSpPr>
        <p:spPr>
          <a:xfrm>
            <a:off x="362334" y="939960"/>
            <a:ext cx="3548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eaLnBrk="1" fontAlgn="auto" hangingPunct="1" algn="l">
              <a:spcBef>
                <a:spcPts val="0"/>
              </a:spcBef>
              <a:spcAft>
                <a:spcPts val="0"/>
              </a:spcAft>
            </a:pPr>
            <a:r>
              <a:rPr lang="en-HK" sz="1800" dirty="0" b="1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4.5.2</a:t>
            </a:r>
            <a:r>
              <a:rPr lang="en-HK" sz="1800" dirty="0" b="1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多喷嘴参数的影响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B0036912-7C13-41FA-865B-09AEA14B9382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1914" y="1860473"/>
            <a:ext cx="1790700" cy="179959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34D79A36-9E83-4D2E-B4D5-60B853C33161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1735" y="1860473"/>
            <a:ext cx="1790700" cy="179959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C425DF99-1142-40E6-AB74-201B087D2027}"/>
              </a:ext>
            </a:extLst>
          </p:cNvPr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1914" y="3919504"/>
            <a:ext cx="1794510" cy="1799590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DED630E9-C456-4E4F-A92E-70EEF89E8706}"/>
              </a:ext>
            </a:extLst>
          </p:cNvPr>
          <p:cNvSpPr/>
          <p:nvPr/>
        </p:nvSpPr>
        <p:spPr>
          <a:xfrm>
            <a:off x="759413" y="1318613"/>
            <a:ext cx="18261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HK" sz="18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喷嘴间距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4F090BC5-BEF5-40CE-ADE3-3226B8E39C60}"/>
              </a:ext>
            </a:extLst>
          </p:cNvPr>
          <p:cNvPicPr/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3028" y="3919504"/>
            <a:ext cx="1794510" cy="1799590"/>
          </a:xfrm>
          <a:prstGeom prst="rect">
            <a:avLst/>
          </a:prstGeom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6BD5F9DA-DF46-46C4-BB61-C2CC6D719F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7183" y="1598311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HK">
              <a:latin typeface="Times New Roman"/>
              <a:ea typeface="SimSun"/>
              <a:cs typeface="Times New Roman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DEDEB91-B53F-4EA4-8C31-BB78C85F0680}"/>
              </a:ext>
            </a:extLst>
          </p:cNvPr>
          <p:cNvSpPr/>
          <p:nvPr/>
        </p:nvSpPr>
        <p:spPr>
          <a:xfrm>
            <a:off x="1929795" y="3657895"/>
            <a:ext cx="99276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HK" sz="12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   0 mm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BECE172-D203-4BE5-9F22-93F65AADA245}"/>
              </a:ext>
            </a:extLst>
          </p:cNvPr>
          <p:cNvSpPr/>
          <p:nvPr/>
        </p:nvSpPr>
        <p:spPr>
          <a:xfrm>
            <a:off x="3938730" y="3657895"/>
            <a:ext cx="65594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HK" sz="12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20 mm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7609E29-2D20-4D40-9972-D70D8AA096BC}"/>
              </a:ext>
            </a:extLst>
          </p:cNvPr>
          <p:cNvSpPr/>
          <p:nvPr/>
        </p:nvSpPr>
        <p:spPr>
          <a:xfrm>
            <a:off x="2000893" y="5716926"/>
            <a:ext cx="65594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HK" sz="12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40 mm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440FCD2-35D8-4243-9064-D0B747EC8FAF}"/>
              </a:ext>
            </a:extLst>
          </p:cNvPr>
          <p:cNvSpPr/>
          <p:nvPr/>
        </p:nvSpPr>
        <p:spPr>
          <a:xfrm>
            <a:off x="3938730" y="5716926"/>
            <a:ext cx="65594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HK" sz="12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60 mm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2454E48-F29D-4364-9DB3-DFB5068F0D78}"/>
              </a:ext>
            </a:extLst>
          </p:cNvPr>
          <p:cNvSpPr/>
          <p:nvPr/>
        </p:nvSpPr>
        <p:spPr>
          <a:xfrm>
            <a:off x="1935212" y="6009649"/>
            <a:ext cx="279304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HK" sz="1200" b="1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Fig. 4.5.3 </a:t>
            </a:r>
            <a:r>
              <a:rPr lang="en-HK" sz="12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Variation of the nozzle distance 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2B7FE64-53A0-4FD3-851B-9471A15D5037}"/>
              </a:ext>
            </a:extLst>
          </p:cNvPr>
          <p:cNvSpPr/>
          <p:nvPr/>
        </p:nvSpPr>
        <p:spPr>
          <a:xfrm>
            <a:off x="6799482" y="4172970"/>
            <a:ext cx="479206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HK" sz="1200" b="1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Fig. 4.5.4 </a:t>
            </a:r>
            <a:r>
              <a:rPr lang="en-HK" sz="12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Impact of nozzle gap on coverage factor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CAF0D0D-21AB-457B-BDC4-7D3325C407E6}"/>
              </a:ext>
            </a:extLst>
          </p:cNvPr>
          <p:cNvSpPr/>
          <p:nvPr/>
        </p:nvSpPr>
        <p:spPr>
          <a:xfrm>
            <a:off x="6233480" y="4529770"/>
            <a:ext cx="5050037" cy="1892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HK" sz="16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在图示布置下，喷嘴位置参数为 </a:t>
            </a:r>
            <a:r>
              <a:rPr lang="en-HK" sz="1600" dirty="0" b="1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40 mm</a:t>
            </a:r>
            <a:r>
              <a:rPr lang="en-HK" sz="16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（</a:t>
            </a:r>
            <a:r>
              <a:rPr lang="en-HK" sz="1600" dirty="0" b="1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1</a:t>
            </a:r>
            <a:r>
              <a:rPr lang="en-HK" sz="16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）、间距为 </a:t>
            </a:r>
            <a:r>
              <a:rPr lang="en-HK" sz="1600" dirty="0" b="1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80 mm</a:t>
            </a:r>
            <a:r>
              <a:rPr lang="en-HK" sz="16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（</a:t>
            </a:r>
            <a:r>
              <a:rPr lang="en-HK" sz="1600" dirty="0" b="1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2</a:t>
            </a:r>
            <a:r>
              <a:rPr lang="en-HK" sz="16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）时，板面润湿效果最佳。</a:t>
            </a:r>
          </a:p>
          <a:p>
            <a:r>
              <a:rPr sz="1800">
                <a:latin typeface="Times New Roman"/>
                <a:ea typeface="SimSun"/>
                <a:cs typeface="Times New Roman"/>
              </a:rPr>
              <a:t>喷嘴间距过大，部分液滴会逸出边界。</a:t>
            </a:r>
          </a:p>
          <a:p>
            <a:pPr marL="285750" indent="-285750" defTabSz="457200" eaLnBrk="1" fontAlgn="auto" hangingPunct="1" algn="l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HK" sz="16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喷嘴间距过小，大量液滴相互碰撞并飞溅。</a:t>
            </a: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F02511E9-94CA-4840-ACCE-5CF48288727F}"/>
              </a:ext>
            </a:extLst>
          </p:cNvPr>
          <p:cNvSpPr/>
          <p:nvPr/>
        </p:nvSpPr>
        <p:spPr>
          <a:xfrm>
            <a:off x="8376308" y="1352803"/>
            <a:ext cx="286347" cy="2741315"/>
          </a:xfrm>
          <a:prstGeom prst="ellipse">
            <a:avLst/>
          </a:prstGeom>
          <a:noFill/>
          <a:ln w="19050">
            <a:solidFill>
              <a:srgbClr val="A606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 dirty="0">
              <a:latin typeface="Times New Roman"/>
              <a:ea typeface="SimSun"/>
              <a:cs typeface="Times New Roman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0B9FFF-D5A1-45B1-A6E6-843BEA930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15884886-3D85-4AFD-9D94-33E4AF7428DD}" type="slidenum">
              <a:rPr lang="en-US" altLang="zh-CN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33</a:t>
            </a:fld>
            <a:endParaRPr lang="en-US" altLang="zh-CN">
              <a:latin typeface="Times New Roman"/>
              <a:ea typeface="SimSun"/>
              <a:cs typeface="Times New Roman"/>
            </a:endParaRPr>
          </a:p>
        </p:txBody>
      </p:sp>
      <p:sp>
        <p:nvSpPr>
          <p:cNvPr id="33" name="矩形 3">
            <a:extLst>
              <a:ext uri="{FF2B5EF4-FFF2-40B4-BE49-F238E27FC236}">
                <a16:creationId xmlns:a16="http://schemas.microsoft.com/office/drawing/2014/main" id="{76F1A6D1-EF12-4496-98AF-4C30DDFBC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3879" y="-47372"/>
            <a:ext cx="9807621" cy="972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9pPr>
          </a:lstStyle>
          <a:p>
            <a:pPr algn="l">
              <a:lnSpc>
                <a:spcPct val="125000"/>
              </a:lnSpc>
              <a:spcBef>
                <a:spcPct val="20000"/>
              </a:spcBef>
            </a:pPr>
            <a:r>
              <a:rPr lang="en-US" altLang="zh-CN" b="1" dirty="0" sz="1800"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4</a:t>
            </a:r>
            <a:r>
              <a:rPr lang="en-US" altLang="zh-CN" b="1" dirty="0" sz="1800"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. 考虑水膜形成的 IEC 三维 CFD 分析</a:t>
            </a:r>
          </a:p>
        </p:txBody>
      </p:sp>
      <p:sp>
        <p:nvSpPr>
          <p:cNvPr id="5" name="Rectangle 220">
            <a:extLst>
              <a:ext uri="{FF2B5EF4-FFF2-40B4-BE49-F238E27FC236}">
                <a16:creationId xmlns:a16="http://schemas.microsoft.com/office/drawing/2014/main" id="{BDF510A9-3CB9-4553-8D8C-12133F47EC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5198" y="113890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latin typeface="Times New Roman"/>
              <a:ea typeface="SimSun"/>
              <a:cs typeface="Times New Roman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7284172-BF02-4333-B569-F5456C6F7229}"/>
              </a:ext>
            </a:extLst>
          </p:cNvPr>
          <p:cNvSpPr/>
          <p:nvPr/>
        </p:nvSpPr>
        <p:spPr bwMode="auto">
          <a:xfrm>
            <a:off x="6123371" y="4517625"/>
            <a:ext cx="5078568" cy="1975143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dash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Times New Roman" charset="0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48853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33"/>
    </mc:Choice>
    <mc:Fallback xmlns="">
      <p:transition spd="slow" advTm="5933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>
            <a:extLst>
              <a:ext uri="{FF2B5EF4-FFF2-40B4-BE49-F238E27FC236}">
                <a16:creationId xmlns:a16="http://schemas.microsoft.com/office/drawing/2014/main" id="{2C53AAAB-BDD1-498E-8103-1D2013B0BB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1136331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HK">
              <a:latin typeface="Times New Roman"/>
              <a:ea typeface="SimSun"/>
              <a:cs typeface="Times New Roman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94C7286-4E25-43BC-A216-4DCFFA6497BA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8900" y="1569395"/>
            <a:ext cx="1183466" cy="181982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2557077-6601-42E4-BABD-EEB211D33AA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9729" y="3526805"/>
            <a:ext cx="1589103" cy="16920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4EF0899-5BA6-4834-A4FD-50B2A46BF633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3893" y="3540872"/>
            <a:ext cx="1587600" cy="16920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69B26CE5-8C31-4A5E-B63A-B58AC3A1C85B}"/>
              </a:ext>
            </a:extLst>
          </p:cNvPr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9370" y="3526805"/>
            <a:ext cx="1587600" cy="169200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6D699C5A-F61B-4B6E-B2F9-C05733C07FB1}"/>
              </a:ext>
            </a:extLst>
          </p:cNvPr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4763" y="3526805"/>
            <a:ext cx="1587600" cy="169200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E919D49D-35CC-4E2D-AFFC-B3D6F64C73AA}"/>
              </a:ext>
            </a:extLst>
          </p:cNvPr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4848" y="3520400"/>
            <a:ext cx="560151" cy="1776335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65FC5BA7-8EA7-4A3F-B5B7-8BD015C5BDD7}"/>
              </a:ext>
            </a:extLst>
          </p:cNvPr>
          <p:cNvPicPr/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2480" y="1664897"/>
            <a:ext cx="1131574" cy="1819827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A74AC3DC-9F2B-43F7-98E2-949706B09CC1}"/>
              </a:ext>
            </a:extLst>
          </p:cNvPr>
          <p:cNvSpPr/>
          <p:nvPr/>
        </p:nvSpPr>
        <p:spPr>
          <a:xfrm>
            <a:off x="641332" y="1207798"/>
            <a:ext cx="24673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HK" sz="18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常规方案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8B8747B-5344-484F-B7BF-75DF52EF940E}"/>
              </a:ext>
            </a:extLst>
          </p:cNvPr>
          <p:cNvSpPr/>
          <p:nvPr/>
        </p:nvSpPr>
        <p:spPr>
          <a:xfrm>
            <a:off x="6096000" y="1295565"/>
            <a:ext cx="2198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HK" sz="18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优化方案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B33E2A0-09B8-440D-B282-27A219213BC8}"/>
              </a:ext>
            </a:extLst>
          </p:cNvPr>
          <p:cNvSpPr/>
          <p:nvPr/>
        </p:nvSpPr>
        <p:spPr>
          <a:xfrm>
            <a:off x="1741395" y="5590329"/>
            <a:ext cx="9174717" cy="11560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HK" sz="1600" spc="-5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常规方案与优化方案的水膜覆盖率分别为 </a:t>
            </a:r>
            <a:r>
              <a:rPr lang="en-HK" sz="1600" spc="-5" dirty="0" b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0.72</a:t>
            </a:r>
            <a:r>
              <a:rPr lang="en-HK" sz="1600" spc="-5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和 </a:t>
            </a:r>
            <a:r>
              <a:rPr lang="en-HK" sz="1600" spc="-5" dirty="0" b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0.91</a:t>
            </a:r>
            <a:r>
              <a:rPr lang="en-HK" sz="1600" spc="-5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HK" sz="1600" b="1" spc="-5" dirty="0">
                <a:solidFill>
                  <a:srgbClr val="A60626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换热板顶部降温最快，因为该区域水膜覆盖最广，气流与水流接触时间最长。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91ED908-327F-411E-92B5-A2C06380999B}"/>
              </a:ext>
            </a:extLst>
          </p:cNvPr>
          <p:cNvSpPr/>
          <p:nvPr/>
        </p:nvSpPr>
        <p:spPr>
          <a:xfrm>
            <a:off x="4042294" y="2325758"/>
            <a:ext cx="1935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HK" sz="1800" i="1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线性布置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1174C3C-BA96-4A70-8728-796B8DDDE957}"/>
              </a:ext>
            </a:extLst>
          </p:cNvPr>
          <p:cNvSpPr/>
          <p:nvPr/>
        </p:nvSpPr>
        <p:spPr>
          <a:xfrm>
            <a:off x="8644412" y="2325758"/>
            <a:ext cx="23199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HK" sz="1800" i="1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三角形布置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BDACAE8-8823-4B7E-A0F2-913AECAC5B5C}"/>
              </a:ext>
            </a:extLst>
          </p:cNvPr>
          <p:cNvSpPr/>
          <p:nvPr/>
        </p:nvSpPr>
        <p:spPr>
          <a:xfrm>
            <a:off x="3852349" y="5349700"/>
            <a:ext cx="479206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HK" sz="1200" b="1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Fig. 4.5.5 </a:t>
            </a:r>
            <a:r>
              <a:rPr lang="en-HK" sz="12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Comparison between conventional and optimized schemes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9965701-47A6-402A-8B35-2C83BD3BCCE3}"/>
              </a:ext>
            </a:extLst>
          </p:cNvPr>
          <p:cNvSpPr txBox="1"/>
          <p:nvPr/>
        </p:nvSpPr>
        <p:spPr>
          <a:xfrm>
            <a:off x="362620" y="902131"/>
            <a:ext cx="5178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eaLnBrk="1" fontAlgn="auto" hangingPunct="1" algn="l">
              <a:spcBef>
                <a:spcPts val="0"/>
              </a:spcBef>
              <a:spcAft>
                <a:spcPts val="0"/>
              </a:spcAft>
            </a:pPr>
            <a:r>
              <a:rPr lang="en-HK" sz="1800" dirty="0" b="1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4.5.3</a:t>
            </a:r>
            <a:r>
              <a:rPr lang="en-HK" sz="1800" dirty="0" b="1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对 IEC 性能的影响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8B60D27-8ED0-4D3B-AB91-5A0975805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15884886-3D85-4AFD-9D94-33E4AF7428DD}" type="slidenum">
              <a:rPr lang="en-US" altLang="zh-CN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34</a:t>
            </a:fld>
            <a:endParaRPr lang="en-US" altLang="zh-CN">
              <a:latin typeface="Times New Roman"/>
              <a:ea typeface="SimSun"/>
              <a:cs typeface="Times New Roman"/>
            </a:endParaRPr>
          </a:p>
        </p:txBody>
      </p:sp>
      <p:sp>
        <p:nvSpPr>
          <p:cNvPr id="25" name="矩形 3">
            <a:extLst>
              <a:ext uri="{FF2B5EF4-FFF2-40B4-BE49-F238E27FC236}">
                <a16:creationId xmlns:a16="http://schemas.microsoft.com/office/drawing/2014/main" id="{B5B0327E-8815-474E-B693-270F10C6A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3879" y="-47372"/>
            <a:ext cx="9807621" cy="972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9pPr>
          </a:lstStyle>
          <a:p>
            <a:pPr algn="l">
              <a:lnSpc>
                <a:spcPct val="125000"/>
              </a:lnSpc>
              <a:spcBef>
                <a:spcPct val="20000"/>
              </a:spcBef>
            </a:pPr>
            <a:r>
              <a:rPr lang="en-US" altLang="zh-CN" b="1" dirty="0" sz="1800"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4</a:t>
            </a:r>
            <a:r>
              <a:rPr lang="en-US" altLang="zh-CN" b="1" dirty="0" sz="1800"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. 考虑水膜形成的 IEC 三维 CFD 分析</a:t>
            </a:r>
          </a:p>
        </p:txBody>
      </p:sp>
    </p:spTree>
    <p:extLst>
      <p:ext uri="{BB962C8B-B14F-4D97-AF65-F5344CB8AC3E}">
        <p14:creationId xmlns:p14="http://schemas.microsoft.com/office/powerpoint/2010/main" val="3017809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33"/>
    </mc:Choice>
    <mc:Fallback xmlns="">
      <p:transition spd="slow" advTm="5933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F6BAE11D-DDD9-49A8-9F15-F7CEFF37EE05}"/>
              </a:ext>
            </a:extLst>
          </p:cNvPr>
          <p:cNvSpPr txBox="1"/>
          <p:nvPr/>
        </p:nvSpPr>
        <p:spPr>
          <a:xfrm>
            <a:off x="361044" y="964260"/>
            <a:ext cx="6428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eaLnBrk="1" fontAlgn="auto" hangingPunct="1" algn="l">
              <a:spcBef>
                <a:spcPts val="0"/>
              </a:spcBef>
              <a:spcAft>
                <a:spcPts val="0"/>
              </a:spcAft>
            </a:pPr>
            <a:r>
              <a:rPr lang="en-HK" sz="1800" dirty="0" b="1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4.5.4</a:t>
            </a:r>
            <a:r>
              <a:rPr lang="en-HK" sz="1800" dirty="0" b="1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一次、二次空气入口参数的影响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4F42FD25-23FF-473E-BC8E-550852925D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3384" y="4491509"/>
            <a:ext cx="403860" cy="39624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995D16E1-70DB-46F2-9239-1ADC3F96D9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4070" y="4583725"/>
            <a:ext cx="403860" cy="396240"/>
          </a:xfrm>
          <a:prstGeom prst="rect">
            <a:avLst/>
          </a:prstGeom>
        </p:spPr>
      </p:pic>
      <p:sp>
        <p:nvSpPr>
          <p:cNvPr id="8" name="Rectangle 6">
            <a:extLst>
              <a:ext uri="{FF2B5EF4-FFF2-40B4-BE49-F238E27FC236}">
                <a16:creationId xmlns:a16="http://schemas.microsoft.com/office/drawing/2014/main" id="{E383EE9A-9F5E-4063-9C6A-55A5668043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HK">
              <a:latin typeface="Times New Roman"/>
              <a:ea typeface="SimSun"/>
              <a:cs typeface="Times New Roman"/>
            </a:endParaRP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721AF35C-FCC9-4383-9531-785F4363FA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3491" y="1067502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HK">
              <a:latin typeface="Times New Roman"/>
              <a:ea typeface="SimSun"/>
              <a:cs typeface="Times New Roman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C6732B8-9EC7-4041-91EA-67C615BDFF42}"/>
              </a:ext>
            </a:extLst>
          </p:cNvPr>
          <p:cNvSpPr/>
          <p:nvPr/>
        </p:nvSpPr>
        <p:spPr>
          <a:xfrm>
            <a:off x="821936" y="1275350"/>
            <a:ext cx="308289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HK" sz="16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一次空气入口温度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169E0B4-7139-4227-B383-6C23FE34FF2F}"/>
              </a:ext>
            </a:extLst>
          </p:cNvPr>
          <p:cNvSpPr/>
          <p:nvPr/>
        </p:nvSpPr>
        <p:spPr>
          <a:xfrm>
            <a:off x="831018" y="3816559"/>
            <a:ext cx="294343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HK" sz="16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二次空气入口速度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9E8679B-C5F0-4F0B-864D-3FF5F15D3789}"/>
              </a:ext>
            </a:extLst>
          </p:cNvPr>
          <p:cNvSpPr/>
          <p:nvPr/>
        </p:nvSpPr>
        <p:spPr>
          <a:xfrm>
            <a:off x="8496894" y="2229405"/>
            <a:ext cx="2981691" cy="1155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HK" sz="16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入口温度为 </a:t>
            </a:r>
            <a:r>
              <a:rPr lang="en-HK" sz="1600" dirty="0" b="1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32 ℃</a:t>
            </a:r>
            <a:r>
              <a:rPr lang="en-HK" sz="16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时，湿球效率与 COP 分别提高 </a:t>
            </a:r>
            <a:r>
              <a:rPr lang="en-HK" sz="1600" dirty="0" b="1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15.1%</a:t>
            </a:r>
            <a:r>
              <a:rPr lang="en-HK" sz="16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和 </a:t>
            </a:r>
            <a:r>
              <a:rPr lang="en-HK" sz="1600" dirty="0" b="1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17.6%</a:t>
            </a:r>
            <a:r>
              <a:rPr lang="en-HK" sz="16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A8E8B63-ED7B-49DA-BCD4-B3CED5011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15884886-3D85-4AFD-9D94-33E4AF7428DD}" type="slidenum">
              <a:rPr lang="en-US" altLang="zh-CN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35</a:t>
            </a:fld>
            <a:endParaRPr lang="en-US" altLang="zh-CN">
              <a:latin typeface="Times New Roman"/>
              <a:ea typeface="SimSun"/>
              <a:cs typeface="Times New Roman"/>
            </a:endParaRPr>
          </a:p>
        </p:txBody>
      </p:sp>
      <p:sp>
        <p:nvSpPr>
          <p:cNvPr id="21" name="矩形 3">
            <a:extLst>
              <a:ext uri="{FF2B5EF4-FFF2-40B4-BE49-F238E27FC236}">
                <a16:creationId xmlns:a16="http://schemas.microsoft.com/office/drawing/2014/main" id="{5EEDE306-6F4C-46C3-BFEC-D9681CDA85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3879" y="-47372"/>
            <a:ext cx="9807621" cy="972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9pPr>
          </a:lstStyle>
          <a:p>
            <a:pPr algn="l">
              <a:lnSpc>
                <a:spcPct val="125000"/>
              </a:lnSpc>
              <a:spcBef>
                <a:spcPct val="20000"/>
              </a:spcBef>
            </a:pPr>
            <a:r>
              <a:rPr lang="en-US" altLang="zh-CN" b="1" dirty="0" sz="1800"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4</a:t>
            </a:r>
            <a:r>
              <a:rPr lang="en-US" altLang="zh-CN" b="1" dirty="0" sz="1800"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. 考虑水膜形成的 IEC 三维 CFD 分析</a:t>
            </a:r>
          </a:p>
        </p:txBody>
      </p:sp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A1F86B66-287F-40B1-8A5B-24DB2C4E9D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7581767"/>
              </p:ext>
            </p:extLst>
          </p:nvPr>
        </p:nvGraphicFramePr>
        <p:xfrm>
          <a:off x="2003535" y="1532281"/>
          <a:ext cx="2858475" cy="24366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6246376" imgH="5282235" progId="Origin95.Graph">
                  <p:embed/>
                </p:oleObj>
              </mc:Choice>
              <mc:Fallback>
                <p:oleObj name="Graph" r:id="rId4" imgW="6246376" imgH="5282235" progId="Origin95.Graph">
                  <p:embed/>
                  <p:pic>
                    <p:nvPicPr>
                      <p:cNvPr id="0" name="Object 8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3535" y="1532281"/>
                        <a:ext cx="2858475" cy="243667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689F8228-0770-48C2-A443-432F99ABD2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2218823"/>
              </p:ext>
            </p:extLst>
          </p:nvPr>
        </p:nvGraphicFramePr>
        <p:xfrm>
          <a:off x="5249983" y="1563693"/>
          <a:ext cx="2790615" cy="23676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6" imgW="6246376" imgH="5282235" progId="Origin95.Graph">
                  <p:embed/>
                </p:oleObj>
              </mc:Choice>
              <mc:Fallback>
                <p:oleObj name="Graph" r:id="rId6" imgW="6246376" imgH="5282235" progId="Origin95.Graph">
                  <p:embed/>
                  <p:pic>
                    <p:nvPicPr>
                      <p:cNvPr id="0" name="Object 8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9983" y="1563693"/>
                        <a:ext cx="2790615" cy="236769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879">
            <a:extLst>
              <a:ext uri="{FF2B5EF4-FFF2-40B4-BE49-F238E27FC236}">
                <a16:creationId xmlns:a16="http://schemas.microsoft.com/office/drawing/2014/main" id="{AB08D2DC-0635-4041-B9A8-7217A7DF6A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latin typeface="Times New Roman"/>
              <a:ea typeface="SimSun"/>
              <a:cs typeface="Times New Roman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8A8C48D-5398-4E50-AE8B-953F25FB8D88}"/>
              </a:ext>
            </a:extLst>
          </p:cNvPr>
          <p:cNvSpPr/>
          <p:nvPr/>
        </p:nvSpPr>
        <p:spPr>
          <a:xfrm>
            <a:off x="8496894" y="4887749"/>
            <a:ext cx="2916816" cy="1155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HK" sz="16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入口速度为 </a:t>
            </a:r>
            <a:r>
              <a:rPr lang="en-HK" sz="1600" dirty="0" b="1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2 m/s</a:t>
            </a:r>
            <a:r>
              <a:rPr lang="en-HK" sz="16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时，湿球效率与 COP 分别提高 </a:t>
            </a:r>
            <a:r>
              <a:rPr lang="en-HK" sz="1600" dirty="0" b="1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10.4%</a:t>
            </a:r>
            <a:r>
              <a:rPr lang="en-HK" sz="16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和 </a:t>
            </a:r>
            <a:r>
              <a:rPr lang="en-HK" sz="1600" dirty="0" b="1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14.9%</a:t>
            </a:r>
            <a:r>
              <a:rPr lang="en-HK" sz="16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141538D-DE06-43E7-9DA0-86363CCA35F4}"/>
              </a:ext>
            </a:extLst>
          </p:cNvPr>
          <p:cNvSpPr/>
          <p:nvPr/>
        </p:nvSpPr>
        <p:spPr bwMode="auto">
          <a:xfrm>
            <a:off x="8459822" y="2077149"/>
            <a:ext cx="3144964" cy="1460340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dash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Times New Roman" charset="0"/>
              <a:ea typeface="SimSun"/>
              <a:cs typeface="Times New Roman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1EC48A8-71E7-4156-B12F-D9622D2A4132}"/>
              </a:ext>
            </a:extLst>
          </p:cNvPr>
          <p:cNvSpPr/>
          <p:nvPr/>
        </p:nvSpPr>
        <p:spPr bwMode="auto">
          <a:xfrm>
            <a:off x="8459822" y="4788206"/>
            <a:ext cx="3144964" cy="1460340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dash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Times New Roman" charset="0"/>
              <a:ea typeface="SimSun"/>
              <a:cs typeface="Times New Roman"/>
            </a:endParaRPr>
          </a:p>
        </p:txBody>
      </p:sp>
      <p:sp>
        <p:nvSpPr>
          <p:cNvPr id="2" name="Rectangle 1079">
            <a:extLst>
              <a:ext uri="{FF2B5EF4-FFF2-40B4-BE49-F238E27FC236}">
                <a16:creationId xmlns:a16="http://schemas.microsoft.com/office/drawing/2014/main" id="{BE0E741D-A968-46DC-9535-DF2080AA52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latin typeface="Times New Roman"/>
              <a:ea typeface="SimSun"/>
              <a:cs typeface="Times New Roman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7DAA5944-DD59-4B6A-8324-DD9DFCA3A5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7509320"/>
              </p:ext>
            </p:extLst>
          </p:nvPr>
        </p:nvGraphicFramePr>
        <p:xfrm>
          <a:off x="1817634" y="4155113"/>
          <a:ext cx="3124302" cy="25340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8" imgW="6523715" imgH="5282235" progId="Origin95.Graph">
                  <p:embed/>
                </p:oleObj>
              </mc:Choice>
              <mc:Fallback>
                <p:oleObj name="Graph" r:id="rId8" imgW="6523715" imgH="5282235" progId="Origin95.Graph">
                  <p:embed/>
                  <p:pic>
                    <p:nvPicPr>
                      <p:cNvPr id="0" name="Object 10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7634" y="4155113"/>
                        <a:ext cx="3124302" cy="253408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81">
            <a:extLst>
              <a:ext uri="{FF2B5EF4-FFF2-40B4-BE49-F238E27FC236}">
                <a16:creationId xmlns:a16="http://schemas.microsoft.com/office/drawing/2014/main" id="{15E54F06-932A-4A33-B649-B41A3CD162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latin typeface="Times New Roman"/>
              <a:ea typeface="SimSun"/>
              <a:cs typeface="Times New Roman"/>
            </a:endParaRP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E3BC5D3A-D614-4D0A-8774-A375B2028A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3832944"/>
              </p:ext>
            </p:extLst>
          </p:nvPr>
        </p:nvGraphicFramePr>
        <p:xfrm>
          <a:off x="5249983" y="4148516"/>
          <a:ext cx="2980790" cy="25172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10" imgW="6246376" imgH="5282235" progId="Origin95.Graph">
                  <p:embed/>
                </p:oleObj>
              </mc:Choice>
              <mc:Fallback>
                <p:oleObj name="Graph" r:id="rId10" imgW="6246376" imgH="5282235" progId="Origin95.Graph">
                  <p:embed/>
                  <p:pic>
                    <p:nvPicPr>
                      <p:cNvPr id="0" name="Object 10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9983" y="4148516"/>
                        <a:ext cx="2980790" cy="251726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7175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33"/>
    </mc:Choice>
    <mc:Fallback xmlns="">
      <p:transition spd="slow" advTm="5933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B57B5CD-351B-409C-8419-7945124A5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15884886-3D85-4AFD-9D94-33E4AF7428DD}" type="slidenum">
              <a:rPr lang="en-US" altLang="zh-CN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36</a:t>
            </a:fld>
            <a:endParaRPr lang="en-US" altLang="zh-CN">
              <a:latin typeface="Times New Roman"/>
              <a:ea typeface="SimSun"/>
              <a:cs typeface="Times New Roman"/>
            </a:endParaRPr>
          </a:p>
        </p:txBody>
      </p:sp>
      <p:sp>
        <p:nvSpPr>
          <p:cNvPr id="8" name="矩形 3">
            <a:extLst>
              <a:ext uri="{FF2B5EF4-FFF2-40B4-BE49-F238E27FC236}">
                <a16:creationId xmlns:a16="http://schemas.microsoft.com/office/drawing/2014/main" id="{D9741B7C-1F8F-4EC9-933F-469EF3EF71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76201"/>
            <a:ext cx="2687638" cy="580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9pPr>
          </a:lstStyle>
          <a:p>
            <a:pPr algn="l">
              <a:lnSpc>
                <a:spcPct val="125000"/>
              </a:lnSpc>
              <a:spcBef>
                <a:spcPct val="20000"/>
              </a:spcBef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汇报提纲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A9CC545-9F15-455E-BB97-2733665CD8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3372" y="1058230"/>
            <a:ext cx="10777490" cy="5418675"/>
          </a:xfrm>
        </p:spPr>
        <p:txBody>
          <a:bodyPr/>
          <a:lstStyle/>
          <a:p>
            <a:pPr marL="457200" indent="-457200" algn="l">
              <a:lnSpc>
                <a:spcPts val="3500"/>
              </a:lnSpc>
              <a:spcBef>
                <a:spcPts val="600"/>
              </a:spcBef>
              <a:spcAft>
                <a:spcPts val="800"/>
              </a:spcAft>
              <a:buAutoNum type="arabicPeriod"/>
            </a:pPr>
            <a:r>
              <a:rPr lang="en-HK" sz="2400" b="1" dirty="0">
                <a:solidFill>
                  <a:schemeClr val="tx1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研究背景与文献综述</a:t>
            </a:r>
          </a:p>
          <a:p>
            <a:pPr marL="457200" indent="-457200" algn="l">
              <a:lnSpc>
                <a:spcPts val="3500"/>
              </a:lnSpc>
              <a:spcBef>
                <a:spcPts val="600"/>
              </a:spcBef>
              <a:spcAft>
                <a:spcPts val="800"/>
              </a:spcAft>
              <a:buAutoNum type="arabicPeriod"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研究不足与研究目标</a:t>
            </a:r>
          </a:p>
          <a:p>
            <a:pPr marL="457200" indent="-457200" algn="l">
              <a:lnSpc>
                <a:spcPts val="3500"/>
              </a:lnSpc>
              <a:spcBef>
                <a:spcPts val="600"/>
              </a:spcBef>
              <a:spcAft>
                <a:spcPts val="800"/>
              </a:spcAft>
              <a:buAutoNum type="arabicPeriod"/>
            </a:pPr>
            <a:r>
              <a:rPr lang="en-HK" sz="2400" b="1" dirty="0">
                <a:solidFill>
                  <a:schemeClr val="tx1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IEC 喷淋分布的 FDM 建模与优化</a:t>
            </a:r>
          </a:p>
          <a:p>
            <a:pPr marL="457200" indent="-457200" algn="l">
              <a:lnSpc>
                <a:spcPts val="3500"/>
              </a:lnSpc>
              <a:spcBef>
                <a:spcPts val="600"/>
              </a:spcBef>
              <a:spcAft>
                <a:spcPts val="800"/>
              </a:spcAft>
              <a:buAutoNum type="arabicPeriod"/>
            </a:pPr>
            <a:r>
              <a:rPr lang="en-HK" sz="2400" b="1" dirty="0">
                <a:solidFill>
                  <a:schemeClr val="tx1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考虑水膜形成的 IEC 三维 CFD 分析</a:t>
            </a:r>
          </a:p>
          <a:p>
            <a:pPr marL="457200" indent="-457200" algn="l">
              <a:lnSpc>
                <a:spcPts val="3500"/>
              </a:lnSpc>
              <a:spcBef>
                <a:spcPts val="600"/>
              </a:spcBef>
              <a:spcAft>
                <a:spcPts val="800"/>
              </a:spcAft>
              <a:buAutoNum type="arabicPeriod"/>
            </a:pPr>
            <a:r>
              <a:rPr lang="en-HK" sz="2400" b="1" dirty="0">
                <a:solidFill>
                  <a:srgbClr val="C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基于 ANN 与遗传算法的喷淋策略优化</a:t>
            </a:r>
          </a:p>
          <a:p>
            <a:pPr marL="457200" indent="-457200" algn="l">
              <a:lnSpc>
                <a:spcPts val="3500"/>
              </a:lnSpc>
              <a:spcBef>
                <a:spcPts val="600"/>
              </a:spcBef>
              <a:spcAft>
                <a:spcPts val="800"/>
              </a:spcAft>
              <a:buAutoNum type="arabicPeriod"/>
            </a:pPr>
            <a:r>
              <a:rPr lang="en-HK" sz="2400" b="1" dirty="0">
                <a:solidFill>
                  <a:schemeClr val="tx1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数据中心 IEC 的喷嘴优化与性能强化</a:t>
            </a:r>
          </a:p>
          <a:p>
            <a:pPr marL="457200" indent="-457200" algn="l">
              <a:lnSpc>
                <a:spcPts val="3500"/>
              </a:lnSpc>
              <a:spcBef>
                <a:spcPts val="600"/>
              </a:spcBef>
              <a:spcAft>
                <a:spcPts val="800"/>
              </a:spcAft>
              <a:buAutoNum type="arabicPeriod"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研究结论与未来展望</a:t>
            </a:r>
          </a:p>
        </p:txBody>
      </p:sp>
    </p:spTree>
    <p:extLst>
      <p:ext uri="{BB962C8B-B14F-4D97-AF65-F5344CB8AC3E}">
        <p14:creationId xmlns:p14="http://schemas.microsoft.com/office/powerpoint/2010/main" val="340912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33"/>
    </mc:Choice>
    <mc:Fallback xmlns="">
      <p:transition spd="slow" advTm="5933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3E9078E4-C115-4A20-899E-6D426CD8A4DD}"/>
              </a:ext>
            </a:extLst>
          </p:cNvPr>
          <p:cNvSpPr/>
          <p:nvPr/>
        </p:nvSpPr>
        <p:spPr bwMode="auto">
          <a:xfrm>
            <a:off x="6439711" y="3887039"/>
            <a:ext cx="4581727" cy="2669403"/>
          </a:xfrm>
          <a:prstGeom prst="roundRect">
            <a:avLst/>
          </a:prstGeom>
          <a:solidFill>
            <a:srgbClr val="AF1E3B">
              <a:alpha val="2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Times New Roman" charset="0"/>
              <a:ea typeface="SimSun"/>
              <a:cs typeface="Times New Roman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E1660BA4-447B-4242-9817-91C7A43F4D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96" y="3805159"/>
            <a:ext cx="4973942" cy="2520000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1BB2590E-3C33-462D-856F-620D5822B162}"/>
              </a:ext>
            </a:extLst>
          </p:cNvPr>
          <p:cNvSpPr/>
          <p:nvPr/>
        </p:nvSpPr>
        <p:spPr>
          <a:xfrm>
            <a:off x="1868450" y="6370272"/>
            <a:ext cx="324685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HK" sz="12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Fig.5.1.1 </a:t>
            </a:r>
            <a:r>
              <a:rPr lang="en-HK" sz="12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Schematic diagram of the IEC system 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200EE70-2D6D-6085-98C4-D9B1EFFC1613}"/>
              </a:ext>
            </a:extLst>
          </p:cNvPr>
          <p:cNvSpPr txBox="1"/>
          <p:nvPr/>
        </p:nvSpPr>
        <p:spPr>
          <a:xfrm>
            <a:off x="6735361" y="4070697"/>
            <a:ext cx="4099415" cy="2308324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HK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/>
              </a:rPr>
              <a:t>采用实验室尺度的 IEC 原型开展研究。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800">
                <a:latin typeface="Times New Roman"/>
                <a:ea typeface="SimSun"/>
                <a:cs typeface="Times New Roman"/>
              </a:rPr>
              <a:t>主要部件：叉流换热器、喷嘴和水泵。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/>
              </a:rPr>
              <a:t>保持其他基础参数不变，改变六项主要参数并记录性能变化。</a:t>
            </a:r>
          </a:p>
        </p:txBody>
      </p:sp>
      <p:sp>
        <p:nvSpPr>
          <p:cNvPr id="13" name="Content Placeholder 23">
            <a:extLst>
              <a:ext uri="{FF2B5EF4-FFF2-40B4-BE49-F238E27FC236}">
                <a16:creationId xmlns:a16="http://schemas.microsoft.com/office/drawing/2014/main" id="{535BB520-318C-8F82-B67E-8F4206537697}"/>
              </a:ext>
            </a:extLst>
          </p:cNvPr>
          <p:cNvSpPr txBox="1">
            <a:spLocks/>
          </p:cNvSpPr>
          <p:nvPr/>
        </p:nvSpPr>
        <p:spPr bwMode="auto">
          <a:xfrm>
            <a:off x="349264" y="926129"/>
            <a:ext cx="3296330" cy="37911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234950" indent="-23495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 pitchFamily="-111" charset="-128"/>
              </a:defRPr>
            </a:lvl1pPr>
            <a:lvl2pPr marL="576263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2pPr>
            <a:lvl3pPr marL="866775" indent="-176213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3pPr>
            <a:lvl4pPr marL="1196975" indent="-1635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4pPr>
            <a:lvl5pPr marL="1604963" indent="-176213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5pPr>
            <a:lvl6pPr marL="20621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6pPr>
            <a:lvl7pPr marL="25193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7pPr>
            <a:lvl8pPr marL="29765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8pPr>
            <a:lvl9pPr marL="34337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9pPr>
          </a:lstStyle>
          <a:p>
            <a:pPr marL="0" lvl="1" indent="0" algn="l">
              <a:spcBef>
                <a:spcPts val="1200"/>
              </a:spcBef>
              <a:spcAft>
                <a:spcPts val="1200"/>
              </a:spcAft>
              <a:buClrTx/>
              <a:buNone/>
              <a:defRPr>
                <a:latin typeface="Times New Roman"/>
                <a:ea typeface="SimSun"/>
                <a:cs typeface="Times New Roman"/>
              </a:defRPr>
            </a:pPr>
            <a:r>
              <a:rPr lang="en-US" altLang="en-US" sz="1800" b="1" kern="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5.1</a:t>
            </a:r>
            <a:r>
              <a:rPr lang="en-US" altLang="en-US" sz="1800" b="1" kern="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研究思路与模型建立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5B6DA965-682F-43E0-A254-DC03A61768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4725" y="1432387"/>
            <a:ext cx="4164461" cy="2195350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B0BE6500-96CF-4098-BD87-31F2B1858CCD}"/>
              </a:ext>
            </a:extLst>
          </p:cNvPr>
          <p:cNvSpPr/>
          <p:nvPr/>
        </p:nvSpPr>
        <p:spPr>
          <a:xfrm>
            <a:off x="5997123" y="1213461"/>
            <a:ext cx="479206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HK" sz="14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Table 5.1.1 </a:t>
            </a:r>
            <a:r>
              <a:rPr lang="en-HK" sz="14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Solid nozzle selection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6033E44-65C4-4D46-968B-3B12EFFAD4FB}"/>
              </a:ext>
            </a:extLst>
          </p:cNvPr>
          <p:cNvSpPr txBox="1"/>
          <p:nvPr/>
        </p:nvSpPr>
        <p:spPr>
          <a:xfrm>
            <a:off x="1016731" y="1510254"/>
            <a:ext cx="409857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800">
                <a:latin typeface="Times New Roman"/>
                <a:ea typeface="SimSun"/>
                <a:cs typeface="Times New Roman"/>
              </a:rPr>
              <a:t>表中列出了影响 IEC 性能的六项喷淋参数。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HK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/>
              </a:rPr>
              <a:t>评价指标：湿球效率与压降。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1A6500A-464D-4FD0-941B-13435C71BC36}"/>
              </a:ext>
            </a:extLst>
          </p:cNvPr>
          <p:cNvSpPr txBox="1"/>
          <p:nvPr/>
        </p:nvSpPr>
        <p:spPr>
          <a:xfrm>
            <a:off x="849996" y="1329178"/>
            <a:ext cx="39318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HK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/>
              </a:rPr>
              <a:t>数据准备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A861512-BAB0-468A-B0A7-A4D2B0FF270C}"/>
              </a:ext>
            </a:extLst>
          </p:cNvPr>
          <p:cNvSpPr txBox="1"/>
          <p:nvPr/>
        </p:nvSpPr>
        <p:spPr>
          <a:xfrm>
            <a:off x="849996" y="3548486"/>
            <a:ext cx="39318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HK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/>
              </a:rPr>
              <a:t>实验数据采集</a:t>
            </a:r>
          </a:p>
        </p:txBody>
      </p:sp>
      <p:sp>
        <p:nvSpPr>
          <p:cNvPr id="16" name="灯片编号占位符 15">
            <a:extLst>
              <a:ext uri="{FF2B5EF4-FFF2-40B4-BE49-F238E27FC236}">
                <a16:creationId xmlns:a16="http://schemas.microsoft.com/office/drawing/2014/main" id="{BF110477-1DEF-423A-8E83-83A6099C6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15884886-3D85-4AFD-9D94-33E4AF7428DD}" type="slidenum">
              <a:rPr lang="en-US" altLang="zh-CN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37</a:t>
            </a:fld>
            <a:endParaRPr lang="en-US" altLang="zh-CN">
              <a:latin typeface="Times New Roman"/>
              <a:ea typeface="SimSun"/>
              <a:cs typeface="Times New Roman"/>
            </a:endParaRPr>
          </a:p>
        </p:txBody>
      </p:sp>
      <p:sp>
        <p:nvSpPr>
          <p:cNvPr id="24" name="矩形 3">
            <a:extLst>
              <a:ext uri="{FF2B5EF4-FFF2-40B4-BE49-F238E27FC236}">
                <a16:creationId xmlns:a16="http://schemas.microsoft.com/office/drawing/2014/main" id="{1FD502EB-E9F3-43E9-893F-0C234A67D4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996" y="-70184"/>
            <a:ext cx="10294254" cy="972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9pPr>
          </a:lstStyle>
          <a:p>
            <a:pPr lvl="0" algn="l">
              <a:lnSpc>
                <a:spcPct val="125000"/>
              </a:lnSpc>
              <a:spcBef>
                <a:spcPct val="20000"/>
              </a:spcBef>
              <a:defRPr>
                <a:latin typeface="Times New Roman"/>
                <a:ea typeface="SimSun"/>
                <a:cs typeface="Times New Roman"/>
              </a:defRPr>
            </a:pPr>
            <a:r>
              <a:rPr lang="en-US" altLang="zh-CN" b="1" dirty="0" sz="1800">
                <a:solidFill>
                  <a:srgbClr val="000000"/>
                </a:solidFill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5</a:t>
            </a:r>
            <a:r>
              <a:rPr lang="en-US" altLang="zh-CN" b="1" dirty="0" sz="1800">
                <a:solidFill>
                  <a:srgbClr val="000000"/>
                </a:solidFill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. 基于 ANN 与遗传算法的喷淋策略优化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846385A-0B21-4973-BD64-990769005F24}"/>
              </a:ext>
            </a:extLst>
          </p:cNvPr>
          <p:cNvSpPr/>
          <p:nvPr/>
        </p:nvSpPr>
        <p:spPr>
          <a:xfrm>
            <a:off x="7410170" y="3473848"/>
            <a:ext cx="116570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（权重比）</a:t>
            </a:r>
          </a:p>
        </p:txBody>
      </p:sp>
    </p:spTree>
    <p:extLst>
      <p:ext uri="{BB962C8B-B14F-4D97-AF65-F5344CB8AC3E}">
        <p14:creationId xmlns:p14="http://schemas.microsoft.com/office/powerpoint/2010/main" val="932380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33"/>
    </mc:Choice>
    <mc:Fallback xmlns="">
      <p:transition spd="slow" advTm="5933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6DD5FBB7-A269-4047-BA87-946C37C02DDF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9174" y="2816213"/>
            <a:ext cx="5513070" cy="3779520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1BB2590E-3C33-462D-856F-620D5822B162}"/>
              </a:ext>
            </a:extLst>
          </p:cNvPr>
          <p:cNvSpPr/>
          <p:nvPr/>
        </p:nvSpPr>
        <p:spPr>
          <a:xfrm>
            <a:off x="6851339" y="6571944"/>
            <a:ext cx="324685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HK" sz="12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Fig.5.2.1 </a:t>
            </a:r>
            <a:r>
              <a:rPr lang="en-HK" sz="12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Structure of the IEC-ANN model</a:t>
            </a:r>
          </a:p>
        </p:txBody>
      </p:sp>
      <p:sp>
        <p:nvSpPr>
          <p:cNvPr id="13" name="Content Placeholder 23">
            <a:extLst>
              <a:ext uri="{FF2B5EF4-FFF2-40B4-BE49-F238E27FC236}">
                <a16:creationId xmlns:a16="http://schemas.microsoft.com/office/drawing/2014/main" id="{535BB520-318C-8F82-B67E-8F4206537697}"/>
              </a:ext>
            </a:extLst>
          </p:cNvPr>
          <p:cNvSpPr txBox="1">
            <a:spLocks/>
          </p:cNvSpPr>
          <p:nvPr/>
        </p:nvSpPr>
        <p:spPr bwMode="auto">
          <a:xfrm>
            <a:off x="462609" y="944189"/>
            <a:ext cx="3296330" cy="37911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234950" indent="-23495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 pitchFamily="-111" charset="-128"/>
              </a:defRPr>
            </a:lvl1pPr>
            <a:lvl2pPr marL="576263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2pPr>
            <a:lvl3pPr marL="866775" indent="-176213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3pPr>
            <a:lvl4pPr marL="1196975" indent="-1635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4pPr>
            <a:lvl5pPr marL="1604963" indent="-176213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5pPr>
            <a:lvl6pPr marL="20621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6pPr>
            <a:lvl7pPr marL="25193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7pPr>
            <a:lvl8pPr marL="29765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8pPr>
            <a:lvl9pPr marL="34337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9pPr>
          </a:lstStyle>
          <a:p>
            <a:pPr marL="0" lvl="1" indent="0" algn="l">
              <a:spcBef>
                <a:spcPts val="1200"/>
              </a:spcBef>
              <a:spcAft>
                <a:spcPts val="1200"/>
              </a:spcAft>
              <a:buClrTx/>
              <a:buNone/>
              <a:defRPr>
                <a:latin typeface="Times New Roman"/>
                <a:ea typeface="SimSun"/>
                <a:cs typeface="Times New Roman"/>
              </a:defRPr>
            </a:pPr>
            <a:r>
              <a:rPr lang="en-US" altLang="en-US" sz="1800" b="1" kern="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5.2</a:t>
            </a:r>
            <a:r>
              <a:rPr lang="en-US" altLang="en-US" sz="1800" b="1" kern="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神经网络模型设计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6033E44-65C4-4D46-968B-3B12EFFAD4FB}"/>
              </a:ext>
            </a:extLst>
          </p:cNvPr>
          <p:cNvSpPr txBox="1"/>
          <p:nvPr/>
        </p:nvSpPr>
        <p:spPr>
          <a:xfrm>
            <a:off x="1319197" y="1323307"/>
            <a:ext cx="901524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HK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/>
              </a:rPr>
              <a:t>采用三层神经网络，隐含层包含 </a:t>
            </a:r>
            <a:r>
              <a:rPr lang="en-HK" altLang="zh-CN" sz="1600" dirty="0" b="1">
                <a:latin typeface="Times New Roman" panose="02020603050405020304" pitchFamily="18" charset="0"/>
                <a:ea typeface="SimSun" panose="02010600030101010101" pitchFamily="2" charset="-122"/>
                <a:cs typeface="Times New Roman"/>
              </a:rPr>
              <a:t>14</a:t>
            </a:r>
            <a:r>
              <a:rPr lang="en-HK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/>
              </a:rPr>
              <a:t> 个神经元，用于建立输入与输出变量之间的映射关系。</a:t>
            </a:r>
          </a:p>
          <a:p>
            <a:r>
              <a:rPr sz="1800">
                <a:latin typeface="Times New Roman"/>
                <a:ea typeface="SimSun"/>
                <a:cs typeface="Times New Roman"/>
              </a:rPr>
              <a:t>数据集按 </a:t>
            </a:r>
            <a:r>
              <a:rPr sz="1800" b="1">
                <a:latin typeface="Times New Roman"/>
                <a:ea typeface="SimSun"/>
                <a:cs typeface="Times New Roman"/>
              </a:rPr>
              <a:t>70%</a:t>
            </a:r>
            <a:r>
              <a:rPr sz="1800">
                <a:latin typeface="Times New Roman"/>
                <a:ea typeface="SimSun"/>
                <a:cs typeface="Times New Roman"/>
              </a:rPr>
              <a:t>、</a:t>
            </a:r>
            <a:r>
              <a:rPr sz="1800" b="1">
                <a:latin typeface="Times New Roman"/>
                <a:ea typeface="SimSun"/>
                <a:cs typeface="Times New Roman"/>
              </a:rPr>
              <a:t>15%</a:t>
            </a:r>
            <a:r>
              <a:rPr sz="1800">
                <a:latin typeface="Times New Roman"/>
                <a:ea typeface="SimSun"/>
                <a:cs typeface="Times New Roman"/>
              </a:rPr>
              <a:t>、</a:t>
            </a:r>
            <a:r>
              <a:rPr sz="1800" b="1">
                <a:latin typeface="Times New Roman"/>
                <a:ea typeface="SimSun"/>
                <a:cs typeface="Times New Roman"/>
              </a:rPr>
              <a:t>15%</a:t>
            </a:r>
            <a:r>
              <a:rPr sz="1800">
                <a:latin typeface="Times New Roman"/>
                <a:ea typeface="SimSun"/>
                <a:cs typeface="Times New Roman"/>
              </a:rPr>
              <a:t> 划分为训练集、验证集和测试集。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530F4554-0DA0-4692-9CD6-EA99E55F8553}"/>
                  </a:ext>
                </a:extLst>
              </p:cNvPr>
              <p:cNvSpPr txBox="1"/>
              <p:nvPr/>
            </p:nvSpPr>
            <p:spPr>
              <a:xfrm>
                <a:off x="1379756" y="3120815"/>
                <a:ext cx="3439494" cy="37340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just">
                  <a:lnSpc>
                    <a:spcPct val="107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Times New Roman" panose="02020603050405020304" pitchFamily="18" charset="0"/>
                    <a:ea typeface="SimSun" panose="02010600030101010101" pitchFamily="2" charset="-122"/>
                    <a:cs typeface="Times New Roman"/>
                  </a:rPr>
                  <a:t>Input layer</a:t>
                </a:r>
              </a:p>
              <a:p>
                <a:pPr algn="just">
                  <a:lnSpc>
                    <a:spcPct val="107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sz="1400" i="1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𝑋</m:t>
                      </m:r>
                      <m:r>
                        <a:rPr lang="en-US" sz="1400" i="1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=</m:t>
                      </m:r>
                      <m:sSup>
                        <m:sSupPr>
                          <m:ctrlPr>
                            <a:rPr lang="en-HK" sz="14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HK" sz="14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,</m:t>
                              </m:r>
                              <m:r>
                                <a:rPr lang="en-US" sz="1400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…</m:t>
                              </m:r>
                              <m:r>
                                <a:rPr lang="en-US" sz="14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14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HK" altLang="zh-CN" sz="1400" dirty="0">
                  <a:latin typeface="Times New Roman" panose="020F0502020204030204" pitchFamily="34" charset="0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07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Times New Roman" panose="02020603050405020304" pitchFamily="18" charset="0"/>
                    <a:ea typeface="SimSun" panose="02010600030101010101" pitchFamily="2" charset="-122"/>
                    <a:cs typeface="Times New Roman"/>
                  </a:rPr>
                  <a:t>Hidden layer</a:t>
                </a:r>
              </a:p>
              <a:p>
                <a:pPr algn="just">
                  <a:lnSpc>
                    <a:spcPct val="107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sz="1400" i="1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𝑛𝑒</m:t>
                      </m:r>
                      <m:sSub>
                        <m:sSubPr>
                          <m:ctrlPr>
                            <a:rPr lang="en-US" sz="14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𝑡</m:t>
                          </m:r>
                        </m:e>
                        <m:sub>
                          <m:r>
                            <a:rPr lang="en-US" sz="14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𝑗</m:t>
                          </m:r>
                        </m:sub>
                      </m:sSub>
                      <m:r>
                        <a:rPr lang="en-US" sz="1400" i="1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=</m:t>
                      </m:r>
                      <m:sSub>
                        <m:sSubPr>
                          <m:ctrlPr>
                            <a:rPr lang="en-US" sz="14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𝑤</m:t>
                          </m:r>
                        </m:e>
                        <m:sub>
                          <m:r>
                            <a:rPr lang="en-US" sz="14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1</m:t>
                          </m:r>
                          <m:r>
                            <a:rPr lang="en-US" sz="14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𝑗</m:t>
                          </m:r>
                        </m:sub>
                      </m:sSub>
                      <m:r>
                        <a:rPr lang="en-US" sz="1400" i="1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⋅</m:t>
                      </m:r>
                      <m:sSub>
                        <m:sSubPr>
                          <m:ctrlPr>
                            <a:rPr lang="en-US" sz="14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𝑥</m:t>
                          </m:r>
                        </m:e>
                        <m:sub>
                          <m:r>
                            <a:rPr lang="en-US" sz="14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1</m:t>
                          </m:r>
                        </m:sub>
                      </m:sSub>
                      <m:r>
                        <a:rPr lang="en-US" sz="1400" i="1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+…+</m:t>
                      </m:r>
                      <m:sSub>
                        <m:sSubPr>
                          <m:ctrlPr>
                            <a:rPr lang="en-US" sz="14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𝑤</m:t>
                          </m:r>
                        </m:e>
                        <m:sub>
                          <m:r>
                            <a:rPr lang="en-US" sz="14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𝑛𝑗</m:t>
                          </m:r>
                        </m:sub>
                      </m:sSub>
                      <m:r>
                        <a:rPr lang="en-US" sz="1400" i="1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⋅</m:t>
                      </m:r>
                      <m:sSub>
                        <m:sSubPr>
                          <m:ctrlPr>
                            <a:rPr lang="en-US" sz="14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𝑥</m:t>
                          </m:r>
                        </m:e>
                        <m:sub>
                          <m:r>
                            <a:rPr lang="en-US" sz="14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HK" altLang="zh-CN" sz="1400" dirty="0">
                  <a:latin typeface="Times New Roman" panose="020F0502020204030204" pitchFamily="34" charset="0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7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ℎ</m:t>
                          </m:r>
                        </m:e>
                        <m:sub>
                          <m:r>
                            <a:rPr lang="en-US" sz="14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𝑗</m:t>
                          </m:r>
                        </m:sub>
                      </m:sSub>
                      <m:r>
                        <a:rPr lang="en-US" sz="1400" i="1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=</m:t>
                      </m:r>
                      <m:r>
                        <a:rPr lang="en-US" sz="1400" i="1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𝑓</m:t>
                      </m:r>
                      <m:d>
                        <m:dPr>
                          <m:ctrlPr>
                            <a:rPr lang="en-US" sz="14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𝑛𝑒</m:t>
                          </m:r>
                          <m:sSub>
                            <m:sSubPr>
                              <m:ctrlPr>
                                <a:rPr lang="en-US" sz="14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4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14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4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4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HK" altLang="zh-CN" sz="1400" dirty="0">
                  <a:latin typeface="Times New Roman" panose="020F0502020204030204" pitchFamily="34" charset="0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7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sz="1400" i="1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𝐻</m:t>
                      </m:r>
                      <m:r>
                        <a:rPr lang="en-US" sz="1400" i="1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=</m:t>
                      </m:r>
                      <m:sSup>
                        <m:sSupPr>
                          <m:ctrlPr>
                            <a:rPr lang="en-HK" sz="14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HK" sz="14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  <m:t>ℎ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  <m:t>ℎ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  <m:t>ℎ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  <m:t>ℎ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14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HK" altLang="zh-CN" sz="1400" dirty="0">
                  <a:latin typeface="Times New Roman" panose="020F0502020204030204" pitchFamily="34" charset="0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07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Times New Roman" panose="02020603050405020304" pitchFamily="18" charset="0"/>
                    <a:ea typeface="SimSun" panose="02010600030101010101" pitchFamily="2" charset="-122"/>
                    <a:cs typeface="Times New Roman"/>
                  </a:rPr>
                  <a:t>Hidden layer</a:t>
                </a:r>
              </a:p>
              <a:p>
                <a:pPr algn="just">
                  <a:lnSpc>
                    <a:spcPct val="107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sz="1400" i="1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𝑛𝑒</m:t>
                      </m:r>
                      <m:sSub>
                        <m:sSubPr>
                          <m:ctrlPr>
                            <a:rPr lang="en-US" sz="14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𝑡</m:t>
                          </m:r>
                        </m:e>
                        <m:sub>
                          <m:r>
                            <a:rPr lang="en-US" sz="14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𝑘</m:t>
                          </m:r>
                        </m:sub>
                      </m:sSub>
                      <m:r>
                        <a:rPr lang="en-US" sz="1400" i="1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=</m:t>
                      </m:r>
                      <m:sSub>
                        <m:sSubPr>
                          <m:ctrlPr>
                            <a:rPr lang="en-US" sz="14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𝑤</m:t>
                          </m:r>
                        </m:e>
                        <m:sub>
                          <m:r>
                            <a:rPr lang="en-US" sz="14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1</m:t>
                          </m:r>
                          <m:r>
                            <a:rPr lang="en-US" sz="14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𝑘</m:t>
                          </m:r>
                        </m:sub>
                      </m:sSub>
                      <m:r>
                        <a:rPr lang="en-US" sz="1400" i="1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⋅</m:t>
                      </m:r>
                      <m:sSub>
                        <m:sSubPr>
                          <m:ctrlPr>
                            <a:rPr lang="en-US" sz="14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ℎ</m:t>
                          </m:r>
                        </m:e>
                        <m:sub>
                          <m:r>
                            <a:rPr lang="en-US" sz="14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1</m:t>
                          </m:r>
                        </m:sub>
                      </m:sSub>
                      <m:r>
                        <a:rPr lang="en-US" sz="1400" i="1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+…+</m:t>
                      </m:r>
                      <m:sSub>
                        <m:sSubPr>
                          <m:ctrlPr>
                            <a:rPr lang="en-US" sz="14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𝑤</m:t>
                          </m:r>
                        </m:e>
                        <m:sub>
                          <m:r>
                            <a:rPr lang="en-US" sz="14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𝑙𝑘</m:t>
                          </m:r>
                        </m:sub>
                      </m:sSub>
                      <m:r>
                        <a:rPr lang="en-US" sz="1400" i="1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⋅</m:t>
                      </m:r>
                      <m:sSub>
                        <m:sSubPr>
                          <m:ctrlPr>
                            <a:rPr lang="en-US" sz="14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ℎ</m:t>
                          </m:r>
                        </m:e>
                        <m:sub>
                          <m:r>
                            <a:rPr lang="en-US" sz="14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𝑙</m:t>
                          </m:r>
                        </m:sub>
                      </m:sSub>
                    </m:oMath>
                  </m:oMathPara>
                </a14:m>
                <a:endParaRPr lang="en-HK" altLang="zh-CN" sz="1400" dirty="0">
                  <a:latin typeface="Times New Roman" panose="020F0502020204030204" pitchFamily="34" charset="0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7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𝑜</m:t>
                          </m:r>
                        </m:e>
                        <m:sub>
                          <m:r>
                            <a:rPr lang="en-US" sz="14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𝑘</m:t>
                          </m:r>
                        </m:sub>
                      </m:sSub>
                      <m:r>
                        <a:rPr lang="en-US" sz="1400" i="1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=</m:t>
                      </m:r>
                      <m:r>
                        <a:rPr lang="en-US" sz="1400" i="1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𝑔</m:t>
                      </m:r>
                      <m:d>
                        <m:dPr>
                          <m:ctrlPr>
                            <a:rPr lang="en-US" sz="14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𝑛𝑒</m:t>
                          </m:r>
                          <m:sSub>
                            <m:sSubPr>
                              <m:ctrlPr>
                                <a:rPr lang="en-US" sz="14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4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14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4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14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HK" altLang="zh-CN" sz="1400" dirty="0">
                  <a:latin typeface="Times New Roman" panose="020F0502020204030204" pitchFamily="34" charset="0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7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sz="1400" i="1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𝑂</m:t>
                      </m:r>
                      <m:r>
                        <a:rPr lang="en-US" sz="1400" i="1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=</m:t>
                      </m:r>
                      <m:sSup>
                        <m:sSupPr>
                          <m:ctrlPr>
                            <a:rPr lang="en-HK" sz="14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HK" sz="14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  <m:t>𝑜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  <m:t>𝑜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,</m:t>
                              </m:r>
                              <m:r>
                                <a:rPr lang="en-US" sz="1400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…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  <m:t>𝑜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,</m:t>
                              </m:r>
                              <m:r>
                                <a:rPr lang="en-US" sz="1400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…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  <m:t>𝑜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14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HK" altLang="zh-CN" sz="1400" dirty="0">
                  <a:latin typeface="Times New Roman" panose="020F0502020204030204" pitchFamily="34" charset="0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7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sz="1400" i="1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𝑌</m:t>
                      </m:r>
                      <m:r>
                        <a:rPr lang="en-US" sz="1400" i="1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=</m:t>
                      </m:r>
                      <m:sSup>
                        <m:sSupPr>
                          <m:ctrlPr>
                            <a:rPr lang="en-HK" sz="14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HK" sz="14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,</m:t>
                              </m:r>
                              <m:r>
                                <a:rPr lang="en-US" sz="1400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…</m:t>
                              </m:r>
                              <m:r>
                                <a:rPr lang="en-US" sz="14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,</m:t>
                              </m:r>
                              <m:r>
                                <a:rPr lang="en-US" sz="1400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…</m:t>
                              </m:r>
                              <m:r>
                                <a:rPr lang="en-US" sz="14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14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zh-CN" altLang="zh-CN" sz="1400" dirty="0">
                  <a:latin typeface="Times New Roman" panose="020F0502020204030204" pitchFamily="34" charset="0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530F4554-0DA0-4692-9CD6-EA99E55F85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9756" y="3120815"/>
                <a:ext cx="3439494" cy="3734036"/>
              </a:xfrm>
              <a:prstGeom prst="rect">
                <a:avLst/>
              </a:prstGeom>
              <a:blipFill>
                <a:blip r:embed="rId4"/>
                <a:stretch>
                  <a:fillRect l="-708" t="-4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  <a:latin typeface="Times New Roman"/>
                    <a:ea typeface="SimSun"/>
                    <a:cs typeface="Times New Roman"/>
                  </a:rPr>
                  <a:t> </a:t>
                </a:r>
              </a:p>
            </p:txBody>
          </p:sp>
        </mc:Fallback>
      </mc:AlternateContent>
      <p:sp>
        <p:nvSpPr>
          <p:cNvPr id="20" name="文本框 19">
            <a:extLst>
              <a:ext uri="{FF2B5EF4-FFF2-40B4-BE49-F238E27FC236}">
                <a16:creationId xmlns:a16="http://schemas.microsoft.com/office/drawing/2014/main" id="{A6C969F7-829A-4462-A0B1-23FBF8E3028F}"/>
              </a:ext>
            </a:extLst>
          </p:cNvPr>
          <p:cNvSpPr txBox="1"/>
          <p:nvPr/>
        </p:nvSpPr>
        <p:spPr>
          <a:xfrm>
            <a:off x="1040777" y="2775772"/>
            <a:ext cx="39318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HK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/>
              </a:rPr>
              <a:t>模型描述方程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A9D3564-45AA-4278-A1FE-CFF2AB11C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15884886-3D85-4AFD-9D94-33E4AF7428DD}" type="slidenum">
              <a:rPr lang="en-US" altLang="zh-CN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38</a:t>
            </a:fld>
            <a:endParaRPr lang="en-US" altLang="zh-CN">
              <a:latin typeface="Times New Roman"/>
              <a:ea typeface="SimSun"/>
              <a:cs typeface="Times New Roman"/>
            </a:endParaRPr>
          </a:p>
        </p:txBody>
      </p:sp>
      <p:sp>
        <p:nvSpPr>
          <p:cNvPr id="24" name="矩形 3">
            <a:extLst>
              <a:ext uri="{FF2B5EF4-FFF2-40B4-BE49-F238E27FC236}">
                <a16:creationId xmlns:a16="http://schemas.microsoft.com/office/drawing/2014/main" id="{78B57106-E531-4E48-9846-5A2042A5BA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996" y="-70184"/>
            <a:ext cx="10294254" cy="972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9pPr>
          </a:lstStyle>
          <a:p>
            <a:pPr lvl="0" algn="l">
              <a:lnSpc>
                <a:spcPct val="125000"/>
              </a:lnSpc>
              <a:spcBef>
                <a:spcPct val="20000"/>
              </a:spcBef>
              <a:defRPr>
                <a:latin typeface="Times New Roman"/>
                <a:ea typeface="SimSun"/>
                <a:cs typeface="Times New Roman"/>
              </a:defRPr>
            </a:pPr>
            <a:r>
              <a:rPr lang="en-US" altLang="zh-CN" b="1" dirty="0" sz="1800">
                <a:solidFill>
                  <a:srgbClr val="000000"/>
                </a:solidFill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5</a:t>
            </a:r>
            <a:r>
              <a:rPr lang="en-US" altLang="zh-CN" b="1" dirty="0" sz="1800">
                <a:solidFill>
                  <a:srgbClr val="000000"/>
                </a:solidFill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. 基于 ANN 与遗传算法的喷淋策略优化</a:t>
            </a:r>
          </a:p>
        </p:txBody>
      </p:sp>
    </p:spTree>
    <p:extLst>
      <p:ext uri="{BB962C8B-B14F-4D97-AF65-F5344CB8AC3E}">
        <p14:creationId xmlns:p14="http://schemas.microsoft.com/office/powerpoint/2010/main" val="3883585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33"/>
    </mc:Choice>
    <mc:Fallback xmlns="">
      <p:transition spd="slow" advTm="5933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3">
            <a:extLst>
              <a:ext uri="{FF2B5EF4-FFF2-40B4-BE49-F238E27FC236}">
                <a16:creationId xmlns:a16="http://schemas.microsoft.com/office/drawing/2014/main" id="{535BB520-318C-8F82-B67E-8F4206537697}"/>
              </a:ext>
            </a:extLst>
          </p:cNvPr>
          <p:cNvSpPr txBox="1">
            <a:spLocks/>
          </p:cNvSpPr>
          <p:nvPr/>
        </p:nvSpPr>
        <p:spPr bwMode="auto">
          <a:xfrm>
            <a:off x="369801" y="923611"/>
            <a:ext cx="3296330" cy="37911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234950" indent="-23495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 pitchFamily="-111" charset="-128"/>
              </a:defRPr>
            </a:lvl1pPr>
            <a:lvl2pPr marL="576263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2pPr>
            <a:lvl3pPr marL="866775" indent="-176213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3pPr>
            <a:lvl4pPr marL="1196975" indent="-1635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4pPr>
            <a:lvl5pPr marL="1604963" indent="-176213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5pPr>
            <a:lvl6pPr marL="20621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6pPr>
            <a:lvl7pPr marL="25193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7pPr>
            <a:lvl8pPr marL="29765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8pPr>
            <a:lvl9pPr marL="34337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9pPr>
          </a:lstStyle>
          <a:p>
            <a:pPr marL="0" lvl="1" indent="0" algn="l">
              <a:spcBef>
                <a:spcPts val="1200"/>
              </a:spcBef>
              <a:spcAft>
                <a:spcPts val="1200"/>
              </a:spcAft>
              <a:buClrTx/>
              <a:buNone/>
              <a:defRPr>
                <a:latin typeface="Times New Roman"/>
                <a:ea typeface="SimSun"/>
                <a:cs typeface="Times New Roman"/>
              </a:defRPr>
            </a:pPr>
            <a:r>
              <a:rPr lang="en-US" altLang="en-US" sz="1800" b="1" kern="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5.3</a:t>
            </a:r>
            <a:r>
              <a:rPr lang="en-US" altLang="en-US" sz="1800" b="1" kern="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模型验证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16033E44-65C4-4D46-968B-3B12EFFAD4FB}"/>
                  </a:ext>
                </a:extLst>
              </p:cNvPr>
              <p:cNvSpPr txBox="1"/>
              <p:nvPr/>
            </p:nvSpPr>
            <p:spPr>
              <a:xfrm>
                <a:off x="1280730" y="1499542"/>
                <a:ext cx="5965471" cy="14262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HK" altLang="zh-CN" sz="1600" dirty="0">
                  <a:latin typeface="Times New Roman" panose="02020603050405020304" pitchFamily="18" charset="0"/>
                  <a:ea typeface="SimSun" panose="02010600030101010101" pitchFamily="2" charset="-122"/>
                  <a:cs typeface="Times New Roman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Times New Roman" panose="02020603050405020304" pitchFamily="18" charset="0"/>
                    <a:ea typeface="SimSun"/>
                    <a:cs typeface="Times New Roman" panose="02020603050405020304" pitchFamily="18" charset="0"/>
                  </a:rPr>
                  <a:t>Coefficient of determination (</a:t>
                </a:r>
                <a:r>
                  <a:rPr lang="en-US" sz="1600" i="1" dirty="0">
                    <a:latin typeface="Times New Roman" panose="02020603050405020304" pitchFamily="18" charset="0"/>
                    <a:ea typeface="SimSun"/>
                    <a:cs typeface="Times New Roman" panose="02020603050405020304" pitchFamily="18" charset="0"/>
                  </a:rPr>
                  <a:t>r</a:t>
                </a:r>
                <a:r>
                  <a:rPr lang="en-US" sz="1600" i="1" baseline="30000" dirty="0">
                    <a:latin typeface="Times New Roman" panose="02020603050405020304" pitchFamily="18" charset="0"/>
                    <a:ea typeface="SimSun"/>
                    <a:cs typeface="Times New Roman" panose="02020603050405020304" pitchFamily="18" charset="0"/>
                  </a:rPr>
                  <a:t>2</a:t>
                </a:r>
                <a:r>
                  <a:rPr lang="en-US" sz="1600" dirty="0">
                    <a:latin typeface="Times New Roman" panose="02020603050405020304" pitchFamily="18" charset="0"/>
                    <a:ea typeface="SimSun"/>
                    <a:cs typeface="Times New Roman" panose="02020603050405020304" pitchFamily="18" charset="0"/>
                  </a:rPr>
                  <a:t>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US" sz="14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sSupPr>
                        <m:e>
                          <m:r>
                            <a:rPr lang="en-US" sz="14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𝑟</m:t>
                          </m:r>
                        </m:e>
                        <m:sup>
                          <m:r>
                            <a:rPr lang="en-US" sz="14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2</m:t>
                          </m:r>
                        </m:sup>
                      </m:sSup>
                      <m:r>
                        <a:rPr lang="en-US" sz="1400" i="1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=</m:t>
                      </m:r>
                      <m:f>
                        <m:fPr>
                          <m:ctrlPr>
                            <a:rPr lang="en-HK" sz="14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HK" sz="14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4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  <m:t>𝑛</m:t>
                                  </m:r>
                                  <m:nary>
                                    <m:naryPr>
                                      <m:chr m:val="∑"/>
                                      <m:limLoc m:val="undOvr"/>
                                      <m:grow m:val="on"/>
                                      <m:ctrlPr>
                                        <a:rPr lang="en-US" sz="1400" i="1">
                                          <a:latin typeface="Times New Roman" panose="02040503050406030204" pitchFamily="18" charset="0"/>
                                          <a:ea typeface="SimSun"/>
                                          <a:cs typeface="Times New Roman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1400" i="1">
                                          <a:latin typeface="Times New Roman" panose="02040503050406030204" pitchFamily="18" charset="0"/>
                                          <a:ea typeface="SimSun"/>
                                          <a:cs typeface="Times New Roman"/>
                                        </a:rPr>
                                        <m:t>𝑘</m:t>
                                      </m:r>
                                      <m:r>
                                        <a:rPr lang="en-US" sz="1400" i="1">
                                          <a:latin typeface="Times New Roman" panose="02040503050406030204" pitchFamily="18" charset="0"/>
                                          <a:ea typeface="SimSun"/>
                                          <a:cs typeface="Times New Roman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sz="1400" i="1">
                                          <a:latin typeface="Times New Roman" panose="02040503050406030204" pitchFamily="18" charset="0"/>
                                          <a:ea typeface="SimSun"/>
                                          <a:cs typeface="Times New Roman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Times New Roman" panose="02040503050406030204" pitchFamily="18" charset="0"/>
                                              <a:ea typeface="SimSun"/>
                                              <a:cs typeface="Times New Roman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latin typeface="Times New Roman" panose="02040503050406030204" pitchFamily="18" charset="0"/>
                                              <a:ea typeface="SimSun"/>
                                              <a:cs typeface="Times New Roman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latin typeface="Times New Roman" panose="02040503050406030204" pitchFamily="18" charset="0"/>
                                              <a:ea typeface="SimSun"/>
                                              <a:cs typeface="Times New Roman"/>
                                            </a:rPr>
                                            <m:t>𝑃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1400" i="1">
                                              <a:latin typeface="Times New Roman" panose="02040503050406030204" pitchFamily="18" charset="0"/>
                                              <a:ea typeface="SimSun"/>
                                              <a:cs typeface="Times New Roman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400" i="1">
                                              <a:latin typeface="Times New Roman" panose="02040503050406030204" pitchFamily="18" charset="0"/>
                                              <a:ea typeface="SimSun"/>
                                              <a:cs typeface="Times New Roman"/>
                                            </a:rPr>
                                            <m:t>𝑘</m:t>
                                          </m:r>
                                        </m:e>
                                      </m:d>
                                    </m:e>
                                  </m:nary>
                                  <m:sSub>
                                    <m:sSubPr>
                                      <m:ctrlPr>
                                        <a:rPr lang="en-US" sz="1400" i="1">
                                          <a:latin typeface="Times New Roman" panose="02040503050406030204" pitchFamily="18" charset="0"/>
                                          <a:ea typeface="SimSun"/>
                                          <a:cs typeface="Times New Roman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Times New Roman" panose="02040503050406030204" pitchFamily="18" charset="0"/>
                                          <a:ea typeface="SimSun"/>
                                          <a:cs typeface="Times New Roman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Times New Roman" panose="02040503050406030204" pitchFamily="18" charset="0"/>
                                          <a:ea typeface="SimSun"/>
                                          <a:cs typeface="Times New Roman"/>
                                        </a:rPr>
                                        <m:t>𝑇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400" i="1">
                                          <a:latin typeface="Times New Roman" panose="02040503050406030204" pitchFamily="18" charset="0"/>
                                          <a:ea typeface="SimSun"/>
                                          <a:cs typeface="Times New Roman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i="1">
                                          <a:latin typeface="Times New Roman" panose="02040503050406030204" pitchFamily="18" charset="0"/>
                                          <a:ea typeface="SimSun"/>
                                          <a:cs typeface="Times New Roman"/>
                                        </a:rPr>
                                        <m:t>𝑘</m:t>
                                      </m:r>
                                    </m:e>
                                  </m:d>
                                  <m:r>
                                    <a:rPr lang="en-US" sz="14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  <m:t>−</m:t>
                                  </m:r>
                                  <m:nary>
                                    <m:naryPr>
                                      <m:chr m:val="∑"/>
                                      <m:limLoc m:val="undOvr"/>
                                      <m:grow m:val="on"/>
                                      <m:ctrlPr>
                                        <a:rPr lang="en-US" sz="1400" i="1">
                                          <a:latin typeface="Times New Roman" panose="02040503050406030204" pitchFamily="18" charset="0"/>
                                          <a:ea typeface="SimSun"/>
                                          <a:cs typeface="Times New Roman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1400" i="1">
                                          <a:latin typeface="Times New Roman" panose="02040503050406030204" pitchFamily="18" charset="0"/>
                                          <a:ea typeface="SimSun"/>
                                          <a:cs typeface="Times New Roman"/>
                                        </a:rPr>
                                        <m:t>𝑘</m:t>
                                      </m:r>
                                      <m:r>
                                        <a:rPr lang="en-US" sz="1400" i="1">
                                          <a:latin typeface="Times New Roman" panose="02040503050406030204" pitchFamily="18" charset="0"/>
                                          <a:ea typeface="SimSun"/>
                                          <a:cs typeface="Times New Roman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sz="1400" i="1">
                                          <a:latin typeface="Times New Roman" panose="02040503050406030204" pitchFamily="18" charset="0"/>
                                          <a:ea typeface="SimSun"/>
                                          <a:cs typeface="Times New Roman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Times New Roman" panose="02040503050406030204" pitchFamily="18" charset="0"/>
                                              <a:ea typeface="SimSun"/>
                                              <a:cs typeface="Times New Roman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latin typeface="Times New Roman" panose="02040503050406030204" pitchFamily="18" charset="0"/>
                                              <a:ea typeface="SimSun"/>
                                              <a:cs typeface="Times New Roman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latin typeface="Times New Roman" panose="02040503050406030204" pitchFamily="18" charset="0"/>
                                              <a:ea typeface="SimSun"/>
                                              <a:cs typeface="Times New Roman"/>
                                            </a:rPr>
                                            <m:t>𝑃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1400" i="1">
                                              <a:latin typeface="Times New Roman" panose="02040503050406030204" pitchFamily="18" charset="0"/>
                                              <a:ea typeface="SimSun"/>
                                              <a:cs typeface="Times New Roman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400" i="1">
                                              <a:latin typeface="Times New Roman" panose="02040503050406030204" pitchFamily="18" charset="0"/>
                                              <a:ea typeface="SimSun"/>
                                              <a:cs typeface="Times New Roman"/>
                                            </a:rPr>
                                            <m:t>𝑘</m:t>
                                          </m:r>
                                        </m:e>
                                      </m:d>
                                    </m:e>
                                  </m:nary>
                                  <m:nary>
                                    <m:naryPr>
                                      <m:chr m:val="∑"/>
                                      <m:limLoc m:val="undOvr"/>
                                      <m:grow m:val="on"/>
                                      <m:ctrlPr>
                                        <a:rPr lang="en-US" sz="1400" i="1">
                                          <a:latin typeface="Times New Roman" panose="02040503050406030204" pitchFamily="18" charset="0"/>
                                          <a:ea typeface="SimSun"/>
                                          <a:cs typeface="Times New Roman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1400" i="1">
                                          <a:latin typeface="Times New Roman" panose="02040503050406030204" pitchFamily="18" charset="0"/>
                                          <a:ea typeface="SimSun"/>
                                          <a:cs typeface="Times New Roman"/>
                                        </a:rPr>
                                        <m:t>𝑘</m:t>
                                      </m:r>
                                      <m:r>
                                        <a:rPr lang="en-US" sz="1400" i="1">
                                          <a:latin typeface="Times New Roman" panose="02040503050406030204" pitchFamily="18" charset="0"/>
                                          <a:ea typeface="SimSun"/>
                                          <a:cs typeface="Times New Roman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sz="1400" i="1">
                                          <a:latin typeface="Times New Roman" panose="02040503050406030204" pitchFamily="18" charset="0"/>
                                          <a:ea typeface="SimSun"/>
                                          <a:cs typeface="Times New Roman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Times New Roman" panose="02040503050406030204" pitchFamily="18" charset="0"/>
                                              <a:ea typeface="SimSun"/>
                                              <a:cs typeface="Times New Roman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latin typeface="Times New Roman" panose="02040503050406030204" pitchFamily="18" charset="0"/>
                                              <a:ea typeface="SimSun"/>
                                              <a:cs typeface="Times New Roman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latin typeface="Times New Roman" panose="02040503050406030204" pitchFamily="18" charset="0"/>
                                              <a:ea typeface="SimSun"/>
                                              <a:cs typeface="Times New Roman"/>
                                            </a:rPr>
                                            <m:t>𝑇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1400" i="1">
                                              <a:latin typeface="Times New Roman" panose="02040503050406030204" pitchFamily="18" charset="0"/>
                                              <a:ea typeface="SimSun"/>
                                              <a:cs typeface="Times New Roman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400" i="1">
                                              <a:latin typeface="Times New Roman" panose="02040503050406030204" pitchFamily="18" charset="0"/>
                                              <a:ea typeface="SimSun"/>
                                              <a:cs typeface="Times New Roman"/>
                                            </a:rPr>
                                            <m:t>𝑘</m:t>
                                          </m:r>
                                        </m:e>
                                      </m:d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en-US" sz="14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14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[</m:t>
                          </m:r>
                          <m:r>
                            <a:rPr lang="en-US" sz="14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𝑛</m:t>
                          </m:r>
                          <m:sSup>
                            <m:sSupPr>
                              <m:ctrlPr>
                                <a:rPr lang="en-HK" sz="14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</m:ctrlPr>
                            </m:sSupPr>
                            <m:e>
                              <m:nary>
                                <m:naryPr>
                                  <m:chr m:val="∑"/>
                                  <m:limLoc m:val="undOvr"/>
                                  <m:grow m:val="on"/>
                                  <m:ctrlPr>
                                    <a:rPr lang="en-US" sz="14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4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  <m:t>𝑘</m:t>
                                  </m:r>
                                  <m:r>
                                    <a:rPr lang="en-US" sz="14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14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Times New Roman" panose="02040503050406030204" pitchFamily="18" charset="0"/>
                                          <a:ea typeface="SimSun"/>
                                          <a:cs typeface="Times New Roman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Times New Roman" panose="02040503050406030204" pitchFamily="18" charset="0"/>
                                          <a:ea typeface="SimSun"/>
                                          <a:cs typeface="Times New Roman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Times New Roman" panose="02040503050406030204" pitchFamily="18" charset="0"/>
                                          <a:ea typeface="SimSun"/>
                                          <a:cs typeface="Times New Roman"/>
                                        </a:rPr>
                                        <m:t>𝑃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en-HK" sz="1400" i="1">
                                          <a:latin typeface="Times New Roman" panose="02040503050406030204" pitchFamily="18" charset="0"/>
                                          <a:ea typeface="SimSun"/>
                                          <a:cs typeface="Times New Roman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1400" i="1">
                                              <a:latin typeface="Times New Roman" panose="02040503050406030204" pitchFamily="18" charset="0"/>
                                              <a:ea typeface="SimSun"/>
                                              <a:cs typeface="Times New Roman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400" i="1">
                                              <a:latin typeface="Times New Roman" panose="02040503050406030204" pitchFamily="18" charset="0"/>
                                              <a:ea typeface="SimSun"/>
                                              <a:cs typeface="Times New Roman"/>
                                            </a:rPr>
                                            <m:t>𝑘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400" i="1">
                                          <a:latin typeface="Times New Roman" panose="02040503050406030204" pitchFamily="18" charset="0"/>
                                          <a:ea typeface="SimSun"/>
                                          <a:cs typeface="Times New Roman"/>
                                        </a:rPr>
                                        <m:t>2</m:t>
                                      </m:r>
                                    </m:sup>
                                  </m:sSup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HK" sz="1400" i="1">
                                          <a:latin typeface="Times New Roman" panose="02040503050406030204" pitchFamily="18" charset="0"/>
                                          <a:ea typeface="SimSun"/>
                                          <a:cs typeface="Times New Roman"/>
                                        </a:rPr>
                                      </m:ctrlPr>
                                    </m:dPr>
                                    <m:e>
                                      <m:nary>
                                        <m:naryPr>
                                          <m:chr m:val="∑"/>
                                          <m:limLoc m:val="undOvr"/>
                                          <m:grow m:val="on"/>
                                          <m:ctrlPr>
                                            <a:rPr lang="en-US" sz="1400" i="1">
                                              <a:latin typeface="Times New Roman" panose="02040503050406030204" pitchFamily="18" charset="0"/>
                                              <a:ea typeface="SimSun"/>
                                              <a:cs typeface="Times New Roman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sz="1400" i="1">
                                              <a:latin typeface="Times New Roman" panose="02040503050406030204" pitchFamily="18" charset="0"/>
                                              <a:ea typeface="SimSun"/>
                                              <a:cs typeface="Times New Roman"/>
                                            </a:rPr>
                                            <m:t>𝑘</m:t>
                                          </m:r>
                                          <m:r>
                                            <a:rPr lang="en-US" sz="1400" i="1">
                                              <a:latin typeface="Times New Roman" panose="02040503050406030204" pitchFamily="18" charset="0"/>
                                              <a:ea typeface="SimSun"/>
                                              <a:cs typeface="Times New Roman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r>
                                            <a:rPr lang="en-US" sz="1400" i="1">
                                              <a:latin typeface="Times New Roman" panose="02040503050406030204" pitchFamily="18" charset="0"/>
                                              <a:ea typeface="SimSun"/>
                                              <a:cs typeface="Times New Roman"/>
                                            </a:rPr>
                                            <m:t>𝑛</m:t>
                                          </m:r>
                                        </m:sup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400" i="1">
                                                  <a:latin typeface="Times New Roman" panose="02040503050406030204" pitchFamily="18" charset="0"/>
                                                  <a:ea typeface="SimSun"/>
                                                  <a:cs typeface="Times New Roman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400" i="1">
                                                  <a:latin typeface="Times New Roman" panose="02040503050406030204" pitchFamily="18" charset="0"/>
                                                  <a:ea typeface="SimSun"/>
                                                  <a:cs typeface="Times New Roman"/>
                                                </a:rPr>
                                                <m:t>𝑌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i="1">
                                                  <a:latin typeface="Times New Roman" panose="02040503050406030204" pitchFamily="18" charset="0"/>
                                                  <a:ea typeface="SimSun"/>
                                                  <a:cs typeface="Times New Roman"/>
                                                </a:rPr>
                                                <m:t>𝑃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sz="1400" i="1">
                                                  <a:latin typeface="Times New Roman" panose="02040503050406030204" pitchFamily="18" charset="0"/>
                                                  <a:ea typeface="SimSun"/>
                                                  <a:cs typeface="Times New Roman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1400" i="1">
                                                  <a:latin typeface="Times New Roman" panose="02040503050406030204" pitchFamily="18" charset="0"/>
                                                  <a:ea typeface="SimSun"/>
                                                  <a:cs typeface="Times New Roman"/>
                                                </a:rPr>
                                                <m:t>𝑘</m:t>
                                              </m:r>
                                            </m:e>
                                          </m:d>
                                        </m:e>
                                      </m:nary>
                                    </m:e>
                                  </m:d>
                                </m:e>
                              </m:nary>
                            </m:e>
                            <m:sup>
                              <m:r>
                                <a:rPr lang="en-US" sz="14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4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]</m:t>
                          </m:r>
                          <m:sSup>
                            <m:sSupPr>
                              <m:ctrlPr>
                                <a:rPr lang="en-HK" sz="14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4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  <m:t>𝑛</m:t>
                                  </m:r>
                                  <m:nary>
                                    <m:naryPr>
                                      <m:chr m:val="∑"/>
                                      <m:limLoc m:val="undOvr"/>
                                      <m:grow m:val="on"/>
                                      <m:ctrlPr>
                                        <a:rPr lang="en-US" sz="1400" i="1">
                                          <a:latin typeface="Times New Roman" panose="02040503050406030204" pitchFamily="18" charset="0"/>
                                          <a:ea typeface="SimSun"/>
                                          <a:cs typeface="Times New Roman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1400" i="1">
                                          <a:latin typeface="Times New Roman" panose="02040503050406030204" pitchFamily="18" charset="0"/>
                                          <a:ea typeface="SimSun"/>
                                          <a:cs typeface="Times New Roman"/>
                                        </a:rPr>
                                        <m:t>𝑘</m:t>
                                      </m:r>
                                      <m:r>
                                        <a:rPr lang="en-US" sz="1400" i="1">
                                          <a:latin typeface="Times New Roman" panose="02040503050406030204" pitchFamily="18" charset="0"/>
                                          <a:ea typeface="SimSun"/>
                                          <a:cs typeface="Times New Roman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sz="1400" i="1">
                                          <a:latin typeface="Times New Roman" panose="02040503050406030204" pitchFamily="18" charset="0"/>
                                          <a:ea typeface="SimSun"/>
                                          <a:cs typeface="Times New Roman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Times New Roman" panose="02040503050406030204" pitchFamily="18" charset="0"/>
                                              <a:ea typeface="SimSun"/>
                                              <a:cs typeface="Times New Roman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latin typeface="Times New Roman" panose="02040503050406030204" pitchFamily="18" charset="0"/>
                                              <a:ea typeface="SimSun"/>
                                              <a:cs typeface="Times New Roman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latin typeface="Times New Roman" panose="02040503050406030204" pitchFamily="18" charset="0"/>
                                              <a:ea typeface="SimSun"/>
                                              <a:cs typeface="Times New Roman"/>
                                            </a:rPr>
                                            <m:t>𝑃</m:t>
                                          </m:r>
                                        </m:sub>
                                      </m:sSub>
                                      <m:sSup>
                                        <m:sSupPr>
                                          <m:ctrlPr>
                                            <a:rPr lang="en-HK" sz="1400" i="1">
                                              <a:latin typeface="Times New Roman" panose="02040503050406030204" pitchFamily="18" charset="0"/>
                                              <a:ea typeface="SimSun"/>
                                              <a:cs typeface="Times New Roman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en-US" sz="1400" i="1">
                                                  <a:latin typeface="Times New Roman" panose="02040503050406030204" pitchFamily="18" charset="0"/>
                                                  <a:ea typeface="SimSun"/>
                                                  <a:cs typeface="Times New Roman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1400" i="1">
                                                  <a:latin typeface="Times New Roman" panose="02040503050406030204" pitchFamily="18" charset="0"/>
                                                  <a:ea typeface="SimSun"/>
                                                  <a:cs typeface="Times New Roman"/>
                                                </a:rPr>
                                                <m:t>𝑘</m:t>
                                              </m:r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sz="1400" i="1">
                                              <a:latin typeface="Times New Roman" panose="02040503050406030204" pitchFamily="18" charset="0"/>
                                              <a:ea typeface="SimSun"/>
                                              <a:cs typeface="Times New Roman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sz="1400" i="1">
                                          <a:latin typeface="Times New Roman" panose="02040503050406030204" pitchFamily="18" charset="0"/>
                                          <a:ea typeface="SimSun"/>
                                          <a:cs typeface="Times New Roman"/>
                                        </a:rPr>
                                        <m:t>[</m:t>
                                      </m:r>
                                    </m:e>
                                  </m:nary>
                                  <m:nary>
                                    <m:naryPr>
                                      <m:chr m:val="∑"/>
                                      <m:limLoc m:val="undOvr"/>
                                      <m:grow m:val="on"/>
                                      <m:ctrlPr>
                                        <a:rPr lang="en-US" sz="1400" i="1">
                                          <a:latin typeface="Times New Roman" panose="02040503050406030204" pitchFamily="18" charset="0"/>
                                          <a:ea typeface="SimSun"/>
                                          <a:cs typeface="Times New Roman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1400" i="1">
                                          <a:latin typeface="Times New Roman" panose="02040503050406030204" pitchFamily="18" charset="0"/>
                                          <a:ea typeface="SimSun"/>
                                          <a:cs typeface="Times New Roman"/>
                                        </a:rPr>
                                        <m:t>𝑘</m:t>
                                      </m:r>
                                      <m:r>
                                        <a:rPr lang="en-US" sz="1400" i="1">
                                          <a:latin typeface="Times New Roman" panose="02040503050406030204" pitchFamily="18" charset="0"/>
                                          <a:ea typeface="SimSun"/>
                                          <a:cs typeface="Times New Roman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sz="1400" i="1">
                                          <a:latin typeface="Times New Roman" panose="02040503050406030204" pitchFamily="18" charset="0"/>
                                          <a:ea typeface="SimSun"/>
                                          <a:cs typeface="Times New Roman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Times New Roman" panose="02040503050406030204" pitchFamily="18" charset="0"/>
                                              <a:ea typeface="SimSun"/>
                                              <a:cs typeface="Times New Roman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latin typeface="Times New Roman" panose="02040503050406030204" pitchFamily="18" charset="0"/>
                                              <a:ea typeface="SimSun"/>
                                              <a:cs typeface="Times New Roman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latin typeface="Times New Roman" panose="02040503050406030204" pitchFamily="18" charset="0"/>
                                              <a:ea typeface="SimSun"/>
                                              <a:cs typeface="Times New Roman"/>
                                            </a:rPr>
                                            <m:t>𝑇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1400" i="1">
                                              <a:latin typeface="Times New Roman" panose="02040503050406030204" pitchFamily="18" charset="0"/>
                                              <a:ea typeface="SimSun"/>
                                              <a:cs typeface="Times New Roman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400" i="1">
                                              <a:latin typeface="Times New Roman" panose="02040503050406030204" pitchFamily="18" charset="0"/>
                                              <a:ea typeface="SimSun"/>
                                              <a:cs typeface="Times New Roman"/>
                                            </a:rPr>
                                            <m:t>𝑘</m:t>
                                          </m:r>
                                        </m:e>
                                      </m:d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en-US" sz="14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4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]</m:t>
                          </m:r>
                        </m:den>
                      </m:f>
                    </m:oMath>
                  </m:oMathPara>
                </a14:m>
                <a:endParaRPr lang="en-HK" altLang="zh-CN" sz="1400" dirty="0">
                  <a:latin typeface="Times New Roman" panose="02020603050405020304" pitchFamily="18" charset="0"/>
                  <a:ea typeface="SimSun" panose="02010600030101010101" pitchFamily="2" charset="-122"/>
                  <a:cs typeface="Times New Roman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HK" altLang="zh-CN" sz="1600" dirty="0">
                  <a:latin typeface="Times New Roman" panose="02020603050405020304" pitchFamily="18" charset="0"/>
                  <a:ea typeface="SimSun" panose="02010600030101010101" pitchFamily="2" charset="-122"/>
                  <a:cs typeface="Times New Roman"/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16033E44-65C4-4D46-968B-3B12EFFAD4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0730" y="1499542"/>
                <a:ext cx="5965471" cy="1426224"/>
              </a:xfrm>
              <a:prstGeom prst="rect">
                <a:avLst/>
              </a:prstGeom>
              <a:blipFill>
                <a:blip r:embed="rId3"/>
                <a:stretch>
                  <a:fillRect l="-4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  <a:latin typeface="Times New Roman"/>
                    <a:ea typeface="SimSun"/>
                    <a:cs typeface="Times New Roman"/>
                  </a:rPr>
                  <a:t> </a:t>
                </a:r>
              </a:p>
            </p:txBody>
          </p:sp>
        </mc:Fallback>
      </mc:AlternateContent>
      <p:sp>
        <p:nvSpPr>
          <p:cNvPr id="22" name="文本框 21">
            <a:extLst>
              <a:ext uri="{FF2B5EF4-FFF2-40B4-BE49-F238E27FC236}">
                <a16:creationId xmlns:a16="http://schemas.microsoft.com/office/drawing/2014/main" id="{41A6500A-464D-4FD0-941B-13435C71BC36}"/>
              </a:ext>
            </a:extLst>
          </p:cNvPr>
          <p:cNvSpPr txBox="1"/>
          <p:nvPr/>
        </p:nvSpPr>
        <p:spPr>
          <a:xfrm>
            <a:off x="1087738" y="1334252"/>
            <a:ext cx="39318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HK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/>
              </a:rPr>
              <a:t>神经网络评价指标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A861512-BAB0-468A-B0A7-A4D2B0FF270C}"/>
              </a:ext>
            </a:extLst>
          </p:cNvPr>
          <p:cNvSpPr txBox="1"/>
          <p:nvPr/>
        </p:nvSpPr>
        <p:spPr>
          <a:xfrm>
            <a:off x="1084796" y="2748362"/>
            <a:ext cx="20812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HK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/>
              </a:rPr>
              <a:t>验证结果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A3E09337-770C-4F81-814A-1BC14FDF9430}"/>
                  </a:ext>
                </a:extLst>
              </p:cNvPr>
              <p:cNvSpPr txBox="1"/>
              <p:nvPr/>
            </p:nvSpPr>
            <p:spPr>
              <a:xfrm>
                <a:off x="6912792" y="1497232"/>
                <a:ext cx="3194230" cy="14675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HK" altLang="zh-CN" sz="1600" dirty="0">
                  <a:latin typeface="Times New Roman" panose="02020603050405020304" pitchFamily="18" charset="0"/>
                  <a:ea typeface="SimSun" panose="02010600030101010101" pitchFamily="2" charset="-122"/>
                  <a:cs typeface="Times New Roman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HK" sz="1600" dirty="0">
                    <a:latin typeface="Times New Roman" panose="02020603050405020304" pitchFamily="18" charset="0"/>
                    <a:ea typeface="SimSun"/>
                    <a:cs typeface="Times New Roman" panose="02020603050405020304" pitchFamily="18" charset="0"/>
                  </a:rPr>
                  <a:t>Root mean square error (RMSE)</a:t>
                </a:r>
                <a:endParaRPr lang="en-US" sz="1600" dirty="0">
                  <a:latin typeface="Times New Roman" panose="02020603050405020304" pitchFamily="18" charset="0"/>
                  <a:ea typeface="SimSun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400" i="1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𝑅𝑀𝑆𝐸</m:t>
                      </m:r>
                      <m:r>
                        <a:rPr lang="en-US" sz="1400" i="1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HK" sz="14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HK" sz="14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</m:ctrlPr>
                            </m:fPr>
                            <m:num>
                              <m:f>
                                <m:fPr>
                                  <m:ctrlPr>
                                    <a:rPr lang="en-US" sz="14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sz="14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  <m:t>𝑖</m:t>
                                  </m:r>
                                  <m:r>
                                    <a:rPr lang="en-US" sz="14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  <m:t>=</m:t>
                                  </m:r>
                                  <m:r>
                                    <a:rPr lang="en-US" sz="14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  <m:t>𝑘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HK" sz="14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HK" sz="1400" i="1">
                                          <a:latin typeface="Times New Roman" panose="02040503050406030204" pitchFamily="18" charset="0"/>
                                          <a:ea typeface="SimSun"/>
                                          <a:cs typeface="Times New Roman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Times New Roman" panose="02040503050406030204" pitchFamily="18" charset="0"/>
                                              <a:ea typeface="SimSun"/>
                                              <a:cs typeface="Times New Roman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latin typeface="Times New Roman" panose="02040503050406030204" pitchFamily="18" charset="0"/>
                                              <a:ea typeface="SimSun"/>
                                              <a:cs typeface="Times New Roman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latin typeface="Times New Roman" panose="02040503050406030204" pitchFamily="18" charset="0"/>
                                              <a:ea typeface="SimSun"/>
                                              <a:cs typeface="Times New Roman"/>
                                            </a:rPr>
                                            <m:t>𝑃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1400" i="1">
                                              <a:latin typeface="Times New Roman" panose="02040503050406030204" pitchFamily="18" charset="0"/>
                                              <a:ea typeface="SimSun"/>
                                              <a:cs typeface="Times New Roman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400" i="1">
                                              <a:latin typeface="Times New Roman" panose="02040503050406030204" pitchFamily="18" charset="0"/>
                                              <a:ea typeface="SimSun"/>
                                              <a:cs typeface="Times New Roman"/>
                                            </a:rPr>
                                            <m:t>𝑘</m:t>
                                          </m:r>
                                        </m:e>
                                      </m:d>
                                      <m:r>
                                        <a:rPr lang="en-US" sz="1400" i="1">
                                          <a:latin typeface="Times New Roman" panose="02040503050406030204" pitchFamily="18" charset="0"/>
                                          <a:ea typeface="SimSun"/>
                                          <a:cs typeface="Times New Roman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Times New Roman" panose="02040503050406030204" pitchFamily="18" charset="0"/>
                                              <a:ea typeface="SimSun"/>
                                              <a:cs typeface="Times New Roman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latin typeface="Times New Roman" panose="02040503050406030204" pitchFamily="18" charset="0"/>
                                              <a:ea typeface="SimSun"/>
                                              <a:cs typeface="Times New Roman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latin typeface="Times New Roman" panose="02040503050406030204" pitchFamily="18" charset="0"/>
                                              <a:ea typeface="SimSun"/>
                                              <a:cs typeface="Times New Roman"/>
                                            </a:rPr>
                                            <m:t>𝑇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1400" i="1">
                                              <a:latin typeface="Times New Roman" panose="02040503050406030204" pitchFamily="18" charset="0"/>
                                              <a:ea typeface="SimSun"/>
                                              <a:cs typeface="Times New Roman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400" i="1">
                                              <a:latin typeface="Times New Roman" panose="02040503050406030204" pitchFamily="18" charset="0"/>
                                              <a:ea typeface="SimSun"/>
                                              <a:cs typeface="Times New Roman"/>
                                            </a:rPr>
                                            <m:t>𝑘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sz="1400" i="1">
                                      <a:latin typeface="Times New Roman" panose="02040503050406030204" pitchFamily="18" charset="0"/>
                                      <a:ea typeface="SimSun"/>
                                      <a:cs typeface="Times New Roman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14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𝑛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HK" altLang="zh-CN" sz="1400" dirty="0">
                  <a:latin typeface="Times New Roman" panose="02020603050405020304" pitchFamily="18" charset="0"/>
                  <a:ea typeface="SimSun" panose="02010600030101010101" pitchFamily="2" charset="-122"/>
                  <a:cs typeface="Times New Roman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HK" altLang="zh-CN" sz="1600" dirty="0">
                  <a:latin typeface="Times New Roman" panose="02020603050405020304" pitchFamily="18" charset="0"/>
                  <a:ea typeface="SimSun" panose="02010600030101010101" pitchFamily="2" charset="-122"/>
                  <a:cs typeface="Times New Roman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A3E09337-770C-4F81-814A-1BC14FDF94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2792" y="1497232"/>
                <a:ext cx="3194230" cy="1467518"/>
              </a:xfrm>
              <a:prstGeom prst="rect">
                <a:avLst/>
              </a:prstGeom>
              <a:blipFill>
                <a:blip r:embed="rId4"/>
                <a:stretch>
                  <a:fillRect l="-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  <a:latin typeface="Times New Roman"/>
                    <a:ea typeface="SimSun"/>
                    <a:cs typeface="Times New Roman"/>
                  </a:rPr>
                  <a:t> </a:t>
                </a:r>
              </a:p>
            </p:txBody>
          </p:sp>
        </mc:Fallback>
      </mc:AlternateContent>
      <p:pic>
        <p:nvPicPr>
          <p:cNvPr id="16" name="图片 15">
            <a:extLst>
              <a:ext uri="{FF2B5EF4-FFF2-40B4-BE49-F238E27FC236}">
                <a16:creationId xmlns:a16="http://schemas.microsoft.com/office/drawing/2014/main" id="{D76045D2-33B3-4FFE-AEFE-93DA0A36FDC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1647"/>
          <a:stretch/>
        </p:blipFill>
        <p:spPr>
          <a:xfrm>
            <a:off x="1712967" y="3511592"/>
            <a:ext cx="3622514" cy="288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E35A6205-58C3-4CCF-8CD9-85301F663455}"/>
                  </a:ext>
                </a:extLst>
              </p:cNvPr>
              <p:cNvSpPr txBox="1"/>
              <p:nvPr/>
            </p:nvSpPr>
            <p:spPr>
              <a:xfrm>
                <a:off x="1349740" y="3136913"/>
                <a:ext cx="260259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1600" dirty="0">
                    <a:latin typeface="Times New Roman" panose="020206030504050203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Validation results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Times New Roman" panose="02040503050406030204" pitchFamily="18" charset="0"/>
                            <a:ea typeface="SimSun"/>
                            <a:cs typeface="Times New Roman"/>
                          </a:rPr>
                        </m:ctrlPr>
                      </m:sSubPr>
                      <m:e>
                        <m:r>
                          <a:rPr lang="en-US" sz="1400" i="1">
                            <a:latin typeface="Times New Roman" panose="02040503050406030204" pitchFamily="18" charset="0"/>
                            <a:ea typeface="SimSun"/>
                            <a:cs typeface="Times New Roman"/>
                          </a:rPr>
                          <m:t>𝜀</m:t>
                        </m:r>
                      </m:e>
                      <m:sub>
                        <m:r>
                          <a:rPr lang="en-US" sz="1400" i="1">
                            <a:latin typeface="Times New Roman" panose="02040503050406030204" pitchFamily="18" charset="0"/>
                            <a:ea typeface="SimSun"/>
                            <a:cs typeface="Times New Roman"/>
                          </a:rPr>
                          <m:t>𝑤𝑏</m:t>
                        </m:r>
                      </m:sub>
                    </m:sSub>
                  </m:oMath>
                </a14:m>
                <a:r>
                  <a:rPr lang="en-US" altLang="zh-CN" sz="1400" dirty="0">
                    <a:latin typeface="Times New Roman" panose="020206030504050203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 </a:t>
                </a:r>
                <a:endParaRPr lang="en-HK" altLang="zh-CN" sz="1400" dirty="0">
                  <a:latin typeface="Times New Roman" panose="02020603050405020304" pitchFamily="18" charset="0"/>
                  <a:ea typeface="SimSun" panose="02010600030101010101" pitchFamily="2" charset="-122"/>
                  <a:cs typeface="Times New Roman"/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E35A6205-58C3-4CCF-8CD9-85301F6634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9740" y="3136913"/>
                <a:ext cx="2602596" cy="338554"/>
              </a:xfrm>
              <a:prstGeom prst="rect">
                <a:avLst/>
              </a:prstGeom>
              <a:blipFill>
                <a:blip r:embed="rId6"/>
                <a:stretch>
                  <a:fillRect l="-937" t="-5455" b="-2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  <a:latin typeface="Times New Roman"/>
                    <a:ea typeface="SimSun"/>
                    <a:cs typeface="Times New Roman"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C2FFE02-99F4-4FFD-8455-765DE6C74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15884886-3D85-4AFD-9D94-33E4AF7428DD}" type="slidenum">
              <a:rPr lang="en-US" altLang="zh-CN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39</a:t>
            </a:fld>
            <a:endParaRPr lang="en-US" altLang="zh-CN">
              <a:latin typeface="Times New Roman"/>
              <a:ea typeface="SimSun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D487ACB5-A7B5-403E-9789-1804E92592F8}"/>
                  </a:ext>
                </a:extLst>
              </p:cNvPr>
              <p:cNvSpPr txBox="1"/>
              <p:nvPr/>
            </p:nvSpPr>
            <p:spPr>
              <a:xfrm>
                <a:off x="6258917" y="3130040"/>
                <a:ext cx="260259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1600" dirty="0">
                    <a:latin typeface="Times New Roman" panose="020206030504050203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Validation results for </a:t>
                </a:r>
                <a14:m>
                  <m:oMath xmlns:m="http://schemas.openxmlformats.org/officeDocument/2006/math">
                    <m:r>
                      <a:rPr lang="en-HK" sz="1400" i="1" smtClean="0">
                        <a:latin typeface="Times New Roman" panose="02040503050406030204" pitchFamily="18" charset="0"/>
                        <a:ea typeface="SimSun" panose="02040503050406030204" pitchFamily="18" charset="0"/>
                        <a:cs typeface="Times New Roman"/>
                      </a:rPr>
                      <m:t>∆</m:t>
                    </m:r>
                    <m:r>
                      <a:rPr lang="en-HK" sz="1400" b="0" i="1" smtClean="0">
                        <a:latin typeface="Times New Roman" panose="02040503050406030204" pitchFamily="18" charset="0"/>
                        <a:ea typeface="SimSun" panose="02040503050406030204" pitchFamily="18" charset="0"/>
                        <a:cs typeface="Times New Roman"/>
                      </a:rPr>
                      <m:t>𝑃</m:t>
                    </m:r>
                  </m:oMath>
                </a14:m>
                <a:r>
                  <a:rPr lang="en-US" altLang="zh-CN" sz="1400" dirty="0">
                    <a:latin typeface="Times New Roman" panose="020206030504050203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  </a:t>
                </a:r>
                <a:endParaRPr lang="en-HK" altLang="zh-CN" sz="1400" dirty="0">
                  <a:latin typeface="Times New Roman" panose="02020603050405020304" pitchFamily="18" charset="0"/>
                  <a:ea typeface="SimSun" panose="02010600030101010101" pitchFamily="2" charset="-122"/>
                  <a:cs typeface="Times New Roman"/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D487ACB5-A7B5-403E-9789-1804E92592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8917" y="3130040"/>
                <a:ext cx="2602596" cy="338554"/>
              </a:xfrm>
              <a:prstGeom prst="rect">
                <a:avLst/>
              </a:prstGeom>
              <a:blipFill>
                <a:blip r:embed="rId7"/>
                <a:stretch>
                  <a:fillRect l="-937" t="-5357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  <a:latin typeface="Times New Roman"/>
                    <a:ea typeface="SimSun"/>
                    <a:cs typeface="Times New Roman"/>
                  </a:rPr>
                  <a:t> </a:t>
                </a:r>
              </a:p>
            </p:txBody>
          </p:sp>
        </mc:Fallback>
      </mc:AlternateContent>
      <p:sp>
        <p:nvSpPr>
          <p:cNvPr id="25" name="矩形 24">
            <a:extLst>
              <a:ext uri="{FF2B5EF4-FFF2-40B4-BE49-F238E27FC236}">
                <a16:creationId xmlns:a16="http://schemas.microsoft.com/office/drawing/2014/main" id="{0CC38A83-65F3-4D8A-8550-520315C097C1}"/>
              </a:ext>
            </a:extLst>
          </p:cNvPr>
          <p:cNvSpPr/>
          <p:nvPr/>
        </p:nvSpPr>
        <p:spPr>
          <a:xfrm>
            <a:off x="4495800" y="6436925"/>
            <a:ext cx="401410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HK" sz="12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Fig.5.3.1 </a:t>
            </a:r>
            <a:r>
              <a:rPr lang="en-HK" sz="12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Validation results of the proposed IEC-ANN model</a:t>
            </a:r>
          </a:p>
        </p:txBody>
      </p:sp>
      <p:sp>
        <p:nvSpPr>
          <p:cNvPr id="26" name="矩形 3">
            <a:extLst>
              <a:ext uri="{FF2B5EF4-FFF2-40B4-BE49-F238E27FC236}">
                <a16:creationId xmlns:a16="http://schemas.microsoft.com/office/drawing/2014/main" id="{0F9850C2-7E88-4574-A261-BB798FA1CE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996" y="-70184"/>
            <a:ext cx="10294254" cy="972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9pPr>
          </a:lstStyle>
          <a:p>
            <a:pPr lvl="0" algn="l">
              <a:lnSpc>
                <a:spcPct val="125000"/>
              </a:lnSpc>
              <a:spcBef>
                <a:spcPct val="20000"/>
              </a:spcBef>
              <a:defRPr>
                <a:latin typeface="Times New Roman"/>
                <a:ea typeface="SimSun"/>
                <a:cs typeface="Times New Roman"/>
              </a:defRPr>
            </a:pPr>
            <a:r>
              <a:rPr lang="en-US" altLang="zh-CN" b="1" dirty="0" sz="1800">
                <a:solidFill>
                  <a:srgbClr val="000000"/>
                </a:solidFill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5</a:t>
            </a:r>
            <a:r>
              <a:rPr lang="en-US" altLang="zh-CN" b="1" dirty="0" sz="1800">
                <a:solidFill>
                  <a:srgbClr val="000000"/>
                </a:solidFill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. 基于 ANN 与遗传算法的喷淋策略优化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1660DE93-ED6A-4240-A8F7-6AEAB9A9875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1647"/>
          <a:stretch/>
        </p:blipFill>
        <p:spPr>
          <a:xfrm>
            <a:off x="6856519" y="3475587"/>
            <a:ext cx="3622514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267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33"/>
    </mc:Choice>
    <mc:Fallback xmlns="">
      <p:transition spd="slow" advTm="5933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B7E1D35F-5594-44B9-8F64-FD30AA64157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95038" y="1784146"/>
            <a:ext cx="5273588" cy="2232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2" name="矩形 3">
            <a:extLst>
              <a:ext uri="{FF2B5EF4-FFF2-40B4-BE49-F238E27FC236}">
                <a16:creationId xmlns:a16="http://schemas.microsoft.com/office/drawing/2014/main" id="{87A96E31-5BCD-C2C1-5A07-AE546C43B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996" y="-70184"/>
            <a:ext cx="10294254" cy="972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9pPr>
          </a:lstStyle>
          <a:p>
            <a:pPr lvl="0" algn="l">
              <a:lnSpc>
                <a:spcPct val="125000"/>
              </a:lnSpc>
              <a:spcBef>
                <a:spcPct val="20000"/>
              </a:spcBef>
              <a:defRPr>
                <a:latin typeface="Times New Roman"/>
                <a:ea typeface="SimSun"/>
                <a:cs typeface="Times New Roman"/>
              </a:defRPr>
            </a:pPr>
            <a:r>
              <a:rPr lang="en-US" altLang="zh-CN" b="1" dirty="0" sz="1800">
                <a:solidFill>
                  <a:srgbClr val="000000"/>
                </a:solidFill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5</a:t>
            </a:r>
            <a:r>
              <a:rPr lang="en-US" altLang="zh-CN" b="1" dirty="0" sz="1800">
                <a:solidFill>
                  <a:srgbClr val="000000"/>
                </a:solidFill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. 基于 ANN 与遗传算法的喷淋策略优化</a:t>
            </a:r>
          </a:p>
        </p:txBody>
      </p:sp>
      <p:sp>
        <p:nvSpPr>
          <p:cNvPr id="13" name="Content Placeholder 23">
            <a:extLst>
              <a:ext uri="{FF2B5EF4-FFF2-40B4-BE49-F238E27FC236}">
                <a16:creationId xmlns:a16="http://schemas.microsoft.com/office/drawing/2014/main" id="{535BB520-318C-8F82-B67E-8F4206537697}"/>
              </a:ext>
            </a:extLst>
          </p:cNvPr>
          <p:cNvSpPr txBox="1">
            <a:spLocks/>
          </p:cNvSpPr>
          <p:nvPr/>
        </p:nvSpPr>
        <p:spPr bwMode="auto">
          <a:xfrm>
            <a:off x="390459" y="937927"/>
            <a:ext cx="3296330" cy="37911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234950" indent="-23495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 pitchFamily="-111" charset="-128"/>
              </a:defRPr>
            </a:lvl1pPr>
            <a:lvl2pPr marL="576263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2pPr>
            <a:lvl3pPr marL="866775" indent="-176213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3pPr>
            <a:lvl4pPr marL="1196975" indent="-1635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4pPr>
            <a:lvl5pPr marL="1604963" indent="-176213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5pPr>
            <a:lvl6pPr marL="20621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6pPr>
            <a:lvl7pPr marL="25193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7pPr>
            <a:lvl8pPr marL="29765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8pPr>
            <a:lvl9pPr marL="34337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9pPr>
          </a:lstStyle>
          <a:p>
            <a:pPr marL="0" lvl="1" indent="0" algn="l">
              <a:spcBef>
                <a:spcPts val="1200"/>
              </a:spcBef>
              <a:spcAft>
                <a:spcPts val="1200"/>
              </a:spcAft>
              <a:buClrTx/>
              <a:buNone/>
              <a:defRPr>
                <a:latin typeface="Times New Roman"/>
                <a:ea typeface="SimSun"/>
                <a:cs typeface="Times New Roman"/>
              </a:defRPr>
            </a:pPr>
            <a:r>
              <a:rPr lang="en-US" altLang="en-US" sz="1800" b="1" kern="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5.4</a:t>
            </a:r>
            <a:r>
              <a:rPr lang="en-US" altLang="en-US" sz="1800" b="1" kern="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结果与讨论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1A6500A-464D-4FD0-941B-13435C71BC36}"/>
              </a:ext>
            </a:extLst>
          </p:cNvPr>
          <p:cNvSpPr txBox="1"/>
          <p:nvPr/>
        </p:nvSpPr>
        <p:spPr>
          <a:xfrm>
            <a:off x="849994" y="1623109"/>
            <a:ext cx="39318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HK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/>
              </a:rPr>
              <a:t>喷嘴特性参数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35A6205-58C3-4CCF-8CD9-85301F663455}"/>
              </a:ext>
            </a:extLst>
          </p:cNvPr>
          <p:cNvSpPr txBox="1"/>
          <p:nvPr/>
        </p:nvSpPr>
        <p:spPr>
          <a:xfrm>
            <a:off x="6413670" y="1474234"/>
            <a:ext cx="530230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HK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压力对液滴直径和覆盖率的影响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C2FFE02-99F4-4FFD-8455-765DE6C74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15884886-3D85-4AFD-9D94-33E4AF7428DD}" type="slidenum">
              <a:rPr lang="en-US" altLang="zh-CN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40</a:t>
            </a:fld>
            <a:endParaRPr lang="en-US" altLang="zh-CN">
              <a:latin typeface="Times New Roman"/>
              <a:ea typeface="SimSun"/>
              <a:cs typeface="Times New Roman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944DAF6-6F10-4B33-9C0C-3C82DC665CD3}"/>
              </a:ext>
            </a:extLst>
          </p:cNvPr>
          <p:cNvSpPr txBox="1"/>
          <p:nvPr/>
        </p:nvSpPr>
        <p:spPr>
          <a:xfrm>
            <a:off x="779371" y="1289568"/>
            <a:ext cx="4073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eaLnBrk="1" fontAlgn="auto" hangingPunct="1" algn="l">
              <a:spcBef>
                <a:spcPts val="0"/>
              </a:spcBef>
              <a:spcAft>
                <a:spcPts val="0"/>
              </a:spcAft>
            </a:pPr>
            <a:r>
              <a:rPr lang="en-HK" sz="18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5.4.1</a:t>
            </a:r>
            <a:r>
              <a:rPr lang="en-HK" sz="18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单因素变化的影响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E62731A7-292E-45B0-A46C-6B489F40F25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367083" y="4118891"/>
            <a:ext cx="2639411" cy="2232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D4EBCA21-22F1-448C-8450-6CE54E2915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7452" y="1865962"/>
            <a:ext cx="4813746" cy="2880000"/>
          </a:xfrm>
          <a:prstGeom prst="rect">
            <a:avLst/>
          </a:prstGeom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BCF04087-4373-4225-81AE-D93EABDE08B5}"/>
              </a:ext>
            </a:extLst>
          </p:cNvPr>
          <p:cNvSpPr/>
          <p:nvPr/>
        </p:nvSpPr>
        <p:spPr>
          <a:xfrm>
            <a:off x="2081893" y="6521217"/>
            <a:ext cx="401410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HK" sz="12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Fig.5.4.1 </a:t>
            </a:r>
            <a:r>
              <a:rPr lang="en-HK" sz="12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The effect of nozzle pressure variations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0F03C77-6E9D-437B-8F34-A512AD95C2D3}"/>
              </a:ext>
            </a:extLst>
          </p:cNvPr>
          <p:cNvSpPr/>
          <p:nvPr/>
        </p:nvSpPr>
        <p:spPr>
          <a:xfrm>
            <a:off x="1234314" y="4006473"/>
            <a:ext cx="242660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eaLnBrk="1" fontAlgn="auto" hangingPunct="1" algn="l">
              <a:spcBef>
                <a:spcPts val="0"/>
              </a:spcBef>
              <a:spcAft>
                <a:spcPts val="0"/>
              </a:spcAft>
            </a:pPr>
            <a:r>
              <a:rPr lang="en-HK" sz="12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（a）压力对喷雾锥角的影响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B325B03-B4CB-402E-94A7-573CBE2E4B14}"/>
              </a:ext>
            </a:extLst>
          </p:cNvPr>
          <p:cNvSpPr/>
          <p:nvPr/>
        </p:nvSpPr>
        <p:spPr>
          <a:xfrm>
            <a:off x="3842022" y="4006473"/>
            <a:ext cx="242660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eaLnBrk="1" fontAlgn="auto" hangingPunct="1" algn="l">
              <a:spcBef>
                <a:spcPts val="0"/>
              </a:spcBef>
              <a:spcAft>
                <a:spcPts val="0"/>
              </a:spcAft>
            </a:pPr>
            <a:r>
              <a:rPr lang="en-HK" sz="12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（b）压力对流量的影响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3D740581-7BC4-4D11-9A15-4D931444F47A}"/>
                  </a:ext>
                </a:extLst>
              </p:cNvPr>
              <p:cNvSpPr/>
              <p:nvPr/>
            </p:nvSpPr>
            <p:spPr>
              <a:xfrm>
                <a:off x="2657506" y="6271205"/>
                <a:ext cx="2426604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defTabSz="457200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HK" sz="1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SimSun"/>
                    <a:cs typeface="Times New Roman" panose="02020603050405020304" pitchFamily="18" charset="0"/>
                  </a:rPr>
                  <a:t>(c) Effect of pressure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Times New Roman" panose="02040503050406030204" pitchFamily="18" charset="0"/>
                            <a:ea typeface="SimSun"/>
                            <a:cs typeface="Times New Roman"/>
                          </a:rPr>
                        </m:ctrlPr>
                      </m:sSubPr>
                      <m:e>
                        <m:r>
                          <a:rPr lang="en-US" sz="1200" i="1">
                            <a:latin typeface="Times New Roman" panose="02040503050406030204" pitchFamily="18" charset="0"/>
                            <a:ea typeface="SimSun"/>
                            <a:cs typeface="Times New Roman"/>
                          </a:rPr>
                          <m:t>𝜀</m:t>
                        </m:r>
                      </m:e>
                      <m:sub>
                        <m:r>
                          <a:rPr lang="en-US" sz="1200" i="1">
                            <a:latin typeface="Times New Roman" panose="02040503050406030204" pitchFamily="18" charset="0"/>
                            <a:ea typeface="SimSun"/>
                            <a:cs typeface="Times New Roman"/>
                          </a:rPr>
                          <m:t>𝑤𝑏</m:t>
                        </m:r>
                      </m:sub>
                    </m:sSub>
                  </m:oMath>
                </a14:m>
                <a:r>
                  <a:rPr lang="en-HK" sz="1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SimSun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3D740581-7BC4-4D11-9A15-4D931444F4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7506" y="6271205"/>
                <a:ext cx="2426604" cy="276999"/>
              </a:xfrm>
              <a:prstGeom prst="rect">
                <a:avLst/>
              </a:prstGeom>
              <a:blipFill>
                <a:blip r:embed="rId6"/>
                <a:stretch>
                  <a:fillRect l="-251" t="-222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  <a:latin typeface="Times New Roman"/>
                    <a:ea typeface="SimSun"/>
                    <a:cs typeface="Times New Roman"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16B69FB8-A4E2-4EB5-9DCB-5948840A5D54}"/>
                  </a:ext>
                </a:extLst>
              </p:cNvPr>
              <p:cNvSpPr txBox="1"/>
              <p:nvPr/>
            </p:nvSpPr>
            <p:spPr>
              <a:xfrm>
                <a:off x="6004981" y="4963251"/>
                <a:ext cx="6119680" cy="18947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HK" altLang="zh-CN" sz="1600" dirty="0">
                    <a:latin typeface="Times New Roman" panose="02020603050405020304" pitchFamily="18" charset="0"/>
                    <a:ea typeface="SimSun" panose="02010600030101010101" pitchFamily="2" charset="-122"/>
                    <a:cs typeface="Times New Roman"/>
                  </a:rPr>
                  <a:t>(a) The peak value of 67° is achieved at a pressure of </a:t>
                </a:r>
                <a:r>
                  <a:rPr lang="en-HK" altLang="zh-CN" sz="16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SimSun" panose="02010600030101010101" pitchFamily="2" charset="-122"/>
                    <a:cs typeface="Times New Roman"/>
                  </a:rPr>
                  <a:t>0.15 MPa</a:t>
                </a:r>
                <a:r>
                  <a:rPr lang="en-HK" altLang="zh-CN" sz="1600" dirty="0">
                    <a:latin typeface="Times New Roman" panose="02020603050405020304" pitchFamily="18" charset="0"/>
                    <a:ea typeface="SimSun" panose="02010600030101010101" pitchFamily="2" charset="-122"/>
                    <a:cs typeface="Times New Roman"/>
                  </a:rPr>
                  <a:t>.</a:t>
                </a:r>
                <a:endParaRPr lang="en-US" altLang="zh-CN" sz="1600" dirty="0">
                  <a:latin typeface="Times New Roman" panose="02020603050405020304" pitchFamily="18" charset="0"/>
                  <a:ea typeface="SimSun" panose="02010600030101010101" pitchFamily="2" charset="-122"/>
                  <a:cs typeface="Times New Roman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Times New Roman" panose="02020603050405020304" pitchFamily="18" charset="0"/>
                    <a:ea typeface="SimSun" panose="02010600030101010101" pitchFamily="2" charset="-122"/>
                    <a:cs typeface="Times New Roman"/>
                  </a:rPr>
                  <a:t>(b) T</a:t>
                </a:r>
                <a:r>
                  <a:rPr lang="en-HK" altLang="zh-CN" sz="1600" dirty="0">
                    <a:latin typeface="Times New Roman" panose="02020603050405020304" pitchFamily="18" charset="0"/>
                    <a:ea typeface="SimSun" panose="02010600030101010101" pitchFamily="2" charset="-122"/>
                    <a:cs typeface="Times New Roman"/>
                  </a:rPr>
                  <a:t>he increasing trend of spray flow rate with the rise in pressure. </a:t>
                </a:r>
              </a:p>
              <a:p>
                <a:pPr>
                  <a:lnSpc>
                    <a:spcPct val="150000"/>
                  </a:lnSpc>
                </a:pPr>
                <a:r>
                  <a:rPr lang="en-HK" altLang="zh-CN" sz="1600" dirty="0">
                    <a:latin typeface="Times New Roman" panose="02020603050405020304" pitchFamily="18" charset="0"/>
                    <a:ea typeface="SimSun" panose="02010600030101010101" pitchFamily="2" charset="-122"/>
                    <a:cs typeface="Times New Roman"/>
                  </a:rPr>
                  <a:t>(c) The trend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solidFill>
                              <a:srgbClr val="C00000"/>
                            </a:solidFill>
                            <a:latin typeface="Times New Roman" panose="02040503050406030204" pitchFamily="18" charset="0"/>
                            <a:ea typeface="SimSun"/>
                            <a:cs typeface="Times New Roman"/>
                          </a:rPr>
                        </m:ctrlPr>
                      </m:sSubPr>
                      <m:e>
                        <m:r>
                          <a:rPr lang="en-US" sz="1600" b="1" i="1">
                            <a:solidFill>
                              <a:srgbClr val="C00000"/>
                            </a:solidFill>
                            <a:latin typeface="Times New Roman" panose="02040503050406030204" pitchFamily="18" charset="0"/>
                            <a:ea typeface="SimSun"/>
                            <a:cs typeface="Times New Roman"/>
                          </a:rPr>
                          <m:t>𝜺</m:t>
                        </m:r>
                      </m:e>
                      <m:sub>
                        <m:r>
                          <a:rPr lang="en-US" sz="1600" b="1" i="1">
                            <a:solidFill>
                              <a:srgbClr val="C00000"/>
                            </a:solidFill>
                            <a:latin typeface="Times New Roman" panose="02040503050406030204" pitchFamily="18" charset="0"/>
                            <a:ea typeface="SimSun"/>
                            <a:cs typeface="Times New Roman"/>
                          </a:rPr>
                          <m:t>𝒘𝒃</m:t>
                        </m:r>
                      </m:sub>
                    </m:sSub>
                  </m:oMath>
                </a14:m>
                <a:r>
                  <a:rPr lang="en-HK" sz="1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SimSun"/>
                    <a:cs typeface="Times New Roman" panose="02020603050405020304" pitchFamily="18" charset="0"/>
                  </a:rPr>
                  <a:t> </a:t>
                </a:r>
                <a:r>
                  <a:rPr lang="en-HK" altLang="zh-CN" sz="1600" dirty="0">
                    <a:latin typeface="Times New Roman" panose="02020603050405020304" pitchFamily="18" charset="0"/>
                    <a:ea typeface="SimSun" panose="02010600030101010101" pitchFamily="2" charset="-122"/>
                    <a:cs typeface="Times New Roman"/>
                  </a:rPr>
                  <a:t>with pressure is consistent with spray angle.</a:t>
                </a:r>
              </a:p>
              <a:p>
                <a:pPr>
                  <a:lnSpc>
                    <a:spcPct val="150000"/>
                  </a:lnSpc>
                </a:pPr>
                <a:r>
                  <a:rPr lang="en-HK" altLang="zh-CN" sz="1600" dirty="0">
                    <a:latin typeface="Times New Roman" panose="02020603050405020304" pitchFamily="18" charset="0"/>
                    <a:ea typeface="SimSun" panose="02010600030101010101" pitchFamily="2" charset="-122"/>
                    <a:cs typeface="Times New Roman"/>
                  </a:rPr>
                  <a:t>(d) The maximum coverage ratio is achieved at a pressure of </a:t>
                </a:r>
                <a:r>
                  <a:rPr lang="en-HK" altLang="zh-CN" sz="16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SimSun" panose="02010600030101010101" pitchFamily="2" charset="-122"/>
                    <a:cs typeface="Times New Roman"/>
                  </a:rPr>
                  <a:t>0.15 MPa</a:t>
                </a:r>
                <a:r>
                  <a:rPr lang="en-HK" altLang="zh-CN" sz="1600" dirty="0">
                    <a:latin typeface="Times New Roman" panose="02020603050405020304" pitchFamily="18" charset="0"/>
                    <a:ea typeface="SimSun" panose="02010600030101010101" pitchFamily="2" charset="-122"/>
                    <a:cs typeface="Times New Roman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endParaRPr lang="en-US" altLang="zh-CN" sz="1600" dirty="0">
                  <a:latin typeface="Times New Roman" panose="02020603050405020304" pitchFamily="18" charset="0"/>
                  <a:ea typeface="SimSun" panose="02010600030101010101" pitchFamily="2" charset="-122"/>
                  <a:cs typeface="Times New Roman"/>
                </a:endParaRP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16B69FB8-A4E2-4EB5-9DCB-5948840A5D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4981" y="4963251"/>
                <a:ext cx="6119680" cy="1894749"/>
              </a:xfrm>
              <a:prstGeom prst="rect">
                <a:avLst/>
              </a:prstGeom>
              <a:blipFill>
                <a:blip r:embed="rId7"/>
                <a:stretch>
                  <a:fillRect l="-4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  <a:latin typeface="Times New Roman"/>
                    <a:ea typeface="SimSun"/>
                    <a:cs typeface="Times New Roman"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5162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33"/>
    </mc:Choice>
    <mc:Fallback xmlns="">
      <p:transition spd="slow" advTm="5933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id="{6E60EA61-5FA0-403D-923C-4F5BEA8844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9643" y="2208740"/>
            <a:ext cx="9277220" cy="2520000"/>
          </a:xfrm>
          <a:prstGeom prst="rect">
            <a:avLst/>
          </a:prstGeom>
        </p:spPr>
      </p:pic>
      <p:sp>
        <p:nvSpPr>
          <p:cNvPr id="12" name="矩形 3">
            <a:extLst>
              <a:ext uri="{FF2B5EF4-FFF2-40B4-BE49-F238E27FC236}">
                <a16:creationId xmlns:a16="http://schemas.microsoft.com/office/drawing/2014/main" id="{87A96E31-5BCD-C2C1-5A07-AE546C43B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996" y="-70184"/>
            <a:ext cx="10294254" cy="972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9pPr>
          </a:lstStyle>
          <a:p>
            <a:pPr lvl="0" algn="l">
              <a:lnSpc>
                <a:spcPct val="125000"/>
              </a:lnSpc>
              <a:spcBef>
                <a:spcPct val="20000"/>
              </a:spcBef>
              <a:defRPr>
                <a:latin typeface="Times New Roman"/>
                <a:ea typeface="SimSun"/>
                <a:cs typeface="Times New Roman"/>
              </a:defRPr>
            </a:pPr>
            <a:r>
              <a:rPr lang="en-US" altLang="zh-CN" b="1" dirty="0" sz="1800">
                <a:solidFill>
                  <a:srgbClr val="000000"/>
                </a:solidFill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5</a:t>
            </a:r>
            <a:r>
              <a:rPr lang="en-US" altLang="zh-CN" b="1" dirty="0" sz="1800">
                <a:solidFill>
                  <a:srgbClr val="000000"/>
                </a:solidFill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. 基于 ANN 与遗传算法的喷淋策略优化</a:t>
            </a:r>
          </a:p>
        </p:txBody>
      </p:sp>
      <p:sp>
        <p:nvSpPr>
          <p:cNvPr id="13" name="Content Placeholder 23">
            <a:extLst>
              <a:ext uri="{FF2B5EF4-FFF2-40B4-BE49-F238E27FC236}">
                <a16:creationId xmlns:a16="http://schemas.microsoft.com/office/drawing/2014/main" id="{535BB520-318C-8F82-B67E-8F4206537697}"/>
              </a:ext>
            </a:extLst>
          </p:cNvPr>
          <p:cNvSpPr txBox="1">
            <a:spLocks/>
          </p:cNvSpPr>
          <p:nvPr/>
        </p:nvSpPr>
        <p:spPr bwMode="auto">
          <a:xfrm>
            <a:off x="390459" y="937927"/>
            <a:ext cx="3296330" cy="37911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234950" indent="-23495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 pitchFamily="-111" charset="-128"/>
              </a:defRPr>
            </a:lvl1pPr>
            <a:lvl2pPr marL="576263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2pPr>
            <a:lvl3pPr marL="866775" indent="-176213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3pPr>
            <a:lvl4pPr marL="1196975" indent="-1635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4pPr>
            <a:lvl5pPr marL="1604963" indent="-176213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5pPr>
            <a:lvl6pPr marL="20621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6pPr>
            <a:lvl7pPr marL="25193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7pPr>
            <a:lvl8pPr marL="29765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8pPr>
            <a:lvl9pPr marL="34337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9pPr>
          </a:lstStyle>
          <a:p>
            <a:pPr marL="0" lvl="1" indent="0" algn="l">
              <a:spcBef>
                <a:spcPts val="1200"/>
              </a:spcBef>
              <a:spcAft>
                <a:spcPts val="1200"/>
              </a:spcAft>
              <a:buClrTx/>
              <a:buNone/>
              <a:defRPr>
                <a:latin typeface="Times New Roman"/>
                <a:ea typeface="SimSun"/>
                <a:cs typeface="Times New Roman"/>
              </a:defRPr>
            </a:pPr>
            <a:r>
              <a:rPr lang="en-US" altLang="en-US" sz="1800" b="1" kern="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5.4</a:t>
            </a:r>
            <a:r>
              <a:rPr lang="en-US" altLang="en-US" sz="1800" b="1" kern="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结果与讨论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1A6500A-464D-4FD0-941B-13435C71BC36}"/>
              </a:ext>
            </a:extLst>
          </p:cNvPr>
          <p:cNvSpPr txBox="1"/>
          <p:nvPr/>
        </p:nvSpPr>
        <p:spPr>
          <a:xfrm>
            <a:off x="1434648" y="1797411"/>
            <a:ext cx="23694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HK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/>
              </a:rPr>
              <a:t>喷嘴间距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C2FFE02-99F4-4FFD-8455-765DE6C74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15884886-3D85-4AFD-9D94-33E4AF7428DD}" type="slidenum">
              <a:rPr lang="en-US" altLang="zh-CN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41</a:t>
            </a:fld>
            <a:endParaRPr lang="en-US" altLang="zh-CN" dirty="0">
              <a:latin typeface="Times New Roman"/>
              <a:ea typeface="SimSun"/>
              <a:cs typeface="Times New Roman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944DAF6-6F10-4B33-9C0C-3C82DC665CD3}"/>
              </a:ext>
            </a:extLst>
          </p:cNvPr>
          <p:cNvSpPr txBox="1"/>
          <p:nvPr/>
        </p:nvSpPr>
        <p:spPr>
          <a:xfrm>
            <a:off x="779371" y="1289568"/>
            <a:ext cx="4073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eaLnBrk="1" fontAlgn="auto" hangingPunct="1" algn="l">
              <a:spcBef>
                <a:spcPts val="0"/>
              </a:spcBef>
              <a:spcAft>
                <a:spcPts val="0"/>
              </a:spcAft>
            </a:pPr>
            <a:r>
              <a:rPr lang="en-HK" sz="18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5.4.1</a:t>
            </a:r>
            <a:r>
              <a:rPr lang="en-HK" sz="18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单因素变化的影响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CF04087-4373-4225-81AE-D93EABDE08B5}"/>
              </a:ext>
            </a:extLst>
          </p:cNvPr>
          <p:cNvSpPr/>
          <p:nvPr/>
        </p:nvSpPr>
        <p:spPr>
          <a:xfrm>
            <a:off x="3731692" y="4800108"/>
            <a:ext cx="52113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HK" sz="14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Fig.5.4.2 </a:t>
            </a:r>
            <a:r>
              <a:rPr lang="en-HK" sz="14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The effect of three other nozzle parameters variations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73BA449-0F05-4605-836B-0A296C6D1A21}"/>
              </a:ext>
            </a:extLst>
          </p:cNvPr>
          <p:cNvSpPr txBox="1"/>
          <p:nvPr/>
        </p:nvSpPr>
        <p:spPr>
          <a:xfrm>
            <a:off x="4596948" y="1798818"/>
            <a:ext cx="18991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HK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/>
              </a:rPr>
              <a:t>喷嘴孔径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73A1540-F6B4-4960-8DF0-7C62AF258952}"/>
              </a:ext>
            </a:extLst>
          </p:cNvPr>
          <p:cNvSpPr txBox="1"/>
          <p:nvPr/>
        </p:nvSpPr>
        <p:spPr>
          <a:xfrm>
            <a:off x="7702098" y="1797411"/>
            <a:ext cx="18991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HK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/>
              </a:rPr>
              <a:t>喷嘴数量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C08C1CF8-DBF4-4D1A-9146-E6B69EBBDC7C}"/>
                  </a:ext>
                </a:extLst>
              </p:cNvPr>
              <p:cNvSpPr txBox="1"/>
              <p:nvPr/>
            </p:nvSpPr>
            <p:spPr>
              <a:xfrm>
                <a:off x="1386307" y="5284113"/>
                <a:ext cx="9805395" cy="11560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HK" altLang="zh-CN" sz="1600" dirty="0">
                    <a:latin typeface="Times New Roman" panose="02020603050405020304" pitchFamily="18" charset="0"/>
                    <a:ea typeface="SimSun" panose="02010600030101010101" pitchFamily="2" charset="-122"/>
                    <a:cs typeface="Times New Roman"/>
                  </a:rPr>
                  <a:t>The peak value of wet-bulb efficiency is achieved at a spacing of </a:t>
                </a:r>
                <a:r>
                  <a:rPr lang="en-HK" altLang="zh-CN" sz="16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SimSun" panose="02010600030101010101" pitchFamily="2" charset="-122"/>
                    <a:cs typeface="Times New Roman"/>
                  </a:rPr>
                  <a:t>80 mm</a:t>
                </a:r>
                <a:r>
                  <a:rPr lang="en-HK" altLang="zh-CN" sz="1600" dirty="0">
                    <a:latin typeface="Times New Roman" panose="02020603050405020304" pitchFamily="18" charset="0"/>
                    <a:ea typeface="SimSun" panose="02010600030101010101" pitchFamily="2" charset="-122"/>
                    <a:cs typeface="Times New Roman"/>
                  </a:rPr>
                  <a:t>.</a:t>
                </a:r>
                <a:endParaRPr lang="en-US" altLang="zh-CN" sz="1600" dirty="0">
                  <a:latin typeface="Times New Roman" panose="02020603050405020304" pitchFamily="18" charset="0"/>
                  <a:ea typeface="SimSun" panose="02010600030101010101" pitchFamily="2" charset="-122"/>
                  <a:cs typeface="Times New Roman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HK" altLang="zh-CN" sz="1600" dirty="0">
                    <a:latin typeface="Times New Roman" panose="02020603050405020304" pitchFamily="18" charset="0"/>
                    <a:ea typeface="SimSun" panose="02010600030101010101" pitchFamily="2" charset="-122"/>
                    <a:cs typeface="Times New Roman"/>
                  </a:rPr>
                  <a:t>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Times New Roman" panose="02040503050406030204" pitchFamily="18" charset="0"/>
                            <a:ea typeface="SimSun"/>
                            <a:cs typeface="Times New Roman"/>
                          </a:rPr>
                        </m:ctrlPr>
                      </m:sSubPr>
                      <m:e>
                        <m:r>
                          <a:rPr lang="en-US" sz="1600" i="1">
                            <a:latin typeface="Times New Roman" panose="02040503050406030204" pitchFamily="18" charset="0"/>
                            <a:ea typeface="SimSun"/>
                            <a:cs typeface="Times New Roman"/>
                          </a:rPr>
                          <m:t>𝜀</m:t>
                        </m:r>
                      </m:e>
                      <m:sub>
                        <m:r>
                          <a:rPr lang="en-US" sz="1600" i="1">
                            <a:latin typeface="Times New Roman" panose="02040503050406030204" pitchFamily="18" charset="0"/>
                            <a:ea typeface="SimSun"/>
                            <a:cs typeface="Times New Roman"/>
                          </a:rPr>
                          <m:t>𝑤𝑏</m:t>
                        </m:r>
                      </m:sub>
                    </m:sSub>
                  </m:oMath>
                </a14:m>
                <a:r>
                  <a:rPr lang="en-HK" sz="1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SimSun"/>
                    <a:cs typeface="Times New Roman" panose="02020603050405020304" pitchFamily="18" charset="0"/>
                  </a:rPr>
                  <a:t> </a:t>
                </a:r>
                <a:r>
                  <a:rPr lang="en-HK" altLang="zh-CN" sz="16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SimSun" panose="02010600030101010101" pitchFamily="2" charset="-122"/>
                    <a:cs typeface="Times New Roman"/>
                  </a:rPr>
                  <a:t>initially increases </a:t>
                </a:r>
                <a:r>
                  <a:rPr lang="en-HK" altLang="zh-CN" sz="1600" dirty="0">
                    <a:latin typeface="Times New Roman" panose="02020603050405020304" pitchFamily="18" charset="0"/>
                    <a:ea typeface="SimSun" panose="02010600030101010101" pitchFamily="2" charset="-122"/>
                    <a:cs typeface="Times New Roman"/>
                  </a:rPr>
                  <a:t>with increasing nozzle aperture size and </a:t>
                </a:r>
                <a:r>
                  <a:rPr lang="en-HK" altLang="zh-CN" sz="16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SimSun" panose="02010600030101010101" pitchFamily="2" charset="-122"/>
                    <a:cs typeface="Times New Roman"/>
                  </a:rPr>
                  <a:t>decreases</a:t>
                </a:r>
                <a:r>
                  <a:rPr lang="en-HK" altLang="zh-CN" sz="1600" dirty="0">
                    <a:latin typeface="Times New Roman" panose="02020603050405020304" pitchFamily="18" charset="0"/>
                    <a:ea typeface="SimSun" panose="02010600030101010101" pitchFamily="2" charset="-122"/>
                    <a:cs typeface="Times New Roman"/>
                  </a:rPr>
                  <a:t> with apertures larger than 6 mm.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HK" altLang="zh-CN" sz="1600" dirty="0">
                    <a:latin typeface="Times New Roman" panose="02020603050405020304" pitchFamily="18" charset="0"/>
                    <a:ea typeface="SimSun" panose="02010600030101010101" pitchFamily="2" charset="-122"/>
                    <a:cs typeface="Times New Roman"/>
                  </a:rPr>
                  <a:t>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Times New Roman" panose="02040503050406030204" pitchFamily="18" charset="0"/>
                            <a:ea typeface="SimSun"/>
                            <a:cs typeface="Times New Roman"/>
                          </a:rPr>
                        </m:ctrlPr>
                      </m:sSubPr>
                      <m:e>
                        <m:r>
                          <a:rPr lang="en-US" sz="1600" i="1">
                            <a:latin typeface="Times New Roman" panose="02040503050406030204" pitchFamily="18" charset="0"/>
                            <a:ea typeface="SimSun"/>
                            <a:cs typeface="Times New Roman"/>
                          </a:rPr>
                          <m:t>𝜀</m:t>
                        </m:r>
                      </m:e>
                      <m:sub>
                        <m:r>
                          <a:rPr lang="en-US" sz="1600" i="1">
                            <a:latin typeface="Times New Roman" panose="02040503050406030204" pitchFamily="18" charset="0"/>
                            <a:ea typeface="SimSun"/>
                            <a:cs typeface="Times New Roman"/>
                          </a:rPr>
                          <m:t>𝑤𝑏</m:t>
                        </m:r>
                      </m:sub>
                    </m:sSub>
                    <m:r>
                      <a:rPr lang="en-US" sz="1600" i="1">
                        <a:latin typeface="Times New Roman" panose="02040503050406030204" pitchFamily="18" charset="0"/>
                        <a:ea typeface="SimSun"/>
                        <a:cs typeface="Times New Roman"/>
                      </a:rPr>
                      <m:t> </m:t>
                    </m:r>
                  </m:oMath>
                </a14:m>
                <a:r>
                  <a:rPr lang="en-HK" altLang="zh-CN" sz="1600" dirty="0">
                    <a:latin typeface="Times New Roman" panose="02020603050405020304" pitchFamily="18" charset="0"/>
                    <a:ea typeface="SimSun" panose="02010600030101010101" pitchFamily="2" charset="-122"/>
                    <a:cs typeface="Times New Roman"/>
                  </a:rPr>
                  <a:t>demonstrates an </a:t>
                </a:r>
                <a:r>
                  <a:rPr lang="en-HK" altLang="zh-CN" sz="16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SimSun" panose="02010600030101010101" pitchFamily="2" charset="-122"/>
                    <a:cs typeface="Times New Roman"/>
                  </a:rPr>
                  <a:t>initial increase </a:t>
                </a:r>
                <a:r>
                  <a:rPr lang="en-HK" altLang="zh-CN" sz="1600" dirty="0">
                    <a:latin typeface="Times New Roman" panose="02020603050405020304" pitchFamily="18" charset="0"/>
                    <a:ea typeface="SimSun" panose="02010600030101010101" pitchFamily="2" charset="-122"/>
                    <a:cs typeface="Times New Roman"/>
                  </a:rPr>
                  <a:t>as the number of nozzles increases, but it starts to </a:t>
                </a:r>
                <a:r>
                  <a:rPr lang="en-HK" altLang="zh-CN" sz="16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SimSun" panose="02010600030101010101" pitchFamily="2" charset="-122"/>
                    <a:cs typeface="Times New Roman"/>
                  </a:rPr>
                  <a:t>decline</a:t>
                </a:r>
                <a:r>
                  <a:rPr lang="en-HK" altLang="zh-CN" sz="1600" dirty="0">
                    <a:latin typeface="Times New Roman" panose="02020603050405020304" pitchFamily="18" charset="0"/>
                    <a:ea typeface="SimSun" panose="02010600030101010101" pitchFamily="2" charset="-122"/>
                    <a:cs typeface="Times New Roman"/>
                  </a:rPr>
                  <a:t> when n≥10.</a:t>
                </a:r>
                <a:endParaRPr lang="zh-CN" altLang="en-US" sz="1600" dirty="0">
                  <a:latin typeface="Times New Roman" panose="02020603050405020304" pitchFamily="18" charset="0"/>
                  <a:ea typeface="SimSun" panose="02010600030101010101" pitchFamily="2" charset="-122"/>
                  <a:cs typeface="Times New Roman"/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C08C1CF8-DBF4-4D1A-9146-E6B69EBBDC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6307" y="5284113"/>
                <a:ext cx="9805395" cy="1156086"/>
              </a:xfrm>
              <a:prstGeom prst="rect">
                <a:avLst/>
              </a:prstGeom>
              <a:blipFill>
                <a:blip r:embed="rId4"/>
                <a:stretch>
                  <a:fillRect l="-249" b="-6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  <a:latin typeface="Times New Roman"/>
                    <a:ea typeface="SimSun"/>
                    <a:cs typeface="Times New Roman"/>
                  </a:rPr>
                  <a:t> </a:t>
                </a:r>
              </a:p>
            </p:txBody>
          </p:sp>
        </mc:Fallback>
      </mc:AlternateContent>
      <p:sp>
        <p:nvSpPr>
          <p:cNvPr id="3" name="椭圆 2">
            <a:extLst>
              <a:ext uri="{FF2B5EF4-FFF2-40B4-BE49-F238E27FC236}">
                <a16:creationId xmlns:a16="http://schemas.microsoft.com/office/drawing/2014/main" id="{51BD5558-EEEB-4B5C-AEAB-D377FF6377B0}"/>
              </a:ext>
            </a:extLst>
          </p:cNvPr>
          <p:cNvSpPr/>
          <p:nvPr/>
        </p:nvSpPr>
        <p:spPr bwMode="auto">
          <a:xfrm>
            <a:off x="2459115" y="2361460"/>
            <a:ext cx="363984" cy="324345"/>
          </a:xfrm>
          <a:prstGeom prst="ellipse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Times New Roman" charset="0"/>
              <a:ea typeface="SimSun"/>
              <a:cs typeface="Times New Roman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11FD431D-0744-4501-BF84-5621D30D5786}"/>
              </a:ext>
            </a:extLst>
          </p:cNvPr>
          <p:cNvSpPr/>
          <p:nvPr/>
        </p:nvSpPr>
        <p:spPr bwMode="auto">
          <a:xfrm>
            <a:off x="6289005" y="2356265"/>
            <a:ext cx="363984" cy="324345"/>
          </a:xfrm>
          <a:prstGeom prst="ellipse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Times New Roman" charset="0"/>
              <a:ea typeface="SimSun"/>
              <a:cs typeface="Times New Roman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B6F28FE5-003F-4195-9006-30CBF9A557E9}"/>
              </a:ext>
            </a:extLst>
          </p:cNvPr>
          <p:cNvSpPr/>
          <p:nvPr/>
        </p:nvSpPr>
        <p:spPr bwMode="auto">
          <a:xfrm>
            <a:off x="9368901" y="2330251"/>
            <a:ext cx="363984" cy="324345"/>
          </a:xfrm>
          <a:prstGeom prst="ellipse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Times New Roman" charset="0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4917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33"/>
    </mc:Choice>
    <mc:Fallback xmlns="">
      <p:transition spd="slow" advTm="593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" grpId="0" animBg="1"/>
      <p:bldP spid="17" grpId="0" animBg="1"/>
      <p:bldP spid="1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BC113EA7-5BB6-409E-A5D2-B97D45B8C941}"/>
              </a:ext>
            </a:extLst>
          </p:cNvPr>
          <p:cNvSpPr/>
          <p:nvPr/>
        </p:nvSpPr>
        <p:spPr bwMode="auto">
          <a:xfrm>
            <a:off x="947051" y="4515495"/>
            <a:ext cx="4959640" cy="2015853"/>
          </a:xfrm>
          <a:prstGeom prst="rect">
            <a:avLst/>
          </a:prstGeom>
          <a:solidFill>
            <a:srgbClr val="B96E87">
              <a:tint val="66000"/>
              <a:satMod val="160000"/>
              <a:alpha val="28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Times New Roman" charset="0"/>
              <a:ea typeface="SimSun"/>
              <a:cs typeface="Times New Roman"/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1A942D7F-F762-4804-9C9C-CCBA95737A1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213811" y="4351363"/>
            <a:ext cx="2913533" cy="2232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AB440F50-E763-492C-8DC7-F71932D0E36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524241" y="1963442"/>
            <a:ext cx="2894120" cy="2232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4C7AB77A-745A-4F7F-8668-9437FD15EA4B}"/>
              </a:ext>
            </a:extLst>
          </p:cNvPr>
          <p:cNvSpPr/>
          <p:nvPr/>
        </p:nvSpPr>
        <p:spPr bwMode="auto">
          <a:xfrm>
            <a:off x="6822785" y="1851946"/>
            <a:ext cx="4824718" cy="2112249"/>
          </a:xfrm>
          <a:prstGeom prst="rect">
            <a:avLst/>
          </a:prstGeom>
          <a:solidFill>
            <a:srgbClr val="B96E87">
              <a:tint val="66000"/>
              <a:satMod val="160000"/>
              <a:alpha val="28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Times New Roman" charset="0"/>
              <a:ea typeface="SimSun"/>
              <a:cs typeface="Times New Roman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16355CD3-E2C1-404C-8275-10B65859F0E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923"/>
          <a:stretch/>
        </p:blipFill>
        <p:spPr bwMode="auto">
          <a:xfrm>
            <a:off x="9069483" y="4351363"/>
            <a:ext cx="2844801" cy="2232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2" name="矩形 3">
            <a:extLst>
              <a:ext uri="{FF2B5EF4-FFF2-40B4-BE49-F238E27FC236}">
                <a16:creationId xmlns:a16="http://schemas.microsoft.com/office/drawing/2014/main" id="{87A96E31-5BCD-C2C1-5A07-AE546C43B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996" y="-70184"/>
            <a:ext cx="10294254" cy="972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9pPr>
          </a:lstStyle>
          <a:p>
            <a:pPr lvl="0" algn="l">
              <a:lnSpc>
                <a:spcPct val="125000"/>
              </a:lnSpc>
              <a:spcBef>
                <a:spcPct val="20000"/>
              </a:spcBef>
              <a:defRPr>
                <a:latin typeface="Times New Roman"/>
                <a:ea typeface="SimSun"/>
                <a:cs typeface="Times New Roman"/>
              </a:defRPr>
            </a:pPr>
            <a:r>
              <a:rPr lang="en-US" altLang="zh-CN" b="1" dirty="0" sz="1800">
                <a:solidFill>
                  <a:srgbClr val="000000"/>
                </a:solidFill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5</a:t>
            </a:r>
            <a:r>
              <a:rPr lang="en-US" altLang="zh-CN" b="1" dirty="0" sz="1800">
                <a:solidFill>
                  <a:srgbClr val="000000"/>
                </a:solidFill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. 基于 ANN 与遗传算法的喷淋策略优化</a:t>
            </a:r>
          </a:p>
        </p:txBody>
      </p:sp>
      <p:sp>
        <p:nvSpPr>
          <p:cNvPr id="13" name="Content Placeholder 23">
            <a:extLst>
              <a:ext uri="{FF2B5EF4-FFF2-40B4-BE49-F238E27FC236}">
                <a16:creationId xmlns:a16="http://schemas.microsoft.com/office/drawing/2014/main" id="{535BB520-318C-8F82-B67E-8F4206537697}"/>
              </a:ext>
            </a:extLst>
          </p:cNvPr>
          <p:cNvSpPr txBox="1">
            <a:spLocks/>
          </p:cNvSpPr>
          <p:nvPr/>
        </p:nvSpPr>
        <p:spPr bwMode="auto">
          <a:xfrm>
            <a:off x="352359" y="902198"/>
            <a:ext cx="3296330" cy="37911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234950" indent="-23495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 pitchFamily="-111" charset="-128"/>
              </a:defRPr>
            </a:lvl1pPr>
            <a:lvl2pPr marL="576263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2pPr>
            <a:lvl3pPr marL="866775" indent="-176213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3pPr>
            <a:lvl4pPr marL="1196975" indent="-1635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4pPr>
            <a:lvl5pPr marL="1604963" indent="-176213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5pPr>
            <a:lvl6pPr marL="20621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6pPr>
            <a:lvl7pPr marL="25193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7pPr>
            <a:lvl8pPr marL="29765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8pPr>
            <a:lvl9pPr marL="34337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9pPr>
          </a:lstStyle>
          <a:p>
            <a:pPr marL="0" lvl="1" indent="0" algn="l">
              <a:spcBef>
                <a:spcPts val="1200"/>
              </a:spcBef>
              <a:spcAft>
                <a:spcPts val="1200"/>
              </a:spcAft>
              <a:buClrTx/>
              <a:buNone/>
              <a:defRPr>
                <a:latin typeface="Times New Roman"/>
                <a:ea typeface="SimSun"/>
                <a:cs typeface="Times New Roman"/>
              </a:defRPr>
            </a:pPr>
            <a:r>
              <a:rPr lang="en-US" altLang="en-US" sz="1800" b="1" kern="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5.4</a:t>
            </a:r>
            <a:r>
              <a:rPr lang="en-US" altLang="en-US" sz="1800" b="1" kern="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结果与讨论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C2FFE02-99F4-4FFD-8455-765DE6C74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15884886-3D85-4AFD-9D94-33E4AF7428DD}" type="slidenum">
              <a:rPr lang="en-US" altLang="zh-CN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42</a:t>
            </a:fld>
            <a:endParaRPr lang="en-US" altLang="zh-CN" dirty="0">
              <a:latin typeface="Times New Roman"/>
              <a:ea typeface="SimSun"/>
              <a:cs typeface="Times New Roman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944DAF6-6F10-4B33-9C0C-3C82DC665CD3}"/>
              </a:ext>
            </a:extLst>
          </p:cNvPr>
          <p:cNvSpPr txBox="1"/>
          <p:nvPr/>
        </p:nvSpPr>
        <p:spPr>
          <a:xfrm>
            <a:off x="741271" y="1253839"/>
            <a:ext cx="4073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eaLnBrk="1" fontAlgn="auto" hangingPunct="1" algn="l">
              <a:spcBef>
                <a:spcPts val="0"/>
              </a:spcBef>
              <a:spcAft>
                <a:spcPts val="0"/>
              </a:spcAft>
            </a:pPr>
            <a:r>
              <a:rPr lang="en-HK" sz="18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5.4.1</a:t>
            </a:r>
            <a:r>
              <a:rPr lang="en-HK" sz="18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单因素变化的影响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BCF04087-4373-4225-81AE-D93EABDE08B5}"/>
                  </a:ext>
                </a:extLst>
              </p:cNvPr>
              <p:cNvSpPr/>
              <p:nvPr/>
            </p:nvSpPr>
            <p:spPr>
              <a:xfrm>
                <a:off x="1918325" y="4151133"/>
                <a:ext cx="5211308" cy="3077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defTabSz="457200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HK" sz="1400" b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SimSun"/>
                    <a:cs typeface="Times New Roman" panose="02020603050405020304" pitchFamily="18" charset="0"/>
                  </a:rPr>
                  <a:t>Fig.5.4.3 </a:t>
                </a:r>
                <a:r>
                  <a:rPr lang="en-HK" sz="1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SimSun"/>
                    <a:cs typeface="Times New Roman" panose="02020603050405020304" pitchFamily="18" charset="0"/>
                  </a:rPr>
                  <a:t>The effect of operation parameters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Times New Roman" panose="02040503050406030204" pitchFamily="18" charset="0"/>
                            <a:ea typeface="SimSun"/>
                            <a:cs typeface="Times New Roman"/>
                          </a:rPr>
                        </m:ctrlPr>
                      </m:sSubPr>
                      <m:e>
                        <m:r>
                          <a:rPr lang="en-US" sz="1400" i="1">
                            <a:latin typeface="Times New Roman" panose="02040503050406030204" pitchFamily="18" charset="0"/>
                            <a:ea typeface="SimSun"/>
                            <a:cs typeface="Times New Roman"/>
                          </a:rPr>
                          <m:t>𝜀</m:t>
                        </m:r>
                      </m:e>
                      <m:sub>
                        <m:r>
                          <a:rPr lang="en-HK" sz="1400" b="0" i="1" smtClean="0">
                            <a:latin typeface="Times New Roman" panose="02040503050406030204" pitchFamily="18" charset="0"/>
                            <a:ea typeface="SimSun"/>
                            <a:cs typeface="Times New Roman"/>
                          </a:rPr>
                          <m:t>𝑤𝑏</m:t>
                        </m:r>
                      </m:sub>
                    </m:sSub>
                  </m:oMath>
                </a14:m>
                <a:r>
                  <a:rPr lang="en-HK" sz="1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SimSun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BCF04087-4373-4225-81AE-D93EABDE08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8325" y="4151133"/>
                <a:ext cx="5211308" cy="307777"/>
              </a:xfrm>
              <a:prstGeom prst="rect">
                <a:avLst/>
              </a:prstGeom>
              <a:blipFill>
                <a:blip r:embed="rId6"/>
                <a:stretch>
                  <a:fillRect l="-351"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  <a:latin typeface="Times New Roman"/>
                    <a:ea typeface="SimSun"/>
                    <a:cs typeface="Times New Roman"/>
                  </a:rPr>
                  <a:t> </a:t>
                </a:r>
              </a:p>
            </p:txBody>
          </p:sp>
        </mc:Fallback>
      </mc:AlternateContent>
      <p:pic>
        <p:nvPicPr>
          <p:cNvPr id="11" name="图片 10">
            <a:extLst>
              <a:ext uri="{FF2B5EF4-FFF2-40B4-BE49-F238E27FC236}">
                <a16:creationId xmlns:a16="http://schemas.microsoft.com/office/drawing/2014/main" id="{E0FF88A8-F43A-49F2-8051-CBF2A39E565C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96084" y="1956712"/>
            <a:ext cx="2831160" cy="2232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F40C4369-DFA1-4532-9CEB-61316E0CA766}"/>
              </a:ext>
            </a:extLst>
          </p:cNvPr>
          <p:cNvSpPr txBox="1"/>
          <p:nvPr/>
        </p:nvSpPr>
        <p:spPr>
          <a:xfrm>
            <a:off x="811894" y="1587380"/>
            <a:ext cx="39318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HK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/>
              </a:rPr>
              <a:t>运行特性参数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7D6BDAB-5D97-45FF-9EE7-983C589C645E}"/>
              </a:ext>
            </a:extLst>
          </p:cNvPr>
          <p:cNvSpPr/>
          <p:nvPr/>
        </p:nvSpPr>
        <p:spPr>
          <a:xfrm>
            <a:off x="6822785" y="6531348"/>
            <a:ext cx="52113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HK" sz="14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Fig.5.4.4 </a:t>
            </a:r>
            <a:r>
              <a:rPr lang="en-HK" sz="14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The effect of operation parameters on pressure drop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572FE34C-052C-4910-BE0B-10F97CC2FA8F}"/>
                  </a:ext>
                </a:extLst>
              </p:cNvPr>
              <p:cNvSpPr txBox="1"/>
              <p:nvPr/>
            </p:nvSpPr>
            <p:spPr>
              <a:xfrm>
                <a:off x="6932546" y="1851947"/>
                <a:ext cx="4627944" cy="19716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HK" altLang="zh-CN" sz="1600" dirty="0">
                    <a:latin typeface="Times New Roman" panose="02020603050405020304" pitchFamily="18" charset="0"/>
                    <a:ea typeface="SimSun" panose="02010600030101010101" pitchFamily="2" charset="-122"/>
                    <a:cs typeface="Times New Roman"/>
                  </a:rPr>
                  <a:t>Ratio of air to water</a:t>
                </a:r>
              </a:p>
              <a:p>
                <a:pPr marL="285750" indent="-285750" algn="just">
                  <a:lnSpc>
                    <a:spcPct val="150000"/>
                  </a:lnSpc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HK" altLang="zh-CN" sz="1600" dirty="0">
                    <a:latin typeface="Times New Roman" panose="02020603050405020304" pitchFamily="18" charset="0"/>
                    <a:ea typeface="SimSun" panose="02010600030101010101" pitchFamily="2" charset="-122"/>
                    <a:cs typeface="Times New Roman"/>
                  </a:rPr>
                  <a:t>Initial stage: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SimSun" panose="02010600030101010101" pitchFamily="2" charset="-122"/>
                    <a:cs typeface="Times New Roman"/>
                  </a:rPr>
                  <a:t> </a:t>
                </a:r>
                <a:r>
                  <a:rPr lang="en-HK" altLang="zh-CN" sz="1600" dirty="0">
                    <a:latin typeface="Times New Roman" panose="02020603050405020304" pitchFamily="18" charset="0"/>
                    <a:ea typeface="SimSun" panose="02010600030101010101" pitchFamily="2" charset="-122"/>
                    <a:cs typeface="Times New Roman"/>
                  </a:rPr>
                  <a:t>improves the convective heat and mass transfer coefficient, thus optimising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Times New Roman" panose="02040503050406030204" pitchFamily="18" charset="0"/>
                            <a:ea typeface="SimSun"/>
                            <a:cs typeface="Times New Roman"/>
                          </a:rPr>
                        </m:ctrlPr>
                      </m:sSubPr>
                      <m:e>
                        <m:r>
                          <a:rPr lang="en-US" sz="1600" i="1">
                            <a:latin typeface="Times New Roman" panose="02040503050406030204" pitchFamily="18" charset="0"/>
                            <a:ea typeface="SimSun"/>
                            <a:cs typeface="Times New Roman"/>
                          </a:rPr>
                          <m:t>𝜀</m:t>
                        </m:r>
                      </m:e>
                      <m:sub>
                        <m:r>
                          <a:rPr lang="en-US" sz="1600" i="1">
                            <a:latin typeface="Times New Roman" panose="02040503050406030204" pitchFamily="18" charset="0"/>
                            <a:ea typeface="SimSun"/>
                            <a:cs typeface="Times New Roman"/>
                          </a:rPr>
                          <m:t>𝑤𝑏</m:t>
                        </m:r>
                      </m:sub>
                    </m:sSub>
                  </m:oMath>
                </a14:m>
                <a:r>
                  <a:rPr lang="en-HK" altLang="zh-CN" sz="1600" dirty="0">
                    <a:latin typeface="Times New Roman" panose="02020603050405020304" pitchFamily="18" charset="0"/>
                    <a:ea typeface="SimSun" panose="02010600030101010101" pitchFamily="2" charset="-122"/>
                    <a:cs typeface="Times New Roman"/>
                  </a:rPr>
                  <a:t>.</a:t>
                </a: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HK" altLang="zh-CN" sz="1600" dirty="0">
                    <a:latin typeface="Times New Roman" panose="02020603050405020304" pitchFamily="18" charset="0"/>
                    <a:ea typeface="SimSun" panose="02010600030101010101" pitchFamily="2" charset="-122"/>
                    <a:cs typeface="Times New Roman"/>
                  </a:rPr>
                  <a:t>Later stage: disrupts the formation of a water film, increasing the pressure drop</a:t>
                </a: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572FE34C-052C-4910-BE0B-10F97CC2FA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2546" y="1851947"/>
                <a:ext cx="4627944" cy="1971694"/>
              </a:xfrm>
              <a:prstGeom prst="rect">
                <a:avLst/>
              </a:prstGeom>
              <a:blipFill>
                <a:blip r:embed="rId8"/>
                <a:stretch>
                  <a:fillRect l="-527" r="-791" b="-34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  <a:latin typeface="Times New Roman"/>
                    <a:ea typeface="SimSun"/>
                    <a:cs typeface="Times New Roman"/>
                  </a:rPr>
                  <a:t> </a:t>
                </a:r>
              </a:p>
            </p:txBody>
          </p:sp>
        </mc:Fallback>
      </mc:AlternateContent>
      <p:sp>
        <p:nvSpPr>
          <p:cNvPr id="25" name="文本框 24">
            <a:extLst>
              <a:ext uri="{FF2B5EF4-FFF2-40B4-BE49-F238E27FC236}">
                <a16:creationId xmlns:a16="http://schemas.microsoft.com/office/drawing/2014/main" id="{776B95AA-D971-4D4E-B56F-D7F1FEE29B0D}"/>
              </a:ext>
            </a:extLst>
          </p:cNvPr>
          <p:cNvSpPr txBox="1"/>
          <p:nvPr/>
        </p:nvSpPr>
        <p:spPr>
          <a:xfrm>
            <a:off x="1112899" y="4424901"/>
            <a:ext cx="4627944" cy="1971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HK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/>
              </a:rPr>
              <a:t>喷淋密度的影响</a:t>
            </a: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HK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/>
              </a:rPr>
              <a:t>喷淋密度较低：水膜分布不均，存在干区。</a:t>
            </a: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HK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/>
              </a:rPr>
              <a:t>喷淋密度较高：水膜增厚，可能堵塞二次空气通道并增大空气阻力。</a:t>
            </a:r>
          </a:p>
        </p:txBody>
      </p:sp>
    </p:spTree>
    <p:extLst>
      <p:ext uri="{BB962C8B-B14F-4D97-AF65-F5344CB8AC3E}">
        <p14:creationId xmlns:p14="http://schemas.microsoft.com/office/powerpoint/2010/main" val="738897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33"/>
    </mc:Choice>
    <mc:Fallback xmlns="">
      <p:transition spd="slow" advTm="5933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9C31EF2F-1855-48F7-A274-EE81D147E5A1}"/>
              </a:ext>
            </a:extLst>
          </p:cNvPr>
          <p:cNvSpPr/>
          <p:nvPr/>
        </p:nvSpPr>
        <p:spPr bwMode="auto">
          <a:xfrm>
            <a:off x="1192168" y="4611495"/>
            <a:ext cx="5127723" cy="2020197"/>
          </a:xfrm>
          <a:prstGeom prst="roundRect">
            <a:avLst/>
          </a:prstGeom>
          <a:noFill/>
          <a:ln w="19050" cap="flat" cmpd="sng" algn="ctr">
            <a:solidFill>
              <a:srgbClr val="AF1E3B"/>
            </a:solidFill>
            <a:prstDash val="dash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Times New Roman" charset="0"/>
              <a:ea typeface="SimSun"/>
              <a:cs typeface="Times New Roman"/>
            </a:endParaRPr>
          </a:p>
        </p:txBody>
      </p:sp>
      <p:sp>
        <p:nvSpPr>
          <p:cNvPr id="12" name="矩形 3">
            <a:extLst>
              <a:ext uri="{FF2B5EF4-FFF2-40B4-BE49-F238E27FC236}">
                <a16:creationId xmlns:a16="http://schemas.microsoft.com/office/drawing/2014/main" id="{87A96E31-5BCD-C2C1-5A07-AE546C43B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996" y="-70184"/>
            <a:ext cx="10294254" cy="972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9pPr>
          </a:lstStyle>
          <a:p>
            <a:pPr lvl="0" algn="l">
              <a:lnSpc>
                <a:spcPct val="125000"/>
              </a:lnSpc>
              <a:spcBef>
                <a:spcPct val="20000"/>
              </a:spcBef>
              <a:defRPr>
                <a:latin typeface="Times New Roman"/>
                <a:ea typeface="SimSun"/>
                <a:cs typeface="Times New Roman"/>
              </a:defRPr>
            </a:pPr>
            <a:r>
              <a:rPr lang="en-US" altLang="zh-CN" b="1" dirty="0" sz="1800">
                <a:solidFill>
                  <a:srgbClr val="000000"/>
                </a:solidFill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5</a:t>
            </a:r>
            <a:r>
              <a:rPr lang="en-US" altLang="zh-CN" b="1" dirty="0" sz="1800">
                <a:solidFill>
                  <a:srgbClr val="000000"/>
                </a:solidFill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. 基于 ANN 与遗传算法的喷淋策略优化</a:t>
            </a:r>
          </a:p>
        </p:txBody>
      </p:sp>
      <p:sp>
        <p:nvSpPr>
          <p:cNvPr id="13" name="Content Placeholder 23">
            <a:extLst>
              <a:ext uri="{FF2B5EF4-FFF2-40B4-BE49-F238E27FC236}">
                <a16:creationId xmlns:a16="http://schemas.microsoft.com/office/drawing/2014/main" id="{535BB520-318C-8F82-B67E-8F4206537697}"/>
              </a:ext>
            </a:extLst>
          </p:cNvPr>
          <p:cNvSpPr txBox="1">
            <a:spLocks/>
          </p:cNvSpPr>
          <p:nvPr/>
        </p:nvSpPr>
        <p:spPr bwMode="auto">
          <a:xfrm>
            <a:off x="352359" y="902198"/>
            <a:ext cx="3296330" cy="37911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234950" indent="-23495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 pitchFamily="-111" charset="-128"/>
              </a:defRPr>
            </a:lvl1pPr>
            <a:lvl2pPr marL="576263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2pPr>
            <a:lvl3pPr marL="866775" indent="-176213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3pPr>
            <a:lvl4pPr marL="1196975" indent="-1635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4pPr>
            <a:lvl5pPr marL="1604963" indent="-176213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5pPr>
            <a:lvl6pPr marL="20621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6pPr>
            <a:lvl7pPr marL="25193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7pPr>
            <a:lvl8pPr marL="29765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8pPr>
            <a:lvl9pPr marL="34337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9pPr>
          </a:lstStyle>
          <a:p>
            <a:pPr marL="0" lvl="1" indent="0" algn="l">
              <a:spcBef>
                <a:spcPts val="1200"/>
              </a:spcBef>
              <a:spcAft>
                <a:spcPts val="1200"/>
              </a:spcAft>
              <a:buClrTx/>
              <a:buNone/>
              <a:defRPr>
                <a:latin typeface="Times New Roman"/>
                <a:ea typeface="SimSun"/>
                <a:cs typeface="Times New Roman"/>
              </a:defRPr>
            </a:pPr>
            <a:r>
              <a:rPr lang="en-US" altLang="en-US" sz="1800" b="1" kern="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5.4</a:t>
            </a:r>
            <a:r>
              <a:rPr lang="en-US" altLang="en-US" sz="1800" b="1" kern="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结果与讨论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C2FFE02-99F4-4FFD-8455-765DE6C74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15884886-3D85-4AFD-9D94-33E4AF7428DD}" type="slidenum">
              <a:rPr lang="en-US" altLang="zh-CN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43</a:t>
            </a:fld>
            <a:endParaRPr lang="en-US" altLang="zh-CN" dirty="0">
              <a:latin typeface="Times New Roman"/>
              <a:ea typeface="SimSun"/>
              <a:cs typeface="Times New Roman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944DAF6-6F10-4B33-9C0C-3C82DC665CD3}"/>
              </a:ext>
            </a:extLst>
          </p:cNvPr>
          <p:cNvSpPr txBox="1"/>
          <p:nvPr/>
        </p:nvSpPr>
        <p:spPr>
          <a:xfrm>
            <a:off x="741271" y="1253839"/>
            <a:ext cx="4945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eaLnBrk="1" fontAlgn="auto" hangingPunct="1" algn="l">
              <a:spcBef>
                <a:spcPts val="0"/>
              </a:spcBef>
              <a:spcAft>
                <a:spcPts val="0"/>
              </a:spcAft>
            </a:pPr>
            <a:r>
              <a:rPr lang="en-HK" sz="18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5.4.2</a:t>
            </a:r>
            <a:r>
              <a:rPr lang="en-HK" sz="18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双因素变化的耦合影响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40C4369-DFA1-4532-9CEB-61316E0CA766}"/>
              </a:ext>
            </a:extLst>
          </p:cNvPr>
          <p:cNvSpPr txBox="1"/>
          <p:nvPr/>
        </p:nvSpPr>
        <p:spPr>
          <a:xfrm>
            <a:off x="392303" y="1712549"/>
            <a:ext cx="221939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HK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/>
              </a:rPr>
              <a:t>间距与压力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DB624EFF-8ED2-4907-939C-14BAF5D79BE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38" y="2109640"/>
            <a:ext cx="3031927" cy="216000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B94CD3CA-1F56-4FD8-A05D-76B883319FC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8689" y="2109640"/>
            <a:ext cx="2935929" cy="2160000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0E0C6A71-5910-45AE-AA36-4527C723483A}"/>
              </a:ext>
            </a:extLst>
          </p:cNvPr>
          <p:cNvSpPr txBox="1"/>
          <p:nvPr/>
        </p:nvSpPr>
        <p:spPr>
          <a:xfrm>
            <a:off x="3434964" y="1722138"/>
            <a:ext cx="24765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HK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/>
              </a:rPr>
              <a:t>孔径与压力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928D7627-E5B3-45C8-A69C-FAEB4BA114AF}"/>
              </a:ext>
            </a:extLst>
          </p:cNvPr>
          <p:cNvCxnSpPr>
            <a:cxnSpLocks/>
          </p:cNvCxnSpPr>
          <p:nvPr/>
        </p:nvCxnSpPr>
        <p:spPr bwMode="auto">
          <a:xfrm>
            <a:off x="7086600" y="1281316"/>
            <a:ext cx="0" cy="5576684"/>
          </a:xfrm>
          <a:prstGeom prst="line">
            <a:avLst/>
          </a:prstGeom>
          <a:ln w="19050">
            <a:solidFill>
              <a:srgbClr val="C0000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D7FACD9B-841E-43E7-8A76-488CF4D8AD04}"/>
              </a:ext>
            </a:extLst>
          </p:cNvPr>
          <p:cNvSpPr txBox="1"/>
          <p:nvPr/>
        </p:nvSpPr>
        <p:spPr>
          <a:xfrm>
            <a:off x="7130448" y="1437635"/>
            <a:ext cx="430155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HK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/>
              </a:rPr>
              <a:t>不同设计参数的重要性</a:t>
            </a:r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560F1C2B-8F45-41B7-A25E-A08FF4319A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0588" y="1790708"/>
            <a:ext cx="4233202" cy="2880000"/>
          </a:xfrm>
          <a:prstGeom prst="rect">
            <a:avLst/>
          </a:prstGeom>
        </p:spPr>
      </p:pic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38752550-5659-4DDE-9536-D32F28C15AAB}"/>
              </a:ext>
            </a:extLst>
          </p:cNvPr>
          <p:cNvCxnSpPr>
            <a:cxnSpLocks/>
          </p:cNvCxnSpPr>
          <p:nvPr/>
        </p:nvCxnSpPr>
        <p:spPr bwMode="auto">
          <a:xfrm>
            <a:off x="7086600" y="1281316"/>
            <a:ext cx="0" cy="5576684"/>
          </a:xfrm>
          <a:prstGeom prst="line">
            <a:avLst/>
          </a:prstGeom>
          <a:ln w="19050">
            <a:solidFill>
              <a:srgbClr val="C0000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BC2B341A-347E-497E-BAAD-DFC3411178C6}"/>
                  </a:ext>
                </a:extLst>
              </p:cNvPr>
              <p:cNvSpPr txBox="1"/>
              <p:nvPr/>
            </p:nvSpPr>
            <p:spPr>
              <a:xfrm>
                <a:off x="7431141" y="4800596"/>
                <a:ext cx="4132649" cy="16023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HK" altLang="zh-CN" sz="1600" dirty="0">
                    <a:latin typeface="Times New Roman" panose="02020603050405020304" pitchFamily="18" charset="0"/>
                    <a:ea typeface="SimSun" panose="02010600030101010101" pitchFamily="2" charset="-122"/>
                    <a:cs typeface="Times New Roman"/>
                  </a:rPr>
                  <a:t>Ratio </a:t>
                </a:r>
                <a14:m>
                  <m:oMath xmlns:m="http://schemas.openxmlformats.org/officeDocument/2006/math">
                    <m:r>
                      <a:rPr lang="en-HK" altLang="zh-CN" sz="1600" i="1">
                        <a:latin typeface="Times New Roman" panose="02040503050406030204" pitchFamily="18" charset="0"/>
                        <a:ea typeface="SimSun" panose="02040503050406030204" pitchFamily="18" charset="0"/>
                        <a:cs typeface="Times New Roman"/>
                      </a:rPr>
                      <m:t>&lt; </m:t>
                    </m:r>
                  </m:oMath>
                </a14:m>
                <a:r>
                  <a:rPr lang="en-HK" altLang="zh-CN" sz="1600" dirty="0">
                    <a:latin typeface="Times New Roman" panose="02020603050405020304" pitchFamily="18" charset="0"/>
                    <a:ea typeface="SimSun" panose="02010600030101010101" pitchFamily="2" charset="-122"/>
                    <a:cs typeface="Times New Roman"/>
                  </a:rPr>
                  <a:t>Count </a:t>
                </a:r>
                <a14:m>
                  <m:oMath xmlns:m="http://schemas.openxmlformats.org/officeDocument/2006/math">
                    <m:r>
                      <a:rPr lang="en-HK" altLang="zh-CN" sz="1600" i="1" smtClean="0">
                        <a:latin typeface="Times New Roman" panose="02040503050406030204" pitchFamily="18" charset="0"/>
                        <a:ea typeface="SimSun" panose="02040503050406030204" pitchFamily="18" charset="0"/>
                        <a:cs typeface="Times New Roman"/>
                      </a:rPr>
                      <m:t>&lt;</m:t>
                    </m:r>
                  </m:oMath>
                </a14:m>
                <a:r>
                  <a:rPr lang="en-HK" altLang="zh-CN" sz="1600" dirty="0">
                    <a:latin typeface="Times New Roman" panose="02020603050405020304" pitchFamily="18" charset="0"/>
                    <a:ea typeface="SimSun" panose="02010600030101010101" pitchFamily="2" charset="-122"/>
                    <a:cs typeface="Times New Roman"/>
                  </a:rPr>
                  <a:t> Density</a:t>
                </a:r>
                <a:r>
                  <a:rPr lang="en-HK" altLang="zh-CN" sz="1600" dirty="0">
                    <a:latin typeface="Times New Roman"/>
                    <a:ea typeface="SimSun" panose="02040503050406030204" pitchFamily="18" charset="0"/>
                    <a:cs typeface="Times New Roman"/>
                  </a:rPr>
                  <a:t> </a:t>
                </a:r>
                <a14:m>
                  <m:oMath xmlns:m="http://schemas.openxmlformats.org/officeDocument/2006/math">
                    <m:r>
                      <a:rPr lang="en-HK" altLang="zh-CN" sz="1600" i="1">
                        <a:latin typeface="Times New Roman" panose="02040503050406030204" pitchFamily="18" charset="0"/>
                        <a:ea typeface="SimSun" panose="02040503050406030204" pitchFamily="18" charset="0"/>
                        <a:cs typeface="Times New Roman"/>
                      </a:rPr>
                      <m:t>&lt;</m:t>
                    </m:r>
                  </m:oMath>
                </a14:m>
                <a:r>
                  <a:rPr lang="en-HK" altLang="zh-CN" sz="1600" dirty="0">
                    <a:latin typeface="Times New Roman" panose="02020603050405020304" pitchFamily="18" charset="0"/>
                    <a:ea typeface="SimSun" panose="02010600030101010101" pitchFamily="2" charset="-122"/>
                    <a:cs typeface="Times New Roman"/>
                  </a:rPr>
                  <a:t> Pressure </a:t>
                </a:r>
                <a14:m>
                  <m:oMath xmlns:m="http://schemas.openxmlformats.org/officeDocument/2006/math">
                    <m:r>
                      <a:rPr lang="en-HK" altLang="zh-CN" sz="1600" i="1">
                        <a:latin typeface="Times New Roman" panose="02040503050406030204" pitchFamily="18" charset="0"/>
                        <a:ea typeface="SimSun" panose="02040503050406030204" pitchFamily="18" charset="0"/>
                        <a:cs typeface="Times New Roman"/>
                      </a:rPr>
                      <m:t>&lt;</m:t>
                    </m:r>
                  </m:oMath>
                </a14:m>
                <a:r>
                  <a:rPr lang="en-HK" altLang="zh-CN" sz="1600" dirty="0">
                    <a:latin typeface="Times New Roman" panose="02020603050405020304" pitchFamily="18" charset="0"/>
                    <a:ea typeface="SimSun" panose="02010600030101010101" pitchFamily="2" charset="-122"/>
                    <a:cs typeface="Times New Roman"/>
                  </a:rPr>
                  <a:t> Spacing </a:t>
                </a:r>
                <a14:m>
                  <m:oMath xmlns:m="http://schemas.openxmlformats.org/officeDocument/2006/math">
                    <m:r>
                      <a:rPr lang="en-HK" altLang="zh-CN" sz="1600" i="1">
                        <a:latin typeface="Times New Roman" panose="02040503050406030204" pitchFamily="18" charset="0"/>
                        <a:ea typeface="SimSun" panose="02040503050406030204" pitchFamily="18" charset="0"/>
                        <a:cs typeface="Times New Roman"/>
                      </a:rPr>
                      <m:t>&lt;</m:t>
                    </m:r>
                  </m:oMath>
                </a14:m>
                <a:r>
                  <a:rPr lang="en-HK" altLang="zh-CN" sz="1600" dirty="0">
                    <a:latin typeface="Times New Roman" panose="02020603050405020304" pitchFamily="18" charset="0"/>
                    <a:ea typeface="SimSun" panose="02010600030101010101" pitchFamily="2" charset="-122"/>
                    <a:cs typeface="Times New Roman"/>
                  </a:rPr>
                  <a:t> Aperture</a:t>
                </a:r>
              </a:p>
              <a:p>
                <a:pPr marL="285750" indent="-285750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HK" altLang="zh-CN" sz="1600" dirty="0">
                    <a:latin typeface="Times New Roman" panose="02020603050405020304" pitchFamily="18" charset="0"/>
                    <a:ea typeface="SimSun" panose="02010600030101010101" pitchFamily="2" charset="-122"/>
                    <a:cs typeface="Times New Roman"/>
                  </a:rPr>
                  <a:t>The smallest impact factor with a correlation coefficient of </a:t>
                </a:r>
                <a:r>
                  <a:rPr lang="en-HK" altLang="zh-CN" sz="16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SimSun" panose="02010600030101010101" pitchFamily="2" charset="-122"/>
                    <a:cs typeface="Times New Roman"/>
                  </a:rPr>
                  <a:t>0.5228</a:t>
                </a:r>
                <a:r>
                  <a:rPr lang="en-HK" altLang="zh-CN" sz="1600" dirty="0">
                    <a:latin typeface="Times New Roman" panose="02020603050405020304" pitchFamily="18" charset="0"/>
                    <a:ea typeface="SimSun" panose="02010600030101010101" pitchFamily="2" charset="-122"/>
                    <a:cs typeface="Times New Roman"/>
                  </a:rPr>
                  <a:t>, remains important.</a:t>
                </a:r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BC2B341A-347E-497E-BAAD-DFC3411178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1141" y="4800596"/>
                <a:ext cx="4132649" cy="1602362"/>
              </a:xfrm>
              <a:prstGeom prst="rect">
                <a:avLst/>
              </a:prstGeom>
              <a:blipFill>
                <a:blip r:embed="rId6"/>
                <a:stretch>
                  <a:fillRect l="-590" r="-885" b="-41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  <a:latin typeface="Times New Roman"/>
                    <a:ea typeface="SimSun"/>
                    <a:cs typeface="Times New Roman"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04B8C3A7-E0B9-4663-BC11-FE2739F5EFF3}"/>
                  </a:ext>
                </a:extLst>
              </p:cNvPr>
              <p:cNvSpPr txBox="1"/>
              <p:nvPr/>
            </p:nvSpPr>
            <p:spPr>
              <a:xfrm>
                <a:off x="1307733" y="4724335"/>
                <a:ext cx="4804067" cy="21255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just">
                  <a:lnSpc>
                    <a:spcPct val="15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HK" altLang="zh-CN" sz="1600" dirty="0">
                    <a:latin typeface="Times New Roman" panose="02020603050405020304" pitchFamily="18" charset="0"/>
                    <a:ea typeface="SimSun" panose="02010600030101010101" pitchFamily="2" charset="-122"/>
                    <a:cs typeface="Times New Roman"/>
                  </a:rPr>
                  <a:t>Small </a:t>
                </a:r>
                <a:r>
                  <a:rPr lang="en-HK" altLang="zh-CN" sz="16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SimSun" panose="02010600030101010101" pitchFamily="2" charset="-122"/>
                    <a:cs typeface="Times New Roman"/>
                  </a:rPr>
                  <a:t>spacing</a:t>
                </a:r>
                <a:r>
                  <a:rPr lang="en-HK" altLang="zh-CN" sz="1600" dirty="0">
                    <a:latin typeface="Times New Roman" panose="02020603050405020304" pitchFamily="18" charset="0"/>
                    <a:ea typeface="SimSun" panose="02010600030101010101" pitchFamily="2" charset="-122"/>
                    <a:cs typeface="Times New Roman"/>
                  </a:rPr>
                  <a:t>: increasing the pressure rapidly brings the IEC performance to its peak and then decreases.</a:t>
                </a:r>
                <a:endParaRPr lang="en-US" altLang="zh-CN" sz="1600" dirty="0">
                  <a:latin typeface="Times New Roman" panose="02020603050405020304" pitchFamily="18" charset="0"/>
                  <a:ea typeface="SimSun" panose="02010600030101010101" pitchFamily="2" charset="-122"/>
                  <a:cs typeface="Times New Roman"/>
                </a:endParaRPr>
              </a:p>
              <a:p>
                <a:pPr marL="285750" indent="-285750" algn="just">
                  <a:lnSpc>
                    <a:spcPct val="15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HK" altLang="zh-CN" sz="1600" dirty="0">
                    <a:latin typeface="Times New Roman" panose="02020603050405020304" pitchFamily="18" charset="0"/>
                    <a:ea typeface="SimSun" panose="02010600030101010101" pitchFamily="2" charset="-122"/>
                    <a:cs typeface="Times New Roman"/>
                  </a:rPr>
                  <a:t>Low </a:t>
                </a:r>
                <a:r>
                  <a:rPr lang="en-HK" altLang="zh-CN" sz="16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SimSun" panose="02010600030101010101" pitchFamily="2" charset="-122"/>
                    <a:cs typeface="Times New Roman"/>
                  </a:rPr>
                  <a:t>pressure</a:t>
                </a:r>
                <a:r>
                  <a:rPr lang="en-HK" altLang="zh-CN" sz="1600" dirty="0">
                    <a:latin typeface="Times New Roman" panose="02020603050405020304" pitchFamily="18" charset="0"/>
                    <a:ea typeface="SimSun" panose="02010600030101010101" pitchFamily="2" charset="-122"/>
                    <a:cs typeface="Times New Roman"/>
                  </a:rPr>
                  <a:t>: aperture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sz="1600" b="0" i="1" smtClean="0">
                            <a:latin typeface="Times New Roman" panose="02040503050406030204" pitchFamily="18" charset="0"/>
                            <a:ea typeface="SimSun"/>
                            <a:cs typeface="Times New Roman"/>
                          </a:rPr>
                        </m:ctrlPr>
                      </m:sSubPr>
                      <m:e>
                        <m:r>
                          <a:rPr lang="en-HK" sz="1600" b="0" i="1" smtClean="0">
                            <a:latin typeface="Times New Roman" panose="02040503050406030204" pitchFamily="18" charset="0"/>
                            <a:ea typeface="SimSun"/>
                            <a:cs typeface="Times New Roman"/>
                          </a:rPr>
                          <m:t> </m:t>
                        </m:r>
                        <m:r>
                          <a:rPr lang="en-US" sz="1600" i="1">
                            <a:latin typeface="Times New Roman" panose="02040503050406030204" pitchFamily="18" charset="0"/>
                            <a:ea typeface="SimSun"/>
                            <a:cs typeface="Times New Roman"/>
                          </a:rPr>
                          <m:t>𝜀</m:t>
                        </m:r>
                      </m:e>
                      <m:sub>
                        <m:r>
                          <a:rPr lang="en-US" sz="1600" i="1">
                            <a:latin typeface="Times New Roman" panose="02040503050406030204" pitchFamily="18" charset="0"/>
                            <a:ea typeface="SimSun"/>
                            <a:cs typeface="Times New Roman"/>
                          </a:rPr>
                          <m:t>𝑤𝑏</m:t>
                        </m:r>
                      </m:sub>
                    </m:sSub>
                  </m:oMath>
                </a14:m>
                <a:r>
                  <a:rPr lang="en-HK" altLang="zh-CN" sz="1600" dirty="0">
                    <a:latin typeface="Times New Roman" panose="02020603050405020304" pitchFamily="18" charset="0"/>
                    <a:ea typeface="SimSun" panose="02010600030101010101" pitchFamily="2" charset="-122"/>
                    <a:cs typeface="Times New Roman"/>
                  </a:rPr>
                  <a:t>  </a:t>
                </a:r>
              </a:p>
              <a:p>
                <a:pPr marL="285750" indent="-285750" algn="just">
                  <a:lnSpc>
                    <a:spcPct val="15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HK" altLang="zh-CN" sz="1600" dirty="0">
                    <a:latin typeface="Times New Roman" panose="02020603050405020304" pitchFamily="18" charset="0"/>
                    <a:ea typeface="SimSun" panose="02010600030101010101" pitchFamily="2" charset="-122"/>
                    <a:cs typeface="Times New Roman"/>
                  </a:rPr>
                  <a:t>H</a:t>
                </a:r>
                <a:r>
                  <a:rPr lang="en-US" altLang="zh-CN" sz="1600" dirty="0" err="1">
                    <a:latin typeface="Times New Roman" panose="02020603050405020304" pitchFamily="18" charset="0"/>
                    <a:ea typeface="SimSun" panose="02010600030101010101" pitchFamily="2" charset="-122"/>
                    <a:cs typeface="Times New Roman"/>
                  </a:rPr>
                  <a:t>igh</a:t>
                </a:r>
                <a:r>
                  <a:rPr lang="en-US" altLang="zh-CN" sz="1600" dirty="0">
                    <a:latin typeface="Times New Roman" panose="02020603050405020304" pitchFamily="18" charset="0"/>
                    <a:ea typeface="SimSun" panose="02010600030101010101" pitchFamily="2" charset="-122"/>
                    <a:cs typeface="Times New Roman"/>
                  </a:rPr>
                  <a:t> </a:t>
                </a:r>
                <a:r>
                  <a:rPr lang="en-US" altLang="zh-CN" sz="16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SimSun" panose="02010600030101010101" pitchFamily="2" charset="-122"/>
                    <a:cs typeface="Times New Roman"/>
                  </a:rPr>
                  <a:t>pressure</a:t>
                </a:r>
                <a:r>
                  <a:rPr lang="en-US" altLang="zh-CN" sz="1600" dirty="0">
                    <a:latin typeface="Times New Roman" panose="02020603050405020304" pitchFamily="18" charset="0"/>
                    <a:ea typeface="SimSun" panose="02010600030101010101" pitchFamily="2" charset="-122"/>
                    <a:cs typeface="Times New Roman"/>
                  </a:rPr>
                  <a:t>: </a:t>
                </a:r>
                <a:r>
                  <a:rPr lang="en-HK" altLang="zh-CN" sz="1600" dirty="0">
                    <a:latin typeface="Times New Roman" panose="02020603050405020304" pitchFamily="18" charset="0"/>
                    <a:ea typeface="SimSun" panose="02010600030101010101" pitchFamily="2" charset="-122"/>
                    <a:cs typeface="Times New Roman"/>
                  </a:rPr>
                  <a:t>aperture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sz="1600" i="1">
                            <a:latin typeface="Times New Roman" panose="02040503050406030204" pitchFamily="18" charset="0"/>
                            <a:ea typeface="SimSun"/>
                            <a:cs typeface="Times New Roman"/>
                          </a:rPr>
                        </m:ctrlPr>
                      </m:sSubPr>
                      <m:e>
                        <m:r>
                          <a:rPr lang="en-HK" sz="1600" i="1">
                            <a:latin typeface="Times New Roman" panose="02040503050406030204" pitchFamily="18" charset="0"/>
                            <a:ea typeface="SimSun"/>
                            <a:cs typeface="Times New Roman"/>
                          </a:rPr>
                          <m:t> </m:t>
                        </m:r>
                        <m:r>
                          <a:rPr lang="en-US" sz="1600" i="1">
                            <a:latin typeface="Times New Roman" panose="02040503050406030204" pitchFamily="18" charset="0"/>
                            <a:ea typeface="SimSun"/>
                            <a:cs typeface="Times New Roman"/>
                          </a:rPr>
                          <m:t>𝜀</m:t>
                        </m:r>
                      </m:e>
                      <m:sub>
                        <m:r>
                          <a:rPr lang="en-US" sz="1600" i="1">
                            <a:latin typeface="Times New Roman" panose="02040503050406030204" pitchFamily="18" charset="0"/>
                            <a:ea typeface="SimSun"/>
                            <a:cs typeface="Times New Roman"/>
                          </a:rPr>
                          <m:t>𝑤𝑏</m:t>
                        </m:r>
                      </m:sub>
                    </m:sSub>
                  </m:oMath>
                </a14:m>
                <a:r>
                  <a:rPr lang="en-HK" altLang="zh-CN" sz="1600" dirty="0">
                    <a:latin typeface="Times New Roman" panose="02020603050405020304" pitchFamily="18" charset="0"/>
                    <a:ea typeface="SimSun" panose="02010600030101010101" pitchFamily="2" charset="-122"/>
                    <a:cs typeface="Times New Roman"/>
                  </a:rPr>
                  <a:t> </a:t>
                </a:r>
              </a:p>
              <a:p>
                <a:pPr marL="285750" indent="-285750" algn="just">
                  <a:lnSpc>
                    <a:spcPct val="15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HK" altLang="zh-CN" sz="1600" dirty="0">
                  <a:latin typeface="Times New Roman" panose="02020603050405020304" pitchFamily="18" charset="0"/>
                  <a:ea typeface="SimSun" panose="02010600030101010101" pitchFamily="2" charset="-122"/>
                  <a:cs typeface="Times New Roman"/>
                </a:endParaRPr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04B8C3A7-E0B9-4663-BC11-FE2739F5EF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7733" y="4724335"/>
                <a:ext cx="4804067" cy="2125582"/>
              </a:xfrm>
              <a:prstGeom prst="rect">
                <a:avLst/>
              </a:prstGeom>
              <a:blipFill>
                <a:blip r:embed="rId7"/>
                <a:stretch>
                  <a:fillRect l="-508" r="-6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  <a:latin typeface="Times New Roman"/>
                    <a:ea typeface="SimSun"/>
                    <a:cs typeface="Times New Roman"/>
                  </a:rPr>
                  <a:t> </a:t>
                </a:r>
              </a:p>
            </p:txBody>
          </p:sp>
        </mc:Fallback>
      </mc:AlternateContent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FF856D8F-0275-FB94-C872-CFCC7F1B3E98}"/>
              </a:ext>
            </a:extLst>
          </p:cNvPr>
          <p:cNvCxnSpPr>
            <a:cxnSpLocks/>
          </p:cNvCxnSpPr>
          <p:nvPr/>
        </p:nvCxnSpPr>
        <p:spPr bwMode="auto">
          <a:xfrm flipV="1">
            <a:off x="3648689" y="5585183"/>
            <a:ext cx="0" cy="290151"/>
          </a:xfrm>
          <a:prstGeom prst="straightConnector1">
            <a:avLst/>
          </a:prstGeom>
          <a:noFill/>
          <a:ln w="38100" cap="flat" cmpd="sng" algn="ctr">
            <a:solidFill>
              <a:srgbClr val="B96E87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015E9621-5EA7-8830-497E-079F4E048EF8}"/>
              </a:ext>
            </a:extLst>
          </p:cNvPr>
          <p:cNvCxnSpPr>
            <a:cxnSpLocks/>
          </p:cNvCxnSpPr>
          <p:nvPr/>
        </p:nvCxnSpPr>
        <p:spPr bwMode="auto">
          <a:xfrm flipV="1">
            <a:off x="3657843" y="6039395"/>
            <a:ext cx="0" cy="290151"/>
          </a:xfrm>
          <a:prstGeom prst="straightConnector1">
            <a:avLst/>
          </a:prstGeom>
          <a:noFill/>
          <a:ln w="38100" cap="flat" cmpd="sng" algn="ctr">
            <a:solidFill>
              <a:srgbClr val="B96E87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1B209BCA-4732-5F0D-A2D1-79AFE9E3CB6B}"/>
              </a:ext>
            </a:extLst>
          </p:cNvPr>
          <p:cNvCxnSpPr>
            <a:cxnSpLocks/>
          </p:cNvCxnSpPr>
          <p:nvPr/>
        </p:nvCxnSpPr>
        <p:spPr bwMode="auto">
          <a:xfrm>
            <a:off x="4127131" y="6039395"/>
            <a:ext cx="0" cy="310313"/>
          </a:xfrm>
          <a:prstGeom prst="straightConnector1">
            <a:avLst/>
          </a:prstGeom>
          <a:noFill/>
          <a:ln w="38100" cap="flat" cmpd="sng" algn="ctr">
            <a:solidFill>
              <a:srgbClr val="B96E87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91AD7B73-9DD3-44EA-ABD8-7C88794E8EFC}"/>
              </a:ext>
            </a:extLst>
          </p:cNvPr>
          <p:cNvCxnSpPr>
            <a:cxnSpLocks/>
          </p:cNvCxnSpPr>
          <p:nvPr/>
        </p:nvCxnSpPr>
        <p:spPr bwMode="auto">
          <a:xfrm flipV="1">
            <a:off x="4127131" y="5585183"/>
            <a:ext cx="0" cy="290151"/>
          </a:xfrm>
          <a:prstGeom prst="straightConnector1">
            <a:avLst/>
          </a:prstGeom>
          <a:noFill/>
          <a:ln w="38100" cap="flat" cmpd="sng" algn="ctr">
            <a:solidFill>
              <a:srgbClr val="B96E87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519951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33"/>
    </mc:Choice>
    <mc:Fallback xmlns="">
      <p:transition spd="slow" advTm="5933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3">
            <a:extLst>
              <a:ext uri="{FF2B5EF4-FFF2-40B4-BE49-F238E27FC236}">
                <a16:creationId xmlns:a16="http://schemas.microsoft.com/office/drawing/2014/main" id="{87A96E31-5BCD-C2C1-5A07-AE546C43B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996" y="-70184"/>
            <a:ext cx="10294254" cy="972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9pPr>
          </a:lstStyle>
          <a:p>
            <a:pPr lvl="0" algn="l">
              <a:lnSpc>
                <a:spcPct val="125000"/>
              </a:lnSpc>
              <a:spcBef>
                <a:spcPct val="20000"/>
              </a:spcBef>
              <a:defRPr>
                <a:latin typeface="Times New Roman"/>
                <a:ea typeface="SimSun"/>
                <a:cs typeface="Times New Roman"/>
              </a:defRPr>
            </a:pPr>
            <a:r>
              <a:rPr lang="en-US" altLang="zh-CN" b="1" dirty="0" sz="1800">
                <a:solidFill>
                  <a:srgbClr val="000000"/>
                </a:solidFill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5</a:t>
            </a:r>
            <a:r>
              <a:rPr lang="en-US" altLang="zh-CN" b="1" dirty="0" sz="1800">
                <a:solidFill>
                  <a:srgbClr val="000000"/>
                </a:solidFill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. 基于 ANN 与遗传算法的喷淋策略优化</a:t>
            </a:r>
          </a:p>
        </p:txBody>
      </p:sp>
      <p:sp>
        <p:nvSpPr>
          <p:cNvPr id="13" name="Content Placeholder 23">
            <a:extLst>
              <a:ext uri="{FF2B5EF4-FFF2-40B4-BE49-F238E27FC236}">
                <a16:creationId xmlns:a16="http://schemas.microsoft.com/office/drawing/2014/main" id="{535BB520-318C-8F82-B67E-8F4206537697}"/>
              </a:ext>
            </a:extLst>
          </p:cNvPr>
          <p:cNvSpPr txBox="1">
            <a:spLocks/>
          </p:cNvSpPr>
          <p:nvPr/>
        </p:nvSpPr>
        <p:spPr bwMode="auto">
          <a:xfrm>
            <a:off x="352359" y="902198"/>
            <a:ext cx="3296330" cy="37911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234950" indent="-23495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 pitchFamily="-111" charset="-128"/>
              </a:defRPr>
            </a:lvl1pPr>
            <a:lvl2pPr marL="576263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2pPr>
            <a:lvl3pPr marL="866775" indent="-176213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3pPr>
            <a:lvl4pPr marL="1196975" indent="-1635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4pPr>
            <a:lvl5pPr marL="1604963" indent="-176213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5pPr>
            <a:lvl6pPr marL="20621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6pPr>
            <a:lvl7pPr marL="25193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7pPr>
            <a:lvl8pPr marL="29765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8pPr>
            <a:lvl9pPr marL="34337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9pPr>
          </a:lstStyle>
          <a:p>
            <a:pPr marL="0" lvl="1" indent="0" algn="l">
              <a:spcBef>
                <a:spcPts val="1200"/>
              </a:spcBef>
              <a:spcAft>
                <a:spcPts val="1200"/>
              </a:spcAft>
              <a:buClrTx/>
              <a:buNone/>
              <a:defRPr>
                <a:latin typeface="Times New Roman"/>
                <a:ea typeface="SimSun"/>
                <a:cs typeface="Times New Roman"/>
              </a:defRPr>
            </a:pPr>
            <a:r>
              <a:rPr lang="en-US" altLang="en-US" sz="1800" b="1" kern="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5.4</a:t>
            </a:r>
            <a:r>
              <a:rPr lang="en-US" altLang="en-US" sz="1800" b="1" kern="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结果与讨论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C2FFE02-99F4-4FFD-8455-765DE6C74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9100" y="6400801"/>
            <a:ext cx="2844800" cy="365125"/>
          </a:xfrm>
        </p:spPr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15884886-3D85-4AFD-9D94-33E4AF7428DD}" type="slidenum">
              <a:rPr lang="en-US" altLang="zh-CN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44</a:t>
            </a:fld>
            <a:endParaRPr lang="en-US" altLang="zh-CN" dirty="0">
              <a:latin typeface="Times New Roman"/>
              <a:ea typeface="SimSun"/>
              <a:cs typeface="Times New Roman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944DAF6-6F10-4B33-9C0C-3C82DC665CD3}"/>
              </a:ext>
            </a:extLst>
          </p:cNvPr>
          <p:cNvSpPr txBox="1"/>
          <p:nvPr/>
        </p:nvSpPr>
        <p:spPr>
          <a:xfrm>
            <a:off x="741271" y="1253839"/>
            <a:ext cx="6489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eaLnBrk="1" fontAlgn="auto" hangingPunct="1" algn="l">
              <a:spcBef>
                <a:spcPts val="0"/>
              </a:spcBef>
              <a:spcAft>
                <a:spcPts val="0"/>
              </a:spcAft>
            </a:pPr>
            <a:r>
              <a:rPr lang="en-HK" sz="1800" dirty="0" b="1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5.4.3</a:t>
            </a:r>
            <a:r>
              <a:rPr lang="en-HK" sz="18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基于遗传算法的 IEC–ANN 模型优化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5198741-7FC3-4859-BD74-79B3658E8721}"/>
              </a:ext>
            </a:extLst>
          </p:cNvPr>
          <p:cNvSpPr txBox="1"/>
          <p:nvPr/>
        </p:nvSpPr>
        <p:spPr>
          <a:xfrm>
            <a:off x="474572" y="1673521"/>
            <a:ext cx="19733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HK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/>
              </a:rPr>
              <a:t>遗传算法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1ADC7978-BE55-459A-94AE-C6AEA8B33D9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0385" y="1543368"/>
            <a:ext cx="4837430" cy="5039995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6AF4C4CC-D4DC-4AEB-AA94-6A000AE3FB51}"/>
              </a:ext>
            </a:extLst>
          </p:cNvPr>
          <p:cNvSpPr txBox="1"/>
          <p:nvPr/>
        </p:nvSpPr>
        <p:spPr>
          <a:xfrm>
            <a:off x="653677" y="2062425"/>
            <a:ext cx="5990024" cy="1156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HK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/>
              </a:rPr>
              <a:t>四个关键环节：确定基本运行参数、染色体编码与解码、个体适应度评价，以及执行三种遗传操作。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4E12DBFC-4A90-4CA1-94BE-0B48E124C0BC}"/>
                  </a:ext>
                </a:extLst>
              </p:cNvPr>
              <p:cNvSpPr/>
              <p:nvPr/>
            </p:nvSpPr>
            <p:spPr>
              <a:xfrm>
                <a:off x="1767507" y="5486520"/>
                <a:ext cx="3534109" cy="5965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1600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J</m:t>
                      </m:r>
                      <m:r>
                        <a:rPr lang="en-US" sz="1600" i="0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(</m:t>
                      </m:r>
                      <m:r>
                        <a:rPr lang="en-US" sz="1600" i="1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𝑃</m:t>
                      </m:r>
                      <m:r>
                        <a:rPr lang="en-US" sz="1600" i="0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,</m:t>
                      </m:r>
                      <m:r>
                        <a:rPr lang="en-US" sz="1600" i="1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𝑠</m:t>
                      </m:r>
                      <m:r>
                        <a:rPr lang="en-US" sz="1600" i="0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,</m:t>
                      </m:r>
                      <m:r>
                        <a:rPr lang="en-US" sz="1600" i="1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𝑑</m:t>
                      </m:r>
                      <m:r>
                        <a:rPr lang="en-US" sz="1600" i="0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,</m:t>
                      </m:r>
                      <m:r>
                        <a:rPr lang="en-US" sz="1600" i="1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𝑛</m:t>
                      </m:r>
                      <m:r>
                        <a:rPr lang="en-US" sz="1600" i="0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,</m:t>
                      </m:r>
                      <m:r>
                        <a:rPr lang="en-US" sz="1600" i="1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𝛤</m:t>
                      </m:r>
                      <m:r>
                        <a:rPr lang="en-US" sz="1600" i="0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,</m:t>
                      </m:r>
                      <m:r>
                        <a:rPr lang="en-US" sz="1600" i="1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𝑣</m:t>
                      </m:r>
                      <m:r>
                        <a:rPr lang="en-US" sz="1600" i="0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)=</m:t>
                      </m:r>
                      <m:sSub>
                        <m:sSubPr>
                          <m:ctrlPr>
                            <a:rPr lang="en-US" sz="1600" i="0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0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W</m:t>
                          </m:r>
                        </m:e>
                        <m:sub>
                          <m:r>
                            <a:rPr lang="en-US" sz="1600" i="0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1</m:t>
                          </m:r>
                        </m:sub>
                      </m:sSub>
                      <m:f>
                        <m:fPr>
                          <m:ctrlPr>
                            <a:rPr lang="en-US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16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𝑤𝑏</m:t>
                              </m:r>
                            </m:sub>
                          </m:sSub>
                        </m:num>
                        <m:den>
                          <m:r>
                            <a:rPr lang="en-US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𝑅</m:t>
                          </m:r>
                          <m:sSub>
                            <m:sSubPr>
                              <m:ctrlPr>
                                <a:rPr lang="en-US" sz="16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1600" i="1">
                                  <a:latin typeface="Times New Roman" panose="02040503050406030204" pitchFamily="18" charset="0"/>
                                  <a:ea typeface="SimSun"/>
                                  <a:cs typeface="Times New Roman"/>
                                </a:rPr>
                                <m:t>𝑤𝑏</m:t>
                              </m:r>
                            </m:sub>
                          </m:sSub>
                        </m:den>
                      </m:f>
                      <m:r>
                        <a:rPr lang="en-US" sz="1600" i="0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+</m:t>
                      </m:r>
                      <m:sSub>
                        <m:sSubPr>
                          <m:ctrlPr>
                            <a:rPr lang="en-US" sz="1600" i="0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0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W</m:t>
                          </m:r>
                        </m:e>
                        <m:sub>
                          <m:r>
                            <a:rPr lang="en-US" sz="1600" i="0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2</m:t>
                          </m:r>
                        </m:sub>
                      </m:sSub>
                      <m:f>
                        <m:fPr>
                          <m:ctrlPr>
                            <a:rPr lang="en-US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</m:ctrlPr>
                        </m:fPr>
                        <m:num>
                          <m:r>
                            <a:rPr lang="en-US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𝛥</m:t>
                          </m:r>
                          <m:r>
                            <a:rPr lang="en-US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𝑃</m:t>
                          </m:r>
                        </m:num>
                        <m:den>
                          <m:r>
                            <a:rPr lang="en-US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𝑅</m:t>
                          </m:r>
                          <m:r>
                            <a:rPr lang="en-US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𝛥</m:t>
                          </m:r>
                          <m:r>
                            <a:rPr lang="en-US" sz="1600" i="1">
                              <a:latin typeface="Times New Roman" panose="02040503050406030204" pitchFamily="18" charset="0"/>
                              <a:ea typeface="SimSun"/>
                              <a:cs typeface="Times New Roman"/>
                            </a:rPr>
                            <m:t>𝑃</m:t>
                          </m:r>
                        </m:den>
                      </m:f>
                    </m:oMath>
                  </m:oMathPara>
                </a14:m>
                <a:endParaRPr lang="en-US" sz="1600" dirty="0">
                  <a:latin typeface="Times New Roman" panose="02020603050405020304" pitchFamily="18" charset="0"/>
                  <a:ea typeface="SimSun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4E12DBFC-4A90-4CA1-94BE-0B48E124C0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7507" y="5486520"/>
                <a:ext cx="3534109" cy="5965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  <a:latin typeface="Times New Roman"/>
                    <a:ea typeface="SimSun"/>
                    <a:cs typeface="Times New Roman"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1521DE8B-51E7-4945-BE0F-B1DB4470CFDC}"/>
              </a:ext>
            </a:extLst>
          </p:cNvPr>
          <p:cNvSpPr txBox="1"/>
          <p:nvPr/>
        </p:nvSpPr>
        <p:spPr>
          <a:xfrm>
            <a:off x="474572" y="3429000"/>
            <a:ext cx="32963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HK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/>
              </a:rPr>
              <a:t>多目标优化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6F462EE-4B69-40DC-8FFD-09B919FEF25F}"/>
              </a:ext>
            </a:extLst>
          </p:cNvPr>
          <p:cNvSpPr txBox="1"/>
          <p:nvPr/>
        </p:nvSpPr>
        <p:spPr>
          <a:xfrm>
            <a:off x="653675" y="3807964"/>
            <a:ext cx="6489905" cy="1525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HK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/>
              </a:rPr>
              <a:t>优化指标：湿球效率与压降。</a:t>
            </a:r>
          </a:p>
          <a:p>
            <a:pPr marL="285750" indent="-285750" algn="l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HK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/>
              </a:rPr>
              <a:t>目标：降低能耗，同时提升制冷性能。</a:t>
            </a:r>
          </a:p>
          <a:p>
            <a:pPr marL="285750" indent="-285750" algn="l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HK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/>
              </a:rPr>
              <a:t>优化函数由适应度函数与约束函数组成。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457C2C6-5FB7-4F83-AF77-1023F4F1D97F}"/>
              </a:ext>
            </a:extLst>
          </p:cNvPr>
          <p:cNvSpPr/>
          <p:nvPr/>
        </p:nvSpPr>
        <p:spPr>
          <a:xfrm>
            <a:off x="7735284" y="6581001"/>
            <a:ext cx="299621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HK" sz="12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Fig.5.4.3 </a:t>
            </a:r>
            <a:r>
              <a:rPr lang="en-HK" sz="12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The flow of GA-ANN optimization</a:t>
            </a: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D30C4A18-44D9-4835-B3E7-786B4AAE7EBA}"/>
              </a:ext>
            </a:extLst>
          </p:cNvPr>
          <p:cNvCxnSpPr>
            <a:cxnSpLocks/>
          </p:cNvCxnSpPr>
          <p:nvPr/>
        </p:nvCxnSpPr>
        <p:spPr bwMode="auto">
          <a:xfrm flipV="1">
            <a:off x="4453094" y="3907061"/>
            <a:ext cx="0" cy="290151"/>
          </a:xfrm>
          <a:prstGeom prst="straightConnector1">
            <a:avLst/>
          </a:prstGeom>
          <a:noFill/>
          <a:ln w="38100" cap="flat" cmpd="sng" algn="ctr">
            <a:solidFill>
              <a:srgbClr val="AF1E3B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5853C08C-8BF9-4EB7-9502-9572CAFB120A}"/>
              </a:ext>
            </a:extLst>
          </p:cNvPr>
          <p:cNvCxnSpPr>
            <a:cxnSpLocks/>
          </p:cNvCxnSpPr>
          <p:nvPr/>
        </p:nvCxnSpPr>
        <p:spPr bwMode="auto">
          <a:xfrm>
            <a:off x="6082226" y="3907061"/>
            <a:ext cx="0" cy="315817"/>
          </a:xfrm>
          <a:prstGeom prst="straightConnector1">
            <a:avLst/>
          </a:prstGeom>
          <a:noFill/>
          <a:ln w="38100" cap="flat" cmpd="sng" algn="ctr">
            <a:solidFill>
              <a:srgbClr val="AF1E3B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937246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33"/>
    </mc:Choice>
    <mc:Fallback xmlns="">
      <p:transition spd="slow" advTm="5933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3">
            <a:extLst>
              <a:ext uri="{FF2B5EF4-FFF2-40B4-BE49-F238E27FC236}">
                <a16:creationId xmlns:a16="http://schemas.microsoft.com/office/drawing/2014/main" id="{87A96E31-5BCD-C2C1-5A07-AE546C43B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996" y="-70184"/>
            <a:ext cx="10294254" cy="972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9pPr>
          </a:lstStyle>
          <a:p>
            <a:pPr lvl="0" algn="l">
              <a:lnSpc>
                <a:spcPct val="125000"/>
              </a:lnSpc>
              <a:spcBef>
                <a:spcPct val="20000"/>
              </a:spcBef>
              <a:defRPr>
                <a:latin typeface="Times New Roman"/>
                <a:ea typeface="SimSun"/>
                <a:cs typeface="Times New Roman"/>
              </a:defRPr>
            </a:pPr>
            <a:r>
              <a:rPr lang="en-US" altLang="zh-CN" b="1" dirty="0" sz="1800">
                <a:solidFill>
                  <a:srgbClr val="000000"/>
                </a:solidFill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5</a:t>
            </a:r>
            <a:r>
              <a:rPr lang="en-US" altLang="zh-CN" b="1" dirty="0" sz="1800">
                <a:solidFill>
                  <a:srgbClr val="000000"/>
                </a:solidFill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. 基于 ANN 与遗传算法的喷淋策略优化</a:t>
            </a:r>
          </a:p>
        </p:txBody>
      </p:sp>
      <p:sp>
        <p:nvSpPr>
          <p:cNvPr id="13" name="Content Placeholder 23">
            <a:extLst>
              <a:ext uri="{FF2B5EF4-FFF2-40B4-BE49-F238E27FC236}">
                <a16:creationId xmlns:a16="http://schemas.microsoft.com/office/drawing/2014/main" id="{535BB520-318C-8F82-B67E-8F4206537697}"/>
              </a:ext>
            </a:extLst>
          </p:cNvPr>
          <p:cNvSpPr txBox="1">
            <a:spLocks/>
          </p:cNvSpPr>
          <p:nvPr/>
        </p:nvSpPr>
        <p:spPr bwMode="auto">
          <a:xfrm>
            <a:off x="352359" y="902198"/>
            <a:ext cx="3296330" cy="37911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234950" indent="-23495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 pitchFamily="-111" charset="-128"/>
              </a:defRPr>
            </a:lvl1pPr>
            <a:lvl2pPr marL="576263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2pPr>
            <a:lvl3pPr marL="866775" indent="-176213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3pPr>
            <a:lvl4pPr marL="1196975" indent="-1635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4pPr>
            <a:lvl5pPr marL="1604963" indent="-176213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5pPr>
            <a:lvl6pPr marL="20621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6pPr>
            <a:lvl7pPr marL="25193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7pPr>
            <a:lvl8pPr marL="29765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8pPr>
            <a:lvl9pPr marL="34337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9pPr>
          </a:lstStyle>
          <a:p>
            <a:pPr marL="0" lvl="1" indent="0" algn="l">
              <a:spcBef>
                <a:spcPts val="1200"/>
              </a:spcBef>
              <a:spcAft>
                <a:spcPts val="1200"/>
              </a:spcAft>
              <a:buClrTx/>
              <a:buNone/>
              <a:defRPr>
                <a:latin typeface="Times New Roman"/>
                <a:ea typeface="SimSun"/>
                <a:cs typeface="Times New Roman"/>
              </a:defRPr>
            </a:pPr>
            <a:r>
              <a:rPr lang="en-US" altLang="en-US" sz="1800" b="1" kern="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5.4</a:t>
            </a:r>
            <a:r>
              <a:rPr lang="en-US" altLang="en-US" sz="1800" b="1" kern="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结果与讨论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C2FFE02-99F4-4FFD-8455-765DE6C74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15884886-3D85-4AFD-9D94-33E4AF7428DD}" type="slidenum">
              <a:rPr lang="en-US" altLang="zh-CN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45</a:t>
            </a:fld>
            <a:endParaRPr lang="en-US" altLang="zh-CN" dirty="0">
              <a:latin typeface="Times New Roman"/>
              <a:ea typeface="SimSun"/>
              <a:cs typeface="Times New Roman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944DAF6-6F10-4B33-9C0C-3C82DC665CD3}"/>
              </a:ext>
            </a:extLst>
          </p:cNvPr>
          <p:cNvSpPr txBox="1"/>
          <p:nvPr/>
        </p:nvSpPr>
        <p:spPr>
          <a:xfrm>
            <a:off x="741271" y="1253839"/>
            <a:ext cx="6489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eaLnBrk="1" fontAlgn="auto" hangingPunct="1" algn="l">
              <a:spcBef>
                <a:spcPts val="0"/>
              </a:spcBef>
              <a:spcAft>
                <a:spcPts val="0"/>
              </a:spcAft>
            </a:pPr>
            <a:r>
              <a:rPr lang="en-HK" sz="1800" dirty="0" b="1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5.4.3</a:t>
            </a:r>
            <a:r>
              <a:rPr lang="en-HK" sz="18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基于遗传算法的 IEC–ANN 模型优化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5198741-7FC3-4859-BD74-79B3658E8721}"/>
              </a:ext>
            </a:extLst>
          </p:cNvPr>
          <p:cNvSpPr txBox="1"/>
          <p:nvPr/>
        </p:nvSpPr>
        <p:spPr>
          <a:xfrm>
            <a:off x="474572" y="1673521"/>
            <a:ext cx="37164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HK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/>
              </a:rPr>
              <a:t>遗传算法优化结果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E56BBAF-0DA2-4115-968B-0B74F13609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3472" y="2062425"/>
            <a:ext cx="8705055" cy="234000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1ACDB8AD-B3DD-4014-A855-8CF9DE015A24}"/>
              </a:ext>
            </a:extLst>
          </p:cNvPr>
          <p:cNvSpPr txBox="1"/>
          <p:nvPr/>
        </p:nvSpPr>
        <p:spPr>
          <a:xfrm>
            <a:off x="1279743" y="4737521"/>
            <a:ext cx="9632511" cy="1309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HK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/>
              </a:rPr>
              <a:t>采用等权重分配时，IEC 获得最佳综合优化效果。</a:t>
            </a: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HK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/>
              </a:rPr>
              <a:t>据此确定最优运行参数，相比基准系统，性能提升 </a:t>
            </a:r>
            <a:r>
              <a:rPr lang="en-HK" altLang="zh-CN" sz="1600" dirty="0" b="1">
                <a:latin typeface="Times New Roman" panose="02020603050405020304" pitchFamily="18" charset="0"/>
                <a:ea typeface="SimSun" panose="02010600030101010101" pitchFamily="2" charset="-122"/>
                <a:cs typeface="Times New Roman"/>
              </a:rPr>
              <a:t>23.2%</a:t>
            </a:r>
            <a:r>
              <a:rPr lang="en-HK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/>
              </a:rPr>
              <a:t>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F41B2EE-A33A-4BFA-85C9-27179892DD50}"/>
              </a:ext>
            </a:extLst>
          </p:cNvPr>
          <p:cNvSpPr/>
          <p:nvPr/>
        </p:nvSpPr>
        <p:spPr bwMode="auto">
          <a:xfrm>
            <a:off x="1743472" y="3293616"/>
            <a:ext cx="8705055" cy="381739"/>
          </a:xfrm>
          <a:prstGeom prst="rect">
            <a:avLst/>
          </a:prstGeom>
          <a:noFill/>
          <a:ln w="28575" cap="flat" cmpd="sng" algn="ctr">
            <a:solidFill>
              <a:srgbClr val="AF1E3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Times New Roman" charset="0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01824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33"/>
    </mc:Choice>
    <mc:Fallback xmlns="">
      <p:transition spd="slow" advTm="593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B57B5CD-351B-409C-8419-7945124A5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15884886-3D85-4AFD-9D94-33E4AF7428DD}" type="slidenum">
              <a:rPr lang="en-US" altLang="zh-CN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46</a:t>
            </a:fld>
            <a:endParaRPr lang="en-US" altLang="zh-CN">
              <a:latin typeface="Times New Roman"/>
              <a:ea typeface="SimSun"/>
              <a:cs typeface="Times New Roman"/>
            </a:endParaRPr>
          </a:p>
        </p:txBody>
      </p:sp>
      <p:sp>
        <p:nvSpPr>
          <p:cNvPr id="8" name="矩形 3">
            <a:extLst>
              <a:ext uri="{FF2B5EF4-FFF2-40B4-BE49-F238E27FC236}">
                <a16:creationId xmlns:a16="http://schemas.microsoft.com/office/drawing/2014/main" id="{D9741B7C-1F8F-4EC9-933F-469EF3EF71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76201"/>
            <a:ext cx="2687638" cy="580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9pPr>
          </a:lstStyle>
          <a:p>
            <a:pPr algn="l">
              <a:lnSpc>
                <a:spcPct val="125000"/>
              </a:lnSpc>
              <a:spcBef>
                <a:spcPct val="20000"/>
              </a:spcBef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汇报提纲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A9CC545-9F15-455E-BB97-2733665CD8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3372" y="1058230"/>
            <a:ext cx="10777490" cy="5418675"/>
          </a:xfrm>
        </p:spPr>
        <p:txBody>
          <a:bodyPr/>
          <a:lstStyle/>
          <a:p>
            <a:pPr marL="457200" indent="-457200" algn="l">
              <a:lnSpc>
                <a:spcPts val="3500"/>
              </a:lnSpc>
              <a:spcBef>
                <a:spcPts val="600"/>
              </a:spcBef>
              <a:spcAft>
                <a:spcPts val="800"/>
              </a:spcAft>
              <a:buAutoNum type="arabicPeriod"/>
            </a:pPr>
            <a:r>
              <a:rPr lang="en-HK" sz="2400" b="1" dirty="0">
                <a:solidFill>
                  <a:schemeClr val="tx1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研究背景与文献综述</a:t>
            </a:r>
          </a:p>
          <a:p>
            <a:pPr marL="457200" indent="-457200" algn="l">
              <a:lnSpc>
                <a:spcPts val="3500"/>
              </a:lnSpc>
              <a:spcBef>
                <a:spcPts val="600"/>
              </a:spcBef>
              <a:spcAft>
                <a:spcPts val="800"/>
              </a:spcAft>
              <a:buAutoNum type="arabicPeriod"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研究不足与研究目标</a:t>
            </a:r>
          </a:p>
          <a:p>
            <a:pPr marL="457200" indent="-457200" algn="l">
              <a:lnSpc>
                <a:spcPts val="3500"/>
              </a:lnSpc>
              <a:spcBef>
                <a:spcPts val="600"/>
              </a:spcBef>
              <a:spcAft>
                <a:spcPts val="800"/>
              </a:spcAft>
              <a:buAutoNum type="arabicPeriod"/>
            </a:pPr>
            <a:r>
              <a:rPr lang="en-HK" sz="2400" b="1" dirty="0">
                <a:solidFill>
                  <a:schemeClr val="tx1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IEC 喷淋分布的 FDM 建模与优化</a:t>
            </a:r>
          </a:p>
          <a:p>
            <a:pPr marL="457200" indent="-457200" algn="l">
              <a:lnSpc>
                <a:spcPts val="3500"/>
              </a:lnSpc>
              <a:spcBef>
                <a:spcPts val="600"/>
              </a:spcBef>
              <a:spcAft>
                <a:spcPts val="800"/>
              </a:spcAft>
              <a:buAutoNum type="arabicPeriod"/>
            </a:pPr>
            <a:r>
              <a:rPr lang="en-HK" sz="2400" b="1" dirty="0">
                <a:solidFill>
                  <a:schemeClr val="tx1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考虑水膜形成的 IEC 三维 CFD 分析</a:t>
            </a:r>
          </a:p>
          <a:p>
            <a:pPr marL="457200" indent="-457200" algn="l">
              <a:lnSpc>
                <a:spcPts val="3500"/>
              </a:lnSpc>
              <a:spcBef>
                <a:spcPts val="600"/>
              </a:spcBef>
              <a:spcAft>
                <a:spcPts val="800"/>
              </a:spcAft>
              <a:buAutoNum type="arabicPeriod"/>
            </a:pPr>
            <a:r>
              <a:rPr lang="en-HK" sz="2400" b="1" dirty="0">
                <a:solidFill>
                  <a:schemeClr val="tx1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基于 ANN 与遗传算法的喷淋策略优化</a:t>
            </a:r>
          </a:p>
          <a:p>
            <a:pPr marL="457200" indent="-457200" algn="l">
              <a:lnSpc>
                <a:spcPts val="3500"/>
              </a:lnSpc>
              <a:spcBef>
                <a:spcPts val="600"/>
              </a:spcBef>
              <a:spcAft>
                <a:spcPts val="800"/>
              </a:spcAft>
              <a:buAutoNum type="arabicPeriod"/>
            </a:pPr>
            <a:r>
              <a:rPr lang="en-HK" sz="2400" b="1" dirty="0">
                <a:solidFill>
                  <a:srgbClr val="C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数据中心 IEC 的喷嘴优化与性能强化</a:t>
            </a:r>
          </a:p>
          <a:p>
            <a:pPr marL="457200" indent="-457200" algn="l">
              <a:lnSpc>
                <a:spcPts val="3500"/>
              </a:lnSpc>
              <a:spcBef>
                <a:spcPts val="600"/>
              </a:spcBef>
              <a:spcAft>
                <a:spcPts val="800"/>
              </a:spcAft>
              <a:buAutoNum type="arabicPeriod"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研究结论与未来展望</a:t>
            </a:r>
          </a:p>
        </p:txBody>
      </p:sp>
    </p:spTree>
    <p:extLst>
      <p:ext uri="{BB962C8B-B14F-4D97-AF65-F5344CB8AC3E}">
        <p14:creationId xmlns:p14="http://schemas.microsoft.com/office/powerpoint/2010/main" val="249748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33"/>
    </mc:Choice>
    <mc:Fallback xmlns="">
      <p:transition spd="slow" advTm="5933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F0F5F6BD-6F55-DA11-D5DD-AE8D8D3359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9780" y="3845845"/>
            <a:ext cx="5205095" cy="2519680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1BB2590E-3C33-462D-856F-620D5822B162}"/>
              </a:ext>
            </a:extLst>
          </p:cNvPr>
          <p:cNvSpPr/>
          <p:nvPr/>
        </p:nvSpPr>
        <p:spPr>
          <a:xfrm>
            <a:off x="2606800" y="3680920"/>
            <a:ext cx="372298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HK" sz="12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Fig.6.1.1 </a:t>
            </a:r>
            <a:r>
              <a:rPr lang="en-HK" sz="12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A typical IEC air-conditioning system of DC 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93E4263-9CC6-F33B-3000-D32D73E7EE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788" y="1305932"/>
            <a:ext cx="5713736" cy="2407982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80E78822-42E2-AA63-4847-819ADD4701B7}"/>
              </a:ext>
            </a:extLst>
          </p:cNvPr>
          <p:cNvSpPr/>
          <p:nvPr/>
        </p:nvSpPr>
        <p:spPr>
          <a:xfrm>
            <a:off x="7146524" y="6422768"/>
            <a:ext cx="479206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HK" sz="12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Fig. 6.1.2 </a:t>
            </a:r>
            <a:r>
              <a:rPr lang="en-HK" sz="12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Two types of IEC models set up in work bench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CA9619B-1A2F-D4E9-8BE6-232966E07D46}"/>
              </a:ext>
            </a:extLst>
          </p:cNvPr>
          <p:cNvSpPr txBox="1"/>
          <p:nvPr/>
        </p:nvSpPr>
        <p:spPr>
          <a:xfrm>
            <a:off x="7819876" y="1801503"/>
            <a:ext cx="3628337" cy="1627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内循环模式</a:t>
            </a:r>
          </a:p>
          <a:p>
            <a:pPr marL="285750" indent="-285750" algn="l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新风作为工作空气，室内回风作为送风。</a:t>
            </a:r>
          </a:p>
          <a:p>
            <a:pPr marL="285750" indent="-285750" algn="l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独立通道可避免气流交叉污染。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200EE70-2D6D-6085-98C4-D9B1EFFC1613}"/>
              </a:ext>
            </a:extLst>
          </p:cNvPr>
          <p:cNvSpPr txBox="1"/>
          <p:nvPr/>
        </p:nvSpPr>
        <p:spPr>
          <a:xfrm>
            <a:off x="1614148" y="4767171"/>
            <a:ext cx="393263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/>
              </a:rPr>
              <a:t>菱形 IEC：结构紧凑，布置灵活。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800">
                <a:latin typeface="Times New Roman"/>
                <a:ea typeface="SimSun"/>
                <a:cs typeface="Times New Roman"/>
              </a:rPr>
              <a:t>在 ANSYS Workbench 中建立几何模型。</a:t>
            </a:r>
          </a:p>
        </p:txBody>
      </p:sp>
      <p:sp>
        <p:nvSpPr>
          <p:cNvPr id="12" name="矩形 3">
            <a:extLst>
              <a:ext uri="{FF2B5EF4-FFF2-40B4-BE49-F238E27FC236}">
                <a16:creationId xmlns:a16="http://schemas.microsoft.com/office/drawing/2014/main" id="{87A96E31-5BCD-C2C1-5A07-AE546C43B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5366" y="-57982"/>
            <a:ext cx="10786173" cy="972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9pPr>
          </a:lstStyle>
          <a:p>
            <a:pPr lvl="0" algn="l">
              <a:lnSpc>
                <a:spcPct val="125000"/>
              </a:lnSpc>
              <a:spcBef>
                <a:spcPct val="20000"/>
              </a:spcBef>
              <a:defRPr>
                <a:latin typeface="Times New Roman"/>
                <a:ea typeface="SimSun"/>
                <a:cs typeface="Times New Roman"/>
              </a:defRPr>
            </a:pPr>
            <a:r>
              <a:rPr lang="en-US" altLang="zh-CN" b="1" dirty="0" sz="1800">
                <a:solidFill>
                  <a:srgbClr val="000000"/>
                </a:solidFill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6</a:t>
            </a:r>
            <a:r>
              <a:rPr lang="en-US" altLang="zh-CN" b="1" dirty="0" sz="1800">
                <a:solidFill>
                  <a:srgbClr val="000000"/>
                </a:solidFill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. 数据中心 IEC 的喷嘴优化与性能强化</a:t>
            </a:r>
          </a:p>
        </p:txBody>
      </p:sp>
      <p:sp>
        <p:nvSpPr>
          <p:cNvPr id="13" name="Content Placeholder 23">
            <a:extLst>
              <a:ext uri="{FF2B5EF4-FFF2-40B4-BE49-F238E27FC236}">
                <a16:creationId xmlns:a16="http://schemas.microsoft.com/office/drawing/2014/main" id="{535BB520-318C-8F82-B67E-8F4206537697}"/>
              </a:ext>
            </a:extLst>
          </p:cNvPr>
          <p:cNvSpPr txBox="1">
            <a:spLocks/>
          </p:cNvSpPr>
          <p:nvPr/>
        </p:nvSpPr>
        <p:spPr bwMode="auto">
          <a:xfrm>
            <a:off x="479446" y="967070"/>
            <a:ext cx="3296330" cy="37911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234950" indent="-23495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 pitchFamily="-111" charset="-128"/>
              </a:defRPr>
            </a:lvl1pPr>
            <a:lvl2pPr marL="576263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2pPr>
            <a:lvl3pPr marL="866775" indent="-176213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3pPr>
            <a:lvl4pPr marL="1196975" indent="-1635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4pPr>
            <a:lvl5pPr marL="1604963" indent="-176213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5pPr>
            <a:lvl6pPr marL="20621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6pPr>
            <a:lvl7pPr marL="25193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7pPr>
            <a:lvl8pPr marL="29765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8pPr>
            <a:lvl9pPr marL="34337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9pPr>
          </a:lstStyle>
          <a:p>
            <a:pPr marL="0" lvl="1" indent="0" algn="l">
              <a:spcBef>
                <a:spcPts val="1200"/>
              </a:spcBef>
              <a:spcAft>
                <a:spcPts val="1200"/>
              </a:spcAft>
              <a:buClrTx/>
              <a:buNone/>
              <a:defRPr>
                <a:latin typeface="Times New Roman"/>
                <a:ea typeface="SimSun"/>
                <a:cs typeface="Times New Roman"/>
              </a:defRPr>
            </a:pPr>
            <a:r>
              <a:rPr lang="en-US" altLang="en-US" sz="1800" b="1" kern="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6.1</a:t>
            </a:r>
            <a:r>
              <a:rPr lang="en-US" altLang="en-US" sz="1800" b="1" kern="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模型描述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EC737C3-B032-4FAB-88B7-96B6E4558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15884886-3D85-4AFD-9D94-33E4AF7428DD}" type="slidenum">
              <a:rPr lang="en-US" altLang="zh-CN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47</a:t>
            </a:fld>
            <a:endParaRPr lang="en-US" altLang="zh-CN">
              <a:latin typeface="Times New Roman"/>
              <a:ea typeface="SimSun"/>
              <a:cs typeface="Times New Roman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8984D22-AF77-4D00-B1D6-DEF1ECE79B35}"/>
              </a:ext>
            </a:extLst>
          </p:cNvPr>
          <p:cNvSpPr/>
          <p:nvPr/>
        </p:nvSpPr>
        <p:spPr bwMode="auto">
          <a:xfrm>
            <a:off x="1323325" y="4575610"/>
            <a:ext cx="4340627" cy="1460340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dash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Times New Roman" charset="0"/>
              <a:ea typeface="SimSun"/>
              <a:cs typeface="Times New Roman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F04088B-4381-4B9B-8619-AC5ACC62EF64}"/>
              </a:ext>
            </a:extLst>
          </p:cNvPr>
          <p:cNvSpPr/>
          <p:nvPr/>
        </p:nvSpPr>
        <p:spPr bwMode="auto">
          <a:xfrm>
            <a:off x="7736617" y="1735344"/>
            <a:ext cx="3934921" cy="1806846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dash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Times New Roman" charset="0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85053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33"/>
    </mc:Choice>
    <mc:Fallback xmlns="">
      <p:transition spd="slow" advTm="5933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325B5AD8-AB6B-D040-7290-C734B12E2C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0738" y="1297218"/>
            <a:ext cx="5562600" cy="2411730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17B39C91-A46A-244A-105E-52982B7A7E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7131" y="3530911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>
              <a:latin typeface="Times New Roman"/>
              <a:ea typeface="SimSun"/>
              <a:cs typeface="Times New Roman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BE77DA-9DC9-D907-4DE1-1D7939F23F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2243" y="3619327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>
              <a:latin typeface="Times New Roman"/>
              <a:ea typeface="SimSun"/>
              <a:cs typeface="Times New Roman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67B81B42-3F59-4AFE-2683-1078649D09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2843" y="3506701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>
              <a:latin typeface="Times New Roman"/>
              <a:ea typeface="SimSun"/>
              <a:cs typeface="Times New Roman"/>
            </a:endParaRPr>
          </a:p>
        </p:txBody>
      </p:sp>
      <p:sp>
        <p:nvSpPr>
          <p:cNvPr id="12" name="Content Placeholder 23">
            <a:extLst>
              <a:ext uri="{FF2B5EF4-FFF2-40B4-BE49-F238E27FC236}">
                <a16:creationId xmlns:a16="http://schemas.microsoft.com/office/drawing/2014/main" id="{11FEC937-E0EF-0F88-1FAD-FF7ABF2FC41C}"/>
              </a:ext>
            </a:extLst>
          </p:cNvPr>
          <p:cNvSpPr txBox="1">
            <a:spLocks/>
          </p:cNvSpPr>
          <p:nvPr/>
        </p:nvSpPr>
        <p:spPr bwMode="auto">
          <a:xfrm>
            <a:off x="392362" y="958499"/>
            <a:ext cx="3296330" cy="37911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234950" indent="-23495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 pitchFamily="-111" charset="-128"/>
              </a:defRPr>
            </a:lvl1pPr>
            <a:lvl2pPr marL="576263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2pPr>
            <a:lvl3pPr marL="866775" indent="-176213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3pPr>
            <a:lvl4pPr marL="1196975" indent="-1635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4pPr>
            <a:lvl5pPr marL="1604963" indent="-176213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5pPr>
            <a:lvl6pPr marL="20621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6pPr>
            <a:lvl7pPr marL="25193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7pPr>
            <a:lvl8pPr marL="29765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8pPr>
            <a:lvl9pPr marL="34337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9pPr>
          </a:lstStyle>
          <a:p>
            <a:pPr marL="0" lvl="1" indent="0" algn="l">
              <a:spcBef>
                <a:spcPts val="1200"/>
              </a:spcBef>
              <a:spcAft>
                <a:spcPts val="1200"/>
              </a:spcAft>
              <a:buClrTx/>
              <a:buNone/>
              <a:defRPr>
                <a:latin typeface="Times New Roman"/>
                <a:ea typeface="SimSun"/>
                <a:cs typeface="Times New Roman"/>
              </a:defRPr>
            </a:pPr>
            <a:r>
              <a:rPr lang="en-US" altLang="en-US" sz="1800" b="1" kern="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6.2</a:t>
            </a:r>
            <a:r>
              <a:rPr lang="en-US" altLang="en-US" sz="1800" b="1" kern="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模型细节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D0332F8-D07C-37CC-DD75-C4A0E8EABC80}"/>
              </a:ext>
            </a:extLst>
          </p:cNvPr>
          <p:cNvSpPr txBox="1"/>
          <p:nvPr/>
        </p:nvSpPr>
        <p:spPr>
          <a:xfrm>
            <a:off x="1245184" y="1337617"/>
            <a:ext cx="25162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sz="16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边界条件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925ADA4-0B49-5937-F455-FABA97001F29}"/>
              </a:ext>
            </a:extLst>
          </p:cNvPr>
          <p:cNvSpPr txBox="1"/>
          <p:nvPr/>
        </p:nvSpPr>
        <p:spPr>
          <a:xfrm>
            <a:off x="5991380" y="3662349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sz="16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模型验证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72CFE9F-45D9-598D-4A1B-B8D5D2E89A99}"/>
              </a:ext>
            </a:extLst>
          </p:cNvPr>
          <p:cNvSpPr txBox="1"/>
          <p:nvPr/>
        </p:nvSpPr>
        <p:spPr>
          <a:xfrm>
            <a:off x="1684612" y="3631531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sz="16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网格无关性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874A747-0D24-4507-925A-4E820B64C7E4}"/>
              </a:ext>
            </a:extLst>
          </p:cNvPr>
          <p:cNvSpPr/>
          <p:nvPr/>
        </p:nvSpPr>
        <p:spPr bwMode="auto">
          <a:xfrm>
            <a:off x="3795866" y="3953240"/>
            <a:ext cx="401947" cy="2474504"/>
          </a:xfrm>
          <a:prstGeom prst="rect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endParaRPr lang="en-HK" sz="3200">
              <a:solidFill>
                <a:schemeClr val="bg2"/>
              </a:solidFill>
              <a:latin typeface="Times New Roman" charset="0"/>
              <a:ea typeface="SimSun"/>
              <a:cs typeface="Times New Roman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48EB5D6-AF5B-4BC6-8369-7F09E7E389B8}"/>
              </a:ext>
            </a:extLst>
          </p:cNvPr>
          <p:cNvSpPr/>
          <p:nvPr/>
        </p:nvSpPr>
        <p:spPr>
          <a:xfrm>
            <a:off x="5027688" y="6368458"/>
            <a:ext cx="9348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i="1" dirty="0">
                <a:solidFill>
                  <a:srgbClr val="C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/>
              </a:rPr>
              <a:t>450,000</a:t>
            </a:r>
            <a:endParaRPr lang="en-HK" sz="1800" b="1" i="1" dirty="0">
              <a:solidFill>
                <a:srgbClr val="C00000"/>
              </a:solidFill>
              <a:latin typeface="Times New Roman"/>
              <a:ea typeface="SimSun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E1F9B08C-A429-4E32-9B16-5FF15056A025}"/>
                  </a:ext>
                </a:extLst>
              </p:cNvPr>
              <p:cNvSpPr/>
              <p:nvPr/>
            </p:nvSpPr>
            <p:spPr>
              <a:xfrm>
                <a:off x="9976679" y="6347408"/>
                <a:ext cx="42511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HK" sz="1800" b="1" i="1">
                          <a:solidFill>
                            <a:srgbClr val="C00000"/>
                          </a:solidFill>
                          <a:latin typeface="Times New Roman" panose="02040503050406030204" pitchFamily="18" charset="0"/>
                          <a:ea typeface="SimSun" panose="02040503050406030204" pitchFamily="18" charset="0"/>
                          <a:cs typeface="Times New Roman"/>
                        </a:rPr>
                        <m:t>≤</m:t>
                      </m:r>
                    </m:oMath>
                  </m:oMathPara>
                </a14:m>
                <a:endParaRPr lang="en-HK" sz="1800" b="1" i="1" dirty="0">
                  <a:solidFill>
                    <a:srgbClr val="C00000"/>
                  </a:solidFill>
                  <a:latin typeface="Times New Roman"/>
                  <a:ea typeface="SimSun"/>
                  <a:cs typeface="Times New Roman"/>
                </a:endParaRPr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E1F9B08C-A429-4E32-9B16-5FF15056A0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6679" y="6347408"/>
                <a:ext cx="42511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  <a:latin typeface="Times New Roman"/>
                    <a:ea typeface="SimSun"/>
                    <a:cs typeface="Times New Roman"/>
                  </a:rPr>
                  <a:t> </a:t>
                </a:r>
              </a:p>
            </p:txBody>
          </p:sp>
        </mc:Fallback>
      </mc:AlternateContent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2350BCB-A1AB-4007-A788-DC26265DF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15884886-3D85-4AFD-9D94-33E4AF7428DD}" type="slidenum">
              <a:rPr lang="en-US" altLang="zh-CN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48</a:t>
            </a:fld>
            <a:endParaRPr lang="en-US" altLang="zh-CN" dirty="0">
              <a:latin typeface="Times New Roman"/>
              <a:ea typeface="SimSun"/>
              <a:cs typeface="Times New Roman"/>
            </a:endParaRPr>
          </a:p>
        </p:txBody>
      </p:sp>
      <p:sp>
        <p:nvSpPr>
          <p:cNvPr id="20" name="矩形 3">
            <a:extLst>
              <a:ext uri="{FF2B5EF4-FFF2-40B4-BE49-F238E27FC236}">
                <a16:creationId xmlns:a16="http://schemas.microsoft.com/office/drawing/2014/main" id="{A3CF0019-F099-4641-8652-71F2F0EF20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5366" y="-57982"/>
            <a:ext cx="10786173" cy="972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9pPr>
          </a:lstStyle>
          <a:p>
            <a:pPr lvl="0" algn="l">
              <a:lnSpc>
                <a:spcPct val="125000"/>
              </a:lnSpc>
              <a:spcBef>
                <a:spcPct val="20000"/>
              </a:spcBef>
              <a:defRPr>
                <a:latin typeface="Times New Roman"/>
                <a:ea typeface="SimSun"/>
                <a:cs typeface="Times New Roman"/>
              </a:defRPr>
            </a:pPr>
            <a:r>
              <a:rPr lang="en-US" altLang="zh-CN" b="1" dirty="0" sz="1800">
                <a:solidFill>
                  <a:srgbClr val="000000"/>
                </a:solidFill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6</a:t>
            </a:r>
            <a:r>
              <a:rPr lang="en-US" altLang="zh-CN" b="1" dirty="0" sz="1800">
                <a:solidFill>
                  <a:srgbClr val="000000"/>
                </a:solidFill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. 数据中心 IEC 的喷嘴优化与性能强化</a:t>
            </a:r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651A0531-672E-440F-99D4-6820BB4DF9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9372178"/>
              </p:ext>
            </p:extLst>
          </p:nvPr>
        </p:nvGraphicFramePr>
        <p:xfrm>
          <a:off x="1348601" y="3826539"/>
          <a:ext cx="3954931" cy="30314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6" imgW="6884339" imgH="5282235" progId="Origin95.Graph">
                  <p:embed/>
                </p:oleObj>
              </mc:Choice>
              <mc:Fallback>
                <p:oleObj name="Graph" r:id="rId6" imgW="6884339" imgH="5282235" progId="Origin95.Graph">
                  <p:embed/>
                  <p:pic>
                    <p:nvPicPr>
                      <p:cNvPr id="0" name="Object 5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8601" y="3826539"/>
                        <a:ext cx="3954931" cy="303146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矩形 20">
            <a:extLst>
              <a:ext uri="{FF2B5EF4-FFF2-40B4-BE49-F238E27FC236}">
                <a16:creationId xmlns:a16="http://schemas.microsoft.com/office/drawing/2014/main" id="{385C92E5-FEC9-4B15-8182-28FBECE803AE}"/>
              </a:ext>
            </a:extLst>
          </p:cNvPr>
          <p:cNvSpPr/>
          <p:nvPr/>
        </p:nvSpPr>
        <p:spPr>
          <a:xfrm>
            <a:off x="10235540" y="6345517"/>
            <a:ext cx="6078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i="1" dirty="0">
                <a:solidFill>
                  <a:srgbClr val="C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/>
              </a:rPr>
              <a:t>10%</a:t>
            </a:r>
            <a:endParaRPr lang="en-HK" sz="1800" b="1" i="1" dirty="0">
              <a:solidFill>
                <a:srgbClr val="C00000"/>
              </a:solidFill>
              <a:latin typeface="Times New Roman"/>
              <a:ea typeface="SimSun"/>
              <a:cs typeface="Times New Roman"/>
            </a:endParaRPr>
          </a:p>
        </p:txBody>
      </p: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309FD80B-887D-42D7-89E3-210D538D88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5678954"/>
              </p:ext>
            </p:extLst>
          </p:nvPr>
        </p:nvGraphicFramePr>
        <p:xfrm>
          <a:off x="6392860" y="3826539"/>
          <a:ext cx="3690224" cy="30581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8" imgW="6384906" imgH="5171581" progId="Origin95.Graph">
                  <p:embed/>
                </p:oleObj>
              </mc:Choice>
              <mc:Fallback>
                <p:oleObj name="Graph" r:id="rId8" imgW="6384906" imgH="5171581" progId="Origin95.Graph">
                  <p:embed/>
                  <p:pic>
                    <p:nvPicPr>
                      <p:cNvPr id="0" name="Object 5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92860" y="3826539"/>
                        <a:ext cx="3690224" cy="305810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31407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33"/>
    </mc:Choice>
    <mc:Fallback xmlns="">
      <p:transition spd="slow" advTm="5933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20">
            <a:extLst>
              <a:ext uri="{FF2B5EF4-FFF2-40B4-BE49-F238E27FC236}">
                <a16:creationId xmlns:a16="http://schemas.microsoft.com/office/drawing/2014/main" id="{240FE68F-CE47-056E-018A-E9F257D175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14"/>
          <a:stretch/>
        </p:blipFill>
        <p:spPr bwMode="auto">
          <a:xfrm>
            <a:off x="3143959" y="1797320"/>
            <a:ext cx="1765096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图片 20">
            <a:extLst>
              <a:ext uri="{FF2B5EF4-FFF2-40B4-BE49-F238E27FC236}">
                <a16:creationId xmlns:a16="http://schemas.microsoft.com/office/drawing/2014/main" id="{D0754689-0958-7707-14EC-913F547B22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933"/>
          <a:stretch/>
        </p:blipFill>
        <p:spPr bwMode="auto">
          <a:xfrm>
            <a:off x="1025163" y="1750923"/>
            <a:ext cx="1861816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7" name="图片 22">
            <a:extLst>
              <a:ext uri="{FF2B5EF4-FFF2-40B4-BE49-F238E27FC236}">
                <a16:creationId xmlns:a16="http://schemas.microsoft.com/office/drawing/2014/main" id="{08572188-F078-599B-6E53-911389A29A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581"/>
          <a:stretch/>
        </p:blipFill>
        <p:spPr bwMode="auto">
          <a:xfrm>
            <a:off x="1048256" y="4016484"/>
            <a:ext cx="1812830" cy="172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E47B88EA-F4F3-B3C2-BF2D-E7FF5F546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232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>
              <a:latin typeface="Times New Roman"/>
              <a:ea typeface="SimSun"/>
              <a:cs typeface="Times New Roman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F55B6F-295B-7DFA-9CB9-B988221239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6110" y="3444696"/>
            <a:ext cx="423404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（a）顶部布置     （b）底部布置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1AE0C76-9A4B-8467-1D3F-AE147808B0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280" y="5741662"/>
            <a:ext cx="449033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 sz="10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（c）上侧布置     （d）下侧布置</a:t>
            </a:r>
          </a:p>
        </p:txBody>
      </p:sp>
      <p:pic>
        <p:nvPicPr>
          <p:cNvPr id="4" name="图片 22">
            <a:extLst>
              <a:ext uri="{FF2B5EF4-FFF2-40B4-BE49-F238E27FC236}">
                <a16:creationId xmlns:a16="http://schemas.microsoft.com/office/drawing/2014/main" id="{5B9DB2D8-0FF5-E62E-4A66-AEBBA503C4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82"/>
          <a:stretch/>
        </p:blipFill>
        <p:spPr bwMode="auto">
          <a:xfrm>
            <a:off x="3096225" y="4059698"/>
            <a:ext cx="1812830" cy="172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3">
            <a:extLst>
              <a:ext uri="{FF2B5EF4-FFF2-40B4-BE49-F238E27FC236}">
                <a16:creationId xmlns:a16="http://schemas.microsoft.com/office/drawing/2014/main" id="{F068AD24-EE44-9DCE-ADB3-1A1C2841398B}"/>
              </a:ext>
            </a:extLst>
          </p:cNvPr>
          <p:cNvSpPr txBox="1">
            <a:spLocks/>
          </p:cNvSpPr>
          <p:nvPr/>
        </p:nvSpPr>
        <p:spPr bwMode="auto">
          <a:xfrm>
            <a:off x="177149" y="1085549"/>
            <a:ext cx="4490331" cy="37911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234950" indent="-23495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 pitchFamily="-111" charset="-128"/>
              </a:defRPr>
            </a:lvl1pPr>
            <a:lvl2pPr marL="576263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2pPr>
            <a:lvl3pPr marL="866775" indent="-176213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3pPr>
            <a:lvl4pPr marL="1196975" indent="-1635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4pPr>
            <a:lvl5pPr marL="1604963" indent="-176213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5pPr>
            <a:lvl6pPr marL="20621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6pPr>
            <a:lvl7pPr marL="25193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7pPr>
            <a:lvl8pPr marL="29765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8pPr>
            <a:lvl9pPr marL="34337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9pPr>
          </a:lstStyle>
          <a:p>
            <a:pPr marL="0" lvl="1" indent="0" algn="l">
              <a:spcBef>
                <a:spcPts val="1200"/>
              </a:spcBef>
              <a:spcAft>
                <a:spcPts val="1200"/>
              </a:spcAft>
              <a:buClrTx/>
              <a:buNone/>
              <a:defRPr>
                <a:latin typeface="Times New Roman"/>
                <a:ea typeface="SimSun"/>
                <a:cs typeface="Times New Roman"/>
              </a:defRPr>
            </a:pPr>
            <a:r>
              <a:rPr lang="en-US" altLang="en-US" sz="1800" b="1" kern="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6.3</a:t>
            </a:r>
            <a:r>
              <a:rPr lang="en-US" altLang="en-US" sz="1800" b="1" kern="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四种喷嘴布置方案</a:t>
            </a: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0D4BBCB4-FB40-154E-1C8E-D8AB432AE671}"/>
              </a:ext>
            </a:extLst>
          </p:cNvPr>
          <p:cNvCxnSpPr>
            <a:cxnSpLocks/>
          </p:cNvCxnSpPr>
          <p:nvPr/>
        </p:nvCxnSpPr>
        <p:spPr bwMode="auto">
          <a:xfrm>
            <a:off x="5968723" y="1112077"/>
            <a:ext cx="0" cy="5653849"/>
          </a:xfrm>
          <a:prstGeom prst="line">
            <a:avLst/>
          </a:prstGeom>
          <a:ln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BD13ED3E-861F-8BB1-3E9B-A6F2ED18859A}"/>
              </a:ext>
            </a:extLst>
          </p:cNvPr>
          <p:cNvSpPr txBox="1"/>
          <p:nvPr/>
        </p:nvSpPr>
        <p:spPr>
          <a:xfrm>
            <a:off x="6398527" y="1127229"/>
            <a:ext cx="4626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altLang="zh-CN" sz="1800" dirty="0">
                <a:latin typeface="Times New Roman" panose="02020603050405020304" pitchFamily="18" charset="0"/>
                <a:ea typeface="SimSun" panose="02010600030101010101" pitchFamily="2" charset="-122"/>
                <a:cs typeface="Times New Roman"/>
              </a:rPr>
              <a:t>实验供水流量的确定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AF76E3D-99D8-7F56-F0C2-B15FA2F69F96}"/>
              </a:ext>
            </a:extLst>
          </p:cNvPr>
          <p:cNvSpPr txBox="1"/>
          <p:nvPr/>
        </p:nvSpPr>
        <p:spPr>
          <a:xfrm>
            <a:off x="6731467" y="1674443"/>
            <a:ext cx="430281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湿球效率随供水流量增加而提高。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800">
                <a:latin typeface="Times New Roman"/>
                <a:ea typeface="SimSun"/>
                <a:cs typeface="Times New Roman"/>
              </a:rPr>
              <a:t>当流量达到 </a:t>
            </a:r>
            <a:r>
              <a:rPr sz="1800" b="1">
                <a:latin typeface="Times New Roman"/>
                <a:ea typeface="SimSun"/>
                <a:cs typeface="Times New Roman"/>
              </a:rPr>
              <a:t>65 L/s</a:t>
            </a:r>
            <a:r>
              <a:rPr sz="1800">
                <a:latin typeface="Times New Roman"/>
                <a:ea typeface="SimSun"/>
                <a:cs typeface="Times New Roman"/>
              </a:rPr>
              <a:t> 时，湿球效率趋于最大值并保持稳定。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4DD048A-98AC-469E-9A69-DCA311B028CF}"/>
              </a:ext>
            </a:extLst>
          </p:cNvPr>
          <p:cNvSpPr/>
          <p:nvPr/>
        </p:nvSpPr>
        <p:spPr>
          <a:xfrm>
            <a:off x="7269967" y="6437786"/>
            <a:ext cx="479206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HK" sz="12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Fig. 6.3.1 </a:t>
            </a:r>
            <a:r>
              <a:rPr lang="en-HK" sz="12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The determination of test spray flow rate</a:t>
            </a: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20A9CA6-BB2D-435A-A016-724DFB2EA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15884886-3D85-4AFD-9D94-33E4AF7428DD}" type="slidenum">
              <a:rPr lang="en-US" altLang="zh-CN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49</a:t>
            </a:fld>
            <a:endParaRPr lang="en-US" altLang="zh-CN">
              <a:latin typeface="Times New Roman"/>
              <a:ea typeface="SimSun"/>
              <a:cs typeface="Times New Roman"/>
            </a:endParaRPr>
          </a:p>
        </p:txBody>
      </p:sp>
      <p:sp>
        <p:nvSpPr>
          <p:cNvPr id="19" name="矩形 3">
            <a:extLst>
              <a:ext uri="{FF2B5EF4-FFF2-40B4-BE49-F238E27FC236}">
                <a16:creationId xmlns:a16="http://schemas.microsoft.com/office/drawing/2014/main" id="{3763B665-A7F2-427E-8D6B-D83B68360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5366" y="-57982"/>
            <a:ext cx="10786173" cy="972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9pPr>
          </a:lstStyle>
          <a:p>
            <a:pPr lvl="0" algn="l">
              <a:lnSpc>
                <a:spcPct val="125000"/>
              </a:lnSpc>
              <a:spcBef>
                <a:spcPct val="20000"/>
              </a:spcBef>
              <a:defRPr>
                <a:latin typeface="Times New Roman"/>
                <a:ea typeface="SimSun"/>
                <a:cs typeface="Times New Roman"/>
              </a:defRPr>
            </a:pPr>
            <a:r>
              <a:rPr lang="en-US" altLang="zh-CN" b="1" dirty="0" sz="1800">
                <a:solidFill>
                  <a:srgbClr val="000000"/>
                </a:solidFill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6</a:t>
            </a:r>
            <a:r>
              <a:rPr lang="en-US" altLang="zh-CN" b="1" dirty="0" sz="1800">
                <a:solidFill>
                  <a:srgbClr val="000000"/>
                </a:solidFill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. 数据中心 IEC 的喷嘴优化与性能强化</a:t>
            </a:r>
          </a:p>
        </p:txBody>
      </p:sp>
      <p:sp>
        <p:nvSpPr>
          <p:cNvPr id="12" name="Rectangle 223">
            <a:extLst>
              <a:ext uri="{FF2B5EF4-FFF2-40B4-BE49-F238E27FC236}">
                <a16:creationId xmlns:a16="http://schemas.microsoft.com/office/drawing/2014/main" id="{2DE7D3CA-B230-4034-93E8-AAD17A688F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0248" y="330418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latin typeface="Times New Roman"/>
              <a:ea typeface="SimSun"/>
              <a:cs typeface="Times New Roman"/>
            </a:endParaRP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7905834A-609A-4F9C-B188-EACE69D813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8488436"/>
              </p:ext>
            </p:extLst>
          </p:nvPr>
        </p:nvGraphicFramePr>
        <p:xfrm>
          <a:off x="6849294" y="3304184"/>
          <a:ext cx="3903209" cy="32404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5" imgW="6662246" imgH="5282235" progId="Origin95.Graph">
                  <p:embed/>
                </p:oleObj>
              </mc:Choice>
              <mc:Fallback>
                <p:oleObj name="Graph" r:id="rId5" imgW="6662246" imgH="5282235" progId="Origin95.Graph">
                  <p:embed/>
                  <p:pic>
                    <p:nvPicPr>
                      <p:cNvPr id="0" name="Object 2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9294" y="3304184"/>
                        <a:ext cx="3903209" cy="324043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34549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33"/>
    </mc:Choice>
    <mc:Fallback xmlns="">
      <p:transition spd="slow" advTm="5933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E47B88EA-F4F3-B3C2-BF2D-E7FF5F546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232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>
              <a:latin typeface="Times New Roman"/>
              <a:ea typeface="SimSun"/>
              <a:cs typeface="Times New Roman"/>
            </a:endParaRPr>
          </a:p>
        </p:txBody>
      </p:sp>
      <p:pic>
        <p:nvPicPr>
          <p:cNvPr id="10244" name="图片 21">
            <a:extLst>
              <a:ext uri="{FF2B5EF4-FFF2-40B4-BE49-F238E27FC236}">
                <a16:creationId xmlns:a16="http://schemas.microsoft.com/office/drawing/2014/main" id="{69256179-B68B-F48F-7AE5-0F957AAFF1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3191" y="1683363"/>
            <a:ext cx="1985963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3" name="图片 31">
            <a:extLst>
              <a:ext uri="{FF2B5EF4-FFF2-40B4-BE49-F238E27FC236}">
                <a16:creationId xmlns:a16="http://schemas.microsoft.com/office/drawing/2014/main" id="{0B4169FB-E23F-17DF-4427-35408ACB08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76" t="10007" r="14946" b="15715"/>
          <a:stretch>
            <a:fillRect/>
          </a:stretch>
        </p:blipFill>
        <p:spPr bwMode="auto">
          <a:xfrm>
            <a:off x="3939947" y="1683363"/>
            <a:ext cx="1981200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2" name="图片 23">
            <a:extLst>
              <a:ext uri="{FF2B5EF4-FFF2-40B4-BE49-F238E27FC236}">
                <a16:creationId xmlns:a16="http://schemas.microsoft.com/office/drawing/2014/main" id="{231E7C05-5E0F-915A-7D30-6388DB7E6A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8215" y="1700461"/>
            <a:ext cx="1990725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1" name="图片 26">
            <a:extLst>
              <a:ext uri="{FF2B5EF4-FFF2-40B4-BE49-F238E27FC236}">
                <a16:creationId xmlns:a16="http://schemas.microsoft.com/office/drawing/2014/main" id="{A7FCC450-3BCE-99A0-132A-5066AC831E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2425" y="1688125"/>
            <a:ext cx="1985963" cy="1976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9591E8A8-4CAD-45AF-EB7D-DB21CF6852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232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>
              <a:latin typeface="Times New Roman"/>
              <a:ea typeface="SimSun"/>
              <a:cs typeface="Times New Roman"/>
            </a:endParaRP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C8C92458-B04A-08B5-453C-ED3BC9E702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3517" y="6727195"/>
            <a:ext cx="344966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1100">
                <a:latin typeface="Times New Roman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    </a:t>
            </a:r>
            <a:endParaRPr lang="en-US" altLang="zh-CN" sz="1800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pic>
        <p:nvPicPr>
          <p:cNvPr id="10255" name="图片 3">
            <a:extLst>
              <a:ext uri="{FF2B5EF4-FFF2-40B4-BE49-F238E27FC236}">
                <a16:creationId xmlns:a16="http://schemas.microsoft.com/office/drawing/2014/main" id="{9288BB41-D5C0-4C9D-36A2-6F057F40A4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8429" y="3977795"/>
            <a:ext cx="1990725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4" name="图片 13">
            <a:extLst>
              <a:ext uri="{FF2B5EF4-FFF2-40B4-BE49-F238E27FC236}">
                <a16:creationId xmlns:a16="http://schemas.microsoft.com/office/drawing/2014/main" id="{E76D5247-3812-D4C6-A356-954217AB71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5834" y="3967185"/>
            <a:ext cx="1995488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3" name="图片 4">
            <a:extLst>
              <a:ext uri="{FF2B5EF4-FFF2-40B4-BE49-F238E27FC236}">
                <a16:creationId xmlns:a16="http://schemas.microsoft.com/office/drawing/2014/main" id="{DE80AAC3-B12C-2C2D-94F7-D257D127A6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8388" y="3859600"/>
            <a:ext cx="709613" cy="2162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2" name="图片 15">
            <a:extLst>
              <a:ext uri="{FF2B5EF4-FFF2-40B4-BE49-F238E27FC236}">
                <a16:creationId xmlns:a16="http://schemas.microsoft.com/office/drawing/2014/main" id="{CB597D4E-7570-E16D-C129-508E85E884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83" y="3967185"/>
            <a:ext cx="1981200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1" name="图片 18">
            <a:extLst>
              <a:ext uri="{FF2B5EF4-FFF2-40B4-BE49-F238E27FC236}">
                <a16:creationId xmlns:a16="http://schemas.microsoft.com/office/drawing/2014/main" id="{100BC387-F153-4454-F0FD-B1293720BA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8256" y="3950087"/>
            <a:ext cx="1985963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7">
            <a:extLst>
              <a:ext uri="{FF2B5EF4-FFF2-40B4-BE49-F238E27FC236}">
                <a16:creationId xmlns:a16="http://schemas.microsoft.com/office/drawing/2014/main" id="{B6814F37-8742-0A4B-35F4-435FCCA16C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2947" y="5574341"/>
            <a:ext cx="344966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1100">
                <a:latin typeface="Times New Roman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    </a:t>
            </a:r>
            <a:endParaRPr lang="en-US" altLang="zh-CN" sz="1800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15" name="Rectangle 18">
            <a:extLst>
              <a:ext uri="{FF2B5EF4-FFF2-40B4-BE49-F238E27FC236}">
                <a16:creationId xmlns:a16="http://schemas.microsoft.com/office/drawing/2014/main" id="{BC658CD1-871B-0AF6-8CB0-4FCB617027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1855" y="7964144"/>
            <a:ext cx="248786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1100" i="1">
                <a:latin typeface="Times New Roman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 </a:t>
            </a:r>
            <a:endParaRPr lang="en-US" altLang="zh-CN" sz="1800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17" name="Rectangle 20">
            <a:extLst>
              <a:ext uri="{FF2B5EF4-FFF2-40B4-BE49-F238E27FC236}">
                <a16:creationId xmlns:a16="http://schemas.microsoft.com/office/drawing/2014/main" id="{2BFF3A44-E09A-9464-BFB0-878683DE36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3765" y="12336119"/>
            <a:ext cx="344966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1100">
                <a:latin typeface="Times New Roman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    </a:t>
            </a:r>
            <a:endParaRPr lang="en-US" altLang="zh-CN" sz="1800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18" name="Rectangle 21">
            <a:extLst>
              <a:ext uri="{FF2B5EF4-FFF2-40B4-BE49-F238E27FC236}">
                <a16:creationId xmlns:a16="http://schemas.microsoft.com/office/drawing/2014/main" id="{65FCB56F-B73E-952B-18B4-AE1D2ECC78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7735" y="14317319"/>
            <a:ext cx="377026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1100">
                <a:latin typeface="Times New Roman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en-US" altLang="zh-CN" sz="1100" i="1">
                <a:latin typeface="Times New Roman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endParaRPr lang="en-US" altLang="zh-CN" sz="1800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19" name="Rectangle 22">
            <a:extLst>
              <a:ext uri="{FF2B5EF4-FFF2-40B4-BE49-F238E27FC236}">
                <a16:creationId xmlns:a16="http://schemas.microsoft.com/office/drawing/2014/main" id="{E8006BBB-C852-DF42-DD43-574C72BFC5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2867" y="16402550"/>
            <a:ext cx="3866763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 sz="1100">
                <a:latin typeface="Times New Roman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（c）上侧布置               （d）下侧布置</a:t>
            </a:r>
          </a:p>
        </p:txBody>
      </p:sp>
      <p:sp>
        <p:nvSpPr>
          <p:cNvPr id="5" name="Content Placeholder 23">
            <a:extLst>
              <a:ext uri="{FF2B5EF4-FFF2-40B4-BE49-F238E27FC236}">
                <a16:creationId xmlns:a16="http://schemas.microsoft.com/office/drawing/2014/main" id="{EEC3F662-50D0-19BB-E64A-65591AA5C574}"/>
              </a:ext>
            </a:extLst>
          </p:cNvPr>
          <p:cNvSpPr txBox="1">
            <a:spLocks/>
          </p:cNvSpPr>
          <p:nvPr/>
        </p:nvSpPr>
        <p:spPr bwMode="auto">
          <a:xfrm>
            <a:off x="383463" y="922144"/>
            <a:ext cx="6334578" cy="37911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234950" indent="-23495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 pitchFamily="-111" charset="-128"/>
              </a:defRPr>
            </a:lvl1pPr>
            <a:lvl2pPr marL="576263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2pPr>
            <a:lvl3pPr marL="866775" indent="-176213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3pPr>
            <a:lvl4pPr marL="1196975" indent="-1635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4pPr>
            <a:lvl5pPr marL="1604963" indent="-176213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5pPr>
            <a:lvl6pPr marL="20621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6pPr>
            <a:lvl7pPr marL="25193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7pPr>
            <a:lvl8pPr marL="29765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8pPr>
            <a:lvl9pPr marL="34337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9pPr>
          </a:lstStyle>
          <a:p>
            <a:pPr marL="0" lvl="1" indent="0" algn="l">
              <a:spcBef>
                <a:spcPts val="1200"/>
              </a:spcBef>
              <a:spcAft>
                <a:spcPts val="1200"/>
              </a:spcAft>
              <a:buClrTx/>
              <a:buNone/>
              <a:defRPr>
                <a:latin typeface="Times New Roman"/>
                <a:ea typeface="SimSun"/>
                <a:cs typeface="Times New Roman"/>
              </a:defRPr>
            </a:pPr>
            <a:r>
              <a:rPr lang="en-US" altLang="en-US" sz="1800" b="1" kern="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6.3</a:t>
            </a:r>
            <a:r>
              <a:rPr lang="en-US" altLang="en-US" sz="1800" b="1" kern="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四种喷嘴布置方案（铝板）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C8C7525-E425-4A9F-0957-4B99D5839A8D}"/>
              </a:ext>
            </a:extLst>
          </p:cNvPr>
          <p:cNvSpPr txBox="1"/>
          <p:nvPr/>
        </p:nvSpPr>
        <p:spPr>
          <a:xfrm>
            <a:off x="1186147" y="1334199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sz="16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水膜分布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6E0FF28-998E-AB4F-A4C3-0EF35C84B52C}"/>
              </a:ext>
            </a:extLst>
          </p:cNvPr>
          <p:cNvSpPr txBox="1"/>
          <p:nvPr/>
        </p:nvSpPr>
        <p:spPr>
          <a:xfrm>
            <a:off x="1186147" y="3645605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sz="16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温度分布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E3FACF8-7BCA-482F-EF5E-25C958B4E431}"/>
              </a:ext>
            </a:extLst>
          </p:cNvPr>
          <p:cNvSpPr/>
          <p:nvPr/>
        </p:nvSpPr>
        <p:spPr bwMode="auto">
          <a:xfrm>
            <a:off x="5952949" y="1487865"/>
            <a:ext cx="1963623" cy="5010207"/>
          </a:xfrm>
          <a:prstGeom prst="rect">
            <a:avLst/>
          </a:prstGeom>
          <a:noFill/>
          <a:ln w="222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endParaRPr lang="zh-CN" altLang="en-US" sz="3200" dirty="0">
              <a:solidFill>
                <a:schemeClr val="bg2"/>
              </a:solidFill>
              <a:latin typeface="Times New Roman" charset="0"/>
              <a:ea typeface="SimSun"/>
              <a:cs typeface="Times New Roman"/>
            </a:endParaRPr>
          </a:p>
        </p:txBody>
      </p:sp>
      <p:sp>
        <p:nvSpPr>
          <p:cNvPr id="28" name="Content Placeholder 23">
            <a:extLst>
              <a:ext uri="{FF2B5EF4-FFF2-40B4-BE49-F238E27FC236}">
                <a16:creationId xmlns:a16="http://schemas.microsoft.com/office/drawing/2014/main" id="{612E446F-6937-E2D0-4115-6FD6EBCE5D96}"/>
              </a:ext>
            </a:extLst>
          </p:cNvPr>
          <p:cNvSpPr txBox="1">
            <a:spLocks/>
          </p:cNvSpPr>
          <p:nvPr/>
        </p:nvSpPr>
        <p:spPr bwMode="auto">
          <a:xfrm>
            <a:off x="2628629" y="6111298"/>
            <a:ext cx="683759" cy="37911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234950" indent="-23495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 pitchFamily="-111" charset="-128"/>
              </a:defRPr>
            </a:lvl1pPr>
            <a:lvl2pPr marL="576263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2pPr>
            <a:lvl3pPr marL="866775" indent="-176213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3pPr>
            <a:lvl4pPr marL="1196975" indent="-1635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4pPr>
            <a:lvl5pPr marL="1604963" indent="-176213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5pPr>
            <a:lvl6pPr marL="20621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6pPr>
            <a:lvl7pPr marL="25193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7pPr>
            <a:lvl8pPr marL="29765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8pPr>
            <a:lvl9pPr marL="34337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9pPr>
          </a:lstStyle>
          <a:p>
            <a:pPr marL="0" lvl="1" indent="0" algn="l">
              <a:spcBef>
                <a:spcPts val="1200"/>
              </a:spcBef>
              <a:spcAft>
                <a:spcPts val="1200"/>
              </a:spcAft>
              <a:buClrTx/>
              <a:buNone/>
              <a:defRPr>
                <a:latin typeface="Times New Roman"/>
                <a:ea typeface="SimSun"/>
                <a:cs typeface="Times New Roman"/>
              </a:defRPr>
            </a:pPr>
            <a:r>
              <a:rPr lang="en-US" altLang="en-US" sz="1800" kern="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顶部</a:t>
            </a:r>
          </a:p>
        </p:txBody>
      </p:sp>
      <p:sp>
        <p:nvSpPr>
          <p:cNvPr id="29" name="Content Placeholder 23">
            <a:extLst>
              <a:ext uri="{FF2B5EF4-FFF2-40B4-BE49-F238E27FC236}">
                <a16:creationId xmlns:a16="http://schemas.microsoft.com/office/drawing/2014/main" id="{1674DC4D-36F8-B1AA-B3CF-69DDE620D1C7}"/>
              </a:ext>
            </a:extLst>
          </p:cNvPr>
          <p:cNvSpPr txBox="1">
            <a:spLocks/>
          </p:cNvSpPr>
          <p:nvPr/>
        </p:nvSpPr>
        <p:spPr bwMode="auto">
          <a:xfrm>
            <a:off x="4383536" y="6113443"/>
            <a:ext cx="1263653" cy="37911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234950" indent="-23495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 pitchFamily="-111" charset="-128"/>
              </a:defRPr>
            </a:lvl1pPr>
            <a:lvl2pPr marL="576263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2pPr>
            <a:lvl3pPr marL="866775" indent="-176213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3pPr>
            <a:lvl4pPr marL="1196975" indent="-1635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4pPr>
            <a:lvl5pPr marL="1604963" indent="-176213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5pPr>
            <a:lvl6pPr marL="20621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6pPr>
            <a:lvl7pPr marL="25193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7pPr>
            <a:lvl8pPr marL="29765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8pPr>
            <a:lvl9pPr marL="34337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9pPr>
          </a:lstStyle>
          <a:p>
            <a:pPr marL="0" lvl="1" indent="0" algn="l">
              <a:spcBef>
                <a:spcPts val="1200"/>
              </a:spcBef>
              <a:spcAft>
                <a:spcPts val="1200"/>
              </a:spcAft>
              <a:buClrTx/>
              <a:buNone/>
              <a:defRPr>
                <a:latin typeface="Times New Roman"/>
                <a:ea typeface="SimSun"/>
                <a:cs typeface="Times New Roman"/>
              </a:defRPr>
            </a:pPr>
            <a:r>
              <a:rPr lang="en-US" altLang="en-US" sz="1800" kern="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底部</a:t>
            </a:r>
          </a:p>
        </p:txBody>
      </p:sp>
      <p:sp>
        <p:nvSpPr>
          <p:cNvPr id="30" name="Content Placeholder 23">
            <a:extLst>
              <a:ext uri="{FF2B5EF4-FFF2-40B4-BE49-F238E27FC236}">
                <a16:creationId xmlns:a16="http://schemas.microsoft.com/office/drawing/2014/main" id="{4DA368F3-1F37-F80D-410F-E8AB2040C96F}"/>
              </a:ext>
            </a:extLst>
          </p:cNvPr>
          <p:cNvSpPr txBox="1">
            <a:spLocks/>
          </p:cNvSpPr>
          <p:nvPr/>
        </p:nvSpPr>
        <p:spPr bwMode="auto">
          <a:xfrm>
            <a:off x="6275458" y="6118954"/>
            <a:ext cx="1408225" cy="37911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234950" indent="-23495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 pitchFamily="-111" charset="-128"/>
              </a:defRPr>
            </a:lvl1pPr>
            <a:lvl2pPr marL="576263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2pPr>
            <a:lvl3pPr marL="866775" indent="-176213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3pPr>
            <a:lvl4pPr marL="1196975" indent="-1635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4pPr>
            <a:lvl5pPr marL="1604963" indent="-176213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5pPr>
            <a:lvl6pPr marL="20621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6pPr>
            <a:lvl7pPr marL="25193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7pPr>
            <a:lvl8pPr marL="29765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8pPr>
            <a:lvl9pPr marL="34337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9pPr>
          </a:lstStyle>
          <a:p>
            <a:pPr marL="0" lvl="1" indent="0" algn="l">
              <a:spcBef>
                <a:spcPts val="1200"/>
              </a:spcBef>
              <a:spcAft>
                <a:spcPts val="1200"/>
              </a:spcAft>
              <a:buClrTx/>
              <a:buNone/>
              <a:defRPr>
                <a:latin typeface="Times New Roman"/>
                <a:ea typeface="SimSun"/>
                <a:cs typeface="Times New Roman"/>
              </a:defRPr>
            </a:pPr>
            <a:r>
              <a:rPr lang="en-US" altLang="en-US" sz="1800" kern="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上侧</a:t>
            </a:r>
          </a:p>
        </p:txBody>
      </p:sp>
      <p:sp>
        <p:nvSpPr>
          <p:cNvPr id="31" name="Content Placeholder 23">
            <a:extLst>
              <a:ext uri="{FF2B5EF4-FFF2-40B4-BE49-F238E27FC236}">
                <a16:creationId xmlns:a16="http://schemas.microsoft.com/office/drawing/2014/main" id="{6306B550-901E-B39E-A75C-214E6F829FE0}"/>
              </a:ext>
            </a:extLst>
          </p:cNvPr>
          <p:cNvSpPr txBox="1">
            <a:spLocks/>
          </p:cNvSpPr>
          <p:nvPr/>
        </p:nvSpPr>
        <p:spPr bwMode="auto">
          <a:xfrm>
            <a:off x="8223174" y="6118954"/>
            <a:ext cx="1408225" cy="37911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234950" indent="-23495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 pitchFamily="-111" charset="-128"/>
              </a:defRPr>
            </a:lvl1pPr>
            <a:lvl2pPr marL="576263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2pPr>
            <a:lvl3pPr marL="866775" indent="-176213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3pPr>
            <a:lvl4pPr marL="1196975" indent="-1635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4pPr>
            <a:lvl5pPr marL="1604963" indent="-176213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5pPr>
            <a:lvl6pPr marL="20621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6pPr>
            <a:lvl7pPr marL="25193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7pPr>
            <a:lvl8pPr marL="29765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8pPr>
            <a:lvl9pPr marL="34337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9pPr>
          </a:lstStyle>
          <a:p>
            <a:pPr marL="0" lvl="1" indent="0" algn="l">
              <a:spcBef>
                <a:spcPts val="1200"/>
              </a:spcBef>
              <a:spcAft>
                <a:spcPts val="1200"/>
              </a:spcAft>
              <a:buClrTx/>
              <a:buNone/>
              <a:defRPr>
                <a:latin typeface="Times New Roman"/>
                <a:ea typeface="SimSun"/>
                <a:cs typeface="Times New Roman"/>
              </a:defRPr>
            </a:pPr>
            <a:r>
              <a:rPr lang="en-US" altLang="en-US" sz="1800" kern="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下侧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8CE52A0-D852-4BBC-AF1F-799FA7EBB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15884886-3D85-4AFD-9D94-33E4AF7428DD}" type="slidenum">
              <a:rPr lang="en-US" altLang="zh-CN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50</a:t>
            </a:fld>
            <a:endParaRPr lang="en-US" altLang="zh-CN">
              <a:latin typeface="Times New Roman"/>
              <a:ea typeface="SimSun"/>
              <a:cs typeface="Times New Roman"/>
            </a:endParaRPr>
          </a:p>
        </p:txBody>
      </p:sp>
      <p:sp>
        <p:nvSpPr>
          <p:cNvPr id="33" name="矩形 3">
            <a:extLst>
              <a:ext uri="{FF2B5EF4-FFF2-40B4-BE49-F238E27FC236}">
                <a16:creationId xmlns:a16="http://schemas.microsoft.com/office/drawing/2014/main" id="{875D63E9-A33C-4D92-A00E-6A727BA12A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5366" y="-57982"/>
            <a:ext cx="10786173" cy="972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9pPr>
          </a:lstStyle>
          <a:p>
            <a:pPr lvl="0" algn="l">
              <a:lnSpc>
                <a:spcPct val="125000"/>
              </a:lnSpc>
              <a:spcBef>
                <a:spcPct val="20000"/>
              </a:spcBef>
              <a:defRPr>
                <a:latin typeface="Times New Roman"/>
                <a:ea typeface="SimSun"/>
                <a:cs typeface="Times New Roman"/>
              </a:defRPr>
            </a:pPr>
            <a:r>
              <a:rPr lang="en-US" altLang="zh-CN" b="1" dirty="0" sz="1800">
                <a:solidFill>
                  <a:srgbClr val="000000"/>
                </a:solidFill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6</a:t>
            </a:r>
            <a:r>
              <a:rPr lang="en-US" altLang="zh-CN" b="1" dirty="0" sz="1800">
                <a:solidFill>
                  <a:srgbClr val="000000"/>
                </a:solidFill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. 数据中心 IEC 的喷嘴优化与性能强化</a:t>
            </a:r>
          </a:p>
        </p:txBody>
      </p:sp>
    </p:spTree>
    <p:extLst>
      <p:ext uri="{BB962C8B-B14F-4D97-AF65-F5344CB8AC3E}">
        <p14:creationId xmlns:p14="http://schemas.microsoft.com/office/powerpoint/2010/main" val="962513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33"/>
    </mc:Choice>
    <mc:Fallback xmlns="">
      <p:transition spd="slow" advTm="593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E47B88EA-F4F3-B3C2-BF2D-E7FF5F546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232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>
              <a:latin typeface="Times New Roman"/>
              <a:ea typeface="SimSun"/>
              <a:cs typeface="Times New Roman"/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9591E8A8-4CAD-45AF-EB7D-DB21CF6852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232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>
              <a:latin typeface="Times New Roman"/>
              <a:ea typeface="SimSun"/>
              <a:cs typeface="Times New Roman"/>
            </a:endParaRP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C8C92458-B04A-08B5-453C-ED3BC9E702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3517" y="6727195"/>
            <a:ext cx="344966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1100">
                <a:latin typeface="Times New Roman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    </a:t>
            </a:r>
            <a:endParaRPr lang="en-US" altLang="zh-CN" sz="1800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14" name="Rectangle 17">
            <a:extLst>
              <a:ext uri="{FF2B5EF4-FFF2-40B4-BE49-F238E27FC236}">
                <a16:creationId xmlns:a16="http://schemas.microsoft.com/office/drawing/2014/main" id="{B6814F37-8742-0A4B-35F4-435FCCA16C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2947" y="5574341"/>
            <a:ext cx="344966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1100">
                <a:latin typeface="Times New Roman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    </a:t>
            </a:r>
            <a:endParaRPr lang="en-US" altLang="zh-CN" sz="1800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17" name="Rectangle 20">
            <a:extLst>
              <a:ext uri="{FF2B5EF4-FFF2-40B4-BE49-F238E27FC236}">
                <a16:creationId xmlns:a16="http://schemas.microsoft.com/office/drawing/2014/main" id="{2BFF3A44-E09A-9464-BFB0-878683DE36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3765" y="12336119"/>
            <a:ext cx="344966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1100">
                <a:latin typeface="Times New Roman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    </a:t>
            </a:r>
            <a:endParaRPr lang="en-US" altLang="zh-CN" sz="1800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18" name="Rectangle 21">
            <a:extLst>
              <a:ext uri="{FF2B5EF4-FFF2-40B4-BE49-F238E27FC236}">
                <a16:creationId xmlns:a16="http://schemas.microsoft.com/office/drawing/2014/main" id="{65FCB56F-B73E-952B-18B4-AE1D2ECC78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7735" y="14317319"/>
            <a:ext cx="377026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1100">
                <a:latin typeface="Times New Roman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en-US" altLang="zh-CN" sz="1100" i="1">
                <a:latin typeface="Times New Roman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endParaRPr lang="en-US" altLang="zh-CN" sz="1800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19" name="Rectangle 22">
            <a:extLst>
              <a:ext uri="{FF2B5EF4-FFF2-40B4-BE49-F238E27FC236}">
                <a16:creationId xmlns:a16="http://schemas.microsoft.com/office/drawing/2014/main" id="{E8006BBB-C852-DF42-DD43-574C72BFC5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2867" y="16402550"/>
            <a:ext cx="3866763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 sz="1100">
                <a:latin typeface="Times New Roman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（c）上侧布置               （d）下侧布置</a:t>
            </a:r>
          </a:p>
        </p:txBody>
      </p:sp>
      <p:sp>
        <p:nvSpPr>
          <p:cNvPr id="5" name="Content Placeholder 23">
            <a:extLst>
              <a:ext uri="{FF2B5EF4-FFF2-40B4-BE49-F238E27FC236}">
                <a16:creationId xmlns:a16="http://schemas.microsoft.com/office/drawing/2014/main" id="{EEC3F662-50D0-19BB-E64A-65591AA5C574}"/>
              </a:ext>
            </a:extLst>
          </p:cNvPr>
          <p:cNvSpPr txBox="1">
            <a:spLocks/>
          </p:cNvSpPr>
          <p:nvPr/>
        </p:nvSpPr>
        <p:spPr bwMode="auto">
          <a:xfrm>
            <a:off x="383463" y="922144"/>
            <a:ext cx="5712537" cy="37911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234950" indent="-23495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 pitchFamily="-111" charset="-128"/>
              </a:defRPr>
            </a:lvl1pPr>
            <a:lvl2pPr marL="576263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2pPr>
            <a:lvl3pPr marL="866775" indent="-176213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3pPr>
            <a:lvl4pPr marL="1196975" indent="-1635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4pPr>
            <a:lvl5pPr marL="1604963" indent="-176213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5pPr>
            <a:lvl6pPr marL="20621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6pPr>
            <a:lvl7pPr marL="25193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7pPr>
            <a:lvl8pPr marL="29765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8pPr>
            <a:lvl9pPr marL="34337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9pPr>
          </a:lstStyle>
          <a:p>
            <a:pPr marL="0" lvl="1" indent="0" algn="l">
              <a:spcBef>
                <a:spcPts val="1200"/>
              </a:spcBef>
              <a:spcAft>
                <a:spcPts val="1200"/>
              </a:spcAft>
              <a:buClrTx/>
              <a:buNone/>
              <a:defRPr>
                <a:latin typeface="Times New Roman"/>
                <a:ea typeface="SimSun"/>
                <a:cs typeface="Times New Roman"/>
              </a:defRPr>
            </a:pPr>
            <a:r>
              <a:rPr lang="en-HK" altLang="en-US" sz="1800" b="1" kern="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不同布置的轴向特性对比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C8C7525-E425-4A9F-0957-4B99D5839A8D}"/>
              </a:ext>
            </a:extLst>
          </p:cNvPr>
          <p:cNvSpPr txBox="1"/>
          <p:nvPr/>
        </p:nvSpPr>
        <p:spPr>
          <a:xfrm>
            <a:off x="683672" y="1292307"/>
            <a:ext cx="18653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sz="16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水膜形成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8CE52A0-D852-4BBC-AF1F-799FA7EBB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15884886-3D85-4AFD-9D94-33E4AF7428DD}" type="slidenum">
              <a:rPr lang="en-US" altLang="zh-CN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51</a:t>
            </a:fld>
            <a:endParaRPr lang="en-US" altLang="zh-CN">
              <a:latin typeface="Times New Roman"/>
              <a:ea typeface="SimSun"/>
              <a:cs typeface="Times New Roman"/>
            </a:endParaRPr>
          </a:p>
        </p:txBody>
      </p:sp>
      <p:pic>
        <p:nvPicPr>
          <p:cNvPr id="32775" name="图片 3">
            <a:extLst>
              <a:ext uri="{FF2B5EF4-FFF2-40B4-BE49-F238E27FC236}">
                <a16:creationId xmlns:a16="http://schemas.microsoft.com/office/drawing/2014/main" id="{4E1CEAB8-A03A-4C57-8E5F-F165DE46E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8294" y="1854334"/>
            <a:ext cx="403225" cy="246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74" name="图片 2">
            <a:extLst>
              <a:ext uri="{FF2B5EF4-FFF2-40B4-BE49-F238E27FC236}">
                <a16:creationId xmlns:a16="http://schemas.microsoft.com/office/drawing/2014/main" id="{2577F1F6-D5A0-449F-8C41-CBC505DDC7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8309" y="1860684"/>
            <a:ext cx="403225" cy="2454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8">
            <a:extLst>
              <a:ext uri="{FF2B5EF4-FFF2-40B4-BE49-F238E27FC236}">
                <a16:creationId xmlns:a16="http://schemas.microsoft.com/office/drawing/2014/main" id="{FEC9938E-47B8-49A4-9150-8065A6E117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latin typeface="Times New Roman"/>
              <a:ea typeface="SimSun"/>
              <a:cs typeface="Times New Roman"/>
            </a:endParaRPr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D3EADA22-C25F-4BD0-92BF-75F10BA68F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463" y="4457439"/>
            <a:ext cx="4149979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279400">
              <a:defRPr>
                <a:solidFill>
                  <a:schemeClr val="tx1"/>
                </a:solidFill>
                <a:latin typeface="Times New Roman" panose="020B0604020202020204" pitchFamily="34" charset="0"/>
                <a:ea typeface="SimSun"/>
                <a:cs typeface="Times New Roman"/>
              </a:defRPr>
            </a:lvl1pPr>
            <a:lvl2pPr>
              <a:defRPr>
                <a:solidFill>
                  <a:schemeClr val="tx1"/>
                </a:solidFill>
                <a:latin typeface="Times New Roman" panose="020B0604020202020204" pitchFamily="34" charset="0"/>
                <a:ea typeface="SimSun"/>
                <a:cs typeface="Times New Roman"/>
              </a:defRPr>
            </a:lvl2pPr>
            <a:lvl3pPr>
              <a:defRPr>
                <a:solidFill>
                  <a:schemeClr val="tx1"/>
                </a:solidFill>
                <a:latin typeface="Times New Roman" panose="020B0604020202020204" pitchFamily="34" charset="0"/>
                <a:ea typeface="SimSun"/>
                <a:cs typeface="Times New Roman"/>
              </a:defRPr>
            </a:lvl3pPr>
            <a:lvl4pPr>
              <a:defRPr>
                <a:solidFill>
                  <a:schemeClr val="tx1"/>
                </a:solidFill>
                <a:latin typeface="Times New Roman" panose="020B0604020202020204" pitchFamily="34" charset="0"/>
                <a:ea typeface="SimSun"/>
                <a:cs typeface="Times New Roman"/>
              </a:defRPr>
            </a:lvl4pPr>
            <a:lvl5pPr>
              <a:defRPr>
                <a:solidFill>
                  <a:schemeClr val="tx1"/>
                </a:solidFill>
                <a:latin typeface="Times New Roman" panose="020B0604020202020204" pitchFamily="34" charset="0"/>
                <a:ea typeface="SimSun"/>
                <a:cs typeface="Times New Roman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B0604020202020204" pitchFamily="34" charset="0"/>
                <a:ea typeface="SimSun"/>
                <a:cs typeface="Times New Roman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B0604020202020204" pitchFamily="34" charset="0"/>
                <a:ea typeface="SimSun"/>
                <a:cs typeface="Times New Roman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B0604020202020204" pitchFamily="34" charset="0"/>
                <a:ea typeface="SimSun"/>
                <a:cs typeface="Times New Roman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B0604020202020204" pitchFamily="34" charset="0"/>
                <a:ea typeface="SimSun"/>
                <a:cs typeface="Times New Roman"/>
              </a:defRPr>
            </a:lvl9pPr>
          </a:lstStyle>
          <a:p>
            <a:pPr marL="0" marR="0" lvl="0" indent="2794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（a）上侧布置    （b）下侧布置</a:t>
            </a:r>
          </a:p>
        </p:txBody>
      </p:sp>
      <p:pic>
        <p:nvPicPr>
          <p:cNvPr id="32781" name="图片 1019128321">
            <a:extLst>
              <a:ext uri="{FF2B5EF4-FFF2-40B4-BE49-F238E27FC236}">
                <a16:creationId xmlns:a16="http://schemas.microsoft.com/office/drawing/2014/main" id="{26D224AF-44E7-4E2A-956E-E3BEED4AC3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52" t="1244" r="10335" b="1295"/>
          <a:stretch>
            <a:fillRect/>
          </a:stretch>
        </p:blipFill>
        <p:spPr bwMode="auto">
          <a:xfrm>
            <a:off x="5350631" y="1852746"/>
            <a:ext cx="388938" cy="247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80" name="图片 1019128322">
            <a:extLst>
              <a:ext uri="{FF2B5EF4-FFF2-40B4-BE49-F238E27FC236}">
                <a16:creationId xmlns:a16="http://schemas.microsoft.com/office/drawing/2014/main" id="{F34280D5-CFAB-4786-9623-25DC1F41FD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83" t="1295" r="9802" b="1350"/>
          <a:stretch>
            <a:fillRect/>
          </a:stretch>
        </p:blipFill>
        <p:spPr bwMode="auto">
          <a:xfrm>
            <a:off x="5918966" y="1852746"/>
            <a:ext cx="388938" cy="2484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79" name="图片 1019128323">
            <a:extLst>
              <a:ext uri="{FF2B5EF4-FFF2-40B4-BE49-F238E27FC236}">
                <a16:creationId xmlns:a16="http://schemas.microsoft.com/office/drawing/2014/main" id="{D1AF116C-A7AA-4941-9E4B-A790AF4D4D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7301" y="2049126"/>
            <a:ext cx="892175" cy="2255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Rectangle 14">
            <a:extLst>
              <a:ext uri="{FF2B5EF4-FFF2-40B4-BE49-F238E27FC236}">
                <a16:creationId xmlns:a16="http://schemas.microsoft.com/office/drawing/2014/main" id="{B919B231-416D-46A9-A9D5-48B03CDB05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540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           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pic>
        <p:nvPicPr>
          <p:cNvPr id="32788" name="图片 1019128324">
            <a:extLst>
              <a:ext uri="{FF2B5EF4-FFF2-40B4-BE49-F238E27FC236}">
                <a16:creationId xmlns:a16="http://schemas.microsoft.com/office/drawing/2014/main" id="{00A43010-A7B9-4428-94A9-7F86D8B473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8920162" y="1874971"/>
            <a:ext cx="388938" cy="2454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87" name="图片 1019128325">
            <a:extLst>
              <a:ext uri="{FF2B5EF4-FFF2-40B4-BE49-F238E27FC236}">
                <a16:creationId xmlns:a16="http://schemas.microsoft.com/office/drawing/2014/main" id="{C7D73420-5F7F-4D04-B75D-B97B3F7079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9439334" y="1887523"/>
            <a:ext cx="388938" cy="246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86" name="图片 1019128326">
            <a:extLst>
              <a:ext uri="{FF2B5EF4-FFF2-40B4-BE49-F238E27FC236}">
                <a16:creationId xmlns:a16="http://schemas.microsoft.com/office/drawing/2014/main" id="{0A1392BF-0B62-4973-8737-7D9745D542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4365" y="2051594"/>
            <a:ext cx="823863" cy="22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7EC147A9-217C-4376-BD2B-C2C4E205D393}"/>
              </a:ext>
            </a:extLst>
          </p:cNvPr>
          <p:cNvSpPr/>
          <p:nvPr/>
        </p:nvSpPr>
        <p:spPr bwMode="auto">
          <a:xfrm>
            <a:off x="1195907" y="1705352"/>
            <a:ext cx="2737738" cy="3265451"/>
          </a:xfrm>
          <a:prstGeom prst="roundRect">
            <a:avLst/>
          </a:prstGeom>
          <a:noFill/>
          <a:ln>
            <a:solidFill>
              <a:srgbClr val="AF1E3B">
                <a:alpha val="50000"/>
              </a:srgbClr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Times New Roman" charset="0"/>
              <a:ea typeface="SimSun"/>
              <a:cs typeface="Times New Roman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91539BC0-C797-4DCF-A041-2DAB55C73F8D}"/>
              </a:ext>
            </a:extLst>
          </p:cNvPr>
          <p:cNvSpPr txBox="1"/>
          <p:nvPr/>
        </p:nvSpPr>
        <p:spPr>
          <a:xfrm>
            <a:off x="4145640" y="1301262"/>
            <a:ext cx="351865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sz="16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水蒸气浓度分布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C8ED595B-2F95-422C-8683-2C4A0B9FA15F}"/>
              </a:ext>
            </a:extLst>
          </p:cNvPr>
          <p:cNvSpPr txBox="1"/>
          <p:nvPr/>
        </p:nvSpPr>
        <p:spPr>
          <a:xfrm>
            <a:off x="7614860" y="1298386"/>
            <a:ext cx="302151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sz="16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温度分布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36D099DA-3C31-4C24-8C1F-9D03BA893B1A}"/>
              </a:ext>
            </a:extLst>
          </p:cNvPr>
          <p:cNvSpPr txBox="1"/>
          <p:nvPr/>
        </p:nvSpPr>
        <p:spPr>
          <a:xfrm>
            <a:off x="664564" y="5220429"/>
            <a:ext cx="3481076" cy="149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HK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水膜更加平滑、连续，扩散更充分。</a:t>
            </a:r>
          </a:p>
          <a:p>
            <a:pPr marL="285750" indent="-285750" algn="l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HK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重力分布不均导致液体聚集，水膜覆盖不完整。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D7A5FF66-7C65-405F-B8AF-C00D5C43656D}"/>
              </a:ext>
            </a:extLst>
          </p:cNvPr>
          <p:cNvSpPr txBox="1"/>
          <p:nvPr/>
        </p:nvSpPr>
        <p:spPr>
          <a:xfrm>
            <a:off x="8146034" y="5220429"/>
            <a:ext cx="3364475" cy="1231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HK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降温幅度更大。</a:t>
            </a:r>
          </a:p>
          <a:p>
            <a:pPr marL="285750" indent="-285750" algn="l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HK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温降与水蒸气浓度增加呈相同变化趋势。</a:t>
            </a:r>
          </a:p>
        </p:txBody>
      </p:sp>
      <p:sp>
        <p:nvSpPr>
          <p:cNvPr id="75" name="矩形: 圆角 74">
            <a:extLst>
              <a:ext uri="{FF2B5EF4-FFF2-40B4-BE49-F238E27FC236}">
                <a16:creationId xmlns:a16="http://schemas.microsoft.com/office/drawing/2014/main" id="{C77DBACA-4A7F-4C7A-9404-C77D41B272CD}"/>
              </a:ext>
            </a:extLst>
          </p:cNvPr>
          <p:cNvSpPr/>
          <p:nvPr/>
        </p:nvSpPr>
        <p:spPr bwMode="auto">
          <a:xfrm>
            <a:off x="4683154" y="1705352"/>
            <a:ext cx="2737738" cy="3265451"/>
          </a:xfrm>
          <a:prstGeom prst="roundRect">
            <a:avLst/>
          </a:prstGeom>
          <a:noFill/>
          <a:ln>
            <a:solidFill>
              <a:srgbClr val="AF1E3B">
                <a:alpha val="50000"/>
              </a:srgbClr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Times New Roman" charset="0"/>
              <a:ea typeface="SimSun"/>
              <a:cs typeface="Times New Roman"/>
            </a:endParaRPr>
          </a:p>
        </p:txBody>
      </p:sp>
      <p:sp>
        <p:nvSpPr>
          <p:cNvPr id="76" name="Rectangle 10">
            <a:extLst>
              <a:ext uri="{FF2B5EF4-FFF2-40B4-BE49-F238E27FC236}">
                <a16:creationId xmlns:a16="http://schemas.microsoft.com/office/drawing/2014/main" id="{66FFF9CA-BF16-443A-9901-26029A31E8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4579" y="4447443"/>
            <a:ext cx="4149979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279400">
              <a:defRPr>
                <a:solidFill>
                  <a:schemeClr val="tx1"/>
                </a:solidFill>
                <a:latin typeface="Times New Roman" panose="020B0604020202020204" pitchFamily="34" charset="0"/>
                <a:ea typeface="SimSun"/>
                <a:cs typeface="Times New Roman"/>
              </a:defRPr>
            </a:lvl1pPr>
            <a:lvl2pPr>
              <a:defRPr>
                <a:solidFill>
                  <a:schemeClr val="tx1"/>
                </a:solidFill>
                <a:latin typeface="Times New Roman" panose="020B0604020202020204" pitchFamily="34" charset="0"/>
                <a:ea typeface="SimSun"/>
                <a:cs typeface="Times New Roman"/>
              </a:defRPr>
            </a:lvl2pPr>
            <a:lvl3pPr>
              <a:defRPr>
                <a:solidFill>
                  <a:schemeClr val="tx1"/>
                </a:solidFill>
                <a:latin typeface="Times New Roman" panose="020B0604020202020204" pitchFamily="34" charset="0"/>
                <a:ea typeface="SimSun"/>
                <a:cs typeface="Times New Roman"/>
              </a:defRPr>
            </a:lvl3pPr>
            <a:lvl4pPr>
              <a:defRPr>
                <a:solidFill>
                  <a:schemeClr val="tx1"/>
                </a:solidFill>
                <a:latin typeface="Times New Roman" panose="020B0604020202020204" pitchFamily="34" charset="0"/>
                <a:ea typeface="SimSun"/>
                <a:cs typeface="Times New Roman"/>
              </a:defRPr>
            </a:lvl4pPr>
            <a:lvl5pPr>
              <a:defRPr>
                <a:solidFill>
                  <a:schemeClr val="tx1"/>
                </a:solidFill>
                <a:latin typeface="Times New Roman" panose="020B0604020202020204" pitchFamily="34" charset="0"/>
                <a:ea typeface="SimSun"/>
                <a:cs typeface="Times New Roman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B0604020202020204" pitchFamily="34" charset="0"/>
                <a:ea typeface="SimSun"/>
                <a:cs typeface="Times New Roman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B0604020202020204" pitchFamily="34" charset="0"/>
                <a:ea typeface="SimSun"/>
                <a:cs typeface="Times New Roman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B0604020202020204" pitchFamily="34" charset="0"/>
                <a:ea typeface="SimSun"/>
                <a:cs typeface="Times New Roman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B0604020202020204" pitchFamily="34" charset="0"/>
                <a:ea typeface="SimSun"/>
                <a:cs typeface="Times New Roman"/>
              </a:defRPr>
            </a:lvl9pPr>
          </a:lstStyle>
          <a:p>
            <a:pPr marL="0" marR="0" lvl="0" indent="2794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（a）上侧布置    （b）下侧布置</a:t>
            </a:r>
          </a:p>
        </p:txBody>
      </p:sp>
      <p:sp>
        <p:nvSpPr>
          <p:cNvPr id="77" name="矩形: 圆角 76">
            <a:extLst>
              <a:ext uri="{FF2B5EF4-FFF2-40B4-BE49-F238E27FC236}">
                <a16:creationId xmlns:a16="http://schemas.microsoft.com/office/drawing/2014/main" id="{4A8C5921-FDC4-4B78-91E9-C32B4C77DA4F}"/>
              </a:ext>
            </a:extLst>
          </p:cNvPr>
          <p:cNvSpPr/>
          <p:nvPr/>
        </p:nvSpPr>
        <p:spPr bwMode="auto">
          <a:xfrm>
            <a:off x="8240174" y="1690094"/>
            <a:ext cx="2737738" cy="3265451"/>
          </a:xfrm>
          <a:prstGeom prst="roundRect">
            <a:avLst/>
          </a:prstGeom>
          <a:noFill/>
          <a:ln>
            <a:solidFill>
              <a:srgbClr val="AF1E3B">
                <a:alpha val="50000"/>
              </a:srgbClr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Times New Roman" charset="0"/>
              <a:ea typeface="SimSun"/>
              <a:cs typeface="Times New Roman"/>
            </a:endParaRPr>
          </a:p>
        </p:txBody>
      </p:sp>
      <p:sp>
        <p:nvSpPr>
          <p:cNvPr id="78" name="Rectangle 10">
            <a:extLst>
              <a:ext uri="{FF2B5EF4-FFF2-40B4-BE49-F238E27FC236}">
                <a16:creationId xmlns:a16="http://schemas.microsoft.com/office/drawing/2014/main" id="{ECE3E36B-9730-4908-B11D-232D823BF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4344" y="4435650"/>
            <a:ext cx="4149979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279400">
              <a:defRPr>
                <a:solidFill>
                  <a:schemeClr val="tx1"/>
                </a:solidFill>
                <a:latin typeface="Times New Roman" panose="020B0604020202020204" pitchFamily="34" charset="0"/>
                <a:ea typeface="SimSun"/>
                <a:cs typeface="Times New Roman"/>
              </a:defRPr>
            </a:lvl1pPr>
            <a:lvl2pPr>
              <a:defRPr>
                <a:solidFill>
                  <a:schemeClr val="tx1"/>
                </a:solidFill>
                <a:latin typeface="Times New Roman" panose="020B0604020202020204" pitchFamily="34" charset="0"/>
                <a:ea typeface="SimSun"/>
                <a:cs typeface="Times New Roman"/>
              </a:defRPr>
            </a:lvl2pPr>
            <a:lvl3pPr>
              <a:defRPr>
                <a:solidFill>
                  <a:schemeClr val="tx1"/>
                </a:solidFill>
                <a:latin typeface="Times New Roman" panose="020B0604020202020204" pitchFamily="34" charset="0"/>
                <a:ea typeface="SimSun"/>
                <a:cs typeface="Times New Roman"/>
              </a:defRPr>
            </a:lvl3pPr>
            <a:lvl4pPr>
              <a:defRPr>
                <a:solidFill>
                  <a:schemeClr val="tx1"/>
                </a:solidFill>
                <a:latin typeface="Times New Roman" panose="020B0604020202020204" pitchFamily="34" charset="0"/>
                <a:ea typeface="SimSun"/>
                <a:cs typeface="Times New Roman"/>
              </a:defRPr>
            </a:lvl4pPr>
            <a:lvl5pPr>
              <a:defRPr>
                <a:solidFill>
                  <a:schemeClr val="tx1"/>
                </a:solidFill>
                <a:latin typeface="Times New Roman" panose="020B0604020202020204" pitchFamily="34" charset="0"/>
                <a:ea typeface="SimSun"/>
                <a:cs typeface="Times New Roman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B0604020202020204" pitchFamily="34" charset="0"/>
                <a:ea typeface="SimSun"/>
                <a:cs typeface="Times New Roman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B0604020202020204" pitchFamily="34" charset="0"/>
                <a:ea typeface="SimSun"/>
                <a:cs typeface="Times New Roman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B0604020202020204" pitchFamily="34" charset="0"/>
                <a:ea typeface="SimSun"/>
                <a:cs typeface="Times New Roman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B0604020202020204" pitchFamily="34" charset="0"/>
                <a:ea typeface="SimSun"/>
                <a:cs typeface="Times New Roman"/>
              </a:defRPr>
            </a:lvl9pPr>
          </a:lstStyle>
          <a:p>
            <a:pPr marL="0" marR="0" lvl="0" indent="2794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（a）上侧布置    （b）下侧布置</a:t>
            </a: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DDBB30D2-0C98-4E78-9C08-19036B22342E}"/>
              </a:ext>
            </a:extLst>
          </p:cNvPr>
          <p:cNvSpPr txBox="1"/>
          <p:nvPr/>
        </p:nvSpPr>
        <p:spPr>
          <a:xfrm>
            <a:off x="4424317" y="5208499"/>
            <a:ext cx="3296686" cy="1231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HK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水蒸气浓度明显更高。</a:t>
            </a:r>
          </a:p>
          <a:p>
            <a:pPr marL="285750" indent="-285750" algn="l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HK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水膜向气流传递的水分更多。</a:t>
            </a:r>
          </a:p>
        </p:txBody>
      </p:sp>
      <p:sp>
        <p:nvSpPr>
          <p:cNvPr id="35" name="矩形 3">
            <a:extLst>
              <a:ext uri="{FF2B5EF4-FFF2-40B4-BE49-F238E27FC236}">
                <a16:creationId xmlns:a16="http://schemas.microsoft.com/office/drawing/2014/main" id="{1BFE6F6A-8988-45C0-89E7-B3CCAD0E03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441" y="163095"/>
            <a:ext cx="393576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1pPr>
            <a:lvl2pPr marL="323850" indent="-358775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9pPr>
          </a:lstStyle>
          <a:p>
            <a:pPr lvl="1" algn="l" eaLnBrk="1" hangingPunct="1">
              <a:spcBef>
                <a:spcPts val="2400"/>
              </a:spcBef>
              <a:buClr>
                <a:srgbClr val="0099FF"/>
              </a:buClr>
            </a:pPr>
            <a:r>
              <a:rPr lang="en-US" altLang="zh-CN" sz="2800" b="1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附录</a:t>
            </a:r>
          </a:p>
        </p:txBody>
      </p:sp>
    </p:spTree>
    <p:extLst>
      <p:ext uri="{BB962C8B-B14F-4D97-AF65-F5344CB8AC3E}">
        <p14:creationId xmlns:p14="http://schemas.microsoft.com/office/powerpoint/2010/main" val="3971848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33"/>
    </mc:Choice>
    <mc:Fallback xmlns="">
      <p:transition spd="slow" advTm="5933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E47B88EA-F4F3-B3C2-BF2D-E7FF5F546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232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>
              <a:latin typeface="Times New Roman"/>
              <a:ea typeface="SimSun"/>
              <a:cs typeface="Times New Roman"/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9591E8A8-4CAD-45AF-EB7D-DB21CF6852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232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>
              <a:latin typeface="Times New Roman"/>
              <a:ea typeface="SimSun"/>
              <a:cs typeface="Times New Roman"/>
            </a:endParaRP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C8C92458-B04A-08B5-453C-ED3BC9E702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3517" y="6727195"/>
            <a:ext cx="344966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1100">
                <a:latin typeface="Times New Roman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    </a:t>
            </a:r>
            <a:endParaRPr lang="en-US" altLang="zh-CN" sz="1800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15" name="Rectangle 18">
            <a:extLst>
              <a:ext uri="{FF2B5EF4-FFF2-40B4-BE49-F238E27FC236}">
                <a16:creationId xmlns:a16="http://schemas.microsoft.com/office/drawing/2014/main" id="{BC658CD1-871B-0AF6-8CB0-4FCB617027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1855" y="7964144"/>
            <a:ext cx="248786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1100" i="1">
                <a:latin typeface="Times New Roman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 </a:t>
            </a:r>
            <a:endParaRPr lang="en-US" altLang="zh-CN" sz="1800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17" name="Rectangle 20">
            <a:extLst>
              <a:ext uri="{FF2B5EF4-FFF2-40B4-BE49-F238E27FC236}">
                <a16:creationId xmlns:a16="http://schemas.microsoft.com/office/drawing/2014/main" id="{2BFF3A44-E09A-9464-BFB0-878683DE36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3765" y="12336119"/>
            <a:ext cx="344966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1100">
                <a:latin typeface="Times New Roman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    </a:t>
            </a:r>
            <a:endParaRPr lang="en-US" altLang="zh-CN" sz="1800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18" name="Rectangle 21">
            <a:extLst>
              <a:ext uri="{FF2B5EF4-FFF2-40B4-BE49-F238E27FC236}">
                <a16:creationId xmlns:a16="http://schemas.microsoft.com/office/drawing/2014/main" id="{65FCB56F-B73E-952B-18B4-AE1D2ECC78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7735" y="14317319"/>
            <a:ext cx="377026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1100">
                <a:latin typeface="Times New Roman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en-US" altLang="zh-CN" sz="1100" i="1">
                <a:latin typeface="Times New Roman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endParaRPr lang="en-US" altLang="zh-CN" sz="1800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19" name="Rectangle 22">
            <a:extLst>
              <a:ext uri="{FF2B5EF4-FFF2-40B4-BE49-F238E27FC236}">
                <a16:creationId xmlns:a16="http://schemas.microsoft.com/office/drawing/2014/main" id="{E8006BBB-C852-DF42-DD43-574C72BFC5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2867" y="16402550"/>
            <a:ext cx="3866763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 sz="1100">
                <a:latin typeface="Times New Roman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（c）上侧布置               （d）下侧布置</a:t>
            </a:r>
          </a:p>
        </p:txBody>
      </p:sp>
      <p:sp>
        <p:nvSpPr>
          <p:cNvPr id="5" name="Content Placeholder 23">
            <a:extLst>
              <a:ext uri="{FF2B5EF4-FFF2-40B4-BE49-F238E27FC236}">
                <a16:creationId xmlns:a16="http://schemas.microsoft.com/office/drawing/2014/main" id="{EEC3F662-50D0-19BB-E64A-65591AA5C574}"/>
              </a:ext>
            </a:extLst>
          </p:cNvPr>
          <p:cNvSpPr txBox="1">
            <a:spLocks/>
          </p:cNvSpPr>
          <p:nvPr/>
        </p:nvSpPr>
        <p:spPr bwMode="auto">
          <a:xfrm>
            <a:off x="388998" y="945844"/>
            <a:ext cx="4490331" cy="37911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234950" indent="-23495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 pitchFamily="-111" charset="-128"/>
              </a:defRPr>
            </a:lvl1pPr>
            <a:lvl2pPr marL="576263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2pPr>
            <a:lvl3pPr marL="866775" indent="-176213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3pPr>
            <a:lvl4pPr marL="1196975" indent="-1635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4pPr>
            <a:lvl5pPr marL="1604963" indent="-176213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5pPr>
            <a:lvl6pPr marL="20621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6pPr>
            <a:lvl7pPr marL="25193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7pPr>
            <a:lvl8pPr marL="29765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8pPr>
            <a:lvl9pPr marL="34337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9pPr>
          </a:lstStyle>
          <a:p>
            <a:pPr marL="285750" lvl="1" indent="-285750" algn="l">
              <a:spcBef>
                <a:spcPts val="1200"/>
              </a:spcBef>
              <a:spcAft>
                <a:spcPts val="1200"/>
              </a:spcAft>
              <a:buClrTx/>
              <a:buFont typeface="Wingdings" panose="05000000000000000000" pitchFamily="2" charset="2"/>
              <a:buChar char="Ø"/>
              <a:defRPr>
                <a:latin typeface="Times New Roman"/>
                <a:ea typeface="SimSun"/>
                <a:cs typeface="Times New Roman"/>
              </a:defRPr>
            </a:pPr>
            <a:r>
              <a:rPr lang="en-US" altLang="en-US" sz="1800" b="1" kern="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四种布置方案的性能差异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6E5958E-E7A8-8206-F4C3-2DB88B2C8BC3}"/>
              </a:ext>
            </a:extLst>
          </p:cNvPr>
          <p:cNvSpPr txBox="1"/>
          <p:nvPr/>
        </p:nvSpPr>
        <p:spPr>
          <a:xfrm>
            <a:off x="3371682" y="5024765"/>
            <a:ext cx="4895850" cy="280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altLang="zh-CN" sz="12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Fig. 8.5 </a:t>
            </a:r>
            <a:r>
              <a:rPr lang="en-US" altLang="zh-CN" sz="12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The coverage ratio and outlet temperature of four configurations</a:t>
            </a:r>
            <a:endParaRPr lang="zh-CN" altLang="zh-CN" sz="1200" dirty="0">
              <a:latin typeface="Times New Roman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A6E6B83-037F-337A-2F2C-BA728907C8FA}"/>
              </a:ext>
            </a:extLst>
          </p:cNvPr>
          <p:cNvSpPr txBox="1"/>
          <p:nvPr/>
        </p:nvSpPr>
        <p:spPr>
          <a:xfrm>
            <a:off x="1891380" y="5437664"/>
            <a:ext cx="8754206" cy="967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温降与水膜覆盖系数呈相同变化趋势。</a:t>
            </a:r>
          </a:p>
          <a:p>
            <a:pPr marL="285750" indent="-285750" algn="l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上侧布置的效果最佳；与最差方案相比，两项性能指标分别提升 </a:t>
            </a:r>
            <a:r>
              <a:rPr lang="en-US" altLang="zh-CN" sz="1600" dirty="0" b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59.2%</a:t>
            </a:r>
            <a:r>
              <a:rPr lang="en-US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和 </a:t>
            </a:r>
            <a:r>
              <a:rPr lang="en-US" altLang="zh-CN" sz="1600" dirty="0" b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27.4%</a:t>
            </a:r>
            <a:r>
              <a:rPr lang="en-US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E9AB80-94C7-4782-9A17-1570D2B4D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15884886-3D85-4AFD-9D94-33E4AF7428DD}" type="slidenum">
              <a:rPr lang="en-US" altLang="zh-CN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52</a:t>
            </a:fld>
            <a:endParaRPr lang="en-US" altLang="zh-CN">
              <a:latin typeface="Times New Roman"/>
              <a:ea typeface="SimSun"/>
              <a:cs typeface="Times New Roman"/>
            </a:endParaRPr>
          </a:p>
        </p:txBody>
      </p:sp>
      <p:sp>
        <p:nvSpPr>
          <p:cNvPr id="11" name="Rectangle 223">
            <a:extLst>
              <a:ext uri="{FF2B5EF4-FFF2-40B4-BE49-F238E27FC236}">
                <a16:creationId xmlns:a16="http://schemas.microsoft.com/office/drawing/2014/main" id="{00D7A72C-B310-4C20-AAD3-3A2C842E38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1855" y="312930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latin typeface="Times New Roman"/>
              <a:ea typeface="SimSun"/>
              <a:cs typeface="Times New Roman"/>
            </a:endParaRP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A0558D33-4505-4D7C-801F-DDEC2DE4CC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12064" y="1485357"/>
          <a:ext cx="4895851" cy="36856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6662246" imgH="5004486" progId="Origin95.Graph">
                  <p:embed/>
                </p:oleObj>
              </mc:Choice>
              <mc:Fallback>
                <p:oleObj name="Graph" r:id="rId3" imgW="6662246" imgH="5004486" progId="Origin95.Graph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A0558D33-4505-4D7C-801F-DDEC2DE4CC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2064" y="1485357"/>
                        <a:ext cx="4895851" cy="368564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矩形 3">
            <a:extLst>
              <a:ext uri="{FF2B5EF4-FFF2-40B4-BE49-F238E27FC236}">
                <a16:creationId xmlns:a16="http://schemas.microsoft.com/office/drawing/2014/main" id="{34CB1C1B-84EC-490A-8EAD-C1DF75371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441" y="163095"/>
            <a:ext cx="393576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1pPr>
            <a:lvl2pPr marL="323850" indent="-358775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9pPr>
          </a:lstStyle>
          <a:p>
            <a:pPr lvl="1" algn="l" eaLnBrk="1" hangingPunct="1">
              <a:spcBef>
                <a:spcPts val="2400"/>
              </a:spcBef>
              <a:buClr>
                <a:srgbClr val="0099FF"/>
              </a:buClr>
            </a:pPr>
            <a:r>
              <a:rPr lang="en-US" altLang="zh-CN" sz="2800" b="1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附录</a:t>
            </a:r>
          </a:p>
        </p:txBody>
      </p:sp>
    </p:spTree>
    <p:extLst>
      <p:ext uri="{BB962C8B-B14F-4D97-AF65-F5344CB8AC3E}">
        <p14:creationId xmlns:p14="http://schemas.microsoft.com/office/powerpoint/2010/main" val="3204420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33"/>
    </mc:Choice>
    <mc:Fallback xmlns="">
      <p:transition spd="slow" advTm="5933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E47B88EA-F4F3-B3C2-BF2D-E7FF5F546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232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 dirty="0">
              <a:latin typeface="Times New Roman"/>
              <a:ea typeface="SimSun"/>
              <a:cs typeface="Times New Roman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4D3BD20E-6F9F-B7C8-61C3-26038124BD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1666" y="2279264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>
              <a:latin typeface="Times New Roman"/>
              <a:ea typeface="SimSun"/>
              <a:cs typeface="Times New Roman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944ADA9-E4DB-BAC5-2E46-A5A8D1CB4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9547" y="2307595"/>
            <a:ext cx="312906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1100">
                <a:latin typeface="Times New Roman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   </a:t>
            </a:r>
            <a:endParaRPr lang="en-US" altLang="zh-CN" sz="1800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14" name="Rectangle 17">
            <a:extLst>
              <a:ext uri="{FF2B5EF4-FFF2-40B4-BE49-F238E27FC236}">
                <a16:creationId xmlns:a16="http://schemas.microsoft.com/office/drawing/2014/main" id="{B6814F37-8742-0A4B-35F4-435FCCA16C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9004" y="5767219"/>
            <a:ext cx="344966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1100">
                <a:latin typeface="Times New Roman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    </a:t>
            </a:r>
            <a:endParaRPr lang="en-US" altLang="zh-CN" sz="1800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15" name="Rectangle 18">
            <a:extLst>
              <a:ext uri="{FF2B5EF4-FFF2-40B4-BE49-F238E27FC236}">
                <a16:creationId xmlns:a16="http://schemas.microsoft.com/office/drawing/2014/main" id="{BC658CD1-871B-0AF6-8CB0-4FCB617027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1855" y="7964144"/>
            <a:ext cx="248786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1100" i="1">
                <a:latin typeface="Times New Roman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 </a:t>
            </a:r>
            <a:endParaRPr lang="en-US" altLang="zh-CN" sz="1800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17" name="Rectangle 20">
            <a:extLst>
              <a:ext uri="{FF2B5EF4-FFF2-40B4-BE49-F238E27FC236}">
                <a16:creationId xmlns:a16="http://schemas.microsoft.com/office/drawing/2014/main" id="{2BFF3A44-E09A-9464-BFB0-878683DE36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3765" y="12336119"/>
            <a:ext cx="344966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1100">
                <a:latin typeface="Times New Roman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    </a:t>
            </a:r>
            <a:endParaRPr lang="en-US" altLang="zh-CN" sz="1800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18" name="Rectangle 21">
            <a:extLst>
              <a:ext uri="{FF2B5EF4-FFF2-40B4-BE49-F238E27FC236}">
                <a16:creationId xmlns:a16="http://schemas.microsoft.com/office/drawing/2014/main" id="{65FCB56F-B73E-952B-18B4-AE1D2ECC78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7735" y="14317319"/>
            <a:ext cx="377026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1100">
                <a:latin typeface="Times New Roman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en-US" altLang="zh-CN" sz="1100" i="1">
                <a:latin typeface="Times New Roman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endParaRPr lang="en-US" altLang="zh-CN" sz="1800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19" name="Rectangle 22">
            <a:extLst>
              <a:ext uri="{FF2B5EF4-FFF2-40B4-BE49-F238E27FC236}">
                <a16:creationId xmlns:a16="http://schemas.microsoft.com/office/drawing/2014/main" id="{E8006BBB-C852-DF42-DD43-574C72BFC5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2867" y="16402550"/>
            <a:ext cx="3866763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 sz="1100">
                <a:latin typeface="Times New Roman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（c）上侧布置               （d）下侧布置</a:t>
            </a:r>
          </a:p>
        </p:txBody>
      </p:sp>
      <p:pic>
        <p:nvPicPr>
          <p:cNvPr id="12294" name="图片 28">
            <a:extLst>
              <a:ext uri="{FF2B5EF4-FFF2-40B4-BE49-F238E27FC236}">
                <a16:creationId xmlns:a16="http://schemas.microsoft.com/office/drawing/2014/main" id="{44D582F8-18F3-4DEC-0F26-A67449609C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099" y="4679707"/>
            <a:ext cx="1971675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3" name="图片 19">
            <a:extLst>
              <a:ext uri="{FF2B5EF4-FFF2-40B4-BE49-F238E27FC236}">
                <a16:creationId xmlns:a16="http://schemas.microsoft.com/office/drawing/2014/main" id="{55A18780-3657-33A9-3010-C344F3D9E6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5183" y="4699175"/>
            <a:ext cx="2005013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Rectangle 8">
            <a:extLst>
              <a:ext uri="{FF2B5EF4-FFF2-40B4-BE49-F238E27FC236}">
                <a16:creationId xmlns:a16="http://schemas.microsoft.com/office/drawing/2014/main" id="{039425B3-1176-DAEB-7DA4-C74998040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9547" y="2307595"/>
            <a:ext cx="312906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1100">
                <a:latin typeface="Times New Roman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   </a:t>
            </a:r>
            <a:endParaRPr lang="en-US" altLang="zh-CN" sz="1800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pic>
        <p:nvPicPr>
          <p:cNvPr id="12301" name="图片 16">
            <a:extLst>
              <a:ext uri="{FF2B5EF4-FFF2-40B4-BE49-F238E27FC236}">
                <a16:creationId xmlns:a16="http://schemas.microsoft.com/office/drawing/2014/main" id="{B787976E-0295-D959-6756-4C54785DD7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1240" y="4681814"/>
            <a:ext cx="1990725" cy="1976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00" name="图片 10">
            <a:extLst>
              <a:ext uri="{FF2B5EF4-FFF2-40B4-BE49-F238E27FC236}">
                <a16:creationId xmlns:a16="http://schemas.microsoft.com/office/drawing/2014/main" id="{22E7B2F8-133F-7230-6BA2-4AC6104C30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7215" y="4699175"/>
            <a:ext cx="1995488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Rectangle 14">
            <a:extLst>
              <a:ext uri="{FF2B5EF4-FFF2-40B4-BE49-F238E27FC236}">
                <a16:creationId xmlns:a16="http://schemas.microsoft.com/office/drawing/2014/main" id="{EBCCB8FA-719F-CE4B-F3AA-02975446B6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0583" y="242501"/>
            <a:ext cx="91563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12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                 </a:t>
            </a:r>
            <a:endParaRPr lang="en-US" altLang="zh-CN" sz="1800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30" name="Rectangle 20">
            <a:extLst>
              <a:ext uri="{FF2B5EF4-FFF2-40B4-BE49-F238E27FC236}">
                <a16:creationId xmlns:a16="http://schemas.microsoft.com/office/drawing/2014/main" id="{E25C9383-1457-16FB-D187-1745D52A2B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9772" y="1074094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>
              <a:latin typeface="Times New Roman"/>
              <a:ea typeface="SimSun"/>
              <a:cs typeface="Times New Roman"/>
            </a:endParaRP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1F590254-124A-054D-2EAD-9E3BDB1948C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937" y="1724473"/>
            <a:ext cx="1699717" cy="2880000"/>
          </a:xfrm>
          <a:prstGeom prst="rect">
            <a:avLst/>
          </a:prstGeom>
        </p:spPr>
      </p:pic>
      <p:sp>
        <p:nvSpPr>
          <p:cNvPr id="33" name="Content Placeholder 23">
            <a:extLst>
              <a:ext uri="{FF2B5EF4-FFF2-40B4-BE49-F238E27FC236}">
                <a16:creationId xmlns:a16="http://schemas.microsoft.com/office/drawing/2014/main" id="{120A189C-F83B-24CC-1955-EEEA7ADF6B77}"/>
              </a:ext>
            </a:extLst>
          </p:cNvPr>
          <p:cNvSpPr txBox="1">
            <a:spLocks/>
          </p:cNvSpPr>
          <p:nvPr/>
        </p:nvSpPr>
        <p:spPr bwMode="auto">
          <a:xfrm>
            <a:off x="350383" y="906684"/>
            <a:ext cx="6568348" cy="37911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234950" indent="-23495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 pitchFamily="-111" charset="-128"/>
              </a:defRPr>
            </a:lvl1pPr>
            <a:lvl2pPr marL="576263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2pPr>
            <a:lvl3pPr marL="866775" indent="-176213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3pPr>
            <a:lvl4pPr marL="1196975" indent="-1635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4pPr>
            <a:lvl5pPr marL="1604963" indent="-176213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5pPr>
            <a:lvl6pPr marL="20621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6pPr>
            <a:lvl7pPr marL="25193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7pPr>
            <a:lvl8pPr marL="29765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8pPr>
            <a:lvl9pPr marL="34337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9pPr>
          </a:lstStyle>
          <a:p>
            <a:pPr marL="0" lvl="1" indent="0" algn="l">
              <a:spcBef>
                <a:spcPts val="1200"/>
              </a:spcBef>
              <a:spcAft>
                <a:spcPts val="1200"/>
              </a:spcAft>
              <a:buClrTx/>
              <a:buNone/>
              <a:defRPr>
                <a:latin typeface="Times New Roman"/>
                <a:ea typeface="SimSun"/>
                <a:cs typeface="Times New Roman"/>
              </a:defRPr>
            </a:pPr>
            <a:r>
              <a:rPr lang="en-US" altLang="en-US" sz="1800" b="1" kern="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6.4</a:t>
            </a:r>
            <a:r>
              <a:rPr lang="en-US" altLang="en-US" sz="1800" b="1" kern="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制冷性能强化措施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B54303A-CEA9-54E3-7C6C-6E4C19CB6349}"/>
              </a:ext>
            </a:extLst>
          </p:cNvPr>
          <p:cNvSpPr txBox="1"/>
          <p:nvPr/>
        </p:nvSpPr>
        <p:spPr>
          <a:xfrm>
            <a:off x="418910" y="1310895"/>
            <a:ext cx="552063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sz="16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亲水涂层（环氧涂层—亲水漆）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B141EB2-BE23-5665-A1D8-CB4399D6F961}"/>
              </a:ext>
            </a:extLst>
          </p:cNvPr>
          <p:cNvSpPr txBox="1"/>
          <p:nvPr/>
        </p:nvSpPr>
        <p:spPr>
          <a:xfrm>
            <a:off x="6159499" y="1338301"/>
            <a:ext cx="498124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sz="16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纤维涂层（</a:t>
            </a:r>
            <a:r>
              <a:rPr lang="en-US" altLang="zh-CN" sz="16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70%</a:t>
            </a:r>
            <a:r>
              <a:rPr lang="en-US" altLang="zh-CN" sz="16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人造丝 + </a:t>
            </a:r>
            <a:r>
              <a:rPr lang="en-US" altLang="zh-CN" sz="16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30%</a:t>
            </a:r>
            <a:r>
              <a:rPr lang="en-US" altLang="zh-CN" sz="16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聚酯纤维）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F6F6F8B-EB72-3852-61D0-0C80928DC14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401" y="1767490"/>
            <a:ext cx="3658617" cy="2880000"/>
          </a:xfrm>
          <a:prstGeom prst="rect">
            <a:avLst/>
          </a:prstGeom>
        </p:spPr>
      </p:pic>
      <p:sp>
        <p:nvSpPr>
          <p:cNvPr id="37" name="文本框 36">
            <a:extLst>
              <a:ext uri="{FF2B5EF4-FFF2-40B4-BE49-F238E27FC236}">
                <a16:creationId xmlns:a16="http://schemas.microsoft.com/office/drawing/2014/main" id="{7449E9A1-15F7-7570-0F4E-0C7E61E37CDE}"/>
              </a:ext>
            </a:extLst>
          </p:cNvPr>
          <p:cNvSpPr txBox="1"/>
          <p:nvPr/>
        </p:nvSpPr>
        <p:spPr>
          <a:xfrm>
            <a:off x="4394478" y="3383568"/>
            <a:ext cx="11740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57.8°</a:t>
            </a:r>
            <a:endParaRPr lang="zh-CN" altLang="en-US" sz="2000" dirty="0">
              <a:latin typeface="Times New Roman"/>
              <a:ea typeface="SimSun"/>
              <a:cs typeface="Times New Roman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B76911C3-9765-E347-726E-21D654A39527}"/>
              </a:ext>
            </a:extLst>
          </p:cNvPr>
          <p:cNvSpPr txBox="1"/>
          <p:nvPr/>
        </p:nvSpPr>
        <p:spPr>
          <a:xfrm>
            <a:off x="4393627" y="2413145"/>
            <a:ext cx="11740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77.8°</a:t>
            </a:r>
            <a:endParaRPr lang="zh-CN" altLang="en-US" sz="2000" dirty="0">
              <a:latin typeface="Times New Roman"/>
              <a:ea typeface="SimSun"/>
              <a:cs typeface="Times New Roman"/>
            </a:endParaRPr>
          </a:p>
        </p:txBody>
      </p:sp>
      <p:sp>
        <p:nvSpPr>
          <p:cNvPr id="39" name="箭头: 上 38">
            <a:extLst>
              <a:ext uri="{FF2B5EF4-FFF2-40B4-BE49-F238E27FC236}">
                <a16:creationId xmlns:a16="http://schemas.microsoft.com/office/drawing/2014/main" id="{FD2E61FC-80EB-D29D-1E6D-E4A1B5127912}"/>
              </a:ext>
            </a:extLst>
          </p:cNvPr>
          <p:cNvSpPr/>
          <p:nvPr/>
        </p:nvSpPr>
        <p:spPr bwMode="auto">
          <a:xfrm rot="10800000">
            <a:off x="4640139" y="2813255"/>
            <a:ext cx="168800" cy="545219"/>
          </a:xfrm>
          <a:prstGeom prst="upArrow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endParaRPr lang="zh-CN" altLang="en-US" sz="3200">
              <a:solidFill>
                <a:schemeClr val="bg2"/>
              </a:solidFill>
              <a:latin typeface="Times New Roman" charset="0"/>
              <a:ea typeface="SimSun"/>
              <a:cs typeface="Times New Roman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F3C7B98F-7DCA-1477-5CAC-21E7AAAB40E1}"/>
              </a:ext>
            </a:extLst>
          </p:cNvPr>
          <p:cNvSpPr txBox="1"/>
          <p:nvPr/>
        </p:nvSpPr>
        <p:spPr>
          <a:xfrm>
            <a:off x="4041547" y="1820942"/>
            <a:ext cx="16225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接触角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1F21BD32-7354-E7D0-3786-180D65BF865D}"/>
              </a:ext>
            </a:extLst>
          </p:cNvPr>
          <p:cNvSpPr txBox="1"/>
          <p:nvPr/>
        </p:nvSpPr>
        <p:spPr>
          <a:xfrm>
            <a:off x="10108631" y="1833227"/>
            <a:ext cx="16225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接触角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2F6D8629-5047-366A-F737-676469A2D7C9}"/>
                  </a:ext>
                </a:extLst>
              </p:cNvPr>
              <p:cNvSpPr txBox="1"/>
              <p:nvPr/>
            </p:nvSpPr>
            <p:spPr>
              <a:xfrm>
                <a:off x="10442704" y="2146979"/>
                <a:ext cx="32220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zh-CN" altLang="en-US" i="1">
                          <a:latin typeface="Times New Roman" panose="02040503050406030204" pitchFamily="18" charset="0"/>
                          <a:ea typeface="SimSun"/>
                          <a:cs typeface="Times New Roman"/>
                        </a:rPr>
                        <m:t>≈</m:t>
                      </m:r>
                    </m:oMath>
                  </m:oMathPara>
                </a14:m>
                <a:endParaRPr lang="zh-CN" altLang="en-US" dirty="0">
                  <a:latin typeface="Times New Roman"/>
                  <a:ea typeface="SimSun"/>
                  <a:cs typeface="Times New Roman"/>
                </a:endParaRPr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2F6D8629-5047-366A-F737-676469A2D7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2704" y="2146979"/>
                <a:ext cx="322203" cy="369332"/>
              </a:xfrm>
              <a:prstGeom prst="rect">
                <a:avLst/>
              </a:prstGeom>
              <a:blipFill>
                <a:blip r:embed="rId9"/>
                <a:stretch>
                  <a:fillRect l="-5660" r="-7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  <a:latin typeface="Times New Roman"/>
                    <a:ea typeface="SimSun"/>
                    <a:cs typeface="Times New Roman"/>
                  </a:rPr>
                  <a:t> </a:t>
                </a:r>
              </a:p>
            </p:txBody>
          </p:sp>
        </mc:Fallback>
      </mc:AlternateContent>
      <p:sp>
        <p:nvSpPr>
          <p:cNvPr id="44" name="文本框 43">
            <a:extLst>
              <a:ext uri="{FF2B5EF4-FFF2-40B4-BE49-F238E27FC236}">
                <a16:creationId xmlns:a16="http://schemas.microsoft.com/office/drawing/2014/main" id="{C4BF3078-89FA-E744-2B24-A7E46432A287}"/>
              </a:ext>
            </a:extLst>
          </p:cNvPr>
          <p:cNvSpPr txBox="1"/>
          <p:nvPr/>
        </p:nvSpPr>
        <p:spPr>
          <a:xfrm>
            <a:off x="10780218" y="2129385"/>
            <a:ext cx="7101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0°</a:t>
            </a:r>
            <a:endParaRPr lang="zh-CN" altLang="en-US" dirty="0">
              <a:latin typeface="Times New Roman"/>
              <a:ea typeface="SimSun"/>
              <a:cs typeface="Times New Roman"/>
            </a:endParaRPr>
          </a:p>
        </p:txBody>
      </p: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8CF17AC2-6B84-8E4A-5963-65BD2A58164F}"/>
              </a:ext>
            </a:extLst>
          </p:cNvPr>
          <p:cNvCxnSpPr>
            <a:cxnSpLocks/>
          </p:cNvCxnSpPr>
          <p:nvPr/>
        </p:nvCxnSpPr>
        <p:spPr bwMode="auto">
          <a:xfrm>
            <a:off x="5870855" y="1326028"/>
            <a:ext cx="0" cy="5341472"/>
          </a:xfrm>
          <a:prstGeom prst="line">
            <a:avLst/>
          </a:prstGeom>
          <a:ln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1C365F99-A87E-A483-7595-A9C235F024AE}"/>
              </a:ext>
            </a:extLst>
          </p:cNvPr>
          <p:cNvSpPr txBox="1"/>
          <p:nvPr/>
        </p:nvSpPr>
        <p:spPr>
          <a:xfrm>
            <a:off x="1009056" y="6461760"/>
            <a:ext cx="40260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Times New Roman"/>
                <a:ea typeface="SimSun"/>
                <a:cs typeface="Times New Roman"/>
              </a:rPr>
              <a:t>（a）水膜分布     （b）温度分布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E8F10DAA-1B87-26D8-3295-90220589847F}"/>
              </a:ext>
            </a:extLst>
          </p:cNvPr>
          <p:cNvSpPr txBox="1"/>
          <p:nvPr/>
        </p:nvSpPr>
        <p:spPr>
          <a:xfrm>
            <a:off x="6287838" y="6461760"/>
            <a:ext cx="40260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Times New Roman"/>
                <a:ea typeface="SimSun"/>
                <a:cs typeface="Times New Roman"/>
              </a:rPr>
              <a:t>（a）水膜分布     （b）温度分布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010AF22C-C85B-4839-B91D-C8BECB1E531A}"/>
              </a:ext>
            </a:extLst>
          </p:cNvPr>
          <p:cNvSpPr txBox="1"/>
          <p:nvPr/>
        </p:nvSpPr>
        <p:spPr>
          <a:xfrm>
            <a:off x="10442703" y="2635685"/>
            <a:ext cx="16225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扩散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382A779-A490-47CF-8456-61598D498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15884886-3D85-4AFD-9D94-33E4AF7428DD}" type="slidenum">
              <a:rPr lang="en-US" altLang="zh-CN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53</a:t>
            </a:fld>
            <a:endParaRPr lang="en-US" altLang="zh-CN">
              <a:latin typeface="Times New Roman"/>
              <a:ea typeface="SimSun"/>
              <a:cs typeface="Times New Roman"/>
            </a:endParaRPr>
          </a:p>
        </p:txBody>
      </p:sp>
      <p:sp>
        <p:nvSpPr>
          <p:cNvPr id="46" name="矩形 3">
            <a:extLst>
              <a:ext uri="{FF2B5EF4-FFF2-40B4-BE49-F238E27FC236}">
                <a16:creationId xmlns:a16="http://schemas.microsoft.com/office/drawing/2014/main" id="{44FA7186-E2A9-461D-8F58-50183D4170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5366" y="-57982"/>
            <a:ext cx="10786173" cy="972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9pPr>
          </a:lstStyle>
          <a:p>
            <a:pPr lvl="0" algn="l">
              <a:lnSpc>
                <a:spcPct val="125000"/>
              </a:lnSpc>
              <a:spcBef>
                <a:spcPct val="20000"/>
              </a:spcBef>
              <a:defRPr>
                <a:latin typeface="Times New Roman"/>
                <a:ea typeface="SimSun"/>
                <a:cs typeface="Times New Roman"/>
              </a:defRPr>
            </a:pPr>
            <a:r>
              <a:rPr lang="en-US" altLang="zh-CN" b="1" dirty="0" sz="1800">
                <a:solidFill>
                  <a:srgbClr val="000000"/>
                </a:solidFill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6</a:t>
            </a:r>
            <a:r>
              <a:rPr lang="en-US" altLang="zh-CN" b="1" dirty="0" sz="1800">
                <a:solidFill>
                  <a:srgbClr val="000000"/>
                </a:solidFill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. 数据中心 IEC 的喷嘴优化与性能强化</a:t>
            </a:r>
          </a:p>
        </p:txBody>
      </p:sp>
    </p:spTree>
    <p:extLst>
      <p:ext uri="{BB962C8B-B14F-4D97-AF65-F5344CB8AC3E}">
        <p14:creationId xmlns:p14="http://schemas.microsoft.com/office/powerpoint/2010/main" val="511847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33"/>
    </mc:Choice>
    <mc:Fallback xmlns="">
      <p:transition spd="slow" advTm="5933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E47B88EA-F4F3-B3C2-BF2D-E7FF5F546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232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>
              <a:latin typeface="Times New Roman"/>
              <a:ea typeface="SimSun"/>
              <a:cs typeface="Times New Roman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4D3BD20E-6F9F-B7C8-61C3-26038124BD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1666" y="2279264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>
              <a:latin typeface="Times New Roman"/>
              <a:ea typeface="SimSun"/>
              <a:cs typeface="Times New Roman"/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9591E8A8-4CAD-45AF-EB7D-DB21CF6852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232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>
              <a:latin typeface="Times New Roman"/>
              <a:ea typeface="SimSun"/>
              <a:cs typeface="Times New Roman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944ADA9-E4DB-BAC5-2E46-A5A8D1CB4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9547" y="2307595"/>
            <a:ext cx="312906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1100">
                <a:latin typeface="Times New Roman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   </a:t>
            </a:r>
            <a:endParaRPr lang="en-US" altLang="zh-CN" sz="1800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9A2CD8E0-562C-7D40-5D09-97609FC844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8649" y="8862983"/>
            <a:ext cx="383470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10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(c) Upper side configuration                      (d) Lower side configuration</a:t>
            </a:r>
            <a:endParaRPr lang="en-US" altLang="zh-CN" sz="400">
              <a:latin typeface="Times New Roman"/>
              <a:ea typeface="SimSun"/>
              <a:cs typeface="Times New Roman"/>
            </a:endParaRPr>
          </a:p>
          <a:p>
            <a:pPr algn="ctr"/>
            <a:r>
              <a:rPr lang="en-US" altLang="zh-CN" sz="10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Fig. 11. The water film distribution of the four nozzle configurations</a:t>
            </a:r>
            <a:endParaRPr lang="en-US" altLang="zh-CN" sz="1800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13" name="Rectangle 16">
            <a:extLst>
              <a:ext uri="{FF2B5EF4-FFF2-40B4-BE49-F238E27FC236}">
                <a16:creationId xmlns:a16="http://schemas.microsoft.com/office/drawing/2014/main" id="{7079ADA1-6077-D0F4-96B2-9B52E3482C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5225" y="3544544"/>
            <a:ext cx="922047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1100">
                <a:latin typeface="Times New Roman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                      </a:t>
            </a:r>
            <a:endParaRPr lang="en-US" altLang="zh-CN" sz="1800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15" name="Rectangle 18">
            <a:extLst>
              <a:ext uri="{FF2B5EF4-FFF2-40B4-BE49-F238E27FC236}">
                <a16:creationId xmlns:a16="http://schemas.microsoft.com/office/drawing/2014/main" id="{BC658CD1-871B-0AF6-8CB0-4FCB617027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1855" y="7964144"/>
            <a:ext cx="248786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1100" i="1">
                <a:latin typeface="Times New Roman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 </a:t>
            </a:r>
            <a:endParaRPr lang="en-US" altLang="zh-CN" sz="1800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16" name="Rectangle 19">
            <a:extLst>
              <a:ext uri="{FF2B5EF4-FFF2-40B4-BE49-F238E27FC236}">
                <a16:creationId xmlns:a16="http://schemas.microsoft.com/office/drawing/2014/main" id="{5E372CFD-AED2-99D9-953E-AC44B6632B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9848" y="10277975"/>
            <a:ext cx="3672800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10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  (a) Top configuration                              (b) Bottom configuration</a:t>
            </a:r>
            <a:endParaRPr lang="en-US" altLang="zh-CN" sz="400">
              <a:latin typeface="Times New Roman"/>
              <a:ea typeface="SimSun"/>
              <a:cs typeface="Times New Roman"/>
            </a:endParaRPr>
          </a:p>
          <a:p>
            <a:pPr algn="ctr"/>
            <a:r>
              <a:rPr lang="en-US" altLang="zh-CN" sz="1100">
                <a:latin typeface="Times New Roman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                          </a:t>
            </a:r>
            <a:endParaRPr lang="en-US" altLang="zh-CN" sz="1800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17" name="Rectangle 20">
            <a:extLst>
              <a:ext uri="{FF2B5EF4-FFF2-40B4-BE49-F238E27FC236}">
                <a16:creationId xmlns:a16="http://schemas.microsoft.com/office/drawing/2014/main" id="{2BFF3A44-E09A-9464-BFB0-878683DE36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3765" y="12336119"/>
            <a:ext cx="344966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1100">
                <a:latin typeface="Times New Roman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    </a:t>
            </a:r>
            <a:endParaRPr lang="en-US" altLang="zh-CN" sz="1800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18" name="Rectangle 21">
            <a:extLst>
              <a:ext uri="{FF2B5EF4-FFF2-40B4-BE49-F238E27FC236}">
                <a16:creationId xmlns:a16="http://schemas.microsoft.com/office/drawing/2014/main" id="{65FCB56F-B73E-952B-18B4-AE1D2ECC78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7735" y="14317319"/>
            <a:ext cx="377026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1100">
                <a:latin typeface="Times New Roman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en-US" altLang="zh-CN" sz="1100" i="1">
                <a:latin typeface="Times New Roman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endParaRPr lang="en-US" altLang="zh-CN" sz="1800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19" name="Rectangle 22">
            <a:extLst>
              <a:ext uri="{FF2B5EF4-FFF2-40B4-BE49-F238E27FC236}">
                <a16:creationId xmlns:a16="http://schemas.microsoft.com/office/drawing/2014/main" id="{E8006BBB-C852-DF42-DD43-574C72BFC5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2867" y="16402550"/>
            <a:ext cx="3866763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 sz="1100">
                <a:latin typeface="Times New Roman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（c）上侧布置               （d）下侧布置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3F246CD-5242-42C5-7BAF-F3BD7108C8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7363" y="1788470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>
              <a:latin typeface="Times New Roman"/>
              <a:ea typeface="SimSun"/>
              <a:cs typeface="Times New Roman"/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046FEBD5-1092-2CC6-EEFD-A1D95DA623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232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>
              <a:latin typeface="Times New Roman"/>
              <a:ea typeface="SimSun"/>
              <a:cs typeface="Times New Roman"/>
            </a:endParaRPr>
          </a:p>
        </p:txBody>
      </p:sp>
      <p:sp>
        <p:nvSpPr>
          <p:cNvPr id="21" name="Rectangle 8">
            <a:extLst>
              <a:ext uri="{FF2B5EF4-FFF2-40B4-BE49-F238E27FC236}">
                <a16:creationId xmlns:a16="http://schemas.microsoft.com/office/drawing/2014/main" id="{039425B3-1176-DAEB-7DA4-C74998040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9547" y="2307595"/>
            <a:ext cx="312906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1100">
                <a:latin typeface="Times New Roman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   </a:t>
            </a:r>
            <a:endParaRPr lang="en-US" altLang="zh-CN" sz="1800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25" name="Rectangle 15">
            <a:extLst>
              <a:ext uri="{FF2B5EF4-FFF2-40B4-BE49-F238E27FC236}">
                <a16:creationId xmlns:a16="http://schemas.microsoft.com/office/drawing/2014/main" id="{3C2848A0-313A-CE4D-13D5-B2C2451C03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1947" y="2455233"/>
            <a:ext cx="312906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1100">
                <a:latin typeface="Times New Roman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   </a:t>
            </a:r>
            <a:endParaRPr lang="en-US" altLang="zh-CN" sz="1800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30" name="Rectangle 20">
            <a:extLst>
              <a:ext uri="{FF2B5EF4-FFF2-40B4-BE49-F238E27FC236}">
                <a16:creationId xmlns:a16="http://schemas.microsoft.com/office/drawing/2014/main" id="{E25C9383-1457-16FB-D187-1745D52A2B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9772" y="1074094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>
              <a:latin typeface="Times New Roman"/>
              <a:ea typeface="SimSun"/>
              <a:cs typeface="Times New Roman"/>
            </a:endParaRPr>
          </a:p>
        </p:txBody>
      </p:sp>
      <p:sp>
        <p:nvSpPr>
          <p:cNvPr id="7" name="Content Placeholder 23">
            <a:extLst>
              <a:ext uri="{FF2B5EF4-FFF2-40B4-BE49-F238E27FC236}">
                <a16:creationId xmlns:a16="http://schemas.microsoft.com/office/drawing/2014/main" id="{466B159F-0082-32B6-C383-D345196FE20F}"/>
              </a:ext>
            </a:extLst>
          </p:cNvPr>
          <p:cNvSpPr txBox="1">
            <a:spLocks/>
          </p:cNvSpPr>
          <p:nvPr/>
        </p:nvSpPr>
        <p:spPr bwMode="auto">
          <a:xfrm>
            <a:off x="320719" y="923375"/>
            <a:ext cx="5898017" cy="37911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234950" indent="-23495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 pitchFamily="-111" charset="-128"/>
              </a:defRPr>
            </a:lvl1pPr>
            <a:lvl2pPr marL="576263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2pPr>
            <a:lvl3pPr marL="866775" indent="-176213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3pPr>
            <a:lvl4pPr marL="1196975" indent="-1635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4pPr>
            <a:lvl5pPr marL="1604963" indent="-176213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5pPr>
            <a:lvl6pPr marL="20621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6pPr>
            <a:lvl7pPr marL="25193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7pPr>
            <a:lvl8pPr marL="29765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8pPr>
            <a:lvl9pPr marL="34337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9pPr>
          </a:lstStyle>
          <a:p>
            <a:pPr marL="0" lvl="1" indent="0" algn="l">
              <a:spcBef>
                <a:spcPts val="1200"/>
              </a:spcBef>
              <a:spcAft>
                <a:spcPts val="1200"/>
              </a:spcAft>
              <a:buClrTx/>
              <a:buNone/>
              <a:defRPr>
                <a:latin typeface="Times New Roman"/>
                <a:ea typeface="SimSun"/>
                <a:cs typeface="Times New Roman"/>
              </a:defRPr>
            </a:pPr>
            <a:r>
              <a:rPr lang="en-US" altLang="en-US" sz="1800" b="1" kern="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6.5</a:t>
            </a:r>
            <a:r>
              <a:rPr lang="en-US" altLang="en-US" sz="1800" b="1" kern="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性能强化效果评价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18CDE3D-6B05-B651-E8E8-5FA790D2CF83}"/>
              </a:ext>
            </a:extLst>
          </p:cNvPr>
          <p:cNvSpPr txBox="1"/>
          <p:nvPr/>
        </p:nvSpPr>
        <p:spPr>
          <a:xfrm>
            <a:off x="998525" y="1324026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sz="16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对覆盖率与接触角的影响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05313E4-50FC-FB4C-44AC-873064AFEB0E}"/>
              </a:ext>
            </a:extLst>
          </p:cNvPr>
          <p:cNvSpPr txBox="1"/>
          <p:nvPr/>
        </p:nvSpPr>
        <p:spPr>
          <a:xfrm>
            <a:off x="5886406" y="1343997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sz="16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三项性能指标对比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ABEC4E5-8661-85F7-8E76-3E526B969F0B}"/>
              </a:ext>
            </a:extLst>
          </p:cNvPr>
          <p:cNvSpPr txBox="1"/>
          <p:nvPr/>
        </p:nvSpPr>
        <p:spPr>
          <a:xfrm>
            <a:off x="1364380" y="4741421"/>
            <a:ext cx="9455133" cy="1993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亲水涂层与纤维涂层均可通过减小接触角提高润湿率。</a:t>
            </a:r>
          </a:p>
          <a:p>
            <a:pPr marL="285750" indent="-285750" algn="l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纤维涂层还能提高水膜扩散速率，使润湿率接近 </a:t>
            </a:r>
            <a:r>
              <a:rPr lang="en-US" altLang="zh-CN" sz="1600" dirty="0" b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，达到近乎完全润湿。</a:t>
            </a:r>
          </a:p>
          <a:p>
            <a:pPr marL="285750" indent="-285750" algn="l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亲水涂层与纤维涂层分别使湿球效率提高 </a:t>
            </a:r>
            <a:r>
              <a:rPr lang="en-US" altLang="zh-CN" sz="1600" dirty="0" b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5.7%</a:t>
            </a:r>
            <a:r>
              <a:rPr lang="en-US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和 </a:t>
            </a:r>
            <a:r>
              <a:rPr lang="en-US" altLang="zh-CN" sz="1600" dirty="0" b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14.5%</a:t>
            </a:r>
            <a:r>
              <a:rPr lang="en-US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 marL="285750" indent="-285750" algn="l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纤维涂层还可降低水泵能耗，使 COP 提高 </a:t>
            </a:r>
            <a:r>
              <a:rPr lang="en-US" altLang="zh-CN" sz="1600" dirty="0" b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16.1%</a:t>
            </a:r>
            <a:r>
              <a:rPr lang="en-US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7E9F06F-6E16-48F3-8603-287868FEF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15884886-3D85-4AFD-9D94-33E4AF7428DD}" type="slidenum">
              <a:rPr lang="en-US" altLang="zh-CN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54</a:t>
            </a:fld>
            <a:endParaRPr lang="en-US" altLang="zh-CN">
              <a:latin typeface="Times New Roman"/>
              <a:ea typeface="SimSun"/>
              <a:cs typeface="Times New Roman"/>
            </a:endParaRPr>
          </a:p>
        </p:txBody>
      </p:sp>
      <p:sp>
        <p:nvSpPr>
          <p:cNvPr id="31" name="矩形 3">
            <a:extLst>
              <a:ext uri="{FF2B5EF4-FFF2-40B4-BE49-F238E27FC236}">
                <a16:creationId xmlns:a16="http://schemas.microsoft.com/office/drawing/2014/main" id="{5C3D3106-14F3-4FB8-9862-B78846105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5366" y="-57982"/>
            <a:ext cx="10786173" cy="972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9pPr>
          </a:lstStyle>
          <a:p>
            <a:pPr lvl="0" algn="l">
              <a:lnSpc>
                <a:spcPct val="125000"/>
              </a:lnSpc>
              <a:spcBef>
                <a:spcPct val="20000"/>
              </a:spcBef>
              <a:defRPr>
                <a:latin typeface="Times New Roman"/>
                <a:ea typeface="SimSun"/>
                <a:cs typeface="Times New Roman"/>
              </a:defRPr>
            </a:pPr>
            <a:r>
              <a:rPr lang="en-US" altLang="zh-CN" b="1" dirty="0" sz="1800">
                <a:solidFill>
                  <a:srgbClr val="000000"/>
                </a:solidFill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6</a:t>
            </a:r>
            <a:r>
              <a:rPr lang="en-US" altLang="zh-CN" b="1" dirty="0" sz="1800">
                <a:solidFill>
                  <a:srgbClr val="000000"/>
                </a:solidFill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. 数据中心 IEC 的喷嘴优化与性能强化</a:t>
            </a:r>
          </a:p>
        </p:txBody>
      </p:sp>
      <p:sp>
        <p:nvSpPr>
          <p:cNvPr id="14" name="Rectangle 443">
            <a:extLst>
              <a:ext uri="{FF2B5EF4-FFF2-40B4-BE49-F238E27FC236}">
                <a16:creationId xmlns:a16="http://schemas.microsoft.com/office/drawing/2014/main" id="{EA3FDF09-59A2-4EAD-8C3A-D15ACC5457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6104" y="169211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latin typeface="Times New Roman"/>
              <a:ea typeface="SimSun"/>
              <a:cs typeface="Times New Roman"/>
            </a:endParaRPr>
          </a:p>
        </p:txBody>
      </p: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75421DBD-6E01-4D05-A197-5DEE6CA9ED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6905763"/>
              </p:ext>
            </p:extLst>
          </p:nvPr>
        </p:nvGraphicFramePr>
        <p:xfrm>
          <a:off x="1514058" y="1708062"/>
          <a:ext cx="4194558" cy="303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6940973" imgH="5004486" progId="Origin95.Graph">
                  <p:embed/>
                </p:oleObj>
              </mc:Choice>
              <mc:Fallback>
                <p:oleObj name="Graph" r:id="rId3" imgW="6940973" imgH="5004486" progId="Origin95.Graph">
                  <p:embed/>
                  <p:pic>
                    <p:nvPicPr>
                      <p:cNvPr id="0" name="Object 4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4058" y="1708062"/>
                        <a:ext cx="4194558" cy="30320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445">
            <a:extLst>
              <a:ext uri="{FF2B5EF4-FFF2-40B4-BE49-F238E27FC236}">
                <a16:creationId xmlns:a16="http://schemas.microsoft.com/office/drawing/2014/main" id="{4DC83E49-3467-4F97-A462-DF65394B88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3384" y="178847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latin typeface="Times New Roman"/>
              <a:ea typeface="SimSun"/>
              <a:cs typeface="Times New Roman"/>
            </a:endParaRPr>
          </a:p>
        </p:txBody>
      </p:sp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D9C79B53-37D9-4791-8735-1C77A46A90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7258298"/>
              </p:ext>
            </p:extLst>
          </p:nvPr>
        </p:nvGraphicFramePr>
        <p:xfrm>
          <a:off x="6355250" y="1692111"/>
          <a:ext cx="4014154" cy="30186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5" imgW="6662246" imgH="5004486" progId="Origin95.Graph">
                  <p:embed/>
                </p:oleObj>
              </mc:Choice>
              <mc:Fallback>
                <p:oleObj name="Graph" r:id="rId5" imgW="6662246" imgH="5004486" progId="Origin95.Graph">
                  <p:embed/>
                  <p:pic>
                    <p:nvPicPr>
                      <p:cNvPr id="0" name="Object 4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5250" y="1692111"/>
                        <a:ext cx="4014154" cy="301868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8635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33"/>
    </mc:Choice>
    <mc:Fallback xmlns="">
      <p:transition spd="slow" advTm="5933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B57B5CD-351B-409C-8419-7945124A5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15884886-3D85-4AFD-9D94-33E4AF7428DD}" type="slidenum">
              <a:rPr lang="en-US" altLang="zh-CN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55</a:t>
            </a:fld>
            <a:endParaRPr lang="en-US" altLang="zh-CN">
              <a:latin typeface="Times New Roman"/>
              <a:ea typeface="SimSun"/>
              <a:cs typeface="Times New Roman"/>
            </a:endParaRPr>
          </a:p>
        </p:txBody>
      </p:sp>
      <p:sp>
        <p:nvSpPr>
          <p:cNvPr id="8" name="矩形 3">
            <a:extLst>
              <a:ext uri="{FF2B5EF4-FFF2-40B4-BE49-F238E27FC236}">
                <a16:creationId xmlns:a16="http://schemas.microsoft.com/office/drawing/2014/main" id="{D9741B7C-1F8F-4EC9-933F-469EF3EF71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76201"/>
            <a:ext cx="2687638" cy="580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9pPr>
          </a:lstStyle>
          <a:p>
            <a:pPr algn="l">
              <a:lnSpc>
                <a:spcPct val="125000"/>
              </a:lnSpc>
              <a:spcBef>
                <a:spcPct val="20000"/>
              </a:spcBef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B0600070205080204" pitchFamily="34" charset="-128"/>
                <a:cs typeface="Times New Roman" panose="02020603050405020304" pitchFamily="18" charset="0"/>
              </a:rPr>
              <a:t>汇报提纲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A9CC545-9F15-455E-BB97-2733665CD8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3372" y="1058230"/>
            <a:ext cx="10777490" cy="5418675"/>
          </a:xfrm>
        </p:spPr>
        <p:txBody>
          <a:bodyPr/>
          <a:lstStyle/>
          <a:p>
            <a:pPr marL="457200" indent="-457200" algn="l">
              <a:lnSpc>
                <a:spcPts val="3500"/>
              </a:lnSpc>
              <a:spcBef>
                <a:spcPts val="600"/>
              </a:spcBef>
              <a:spcAft>
                <a:spcPts val="800"/>
              </a:spcAft>
              <a:buAutoNum type="arabicPeriod"/>
            </a:pPr>
            <a:r>
              <a:rPr lang="en-HK" sz="2400" b="1" dirty="0">
                <a:solidFill>
                  <a:schemeClr val="tx1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研究背景与文献综述</a:t>
            </a:r>
          </a:p>
          <a:p>
            <a:pPr marL="457200" indent="-457200" algn="l">
              <a:lnSpc>
                <a:spcPts val="3500"/>
              </a:lnSpc>
              <a:spcBef>
                <a:spcPts val="600"/>
              </a:spcBef>
              <a:spcAft>
                <a:spcPts val="800"/>
              </a:spcAft>
              <a:buAutoNum type="arabicPeriod"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研究不足与研究目标</a:t>
            </a:r>
          </a:p>
          <a:p>
            <a:pPr marL="457200" indent="-457200" algn="l">
              <a:lnSpc>
                <a:spcPts val="3500"/>
              </a:lnSpc>
              <a:spcBef>
                <a:spcPts val="600"/>
              </a:spcBef>
              <a:spcAft>
                <a:spcPts val="800"/>
              </a:spcAft>
              <a:buAutoNum type="arabicPeriod"/>
            </a:pPr>
            <a:r>
              <a:rPr lang="en-HK" sz="2400" b="1" dirty="0">
                <a:solidFill>
                  <a:schemeClr val="tx1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IEC 喷淋分布的 FDM 建模与优化</a:t>
            </a:r>
          </a:p>
          <a:p>
            <a:pPr marL="457200" indent="-457200" algn="l">
              <a:lnSpc>
                <a:spcPts val="3500"/>
              </a:lnSpc>
              <a:spcBef>
                <a:spcPts val="600"/>
              </a:spcBef>
              <a:spcAft>
                <a:spcPts val="800"/>
              </a:spcAft>
              <a:buAutoNum type="arabicPeriod"/>
            </a:pPr>
            <a:r>
              <a:rPr lang="en-HK" sz="2400" b="1" dirty="0">
                <a:solidFill>
                  <a:schemeClr val="tx1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考虑水膜形成的 IEC 三维 CFD 分析</a:t>
            </a:r>
          </a:p>
          <a:p>
            <a:pPr marL="457200" indent="-457200" algn="l">
              <a:lnSpc>
                <a:spcPts val="3500"/>
              </a:lnSpc>
              <a:spcBef>
                <a:spcPts val="600"/>
              </a:spcBef>
              <a:spcAft>
                <a:spcPts val="800"/>
              </a:spcAft>
              <a:buAutoNum type="arabicPeriod"/>
            </a:pPr>
            <a:r>
              <a:rPr lang="en-HK" sz="2400" b="1" dirty="0">
                <a:solidFill>
                  <a:schemeClr val="tx1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基于 ANN 与遗传算法的喷淋策略优化</a:t>
            </a:r>
          </a:p>
          <a:p>
            <a:pPr marL="457200" indent="-457200" algn="l">
              <a:lnSpc>
                <a:spcPts val="3500"/>
              </a:lnSpc>
              <a:spcBef>
                <a:spcPts val="600"/>
              </a:spcBef>
              <a:spcAft>
                <a:spcPts val="800"/>
              </a:spcAft>
              <a:buAutoNum type="arabicPeriod"/>
            </a:pPr>
            <a:r>
              <a:rPr lang="en-HK" sz="2400" b="1" dirty="0">
                <a:solidFill>
                  <a:schemeClr val="tx1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数据中心 IEC 的喷嘴优化与性能强化</a:t>
            </a:r>
          </a:p>
          <a:p>
            <a:pPr marL="457200" indent="-457200" algn="l">
              <a:lnSpc>
                <a:spcPts val="3500"/>
              </a:lnSpc>
              <a:spcBef>
                <a:spcPts val="600"/>
              </a:spcBef>
              <a:spcAft>
                <a:spcPts val="800"/>
              </a:spcAft>
              <a:buAutoNum type="arabicPeriod"/>
            </a:pP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研究结论与未来展望</a:t>
            </a:r>
          </a:p>
        </p:txBody>
      </p:sp>
    </p:spTree>
    <p:extLst>
      <p:ext uri="{BB962C8B-B14F-4D97-AF65-F5344CB8AC3E}">
        <p14:creationId xmlns:p14="http://schemas.microsoft.com/office/powerpoint/2010/main" val="299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33"/>
    </mc:Choice>
    <mc:Fallback xmlns="">
      <p:transition spd="slow" advTm="5933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C6751DB-975A-4A6C-8913-57671365F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15884886-3D85-4AFD-9D94-33E4AF7428DD}" type="slidenum">
              <a:rPr lang="en-US" altLang="zh-CN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56</a:t>
            </a:fld>
            <a:endParaRPr lang="en-US" altLang="zh-CN">
              <a:latin typeface="Times New Roman"/>
              <a:ea typeface="SimSun"/>
              <a:cs typeface="Times New Roman"/>
            </a:endParaRPr>
          </a:p>
        </p:txBody>
      </p:sp>
      <p:sp>
        <p:nvSpPr>
          <p:cNvPr id="8" name="矩形 3">
            <a:extLst>
              <a:ext uri="{FF2B5EF4-FFF2-40B4-BE49-F238E27FC236}">
                <a16:creationId xmlns:a16="http://schemas.microsoft.com/office/drawing/2014/main" id="{090C9A14-1C02-4370-8D30-CCEB9934F0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319" y="210532"/>
            <a:ext cx="919134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1pPr>
            <a:lvl2pPr marL="323850" indent="-358775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9pPr>
          </a:lstStyle>
          <a:p>
            <a:pPr lvl="1" algn="l" eaLnBrk="1" hangingPunct="1">
              <a:spcBef>
                <a:spcPts val="2400"/>
              </a:spcBef>
              <a:buClr>
                <a:srgbClr val="0099FF"/>
              </a:buClr>
            </a:pPr>
            <a:r>
              <a:rPr lang="en-US" altLang="zh-CN" sz="2800" b="1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7</a:t>
            </a:r>
            <a:r>
              <a:rPr lang="en-US" altLang="zh-CN" sz="2800" b="1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. 研究结论与未来展望</a:t>
            </a:r>
          </a:p>
        </p:txBody>
      </p:sp>
      <p:sp>
        <p:nvSpPr>
          <p:cNvPr id="5" name="文本框 2">
            <a:extLst>
              <a:ext uri="{FF2B5EF4-FFF2-40B4-BE49-F238E27FC236}">
                <a16:creationId xmlns:a16="http://schemas.microsoft.com/office/drawing/2014/main" id="{DB108DF9-9E69-4AC5-B2CD-3C185FB1F8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8225" y="1320564"/>
            <a:ext cx="10115550" cy="508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9pPr>
          </a:lstStyle>
          <a:p>
            <a:pPr marL="0" indent="0" algn="l">
              <a:lnSpc>
                <a:spcPct val="150000"/>
              </a:lnSpc>
              <a:spcAft>
                <a:spcPts val="600"/>
              </a:spcAft>
            </a:pPr>
            <a:r>
              <a:rPr lang="en-HK" altLang="zh-CN" sz="1800" b="1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1</a:t>
            </a:r>
            <a:r>
              <a:rPr lang="en-HK" altLang="zh-CN" sz="1800" b="1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. 建立了预测换热器上方喷淋分布的 FDM 模型。</a:t>
            </a:r>
          </a:p>
          <a:p>
            <a:pPr marL="360000" indent="360000" algn="l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HK" altLang="zh-CN" sz="16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对于长、宽均为 </a:t>
            </a:r>
            <a:r>
              <a:rPr lang="en-HK" altLang="zh-CN" sz="1600" dirty="0" b="1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400 mm</a:t>
            </a:r>
            <a:r>
              <a:rPr lang="en-HK" altLang="zh-CN" sz="16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的 IEC，最优方案为四个喷嘴沿中心线布置，间距为 </a:t>
            </a:r>
            <a:r>
              <a:rPr lang="en-HK" altLang="zh-CN" sz="1600" dirty="0" b="1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160 mm</a:t>
            </a:r>
            <a:r>
              <a:rPr lang="en-HK" altLang="zh-CN" sz="16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。</a:t>
            </a:r>
          </a:p>
          <a:p>
            <a:pPr marL="360000" indent="360000" algn="l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HK" altLang="zh-CN" sz="16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在相同供水量（</a:t>
            </a:r>
            <a:r>
              <a:rPr lang="en-HK" altLang="zh-CN" sz="1600" dirty="0" b="1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220 L/h</a:t>
            </a:r>
            <a:r>
              <a:rPr lang="en-HK" altLang="zh-CN" sz="16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）下，优化方案使板面润湿系数由 </a:t>
            </a:r>
            <a:r>
              <a:rPr lang="en-HK" altLang="zh-CN" sz="1600" dirty="0" b="1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0.48</a:t>
            </a:r>
            <a:r>
              <a:rPr lang="en-HK" altLang="zh-CN" sz="16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提高至 </a:t>
            </a:r>
            <a:r>
              <a:rPr lang="en-HK" altLang="zh-CN" sz="1600" dirty="0" b="1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0.89</a:t>
            </a:r>
            <a:r>
              <a:rPr lang="en-HK" altLang="zh-CN" sz="16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，COP 提高达 </a:t>
            </a:r>
            <a:r>
              <a:rPr lang="en-HK" altLang="zh-CN" sz="1600" dirty="0" b="1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16%</a:t>
            </a:r>
            <a:r>
              <a:rPr lang="en-HK" altLang="zh-CN" sz="16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。</a:t>
            </a:r>
          </a:p>
          <a:p>
            <a:pPr marL="0" indent="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HK" altLang="zh-CN" sz="1800" b="1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2</a:t>
            </a:r>
            <a:r>
              <a:rPr lang="en-HK" altLang="zh-CN" sz="1800" b="1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. 建立了研究湿通道水膜及 IEC 整体制冷性能的三维 CFD 模型。</a:t>
            </a:r>
          </a:p>
          <a:p>
            <a:pPr marL="360000" indent="360000" algn="l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HK" altLang="zh-CN" sz="16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最大覆盖率对应的最优参数为：液滴直径 </a:t>
            </a:r>
            <a:r>
              <a:rPr lang="en-HK" altLang="zh-CN" sz="1600" dirty="0" b="1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0.25 mm</a:t>
            </a:r>
            <a:r>
              <a:rPr lang="en-HK" altLang="zh-CN" sz="16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、压力 </a:t>
            </a:r>
            <a:r>
              <a:rPr lang="en-HK" altLang="zh-CN" sz="1600" dirty="0" b="1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1.5 bar</a:t>
            </a:r>
            <a:r>
              <a:rPr lang="en-HK" altLang="zh-CN" sz="16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、流量 </a:t>
            </a:r>
            <a:r>
              <a:rPr lang="en-HK" altLang="zh-CN" sz="1600" dirty="0" b="1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5.4 L/min</a:t>
            </a:r>
            <a:r>
              <a:rPr lang="en-HK" altLang="zh-CN" sz="16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、喷雾锥角 </a:t>
            </a:r>
            <a:r>
              <a:rPr lang="en-HK" altLang="zh-CN" sz="1600" dirty="0" b="1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68</a:t>
            </a:r>
            <a:r>
              <a:rPr lang="en-HK" altLang="zh-CN" sz="16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°。</a:t>
            </a:r>
          </a:p>
          <a:p>
            <a:pPr marL="360000" indent="360000" algn="l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HK" altLang="zh-CN" sz="16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基于间距分析采用三角形喷嘴布置后，水膜覆盖率提高 </a:t>
            </a:r>
            <a:r>
              <a:rPr lang="en-HK" altLang="zh-CN" sz="1600" dirty="0" b="1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20.9%</a:t>
            </a:r>
            <a:r>
              <a:rPr lang="en-HK" altLang="zh-CN" sz="16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，湿球效率与 COP 分别提高 </a:t>
            </a:r>
            <a:r>
              <a:rPr lang="en-HK" altLang="zh-CN" sz="1600" dirty="0" b="1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15.1%</a:t>
            </a:r>
            <a:r>
              <a:rPr lang="en-HK" altLang="zh-CN" sz="16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和 </a:t>
            </a:r>
            <a:r>
              <a:rPr lang="en-HK" altLang="zh-CN" sz="1600" dirty="0" b="1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17.6%</a:t>
            </a:r>
            <a:r>
              <a:rPr lang="en-HK" altLang="zh-CN" sz="16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4DEA585-E01D-4650-ACEA-BB07EA359E0B}"/>
              </a:ext>
            </a:extLst>
          </p:cNvPr>
          <p:cNvSpPr txBox="1"/>
          <p:nvPr/>
        </p:nvSpPr>
        <p:spPr>
          <a:xfrm>
            <a:off x="343776" y="945440"/>
            <a:ext cx="6153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eaLnBrk="1" fontAlgn="auto" hangingPunct="1" algn="l">
              <a:spcBef>
                <a:spcPts val="0"/>
              </a:spcBef>
              <a:spcAft>
                <a:spcPts val="0"/>
              </a:spcAft>
            </a:pPr>
            <a:r>
              <a:rPr lang="en-HK" sz="18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7.1</a:t>
            </a:r>
            <a:r>
              <a:rPr lang="en-HK" sz="18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研究结论</a:t>
            </a:r>
          </a:p>
        </p:txBody>
      </p:sp>
    </p:spTree>
    <p:extLst>
      <p:ext uri="{BB962C8B-B14F-4D97-AF65-F5344CB8AC3E}">
        <p14:creationId xmlns:p14="http://schemas.microsoft.com/office/powerpoint/2010/main" val="2392556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027"/>
    </mc:Choice>
    <mc:Fallback xmlns="">
      <p:transition spd="slow" advTm="56027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C6751DB-975A-4A6C-8913-57671365F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15884886-3D85-4AFD-9D94-33E4AF7428DD}" type="slidenum">
              <a:rPr lang="en-US" altLang="zh-CN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57</a:t>
            </a:fld>
            <a:endParaRPr lang="en-US" altLang="zh-CN">
              <a:latin typeface="Times New Roman"/>
              <a:ea typeface="SimSun"/>
              <a:cs typeface="Times New Roman"/>
            </a:endParaRPr>
          </a:p>
        </p:txBody>
      </p:sp>
      <p:sp>
        <p:nvSpPr>
          <p:cNvPr id="8" name="矩形 3">
            <a:extLst>
              <a:ext uri="{FF2B5EF4-FFF2-40B4-BE49-F238E27FC236}">
                <a16:creationId xmlns:a16="http://schemas.microsoft.com/office/drawing/2014/main" id="{090C9A14-1C02-4370-8D30-CCEB9934F0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319" y="210532"/>
            <a:ext cx="919134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1pPr>
            <a:lvl2pPr marL="323850" indent="-358775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9pPr>
          </a:lstStyle>
          <a:p>
            <a:pPr lvl="1" algn="l" eaLnBrk="1" hangingPunct="1">
              <a:spcBef>
                <a:spcPts val="2400"/>
              </a:spcBef>
              <a:buClr>
                <a:srgbClr val="0099FF"/>
              </a:buClr>
            </a:pPr>
            <a:r>
              <a:rPr lang="en-US" altLang="zh-CN" sz="2800" b="1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7</a:t>
            </a:r>
            <a:r>
              <a:rPr lang="en-US" altLang="zh-CN" sz="2800" b="1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. 研究结论与未来展望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2">
                <a:extLst>
                  <a:ext uri="{FF2B5EF4-FFF2-40B4-BE49-F238E27FC236}">
                    <a16:creationId xmlns:a16="http://schemas.microsoft.com/office/drawing/2014/main" id="{DB108DF9-9E69-4AC5-B2CD-3C185FB1F8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38225" y="1320564"/>
                <a:ext cx="10115550" cy="5126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342900" indent="-342900">
                  <a:defRPr sz="2400">
                    <a:solidFill>
                      <a:schemeClr val="tx1"/>
                    </a:solidFill>
                    <a:latin typeface="Times New Roman" panose="020B0604030504040204" pitchFamily="34" charset="0"/>
                    <a:ea typeface="SimSun" panose="020B0604020202020204" pitchFamily="34" charset="-128"/>
                    <a:cs typeface="Times New Roman" panose="020B060402020202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B0604030504040204" pitchFamily="34" charset="0"/>
                    <a:ea typeface="SimSun" panose="020B0604020202020204" pitchFamily="34" charset="-128"/>
                    <a:cs typeface="Times New Roman" panose="020B060402020202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B0604030504040204" pitchFamily="34" charset="0"/>
                    <a:ea typeface="SimSun" panose="020B0604020202020204" pitchFamily="34" charset="-128"/>
                    <a:cs typeface="Times New Roman" panose="020B060402020202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B0604030504040204" pitchFamily="34" charset="0"/>
                    <a:ea typeface="SimSun" panose="020B0604020202020204" pitchFamily="34" charset="-128"/>
                    <a:cs typeface="Times New Roman" panose="020B060402020202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B0604030504040204" pitchFamily="34" charset="0"/>
                    <a:ea typeface="SimSun" panose="020B0604020202020204" pitchFamily="34" charset="-128"/>
                    <a:cs typeface="Times New Roman" panose="020B060402020202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B0604030504040204" pitchFamily="34" charset="0"/>
                    <a:ea typeface="SimSun" panose="020B0604020202020204" pitchFamily="34" charset="-128"/>
                    <a:cs typeface="Times New Roman" panose="020B060402020202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B0604030504040204" pitchFamily="34" charset="0"/>
                    <a:ea typeface="SimSun" panose="020B0604020202020204" pitchFamily="34" charset="-128"/>
                    <a:cs typeface="Times New Roman" panose="020B060402020202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B0604030504040204" pitchFamily="34" charset="0"/>
                    <a:ea typeface="SimSun" panose="020B0604020202020204" pitchFamily="34" charset="-128"/>
                    <a:cs typeface="Times New Roman" panose="020B060402020202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B0604030504040204" pitchFamily="34" charset="0"/>
                    <a:ea typeface="SimSun" panose="020B0604020202020204" pitchFamily="34" charset="-128"/>
                    <a:cs typeface="Times New Roman" panose="020B0604020202020204" pitchFamily="34" charset="-128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spcAft>
                    <a:spcPts val="600"/>
                  </a:spcAft>
                </a:pPr>
                <a:r>
                  <a:rPr lang="en-HK" altLang="zh-CN" sz="1800" b="1" dirty="0">
                    <a:latin typeface="Times New Roman" panose="02020603050405020304" pitchFamily="18" charset="0"/>
                    <a:ea typeface="SimSun"/>
                    <a:cs typeface="Times New Roman" panose="02020603050405020304" pitchFamily="18" charset="0"/>
                  </a:rPr>
                  <a:t>3. We trained a ML-based prediction model to estimate the performance of the IEC system, and GA was applied to optimize the </a:t>
                </a:r>
                <a:r>
                  <a:rPr lang="en-HK" altLang="zh-CN" sz="18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SimSun"/>
                    <a:cs typeface="Times New Roman" panose="02020603050405020304" pitchFamily="18" charset="0"/>
                  </a:rPr>
                  <a:t>IEC-ANN model</a:t>
                </a:r>
                <a:r>
                  <a:rPr lang="en-HK" altLang="zh-CN" sz="1800" b="1" dirty="0">
                    <a:latin typeface="Times New Roman" panose="02020603050405020304" pitchFamily="18" charset="0"/>
                    <a:ea typeface="SimSun"/>
                    <a:cs typeface="Times New Roman" panose="02020603050405020304" pitchFamily="18" charset="0"/>
                  </a:rPr>
                  <a:t>.</a:t>
                </a:r>
              </a:p>
              <a:p>
                <a:pPr marL="360000" indent="360000" algn="just">
                  <a:lnSpc>
                    <a:spcPct val="15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HK" altLang="zh-CN" sz="1600" dirty="0">
                    <a:latin typeface="Times New Roman" panose="02020603050405020304" pitchFamily="18" charset="0"/>
                    <a:ea typeface="SimSun"/>
                    <a:cs typeface="Times New Roman" panose="02020603050405020304" pitchFamily="18" charset="0"/>
                  </a:rPr>
                  <a:t>The optimal parameters were found to be: nozzle pressure of </a:t>
                </a:r>
                <a:r>
                  <a:rPr lang="en-HK" altLang="zh-CN" sz="16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SimSun"/>
                    <a:cs typeface="Times New Roman" panose="02020603050405020304" pitchFamily="18" charset="0"/>
                  </a:rPr>
                  <a:t>0.15 MPa</a:t>
                </a:r>
                <a:r>
                  <a:rPr lang="en-HK" altLang="zh-CN" sz="1600" dirty="0">
                    <a:latin typeface="Times New Roman" panose="02020603050405020304" pitchFamily="18" charset="0"/>
                    <a:ea typeface="SimSun"/>
                    <a:cs typeface="Times New Roman" panose="02020603050405020304" pitchFamily="18" charset="0"/>
                  </a:rPr>
                  <a:t>, spacing of 85 mm, aperture of 6 mm, count of 11, spray density of 0.85 kg/(s</a:t>
                </a:r>
                <a14:m>
                  <m:oMath xmlns:m="http://schemas.openxmlformats.org/officeDocument/2006/math">
                    <m:r>
                      <a:rPr lang="en-HK" altLang="zh-CN" sz="1600" i="1" smtClean="0">
                        <a:latin typeface="Times New Roman" panose="02040503050406030204" pitchFamily="18" charset="0"/>
                        <a:ea typeface="SimSun" panose="02040503050406030204" pitchFamily="18" charset="0"/>
                        <a:cs typeface="Times New Roman" panose="02020603050405020304" pitchFamily="18" charset="0"/>
                      </a:rPr>
                      <m:t>∙</m:t>
                    </m:r>
                  </m:oMath>
                </a14:m>
                <a:r>
                  <a:rPr lang="en-HK" altLang="zh-CN" sz="1600" dirty="0">
                    <a:latin typeface="Times New Roman" panose="02020603050405020304" pitchFamily="18" charset="0"/>
                    <a:ea typeface="SimSun"/>
                    <a:cs typeface="Times New Roman" panose="02020603050405020304" pitchFamily="18" charset="0"/>
                  </a:rPr>
                  <a:t>m2), and air velocity of 2 m/s.</a:t>
                </a:r>
              </a:p>
              <a:p>
                <a:pPr marL="360000" indent="360000" algn="just">
                  <a:lnSpc>
                    <a:spcPct val="15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HK" altLang="zh-CN" sz="1600" dirty="0">
                    <a:latin typeface="Times New Roman" panose="02020603050405020304" pitchFamily="18" charset="0"/>
                    <a:ea typeface="SimSun"/>
                    <a:cs typeface="Times New Roman" panose="02020603050405020304" pitchFamily="18" charset="0"/>
                  </a:rPr>
                  <a:t>The wet-bulb efficiency is 0.85, the pressure drop is 210 Pa, and the COP is 12.4, which represents a </a:t>
                </a:r>
                <a:r>
                  <a:rPr lang="en-HK" altLang="zh-CN" sz="16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SimSun"/>
                    <a:cs typeface="Times New Roman" panose="02020603050405020304" pitchFamily="18" charset="0"/>
                  </a:rPr>
                  <a:t>23.2%</a:t>
                </a:r>
                <a:r>
                  <a:rPr lang="en-HK" altLang="zh-CN" sz="1600" dirty="0">
                    <a:latin typeface="Times New Roman" panose="02020603050405020304" pitchFamily="18" charset="0"/>
                    <a:ea typeface="SimSun"/>
                    <a:cs typeface="Times New Roman" panose="02020603050405020304" pitchFamily="18" charset="0"/>
                  </a:rPr>
                  <a:t> improvement over the baseline system.</a:t>
                </a:r>
                <a:endParaRPr lang="en-US" altLang="zh-CN" sz="1800" dirty="0">
                  <a:latin typeface="Times New Roman" panose="02020603050405020304" pitchFamily="18" charset="0"/>
                  <a:ea typeface="SimSun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HK" altLang="zh-CN" sz="1800" b="1" dirty="0">
                    <a:latin typeface="Times New Roman" panose="02020603050405020304" pitchFamily="18" charset="0"/>
                    <a:ea typeface="SimSun"/>
                    <a:cs typeface="Times New Roman" panose="02020603050405020304" pitchFamily="18" charset="0"/>
                  </a:rPr>
                  <a:t>4. We developed a CFD model based on the </a:t>
                </a:r>
                <a:r>
                  <a:rPr lang="en-HK" altLang="zh-CN" sz="18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SimSun"/>
                    <a:cs typeface="Times New Roman" panose="02020603050405020304" pitchFamily="18" charset="0"/>
                  </a:rPr>
                  <a:t>diamond-shaped IEC </a:t>
                </a:r>
                <a:r>
                  <a:rPr lang="en-HK" altLang="zh-CN" sz="1800" b="1" dirty="0">
                    <a:latin typeface="Times New Roman" panose="02020603050405020304" pitchFamily="18" charset="0"/>
                    <a:ea typeface="SimSun"/>
                    <a:cs typeface="Times New Roman" panose="02020603050405020304" pitchFamily="18" charset="0"/>
                  </a:rPr>
                  <a:t>to explore the air-water flow, heat transfer, and mass transfer capabilities of the IEC as a heat recovery unit in data </a:t>
                </a:r>
                <a:r>
                  <a:rPr lang="en-HK" altLang="zh-CN" sz="1800" b="1" dirty="0" err="1">
                    <a:latin typeface="Times New Roman" panose="02020603050405020304" pitchFamily="18" charset="0"/>
                    <a:ea typeface="SimSun"/>
                    <a:cs typeface="Times New Roman" panose="02020603050405020304" pitchFamily="18" charset="0"/>
                  </a:rPr>
                  <a:t>centers</a:t>
                </a:r>
                <a:r>
                  <a:rPr lang="en-HK" altLang="zh-CN" sz="1800" b="1" dirty="0">
                    <a:latin typeface="Times New Roman" panose="02020603050405020304" pitchFamily="18" charset="0"/>
                    <a:ea typeface="SimSun"/>
                    <a:cs typeface="Times New Roman" panose="02020603050405020304" pitchFamily="18" charset="0"/>
                  </a:rPr>
                  <a:t>.</a:t>
                </a:r>
              </a:p>
              <a:p>
                <a:pPr marL="360000" indent="360000" algn="just">
                  <a:lnSpc>
                    <a:spcPct val="15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HK" altLang="zh-CN" sz="1600" dirty="0">
                    <a:latin typeface="Times New Roman" panose="02020603050405020304" pitchFamily="18" charset="0"/>
                    <a:ea typeface="SimSun"/>
                    <a:cs typeface="Times New Roman" panose="02020603050405020304" pitchFamily="18" charset="0"/>
                  </a:rPr>
                  <a:t>The nozzles are installed as upper side configuration when the water film distribution area in the wet channel is the largest and the temperature drop is the best, with </a:t>
                </a:r>
                <a:r>
                  <a:rPr lang="en-HK" altLang="zh-CN" sz="16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SimSun"/>
                    <a:cs typeface="Times New Roman" panose="02020603050405020304" pitchFamily="18" charset="0"/>
                  </a:rPr>
                  <a:t>59.2%</a:t>
                </a:r>
                <a:r>
                  <a:rPr lang="en-HK" altLang="zh-CN" sz="1600" dirty="0">
                    <a:latin typeface="Times New Roman" panose="02020603050405020304" pitchFamily="18" charset="0"/>
                    <a:ea typeface="SimSun"/>
                    <a:cs typeface="Times New Roman" panose="02020603050405020304" pitchFamily="18" charset="0"/>
                  </a:rPr>
                  <a:t> and </a:t>
                </a:r>
                <a:r>
                  <a:rPr lang="en-HK" altLang="zh-CN" sz="16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SimSun"/>
                    <a:cs typeface="Times New Roman" panose="02020603050405020304" pitchFamily="18" charset="0"/>
                  </a:rPr>
                  <a:t>27.4%</a:t>
                </a:r>
                <a:r>
                  <a:rPr lang="en-HK" altLang="zh-CN" sz="1600" dirty="0">
                    <a:latin typeface="Times New Roman" panose="02020603050405020304" pitchFamily="18" charset="0"/>
                    <a:ea typeface="SimSun"/>
                    <a:cs typeface="Times New Roman" panose="02020603050405020304" pitchFamily="18" charset="0"/>
                  </a:rPr>
                  <a:t> improvement over the worst case</a:t>
                </a:r>
                <a:r>
                  <a:rPr lang="en-US" altLang="zh-CN" sz="1600" dirty="0">
                    <a:latin typeface="Times New Roman" panose="02020603050405020304" pitchFamily="18" charset="0"/>
                    <a:ea typeface="SimSun"/>
                    <a:cs typeface="Times New Roman" panose="02020603050405020304" pitchFamily="18" charset="0"/>
                  </a:rPr>
                  <a:t>. </a:t>
                </a:r>
              </a:p>
              <a:p>
                <a:pPr marL="360000" indent="360000" algn="just">
                  <a:lnSpc>
                    <a:spcPct val="15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HK" altLang="zh-CN" sz="1600" dirty="0">
                    <a:latin typeface="Times New Roman" panose="02020603050405020304" pitchFamily="18" charset="0"/>
                    <a:ea typeface="SimSun"/>
                    <a:cs typeface="Times New Roman" panose="02020603050405020304" pitchFamily="18" charset="0"/>
                  </a:rPr>
                  <a:t>Benefit from the addition of hydrophilic coatings and fibre coatings, the water film coverage </a:t>
                </a:r>
                <a:r>
                  <a:rPr lang="en-US" altLang="zh-CN" sz="1600" dirty="0">
                    <a:latin typeface="Times New Roman" panose="02020603050405020304" pitchFamily="18" charset="0"/>
                    <a:ea typeface="SimSun"/>
                    <a:cs typeface="Times New Roman" panose="02020603050405020304" pitchFamily="18" charset="0"/>
                  </a:rPr>
                  <a:t>and</a:t>
                </a:r>
                <a:r>
                  <a:rPr lang="en-HK" altLang="zh-CN" sz="1600" dirty="0">
                    <a:latin typeface="Times New Roman" panose="02020603050405020304" pitchFamily="18" charset="0"/>
                    <a:ea typeface="SimSun"/>
                    <a:cs typeface="Times New Roman" panose="02020603050405020304" pitchFamily="18" charset="0"/>
                  </a:rPr>
                  <a:t> COP are increased by </a:t>
                </a:r>
                <a:r>
                  <a:rPr lang="en-HK" altLang="zh-CN" sz="16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SimSun"/>
                    <a:cs typeface="Times New Roman" panose="02020603050405020304" pitchFamily="18" charset="0"/>
                  </a:rPr>
                  <a:t>7.4%</a:t>
                </a:r>
                <a:r>
                  <a:rPr lang="en-HK" altLang="zh-CN" sz="1600" dirty="0">
                    <a:latin typeface="Times New Roman" panose="02020603050405020304" pitchFamily="18" charset="0"/>
                    <a:ea typeface="SimSun"/>
                    <a:cs typeface="Times New Roman" panose="02020603050405020304" pitchFamily="18" charset="0"/>
                  </a:rPr>
                  <a:t> and </a:t>
                </a:r>
                <a:r>
                  <a:rPr lang="en-HK" altLang="zh-CN" sz="16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SimSun"/>
                    <a:cs typeface="Times New Roman" panose="02020603050405020304" pitchFamily="18" charset="0"/>
                  </a:rPr>
                  <a:t>16.1%</a:t>
                </a:r>
                <a:r>
                  <a:rPr lang="en-HK" altLang="zh-CN" sz="1600" dirty="0">
                    <a:latin typeface="Times New Roman" panose="02020603050405020304" pitchFamily="18" charset="0"/>
                    <a:ea typeface="SimSun"/>
                    <a:cs typeface="Times New Roman" panose="02020603050405020304" pitchFamily="18" charset="0"/>
                  </a:rPr>
                  <a:t>, respectively. </a:t>
                </a:r>
                <a:endParaRPr lang="en-US" altLang="zh-CN" sz="1600" dirty="0">
                  <a:latin typeface="Times New Roman" panose="02020603050405020304" pitchFamily="18" charset="0"/>
                  <a:ea typeface="SimSun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本框 2">
                <a:extLst>
                  <a:ext uri="{FF2B5EF4-FFF2-40B4-BE49-F238E27FC236}">
                    <a16:creationId xmlns:a16="http://schemas.microsoft.com/office/drawing/2014/main" id="{DB108DF9-9E69-4AC5-B2CD-3C185FB1F8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38225" y="1320564"/>
                <a:ext cx="10115550" cy="5126403"/>
              </a:xfrm>
              <a:prstGeom prst="rect">
                <a:avLst/>
              </a:prstGeom>
              <a:blipFill>
                <a:blip r:embed="rId2"/>
                <a:stretch>
                  <a:fillRect l="-482" r="-482" b="-59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  <a:latin typeface="Times New Roman"/>
                    <a:ea typeface="SimSun"/>
                    <a:cs typeface="Times New Roman"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94DEA585-E01D-4650-ACEA-BB07EA359E0B}"/>
              </a:ext>
            </a:extLst>
          </p:cNvPr>
          <p:cNvSpPr txBox="1"/>
          <p:nvPr/>
        </p:nvSpPr>
        <p:spPr>
          <a:xfrm>
            <a:off x="343776" y="945440"/>
            <a:ext cx="6153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eaLnBrk="1" fontAlgn="auto" hangingPunct="1" algn="l">
              <a:spcBef>
                <a:spcPts val="0"/>
              </a:spcBef>
              <a:spcAft>
                <a:spcPts val="0"/>
              </a:spcAft>
            </a:pPr>
            <a:r>
              <a:rPr lang="en-HK" sz="18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7.1</a:t>
            </a:r>
            <a:r>
              <a:rPr lang="en-HK" sz="18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研究结论</a:t>
            </a:r>
          </a:p>
        </p:txBody>
      </p:sp>
    </p:spTree>
    <p:extLst>
      <p:ext uri="{BB962C8B-B14F-4D97-AF65-F5344CB8AC3E}">
        <p14:creationId xmlns:p14="http://schemas.microsoft.com/office/powerpoint/2010/main" val="862976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027"/>
    </mc:Choice>
    <mc:Fallback xmlns="">
      <p:transition spd="slow" advTm="56027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C6751DB-975A-4A6C-8913-57671365F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15884886-3D85-4AFD-9D94-33E4AF7428DD}" type="slidenum">
              <a:rPr lang="en-US" altLang="zh-CN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58</a:t>
            </a:fld>
            <a:endParaRPr lang="en-US" altLang="zh-CN">
              <a:latin typeface="Times New Roman"/>
              <a:ea typeface="SimSun"/>
              <a:cs typeface="Times New Roman"/>
            </a:endParaRPr>
          </a:p>
        </p:txBody>
      </p:sp>
      <p:sp>
        <p:nvSpPr>
          <p:cNvPr id="8" name="矩形 3">
            <a:extLst>
              <a:ext uri="{FF2B5EF4-FFF2-40B4-BE49-F238E27FC236}">
                <a16:creationId xmlns:a16="http://schemas.microsoft.com/office/drawing/2014/main" id="{090C9A14-1C02-4370-8D30-CCEB9934F0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319" y="210532"/>
            <a:ext cx="919134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1pPr>
            <a:lvl2pPr marL="323850" indent="-358775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9pPr>
          </a:lstStyle>
          <a:p>
            <a:pPr lvl="1" algn="l" eaLnBrk="1" hangingPunct="1">
              <a:spcBef>
                <a:spcPts val="2400"/>
              </a:spcBef>
              <a:buClr>
                <a:srgbClr val="0099FF"/>
              </a:buClr>
            </a:pPr>
            <a:r>
              <a:rPr lang="en-US" altLang="zh-CN" sz="2800" b="1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7</a:t>
            </a:r>
            <a:r>
              <a:rPr lang="en-US" altLang="zh-CN" sz="2800" b="1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. 研究结论与未来展望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4DEA585-E01D-4650-ACEA-BB07EA359E0B}"/>
              </a:ext>
            </a:extLst>
          </p:cNvPr>
          <p:cNvSpPr txBox="1"/>
          <p:nvPr/>
        </p:nvSpPr>
        <p:spPr>
          <a:xfrm>
            <a:off x="343776" y="945440"/>
            <a:ext cx="6153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eaLnBrk="1" fontAlgn="auto" hangingPunct="1" algn="l">
              <a:spcBef>
                <a:spcPts val="0"/>
              </a:spcBef>
              <a:spcAft>
                <a:spcPts val="0"/>
              </a:spcAft>
            </a:pPr>
            <a:r>
              <a:rPr lang="en-HK" sz="18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7.2</a:t>
            </a:r>
            <a:r>
              <a:rPr lang="en-HK" sz="18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未来研究方向</a:t>
            </a:r>
          </a:p>
        </p:txBody>
      </p:sp>
      <p:sp>
        <p:nvSpPr>
          <p:cNvPr id="6" name="文本框 2">
            <a:extLst>
              <a:ext uri="{FF2B5EF4-FFF2-40B4-BE49-F238E27FC236}">
                <a16:creationId xmlns:a16="http://schemas.microsoft.com/office/drawing/2014/main" id="{63BAE8E9-9F5B-4EBD-8AFF-5264AC0601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0318" y="1579744"/>
            <a:ext cx="10380955" cy="4659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9pPr>
          </a:lstStyle>
          <a:p>
            <a:pPr marL="457200" indent="-457200" algn="l">
              <a:lnSpc>
                <a:spcPct val="150000"/>
              </a:lnSpc>
              <a:spcBef>
                <a:spcPts val="60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altLang="zh-CN" sz="18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本研究主要针对常规叉流板式 IEC，结论未必适用于管式等其他结构。未来需对不同类型 IEC 开展更多模拟与实验，以拓展结论的适用范围。</a:t>
            </a:r>
          </a:p>
          <a:p>
            <a:pPr marL="457200" indent="-457200" algn="l">
              <a:lnSpc>
                <a:spcPct val="150000"/>
              </a:lnSpc>
              <a:spcBef>
                <a:spcPts val="60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altLang="zh-CN" sz="18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针对数据中心 IEC 的三种运行模式，应根据气候条件优化模式切换及喷淋启停，在满足室内需求的同时降低能耗。</a:t>
            </a:r>
          </a:p>
          <a:p>
            <a:pPr marL="457200" indent="-457200" algn="l">
              <a:lnSpc>
                <a:spcPct val="150000"/>
              </a:lnSpc>
              <a:spcBef>
                <a:spcPts val="60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HK" altLang="zh-CN" sz="18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未来可建立覆盖不同气候条件与喷淋参数的 ANN 模型，实现更全面的 IEC 性能分析与优化。</a:t>
            </a:r>
          </a:p>
        </p:txBody>
      </p:sp>
    </p:spTree>
    <p:extLst>
      <p:ext uri="{BB962C8B-B14F-4D97-AF65-F5344CB8AC3E}">
        <p14:creationId xmlns:p14="http://schemas.microsoft.com/office/powerpoint/2010/main" val="3747626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027"/>
    </mc:Choice>
    <mc:Fallback xmlns="">
      <p:transition spd="slow" advTm="56027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3">
            <a:extLst>
              <a:ext uri="{FF2B5EF4-FFF2-40B4-BE49-F238E27FC236}">
                <a16:creationId xmlns:a16="http://schemas.microsoft.com/office/drawing/2014/main" id="{1D70D177-0B28-4B6B-8630-603F2410E9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441" y="163095"/>
            <a:ext cx="393576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1pPr>
            <a:lvl2pPr marL="323850" indent="-358775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9pPr>
          </a:lstStyle>
          <a:p>
            <a:pPr lvl="1" algn="l" eaLnBrk="1" hangingPunct="1">
              <a:spcBef>
                <a:spcPts val="2400"/>
              </a:spcBef>
              <a:buClr>
                <a:srgbClr val="0099FF"/>
              </a:buClr>
            </a:pPr>
            <a:r>
              <a:rPr lang="en-US" altLang="zh-CN" sz="2800" b="1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学术成果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299D7EE-06FF-4935-BCDC-2BDB7DF62424}"/>
              </a:ext>
            </a:extLst>
          </p:cNvPr>
          <p:cNvSpPr txBox="1"/>
          <p:nvPr/>
        </p:nvSpPr>
        <p:spPr>
          <a:xfrm>
            <a:off x="507521" y="1082832"/>
            <a:ext cx="11319294" cy="5683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n-US" altLang="zh-CN" sz="1800" b="1" i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Published papers: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HK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/>
              </a:rPr>
              <a:t>[1] X. Ma, W. Shi, and H. Yang, “Study on water spraying distribution to improve the energy recovery performance of indirect evaporative coolers with nozzle arrangement optimization,” Applied Energy, vol. 318, 2022.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HK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/>
              </a:rPr>
              <a:t>[2] X. Ma, W. Shi, and H. Yang, “Improving the performance of indirect evaporative cooler for energy recovery from the perspective of nozzle configuration: A CFD model analysis,” Journal of Building Engineering, vol. 76, p. 107195, 2023/10/01/ 2023.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HK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/>
              </a:rPr>
              <a:t>[3] X. Ma, W. Shi, and H. Yang, “Spray parameter analysis and performance optimization of indirect evaporative cooler considering surface wettability,” Journal of Building Engineering, vol. 82, p. 108175, 2024/04/01/ 2024.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HK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/>
              </a:rPr>
              <a:t>[4] X. Ma, W. Shi, Lin Lu and H. Yang, “Performance assessment and optimization of water spray strategy for indirect evaporative cooler based on artificial neural network </a:t>
            </a:r>
            <a:r>
              <a:rPr lang="en-HK" altLang="zh-CN" sz="1600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/>
              </a:rPr>
              <a:t>modeling</a:t>
            </a:r>
            <a:r>
              <a:rPr lang="en-HK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/>
              </a:rPr>
              <a:t> and genetic algorithm,” Applied Energy, vol. 318, 2024.</a:t>
            </a:r>
            <a:endParaRPr lang="en-US" altLang="zh-CN" sz="16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altLang="zh-CN" sz="1800" b="1" i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Conference papers: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HK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/>
              </a:rPr>
              <a:t>[1] X. MA, W. Shi, and H. Yang. Study on water spraying distribution for improvement of indirect evaporative coolers with nozzle arrangement optimization. The 13th International Conference on Applied Energy (ICAE2021), virtual, 29 Nov - 2 Dec, 2021.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HK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/>
              </a:rPr>
              <a:t>[2] X. MA, W. Shi, and H. Yang. Effect of spray nozzle parameters on surface wettability and performance improvement of indirect evaporative cooler. The 2022 MIT "A+B" Applied Energy Symposium (MITAB 2022), virtual, 5-8 July, 2022.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HK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/>
              </a:rPr>
              <a:t>[3] X. MA, W. Shi, and H. Yang. Development of a wettability combined CFD model of indirect evaporative cooler with spray and water film optimization. The 14th International Conference on Applied Energy (ICAE2022), Bochum, Germany, 8-11 Aug, 2022.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endParaRPr lang="en-US" altLang="zh-CN" sz="1600" dirty="0">
              <a:latin typeface="Times New Roman" panose="02020603050405020304" pitchFamily="18" charset="0"/>
              <a:ea typeface="SimSun" panose="02010600030101010101" pitchFamily="2" charset="-122"/>
              <a:cs typeface="Times New Roman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02CC68C-4AA8-48E0-9062-C9841BB47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15884886-3D85-4AFD-9D94-33E4AF7428DD}" type="slidenum">
              <a:rPr lang="en-US" altLang="zh-CN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59</a:t>
            </a:fld>
            <a:endParaRPr lang="en-US" altLang="zh-CN">
              <a:latin typeface="Times New Roman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22355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87"/>
    </mc:Choice>
    <mc:Fallback xmlns="">
      <p:transition spd="slow" advTm="4687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5"/>
          <p:cNvSpPr>
            <a:spLocks noChangeArrowheads="1"/>
          </p:cNvSpPr>
          <p:nvPr/>
        </p:nvSpPr>
        <p:spPr bwMode="auto">
          <a:xfrm>
            <a:off x="2192866" y="4419600"/>
            <a:ext cx="31242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000">
                <a:solidFill>
                  <a:schemeClr val="bg2"/>
                </a:solidFill>
                <a:latin typeface="Times New Roman" panose="020B0604020202020204" pitchFamily="34" charset="0"/>
                <a:ea typeface="SimSun" panose="020B0600070205080204" pitchFamily="34" charset="-128"/>
                <a:cs typeface="Times New Roman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  <a:latin typeface="Times New Roman" panose="020B0604020202020204" pitchFamily="34" charset="0"/>
                <a:ea typeface="SimSun" panose="020B0600070205080204" pitchFamily="34" charset="-128"/>
                <a:cs typeface="Times New Roman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bg2"/>
                </a:solidFill>
                <a:latin typeface="Times New Roman" panose="020B0604020202020204" pitchFamily="34" charset="0"/>
                <a:ea typeface="SimSun" panose="020B0600070205080204" pitchFamily="34" charset="-128"/>
                <a:cs typeface="Times New Roman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  <a:latin typeface="Times New Roman" panose="020B0604020202020204" pitchFamily="34" charset="0"/>
                <a:ea typeface="SimSun" panose="020B0600070205080204" pitchFamily="34" charset="-128"/>
                <a:cs typeface="Times New Roman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bg2"/>
                </a:solidFill>
                <a:latin typeface="Times New Roman" panose="020B0604020202020204" pitchFamily="34" charset="0"/>
                <a:ea typeface="SimSun" panose="020B0600070205080204" pitchFamily="34" charset="-128"/>
                <a:cs typeface="Times New Roman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 panose="020B0604020202020204" pitchFamily="34" charset="0"/>
                <a:ea typeface="SimSun" panose="020B0600070205080204" pitchFamily="34" charset="-128"/>
                <a:cs typeface="Times New Roman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 panose="020B0604020202020204" pitchFamily="34" charset="0"/>
                <a:ea typeface="SimSun" panose="020B0600070205080204" pitchFamily="34" charset="-128"/>
                <a:cs typeface="Times New Roman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 panose="020B0604020202020204" pitchFamily="34" charset="0"/>
                <a:ea typeface="SimSun" panose="020B0600070205080204" pitchFamily="34" charset="-128"/>
                <a:cs typeface="Times New Roman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 panose="020B0604020202020204" pitchFamily="34" charset="0"/>
                <a:ea typeface="SimSun" panose="020B0600070205080204" pitchFamily="34" charset="-128"/>
                <a:cs typeface="Times New Roman"/>
              </a:defRPr>
            </a:lvl9pPr>
          </a:lstStyle>
          <a:p>
            <a:pPr algn="ctr" eaLnBrk="1" hangingPunct="1">
              <a:buFontTx/>
              <a:buNone/>
            </a:pPr>
            <a:endParaRPr lang="zh-CN" altLang="zh-CN" sz="1600">
              <a:solidFill>
                <a:srgbClr val="000000"/>
              </a:solidFill>
              <a:latin typeface="Times New Roman"/>
              <a:ea typeface="SimSun" panose="020B0604020202020204" pitchFamily="34" charset="-128"/>
              <a:cs typeface="Times New Roman"/>
            </a:endParaRPr>
          </a:p>
        </p:txBody>
      </p:sp>
      <p:sp>
        <p:nvSpPr>
          <p:cNvPr id="19460" name="Rectangle 6"/>
          <p:cNvSpPr>
            <a:spLocks noGrp="1" noChangeArrowheads="1"/>
          </p:cNvSpPr>
          <p:nvPr>
            <p:ph type="ctrTitle" sz="quarter"/>
          </p:nvPr>
        </p:nvSpPr>
        <p:spPr>
          <a:xfrm>
            <a:off x="1638300" y="2438401"/>
            <a:ext cx="8915400" cy="1927225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en-HK" altLang="zh-CN" sz="6000" i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谢谢！</a:t>
            </a:r>
          </a:p>
          <a:p>
            <a:pPr algn="l">
              <a:lnSpc>
                <a:spcPct val="150000"/>
              </a:lnSpc>
            </a:pPr>
            <a:r>
              <a:rPr lang="en-HK" altLang="zh-CN" sz="6000" i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敬请批评指正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7B468AD-3765-4211-97AE-355D9398DFA4}"/>
              </a:ext>
            </a:extLst>
          </p:cNvPr>
          <p:cNvSpPr/>
          <p:nvPr/>
        </p:nvSpPr>
        <p:spPr bwMode="auto">
          <a:xfrm>
            <a:off x="6875253" y="0"/>
            <a:ext cx="5316747" cy="1204667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endParaRPr lang="zh-CN" altLang="en-US" sz="3200">
              <a:solidFill>
                <a:schemeClr val="bg2"/>
              </a:solidFill>
              <a:latin typeface="Times New Roman" charset="0"/>
              <a:ea typeface="SimSun"/>
              <a:cs typeface="Times New Roman"/>
            </a:endParaRPr>
          </a:p>
        </p:txBody>
      </p:sp>
      <p:sp>
        <p:nvSpPr>
          <p:cNvPr id="9" name="灯片编号占位符 3">
            <a:extLst>
              <a:ext uri="{FF2B5EF4-FFF2-40B4-BE49-F238E27FC236}">
                <a16:creationId xmlns:a16="http://schemas.microsoft.com/office/drawing/2014/main" id="{6536BF76-C0A7-4A5C-858D-470D1876950F}"/>
              </a:ext>
            </a:extLst>
          </p:cNvPr>
          <p:cNvSpPr txBox="1">
            <a:spLocks/>
          </p:cNvSpPr>
          <p:nvPr/>
        </p:nvSpPr>
        <p:spPr>
          <a:xfrm>
            <a:off x="10058400" y="6395053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>
                <a:latin typeface="Times New Roman"/>
                <a:ea typeface="SimSun"/>
                <a:cs typeface="Times New Roman"/>
              </a:defRPr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9pPr>
          </a:lstStyle>
          <a:p>
            <a:pPr algn="r">
              <a:defRPr>
                <a:latin typeface="Times New Roman"/>
                <a:ea typeface="SimSun"/>
                <a:cs typeface="Times New Roman"/>
              </a:defRPr>
            </a:pPr>
            <a:fld id="{15884886-3D85-4AFD-9D94-33E4AF7428DD}" type="slidenum">
              <a:rPr lang="en-US" altLang="zh-CN" sz="1200">
                <a:solidFill>
                  <a:srgbClr val="898989"/>
                </a:solidFill>
                <a:latin typeface="Times New Roman"/>
                <a:ea typeface="SimSun"/>
                <a:cs typeface="Times New Roman"/>
              </a:rPr>
              <a:pPr algn="r">
                <a:defRPr>
                  <a:latin typeface="Times New Roman"/>
                  <a:ea typeface="SimSun"/>
                  <a:cs typeface="Times New Roman"/>
                </a:defRPr>
              </a:pPr>
              <a:t>60</a:t>
            </a:fld>
            <a:endParaRPr lang="en-US" altLang="zh-CN" sz="1200" dirty="0">
              <a:solidFill>
                <a:srgbClr val="898989"/>
              </a:solidFill>
              <a:latin typeface="Times New Roman"/>
              <a:ea typeface="SimSun"/>
              <a:cs typeface="Times New Roman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278B0D7-5E4A-4E2D-B1F8-C498ECFB25C3}"/>
              </a:ext>
            </a:extLst>
          </p:cNvPr>
          <p:cNvSpPr/>
          <p:nvPr/>
        </p:nvSpPr>
        <p:spPr bwMode="auto">
          <a:xfrm>
            <a:off x="10075653" y="146649"/>
            <a:ext cx="2346385" cy="111259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Times New Roman" charset="0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99825183"/>
      </p:ext>
    </p:extLst>
  </p:cSld>
  <p:clrMapOvr>
    <a:masterClrMapping/>
  </p:clrMapOvr>
  <p:transition spd="slow" advTm="22901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E47B88EA-F4F3-B3C2-BF2D-E7FF5F546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232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>
              <a:latin typeface="Times New Roman"/>
              <a:ea typeface="SimSun"/>
              <a:cs typeface="Times New Roman"/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9591E8A8-4CAD-45AF-EB7D-DB21CF6852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232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>
              <a:latin typeface="Times New Roman"/>
              <a:ea typeface="SimSun"/>
              <a:cs typeface="Times New Roman"/>
            </a:endParaRP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C8C92458-B04A-08B5-453C-ED3BC9E702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3517" y="6727195"/>
            <a:ext cx="344966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1100">
                <a:latin typeface="Times New Roman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    </a:t>
            </a:r>
            <a:endParaRPr lang="en-US" altLang="zh-CN" sz="1800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15" name="Rectangle 18">
            <a:extLst>
              <a:ext uri="{FF2B5EF4-FFF2-40B4-BE49-F238E27FC236}">
                <a16:creationId xmlns:a16="http://schemas.microsoft.com/office/drawing/2014/main" id="{BC658CD1-871B-0AF6-8CB0-4FCB617027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1855" y="7964144"/>
            <a:ext cx="248786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1100" i="1">
                <a:latin typeface="Times New Roman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 </a:t>
            </a:r>
            <a:endParaRPr lang="en-US" altLang="zh-CN" sz="1800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17" name="Rectangle 20">
            <a:extLst>
              <a:ext uri="{FF2B5EF4-FFF2-40B4-BE49-F238E27FC236}">
                <a16:creationId xmlns:a16="http://schemas.microsoft.com/office/drawing/2014/main" id="{2BFF3A44-E09A-9464-BFB0-878683DE36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3765" y="12336119"/>
            <a:ext cx="344966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1100">
                <a:latin typeface="Times New Roman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    </a:t>
            </a:r>
            <a:endParaRPr lang="en-US" altLang="zh-CN" sz="1800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18" name="Rectangle 21">
            <a:extLst>
              <a:ext uri="{FF2B5EF4-FFF2-40B4-BE49-F238E27FC236}">
                <a16:creationId xmlns:a16="http://schemas.microsoft.com/office/drawing/2014/main" id="{65FCB56F-B73E-952B-18B4-AE1D2ECC78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7735" y="14317319"/>
            <a:ext cx="377026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1100">
                <a:latin typeface="Times New Roman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en-US" altLang="zh-CN" sz="1100" i="1">
                <a:latin typeface="Times New Roman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endParaRPr lang="en-US" altLang="zh-CN" sz="1800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19" name="Rectangle 22">
            <a:extLst>
              <a:ext uri="{FF2B5EF4-FFF2-40B4-BE49-F238E27FC236}">
                <a16:creationId xmlns:a16="http://schemas.microsoft.com/office/drawing/2014/main" id="{E8006BBB-C852-DF42-DD43-574C72BFC5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2867" y="16402550"/>
            <a:ext cx="3866763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 sz="1100">
                <a:latin typeface="Times New Roman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（c）上侧布置               （d）下侧布置</a:t>
            </a:r>
          </a:p>
        </p:txBody>
      </p:sp>
      <p:sp>
        <p:nvSpPr>
          <p:cNvPr id="5" name="Content Placeholder 23">
            <a:extLst>
              <a:ext uri="{FF2B5EF4-FFF2-40B4-BE49-F238E27FC236}">
                <a16:creationId xmlns:a16="http://schemas.microsoft.com/office/drawing/2014/main" id="{EEC3F662-50D0-19BB-E64A-65591AA5C574}"/>
              </a:ext>
            </a:extLst>
          </p:cNvPr>
          <p:cNvSpPr txBox="1">
            <a:spLocks/>
          </p:cNvSpPr>
          <p:nvPr/>
        </p:nvSpPr>
        <p:spPr bwMode="auto">
          <a:xfrm>
            <a:off x="388998" y="945844"/>
            <a:ext cx="4490331" cy="37911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234950" indent="-23495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 pitchFamily="-111" charset="-128"/>
              </a:defRPr>
            </a:lvl1pPr>
            <a:lvl2pPr marL="576263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2pPr>
            <a:lvl3pPr marL="866775" indent="-176213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3pPr>
            <a:lvl4pPr marL="1196975" indent="-1635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4pPr>
            <a:lvl5pPr marL="1604963" indent="-176213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5pPr>
            <a:lvl6pPr marL="20621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6pPr>
            <a:lvl7pPr marL="25193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7pPr>
            <a:lvl8pPr marL="29765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8pPr>
            <a:lvl9pPr marL="34337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9pPr>
          </a:lstStyle>
          <a:p>
            <a:pPr marL="285750" lvl="1" indent="-285750" algn="l">
              <a:spcBef>
                <a:spcPts val="1200"/>
              </a:spcBef>
              <a:spcAft>
                <a:spcPts val="1200"/>
              </a:spcAft>
              <a:buClrTx/>
              <a:buFont typeface="Wingdings" panose="05000000000000000000" pitchFamily="2" charset="2"/>
              <a:buChar char="Ø"/>
              <a:defRPr>
                <a:latin typeface="Times New Roman"/>
                <a:ea typeface="SimSun"/>
                <a:cs typeface="Times New Roman"/>
              </a:defRPr>
            </a:pPr>
            <a:r>
              <a:rPr lang="en-US" altLang="en-US" sz="1800" b="1" kern="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模型假设与适用性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A6E6B83-037F-337A-2F2C-BA728907C8FA}"/>
              </a:ext>
            </a:extLst>
          </p:cNvPr>
          <p:cNvSpPr txBox="1"/>
          <p:nvPr/>
        </p:nvSpPr>
        <p:spPr>
          <a:xfrm>
            <a:off x="5570146" y="2890109"/>
            <a:ext cx="5565133" cy="149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HK" altLang="zh-CN" sz="16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边界不均匀：实际喷淋区域的边缘未必平直，分布也未必均匀。</a:t>
            </a:r>
          </a:p>
          <a:p>
            <a:pPr marL="285750" indent="-285750" algn="l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HK" altLang="zh-CN" sz="16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复杂几何形态：实际喷雾可能呈椭圆形或扇形，圆锥模型对其进行了简化。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E9AB80-94C7-4782-9A17-1570D2B4D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15884886-3D85-4AFD-9D94-33E4AF7428DD}" type="slidenum">
              <a:rPr lang="en-US" altLang="zh-CN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61</a:t>
            </a:fld>
            <a:endParaRPr lang="en-US" altLang="zh-CN">
              <a:latin typeface="Times New Roman"/>
              <a:ea typeface="SimSun"/>
              <a:cs typeface="Times New Roman"/>
            </a:endParaRPr>
          </a:p>
        </p:txBody>
      </p:sp>
      <p:sp>
        <p:nvSpPr>
          <p:cNvPr id="11" name="Rectangle 223">
            <a:extLst>
              <a:ext uri="{FF2B5EF4-FFF2-40B4-BE49-F238E27FC236}">
                <a16:creationId xmlns:a16="http://schemas.microsoft.com/office/drawing/2014/main" id="{00D7A72C-B310-4C20-AAD3-3A2C842E38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1855" y="312930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latin typeface="Times New Roman"/>
              <a:ea typeface="SimSun"/>
              <a:cs typeface="Times New Roman"/>
            </a:endParaRPr>
          </a:p>
        </p:txBody>
      </p:sp>
      <p:sp>
        <p:nvSpPr>
          <p:cNvPr id="20" name="矩形 3">
            <a:extLst>
              <a:ext uri="{FF2B5EF4-FFF2-40B4-BE49-F238E27FC236}">
                <a16:creationId xmlns:a16="http://schemas.microsoft.com/office/drawing/2014/main" id="{34CB1C1B-84EC-490A-8EAD-C1DF75371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441" y="163095"/>
            <a:ext cx="393576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1pPr>
            <a:lvl2pPr marL="323850" indent="-358775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9pPr>
          </a:lstStyle>
          <a:p>
            <a:pPr lvl="1" algn="l" eaLnBrk="1" hangingPunct="1">
              <a:spcBef>
                <a:spcPts val="2400"/>
              </a:spcBef>
              <a:buClr>
                <a:srgbClr val="0099FF"/>
              </a:buClr>
            </a:pPr>
            <a:r>
              <a:rPr lang="en-US" altLang="zh-CN" sz="2800" b="1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附录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EEE6AE59-936D-4886-9C6E-93468EC9EC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721" y="1411964"/>
            <a:ext cx="3397479" cy="3036684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4C39DAEE-41EF-4805-9722-7800E5711F56}"/>
              </a:ext>
            </a:extLst>
          </p:cNvPr>
          <p:cNvSpPr/>
          <p:nvPr/>
        </p:nvSpPr>
        <p:spPr>
          <a:xfrm>
            <a:off x="911441" y="4535650"/>
            <a:ext cx="479206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HK" sz="12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Fig. 8.2 </a:t>
            </a:r>
            <a:r>
              <a:rPr lang="en-HK" sz="12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Geometry used in volumetric flux distribution model</a:t>
            </a:r>
            <a:r>
              <a:rPr lang="en-US" sz="1200" baseline="300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[1]</a:t>
            </a:r>
            <a:endParaRPr lang="en-HK" sz="1200" dirty="0">
              <a:solidFill>
                <a:prstClr val="black"/>
              </a:solidFill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2F085F9-31D7-47A5-AEDD-519917B26AE2}"/>
              </a:ext>
            </a:extLst>
          </p:cNvPr>
          <p:cNvSpPr/>
          <p:nvPr/>
        </p:nvSpPr>
        <p:spPr>
          <a:xfrm>
            <a:off x="5396696" y="1439745"/>
            <a:ext cx="5641418" cy="11560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HK" sz="1600" b="1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模型假设：</a:t>
            </a:r>
          </a:p>
          <a:p>
            <a:pPr algn="l">
              <a:lnSpc>
                <a:spcPct val="150000"/>
              </a:lnSpc>
            </a:pPr>
            <a:r>
              <a:rPr lang="en-HK" sz="16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总喷淋流量 Q 在以喷口为球心的任一球面上均匀分布。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A92D006-AA92-4C25-A9DD-5947F2234E6F}"/>
              </a:ext>
            </a:extLst>
          </p:cNvPr>
          <p:cNvSpPr txBox="1"/>
          <p:nvPr/>
        </p:nvSpPr>
        <p:spPr>
          <a:xfrm>
            <a:off x="1219312" y="5138950"/>
            <a:ext cx="10098341" cy="1128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HK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本研究关注各微小网格内的平均结果，而非每条线、每个点的精细分布。基础模型与本研究模型均已通过验证。为提高分析精度，后续模型采用离散相模型（DPM）模拟喷雾液滴的弥散过程。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C39DB47-7C7D-4D48-B6E0-93C6E5F05628}"/>
              </a:ext>
            </a:extLst>
          </p:cNvPr>
          <p:cNvSpPr/>
          <p:nvPr/>
        </p:nvSpPr>
        <p:spPr bwMode="auto">
          <a:xfrm>
            <a:off x="5207748" y="1439745"/>
            <a:ext cx="5830366" cy="1177086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dash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Times New Roman" charset="0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0318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33"/>
    </mc:Choice>
    <mc:Fallback xmlns="">
      <p:transition spd="slow" advTm="5933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E47B88EA-F4F3-B3C2-BF2D-E7FF5F546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232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>
              <a:latin typeface="Times New Roman"/>
              <a:ea typeface="SimSun"/>
              <a:cs typeface="Times New Roman"/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9591E8A8-4CAD-45AF-EB7D-DB21CF6852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232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>
              <a:latin typeface="Times New Roman"/>
              <a:ea typeface="SimSun"/>
              <a:cs typeface="Times New Roman"/>
            </a:endParaRP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C8C92458-B04A-08B5-453C-ED3BC9E702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3517" y="6727195"/>
            <a:ext cx="344966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1100">
                <a:latin typeface="Times New Roman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    </a:t>
            </a:r>
            <a:endParaRPr lang="en-US" altLang="zh-CN" sz="1800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15" name="Rectangle 18">
            <a:extLst>
              <a:ext uri="{FF2B5EF4-FFF2-40B4-BE49-F238E27FC236}">
                <a16:creationId xmlns:a16="http://schemas.microsoft.com/office/drawing/2014/main" id="{BC658CD1-871B-0AF6-8CB0-4FCB617027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1855" y="7964144"/>
            <a:ext cx="248786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1100" i="1">
                <a:latin typeface="Times New Roman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 </a:t>
            </a:r>
            <a:endParaRPr lang="en-US" altLang="zh-CN" sz="1800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17" name="Rectangle 20">
            <a:extLst>
              <a:ext uri="{FF2B5EF4-FFF2-40B4-BE49-F238E27FC236}">
                <a16:creationId xmlns:a16="http://schemas.microsoft.com/office/drawing/2014/main" id="{2BFF3A44-E09A-9464-BFB0-878683DE36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3765" y="12336119"/>
            <a:ext cx="344966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1100">
                <a:latin typeface="Times New Roman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    </a:t>
            </a:r>
            <a:endParaRPr lang="en-US" altLang="zh-CN" sz="1800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18" name="Rectangle 21">
            <a:extLst>
              <a:ext uri="{FF2B5EF4-FFF2-40B4-BE49-F238E27FC236}">
                <a16:creationId xmlns:a16="http://schemas.microsoft.com/office/drawing/2014/main" id="{65FCB56F-B73E-952B-18B4-AE1D2ECC78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7735" y="14317319"/>
            <a:ext cx="377026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1100">
                <a:latin typeface="Times New Roman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en-US" altLang="zh-CN" sz="1100" i="1">
                <a:latin typeface="Times New Roman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endParaRPr lang="en-US" altLang="zh-CN" sz="1800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19" name="Rectangle 22">
            <a:extLst>
              <a:ext uri="{FF2B5EF4-FFF2-40B4-BE49-F238E27FC236}">
                <a16:creationId xmlns:a16="http://schemas.microsoft.com/office/drawing/2014/main" id="{E8006BBB-C852-DF42-DD43-574C72BFC5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2867" y="16402550"/>
            <a:ext cx="3866763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 sz="1100">
                <a:latin typeface="Times New Roman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（c）上侧布置               （d）下侧布置</a:t>
            </a:r>
          </a:p>
        </p:txBody>
      </p:sp>
      <p:sp>
        <p:nvSpPr>
          <p:cNvPr id="5" name="Content Placeholder 23">
            <a:extLst>
              <a:ext uri="{FF2B5EF4-FFF2-40B4-BE49-F238E27FC236}">
                <a16:creationId xmlns:a16="http://schemas.microsoft.com/office/drawing/2014/main" id="{EEC3F662-50D0-19BB-E64A-65591AA5C574}"/>
              </a:ext>
            </a:extLst>
          </p:cNvPr>
          <p:cNvSpPr txBox="1">
            <a:spLocks/>
          </p:cNvSpPr>
          <p:nvPr/>
        </p:nvSpPr>
        <p:spPr bwMode="auto">
          <a:xfrm>
            <a:off x="388998" y="945844"/>
            <a:ext cx="4490331" cy="37911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234950" indent="-23495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 pitchFamily="-111" charset="-128"/>
              </a:defRPr>
            </a:lvl1pPr>
            <a:lvl2pPr marL="576263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2pPr>
            <a:lvl3pPr marL="866775" indent="-176213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3pPr>
            <a:lvl4pPr marL="1196975" indent="-1635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4pPr>
            <a:lvl5pPr marL="1604963" indent="-176213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5pPr>
            <a:lvl6pPr marL="20621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6pPr>
            <a:lvl7pPr marL="25193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7pPr>
            <a:lvl8pPr marL="29765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8pPr>
            <a:lvl9pPr marL="34337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9pPr>
          </a:lstStyle>
          <a:p>
            <a:pPr marL="285750" lvl="1" indent="-285750" algn="l">
              <a:spcBef>
                <a:spcPts val="1200"/>
              </a:spcBef>
              <a:spcAft>
                <a:spcPts val="1200"/>
              </a:spcAft>
              <a:buClrTx/>
              <a:buFont typeface="Wingdings" panose="05000000000000000000" pitchFamily="2" charset="2"/>
              <a:buChar char="Ø"/>
              <a:defRPr>
                <a:latin typeface="Times New Roman"/>
                <a:ea typeface="SimSun"/>
                <a:cs typeface="Times New Roman"/>
              </a:defRPr>
            </a:pPr>
            <a:r>
              <a:rPr lang="en-US" altLang="en-US" sz="1800" b="1" kern="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四种布置方案的性能差异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6E5958E-E7A8-8206-F4C3-2DB88B2C8BC3}"/>
              </a:ext>
            </a:extLst>
          </p:cNvPr>
          <p:cNvSpPr txBox="1"/>
          <p:nvPr/>
        </p:nvSpPr>
        <p:spPr>
          <a:xfrm>
            <a:off x="3371682" y="5024765"/>
            <a:ext cx="4895850" cy="280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altLang="zh-CN" sz="12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Fig. 8.5 </a:t>
            </a:r>
            <a:r>
              <a:rPr lang="en-US" altLang="zh-CN" sz="12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The coverage ratio and outlet temperature of four configurations</a:t>
            </a:r>
            <a:endParaRPr lang="zh-CN" altLang="zh-CN" sz="1200" dirty="0">
              <a:latin typeface="Times New Roman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A6E6B83-037F-337A-2F2C-BA728907C8FA}"/>
              </a:ext>
            </a:extLst>
          </p:cNvPr>
          <p:cNvSpPr txBox="1"/>
          <p:nvPr/>
        </p:nvSpPr>
        <p:spPr>
          <a:xfrm>
            <a:off x="1891380" y="5437664"/>
            <a:ext cx="8754206" cy="967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温降与水膜覆盖系数呈相同变化趋势。</a:t>
            </a:r>
          </a:p>
          <a:p>
            <a:pPr marL="285750" indent="-285750" algn="l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上侧布置的效果最佳；与最差方案相比，两项性能指标分别提升 </a:t>
            </a:r>
            <a:r>
              <a:rPr lang="en-US" altLang="zh-CN" sz="1600" dirty="0" b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59.2%</a:t>
            </a:r>
            <a:r>
              <a:rPr lang="en-US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和 </a:t>
            </a:r>
            <a:r>
              <a:rPr lang="en-US" altLang="zh-CN" sz="1600" dirty="0" b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27.4%</a:t>
            </a:r>
            <a:r>
              <a:rPr lang="en-US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E9AB80-94C7-4782-9A17-1570D2B4D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15884886-3D85-4AFD-9D94-33E4AF7428DD}" type="slidenum">
              <a:rPr lang="en-US" altLang="zh-CN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62</a:t>
            </a:fld>
            <a:endParaRPr lang="en-US" altLang="zh-CN">
              <a:latin typeface="Times New Roman"/>
              <a:ea typeface="SimSun"/>
              <a:cs typeface="Times New Roman"/>
            </a:endParaRPr>
          </a:p>
        </p:txBody>
      </p:sp>
      <p:sp>
        <p:nvSpPr>
          <p:cNvPr id="11" name="Rectangle 223">
            <a:extLst>
              <a:ext uri="{FF2B5EF4-FFF2-40B4-BE49-F238E27FC236}">
                <a16:creationId xmlns:a16="http://schemas.microsoft.com/office/drawing/2014/main" id="{00D7A72C-B310-4C20-AAD3-3A2C842E38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1855" y="312930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latin typeface="Times New Roman"/>
              <a:ea typeface="SimSun"/>
              <a:cs typeface="Times New Roman"/>
            </a:endParaRP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A0558D33-4505-4D7C-801F-DDEC2DE4CC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12064" y="1485357"/>
          <a:ext cx="4895851" cy="36856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6662246" imgH="5004486" progId="Origin95.Graph">
                  <p:embed/>
                </p:oleObj>
              </mc:Choice>
              <mc:Fallback>
                <p:oleObj name="Graph" r:id="rId3" imgW="6662246" imgH="5004486" progId="Origin95.Graph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A0558D33-4505-4D7C-801F-DDEC2DE4CC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2064" y="1485357"/>
                        <a:ext cx="4895851" cy="368564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矩形 3">
            <a:extLst>
              <a:ext uri="{FF2B5EF4-FFF2-40B4-BE49-F238E27FC236}">
                <a16:creationId xmlns:a16="http://schemas.microsoft.com/office/drawing/2014/main" id="{34CB1C1B-84EC-490A-8EAD-C1DF75371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441" y="163095"/>
            <a:ext cx="393576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1pPr>
            <a:lvl2pPr marL="323850" indent="-358775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9pPr>
          </a:lstStyle>
          <a:p>
            <a:pPr lvl="1" algn="l" eaLnBrk="1" hangingPunct="1">
              <a:spcBef>
                <a:spcPts val="2400"/>
              </a:spcBef>
              <a:buClr>
                <a:srgbClr val="0099FF"/>
              </a:buClr>
            </a:pPr>
            <a:r>
              <a:rPr lang="en-US" altLang="zh-CN" sz="2800" b="1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附录</a:t>
            </a:r>
          </a:p>
        </p:txBody>
      </p:sp>
    </p:spTree>
    <p:extLst>
      <p:ext uri="{BB962C8B-B14F-4D97-AF65-F5344CB8AC3E}">
        <p14:creationId xmlns:p14="http://schemas.microsoft.com/office/powerpoint/2010/main" val="2371143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33"/>
    </mc:Choice>
    <mc:Fallback xmlns="">
      <p:transition spd="slow" advTm="5933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E47B88EA-F4F3-B3C2-BF2D-E7FF5F546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232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>
              <a:latin typeface="Times New Roman"/>
              <a:ea typeface="SimSun"/>
              <a:cs typeface="Times New Roman"/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9591E8A8-4CAD-45AF-EB7D-DB21CF6852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232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>
              <a:latin typeface="Times New Roman"/>
              <a:ea typeface="SimSun"/>
              <a:cs typeface="Times New Roman"/>
            </a:endParaRP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C8C92458-B04A-08B5-453C-ED3BC9E702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3517" y="6727195"/>
            <a:ext cx="344966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1100">
                <a:latin typeface="Times New Roman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    </a:t>
            </a:r>
            <a:endParaRPr lang="en-US" altLang="zh-CN" sz="1800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15" name="Rectangle 18">
            <a:extLst>
              <a:ext uri="{FF2B5EF4-FFF2-40B4-BE49-F238E27FC236}">
                <a16:creationId xmlns:a16="http://schemas.microsoft.com/office/drawing/2014/main" id="{BC658CD1-871B-0AF6-8CB0-4FCB617027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1855" y="7964144"/>
            <a:ext cx="248786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1100" i="1">
                <a:latin typeface="Times New Roman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 </a:t>
            </a:r>
            <a:endParaRPr lang="en-US" altLang="zh-CN" sz="1800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17" name="Rectangle 20">
            <a:extLst>
              <a:ext uri="{FF2B5EF4-FFF2-40B4-BE49-F238E27FC236}">
                <a16:creationId xmlns:a16="http://schemas.microsoft.com/office/drawing/2014/main" id="{2BFF3A44-E09A-9464-BFB0-878683DE36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3765" y="12336119"/>
            <a:ext cx="344966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1100">
                <a:latin typeface="Times New Roman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    </a:t>
            </a:r>
            <a:endParaRPr lang="en-US" altLang="zh-CN" sz="1800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18" name="Rectangle 21">
            <a:extLst>
              <a:ext uri="{FF2B5EF4-FFF2-40B4-BE49-F238E27FC236}">
                <a16:creationId xmlns:a16="http://schemas.microsoft.com/office/drawing/2014/main" id="{65FCB56F-B73E-952B-18B4-AE1D2ECC78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7735" y="14317319"/>
            <a:ext cx="377026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1100">
                <a:latin typeface="Times New Roman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en-US" altLang="zh-CN" sz="1100" i="1">
                <a:latin typeface="Times New Roman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endParaRPr lang="en-US" altLang="zh-CN" sz="1800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19" name="Rectangle 22">
            <a:extLst>
              <a:ext uri="{FF2B5EF4-FFF2-40B4-BE49-F238E27FC236}">
                <a16:creationId xmlns:a16="http://schemas.microsoft.com/office/drawing/2014/main" id="{E8006BBB-C852-DF42-DD43-574C72BFC5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2867" y="16402550"/>
            <a:ext cx="3866763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 sz="1100">
                <a:latin typeface="Times New Roman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（c）上侧布置               （d）下侧布置</a:t>
            </a:r>
          </a:p>
        </p:txBody>
      </p:sp>
      <p:sp>
        <p:nvSpPr>
          <p:cNvPr id="5" name="Content Placeholder 23">
            <a:extLst>
              <a:ext uri="{FF2B5EF4-FFF2-40B4-BE49-F238E27FC236}">
                <a16:creationId xmlns:a16="http://schemas.microsoft.com/office/drawing/2014/main" id="{EEC3F662-50D0-19BB-E64A-65591AA5C574}"/>
              </a:ext>
            </a:extLst>
          </p:cNvPr>
          <p:cNvSpPr txBox="1">
            <a:spLocks/>
          </p:cNvSpPr>
          <p:nvPr/>
        </p:nvSpPr>
        <p:spPr bwMode="auto">
          <a:xfrm>
            <a:off x="388998" y="945844"/>
            <a:ext cx="4490331" cy="37911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234950" indent="-23495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 pitchFamily="-111" charset="-128"/>
              </a:defRPr>
            </a:lvl1pPr>
            <a:lvl2pPr marL="576263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2pPr>
            <a:lvl3pPr marL="866775" indent="-176213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3pPr>
            <a:lvl4pPr marL="1196975" indent="-1635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4pPr>
            <a:lvl5pPr marL="1604963" indent="-176213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5pPr>
            <a:lvl6pPr marL="20621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6pPr>
            <a:lvl7pPr marL="25193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7pPr>
            <a:lvl8pPr marL="29765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8pPr>
            <a:lvl9pPr marL="34337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9pPr>
          </a:lstStyle>
          <a:p>
            <a:pPr marL="285750" lvl="1" indent="-285750" algn="l">
              <a:spcBef>
                <a:spcPts val="1200"/>
              </a:spcBef>
              <a:spcAft>
                <a:spcPts val="1200"/>
              </a:spcAft>
              <a:buClrTx/>
              <a:buFont typeface="Wingdings" panose="05000000000000000000" pitchFamily="2" charset="2"/>
              <a:buChar char="Ø"/>
              <a:defRPr>
                <a:latin typeface="Times New Roman"/>
                <a:ea typeface="SimSun"/>
                <a:cs typeface="Times New Roman"/>
              </a:defRPr>
            </a:pPr>
            <a:r>
              <a:rPr lang="en-US" altLang="en-US" sz="1800" b="1" kern="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IEC–ANN 模型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A6E6B83-037F-337A-2F2C-BA728907C8FA}"/>
              </a:ext>
            </a:extLst>
          </p:cNvPr>
          <p:cNvSpPr txBox="1"/>
          <p:nvPr/>
        </p:nvSpPr>
        <p:spPr>
          <a:xfrm>
            <a:off x="6268483" y="1660745"/>
            <a:ext cx="5222033" cy="4173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HK" altLang="zh-CN" sz="16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精确测量：采用高精度仪器采集数据，并定期维护设备。</a:t>
            </a:r>
          </a:p>
          <a:p>
            <a:pPr marL="285750" indent="-285750" algn="l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HK" altLang="zh-CN" sz="16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重复与验证：开展多次重复实验，验证结果的可靠性。</a:t>
            </a:r>
          </a:p>
          <a:p>
            <a:pPr marL="285750" indent="-285750" algn="l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HK" altLang="zh-CN" sz="16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归一化与标准化：统一特征尺度，避免不同量纲影响模型训练。</a:t>
            </a:r>
          </a:p>
          <a:p>
            <a:pPr marL="285750" indent="-285750" algn="l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HK" altLang="zh-CN" sz="16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交叉验证：评估模型对未见数据的泛化能力。</a:t>
            </a:r>
          </a:p>
          <a:p>
            <a:pPr marL="285750" indent="-285750" algn="l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HK" altLang="zh-CN" sz="16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评价指标：采用模型评价参数验证预测可靠性。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E9AB80-94C7-4782-9A17-1570D2B4D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15884886-3D85-4AFD-9D94-33E4AF7428DD}" type="slidenum">
              <a:rPr lang="en-US" altLang="zh-CN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63</a:t>
            </a:fld>
            <a:endParaRPr lang="en-US" altLang="zh-CN">
              <a:latin typeface="Times New Roman"/>
              <a:ea typeface="SimSun"/>
              <a:cs typeface="Times New Roman"/>
            </a:endParaRPr>
          </a:p>
        </p:txBody>
      </p:sp>
      <p:sp>
        <p:nvSpPr>
          <p:cNvPr id="20" name="矩形 3">
            <a:extLst>
              <a:ext uri="{FF2B5EF4-FFF2-40B4-BE49-F238E27FC236}">
                <a16:creationId xmlns:a16="http://schemas.microsoft.com/office/drawing/2014/main" id="{34CB1C1B-84EC-490A-8EAD-C1DF75371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441" y="163095"/>
            <a:ext cx="393576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1pPr>
            <a:lvl2pPr marL="323850" indent="-358775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9pPr>
          </a:lstStyle>
          <a:p>
            <a:pPr lvl="1" algn="l" eaLnBrk="1" hangingPunct="1">
              <a:spcBef>
                <a:spcPts val="2400"/>
              </a:spcBef>
              <a:buClr>
                <a:srgbClr val="0099FF"/>
              </a:buClr>
            </a:pPr>
            <a:r>
              <a:rPr lang="en-US" altLang="zh-CN" sz="2800" b="1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附录</a:t>
            </a: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94BC13B0-4A28-422E-A87C-E913D399644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447" y="1746191"/>
            <a:ext cx="5513070" cy="3779520"/>
          </a:xfrm>
          <a:prstGeom prst="rect">
            <a:avLst/>
          </a:prstGeom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DF470D1D-9E7F-4D72-A435-F6956581D399}"/>
              </a:ext>
            </a:extLst>
          </p:cNvPr>
          <p:cNvSpPr/>
          <p:nvPr/>
        </p:nvSpPr>
        <p:spPr>
          <a:xfrm>
            <a:off x="1962612" y="5501922"/>
            <a:ext cx="324685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HK" sz="1200" b="1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Fig.8.6 </a:t>
            </a:r>
            <a:r>
              <a:rPr lang="en-HK" sz="1200" dirty="0">
                <a:solidFill>
                  <a:prstClr val="black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Structure of the IEC-ANN model</a:t>
            </a:r>
          </a:p>
        </p:txBody>
      </p:sp>
    </p:spTree>
    <p:extLst>
      <p:ext uri="{BB962C8B-B14F-4D97-AF65-F5344CB8AC3E}">
        <p14:creationId xmlns:p14="http://schemas.microsoft.com/office/powerpoint/2010/main" val="1530083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33"/>
    </mc:Choice>
    <mc:Fallback xmlns="">
      <p:transition spd="slow" advTm="5933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E47B88EA-F4F3-B3C2-BF2D-E7FF5F546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232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>
              <a:latin typeface="Times New Roman"/>
              <a:ea typeface="SimSun"/>
              <a:cs typeface="Times New Roman"/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9591E8A8-4CAD-45AF-EB7D-DB21CF6852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232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>
              <a:latin typeface="Times New Roman"/>
              <a:ea typeface="SimSun"/>
              <a:cs typeface="Times New Roman"/>
            </a:endParaRP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C8C92458-B04A-08B5-453C-ED3BC9E702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3517" y="6727195"/>
            <a:ext cx="344966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1100">
                <a:latin typeface="Times New Roman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    </a:t>
            </a:r>
            <a:endParaRPr lang="en-US" altLang="zh-CN" sz="1800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15" name="Rectangle 18">
            <a:extLst>
              <a:ext uri="{FF2B5EF4-FFF2-40B4-BE49-F238E27FC236}">
                <a16:creationId xmlns:a16="http://schemas.microsoft.com/office/drawing/2014/main" id="{BC658CD1-871B-0AF6-8CB0-4FCB617027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1855" y="7964144"/>
            <a:ext cx="248786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1100" i="1">
                <a:latin typeface="Times New Roman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 </a:t>
            </a:r>
            <a:endParaRPr lang="en-US" altLang="zh-CN" sz="1800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17" name="Rectangle 20">
            <a:extLst>
              <a:ext uri="{FF2B5EF4-FFF2-40B4-BE49-F238E27FC236}">
                <a16:creationId xmlns:a16="http://schemas.microsoft.com/office/drawing/2014/main" id="{2BFF3A44-E09A-9464-BFB0-878683DE36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3765" y="12336119"/>
            <a:ext cx="344966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1100">
                <a:latin typeface="Times New Roman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    </a:t>
            </a:r>
            <a:endParaRPr lang="en-US" altLang="zh-CN" sz="1800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18" name="Rectangle 21">
            <a:extLst>
              <a:ext uri="{FF2B5EF4-FFF2-40B4-BE49-F238E27FC236}">
                <a16:creationId xmlns:a16="http://schemas.microsoft.com/office/drawing/2014/main" id="{65FCB56F-B73E-952B-18B4-AE1D2ECC78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7735" y="14317319"/>
            <a:ext cx="377026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1100">
                <a:latin typeface="Times New Roman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en-US" altLang="zh-CN" sz="1100" i="1">
                <a:latin typeface="Times New Roman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endParaRPr lang="en-US" altLang="zh-CN" sz="1800">
              <a:latin typeface="Times New Roman" panose="020B0604020202020204" pitchFamily="34" charset="0"/>
              <a:ea typeface="SimSun"/>
              <a:cs typeface="Times New Roman"/>
            </a:endParaRPr>
          </a:p>
        </p:txBody>
      </p:sp>
      <p:sp>
        <p:nvSpPr>
          <p:cNvPr id="19" name="Rectangle 22">
            <a:extLst>
              <a:ext uri="{FF2B5EF4-FFF2-40B4-BE49-F238E27FC236}">
                <a16:creationId xmlns:a16="http://schemas.microsoft.com/office/drawing/2014/main" id="{E8006BBB-C852-DF42-DD43-574C72BFC5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2867" y="16402550"/>
            <a:ext cx="3866763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 sz="1100">
                <a:latin typeface="Times New Roman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（c）上侧布置               （d）下侧布置</a:t>
            </a:r>
          </a:p>
        </p:txBody>
      </p:sp>
      <p:sp>
        <p:nvSpPr>
          <p:cNvPr id="5" name="Content Placeholder 23">
            <a:extLst>
              <a:ext uri="{FF2B5EF4-FFF2-40B4-BE49-F238E27FC236}">
                <a16:creationId xmlns:a16="http://schemas.microsoft.com/office/drawing/2014/main" id="{EEC3F662-50D0-19BB-E64A-65591AA5C574}"/>
              </a:ext>
            </a:extLst>
          </p:cNvPr>
          <p:cNvSpPr txBox="1">
            <a:spLocks/>
          </p:cNvSpPr>
          <p:nvPr/>
        </p:nvSpPr>
        <p:spPr bwMode="auto">
          <a:xfrm>
            <a:off x="388998" y="945844"/>
            <a:ext cx="4490331" cy="37911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234950" indent="-23495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 pitchFamily="-111" charset="-128"/>
              </a:defRPr>
            </a:lvl1pPr>
            <a:lvl2pPr marL="576263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2pPr>
            <a:lvl3pPr marL="866775" indent="-176213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3pPr>
            <a:lvl4pPr marL="1196975" indent="-1635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4pPr>
            <a:lvl5pPr marL="1604963" indent="-176213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panose="020B0600070205080204" pitchFamily="34" charset="-128"/>
                <a:cs typeface="Times New Roman"/>
              </a:defRPr>
            </a:lvl5pPr>
            <a:lvl6pPr marL="20621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6pPr>
            <a:lvl7pPr marL="25193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7pPr>
            <a:lvl8pPr marL="29765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8pPr>
            <a:lvl9pPr marL="3433763" indent="-176213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bg2"/>
                </a:solidFill>
                <a:latin typeface="Times New Roman"/>
                <a:ea typeface="SimSun" charset="-128"/>
                <a:cs typeface="Times New Roman"/>
              </a:defRPr>
            </a:lvl9pPr>
          </a:lstStyle>
          <a:p>
            <a:pPr marL="285750" lvl="1" indent="-285750" algn="l">
              <a:spcBef>
                <a:spcPts val="1200"/>
              </a:spcBef>
              <a:spcAft>
                <a:spcPts val="1200"/>
              </a:spcAft>
              <a:buClrTx/>
              <a:buFont typeface="Wingdings" panose="05000000000000000000" pitchFamily="2" charset="2"/>
              <a:buChar char="Ø"/>
              <a:defRPr>
                <a:latin typeface="Times New Roman"/>
                <a:ea typeface="SimSun"/>
                <a:cs typeface="Times New Roman"/>
              </a:defRPr>
            </a:pPr>
            <a:r>
              <a:rPr lang="en-US" altLang="en-US" sz="1800" b="1" kern="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水膜厚度验证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E9AB80-94C7-4782-9A17-1570D2B4D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  <a:ea typeface="SimSun"/>
                <a:cs typeface="Times New Roman"/>
              </a:defRPr>
            </a:pPr>
            <a:fld id="{15884886-3D85-4AFD-9D94-33E4AF7428DD}" type="slidenum">
              <a:rPr lang="en-US" altLang="zh-CN" smtClean="0">
                <a:latin typeface="Times New Roman"/>
                <a:ea typeface="SimSun"/>
                <a:cs typeface="Times New Roman"/>
              </a:rPr>
              <a:pPr>
                <a:defRPr>
                  <a:latin typeface="Times New Roman"/>
                  <a:ea typeface="SimSun"/>
                  <a:cs typeface="Times New Roman"/>
                </a:defRPr>
              </a:pPr>
              <a:t>64</a:t>
            </a:fld>
            <a:endParaRPr lang="en-US" altLang="zh-CN">
              <a:latin typeface="Times New Roman"/>
              <a:ea typeface="SimSun"/>
              <a:cs typeface="Times New Roman"/>
            </a:endParaRPr>
          </a:p>
        </p:txBody>
      </p:sp>
      <p:sp>
        <p:nvSpPr>
          <p:cNvPr id="11" name="Rectangle 223">
            <a:extLst>
              <a:ext uri="{FF2B5EF4-FFF2-40B4-BE49-F238E27FC236}">
                <a16:creationId xmlns:a16="http://schemas.microsoft.com/office/drawing/2014/main" id="{00D7A72C-B310-4C20-AAD3-3A2C842E38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1855" y="312930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latin typeface="Times New Roman"/>
              <a:ea typeface="SimSun"/>
              <a:cs typeface="Times New Roman"/>
            </a:endParaRPr>
          </a:p>
        </p:txBody>
      </p:sp>
      <p:sp>
        <p:nvSpPr>
          <p:cNvPr id="20" name="矩形 3">
            <a:extLst>
              <a:ext uri="{FF2B5EF4-FFF2-40B4-BE49-F238E27FC236}">
                <a16:creationId xmlns:a16="http://schemas.microsoft.com/office/drawing/2014/main" id="{34CB1C1B-84EC-490A-8EAD-C1DF75371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441" y="163095"/>
            <a:ext cx="393576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1pPr>
            <a:lvl2pPr marL="323850" indent="-358775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B0604030504040204" pitchFamily="34" charset="0"/>
                <a:ea typeface="SimSun" panose="020B0604020202020204" pitchFamily="34" charset="-128"/>
                <a:cs typeface="Times New Roman" panose="020B0604020202020204" pitchFamily="34" charset="-128"/>
              </a:defRPr>
            </a:lvl9pPr>
          </a:lstStyle>
          <a:p>
            <a:pPr lvl="1" algn="l" eaLnBrk="1" hangingPunct="1">
              <a:spcBef>
                <a:spcPts val="2400"/>
              </a:spcBef>
              <a:buClr>
                <a:srgbClr val="0099FF"/>
              </a:buClr>
            </a:pPr>
            <a:r>
              <a:rPr lang="en-US" altLang="zh-CN" sz="2800" b="1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附录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D5119FC1-DE95-4D40-81E9-985D8969E4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8640969"/>
              </p:ext>
            </p:extLst>
          </p:nvPr>
        </p:nvGraphicFramePr>
        <p:xfrm>
          <a:off x="3914607" y="1340418"/>
          <a:ext cx="3810000" cy="321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6246376" imgH="5282235" progId="Origin95.Graph">
                  <p:embed/>
                </p:oleObj>
              </mc:Choice>
              <mc:Fallback>
                <p:oleObj name="Graph" r:id="rId3" imgW="6246376" imgH="5282235" progId="Origin95.Graph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4607" y="1340418"/>
                        <a:ext cx="3810000" cy="3216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4E3D6147-4C76-42AA-B17D-C4B6E87525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6146" y="4460937"/>
            <a:ext cx="5959708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 bmk="_Toc168350228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Fig. 8.7 </a:t>
            </a:r>
            <a:r>
              <a:rPr lang="en-US" altLang="en-US" sz="1200" dirty="0" err="1" bmk="_Toc168350228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Valdation</a:t>
            </a:r>
            <a:r>
              <a:rPr lang="en-US" altLang="en-US" sz="1200" dirty="0" bmk="_Toc168350228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of film thickness between simulation results and Nusselt empirical formula</a:t>
            </a:r>
            <a:endParaRPr lang="en-US" altLang="en-US" sz="12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5FD60F98-ACFF-41DC-B62B-D643BCE5C6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6804" y="2786825"/>
            <a:ext cx="2468359" cy="642175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8B772533-C987-4453-BCC5-D5778C960F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5560" y="5434987"/>
            <a:ext cx="4847656" cy="906337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85402440-9961-409A-BC48-AA94924C7796}"/>
              </a:ext>
            </a:extLst>
          </p:cNvPr>
          <p:cNvSpPr txBox="1"/>
          <p:nvPr/>
        </p:nvSpPr>
        <p:spPr>
          <a:xfrm>
            <a:off x="976980" y="5348561"/>
            <a:ext cx="2298065" cy="338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不确定性分析：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9A4FFE56-DB2D-4766-A2FF-992EBB70A6BE}"/>
                  </a:ext>
                </a:extLst>
              </p:cNvPr>
              <p:cNvSpPr txBox="1"/>
              <p:nvPr/>
            </p:nvSpPr>
            <p:spPr>
              <a:xfrm>
                <a:off x="9309100" y="5719307"/>
                <a:ext cx="2298065" cy="3380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altLang="zh-CN" sz="1600" i="1" dirty="0">
                    <a:latin typeface="Times New Roman" panose="020206030504050203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Less than 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Times New Roman" panose="02040503050406030204" pitchFamily="18" charset="0"/>
                        <a:ea typeface="SimSun" panose="02040503050406030204" pitchFamily="18" charset="0"/>
                        <a:cs typeface="Times New Roman" panose="02020603050405020304" pitchFamily="18" charset="0"/>
                      </a:rPr>
                      <m:t>±</m:t>
                    </m:r>
                  </m:oMath>
                </a14:m>
                <a:r>
                  <a:rPr lang="en-US" altLang="zh-CN" sz="1600" i="1" dirty="0">
                    <a:latin typeface="Times New Roman" panose="020206030504050203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2.5%</a:t>
                </a: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9A4FFE56-DB2D-4766-A2FF-992EBB70A6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9100" y="5719307"/>
                <a:ext cx="2298065" cy="338041"/>
              </a:xfrm>
              <a:prstGeom prst="rect">
                <a:avLst/>
              </a:prstGeom>
              <a:blipFill>
                <a:blip r:embed="rId8"/>
                <a:stretch>
                  <a:fillRect l="-1326" t="-5357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  <a:latin typeface="Times New Roman"/>
                    <a:ea typeface="SimSun"/>
                    <a:cs typeface="Times New Roman"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9687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33"/>
    </mc:Choice>
    <mc:Fallback xmlns="">
      <p:transition spd="slow" advTm="5933"/>
    </mc:Fallback>
  </mc:AlternateContent>
</p:sld>
</file>

<file path=ppt/theme/theme1.xml><?xml version="1.0" encoding="utf-8"?>
<a:theme xmlns:a="http://schemas.openxmlformats.org/drawingml/2006/main" name="EBPS Template">
  <a:themeElements>
    <a:clrScheme name="EBPS Template 10">
      <a:dk1>
        <a:srgbClr val="000000"/>
      </a:dk1>
      <a:lt1>
        <a:srgbClr val="FFFFFF"/>
      </a:lt1>
      <a:dk2>
        <a:srgbClr val="FFFFFF"/>
      </a:dk2>
      <a:lt2>
        <a:srgbClr val="000000"/>
      </a:lt2>
      <a:accent1>
        <a:srgbClr val="567EB9"/>
      </a:accent1>
      <a:accent2>
        <a:srgbClr val="ED8500"/>
      </a:accent2>
      <a:accent3>
        <a:srgbClr val="FFFFFF"/>
      </a:accent3>
      <a:accent4>
        <a:srgbClr val="000000"/>
      </a:accent4>
      <a:accent5>
        <a:srgbClr val="B4C0D9"/>
      </a:accent5>
      <a:accent6>
        <a:srgbClr val="D77800"/>
      </a:accent6>
      <a:hlink>
        <a:srgbClr val="0033CC"/>
      </a:hlink>
      <a:folHlink>
        <a:srgbClr val="B2B2B2"/>
      </a:folHlink>
    </a:clrScheme>
    <a:fontScheme name="EBPS Template">
      <a:majorFont>
        <a:latin typeface="Times New Roman"/>
        <a:ea typeface="SimSun"/>
        <a:cs typeface="Times New Roman"/>
      </a:majorFont>
      <a:minorFont>
        <a:latin typeface="Times New Roman"/>
        <a:ea typeface="SimSun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>
            <a:ln>
              <a:noFill/>
            </a:ln>
            <a:solidFill>
              <a:schemeClr val="bg2"/>
            </a:solidFill>
            <a:effectLst/>
            <a:latin typeface="Times New Roman" charset="0"/>
            <a:ea typeface="SimSun"/>
            <a:cs typeface="Times New Roman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>
            <a:ln>
              <a:noFill/>
            </a:ln>
            <a:solidFill>
              <a:schemeClr val="bg2"/>
            </a:solidFill>
            <a:effectLst/>
            <a:latin typeface="Times New Roman" charset="0"/>
            <a:ea typeface="SimSun"/>
            <a:cs typeface="Times New Roman"/>
          </a:defRPr>
        </a:defPPr>
      </a:lstStyle>
    </a:lnDef>
  </a:objectDefaults>
  <a:extraClrSchemeLst>
    <a:extraClrScheme>
      <a:clrScheme name="EBPS Templat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BPS Templat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BPS Templat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BPS Templat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BPS 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BPS 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BPS 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BPS Template 8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5E8AC5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B6C4DF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BPS Template 9">
        <a:dk1>
          <a:srgbClr val="000000"/>
        </a:dk1>
        <a:lt1>
          <a:srgbClr val="FFFFFF"/>
        </a:lt1>
        <a:dk2>
          <a:srgbClr val="5F5F5F"/>
        </a:dk2>
        <a:lt2>
          <a:srgbClr val="FFFFFF"/>
        </a:lt2>
        <a:accent1>
          <a:srgbClr val="5E8AC5"/>
        </a:accent1>
        <a:accent2>
          <a:srgbClr val="3333CC"/>
        </a:accent2>
        <a:accent3>
          <a:srgbClr val="B6B6B6"/>
        </a:accent3>
        <a:accent4>
          <a:srgbClr val="DADADA"/>
        </a:accent4>
        <a:accent5>
          <a:srgbClr val="B6C4DF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BPS Template 10">
        <a:dk1>
          <a:srgbClr val="000000"/>
        </a:dk1>
        <a:lt1>
          <a:srgbClr val="FFFFFF"/>
        </a:lt1>
        <a:dk2>
          <a:srgbClr val="FFFFFF"/>
        </a:dk2>
        <a:lt2>
          <a:srgbClr val="000000"/>
        </a:lt2>
        <a:accent1>
          <a:srgbClr val="567EB9"/>
        </a:accent1>
        <a:accent2>
          <a:srgbClr val="ED8500"/>
        </a:accent2>
        <a:accent3>
          <a:srgbClr val="FFFFFF"/>
        </a:accent3>
        <a:accent4>
          <a:srgbClr val="000000"/>
        </a:accent4>
        <a:accent5>
          <a:srgbClr val="B4C0D9"/>
        </a:accent5>
        <a:accent6>
          <a:srgbClr val="D77800"/>
        </a:accent6>
        <a:hlink>
          <a:srgbClr val="0033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Times New Roman"/>
        <a:ea typeface="SimSun"/>
        <a:cs typeface="Times New Roman"/>
        <a:font script="Jpan" typeface="ＭＳ Ｐゴシック"/>
        <a:font script="Hang" typeface="맑은 고딕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Times New Roman"/>
        <a:ea typeface="SimSun"/>
        <a:cs typeface="Times New Roman"/>
        <a:font script="Jpan" typeface="ＭＳ Ｐゴシック"/>
        <a:font script="Hang" typeface="맑은 고딕"/>
        <a:font script="Hans" typeface="SimSun"/>
        <a:font script="Hant" typeface="SimSun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Times New Roman"/>
        <a:ea typeface="SimSun"/>
        <a:cs typeface="Times New Roman"/>
        <a:font script="Jpan" typeface="ＭＳ Ｐゴシック"/>
        <a:font script="Hang" typeface="맑은 고딕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Times New Roman"/>
        <a:ea typeface="SimSun"/>
        <a:cs typeface="Times New Roman"/>
        <a:font script="Jpan" typeface="ＭＳ Ｐゴシック"/>
        <a:font script="Hang" typeface="맑은 고딕"/>
        <a:font script="Hans" typeface="SimSun"/>
        <a:font script="Hant" typeface="SimSun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FAE2D7EAEC63C4EB9A6CCE48167703A" ma:contentTypeVersion="11" ma:contentTypeDescription="Create a new document." ma:contentTypeScope="" ma:versionID="70f15698264e66e04027c1909e0eec60">
  <xsd:schema xmlns:xsd="http://www.w3.org/2001/XMLSchema" xmlns:xs="http://www.w3.org/2001/XMLSchema" xmlns:p="http://schemas.microsoft.com/office/2006/metadata/properties" xmlns:ns3="78d7862b-e3f7-4a3f-b8de-7e8da3dc00f5" targetNamespace="http://schemas.microsoft.com/office/2006/metadata/properties" ma:root="true" ma:fieldsID="0ee9222f9d4052335be8fc4654c5d93b" ns3:_="">
    <xsd:import namespace="78d7862b-e3f7-4a3f-b8de-7e8da3dc00f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ServiceOCR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d7862b-e3f7-4a3f-b8de-7e8da3dc00f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1D513AF-6D58-416C-9136-CD82D9B364A5}">
  <ds:schemaRefs>
    <ds:schemaRef ds:uri="http://purl.org/dc/terms/"/>
    <ds:schemaRef ds:uri="http://schemas.microsoft.com/office/infopath/2007/PartnerControls"/>
    <ds:schemaRef ds:uri="http://purl.org/dc/dcmitype/"/>
    <ds:schemaRef ds:uri="http://schemas.microsoft.com/office/2006/documentManagement/types"/>
    <ds:schemaRef ds:uri="78d7862b-e3f7-4a3f-b8de-7e8da3dc00f5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98D17963-6BF6-40F3-902C-7AE728A3665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8d7862b-e3f7-4a3f-b8de-7e8da3dc00f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88F1482-78C7-4663-8EFF-B922E2EA205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15686</TotalTime>
  <Words>6467</Words>
  <Application>Microsoft Office PowerPoint</Application>
  <PresentationFormat>宽屏</PresentationFormat>
  <Paragraphs>872</Paragraphs>
  <Slides>64</Slides>
  <Notes>61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64</vt:i4>
      </vt:variant>
    </vt:vector>
  </HeadingPairs>
  <TitlesOfParts>
    <vt:vector size="77" baseType="lpstr">
      <vt:lpstr>Arial Unicode MS</vt:lpstr>
      <vt:lpstr>等线</vt:lpstr>
      <vt:lpstr>Arial</vt:lpstr>
      <vt:lpstr>Calibri</vt:lpstr>
      <vt:lpstr>Cambria Math</vt:lpstr>
      <vt:lpstr>Helvetica</vt:lpstr>
      <vt:lpstr>Tahoma</vt:lpstr>
      <vt:lpstr>Times</vt:lpstr>
      <vt:lpstr>Times New Roman</vt:lpstr>
      <vt:lpstr>Wingdings</vt:lpstr>
      <vt:lpstr>EBPS Template</vt:lpstr>
      <vt:lpstr>Visio</vt:lpstr>
      <vt:lpstr>Graph</vt:lpstr>
      <vt:lpstr>Development of new water spray strategies for improving the energy performance of indirect evaporative cooling systems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 you!  </vt:lpstr>
      <vt:lpstr>PowerPoint 演示文稿</vt:lpstr>
      <vt:lpstr>PowerPoint 演示文稿</vt:lpstr>
      <vt:lpstr>PowerPoint 演示文稿</vt:lpstr>
      <vt:lpstr>PowerPoint 演示文稿</vt:lpstr>
    </vt:vector>
  </TitlesOfParts>
  <Company>Sharat Naik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anil</dc:creator>
  <cp:lastModifiedBy>Xiaochen MA</cp:lastModifiedBy>
  <cp:revision>380</cp:revision>
  <cp:lastPrinted>2020-11-02T12:22:48Z</cp:lastPrinted>
  <dcterms:created xsi:type="dcterms:W3CDTF">2000-03-11T19:50:14Z</dcterms:created>
  <dcterms:modified xsi:type="dcterms:W3CDTF">2026-10-26T00:20:06Z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0x010100DFAE2D7EAEC63C4EB9A6CCE48167703A</vt:lpwstr>
  </property>
</Properties>
</file>