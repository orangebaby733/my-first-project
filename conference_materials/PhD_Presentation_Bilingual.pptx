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13">
  <p:sldMasterIdLst>
    <p:sldMasterId id="2147485796" r:id="rId4"/>
  </p:sldMasterIdLst>
  <p:notesMasterIdLst>
    <p:notesMasterId r:id="rId69"/>
  </p:notesMasterIdLst>
  <p:handoutMasterIdLst>
    <p:handoutMasterId r:id="rId70"/>
  </p:handoutMasterIdLst>
  <p:sldIdLst>
    <p:sldId id="407" r:id="rId5"/>
    <p:sldId id="863" r:id="rId6"/>
    <p:sldId id="864" r:id="rId7"/>
    <p:sldId id="427" r:id="rId8"/>
    <p:sldId id="428" r:id="rId9"/>
    <p:sldId id="873" r:id="rId10"/>
    <p:sldId id="429" r:id="rId11"/>
    <p:sldId id="430" r:id="rId12"/>
    <p:sldId id="453" r:id="rId13"/>
    <p:sldId id="480" r:id="rId14"/>
    <p:sldId id="840" r:id="rId15"/>
    <p:sldId id="432" r:id="rId16"/>
    <p:sldId id="793" r:id="rId17"/>
    <p:sldId id="857" r:id="rId18"/>
    <p:sldId id="865" r:id="rId19"/>
    <p:sldId id="435" r:id="rId20"/>
    <p:sldId id="436" r:id="rId21"/>
    <p:sldId id="439" r:id="rId22"/>
    <p:sldId id="438" r:id="rId23"/>
    <p:sldId id="440" r:id="rId24"/>
    <p:sldId id="870" r:id="rId25"/>
    <p:sldId id="476" r:id="rId26"/>
    <p:sldId id="477" r:id="rId27"/>
    <p:sldId id="478" r:id="rId28"/>
    <p:sldId id="866" r:id="rId29"/>
    <p:sldId id="455" r:id="rId30"/>
    <p:sldId id="462" r:id="rId31"/>
    <p:sldId id="463" r:id="rId32"/>
    <p:sldId id="466" r:id="rId33"/>
    <p:sldId id="858" r:id="rId34"/>
    <p:sldId id="469" r:id="rId35"/>
    <p:sldId id="468" r:id="rId36"/>
    <p:sldId id="470" r:id="rId37"/>
    <p:sldId id="472" r:id="rId38"/>
    <p:sldId id="473" r:id="rId39"/>
    <p:sldId id="867" r:id="rId40"/>
    <p:sldId id="838" r:id="rId41"/>
    <p:sldId id="848" r:id="rId42"/>
    <p:sldId id="849" r:id="rId43"/>
    <p:sldId id="850" r:id="rId44"/>
    <p:sldId id="851" r:id="rId45"/>
    <p:sldId id="852" r:id="rId46"/>
    <p:sldId id="853" r:id="rId47"/>
    <p:sldId id="856" r:id="rId48"/>
    <p:sldId id="855" r:id="rId49"/>
    <p:sldId id="868" r:id="rId50"/>
    <p:sldId id="485" r:id="rId51"/>
    <p:sldId id="486" r:id="rId52"/>
    <p:sldId id="487" r:id="rId53"/>
    <p:sldId id="488" r:id="rId54"/>
    <p:sldId id="859" r:id="rId55"/>
    <p:sldId id="876" r:id="rId56"/>
    <p:sldId id="489" r:id="rId57"/>
    <p:sldId id="824" r:id="rId58"/>
    <p:sldId id="869" r:id="rId59"/>
    <p:sldId id="860" r:id="rId60"/>
    <p:sldId id="861" r:id="rId61"/>
    <p:sldId id="862" r:id="rId62"/>
    <p:sldId id="786" r:id="rId63"/>
    <p:sldId id="452" r:id="rId64"/>
    <p:sldId id="874" r:id="rId65"/>
    <p:sldId id="871" r:id="rId66"/>
    <p:sldId id="875" r:id="rId67"/>
    <p:sldId id="872" r:id="rId68"/>
  </p:sldIdLst>
  <p:sldSz cx="12192000" cy="6858000"/>
  <p:notesSz cx="9928225" cy="6797675"/>
  <p:defaultTextStyle>
    <a:defPPr>
      <a:defRPr lang="en-US">
        <a:latin typeface="Times New Roman"/>
        <a:ea typeface="SimSun"/>
        <a:cs typeface="Times New Roman"/>
      </a:defRPr>
    </a:defPPr>
    <a:lvl1pPr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4572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9144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3716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18288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2860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7432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2004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6576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 wenchao511 [Student]" initials="Sw[" lastIdx="1" clrIdx="0">
    <p:extLst>
      <p:ext uri="{19B8F6BF-5375-455C-9EA6-DF929625EA0E}">
        <p15:presenceInfo xmlns:p15="http://schemas.microsoft.com/office/powerpoint/2012/main" userId="S::19109659r@connect.polyu.hk::e28bb6dc-d76d-4393-bdfd-a20e3f6f43cc" providerId="AD"/>
      </p:ext>
    </p:extLst>
  </p:cmAuthor>
  <p:cmAuthor id="2" name="SHI, wenchao511 [Student]" initials="Sw[ [2]" lastIdx="2" clrIdx="1">
    <p:extLst>
      <p:ext uri="{19B8F6BF-5375-455C-9EA6-DF929625EA0E}">
        <p15:presenceInfo xmlns:p15="http://schemas.microsoft.com/office/powerpoint/2012/main" userId="SHI, wenchao511 [Stud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1E3B"/>
    <a:srgbClr val="DFF1CB"/>
    <a:srgbClr val="C9E8A8"/>
    <a:srgbClr val="EFC4F0"/>
    <a:srgbClr val="E5C4E5"/>
    <a:srgbClr val="FFE080"/>
    <a:srgbClr val="B96E87"/>
    <a:srgbClr val="5B98E8"/>
    <a:srgbClr val="A3C5F2"/>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5256" autoAdjust="0"/>
  </p:normalViewPr>
  <p:slideViewPr>
    <p:cSldViewPr snapToGrid="0">
      <p:cViewPr varScale="1">
        <p:scale>
          <a:sx n="70" d="100"/>
          <a:sy n="70" d="100"/>
        </p:scale>
        <p:origin x="288" y="45"/>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970" y="58"/>
      </p:cViewPr>
      <p:guideLst>
        <p:guide orient="horz" pos="2141"/>
        <p:guide pos="312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bwMode="auto">
          <a:xfrm>
            <a:off x="0"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1" name="Rectangle 3"/>
          <p:cNvSpPr>
            <a:spLocks noGrp="1" noChangeArrowheads="1"/>
          </p:cNvSpPr>
          <p:nvPr>
            <p:ph type="dt" sz="quarter" idx="1"/>
          </p:nvPr>
        </p:nvSpPr>
        <p:spPr bwMode="auto">
          <a:xfrm>
            <a:off x="5623759"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algn="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2" name="Rectangle 4"/>
          <p:cNvSpPr>
            <a:spLocks noGrp="1" noChangeArrowheads="1"/>
          </p:cNvSpPr>
          <p:nvPr>
            <p:ph type="ftr" sz="quarter" idx="2"/>
          </p:nvPr>
        </p:nvSpPr>
        <p:spPr bwMode="auto">
          <a:xfrm>
            <a:off x="0" y="6454244"/>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defTabSz="914149" eaLnBrk="1" hangingPunct="1">
              <a:defRPr sz="1200">
                <a:latin typeface="Times New Roman" charset="0"/>
                <a:ea typeface="SimSun"/>
                <a:cs typeface="Times New Roman"/>
              </a:defRPr>
            </a:lvl1pPr>
          </a:lstStyle>
          <a:p>
            <a:pPr>
              <a:defRPr>
                <a:latin typeface="Times New Roman"/>
                <a:ea typeface="SimSun"/>
                <a:cs typeface="Times New Roman"/>
              </a:defRPr>
            </a:pPr>
            <a:endParaRPr lang="en-GB">
              <a:latin typeface="Times New Roman"/>
              <a:ea typeface="SimSun"/>
              <a:cs typeface="Times New Roman"/>
            </a:endParaRPr>
          </a:p>
        </p:txBody>
      </p:sp>
      <p:sp>
        <p:nvSpPr>
          <p:cNvPr id="140293" name="Rectangle 5"/>
          <p:cNvSpPr>
            <a:spLocks noGrp="1" noChangeArrowheads="1"/>
          </p:cNvSpPr>
          <p:nvPr>
            <p:ph type="sldNum" sz="quarter" idx="3"/>
          </p:nvPr>
        </p:nvSpPr>
        <p:spPr bwMode="auto">
          <a:xfrm>
            <a:off x="5623759" y="6454244"/>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algn="r" defTabSz="913833" eaLnBrk="1" hangingPunct="1">
              <a:defRPr sz="1200" smtClean="0">
                <a:latin typeface="Times New Roman" panose="020B0604020202020204" pitchFamily="34" charset="0"/>
                <a:ea typeface="SimSun"/>
                <a:cs typeface="Times New Roman"/>
              </a:defRPr>
            </a:lvl1pPr>
          </a:lstStyle>
          <a:p>
            <a:pPr>
              <a:defRPr>
                <a:latin typeface="Times New Roman"/>
                <a:ea typeface="SimSun"/>
                <a:cs typeface="Times New Roman"/>
              </a:defRPr>
            </a:pPr>
            <a:fld id="{DD90D8D4-A28F-4BFE-8A9D-4445065CF981}" type="slidenum">
              <a:rPr lang="en-GB" altLang="zh-CN">
                <a:latin typeface="Times New Roman"/>
                <a:ea typeface="SimSun"/>
                <a:cs typeface="Times New Roman"/>
              </a:rPr>
              <a:pPr>
                <a:defRPr>
                  <a:latin typeface="Times New Roman"/>
                  <a:ea typeface="SimSun"/>
                  <a:cs typeface="Times New Roman"/>
                </a:defRPr>
              </a:pPr>
              <a:t>‹#›</a:t>
            </a:fld>
            <a:endParaRPr lang="en-GB" altLang="zh-CN">
              <a:latin typeface="Times New Roman"/>
              <a:ea typeface="SimSun"/>
              <a:cs typeface="Times New Roman"/>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36195" name="Rectangle 3"/>
          <p:cNvSpPr>
            <a:spLocks noGrp="1" noChangeArrowheads="1"/>
          </p:cNvSpPr>
          <p:nvPr>
            <p:ph type="dt" idx="1"/>
          </p:nvPr>
        </p:nvSpPr>
        <p:spPr bwMode="auto">
          <a:xfrm>
            <a:off x="5625356" y="0"/>
            <a:ext cx="4302870" cy="341819"/>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lvl1pPr algn="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7412" name="Rectangle 4"/>
          <p:cNvSpPr>
            <a:spLocks noGrp="1" noRot="1" noChangeAspect="1" noChangeArrowheads="1" noTextEdit="1"/>
          </p:cNvSpPr>
          <p:nvPr>
            <p:ph type="sldImg" idx="2"/>
          </p:nvPr>
        </p:nvSpPr>
        <p:spPr bwMode="auto">
          <a:xfrm>
            <a:off x="2697163" y="509588"/>
            <a:ext cx="4537075" cy="2552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7" name="Rectangle 5"/>
          <p:cNvSpPr>
            <a:spLocks noGrp="1" noChangeArrowheads="1"/>
          </p:cNvSpPr>
          <p:nvPr>
            <p:ph type="body" sz="quarter" idx="3"/>
          </p:nvPr>
        </p:nvSpPr>
        <p:spPr bwMode="auto">
          <a:xfrm>
            <a:off x="1324084" y="3227929"/>
            <a:ext cx="7280059" cy="3060244"/>
          </a:xfrm>
          <a:prstGeom prst="rect">
            <a:avLst/>
          </a:prstGeom>
          <a:noFill/>
          <a:ln w="9525">
            <a:noFill/>
            <a:miter lim="800000"/>
            <a:headEnd/>
            <a:tailEnd/>
          </a:ln>
          <a:effectLst/>
        </p:spPr>
        <p:txBody>
          <a:bodyPr vert="horz" wrap="square" lIns="91426" tIns="45712" rIns="91426" bIns="45712" numCol="1" anchor="t" anchorCtr="0" compatLnSpc="1">
            <a:prstTxWarp prst="textNoShape">
              <a:avLst/>
            </a:prstTxWarp>
          </a:bodyPr>
          <a:lstStyle/>
          <a:p>
            <a:pPr lvl="0"/>
            <a:r>
              <a:rPr lang="en-US" altLang="zh-TW" noProof="0">
                <a:latin typeface="Times New Roman"/>
                <a:ea typeface="SimSun"/>
                <a:cs typeface="Times New Roman"/>
              </a:rPr>
              <a:t>Click to edit Master text styles</a:t>
            </a:r>
          </a:p>
          <a:p>
            <a:pPr lvl="1"/>
            <a:r>
              <a:rPr lang="en-US" altLang="zh-TW" noProof="0">
                <a:latin typeface="Times New Roman"/>
                <a:ea typeface="SimSun"/>
                <a:cs typeface="Times New Roman"/>
              </a:rPr>
              <a:t>Second level</a:t>
            </a:r>
          </a:p>
          <a:p>
            <a:pPr lvl="2"/>
            <a:r>
              <a:rPr lang="en-US" altLang="zh-TW" noProof="0">
                <a:latin typeface="Times New Roman"/>
                <a:ea typeface="SimSun"/>
                <a:cs typeface="Times New Roman"/>
              </a:rPr>
              <a:t>Third level</a:t>
            </a:r>
          </a:p>
          <a:p>
            <a:pPr lvl="3"/>
            <a:r>
              <a:rPr lang="en-US" altLang="zh-TW" noProof="0">
                <a:latin typeface="Times New Roman"/>
                <a:ea typeface="SimSun"/>
                <a:cs typeface="Times New Roman"/>
              </a:rPr>
              <a:t>Fourth level</a:t>
            </a:r>
          </a:p>
          <a:p>
            <a:pPr lvl="4"/>
            <a:r>
              <a:rPr lang="en-US" altLang="zh-TW" noProof="0">
                <a:latin typeface="Times New Roman"/>
                <a:ea typeface="SimSun"/>
                <a:cs typeface="Times New Roman"/>
              </a:rPr>
              <a:t>Fifth level</a:t>
            </a:r>
          </a:p>
        </p:txBody>
      </p:sp>
      <p:sp>
        <p:nvSpPr>
          <p:cNvPr id="136198" name="Rectangle 6"/>
          <p:cNvSpPr>
            <a:spLocks noGrp="1" noChangeArrowheads="1"/>
          </p:cNvSpPr>
          <p:nvPr>
            <p:ph type="ftr" sz="quarter" idx="4"/>
          </p:nvPr>
        </p:nvSpPr>
        <p:spPr bwMode="auto">
          <a:xfrm>
            <a:off x="0" y="6455856"/>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defTabSz="912231" eaLnBrk="1" hangingPunct="1">
              <a:defRPr sz="1200">
                <a:latin typeface="Times New Roman"/>
                <a:ea typeface="SimSun" panose="02020500000000000000" pitchFamily="18" charset="-120"/>
                <a:cs typeface="Times New Roman" panose="020B0604020202020204" pitchFamily="34" charset="-122"/>
              </a:defRPr>
            </a:lvl1pPr>
          </a:lstStyle>
          <a:p>
            <a:pPr>
              <a:defRPr>
                <a:latin typeface="Times New Roman"/>
                <a:ea typeface="SimSun"/>
                <a:cs typeface="Times New Roman"/>
              </a:defRPr>
            </a:pPr>
            <a:endParaRPr lang="en-US" altLang="zh-TW">
              <a:latin typeface="Times New Roman"/>
              <a:ea typeface="SimSun"/>
              <a:cs typeface="Times New Roman"/>
            </a:endParaRPr>
          </a:p>
        </p:txBody>
      </p:sp>
      <p:sp>
        <p:nvSpPr>
          <p:cNvPr id="136199" name="Rectangle 7"/>
          <p:cNvSpPr>
            <a:spLocks noGrp="1" noChangeArrowheads="1"/>
          </p:cNvSpPr>
          <p:nvPr>
            <p:ph type="sldNum" sz="quarter" idx="5"/>
          </p:nvPr>
        </p:nvSpPr>
        <p:spPr bwMode="auto">
          <a:xfrm>
            <a:off x="5625356" y="6455856"/>
            <a:ext cx="4302870" cy="341819"/>
          </a:xfrm>
          <a:prstGeom prst="rect">
            <a:avLst/>
          </a:prstGeom>
          <a:noFill/>
          <a:ln w="9525">
            <a:noFill/>
            <a:miter lim="800000"/>
            <a:headEnd/>
            <a:tailEnd/>
          </a:ln>
          <a:effectLst/>
        </p:spPr>
        <p:txBody>
          <a:bodyPr vert="horz" wrap="square" lIns="91426" tIns="45712" rIns="91426" bIns="45712" numCol="1" anchor="b" anchorCtr="0" compatLnSpc="1">
            <a:prstTxWarp prst="textNoShape">
              <a:avLst/>
            </a:prstTxWarp>
          </a:bodyPr>
          <a:lstStyle>
            <a:lvl1pPr algn="r" defTabSz="912231" eaLnBrk="1" hangingPunct="1">
              <a:defRPr sz="1200" smtClean="0">
                <a:latin typeface="Times New Roman"/>
                <a:ea typeface="SimSun" pitchFamily="18" charset="-120"/>
                <a:cs typeface="Times New Roman"/>
              </a:defRPr>
            </a:lvl1pPr>
          </a:lstStyle>
          <a:p>
            <a:pPr>
              <a:defRPr>
                <a:latin typeface="Times New Roman"/>
                <a:ea typeface="SimSun"/>
                <a:cs typeface="Times New Roman"/>
              </a:defRPr>
            </a:pPr>
            <a:fld id="{E9539218-AF35-4C29-B7A1-DCC55E5102B9}" type="slidenum">
              <a:rPr lang="zh-TW" altLang="en-US">
                <a:latin typeface="Times New Roman"/>
                <a:ea typeface="SimSun"/>
                <a:cs typeface="Times New Roman"/>
              </a:rPr>
              <a:pPr>
                <a:defRPr>
                  <a:latin typeface="Times New Roman"/>
                  <a:ea typeface="SimSun"/>
                  <a:cs typeface="Times New Roman"/>
                </a:defRPr>
              </a:pPr>
              <a:t>‹#›</a:t>
            </a:fld>
            <a:endParaRPr lang="en-US" altLang="zh-TW">
              <a:latin typeface="Times New Roman"/>
              <a:ea typeface="SimSun"/>
              <a:cs typeface="Times New Roman"/>
            </a:endParaRP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1pPr>
    <a:lvl2pPr marL="4572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2pPr>
    <a:lvl3pPr marL="9144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3pPr>
    <a:lvl4pPr marL="13716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4pPr>
    <a:lvl5pPr marL="1828800" algn="l" rtl="0" eaLnBrk="0" fontAlgn="base" hangingPunct="0">
      <a:spcBef>
        <a:spcPct val="30000"/>
      </a:spcBef>
      <a:spcAft>
        <a:spcPct val="0"/>
      </a:spcAft>
      <a:defRPr sz="1200" kern="1200">
        <a:solidFill>
          <a:schemeClr val="tx1"/>
        </a:solidFill>
        <a:latin typeface="Times New Roman" charset="0"/>
        <a:ea typeface="SimSun" panose="02010600030101010101" pitchFamily="2" charset="-122"/>
        <a:cs typeface="Times New Roman"/>
      </a:defRPr>
    </a:lvl5pPr>
    <a:lvl6pPr marL="2286000" algn="l" defTabSz="914400" rtl="0" eaLnBrk="1" latinLnBrk="0" hangingPunct="1">
      <a:defRPr sz="1200" kern="1200">
        <a:solidFill>
          <a:schemeClr val="tx1"/>
        </a:solidFill>
        <a:latin typeface="Times New Roman"/>
        <a:ea typeface="SimSun"/>
        <a:cs typeface="Times New Roman"/>
      </a:defRPr>
    </a:lvl6pPr>
    <a:lvl7pPr marL="2743200" algn="l" defTabSz="914400" rtl="0" eaLnBrk="1" latinLnBrk="0" hangingPunct="1">
      <a:defRPr sz="1200" kern="1200">
        <a:solidFill>
          <a:schemeClr val="tx1"/>
        </a:solidFill>
        <a:latin typeface="Times New Roman"/>
        <a:ea typeface="SimSun"/>
        <a:cs typeface="Times New Roman"/>
      </a:defRPr>
    </a:lvl7pPr>
    <a:lvl8pPr marL="3200400" algn="l" defTabSz="914400" rtl="0" eaLnBrk="1" latinLnBrk="0" hangingPunct="1">
      <a:defRPr sz="1200" kern="1200">
        <a:solidFill>
          <a:schemeClr val="tx1"/>
        </a:solidFill>
        <a:latin typeface="Times New Roman"/>
        <a:ea typeface="SimSun"/>
        <a:cs typeface="Times New Roman"/>
      </a:defRPr>
    </a:lvl8pPr>
    <a:lvl9pPr marL="3657600" algn="l" defTabSz="914400" rtl="0" eaLnBrk="1" latinLnBrk="0" hangingPunct="1">
      <a:defRPr sz="1200" kern="1200">
        <a:solidFill>
          <a:schemeClr val="tx1"/>
        </a:solidFill>
        <a:latin typeface="Times New Roman"/>
        <a:ea typeface="SimSun"/>
        <a:cs typeface="Times New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2697163" y="509588"/>
            <a:ext cx="4537075" cy="25527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D183629-4450-420A-874F-A414BC07E25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a:t>
            </a:fld>
            <a:endParaRPr lang="en-US" altLang="zh-TW">
              <a:latin typeface="Times New Roman"/>
              <a:ea typeface="SimSun"/>
              <a:cs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a:t>
            </a:fld>
            <a:endParaRPr lang="en-US" altLang="zh-TW">
              <a:latin typeface="Times New Roman"/>
              <a:ea typeface="SimSun"/>
              <a:cs typeface="Times New Roman"/>
            </a:endParaRPr>
          </a:p>
        </p:txBody>
      </p:sp>
    </p:spTree>
    <p:extLst>
      <p:ext uri="{BB962C8B-B14F-4D97-AF65-F5344CB8AC3E}">
        <p14:creationId xmlns:p14="http://schemas.microsoft.com/office/powerpoint/2010/main" val="3939062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a:t>
            </a:fld>
            <a:endParaRPr lang="en-US" altLang="zh-TW">
              <a:latin typeface="Times New Roman"/>
              <a:ea typeface="SimSun"/>
              <a:cs typeface="Times New Roman"/>
            </a:endParaRPr>
          </a:p>
        </p:txBody>
      </p:sp>
    </p:spTree>
    <p:extLst>
      <p:ext uri="{BB962C8B-B14F-4D97-AF65-F5344CB8AC3E}">
        <p14:creationId xmlns:p14="http://schemas.microsoft.com/office/powerpoint/2010/main" val="238092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E9194E2F-0629-48BC-9DB1-C6B062ACE9A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a:t>
            </a:fld>
            <a:endParaRPr lang="en-US" altLang="zh-TW">
              <a:latin typeface="Times New Roman"/>
              <a:ea typeface="SimSun"/>
              <a:cs typeface="Times New Roman"/>
            </a:endParaRPr>
          </a:p>
        </p:txBody>
      </p:sp>
    </p:spTree>
    <p:extLst>
      <p:ext uri="{BB962C8B-B14F-4D97-AF65-F5344CB8AC3E}">
        <p14:creationId xmlns:p14="http://schemas.microsoft.com/office/powerpoint/2010/main" val="1060526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17E7CBE-4A32-468F-A9E0-471668CC128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a:t>
            </a:fld>
            <a:endParaRPr lang="en-US" altLang="zh-TW">
              <a:latin typeface="Times New Roman"/>
              <a:ea typeface="SimSun"/>
              <a:cs typeface="Times New Roman"/>
            </a:endParaRPr>
          </a:p>
        </p:txBody>
      </p:sp>
    </p:spTree>
    <p:extLst>
      <p:ext uri="{BB962C8B-B14F-4D97-AF65-F5344CB8AC3E}">
        <p14:creationId xmlns:p14="http://schemas.microsoft.com/office/powerpoint/2010/main" val="1086578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a:t>
            </a:fld>
            <a:endParaRPr lang="en-US" altLang="zh-TW">
              <a:latin typeface="Times New Roman"/>
              <a:ea typeface="SimSun"/>
              <a:cs typeface="Times New Roman"/>
            </a:endParaRPr>
          </a:p>
        </p:txBody>
      </p:sp>
    </p:spTree>
    <p:extLst>
      <p:ext uri="{BB962C8B-B14F-4D97-AF65-F5344CB8AC3E}">
        <p14:creationId xmlns:p14="http://schemas.microsoft.com/office/powerpoint/2010/main" val="3545261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53B03EF-6637-4470-9731-4452CD9946A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7</a:t>
            </a:fld>
            <a:endParaRPr lang="en-US" altLang="zh-TW">
              <a:latin typeface="Times New Roman"/>
              <a:ea typeface="SimSun"/>
              <a:cs typeface="Times New Roman"/>
            </a:endParaRPr>
          </a:p>
        </p:txBody>
      </p:sp>
    </p:spTree>
    <p:extLst>
      <p:ext uri="{BB962C8B-B14F-4D97-AF65-F5344CB8AC3E}">
        <p14:creationId xmlns:p14="http://schemas.microsoft.com/office/powerpoint/2010/main" val="4280419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50893CB9-CF87-40A4-8B4F-74D87A137085}"/>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8</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890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D902CAD-1E20-4C8B-9C2D-649EABBE31F1}"/>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9</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890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361B53A0-4448-48C2-AE73-953308D24AA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10</a:t>
            </a:fld>
            <a:endParaRPr lang="en-US" altLang="zh-TW">
              <a:latin typeface="Times New Roman"/>
              <a:ea typeface="SimSun"/>
              <a:cs typeface="Times New Roman"/>
            </a:endParaRPr>
          </a:p>
        </p:txBody>
      </p:sp>
    </p:spTree>
    <p:extLst>
      <p:ext uri="{BB962C8B-B14F-4D97-AF65-F5344CB8AC3E}">
        <p14:creationId xmlns:p14="http://schemas.microsoft.com/office/powerpoint/2010/main" val="327345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11</a:t>
            </a:fld>
            <a:endParaRPr lang="en-US" altLang="zh-TW">
              <a:latin typeface="Times New Roman"/>
              <a:ea typeface="SimSun"/>
              <a:cs typeface="Times New Roman"/>
            </a:endParaRPr>
          </a:p>
        </p:txBody>
      </p:sp>
    </p:spTree>
    <p:extLst>
      <p:ext uri="{BB962C8B-B14F-4D97-AF65-F5344CB8AC3E}">
        <p14:creationId xmlns:p14="http://schemas.microsoft.com/office/powerpoint/2010/main" val="1684739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4033C81-BCEA-4740-8588-86E6A68D77AF}"/>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12</a:t>
            </a:fld>
            <a:endParaRPr lang="en-US" altLang="zh-TW">
              <a:latin typeface="Times New Roman"/>
              <a:ea typeface="SimSun"/>
              <a:cs typeface="Times New Roman"/>
            </a:endParaRPr>
          </a:p>
        </p:txBody>
      </p:sp>
    </p:spTree>
    <p:extLst>
      <p:ext uri="{BB962C8B-B14F-4D97-AF65-F5344CB8AC3E}">
        <p14:creationId xmlns:p14="http://schemas.microsoft.com/office/powerpoint/2010/main" val="3410370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r>
              <a:rPr lang="en-US" altLang="zh-CN" dirty="0">
                <a:latin typeface="Times New Roman"/>
                <a:ea typeface="SimSun"/>
                <a:cs typeface="Times New Roman"/>
              </a:rPr>
              <a:t>PIEC model to do the parameter analysis as and determine the inter…</a:t>
            </a:r>
          </a:p>
          <a:p>
            <a:r>
              <a:rPr lang="en-US" altLang="zh-CN" dirty="0">
                <a:latin typeface="Times New Roman"/>
                <a:ea typeface="SimSun"/>
                <a:cs typeface="Times New Roman"/>
              </a:rPr>
              <a:t>Compare</a:t>
            </a:r>
            <a:endParaRPr lang="zh-CN" altLang="en-US" dirty="0">
              <a:latin typeface="Times New Roman"/>
              <a:ea typeface="SimSun"/>
              <a:cs typeface="Times New Roman"/>
            </a:endParaRPr>
          </a:p>
        </p:txBody>
      </p:sp>
      <p:sp>
        <p:nvSpPr>
          <p:cNvPr id="5" name="灯片编号占位符 4">
            <a:extLst>
              <a:ext uri="{FF2B5EF4-FFF2-40B4-BE49-F238E27FC236}">
                <a16:creationId xmlns:a16="http://schemas.microsoft.com/office/drawing/2014/main" id="{F5A47F21-FB41-4669-B2B0-2E94E560D82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13</a:t>
            </a:fld>
            <a:endParaRPr lang="en-US" altLang="zh-TW">
              <a:latin typeface="Times New Roman"/>
              <a:ea typeface="SimSun"/>
              <a:cs typeface="Times New Roman"/>
            </a:endParaRPr>
          </a:p>
        </p:txBody>
      </p:sp>
    </p:spTree>
    <p:extLst>
      <p:ext uri="{BB962C8B-B14F-4D97-AF65-F5344CB8AC3E}">
        <p14:creationId xmlns:p14="http://schemas.microsoft.com/office/powerpoint/2010/main" val="2536067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r>
              <a:rPr lang="en-US" altLang="zh-CN" dirty="0">
                <a:latin typeface="Times New Roman"/>
                <a:ea typeface="SimSun"/>
                <a:cs typeface="Times New Roman"/>
              </a:rPr>
              <a:t>PIEC model to do the parameter analysis as and determine the inter…</a:t>
            </a:r>
          </a:p>
          <a:p>
            <a:r>
              <a:rPr lang="en-US" altLang="zh-CN" dirty="0">
                <a:latin typeface="Times New Roman"/>
                <a:ea typeface="SimSun"/>
                <a:cs typeface="Times New Roman"/>
              </a:rPr>
              <a:t>Compare</a:t>
            </a:r>
            <a:endParaRPr lang="zh-CN" altLang="en-US" dirty="0">
              <a:latin typeface="Times New Roman"/>
              <a:ea typeface="SimSun"/>
              <a:cs typeface="Times New Roman"/>
            </a:endParaRPr>
          </a:p>
        </p:txBody>
      </p:sp>
      <p:sp>
        <p:nvSpPr>
          <p:cNvPr id="5" name="灯片编号占位符 4">
            <a:extLst>
              <a:ext uri="{FF2B5EF4-FFF2-40B4-BE49-F238E27FC236}">
                <a16:creationId xmlns:a16="http://schemas.microsoft.com/office/drawing/2014/main" id="{F5A47F21-FB41-4669-B2B0-2E94E560D82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14</a:t>
            </a:fld>
            <a:endParaRPr lang="en-US" altLang="zh-TW">
              <a:latin typeface="Times New Roman"/>
              <a:ea typeface="SimSun"/>
              <a:cs typeface="Times New Roman"/>
            </a:endParaRPr>
          </a:p>
        </p:txBody>
      </p:sp>
    </p:spTree>
    <p:extLst>
      <p:ext uri="{BB962C8B-B14F-4D97-AF65-F5344CB8AC3E}">
        <p14:creationId xmlns:p14="http://schemas.microsoft.com/office/powerpoint/2010/main" val="423748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15</a:t>
            </a:fld>
            <a:endParaRPr lang="en-US" altLang="zh-TW">
              <a:latin typeface="Times New Roman"/>
              <a:ea typeface="SimSun"/>
              <a:cs typeface="Times New Roman"/>
            </a:endParaRPr>
          </a:p>
        </p:txBody>
      </p:sp>
    </p:spTree>
    <p:extLst>
      <p:ext uri="{BB962C8B-B14F-4D97-AF65-F5344CB8AC3E}">
        <p14:creationId xmlns:p14="http://schemas.microsoft.com/office/powerpoint/2010/main" val="12850539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3FC6054D-4157-4F34-AEFF-180F948111A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16</a:t>
            </a:fld>
            <a:endParaRPr lang="en-US" altLang="zh-TW">
              <a:latin typeface="Times New Roman"/>
              <a:ea typeface="SimSun"/>
              <a:cs typeface="Times New Roman"/>
            </a:endParaRPr>
          </a:p>
        </p:txBody>
      </p:sp>
    </p:spTree>
    <p:extLst>
      <p:ext uri="{BB962C8B-B14F-4D97-AF65-F5344CB8AC3E}">
        <p14:creationId xmlns:p14="http://schemas.microsoft.com/office/powerpoint/2010/main" val="2761430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6667500-A233-453C-869A-044BCE9806C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17</a:t>
            </a:fld>
            <a:endParaRPr lang="en-US" altLang="zh-TW">
              <a:latin typeface="Times New Roman"/>
              <a:ea typeface="SimSun"/>
              <a:cs typeface="Times New Roman"/>
            </a:endParaRPr>
          </a:p>
        </p:txBody>
      </p:sp>
    </p:spTree>
    <p:extLst>
      <p:ext uri="{BB962C8B-B14F-4D97-AF65-F5344CB8AC3E}">
        <p14:creationId xmlns:p14="http://schemas.microsoft.com/office/powerpoint/2010/main" val="3913246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DE09066-3333-4E50-9686-EFB47E14E8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18</a:t>
            </a:fld>
            <a:endParaRPr lang="en-US" altLang="zh-TW">
              <a:latin typeface="Times New Roman"/>
              <a:ea typeface="SimSun"/>
              <a:cs typeface="Times New Roman"/>
            </a:endParaRPr>
          </a:p>
        </p:txBody>
      </p:sp>
    </p:spTree>
    <p:extLst>
      <p:ext uri="{BB962C8B-B14F-4D97-AF65-F5344CB8AC3E}">
        <p14:creationId xmlns:p14="http://schemas.microsoft.com/office/powerpoint/2010/main" val="2484482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25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50305" indent="-288579"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54316"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16042"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77768" indent="-230863" defTabSz="937882">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39495"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3001221"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62947"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924673" indent="-230863" defTabSz="937882"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fld id="{C4C20F0C-580E-42DF-9542-BF2972995143}" type="slidenum">
              <a:rPr lang="en-US" altLang="zh-CN" sz="1200">
                <a:solidFill>
                  <a:srgbClr val="000000"/>
                </a:solidFill>
                <a:latin typeface="Times New Roman" panose="020B0604020202020204" pitchFamily="34" charset="0"/>
                <a:ea typeface="SimSun" panose="020B0600070205080204" pitchFamily="34" charset="-128"/>
                <a:cs typeface="Times New Roman"/>
              </a:rPr>
              <a:pPr/>
              <a:t>19</a:t>
            </a:fld>
            <a:endParaRPr lang="en-US" altLang="zh-CN" sz="1200">
              <a:solidFill>
                <a:srgbClr val="000000"/>
              </a:solidFill>
              <a:latin typeface="Times New Roman" panose="020B0604020202020204" pitchFamily="34" charset="0"/>
              <a:ea typeface="SimSun" panose="020B0600070205080204" pitchFamily="34" charset="-128"/>
              <a:cs typeface="Times New Roman"/>
            </a:endParaRPr>
          </a:p>
        </p:txBody>
      </p:sp>
    </p:spTree>
    <p:extLst>
      <p:ext uri="{BB962C8B-B14F-4D97-AF65-F5344CB8AC3E}">
        <p14:creationId xmlns:p14="http://schemas.microsoft.com/office/powerpoint/2010/main" val="3541596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A131342-79FE-4B23-8C14-4E3EE10072E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20</a:t>
            </a:fld>
            <a:endParaRPr lang="en-US" altLang="zh-TW">
              <a:latin typeface="Times New Roman"/>
              <a:ea typeface="SimSun"/>
              <a:cs typeface="Times New Roman"/>
            </a:endParaRPr>
          </a:p>
        </p:txBody>
      </p:sp>
    </p:spTree>
    <p:extLst>
      <p:ext uri="{BB962C8B-B14F-4D97-AF65-F5344CB8AC3E}">
        <p14:creationId xmlns:p14="http://schemas.microsoft.com/office/powerpoint/2010/main" val="951924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BF7A27E-ADA4-4831-819F-84B7AC088F80}"/>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21</a:t>
            </a:fld>
            <a:endParaRPr lang="en-US" altLang="zh-TW">
              <a:latin typeface="Times New Roman"/>
              <a:ea typeface="SimSun"/>
              <a:cs typeface="Times New Roman"/>
            </a:endParaRPr>
          </a:p>
        </p:txBody>
      </p:sp>
    </p:spTree>
    <p:extLst>
      <p:ext uri="{BB962C8B-B14F-4D97-AF65-F5344CB8AC3E}">
        <p14:creationId xmlns:p14="http://schemas.microsoft.com/office/powerpoint/2010/main" val="1925810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F5D714F-7E49-48B2-81F6-CF4D5BF7FE3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22</a:t>
            </a:fld>
            <a:endParaRPr lang="en-US" altLang="zh-TW">
              <a:latin typeface="Times New Roman"/>
              <a:ea typeface="SimSun"/>
              <a:cs typeface="Times New Roman"/>
            </a:endParaRPr>
          </a:p>
        </p:txBody>
      </p:sp>
    </p:spTree>
    <p:extLst>
      <p:ext uri="{BB962C8B-B14F-4D97-AF65-F5344CB8AC3E}">
        <p14:creationId xmlns:p14="http://schemas.microsoft.com/office/powerpoint/2010/main" val="4188642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C9725D98-16E5-465F-A249-F39F9E34A67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23</a:t>
            </a:fld>
            <a:endParaRPr lang="en-US" altLang="zh-TW">
              <a:latin typeface="Times New Roman"/>
              <a:ea typeface="SimSun"/>
              <a:cs typeface="Times New Roman"/>
            </a:endParaRPr>
          </a:p>
        </p:txBody>
      </p:sp>
    </p:spTree>
    <p:extLst>
      <p:ext uri="{BB962C8B-B14F-4D97-AF65-F5344CB8AC3E}">
        <p14:creationId xmlns:p14="http://schemas.microsoft.com/office/powerpoint/2010/main" val="1401306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BE4ABEE-E535-4301-B188-1D17E971406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24</a:t>
            </a:fld>
            <a:endParaRPr lang="en-US" altLang="zh-TW">
              <a:latin typeface="Times New Roman"/>
              <a:ea typeface="SimSun"/>
              <a:cs typeface="Times New Roman"/>
            </a:endParaRPr>
          </a:p>
        </p:txBody>
      </p:sp>
    </p:spTree>
    <p:extLst>
      <p:ext uri="{BB962C8B-B14F-4D97-AF65-F5344CB8AC3E}">
        <p14:creationId xmlns:p14="http://schemas.microsoft.com/office/powerpoint/2010/main" val="2864158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25</a:t>
            </a:fld>
            <a:endParaRPr lang="en-US" altLang="zh-TW">
              <a:latin typeface="Times New Roman"/>
              <a:ea typeface="SimSun"/>
              <a:cs typeface="Times New Roman"/>
            </a:endParaRPr>
          </a:p>
        </p:txBody>
      </p:sp>
    </p:spTree>
    <p:extLst>
      <p:ext uri="{BB962C8B-B14F-4D97-AF65-F5344CB8AC3E}">
        <p14:creationId xmlns:p14="http://schemas.microsoft.com/office/powerpoint/2010/main" val="3131673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3503936-1935-40B5-8DD7-B64E67B9B6F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26</a:t>
            </a:fld>
            <a:endParaRPr lang="en-US" altLang="zh-TW">
              <a:latin typeface="Times New Roman"/>
              <a:ea typeface="SimSun"/>
              <a:cs typeface="Times New Roman"/>
            </a:endParaRPr>
          </a:p>
        </p:txBody>
      </p:sp>
    </p:spTree>
    <p:extLst>
      <p:ext uri="{BB962C8B-B14F-4D97-AF65-F5344CB8AC3E}">
        <p14:creationId xmlns:p14="http://schemas.microsoft.com/office/powerpoint/2010/main" val="907725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F4354850-8E40-409E-BC36-4237B1608B3D}"/>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27</a:t>
            </a:fld>
            <a:endParaRPr lang="en-US" altLang="zh-TW">
              <a:latin typeface="Times New Roman"/>
              <a:ea typeface="SimSun"/>
              <a:cs typeface="Times New Roman"/>
            </a:endParaRPr>
          </a:p>
        </p:txBody>
      </p:sp>
    </p:spTree>
    <p:extLst>
      <p:ext uri="{BB962C8B-B14F-4D97-AF65-F5344CB8AC3E}">
        <p14:creationId xmlns:p14="http://schemas.microsoft.com/office/powerpoint/2010/main" val="3913246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B8014DB-1BC7-405E-9940-73D11F68CB4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28</a:t>
            </a:fld>
            <a:endParaRPr lang="en-US" altLang="zh-TW">
              <a:latin typeface="Times New Roman"/>
              <a:ea typeface="SimSun"/>
              <a:cs typeface="Times New Roman"/>
            </a:endParaRPr>
          </a:p>
        </p:txBody>
      </p:sp>
    </p:spTree>
    <p:extLst>
      <p:ext uri="{BB962C8B-B14F-4D97-AF65-F5344CB8AC3E}">
        <p14:creationId xmlns:p14="http://schemas.microsoft.com/office/powerpoint/2010/main" val="23246404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E63FE4E-4BAA-4959-A197-7E9C54C6C02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29</a:t>
            </a:fld>
            <a:endParaRPr lang="en-US" altLang="zh-TW">
              <a:latin typeface="Times New Roman"/>
              <a:ea typeface="SimSun"/>
              <a:cs typeface="Times New Roman"/>
            </a:endParaRPr>
          </a:p>
        </p:txBody>
      </p:sp>
    </p:spTree>
    <p:extLst>
      <p:ext uri="{BB962C8B-B14F-4D97-AF65-F5344CB8AC3E}">
        <p14:creationId xmlns:p14="http://schemas.microsoft.com/office/powerpoint/2010/main" val="2484482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E63FE4E-4BAA-4959-A197-7E9C54C6C02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30</a:t>
            </a:fld>
            <a:endParaRPr lang="en-US" altLang="zh-TW">
              <a:latin typeface="Times New Roman"/>
              <a:ea typeface="SimSun"/>
              <a:cs typeface="Times New Roman"/>
            </a:endParaRPr>
          </a:p>
        </p:txBody>
      </p:sp>
    </p:spTree>
    <p:extLst>
      <p:ext uri="{BB962C8B-B14F-4D97-AF65-F5344CB8AC3E}">
        <p14:creationId xmlns:p14="http://schemas.microsoft.com/office/powerpoint/2010/main" val="3921723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ACDF66-476E-4AE4-9B23-EA436B49DDE9}"/>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31</a:t>
            </a:fld>
            <a:endParaRPr lang="en-US" altLang="zh-TW">
              <a:latin typeface="Times New Roman"/>
              <a:ea typeface="SimSun"/>
              <a:cs typeface="Times New Roman"/>
            </a:endParaRPr>
          </a:p>
        </p:txBody>
      </p:sp>
    </p:spTree>
    <p:extLst>
      <p:ext uri="{BB962C8B-B14F-4D97-AF65-F5344CB8AC3E}">
        <p14:creationId xmlns:p14="http://schemas.microsoft.com/office/powerpoint/2010/main" val="34573606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B14EFEF5-6D8D-4118-BD5A-02D919F6891D}"/>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32</a:t>
            </a:fld>
            <a:endParaRPr lang="en-US" altLang="zh-TW">
              <a:latin typeface="Times New Roman"/>
              <a:ea typeface="SimSun"/>
              <a:cs typeface="Times New Roman"/>
            </a:endParaRPr>
          </a:p>
        </p:txBody>
      </p:sp>
    </p:spTree>
    <p:extLst>
      <p:ext uri="{BB962C8B-B14F-4D97-AF65-F5344CB8AC3E}">
        <p14:creationId xmlns:p14="http://schemas.microsoft.com/office/powerpoint/2010/main" val="7721055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AF6B97D1-3E6B-4E7F-B21C-910F0053E466}"/>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33</a:t>
            </a:fld>
            <a:endParaRPr lang="en-US" altLang="zh-TW">
              <a:latin typeface="Times New Roman"/>
              <a:ea typeface="SimSun"/>
              <a:cs typeface="Times New Roman"/>
            </a:endParaRPr>
          </a:p>
        </p:txBody>
      </p:sp>
    </p:spTree>
    <p:extLst>
      <p:ext uri="{BB962C8B-B14F-4D97-AF65-F5344CB8AC3E}">
        <p14:creationId xmlns:p14="http://schemas.microsoft.com/office/powerpoint/2010/main" val="8738954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3DA9766-0269-4B09-9B70-5550489D81D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34</a:t>
            </a:fld>
            <a:endParaRPr lang="en-US" altLang="zh-TW">
              <a:latin typeface="Times New Roman"/>
              <a:ea typeface="SimSun"/>
              <a:cs typeface="Times New Roman"/>
            </a:endParaRPr>
          </a:p>
        </p:txBody>
      </p:sp>
    </p:spTree>
    <p:extLst>
      <p:ext uri="{BB962C8B-B14F-4D97-AF65-F5344CB8AC3E}">
        <p14:creationId xmlns:p14="http://schemas.microsoft.com/office/powerpoint/2010/main" val="13731431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E992F0C-E04C-4FDA-A244-FDC90C1AC887}"/>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35</a:t>
            </a:fld>
            <a:endParaRPr lang="en-US" altLang="zh-TW">
              <a:latin typeface="Times New Roman"/>
              <a:ea typeface="SimSun"/>
              <a:cs typeface="Times New Roman"/>
            </a:endParaRPr>
          </a:p>
        </p:txBody>
      </p:sp>
    </p:spTree>
    <p:extLst>
      <p:ext uri="{BB962C8B-B14F-4D97-AF65-F5344CB8AC3E}">
        <p14:creationId xmlns:p14="http://schemas.microsoft.com/office/powerpoint/2010/main" val="2864158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36</a:t>
            </a:fld>
            <a:endParaRPr lang="en-US" altLang="zh-TW">
              <a:latin typeface="Times New Roman"/>
              <a:ea typeface="SimSun"/>
              <a:cs typeface="Times New Roman"/>
            </a:endParaRPr>
          </a:p>
        </p:txBody>
      </p:sp>
    </p:spTree>
    <p:extLst>
      <p:ext uri="{BB962C8B-B14F-4D97-AF65-F5344CB8AC3E}">
        <p14:creationId xmlns:p14="http://schemas.microsoft.com/office/powerpoint/2010/main" val="11639534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CE4E0FD1-B8C2-4BD0-9DC8-3C61854374F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37</a:t>
            </a:fld>
            <a:endParaRPr lang="en-US" altLang="zh-TW">
              <a:latin typeface="Times New Roman"/>
              <a:ea typeface="SimSun"/>
              <a:cs typeface="Times New Roman"/>
            </a:endParaRPr>
          </a:p>
        </p:txBody>
      </p:sp>
    </p:spTree>
    <p:extLst>
      <p:ext uri="{BB962C8B-B14F-4D97-AF65-F5344CB8AC3E}">
        <p14:creationId xmlns:p14="http://schemas.microsoft.com/office/powerpoint/2010/main" val="6337299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1B8974FC-000C-4ED8-ABA9-BF0F90FAFA9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38</a:t>
            </a:fld>
            <a:endParaRPr lang="en-US" altLang="zh-TW">
              <a:latin typeface="Times New Roman"/>
              <a:ea typeface="SimSun"/>
              <a:cs typeface="Times New Roman"/>
            </a:endParaRPr>
          </a:p>
        </p:txBody>
      </p:sp>
    </p:spTree>
    <p:extLst>
      <p:ext uri="{BB962C8B-B14F-4D97-AF65-F5344CB8AC3E}">
        <p14:creationId xmlns:p14="http://schemas.microsoft.com/office/powerpoint/2010/main" val="10092990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39</a:t>
            </a:fld>
            <a:endParaRPr lang="en-US" altLang="zh-TW">
              <a:latin typeface="Times New Roman"/>
              <a:ea typeface="SimSun"/>
              <a:cs typeface="Times New Roman"/>
            </a:endParaRPr>
          </a:p>
        </p:txBody>
      </p:sp>
    </p:spTree>
    <p:extLst>
      <p:ext uri="{BB962C8B-B14F-4D97-AF65-F5344CB8AC3E}">
        <p14:creationId xmlns:p14="http://schemas.microsoft.com/office/powerpoint/2010/main" val="42132405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40</a:t>
            </a:fld>
            <a:endParaRPr lang="en-US" altLang="zh-TW">
              <a:latin typeface="Times New Roman"/>
              <a:ea typeface="SimSun"/>
              <a:cs typeface="Times New Roman"/>
            </a:endParaRPr>
          </a:p>
        </p:txBody>
      </p:sp>
    </p:spTree>
    <p:extLst>
      <p:ext uri="{BB962C8B-B14F-4D97-AF65-F5344CB8AC3E}">
        <p14:creationId xmlns:p14="http://schemas.microsoft.com/office/powerpoint/2010/main" val="24667812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41</a:t>
            </a:fld>
            <a:endParaRPr lang="en-US" altLang="zh-TW">
              <a:latin typeface="Times New Roman"/>
              <a:ea typeface="SimSun"/>
              <a:cs typeface="Times New Roman"/>
            </a:endParaRPr>
          </a:p>
        </p:txBody>
      </p:sp>
    </p:spTree>
    <p:extLst>
      <p:ext uri="{BB962C8B-B14F-4D97-AF65-F5344CB8AC3E}">
        <p14:creationId xmlns:p14="http://schemas.microsoft.com/office/powerpoint/2010/main" val="37647169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42</a:t>
            </a:fld>
            <a:endParaRPr lang="en-US" altLang="zh-TW">
              <a:latin typeface="Times New Roman"/>
              <a:ea typeface="SimSun"/>
              <a:cs typeface="Times New Roman"/>
            </a:endParaRPr>
          </a:p>
        </p:txBody>
      </p:sp>
    </p:spTree>
    <p:extLst>
      <p:ext uri="{BB962C8B-B14F-4D97-AF65-F5344CB8AC3E}">
        <p14:creationId xmlns:p14="http://schemas.microsoft.com/office/powerpoint/2010/main" val="35374895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43</a:t>
            </a:fld>
            <a:endParaRPr lang="en-US" altLang="zh-TW">
              <a:latin typeface="Times New Roman"/>
              <a:ea typeface="SimSun"/>
              <a:cs typeface="Times New Roman"/>
            </a:endParaRPr>
          </a:p>
        </p:txBody>
      </p:sp>
    </p:spTree>
    <p:extLst>
      <p:ext uri="{BB962C8B-B14F-4D97-AF65-F5344CB8AC3E}">
        <p14:creationId xmlns:p14="http://schemas.microsoft.com/office/powerpoint/2010/main" val="38824509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44</a:t>
            </a:fld>
            <a:endParaRPr lang="en-US" altLang="zh-TW">
              <a:latin typeface="Times New Roman"/>
              <a:ea typeface="SimSun"/>
              <a:cs typeface="Times New Roman"/>
            </a:endParaRPr>
          </a:p>
        </p:txBody>
      </p:sp>
    </p:spTree>
    <p:extLst>
      <p:ext uri="{BB962C8B-B14F-4D97-AF65-F5344CB8AC3E}">
        <p14:creationId xmlns:p14="http://schemas.microsoft.com/office/powerpoint/2010/main" val="3884202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D721C43-03C8-4BDF-978A-7B5A1B041A2A}"/>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45</a:t>
            </a:fld>
            <a:endParaRPr lang="en-US" altLang="zh-TW">
              <a:latin typeface="Times New Roman"/>
              <a:ea typeface="SimSun"/>
              <a:cs typeface="Times New Roman"/>
            </a:endParaRPr>
          </a:p>
        </p:txBody>
      </p:sp>
    </p:spTree>
    <p:extLst>
      <p:ext uri="{BB962C8B-B14F-4D97-AF65-F5344CB8AC3E}">
        <p14:creationId xmlns:p14="http://schemas.microsoft.com/office/powerpoint/2010/main" val="2021144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46</a:t>
            </a:fld>
            <a:endParaRPr lang="en-US" altLang="zh-TW">
              <a:latin typeface="Times New Roman"/>
              <a:ea typeface="SimSun"/>
              <a:cs typeface="Times New Roman"/>
            </a:endParaRPr>
          </a:p>
        </p:txBody>
      </p:sp>
    </p:spTree>
    <p:extLst>
      <p:ext uri="{BB962C8B-B14F-4D97-AF65-F5344CB8AC3E}">
        <p14:creationId xmlns:p14="http://schemas.microsoft.com/office/powerpoint/2010/main" val="41663217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05A4EE8-2B30-44DE-B5E4-842990079C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47</a:t>
            </a:fld>
            <a:endParaRPr lang="en-US" altLang="zh-TW">
              <a:latin typeface="Times New Roman"/>
              <a:ea typeface="SimSun"/>
              <a:cs typeface="Times New Roman"/>
            </a:endParaRPr>
          </a:p>
        </p:txBody>
      </p:sp>
    </p:spTree>
    <p:extLst>
      <p:ext uri="{BB962C8B-B14F-4D97-AF65-F5344CB8AC3E}">
        <p14:creationId xmlns:p14="http://schemas.microsoft.com/office/powerpoint/2010/main" val="27980035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AC08C26-8868-4C8A-A123-F673C7BA2CDC}"/>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48</a:t>
            </a:fld>
            <a:endParaRPr lang="en-US" altLang="zh-TW">
              <a:latin typeface="Times New Roman"/>
              <a:ea typeface="SimSun"/>
              <a:cs typeface="Times New Roman"/>
            </a:endParaRPr>
          </a:p>
        </p:txBody>
      </p:sp>
    </p:spTree>
    <p:extLst>
      <p:ext uri="{BB962C8B-B14F-4D97-AF65-F5344CB8AC3E}">
        <p14:creationId xmlns:p14="http://schemas.microsoft.com/office/powerpoint/2010/main" val="38829472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651AE4B6-F39C-4E87-93C7-37870B38C20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49</a:t>
            </a:fld>
            <a:endParaRPr lang="en-US" altLang="zh-TW">
              <a:latin typeface="Times New Roman"/>
              <a:ea typeface="SimSun"/>
              <a:cs typeface="Times New Roman"/>
            </a:endParaRPr>
          </a:p>
        </p:txBody>
      </p:sp>
    </p:spTree>
    <p:extLst>
      <p:ext uri="{BB962C8B-B14F-4D97-AF65-F5344CB8AC3E}">
        <p14:creationId xmlns:p14="http://schemas.microsoft.com/office/powerpoint/2010/main" val="41414579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26263736-D33E-4E4B-AD7C-9010CA7ECEB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50</a:t>
            </a:fld>
            <a:endParaRPr lang="en-US" altLang="zh-TW">
              <a:latin typeface="Times New Roman"/>
              <a:ea typeface="SimSun"/>
              <a:cs typeface="Times New Roman"/>
            </a:endParaRPr>
          </a:p>
        </p:txBody>
      </p:sp>
    </p:spTree>
    <p:extLst>
      <p:ext uri="{BB962C8B-B14F-4D97-AF65-F5344CB8AC3E}">
        <p14:creationId xmlns:p14="http://schemas.microsoft.com/office/powerpoint/2010/main" val="39477620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26263736-D33E-4E4B-AD7C-9010CA7ECEB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51</a:t>
            </a:fld>
            <a:endParaRPr lang="en-US" altLang="zh-TW">
              <a:latin typeface="Times New Roman"/>
              <a:ea typeface="SimSun"/>
              <a:cs typeface="Times New Roman"/>
            </a:endParaRPr>
          </a:p>
        </p:txBody>
      </p:sp>
    </p:spTree>
    <p:extLst>
      <p:ext uri="{BB962C8B-B14F-4D97-AF65-F5344CB8AC3E}">
        <p14:creationId xmlns:p14="http://schemas.microsoft.com/office/powerpoint/2010/main" val="1397508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52</a:t>
            </a:fld>
            <a:endParaRPr lang="en-US" altLang="zh-TW">
              <a:latin typeface="Times New Roman"/>
              <a:ea typeface="SimSun"/>
              <a:cs typeface="Times New Roman"/>
            </a:endParaRPr>
          </a:p>
        </p:txBody>
      </p:sp>
    </p:spTree>
    <p:extLst>
      <p:ext uri="{BB962C8B-B14F-4D97-AF65-F5344CB8AC3E}">
        <p14:creationId xmlns:p14="http://schemas.microsoft.com/office/powerpoint/2010/main" val="32520879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1A4DF25D-3FF5-43A0-9E4A-789601482A8F}"/>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53</a:t>
            </a:fld>
            <a:endParaRPr lang="en-US" altLang="zh-TW">
              <a:latin typeface="Times New Roman"/>
              <a:ea typeface="SimSun"/>
              <a:cs typeface="Times New Roman"/>
            </a:endParaRPr>
          </a:p>
        </p:txBody>
      </p:sp>
    </p:spTree>
    <p:extLst>
      <p:ext uri="{BB962C8B-B14F-4D97-AF65-F5344CB8AC3E}">
        <p14:creationId xmlns:p14="http://schemas.microsoft.com/office/powerpoint/2010/main" val="1828563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8C7FD3AC-C2CF-4840-9228-0337133862C3}"/>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54</a:t>
            </a:fld>
            <a:endParaRPr lang="en-US" altLang="zh-TW">
              <a:latin typeface="Times New Roman"/>
              <a:ea typeface="SimSun"/>
              <a:cs typeface="Times New Roman"/>
            </a:endParaRPr>
          </a:p>
        </p:txBody>
      </p:sp>
    </p:spTree>
    <p:extLst>
      <p:ext uri="{BB962C8B-B14F-4D97-AF65-F5344CB8AC3E}">
        <p14:creationId xmlns:p14="http://schemas.microsoft.com/office/powerpoint/2010/main" val="37577499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92706919-DC0F-4D26-924D-8FAC71F0218B}"/>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55</a:t>
            </a:fld>
            <a:endParaRPr lang="en-US" altLang="zh-TW">
              <a:latin typeface="Times New Roman"/>
              <a:ea typeface="SimSun"/>
              <a:cs typeface="Times New Roman"/>
            </a:endParaRPr>
          </a:p>
        </p:txBody>
      </p:sp>
    </p:spTree>
    <p:extLst>
      <p:ext uri="{BB962C8B-B14F-4D97-AF65-F5344CB8AC3E}">
        <p14:creationId xmlns:p14="http://schemas.microsoft.com/office/powerpoint/2010/main" val="2595857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7075" cy="2552700"/>
          </a:xfrm>
        </p:spPr>
      </p:sp>
      <p:sp>
        <p:nvSpPr>
          <p:cNvPr id="3" name="备注占位符 2"/>
          <p:cNvSpPr>
            <a:spLocks noGrp="1"/>
          </p:cNvSpPr>
          <p:nvPr>
            <p:ph type="body" idx="1"/>
          </p:nvPr>
        </p:nvSpPr>
        <p:spPr/>
        <p:txBody>
          <a:bodyPr/>
          <a:lstStyle/>
          <a:p>
            <a:endParaRPr lang="zh-CN" altLang="en-US">
              <a:latin typeface="Times New Roman"/>
              <a:ea typeface="SimSun"/>
              <a:cs typeface="Times New Roman"/>
            </a:endParaRPr>
          </a:p>
        </p:txBody>
      </p:sp>
      <p:sp>
        <p:nvSpPr>
          <p:cNvPr id="5" name="灯片编号占位符 4">
            <a:extLst>
              <a:ext uri="{FF2B5EF4-FFF2-40B4-BE49-F238E27FC236}">
                <a16:creationId xmlns:a16="http://schemas.microsoft.com/office/drawing/2014/main" id="{68FC9E79-C983-4002-BE8C-8533DCFD7CA0}"/>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59</a:t>
            </a:fld>
            <a:endParaRPr lang="en-US" altLang="zh-TW">
              <a:latin typeface="Times New Roman"/>
              <a:ea typeface="SimSun"/>
              <a:cs typeface="Times New Roman"/>
            </a:endParaRPr>
          </a:p>
        </p:txBody>
      </p:sp>
    </p:spTree>
    <p:extLst>
      <p:ext uri="{BB962C8B-B14F-4D97-AF65-F5344CB8AC3E}">
        <p14:creationId xmlns:p14="http://schemas.microsoft.com/office/powerpoint/2010/main" val="13660568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2697163" y="509588"/>
            <a:ext cx="4537075" cy="25527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0319CB7E-98B4-4AD0-ADE3-D778A181B50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60</a:t>
            </a:fld>
            <a:endParaRPr lang="en-US" altLang="zh-TW">
              <a:latin typeface="Times New Roman"/>
              <a:ea typeface="SimSun"/>
              <a:cs typeface="Times New Roman"/>
            </a:endParaRPr>
          </a:p>
        </p:txBody>
      </p:sp>
    </p:spTree>
    <p:extLst>
      <p:ext uri="{BB962C8B-B14F-4D97-AF65-F5344CB8AC3E}">
        <p14:creationId xmlns:p14="http://schemas.microsoft.com/office/powerpoint/2010/main" val="32946175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61</a:t>
            </a:fld>
            <a:endParaRPr lang="en-US" altLang="zh-TW">
              <a:latin typeface="Times New Roman"/>
              <a:ea typeface="SimSun"/>
              <a:cs typeface="Times New Roman"/>
            </a:endParaRPr>
          </a:p>
        </p:txBody>
      </p:sp>
    </p:spTree>
    <p:extLst>
      <p:ext uri="{BB962C8B-B14F-4D97-AF65-F5344CB8AC3E}">
        <p14:creationId xmlns:p14="http://schemas.microsoft.com/office/powerpoint/2010/main" val="11832758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62</a:t>
            </a:fld>
            <a:endParaRPr lang="en-US" altLang="zh-TW">
              <a:latin typeface="Times New Roman"/>
              <a:ea typeface="SimSun"/>
              <a:cs typeface="Times New Roman"/>
            </a:endParaRPr>
          </a:p>
        </p:txBody>
      </p:sp>
    </p:spTree>
    <p:extLst>
      <p:ext uri="{BB962C8B-B14F-4D97-AF65-F5344CB8AC3E}">
        <p14:creationId xmlns:p14="http://schemas.microsoft.com/office/powerpoint/2010/main" val="41043015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63</a:t>
            </a:fld>
            <a:endParaRPr lang="en-US" altLang="zh-TW">
              <a:latin typeface="Times New Roman"/>
              <a:ea typeface="SimSun"/>
              <a:cs typeface="Times New Roman"/>
            </a:endParaRPr>
          </a:p>
        </p:txBody>
      </p:sp>
    </p:spTree>
    <p:extLst>
      <p:ext uri="{BB962C8B-B14F-4D97-AF65-F5344CB8AC3E}">
        <p14:creationId xmlns:p14="http://schemas.microsoft.com/office/powerpoint/2010/main" val="13636292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B0604020202020204" pitchFamily="34" charset="0"/>
              <a:ea typeface="SimSun"/>
              <a:cs typeface="Times New Roman"/>
            </a:endParaRPr>
          </a:p>
        </p:txBody>
      </p:sp>
      <p:sp>
        <p:nvSpPr>
          <p:cNvPr id="2" name="灯片编号占位符 1">
            <a:extLst>
              <a:ext uri="{FF2B5EF4-FFF2-40B4-BE49-F238E27FC236}">
                <a16:creationId xmlns:a16="http://schemas.microsoft.com/office/drawing/2014/main" id="{48CCC6FA-9FA2-4CC2-B441-EC5EF64470BE}"/>
              </a:ext>
            </a:extLst>
          </p:cNvPr>
          <p:cNvSpPr>
            <a:spLocks noGrp="1"/>
          </p:cNvSpPr>
          <p:nvPr>
            <p:ph type="sldNum" sz="quarter" idx="5"/>
          </p:nvPr>
        </p:nvSpPr>
        <p:spPr/>
        <p:txBody>
          <a:bodyPr/>
          <a:lstStyle/>
          <a:p>
            <a:pPr>
              <a:defRPr>
                <a:latin typeface="Times New Roman"/>
                <a:ea typeface="SimSun"/>
                <a:cs typeface="Times New Roman"/>
              </a:defRPr>
            </a:pPr>
            <a:fld id="{E9539218-AF35-4C29-B7A1-DCC55E5102B9}" type="slidenum">
              <a:rPr lang="zh-TW" altLang="en-US" smtClean="0">
                <a:latin typeface="Times New Roman"/>
                <a:ea typeface="SimSun"/>
                <a:cs typeface="Times New Roman"/>
              </a:rPr>
              <a:pPr>
                <a:defRPr>
                  <a:latin typeface="Times New Roman"/>
                  <a:ea typeface="SimSun"/>
                  <a:cs typeface="Times New Roman"/>
                </a:defRPr>
              </a:pPr>
              <a:t>64</a:t>
            </a:fld>
            <a:endParaRPr lang="en-US" altLang="zh-TW">
              <a:latin typeface="Times New Roman"/>
              <a:ea typeface="SimSun"/>
              <a:cs typeface="Times New Roman"/>
            </a:endParaRPr>
          </a:p>
        </p:txBody>
      </p:sp>
    </p:spTree>
    <p:extLst>
      <p:ext uri="{BB962C8B-B14F-4D97-AF65-F5344CB8AC3E}">
        <p14:creationId xmlns:p14="http://schemas.microsoft.com/office/powerpoint/2010/main" val="11853108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307139"/>
            <a:ext cx="12192000" cy="53975"/>
          </a:xfrm>
          <a:prstGeom prst="rect">
            <a:avLst/>
          </a:prstGeom>
          <a:solidFill>
            <a:srgbClr val="800000"/>
          </a:solidFill>
          <a:ln>
            <a:noFill/>
          </a:ln>
        </p:spPr>
        <p:txBody>
          <a:bodyPr wrap="none" anchor="ct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a:defRPr>
                <a:latin typeface="Times New Roman"/>
                <a:ea typeface="SimSun"/>
                <a:cs typeface="Times New Roman"/>
              </a:defRPr>
            </a:pPr>
            <a:endParaRPr lang="fr-FR" altLang="zh-CN" sz="2400">
              <a:solidFill>
                <a:schemeClr val="tx1"/>
              </a:solidFill>
              <a:latin typeface="Times New Roman" panose="02020603050405020304" pitchFamily="18" charset="0"/>
              <a:ea typeface="SimSun"/>
              <a:cs typeface="Times New Roman" panose="020B0604020202020204" pitchFamily="34" charset="-122"/>
            </a:endParaRPr>
          </a:p>
        </p:txBody>
      </p:sp>
      <p:sp>
        <p:nvSpPr>
          <p:cNvPr id="5" name="Rectangle 3"/>
          <p:cNvSpPr>
            <a:spLocks noChangeArrowheads="1"/>
          </p:cNvSpPr>
          <p:nvPr/>
        </p:nvSpPr>
        <p:spPr bwMode="auto">
          <a:xfrm>
            <a:off x="0" y="1685925"/>
            <a:ext cx="12192000" cy="2286000"/>
          </a:xfrm>
          <a:prstGeom prst="rect">
            <a:avLst/>
          </a:prstGeom>
          <a:solidFill>
            <a:srgbClr val="800000"/>
          </a:solidFill>
          <a:ln>
            <a:noFill/>
          </a:ln>
        </p:spPr>
        <p:txBody>
          <a:bodyPr wrap="none" anchor="ct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algn="ctr">
              <a:defRPr>
                <a:latin typeface="Times New Roman"/>
                <a:ea typeface="SimSun"/>
                <a:cs typeface="Times New Roman"/>
              </a:defRPr>
            </a:pPr>
            <a:endParaRPr lang="zh-CN" altLang="zh-CN" sz="1000">
              <a:solidFill>
                <a:schemeClr val="tx1"/>
              </a:solidFill>
              <a:latin typeface="Times New Roman" panose="020B0604020202020204" pitchFamily="34" charset="0"/>
              <a:ea typeface="SimSun"/>
              <a:cs typeface="Times New Roman" panose="020B0604020202020204" pitchFamily="34" charset="0"/>
            </a:endParaRPr>
          </a:p>
        </p:txBody>
      </p:sp>
      <p:pic>
        <p:nvPicPr>
          <p:cNvPr id="6"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4448174"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r="1828"/>
          <a:stretch>
            <a:fillRect/>
          </a:stretch>
        </p:blipFill>
        <p:spPr bwMode="auto">
          <a:xfrm>
            <a:off x="7019924" y="0"/>
            <a:ext cx="5172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5"/>
          <p:cNvSpPr>
            <a:spLocks noGrp="1" noChangeArrowheads="1"/>
          </p:cNvSpPr>
          <p:nvPr>
            <p:ph type="ctrTitle" sz="quarter"/>
          </p:nvPr>
        </p:nvSpPr>
        <p:spPr>
          <a:xfrm>
            <a:off x="605367" y="2032001"/>
            <a:ext cx="10363200" cy="1470025"/>
          </a:xfrm>
        </p:spPr>
        <p:txBody>
          <a:bodyPr/>
          <a:lstStyle>
            <a:lvl1pPr>
              <a:lnSpc>
                <a:spcPct val="100000"/>
              </a:lnSpc>
              <a:defRPr sz="2400" b="1">
                <a:solidFill>
                  <a:schemeClr val="bg1"/>
                </a:solidFill>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5126" name="Rectangle 6"/>
          <p:cNvSpPr>
            <a:spLocks noGrp="1" noChangeArrowheads="1"/>
          </p:cNvSpPr>
          <p:nvPr>
            <p:ph type="subTitle" sz="quarter" idx="1"/>
          </p:nvPr>
        </p:nvSpPr>
        <p:spPr>
          <a:xfrm>
            <a:off x="7226300" y="4310063"/>
            <a:ext cx="3776133" cy="1752600"/>
          </a:xfrm>
        </p:spPr>
        <p:txBody>
          <a:bodyPr/>
          <a:lstStyle>
            <a:lvl1pPr marL="0" indent="0" algn="ctr">
              <a:buFontTx/>
              <a:buNone/>
              <a:defRPr sz="1400">
                <a:latin typeface="Times New Roman"/>
                <a:ea typeface="SimSun"/>
                <a:cs typeface="Times New Roman"/>
              </a:defRPr>
            </a:lvl1pPr>
          </a:lstStyle>
          <a:p>
            <a:r>
              <a:rPr lang="en-US">
                <a:latin typeface="Times New Roman"/>
                <a:ea typeface="SimSun"/>
                <a:cs typeface="Times New Roman"/>
              </a:rPr>
              <a:t>Click to edit Master subtitle style</a:t>
            </a:r>
          </a:p>
        </p:txBody>
      </p:sp>
    </p:spTree>
    <p:extLst>
      <p:ext uri="{BB962C8B-B14F-4D97-AF65-F5344CB8AC3E}">
        <p14:creationId xmlns:p14="http://schemas.microsoft.com/office/powerpoint/2010/main" val="1984300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idx="1"/>
          </p:nvPr>
        </p:nvSpPr>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日期占位符 3"/>
          <p:cNvSpPr>
            <a:spLocks noGrp="1"/>
          </p:cNvSpPr>
          <p:nvPr>
            <p:ph type="dt" sz="half"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5" name="页脚占位符 4"/>
          <p:cNvSpPr>
            <a:spLocks noGrp="1"/>
          </p:cNvSpPr>
          <p:nvPr>
            <p:ph type="ftr"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5"/>
          <p:cNvSpPr>
            <a:spLocks noGrp="1"/>
          </p:cNvSpPr>
          <p:nvPr>
            <p:ph type="sldNum" sz="quarter" idx="12"/>
          </p:nvPr>
        </p:nvSpPr>
        <p:spPr>
          <a:xfrm>
            <a:off x="9309100" y="6400801"/>
            <a:ext cx="2844800" cy="365125"/>
          </a:xfrm>
        </p:spPr>
        <p:txBody>
          <a:bodyPr/>
          <a:lstStyle>
            <a:lvl1pPr>
              <a:defRPr b="1" smtClean="0">
                <a:solidFill>
                  <a:schemeClr val="tx1"/>
                </a:solidFill>
                <a:latin typeface="Times New Roman"/>
                <a:ea typeface="SimSun"/>
                <a:cs typeface="Times New Roman"/>
              </a:defRPr>
            </a:lvl1p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a:t>
            </a:fld>
            <a:endParaRPr lang="en-US" altLang="zh-CN" dirty="0">
              <a:latin typeface="Times New Roman"/>
              <a:ea typeface="SimSun"/>
              <a:cs typeface="Times New Roman"/>
            </a:endParaRPr>
          </a:p>
        </p:txBody>
      </p:sp>
    </p:spTree>
    <p:extLst>
      <p:ext uri="{BB962C8B-B14F-4D97-AF65-F5344CB8AC3E}">
        <p14:creationId xmlns:p14="http://schemas.microsoft.com/office/powerpoint/2010/main" val="3277080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a:ea typeface="SimSun"/>
                <a:cs typeface="Times New Roman"/>
              </a:defRPr>
            </a:lvl1pPr>
            <a:lvl2pPr marL="457200" indent="0">
              <a:buNone/>
              <a:defRPr sz="1800">
                <a:latin typeface="Times New Roman"/>
                <a:ea typeface="SimSun"/>
                <a:cs typeface="Times New Roman"/>
              </a:defRPr>
            </a:lvl2pPr>
            <a:lvl3pPr marL="914400" indent="0">
              <a:buNone/>
              <a:defRPr sz="1600">
                <a:latin typeface="Times New Roman"/>
                <a:ea typeface="SimSun"/>
                <a:cs typeface="Times New Roman"/>
              </a:defRPr>
            </a:lvl3pPr>
            <a:lvl4pPr marL="1371600" indent="0">
              <a:buNone/>
              <a:defRPr sz="1400">
                <a:latin typeface="Times New Roman"/>
                <a:ea typeface="SimSun"/>
                <a:cs typeface="Times New Roman"/>
              </a:defRPr>
            </a:lvl4pPr>
            <a:lvl5pPr marL="1828800" indent="0">
              <a:buNone/>
              <a:defRPr sz="1400">
                <a:latin typeface="Times New Roman"/>
                <a:ea typeface="SimSun"/>
                <a:cs typeface="Times New Roman"/>
              </a:defRPr>
            </a:lvl5pPr>
            <a:lvl6pPr marL="2286000" indent="0">
              <a:buNone/>
              <a:defRPr sz="1400">
                <a:latin typeface="Times New Roman"/>
                <a:ea typeface="SimSun"/>
                <a:cs typeface="Times New Roman"/>
              </a:defRPr>
            </a:lvl6pPr>
            <a:lvl7pPr marL="2743200" indent="0">
              <a:buNone/>
              <a:defRPr sz="1400">
                <a:latin typeface="Times New Roman"/>
                <a:ea typeface="SimSun"/>
                <a:cs typeface="Times New Roman"/>
              </a:defRPr>
            </a:lvl7pPr>
            <a:lvl8pPr marL="3200400" indent="0">
              <a:buNone/>
              <a:defRPr sz="1400">
                <a:latin typeface="Times New Roman"/>
                <a:ea typeface="SimSun"/>
                <a:cs typeface="Times New Roman"/>
              </a:defRPr>
            </a:lvl8pPr>
            <a:lvl9pPr marL="3657600" indent="0">
              <a:buNone/>
              <a:defRPr sz="1400">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4"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5"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4318643B-F044-403A-A26B-E19A2779F296}"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6"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233486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sz="half" idx="1"/>
          </p:nvPr>
        </p:nvSpPr>
        <p:spPr>
          <a:xfrm>
            <a:off x="685800" y="1266826"/>
            <a:ext cx="5513917" cy="4829175"/>
          </a:xfrm>
        </p:spPr>
        <p:txBody>
          <a:bodyPr/>
          <a:lstStyle>
            <a:lvl1pPr>
              <a:defRPr sz="2800">
                <a:latin typeface="Times New Roman"/>
                <a:ea typeface="SimSun"/>
                <a:cs typeface="Times New Roman"/>
              </a:defRPr>
            </a:lvl1pPr>
            <a:lvl2pPr>
              <a:defRPr sz="2400">
                <a:latin typeface="Times New Roman"/>
                <a:ea typeface="SimSun"/>
                <a:cs typeface="Times New Roman"/>
              </a:defRPr>
            </a:lvl2pPr>
            <a:lvl3pPr>
              <a:defRPr sz="2000">
                <a:latin typeface="Times New Roman"/>
                <a:ea typeface="SimSun"/>
                <a:cs typeface="Times New Roman"/>
              </a:defRPr>
            </a:lvl3pPr>
            <a:lvl4pPr>
              <a:defRPr sz="1800">
                <a:latin typeface="Times New Roman"/>
                <a:ea typeface="SimSun"/>
                <a:cs typeface="Times New Roman"/>
              </a:defRPr>
            </a:lvl4pPr>
            <a:lvl5pPr>
              <a:defRPr sz="1800">
                <a:latin typeface="Times New Roman"/>
                <a:ea typeface="SimSun"/>
                <a:cs typeface="Times New Roman"/>
              </a:defRPr>
            </a:lvl5pPr>
            <a:lvl6pPr>
              <a:defRPr sz="1800">
                <a:latin typeface="Times New Roman"/>
                <a:ea typeface="SimSun"/>
                <a:cs typeface="Times New Roman"/>
              </a:defRPr>
            </a:lvl6pPr>
            <a:lvl7pPr>
              <a:defRPr sz="1800">
                <a:latin typeface="Times New Roman"/>
                <a:ea typeface="SimSun"/>
                <a:cs typeface="Times New Roman"/>
              </a:defRPr>
            </a:lvl7pPr>
            <a:lvl8pPr>
              <a:defRPr sz="1800">
                <a:latin typeface="Times New Roman"/>
                <a:ea typeface="SimSun"/>
                <a:cs typeface="Times New Roman"/>
              </a:defRPr>
            </a:lvl8pPr>
            <a:lvl9pPr>
              <a:defRPr sz="18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Content Placeholder 3"/>
          <p:cNvSpPr>
            <a:spLocks noGrp="1"/>
          </p:cNvSpPr>
          <p:nvPr>
            <p:ph sz="half" idx="2"/>
          </p:nvPr>
        </p:nvSpPr>
        <p:spPr>
          <a:xfrm>
            <a:off x="6402918" y="1266826"/>
            <a:ext cx="5513916" cy="4829175"/>
          </a:xfrm>
        </p:spPr>
        <p:txBody>
          <a:bodyPr/>
          <a:lstStyle>
            <a:lvl1pPr>
              <a:defRPr sz="2800">
                <a:latin typeface="Times New Roman"/>
                <a:ea typeface="SimSun"/>
                <a:cs typeface="Times New Roman"/>
              </a:defRPr>
            </a:lvl1pPr>
            <a:lvl2pPr>
              <a:defRPr sz="2400">
                <a:latin typeface="Times New Roman"/>
                <a:ea typeface="SimSun"/>
                <a:cs typeface="Times New Roman"/>
              </a:defRPr>
            </a:lvl2pPr>
            <a:lvl3pPr>
              <a:defRPr sz="2000">
                <a:latin typeface="Times New Roman"/>
                <a:ea typeface="SimSun"/>
                <a:cs typeface="Times New Roman"/>
              </a:defRPr>
            </a:lvl3pPr>
            <a:lvl4pPr>
              <a:defRPr sz="1800">
                <a:latin typeface="Times New Roman"/>
                <a:ea typeface="SimSun"/>
                <a:cs typeface="Times New Roman"/>
              </a:defRPr>
            </a:lvl4pPr>
            <a:lvl5pPr>
              <a:defRPr sz="1800">
                <a:latin typeface="Times New Roman"/>
                <a:ea typeface="SimSun"/>
                <a:cs typeface="Times New Roman"/>
              </a:defRPr>
            </a:lvl5pPr>
            <a:lvl6pPr>
              <a:defRPr sz="1800">
                <a:latin typeface="Times New Roman"/>
                <a:ea typeface="SimSun"/>
                <a:cs typeface="Times New Roman"/>
              </a:defRPr>
            </a:lvl6pPr>
            <a:lvl7pPr>
              <a:defRPr sz="1800">
                <a:latin typeface="Times New Roman"/>
                <a:ea typeface="SimSun"/>
                <a:cs typeface="Times New Roman"/>
              </a:defRPr>
            </a:lvl7pPr>
            <a:lvl8pPr>
              <a:defRPr sz="1800">
                <a:latin typeface="Times New Roman"/>
                <a:ea typeface="SimSun"/>
                <a:cs typeface="Times New Roman"/>
              </a:defRPr>
            </a:lvl8pPr>
            <a:lvl9pPr>
              <a:defRPr sz="18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382F559E-D686-4501-B9B1-B66DF32CCD44}"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7"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3687366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a:ea typeface="SimSun"/>
                <a:cs typeface="Times New Roman"/>
              </a:defRPr>
            </a:lvl1pPr>
            <a:lvl2pPr marL="457200" indent="0">
              <a:buNone/>
              <a:defRPr sz="2000" b="1">
                <a:latin typeface="Times New Roman"/>
                <a:ea typeface="SimSun"/>
                <a:cs typeface="Times New Roman"/>
              </a:defRPr>
            </a:lvl2pPr>
            <a:lvl3pPr marL="914400" indent="0">
              <a:buNone/>
              <a:defRPr sz="1800" b="1">
                <a:latin typeface="Times New Roman"/>
                <a:ea typeface="SimSun"/>
                <a:cs typeface="Times New Roman"/>
              </a:defRPr>
            </a:lvl3pPr>
            <a:lvl4pPr marL="1371600" indent="0">
              <a:buNone/>
              <a:defRPr sz="1600" b="1">
                <a:latin typeface="Times New Roman"/>
                <a:ea typeface="SimSun"/>
                <a:cs typeface="Times New Roman"/>
              </a:defRPr>
            </a:lvl4pPr>
            <a:lvl5pPr marL="1828800" indent="0">
              <a:buNone/>
              <a:defRPr sz="1600" b="1">
                <a:latin typeface="Times New Roman"/>
                <a:ea typeface="SimSun"/>
                <a:cs typeface="Times New Roman"/>
              </a:defRPr>
            </a:lvl5pPr>
            <a:lvl6pPr marL="2286000" indent="0">
              <a:buNone/>
              <a:defRPr sz="1600" b="1">
                <a:latin typeface="Times New Roman"/>
                <a:ea typeface="SimSun"/>
                <a:cs typeface="Times New Roman"/>
              </a:defRPr>
            </a:lvl6pPr>
            <a:lvl7pPr marL="2743200" indent="0">
              <a:buNone/>
              <a:defRPr sz="1600" b="1">
                <a:latin typeface="Times New Roman"/>
                <a:ea typeface="SimSun"/>
                <a:cs typeface="Times New Roman"/>
              </a:defRPr>
            </a:lvl7pPr>
            <a:lvl8pPr marL="3200400" indent="0">
              <a:buNone/>
              <a:defRPr sz="1600" b="1">
                <a:latin typeface="Times New Roman"/>
                <a:ea typeface="SimSun"/>
                <a:cs typeface="Times New Roman"/>
              </a:defRPr>
            </a:lvl8pPr>
            <a:lvl9pPr marL="3657600" indent="0">
              <a:buNone/>
              <a:defRPr sz="1600" b="1">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a:ea typeface="SimSun"/>
                <a:cs typeface="Times New Roman"/>
              </a:defRPr>
            </a:lvl1pPr>
            <a:lvl2pPr>
              <a:defRPr sz="2000">
                <a:latin typeface="Times New Roman"/>
                <a:ea typeface="SimSun"/>
                <a:cs typeface="Times New Roman"/>
              </a:defRPr>
            </a:lvl2pPr>
            <a:lvl3pPr>
              <a:defRPr sz="1800">
                <a:latin typeface="Times New Roman"/>
                <a:ea typeface="SimSun"/>
                <a:cs typeface="Times New Roman"/>
              </a:defRPr>
            </a:lvl3pPr>
            <a:lvl4pPr>
              <a:defRPr sz="1600">
                <a:latin typeface="Times New Roman"/>
                <a:ea typeface="SimSun"/>
                <a:cs typeface="Times New Roman"/>
              </a:defRPr>
            </a:lvl4pPr>
            <a:lvl5pPr>
              <a:defRPr sz="1600">
                <a:latin typeface="Times New Roman"/>
                <a:ea typeface="SimSun"/>
                <a:cs typeface="Times New Roman"/>
              </a:defRPr>
            </a:lvl5pPr>
            <a:lvl6pPr>
              <a:defRPr sz="1600">
                <a:latin typeface="Times New Roman"/>
                <a:ea typeface="SimSun"/>
                <a:cs typeface="Times New Roman"/>
              </a:defRPr>
            </a:lvl6pPr>
            <a:lvl7pPr>
              <a:defRPr sz="1600">
                <a:latin typeface="Times New Roman"/>
                <a:ea typeface="SimSun"/>
                <a:cs typeface="Times New Roman"/>
              </a:defRPr>
            </a:lvl7pPr>
            <a:lvl8pPr>
              <a:defRPr sz="1600">
                <a:latin typeface="Times New Roman"/>
                <a:ea typeface="SimSun"/>
                <a:cs typeface="Times New Roman"/>
              </a:defRPr>
            </a:lvl8pPr>
            <a:lvl9pPr>
              <a:defRPr sz="16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Times New Roman"/>
                <a:ea typeface="SimSun"/>
                <a:cs typeface="Times New Roman"/>
              </a:defRPr>
            </a:lvl1pPr>
            <a:lvl2pPr marL="457200" indent="0">
              <a:buNone/>
              <a:defRPr sz="2000" b="1">
                <a:latin typeface="Times New Roman"/>
                <a:ea typeface="SimSun"/>
                <a:cs typeface="Times New Roman"/>
              </a:defRPr>
            </a:lvl2pPr>
            <a:lvl3pPr marL="914400" indent="0">
              <a:buNone/>
              <a:defRPr sz="1800" b="1">
                <a:latin typeface="Times New Roman"/>
                <a:ea typeface="SimSun"/>
                <a:cs typeface="Times New Roman"/>
              </a:defRPr>
            </a:lvl3pPr>
            <a:lvl4pPr marL="1371600" indent="0">
              <a:buNone/>
              <a:defRPr sz="1600" b="1">
                <a:latin typeface="Times New Roman"/>
                <a:ea typeface="SimSun"/>
                <a:cs typeface="Times New Roman"/>
              </a:defRPr>
            </a:lvl4pPr>
            <a:lvl5pPr marL="1828800" indent="0">
              <a:buNone/>
              <a:defRPr sz="1600" b="1">
                <a:latin typeface="Times New Roman"/>
                <a:ea typeface="SimSun"/>
                <a:cs typeface="Times New Roman"/>
              </a:defRPr>
            </a:lvl5pPr>
            <a:lvl6pPr marL="2286000" indent="0">
              <a:buNone/>
              <a:defRPr sz="1600" b="1">
                <a:latin typeface="Times New Roman"/>
                <a:ea typeface="SimSun"/>
                <a:cs typeface="Times New Roman"/>
              </a:defRPr>
            </a:lvl6pPr>
            <a:lvl7pPr marL="2743200" indent="0">
              <a:buNone/>
              <a:defRPr sz="1600" b="1">
                <a:latin typeface="Times New Roman"/>
                <a:ea typeface="SimSun"/>
                <a:cs typeface="Times New Roman"/>
              </a:defRPr>
            </a:lvl7pPr>
            <a:lvl8pPr marL="3200400" indent="0">
              <a:buNone/>
              <a:defRPr sz="1600" b="1">
                <a:latin typeface="Times New Roman"/>
                <a:ea typeface="SimSun"/>
                <a:cs typeface="Times New Roman"/>
              </a:defRPr>
            </a:lvl8pPr>
            <a:lvl9pPr marL="3657600" indent="0">
              <a:buNone/>
              <a:defRPr sz="1600" b="1">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Times New Roman"/>
                <a:ea typeface="SimSun"/>
                <a:cs typeface="Times New Roman"/>
              </a:defRPr>
            </a:lvl1pPr>
            <a:lvl2pPr>
              <a:defRPr sz="2000">
                <a:latin typeface="Times New Roman"/>
                <a:ea typeface="SimSun"/>
                <a:cs typeface="Times New Roman"/>
              </a:defRPr>
            </a:lvl2pPr>
            <a:lvl3pPr>
              <a:defRPr sz="1800">
                <a:latin typeface="Times New Roman"/>
                <a:ea typeface="SimSun"/>
                <a:cs typeface="Times New Roman"/>
              </a:defRPr>
            </a:lvl3pPr>
            <a:lvl4pPr>
              <a:defRPr sz="1600">
                <a:latin typeface="Times New Roman"/>
                <a:ea typeface="SimSun"/>
                <a:cs typeface="Times New Roman"/>
              </a:defRPr>
            </a:lvl4pPr>
            <a:lvl5pPr>
              <a:defRPr sz="1600">
                <a:latin typeface="Times New Roman"/>
                <a:ea typeface="SimSun"/>
                <a:cs typeface="Times New Roman"/>
              </a:defRPr>
            </a:lvl5pPr>
            <a:lvl6pPr>
              <a:defRPr sz="1600">
                <a:latin typeface="Times New Roman"/>
                <a:ea typeface="SimSun"/>
                <a:cs typeface="Times New Roman"/>
              </a:defRPr>
            </a:lvl6pPr>
            <a:lvl7pPr>
              <a:defRPr sz="1600">
                <a:latin typeface="Times New Roman"/>
                <a:ea typeface="SimSun"/>
                <a:cs typeface="Times New Roman"/>
              </a:defRPr>
            </a:lvl7pPr>
            <a:lvl8pPr>
              <a:defRPr sz="1600">
                <a:latin typeface="Times New Roman"/>
                <a:ea typeface="SimSun"/>
                <a:cs typeface="Times New Roman"/>
              </a:defRPr>
            </a:lvl8pPr>
            <a:lvl9pPr>
              <a:defRPr sz="16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7"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8"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2132E20B-2FAD-4EA5-8E1A-D35CF873D98B}"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9"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873076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SimSun"/>
                <a:cs typeface="Times New Roman"/>
              </a:rPr>
              <a:t>Click to edit Master title style</a:t>
            </a:r>
          </a:p>
        </p:txBody>
      </p:sp>
      <p:sp>
        <p:nvSpPr>
          <p:cNvPr id="3"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E3BADF75-6C80-4FD4-8F49-963DFD143859}"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147140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3"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1EC92CF4-4B23-48B8-BC45-AC3B141B1498}"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4"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909721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Times New Roman"/>
                <a:ea typeface="SimSun"/>
                <a:cs typeface="Times New Roman"/>
              </a:defRPr>
            </a:lvl1pPr>
          </a:lstStyle>
          <a:p>
            <a:r>
              <a:rPr lang="en-US">
                <a:latin typeface="Times New Roman"/>
                <a:ea typeface="SimSun"/>
                <a:cs typeface="Times New Roman"/>
              </a:rPr>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atin typeface="Times New Roman"/>
                <a:ea typeface="SimSun"/>
                <a:cs typeface="Times New Roman"/>
              </a:defRPr>
            </a:lvl1pPr>
            <a:lvl2pPr>
              <a:defRPr sz="2800">
                <a:latin typeface="Times New Roman"/>
                <a:ea typeface="SimSun"/>
                <a:cs typeface="Times New Roman"/>
              </a:defRPr>
            </a:lvl2pPr>
            <a:lvl3pPr>
              <a:defRPr sz="2400">
                <a:latin typeface="Times New Roman"/>
                <a:ea typeface="SimSun"/>
                <a:cs typeface="Times New Roman"/>
              </a:defRPr>
            </a:lvl3pPr>
            <a:lvl4pPr>
              <a:defRPr sz="2000">
                <a:latin typeface="Times New Roman"/>
                <a:ea typeface="SimSun"/>
                <a:cs typeface="Times New Roman"/>
              </a:defRPr>
            </a:lvl4pPr>
            <a:lvl5pPr>
              <a:defRPr sz="2000">
                <a:latin typeface="Times New Roman"/>
                <a:ea typeface="SimSun"/>
                <a:cs typeface="Times New Roman"/>
              </a:defRPr>
            </a:lvl5pPr>
            <a:lvl6pPr>
              <a:defRPr sz="2000">
                <a:latin typeface="Times New Roman"/>
                <a:ea typeface="SimSun"/>
                <a:cs typeface="Times New Roman"/>
              </a:defRPr>
            </a:lvl6pPr>
            <a:lvl7pPr>
              <a:defRPr sz="2000">
                <a:latin typeface="Times New Roman"/>
                <a:ea typeface="SimSun"/>
                <a:cs typeface="Times New Roman"/>
              </a:defRPr>
            </a:lvl7pPr>
            <a:lvl8pPr>
              <a:defRPr sz="2000">
                <a:latin typeface="Times New Roman"/>
                <a:ea typeface="SimSun"/>
                <a:cs typeface="Times New Roman"/>
              </a:defRPr>
            </a:lvl8pPr>
            <a:lvl9pPr>
              <a:defRPr sz="2000">
                <a:latin typeface="Times New Roman"/>
                <a:ea typeface="SimSun"/>
                <a:cs typeface="Times New Roman"/>
              </a:defRPr>
            </a:lvl9p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Times New Roman"/>
                <a:ea typeface="SimSun"/>
                <a:cs typeface="Times New Roman"/>
              </a:defRPr>
            </a:lvl1pPr>
            <a:lvl2pPr marL="457200" indent="0">
              <a:buNone/>
              <a:defRPr sz="1200">
                <a:latin typeface="Times New Roman"/>
                <a:ea typeface="SimSun"/>
                <a:cs typeface="Times New Roman"/>
              </a:defRPr>
            </a:lvl2pPr>
            <a:lvl3pPr marL="914400" indent="0">
              <a:buNone/>
              <a:defRPr sz="1000">
                <a:latin typeface="Times New Roman"/>
                <a:ea typeface="SimSun"/>
                <a:cs typeface="Times New Roman"/>
              </a:defRPr>
            </a:lvl3pPr>
            <a:lvl4pPr marL="1371600" indent="0">
              <a:buNone/>
              <a:defRPr sz="900">
                <a:latin typeface="Times New Roman"/>
                <a:ea typeface="SimSun"/>
                <a:cs typeface="Times New Roman"/>
              </a:defRPr>
            </a:lvl4pPr>
            <a:lvl5pPr marL="1828800" indent="0">
              <a:buNone/>
              <a:defRPr sz="900">
                <a:latin typeface="Times New Roman"/>
                <a:ea typeface="SimSun"/>
                <a:cs typeface="Times New Roman"/>
              </a:defRPr>
            </a:lvl5pPr>
            <a:lvl6pPr marL="2286000" indent="0">
              <a:buNone/>
              <a:defRPr sz="900">
                <a:latin typeface="Times New Roman"/>
                <a:ea typeface="SimSun"/>
                <a:cs typeface="Times New Roman"/>
              </a:defRPr>
            </a:lvl6pPr>
            <a:lvl7pPr marL="2743200" indent="0">
              <a:buNone/>
              <a:defRPr sz="900">
                <a:latin typeface="Times New Roman"/>
                <a:ea typeface="SimSun"/>
                <a:cs typeface="Times New Roman"/>
              </a:defRPr>
            </a:lvl7pPr>
            <a:lvl8pPr marL="3200400" indent="0">
              <a:buNone/>
              <a:defRPr sz="900">
                <a:latin typeface="Times New Roman"/>
                <a:ea typeface="SimSun"/>
                <a:cs typeface="Times New Roman"/>
              </a:defRPr>
            </a:lvl8pPr>
            <a:lvl9pPr marL="3657600" indent="0">
              <a:buNone/>
              <a:defRPr sz="900">
                <a:latin typeface="Times New Roman"/>
                <a:ea typeface="SimSun"/>
                <a:cs typeface="Times New Roman"/>
              </a:defRPr>
            </a:lvl9pPr>
          </a:lstStyle>
          <a:p>
            <a:pPr lvl="0"/>
            <a:r>
              <a:rPr lang="en-US">
                <a:latin typeface="Times New Roman"/>
                <a:ea typeface="SimSun"/>
                <a:cs typeface="Times New Roman"/>
              </a:rPr>
              <a:t>Click to edit Master text styles</a:t>
            </a:r>
          </a:p>
        </p:txBody>
      </p:sp>
      <p:sp>
        <p:nvSpPr>
          <p:cNvPr id="5"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6"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BD49AF38-BE50-4A44-A420-A5410B378050}"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7"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163434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813984" y="0"/>
            <a:ext cx="10261600" cy="838200"/>
          </a:xfrm>
        </p:spPr>
        <p:txBody>
          <a:bodyPr/>
          <a:lstStyle/>
          <a:p>
            <a:r>
              <a:rPr lang="en-US">
                <a:latin typeface="Times New Roman"/>
                <a:ea typeface="SimSun"/>
                <a:cs typeface="Times New Roman"/>
              </a:rPr>
              <a:t>Click to edit Master title style</a:t>
            </a:r>
          </a:p>
        </p:txBody>
      </p:sp>
      <p:sp>
        <p:nvSpPr>
          <p:cNvPr id="3" name="Content Placeholder 2"/>
          <p:cNvSpPr>
            <a:spLocks noGrp="1"/>
          </p:cNvSpPr>
          <p:nvPr>
            <p:ph sz="half" idx="1"/>
          </p:nvPr>
        </p:nvSpPr>
        <p:spPr>
          <a:xfrm>
            <a:off x="685800" y="1266826"/>
            <a:ext cx="5513917" cy="4829175"/>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4" name="Content Placeholder 3"/>
          <p:cNvSpPr>
            <a:spLocks noGrp="1"/>
          </p:cNvSpPr>
          <p:nvPr>
            <p:ph sz="quarter" idx="2"/>
          </p:nvPr>
        </p:nvSpPr>
        <p:spPr>
          <a:xfrm>
            <a:off x="6402918" y="1266825"/>
            <a:ext cx="5513916" cy="2338388"/>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5" name="Content Placeholder 4"/>
          <p:cNvSpPr>
            <a:spLocks noGrp="1"/>
          </p:cNvSpPr>
          <p:nvPr>
            <p:ph sz="quarter" idx="3"/>
          </p:nvPr>
        </p:nvSpPr>
        <p:spPr>
          <a:xfrm>
            <a:off x="6402918" y="3757614"/>
            <a:ext cx="5513916" cy="2338387"/>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6"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7"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263A3B1E-E2F6-4459-B9A7-7A059C28BC97}"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8"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2665704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0"/>
            <a:ext cx="11389784" cy="6096000"/>
          </a:xfrm>
        </p:spPr>
        <p:txBody>
          <a:bodyPr/>
          <a:lstStyle/>
          <a:p>
            <a:pPr lvl="0"/>
            <a:r>
              <a:rPr lang="en-US">
                <a:latin typeface="Times New Roman"/>
                <a:ea typeface="SimSun"/>
                <a:cs typeface="Times New Roman"/>
              </a:rPr>
              <a:t>Click to edit Master text styles</a:t>
            </a:r>
          </a:p>
          <a:p>
            <a:pPr lvl="1"/>
            <a:r>
              <a:rPr lang="en-US">
                <a:latin typeface="Times New Roman"/>
                <a:ea typeface="SimSun"/>
                <a:cs typeface="Times New Roman"/>
              </a:rPr>
              <a:t>Second level</a:t>
            </a:r>
          </a:p>
          <a:p>
            <a:pPr lvl="2"/>
            <a:r>
              <a:rPr lang="en-US">
                <a:latin typeface="Times New Roman"/>
                <a:ea typeface="SimSun"/>
                <a:cs typeface="Times New Roman"/>
              </a:rPr>
              <a:t>Third level</a:t>
            </a:r>
          </a:p>
          <a:p>
            <a:pPr lvl="3"/>
            <a:r>
              <a:rPr lang="en-US">
                <a:latin typeface="Times New Roman"/>
                <a:ea typeface="SimSun"/>
                <a:cs typeface="Times New Roman"/>
              </a:rPr>
              <a:t>Fourth level</a:t>
            </a:r>
          </a:p>
          <a:p>
            <a:pPr lvl="4"/>
            <a:r>
              <a:rPr lang="en-US">
                <a:latin typeface="Times New Roman"/>
                <a:ea typeface="SimSun"/>
                <a:cs typeface="Times New Roman"/>
              </a:rPr>
              <a:t>Fifth level</a:t>
            </a:r>
          </a:p>
        </p:txBody>
      </p:sp>
      <p:sp>
        <p:nvSpPr>
          <p:cNvPr id="3" name="页脚占位符 2"/>
          <p:cNvSpPr>
            <a:spLocks noGrp="1"/>
          </p:cNvSpPr>
          <p:nvPr>
            <p:ph type="ftr" sz="quarter" idx="10"/>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11"/>
          </p:nvPr>
        </p:nvSpPr>
        <p:spPr/>
        <p:txBody>
          <a:bodyPr/>
          <a:lstStyle>
            <a:lvl1pPr>
              <a:defRPr>
                <a:latin typeface="Times New Roman"/>
                <a:ea typeface="SimSun"/>
                <a:cs typeface="Times New Roman"/>
              </a:defRPr>
            </a:lvl1pPr>
          </a:lstStyle>
          <a:p>
            <a:pPr>
              <a:defRPr>
                <a:latin typeface="Times New Roman"/>
                <a:ea typeface="SimSun"/>
                <a:cs typeface="Times New Roman"/>
              </a:defRPr>
            </a:pPr>
            <a:fld id="{627A70D2-390B-4F3A-A683-629554200820}"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12"/>
          </p:nvPr>
        </p:nvSpPr>
        <p:spPr/>
        <p:txBody>
          <a:bodyPr/>
          <a:lstStyle>
            <a:lvl1pPr>
              <a:defRPr>
                <a:latin typeface="Times New Roman"/>
                <a:ea typeface="SimSun"/>
                <a:cs typeface="Times New Roman"/>
              </a:defRPr>
            </a:lvl1pPr>
          </a:lstStyle>
          <a:p>
            <a:pPr>
              <a:defRPr>
                <a:latin typeface="Times New Roman"/>
                <a:ea typeface="SimSun"/>
                <a:cs typeface="Times New Roman"/>
              </a:defRPr>
            </a:pPr>
            <a:endParaRPr lang="en-US">
              <a:latin typeface="Times New Roman"/>
              <a:ea typeface="SimSun"/>
              <a:cs typeface="Times New Roman"/>
            </a:endParaRPr>
          </a:p>
        </p:txBody>
      </p:sp>
    </p:spTree>
    <p:extLst>
      <p:ext uri="{BB962C8B-B14F-4D97-AF65-F5344CB8AC3E}">
        <p14:creationId xmlns:p14="http://schemas.microsoft.com/office/powerpoint/2010/main" val="44262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813984" y="0"/>
            <a:ext cx="1026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latin typeface="Times New Roman"/>
                <a:ea typeface="SimSun"/>
                <a:cs typeface="Times New Roman"/>
              </a:rPr>
              <a:t>Click to edit Master title style</a:t>
            </a:r>
          </a:p>
        </p:txBody>
      </p:sp>
      <p:sp>
        <p:nvSpPr>
          <p:cNvPr id="2051" name="Rectangle 3"/>
          <p:cNvSpPr>
            <a:spLocks noGrp="1" noChangeArrowheads="1"/>
          </p:cNvSpPr>
          <p:nvPr>
            <p:ph type="body" idx="1"/>
          </p:nvPr>
        </p:nvSpPr>
        <p:spPr bwMode="auto">
          <a:xfrm>
            <a:off x="685801" y="1266826"/>
            <a:ext cx="11231033"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latin typeface="Times New Roman"/>
                <a:ea typeface="SimSun"/>
                <a:cs typeface="Times New Roman"/>
              </a:rPr>
              <a:t>Click to edit Master text styles</a:t>
            </a:r>
          </a:p>
          <a:p>
            <a:pPr lvl="1"/>
            <a:r>
              <a:rPr lang="en-US" altLang="zh-CN">
                <a:latin typeface="Times New Roman"/>
                <a:ea typeface="SimSun"/>
                <a:cs typeface="Times New Roman"/>
              </a:rPr>
              <a:t>Second level</a:t>
            </a:r>
          </a:p>
          <a:p>
            <a:pPr lvl="2"/>
            <a:r>
              <a:rPr lang="en-US" altLang="zh-CN">
                <a:latin typeface="Times New Roman"/>
                <a:ea typeface="SimSun"/>
                <a:cs typeface="Times New Roman"/>
              </a:rPr>
              <a:t>Third level</a:t>
            </a:r>
          </a:p>
          <a:p>
            <a:pPr lvl="3"/>
            <a:r>
              <a:rPr lang="en-US" altLang="zh-CN">
                <a:latin typeface="Times New Roman"/>
                <a:ea typeface="SimSun"/>
                <a:cs typeface="Times New Roman"/>
              </a:rPr>
              <a:t>Fourth level</a:t>
            </a:r>
          </a:p>
          <a:p>
            <a:pPr lvl="4"/>
            <a:r>
              <a:rPr lang="en-US" altLang="zh-CN">
                <a:latin typeface="Times New Roman"/>
                <a:ea typeface="SimSun"/>
                <a:cs typeface="Times New Roman"/>
              </a:rPr>
              <a:t>Fifth level</a:t>
            </a:r>
          </a:p>
        </p:txBody>
      </p:sp>
      <p:pic>
        <p:nvPicPr>
          <p:cNvPr id="2052" name="Picture 5" descr="polylogo"/>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 y="-15875"/>
            <a:ext cx="895349"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bwMode="auto">
          <a:xfrm>
            <a:off x="0" y="914400"/>
            <a:ext cx="203200" cy="5943600"/>
          </a:xfrm>
          <a:prstGeom prst="rect">
            <a:avLst/>
          </a:prstGeom>
          <a:gradFill>
            <a:gsLst>
              <a:gs pos="42000">
                <a:srgbClr val="A50021"/>
              </a:gs>
              <a:gs pos="0">
                <a:schemeClr val="accent1">
                  <a:lumMod val="5000"/>
                  <a:lumOff val="95000"/>
                </a:schemeClr>
              </a:gs>
              <a:gs pos="61000">
                <a:srgbClr val="A50021"/>
              </a:gs>
              <a:gs pos="100000">
                <a:schemeClr val="accent1">
                  <a:lumMod val="30000"/>
                  <a:lumOff val="7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eaLnBrk="1" hangingPunct="1">
              <a:lnSpc>
                <a:spcPct val="90000"/>
              </a:lnSpc>
              <a:spcBef>
                <a:spcPct val="20000"/>
              </a:spcBef>
              <a:defRPr>
                <a:latin typeface="Times New Roman"/>
                <a:ea typeface="SimSun"/>
                <a:cs typeface="Times New Roman"/>
              </a:defRPr>
            </a:pPr>
            <a:endParaRPr lang="zh-CN" altLang="en-US" sz="3200">
              <a:latin typeface="Times New Roman"/>
              <a:ea typeface="SimSun"/>
              <a:cs typeface="Times New Roman" panose="020B0604020202020204" pitchFamily="34" charset="-122"/>
            </a:endParaRPr>
          </a:p>
        </p:txBody>
      </p:sp>
      <p:sp>
        <p:nvSpPr>
          <p:cNvPr id="2" name="Rectangle 1"/>
          <p:cNvSpPr/>
          <p:nvPr userDrawn="1"/>
        </p:nvSpPr>
        <p:spPr bwMode="auto">
          <a:xfrm rot="5400000">
            <a:off x="6072982" y="-5204618"/>
            <a:ext cx="46037" cy="12192000"/>
          </a:xfrm>
          <a:prstGeom prst="rect">
            <a:avLst/>
          </a:prstGeom>
          <a:gradFill>
            <a:gsLst>
              <a:gs pos="0">
                <a:schemeClr val="accent1">
                  <a:lumMod val="5000"/>
                  <a:lumOff val="95000"/>
                </a:schemeClr>
              </a:gs>
              <a:gs pos="100000">
                <a:srgbClr val="A50021"/>
              </a:gs>
              <a:gs pos="100000">
                <a:schemeClr val="accent5">
                  <a:lumMod val="60000"/>
                  <a:lumOff val="4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0"/>
              </a:spcBef>
              <a:defRPr sz="3200">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0"/>
              </a:spcBef>
              <a:defRPr sz="3200">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3200">
                <a:solidFill>
                  <a:schemeClr val="bg2"/>
                </a:solidFill>
                <a:latin typeface="Times New Roman" panose="020B0604020202020204" pitchFamily="34" charset="0"/>
                <a:ea typeface="SimSun" panose="020B0600070205080204" pitchFamily="34" charset="-128"/>
                <a:cs typeface="Times New Roman"/>
              </a:defRPr>
            </a:lvl9pPr>
          </a:lstStyle>
          <a:p>
            <a:pPr eaLnBrk="1" hangingPunct="1">
              <a:lnSpc>
                <a:spcPct val="90000"/>
              </a:lnSpc>
              <a:spcBef>
                <a:spcPct val="20000"/>
              </a:spcBef>
              <a:defRPr>
                <a:latin typeface="Times New Roman"/>
                <a:ea typeface="SimSun"/>
                <a:cs typeface="Times New Roman"/>
              </a:defRPr>
            </a:pPr>
            <a:endParaRPr lang="zh-CN" altLang="en-US" sz="3200">
              <a:latin typeface="Times New Roman"/>
              <a:ea typeface="SimSun"/>
              <a:cs typeface="Times New Roman" panose="020B0604020202020204" pitchFamily="34" charset="-122"/>
            </a:endParaRPr>
          </a:p>
        </p:txBody>
      </p:sp>
      <p:sp>
        <p:nvSpPr>
          <p:cNvPr id="3" name="页脚占位符 2"/>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ea typeface="SimSun" panose="020B0604020202020204" pitchFamily="34" charset="-122"/>
                <a:cs typeface="Times New Roman" panose="020B0604020202020204" pitchFamily="34" charset="-122"/>
              </a:defRPr>
            </a:lvl1pPr>
          </a:lstStyle>
          <a:p>
            <a:pPr>
              <a:defRPr>
                <a:latin typeface="Times New Roman"/>
                <a:ea typeface="SimSun"/>
                <a:cs typeface="Times New Roman"/>
              </a:defRPr>
            </a:pPr>
            <a:endParaRPr lang="en-US">
              <a:latin typeface="Times New Roman"/>
              <a:ea typeface="SimSun"/>
              <a:cs typeface="Times New Roman"/>
            </a:endParaRPr>
          </a:p>
        </p:txBody>
      </p:sp>
      <p:sp>
        <p:nvSpPr>
          <p:cNvPr id="4" name="灯片编号占位符 3"/>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latin typeface="Times New Roman"/>
                <a:ea typeface="SimSun"/>
                <a:cs typeface="Times New Roman"/>
              </a:defRPr>
            </a:lvl1pPr>
          </a:lstStyle>
          <a:p>
            <a:pPr>
              <a:defRPr>
                <a:latin typeface="Times New Roman"/>
                <a:ea typeface="SimSun"/>
                <a:cs typeface="Times New Roman"/>
              </a:defRPr>
            </a:pPr>
            <a:fld id="{478E3191-473E-4F99-9695-3EEFEE2024C3}" type="slidenum">
              <a:rPr lang="en-US" altLang="zh-CN">
                <a:latin typeface="Times New Roman"/>
                <a:ea typeface="SimSun"/>
                <a:cs typeface="Times New Roman"/>
              </a:rPr>
              <a:pPr>
                <a:defRPr>
                  <a:latin typeface="Times New Roman"/>
                  <a:ea typeface="SimSun"/>
                  <a:cs typeface="Times New Roman"/>
                </a:defRPr>
              </a:pPr>
              <a:t>‹#›</a:t>
            </a:fld>
            <a:endParaRPr lang="en-US" altLang="zh-CN">
              <a:latin typeface="Times New Roman"/>
              <a:ea typeface="SimSun"/>
              <a:cs typeface="Times New Roman"/>
            </a:endParaRPr>
          </a:p>
        </p:txBody>
      </p:sp>
      <p:sp>
        <p:nvSpPr>
          <p:cNvPr id="5" name="日期占位符 4"/>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ea typeface="SimSun" panose="020B0604020202020204" pitchFamily="34" charset="-122"/>
                <a:cs typeface="Times New Roman" panose="020B0604020202020204" pitchFamily="34" charset="-122"/>
              </a:defRPr>
            </a:lvl1pPr>
          </a:lstStyle>
          <a:p>
            <a:pPr>
              <a:defRPr>
                <a:latin typeface="Times New Roman"/>
                <a:ea typeface="SimSun"/>
                <a:cs typeface="Times New Roman"/>
              </a:defRPr>
            </a:pPr>
            <a:endParaRPr lang="en-US">
              <a:latin typeface="Times New Roman"/>
              <a:ea typeface="SimSun"/>
              <a:cs typeface="Times New Roman"/>
            </a:endParaRPr>
          </a:p>
        </p:txBody>
      </p:sp>
    </p:spTree>
  </p:cSld>
  <p:clrMap bg1="lt1" tx1="dk1" bg2="lt2" tx2="dk2" accent1="accent1" accent2="accent2" accent3="accent3" accent4="accent4" accent5="accent5" accent6="accent6" hlink="hlink" folHlink="folHlink"/>
  <p:sldLayoutIdLst>
    <p:sldLayoutId id="2147486057" r:id="rId1"/>
    <p:sldLayoutId id="2147486058" r:id="rId2"/>
    <p:sldLayoutId id="2147486037" r:id="rId3"/>
    <p:sldLayoutId id="2147486038" r:id="rId4"/>
    <p:sldLayoutId id="2147486039" r:id="rId5"/>
    <p:sldLayoutId id="2147486040" r:id="rId6"/>
    <p:sldLayoutId id="2147486041" r:id="rId7"/>
    <p:sldLayoutId id="2147486042" r:id="rId8"/>
    <p:sldLayoutId id="2147486043" r:id="rId9"/>
    <p:sldLayoutId id="2147486044" r:id="rId10"/>
  </p:sldLayoutIdLst>
  <p:hf hdr="0" ftr="0" dt="0"/>
  <p:txStyles>
    <p:titleStyle>
      <a:lvl1pPr algn="l" rtl="0" eaLnBrk="0" fontAlgn="base" hangingPunct="0">
        <a:lnSpc>
          <a:spcPts val="2800"/>
        </a:lnSpc>
        <a:spcBef>
          <a:spcPct val="0"/>
        </a:spcBef>
        <a:spcAft>
          <a:spcPct val="0"/>
        </a:spcAft>
        <a:defRPr sz="3200">
          <a:solidFill>
            <a:schemeClr val="tx1"/>
          </a:solidFill>
          <a:latin typeface="Times New Roman"/>
          <a:ea typeface="SimSun" panose="020B0600070205080204" pitchFamily="34" charset="-128"/>
          <a:cs typeface="Times New Roman" pitchFamily="-111" charset="-128"/>
        </a:defRPr>
      </a:lvl1pPr>
      <a:lvl2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2pPr>
      <a:lvl3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3pPr>
      <a:lvl4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4pPr>
      <a:lvl5pPr algn="l" rtl="0" eaLnBrk="0" fontAlgn="base" hangingPunct="0">
        <a:lnSpc>
          <a:spcPts val="2800"/>
        </a:lnSpc>
        <a:spcBef>
          <a:spcPct val="0"/>
        </a:spcBef>
        <a:spcAft>
          <a:spcPct val="0"/>
        </a:spcAft>
        <a:defRPr sz="3200">
          <a:solidFill>
            <a:schemeClr val="tx1"/>
          </a:solidFill>
          <a:latin typeface="Times New Roman" charset="0"/>
          <a:ea typeface="SimSun" panose="020B0600070205080204" pitchFamily="34" charset="-128"/>
          <a:cs typeface="Times New Roman" pitchFamily="-111" charset="-128"/>
        </a:defRPr>
      </a:lvl5pPr>
      <a:lvl6pPr marL="457200" algn="l" rtl="0" fontAlgn="base">
        <a:lnSpc>
          <a:spcPts val="2800"/>
        </a:lnSpc>
        <a:spcBef>
          <a:spcPct val="0"/>
        </a:spcBef>
        <a:spcAft>
          <a:spcPct val="0"/>
        </a:spcAft>
        <a:defRPr sz="2600">
          <a:solidFill>
            <a:schemeClr val="tx1"/>
          </a:solidFill>
          <a:latin typeface="Times New Roman" charset="0"/>
          <a:ea typeface="SimSun"/>
          <a:cs typeface="Times New Roman"/>
        </a:defRPr>
      </a:lvl6pPr>
      <a:lvl7pPr marL="914400" algn="l" rtl="0" fontAlgn="base">
        <a:lnSpc>
          <a:spcPts val="2800"/>
        </a:lnSpc>
        <a:spcBef>
          <a:spcPct val="0"/>
        </a:spcBef>
        <a:spcAft>
          <a:spcPct val="0"/>
        </a:spcAft>
        <a:defRPr sz="2600">
          <a:solidFill>
            <a:schemeClr val="tx1"/>
          </a:solidFill>
          <a:latin typeface="Times New Roman" charset="0"/>
          <a:ea typeface="SimSun"/>
          <a:cs typeface="Times New Roman"/>
        </a:defRPr>
      </a:lvl7pPr>
      <a:lvl8pPr marL="1371600" algn="l" rtl="0" fontAlgn="base">
        <a:lnSpc>
          <a:spcPts val="2800"/>
        </a:lnSpc>
        <a:spcBef>
          <a:spcPct val="0"/>
        </a:spcBef>
        <a:spcAft>
          <a:spcPct val="0"/>
        </a:spcAft>
        <a:defRPr sz="2600">
          <a:solidFill>
            <a:schemeClr val="tx1"/>
          </a:solidFill>
          <a:latin typeface="Times New Roman" charset="0"/>
          <a:ea typeface="SimSun"/>
          <a:cs typeface="Times New Roman"/>
        </a:defRPr>
      </a:lvl8pPr>
      <a:lvl9pPr marL="1828800" algn="l" rtl="0" fontAlgn="base">
        <a:lnSpc>
          <a:spcPts val="2800"/>
        </a:lnSpc>
        <a:spcBef>
          <a:spcPct val="0"/>
        </a:spcBef>
        <a:spcAft>
          <a:spcPct val="0"/>
        </a:spcAft>
        <a:defRPr sz="2600">
          <a:solidFill>
            <a:schemeClr val="tx1"/>
          </a:solidFill>
          <a:latin typeface="Times New Roman" charset="0"/>
          <a:ea typeface="SimSun"/>
          <a:cs typeface="Times New Roman"/>
        </a:defRPr>
      </a:lvl9pPr>
    </p:titleStyle>
    <p:bodyStyle>
      <a:lvl1pPr marL="234950" indent="-234950" algn="l" rtl="0" eaLnBrk="0" fontAlgn="base" hangingPunct="0">
        <a:spcBef>
          <a:spcPct val="20000"/>
        </a:spcBef>
        <a:spcAft>
          <a:spcPct val="0"/>
        </a:spcAft>
        <a:buChar char="•"/>
        <a:defRPr sz="200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p:bodyStyle>
    <p:otherStyle>
      <a:defPPr>
        <a:defRPr lang="en-US">
          <a:latin typeface="Times New Roman"/>
          <a:ea typeface="SimSun"/>
          <a:cs typeface="Times New Roman"/>
        </a:defRPr>
      </a:defPPr>
      <a:lvl1pPr marL="0" algn="l" defTabSz="457200" rtl="0" eaLnBrk="1" latinLnBrk="0" hangingPunct="1">
        <a:defRPr sz="1800" kern="1200">
          <a:solidFill>
            <a:schemeClr val="tx1"/>
          </a:solidFill>
          <a:latin typeface="Times New Roman"/>
          <a:ea typeface="SimSun"/>
          <a:cs typeface="Times New Roman"/>
        </a:defRPr>
      </a:lvl1pPr>
      <a:lvl2pPr marL="457200" algn="l" defTabSz="457200" rtl="0" eaLnBrk="1" latinLnBrk="0" hangingPunct="1">
        <a:defRPr sz="1800" kern="1200">
          <a:solidFill>
            <a:schemeClr val="tx1"/>
          </a:solidFill>
          <a:latin typeface="Times New Roman"/>
          <a:ea typeface="SimSun"/>
          <a:cs typeface="Times New Roman"/>
        </a:defRPr>
      </a:lvl2pPr>
      <a:lvl3pPr marL="914400" algn="l" defTabSz="457200" rtl="0" eaLnBrk="1" latinLnBrk="0" hangingPunct="1">
        <a:defRPr sz="1800" kern="1200">
          <a:solidFill>
            <a:schemeClr val="tx1"/>
          </a:solidFill>
          <a:latin typeface="Times New Roman"/>
          <a:ea typeface="SimSun"/>
          <a:cs typeface="Times New Roman"/>
        </a:defRPr>
      </a:lvl3pPr>
      <a:lvl4pPr marL="1371600" algn="l" defTabSz="457200" rtl="0" eaLnBrk="1" latinLnBrk="0" hangingPunct="1">
        <a:defRPr sz="1800" kern="1200">
          <a:solidFill>
            <a:schemeClr val="tx1"/>
          </a:solidFill>
          <a:latin typeface="Times New Roman"/>
          <a:ea typeface="SimSun"/>
          <a:cs typeface="Times New Roman"/>
        </a:defRPr>
      </a:lvl4pPr>
      <a:lvl5pPr marL="1828800" algn="l" defTabSz="457200" rtl="0" eaLnBrk="1" latinLnBrk="0" hangingPunct="1">
        <a:defRPr sz="1800" kern="1200">
          <a:solidFill>
            <a:schemeClr val="tx1"/>
          </a:solidFill>
          <a:latin typeface="Times New Roman"/>
          <a:ea typeface="SimSun"/>
          <a:cs typeface="Times New Roman"/>
        </a:defRPr>
      </a:lvl5pPr>
      <a:lvl6pPr marL="2286000" algn="l" defTabSz="457200" rtl="0" eaLnBrk="1" latinLnBrk="0" hangingPunct="1">
        <a:defRPr sz="1800" kern="1200">
          <a:solidFill>
            <a:schemeClr val="tx1"/>
          </a:solidFill>
          <a:latin typeface="Times New Roman"/>
          <a:ea typeface="SimSun"/>
          <a:cs typeface="Times New Roman"/>
        </a:defRPr>
      </a:lvl6pPr>
      <a:lvl7pPr marL="2743200" algn="l" defTabSz="457200" rtl="0" eaLnBrk="1" latinLnBrk="0" hangingPunct="1">
        <a:defRPr sz="1800" kern="1200">
          <a:solidFill>
            <a:schemeClr val="tx1"/>
          </a:solidFill>
          <a:latin typeface="Times New Roman"/>
          <a:ea typeface="SimSun"/>
          <a:cs typeface="Times New Roman"/>
        </a:defRPr>
      </a:lvl7pPr>
      <a:lvl8pPr marL="3200400" algn="l" defTabSz="457200" rtl="0" eaLnBrk="1" latinLnBrk="0" hangingPunct="1">
        <a:defRPr sz="1800" kern="1200">
          <a:solidFill>
            <a:schemeClr val="tx1"/>
          </a:solidFill>
          <a:latin typeface="Times New Roman"/>
          <a:ea typeface="SimSun"/>
          <a:cs typeface="Times New Roman"/>
        </a:defRPr>
      </a:lvl8pPr>
      <a:lvl9pPr marL="3657600" algn="l" defTabSz="457200" rtl="0" eaLnBrk="1" latinLnBrk="0" hangingPunct="1">
        <a:defRPr sz="1800" kern="1200">
          <a:solidFill>
            <a:schemeClr val="tx1"/>
          </a:solidFill>
          <a:latin typeface="Times New Roman"/>
          <a:ea typeface="SimSun"/>
          <a:cs typeface="Times New Roma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jp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oleObject" Target="../embeddings/oleObject1.bin"/><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10" Type="http://schemas.openxmlformats.org/officeDocument/2006/relationships/image" Target="../media/image31.png"/><Relationship Id="rId4" Type="http://schemas.openxmlformats.org/officeDocument/2006/relationships/image" Target="../media/image27.emf"/><Relationship Id="rId9" Type="http://schemas.openxmlformats.org/officeDocument/2006/relationships/image" Target="../media/image30.png"/><Relationship Id="rId1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emf"/></Relationships>
</file>

<file path=ppt/slides/_rels/slide19.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2.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41.png"/><Relationship Id="rId5" Type="http://schemas.openxmlformats.org/officeDocument/2006/relationships/image" Target="../media/image46.png"/><Relationship Id="rId10" Type="http://schemas.openxmlformats.org/officeDocument/2006/relationships/image" Target="../media/image40.png"/><Relationship Id="rId4" Type="http://schemas.openxmlformats.org/officeDocument/2006/relationships/image" Target="../media/image45.png"/><Relationship Id="rId9" Type="http://schemas.openxmlformats.org/officeDocument/2006/relationships/image" Target="../media/image390.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bin"/><Relationship Id="rId7" Type="http://schemas.openxmlformats.org/officeDocument/2006/relationships/image" Target="../media/image44.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43.jpg"/><Relationship Id="rId4" Type="http://schemas.openxmlformats.org/officeDocument/2006/relationships/image" Target="../media/image54.png"/><Relationship Id="rId9" Type="http://schemas.openxmlformats.org/officeDocument/2006/relationships/image" Target="../media/image45.emf"/></Relationships>
</file>

<file path=ppt/slides/_rels/slide22.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image" Target="../media/image50.png"/><Relationship Id="rId7" Type="http://schemas.openxmlformats.org/officeDocument/2006/relationships/oleObject" Target="../embeddings/oleObject5.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4.png"/><Relationship Id="rId10" Type="http://schemas.openxmlformats.org/officeDocument/2006/relationships/image" Target="../media/image53.emf"/><Relationship Id="rId4" Type="http://schemas.openxmlformats.org/officeDocument/2006/relationships/image" Target="../media/image51.png"/><Relationship Id="rId9"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7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66.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27.xml"/><Relationship Id="rId16"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67.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emf"/></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73.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76.emf"/><Relationship Id="rId4" Type="http://schemas.openxmlformats.org/officeDocument/2006/relationships/oleObject" Target="../embeddings/oleObject9.bin"/></Relationships>
</file>

<file path=ppt/slides/_rels/slide31.xml.rels><?xml version="1.0" encoding="UTF-8" standalone="yes"?>
<Relationships xmlns="http://schemas.openxmlformats.org/package/2006/relationships"><Relationship Id="rId8" Type="http://schemas.openxmlformats.org/officeDocument/2006/relationships/hyperlink" Target="https://www.sciencedirect.com/science/article/pii/S0029549314001496#bib0005" TargetMode="External"/><Relationship Id="rId3" Type="http://schemas.openxmlformats.org/officeDocument/2006/relationships/oleObject" Target="../embeddings/oleObject10.bin"/><Relationship Id="rId7" Type="http://schemas.openxmlformats.org/officeDocument/2006/relationships/image" Target="../media/image99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980.png"/><Relationship Id="rId10" Type="http://schemas.openxmlformats.org/officeDocument/2006/relationships/image" Target="../media/image1010.png"/><Relationship Id="rId4" Type="http://schemas.openxmlformats.org/officeDocument/2006/relationships/image" Target="../media/image77.emf"/><Relationship Id="rId9" Type="http://schemas.openxmlformats.org/officeDocument/2006/relationships/image" Target="../media/image1000.png"/></Relationships>
</file>

<file path=ppt/slides/_rels/slide3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oleObject" Target="../embeddings/oleObject11.bin"/><Relationship Id="rId7"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8.png"/><Relationship Id="rId4" Type="http://schemas.openxmlformats.org/officeDocument/2006/relationships/image" Target="../media/image78.emf"/><Relationship Id="rId9" Type="http://schemas.openxmlformats.org/officeDocument/2006/relationships/image" Target="../media/image93.png"/></Relationships>
</file>

<file path=ppt/slides/_rels/slide3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oleObject" Target="../embeddings/oleObject12.bin"/><Relationship Id="rId7" Type="http://schemas.openxmlformats.org/officeDocument/2006/relationships/image" Target="../media/image9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1.png"/><Relationship Id="rId4" Type="http://schemas.openxmlformats.org/officeDocument/2006/relationships/image" Target="../media/image94.emf"/></Relationships>
</file>

<file path=ppt/slides/_rels/slide34.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image" Target="../media/image104.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59.jpg"/><Relationship Id="rId7" Type="http://schemas.openxmlformats.org/officeDocument/2006/relationships/image" Target="../media/image106.emf"/><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108.emf"/><Relationship Id="rId5" Type="http://schemas.openxmlformats.org/officeDocument/2006/relationships/image" Target="../media/image105.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07.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3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39.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12.png"/><Relationship Id="rId4" Type="http://schemas.openxmlformats.org/officeDocument/2006/relationships/image" Target="../media/image131.png"/></Relationships>
</file>

<file path=ppt/slides/_rels/slide40.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2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15.png"/><Relationship Id="rId4" Type="http://schemas.openxmlformats.org/officeDocument/2006/relationships/image" Target="../media/image114.png"/></Relationships>
</file>

<file path=ppt/slides/_rels/slide4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30.png"/></Relationships>
</file>

<file path=ppt/slides/_rels/slide42.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17.png"/><Relationship Id="rId7" Type="http://schemas.openxmlformats.org/officeDocument/2006/relationships/image" Target="../media/image12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19.png"/><Relationship Id="rId4" Type="http://schemas.openxmlformats.org/officeDocument/2006/relationships/image" Target="../media/image118.png"/></Relationships>
</file>

<file path=ppt/slides/_rels/slide43.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3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23.png"/><Relationship Id="rId4" Type="http://schemas.openxmlformats.org/officeDocument/2006/relationships/image" Target="../media/image122.png"/></Relationships>
</file>

<file path=ppt/slides/_rels/slide4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4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132.png"/><Relationship Id="rId7" Type="http://schemas.openxmlformats.org/officeDocument/2006/relationships/image" Target="../media/image133.em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153.png"/><Relationship Id="rId9" Type="http://schemas.openxmlformats.org/officeDocument/2006/relationships/image" Target="../media/image134.emf"/></Relationships>
</file>

<file path=ppt/slides/_rels/slide4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40.emf"/><Relationship Id="rId5" Type="http://schemas.openxmlformats.org/officeDocument/2006/relationships/oleObject" Target="../embeddings/oleObject19.bin"/><Relationship Id="rId4" Type="http://schemas.openxmlformats.org/officeDocument/2006/relationships/image" Target="../media/image139.png"/></Relationships>
</file>

<file path=ppt/slides/_rels/slide50.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41.png"/><Relationship Id="rId7" Type="http://schemas.openxmlformats.org/officeDocument/2006/relationships/image" Target="../media/image146.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45.png"/><Relationship Id="rId11" Type="http://schemas.openxmlformats.org/officeDocument/2006/relationships/image" Target="../media/image149.png"/><Relationship Id="rId5" Type="http://schemas.openxmlformats.org/officeDocument/2006/relationships/image" Target="../media/image144.png"/><Relationship Id="rId10" Type="http://schemas.openxmlformats.org/officeDocument/2006/relationships/image" Target="../media/image148.png"/><Relationship Id="rId4" Type="http://schemas.openxmlformats.org/officeDocument/2006/relationships/image" Target="../media/image142.jpeg"/><Relationship Id="rId9" Type="http://schemas.openxmlformats.org/officeDocument/2006/relationships/image" Target="../media/image103.png"/></Relationships>
</file>

<file path=ppt/slides/_rels/slide51.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0.png"/><Relationship Id="rId7" Type="http://schemas.openxmlformats.org/officeDocument/2006/relationships/image" Target="../media/image15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2.png"/><Relationship Id="rId10" Type="http://schemas.openxmlformats.org/officeDocument/2006/relationships/image" Target="../media/image159.png"/><Relationship Id="rId4" Type="http://schemas.openxmlformats.org/officeDocument/2006/relationships/image" Target="../media/image151.png"/><Relationship Id="rId9" Type="http://schemas.openxmlformats.org/officeDocument/2006/relationships/image" Target="../media/image158.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60.emf"/></Relationships>
</file>

<file path=ppt/slides/_rels/slide53.xml.rels><?xml version="1.0" encoding="UTF-8" standalone="yes"?>
<Relationships xmlns="http://schemas.openxmlformats.org/package/2006/relationships"><Relationship Id="rId8" Type="http://schemas.openxmlformats.org/officeDocument/2006/relationships/image" Target="../media/image166.jpg"/><Relationship Id="rId3" Type="http://schemas.openxmlformats.org/officeDocument/2006/relationships/image" Target="../media/image161.png"/><Relationship Id="rId7" Type="http://schemas.openxmlformats.org/officeDocument/2006/relationships/image" Target="../media/image165.jp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 Id="rId9" Type="http://schemas.openxmlformats.org/officeDocument/2006/relationships/image" Target="../media/image191.pn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68.emf"/><Relationship Id="rId5" Type="http://schemas.openxmlformats.org/officeDocument/2006/relationships/oleObject" Target="../embeddings/oleObject22.bin"/><Relationship Id="rId4" Type="http://schemas.openxmlformats.org/officeDocument/2006/relationships/image" Target="../media/image167.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160.emf"/></Relationships>
</file>

<file path=ppt/slides/_rels/slide6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oleObject" Target="../embeddings/oleObject23.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ubTitle" sz="quarter" idx="1"/>
          </p:nvPr>
        </p:nvSpPr>
        <p:spPr>
          <a:xfrm>
            <a:off x="3352800" y="4038600"/>
            <a:ext cx="5334000" cy="1981200"/>
          </a:xfrm>
        </p:spPr>
        <p:txBody>
          <a:bodyPr/>
          <a:lstStyle/>
          <a:p>
            <a:pPr>
              <a:lnSpc>
                <a:spcPct val="90000"/>
              </a:lnSpc>
            </a:pPr>
            <a:r>
              <a:rPr lang="en-US" altLang="zh-CN" sz="2000" b="1" dirty="0">
                <a:latin typeface="Times New Roman" panose="02020603050405020304" pitchFamily="18" charset="0"/>
                <a:ea typeface="SimSun" panose="02010600030101010101" pitchFamily="2" charset="-122"/>
                <a:cs typeface="Times New Roman" panose="02020603050405020304" pitchFamily="18" charset="0"/>
              </a:rPr>
              <a:t>Presenter: MA </a:t>
            </a:r>
            <a:r>
              <a:rPr lang="en-US" altLang="zh-CN" sz="2000" b="1" dirty="0" err="1">
                <a:latin typeface="Times New Roman" panose="02020603050405020304" pitchFamily="18" charset="0"/>
                <a:ea typeface="SimSun" panose="02010600030101010101" pitchFamily="2" charset="-122"/>
                <a:cs typeface="Times New Roman" panose="02020603050405020304" pitchFamily="18" charset="0"/>
              </a:rPr>
              <a:t>Xiaochen</a:t>
            </a:r>
            <a:endParaRPr lang="en-US" altLang="zh-CN" sz="20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22 July 2024</a:t>
            </a:r>
          </a:p>
        </p:txBody>
      </p:sp>
      <p:sp>
        <p:nvSpPr>
          <p:cNvPr id="19459" name="Rectangle 5"/>
          <p:cNvSpPr>
            <a:spLocks noChangeArrowheads="1"/>
          </p:cNvSpPr>
          <p:nvPr/>
        </p:nvSpPr>
        <p:spPr bwMode="auto">
          <a:xfrm>
            <a:off x="2057400" y="4343400"/>
            <a:ext cx="3124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9pPr>
          </a:lstStyle>
          <a:p>
            <a:pPr algn="ctr" eaLnBrk="1" hangingPunct="1">
              <a:buFontTx/>
              <a:buNone/>
            </a:pPr>
            <a:endParaRPr lang="zh-CN" altLang="zh-CN" sz="1600">
              <a:solidFill>
                <a:srgbClr val="000000"/>
              </a:solidFill>
              <a:latin typeface="Times New Roman"/>
              <a:ea typeface="SimSun" panose="020B0604020202020204" pitchFamily="34" charset="-128"/>
              <a:cs typeface="Times New Roman"/>
            </a:endParaRPr>
          </a:p>
        </p:txBody>
      </p:sp>
      <p:sp>
        <p:nvSpPr>
          <p:cNvPr id="19460" name="Rectangle 6"/>
          <p:cNvSpPr>
            <a:spLocks noGrp="1" noChangeArrowheads="1"/>
          </p:cNvSpPr>
          <p:nvPr>
            <p:ph type="ctrTitle" sz="quarter"/>
          </p:nvPr>
        </p:nvSpPr>
        <p:spPr>
          <a:xfrm>
            <a:off x="429623" y="2043100"/>
            <a:ext cx="11332753" cy="1469803"/>
          </a:xfrm>
        </p:spPr>
        <p:txBody>
          <a:bodyPr/>
          <a:lstStyle/>
          <a:p>
            <a:pPr algn="ctr">
              <a:lnSpc>
                <a:spcPct val="150000"/>
              </a:lnSpc>
            </a:pPr>
            <a:r>
              <a:rPr lang="en-US" altLang="zh-CN" sz="3600" dirty="0">
                <a:latin typeface="Times New Roman" panose="02020603050405020304" pitchFamily="18" charset="0"/>
                <a:ea typeface="SimSun" panose="02010600030101010101" pitchFamily="2" charset="-122"/>
                <a:cs typeface="Times New Roman" panose="02020603050405020304" pitchFamily="18" charset="0"/>
              </a:rPr>
              <a:t>Development of new water spray strategies for improving the energy performance of indirect evaporative cooling systems</a:t>
            </a:r>
          </a:p>
        </p:txBody>
      </p:sp>
      <p:sp>
        <p:nvSpPr>
          <p:cNvPr id="7" name="矩形 6">
            <a:extLst>
              <a:ext uri="{FF2B5EF4-FFF2-40B4-BE49-F238E27FC236}">
                <a16:creationId xmlns:a16="http://schemas.microsoft.com/office/drawing/2014/main" id="{67B468AD-3765-4211-97AE-355D9398DFA4}"/>
              </a:ext>
            </a:extLst>
          </p:cNvPr>
          <p:cNvSpPr/>
          <p:nvPr/>
        </p:nvSpPr>
        <p:spPr bwMode="auto">
          <a:xfrm>
            <a:off x="5943600" y="1"/>
            <a:ext cx="4724400" cy="111259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pic>
        <p:nvPicPr>
          <p:cNvPr id="4" name="图片 3">
            <a:extLst>
              <a:ext uri="{FF2B5EF4-FFF2-40B4-BE49-F238E27FC236}">
                <a16:creationId xmlns:a16="http://schemas.microsoft.com/office/drawing/2014/main" id="{019CDA59-C27E-4F69-8FD6-A3C0FE27BCCA}"/>
              </a:ext>
            </a:extLst>
          </p:cNvPr>
          <p:cNvPicPr>
            <a:picLocks noChangeAspect="1"/>
          </p:cNvPicPr>
          <p:nvPr/>
        </p:nvPicPr>
        <p:blipFill>
          <a:blip r:embed="rId3"/>
          <a:stretch>
            <a:fillRect/>
          </a:stretch>
        </p:blipFill>
        <p:spPr>
          <a:xfrm>
            <a:off x="6864165" y="87822"/>
            <a:ext cx="5327835" cy="878576"/>
          </a:xfrm>
          <a:prstGeom prst="rect">
            <a:avLst/>
          </a:prstGeom>
        </p:spPr>
      </p:pic>
      <p:sp>
        <p:nvSpPr>
          <p:cNvPr id="1946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中文要点｜报告主题</a:t>
            </a:r>
          </a:p>
          <a:p>
            <a:pPr>
              <a:lnSpc>
                <a:spcPct val="108000"/>
              </a:lnSpc>
              <a:spcAft>
                <a:spcPts val="0"/>
              </a:spcAft>
            </a:pPr>
            <a:r>
              <a:rPr sz="1400" b="0">
                <a:solidFill>
                  <a:srgbClr val="282828"/>
                </a:solidFill>
                <a:latin typeface="Times New Roman"/>
                <a:ea typeface="SimSun"/>
                <a:cs typeface="Times New Roman"/>
              </a:rPr>
              <a:t>新型喷淋策略开发及其对间接蒸发冷却系统能效的提升</a:t>
            </a:r>
          </a:p>
        </p:txBody>
      </p:sp>
    </p:spTree>
  </p:cSld>
  <p:clrMapOvr>
    <a:masterClrMapping/>
  </p:clrMapOvr>
  <p:transition spd="slow" advTm="2290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中文要点｜汇报提纲</a:t>
            </a:r>
          </a:p>
          <a:p>
            <a:pPr>
              <a:lnSpc>
                <a:spcPct val="108000"/>
              </a:lnSpc>
              <a:spcAft>
                <a:spcPts val="0"/>
              </a:spcAft>
            </a:pPr>
            <a:r>
              <a:rPr sz="1400" b="0">
                <a:solidFill>
                  <a:srgbClr val="282828"/>
                </a:solidFill>
                <a:latin typeface="Times New Roman"/>
                <a:ea typeface="SimSun"/>
                <a:cs typeface="Times New Roman"/>
              </a:rPr>
              <a:t>研究背景与目标 → FDM 喷淋分布建模 → CFD 水膜分析 → ANN–GA 喷淋优化 → 数据中心应用 → 结论与展望</a:t>
            </a:r>
          </a:p>
        </p:txBody>
      </p:sp>
    </p:spTree>
    <p:extLst>
      <p:ext uri="{BB962C8B-B14F-4D97-AF65-F5344CB8AC3E}">
        <p14:creationId xmlns:p14="http://schemas.microsoft.com/office/powerpoint/2010/main" val="374697866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rgbClr val="C00000"/>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中文要点｜研究背景与文献综述</a:t>
            </a:r>
          </a:p>
          <a:p>
            <a:pPr>
              <a:lnSpc>
                <a:spcPct val="108000"/>
              </a:lnSpc>
              <a:spcAft>
                <a:spcPts val="0"/>
              </a:spcAft>
            </a:pPr>
            <a:r>
              <a:rPr sz="1400" b="0">
                <a:solidFill>
                  <a:srgbClr val="282828"/>
                </a:solidFill>
                <a:latin typeface="Times New Roman"/>
                <a:ea typeface="SimSun"/>
                <a:cs typeface="Times New Roman"/>
              </a:rPr>
              <a:t>从建筑制冷能耗增长出发，介绍 IEC 技术的发展、水膜润湿性研究及现有模型的不足。</a:t>
            </a:r>
          </a:p>
        </p:txBody>
      </p:sp>
    </p:spTree>
    <p:extLst>
      <p:ext uri="{BB962C8B-B14F-4D97-AF65-F5344CB8AC3E}">
        <p14:creationId xmlns:p14="http://schemas.microsoft.com/office/powerpoint/2010/main" val="259339703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8">
            <a:extLst>
              <a:ext uri="{FF2B5EF4-FFF2-40B4-BE49-F238E27FC236}">
                <a16:creationId xmlns:a16="http://schemas.microsoft.com/office/drawing/2014/main" id="{8B8F9D25-5CF0-4920-BA0C-E821D0317FC4}"/>
              </a:ext>
            </a:extLst>
          </p:cNvPr>
          <p:cNvSpPr txBox="1">
            <a:spLocks/>
          </p:cNvSpPr>
          <p:nvPr/>
        </p:nvSpPr>
        <p:spPr bwMode="auto">
          <a:xfrm>
            <a:off x="882545" y="259531"/>
            <a:ext cx="83820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spcBef>
                <a:spcPts val="0"/>
              </a:spcBef>
              <a:spcAft>
                <a:spcPts val="0"/>
              </a:spcAft>
            </a:pPr>
            <a:r>
              <a:rPr lang="en-US" b="1" dirty="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spcBef>
                <a:spcPts val="0"/>
              </a:spcBef>
              <a:spcAft>
                <a:spcPts val="0"/>
              </a:spcAft>
            </a:pPr>
            <a:endParaRPr lang="en-US" sz="2000" b="1" dirty="0">
              <a:solidFill>
                <a:srgbClr val="000000"/>
              </a:solidFill>
              <a:latin typeface="Times New Roman"/>
              <a:ea typeface="SimSun"/>
              <a:cs typeface="Times New Roman" charset="0"/>
            </a:endParaRPr>
          </a:p>
        </p:txBody>
      </p:sp>
      <p:sp>
        <p:nvSpPr>
          <p:cNvPr id="2" name="灯片编号占位符 1">
            <a:extLst>
              <a:ext uri="{FF2B5EF4-FFF2-40B4-BE49-F238E27FC236}">
                <a16:creationId xmlns:a16="http://schemas.microsoft.com/office/drawing/2014/main" id="{8962393A-D9AD-4A23-9C19-5ADAE49EB84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a:t>
            </a:fld>
            <a:endParaRPr lang="en-US" altLang="zh-CN">
              <a:latin typeface="Times New Roman"/>
              <a:ea typeface="SimSun"/>
              <a:cs typeface="Times New Roman"/>
            </a:endParaRPr>
          </a:p>
        </p:txBody>
      </p:sp>
      <p:grpSp>
        <p:nvGrpSpPr>
          <p:cNvPr id="63" name="Original English content (proportional layout)"/>
          <p:cNvGrpSpPr/>
          <p:nvPr/>
        </p:nvGrpSpPr>
        <p:grpSpPr>
          <a:xfrm>
            <a:off x="1097280" y="731520"/>
            <a:ext cx="9997440" cy="5023714"/>
            <a:chOff x="0" y="731520"/>
            <a:chExt cx="12192000" cy="6126480"/>
          </a:xfrm>
        </p:grpSpPr>
        <p:pic>
          <p:nvPicPr>
            <p:cNvPr id="5" name="图片 4">
              <a:extLst>
                <a:ext uri="{FF2B5EF4-FFF2-40B4-BE49-F238E27FC236}">
                  <a16:creationId xmlns:a16="http://schemas.microsoft.com/office/drawing/2014/main" id="{0A062160-D6C2-4E46-9E7A-5FDC78CED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2770" y="2617405"/>
              <a:ext cx="2585179" cy="2786400"/>
            </a:xfrm>
            <a:prstGeom prst="rect">
              <a:avLst/>
            </a:prstGeom>
          </p:spPr>
        </p:pic>
        <p:sp>
          <p:nvSpPr>
            <p:cNvPr id="36" name="文本框 35">
              <a:extLst>
                <a:ext uri="{FF2B5EF4-FFF2-40B4-BE49-F238E27FC236}">
                  <a16:creationId xmlns:a16="http://schemas.microsoft.com/office/drawing/2014/main" id="{B62FDF9E-6657-4935-883E-4D42C3A7364F}"/>
                </a:ext>
              </a:extLst>
            </p:cNvPr>
            <p:cNvSpPr txBox="1"/>
            <p:nvPr/>
          </p:nvSpPr>
          <p:spPr>
            <a:xfrm>
              <a:off x="404072" y="956954"/>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1.1 Cooling energy use in buildings</a:t>
              </a:r>
            </a:p>
          </p:txBody>
        </p:sp>
        <p:sp>
          <p:nvSpPr>
            <p:cNvPr id="37" name="文本框 36">
              <a:extLst>
                <a:ext uri="{FF2B5EF4-FFF2-40B4-BE49-F238E27FC236}">
                  <a16:creationId xmlns:a16="http://schemas.microsoft.com/office/drawing/2014/main" id="{3551DB90-1D98-4950-83C0-04E9F6A855D4}"/>
                </a:ext>
              </a:extLst>
            </p:cNvPr>
            <p:cNvSpPr txBox="1"/>
            <p:nvPr/>
          </p:nvSpPr>
          <p:spPr>
            <a:xfrm>
              <a:off x="1196477" y="1333909"/>
              <a:ext cx="9318199" cy="144655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476" b="1" dirty="0">
                  <a:solidFill>
                    <a:prstClr val="black"/>
                  </a:solidFill>
                  <a:latin typeface="Times New Roman" panose="02020603050405020304" pitchFamily="18" charset="0"/>
                  <a:ea typeface="SimSun"/>
                  <a:cs typeface="Times New Roman" panose="02020603050405020304" pitchFamily="18" charset="0"/>
                </a:rPr>
                <a:t>China: </a:t>
              </a:r>
              <a:r>
                <a:rPr lang="en-HK" sz="1476" dirty="0">
                  <a:solidFill>
                    <a:prstClr val="black"/>
                  </a:solidFill>
                  <a:latin typeface="Times New Roman" panose="02020603050405020304" pitchFamily="18" charset="0"/>
                  <a:ea typeface="SimSun"/>
                  <a:cs typeface="Times New Roman" panose="02020603050405020304" pitchFamily="18" charset="0"/>
                </a:rPr>
                <a:t>cooling energy use has been growing fast in </a:t>
              </a:r>
              <a:r>
                <a:rPr lang="en-US" altLang="zh-CN" sz="1476" dirty="0">
                  <a:solidFill>
                    <a:prstClr val="black"/>
                  </a:solidFill>
                  <a:latin typeface="Times New Roman" panose="02020603050405020304" pitchFamily="18" charset="0"/>
                  <a:ea typeface="SimSun"/>
                  <a:cs typeface="Times New Roman" panose="02020603050405020304" pitchFamily="18" charset="0"/>
                </a:rPr>
                <a:t>past 10 years</a:t>
              </a:r>
              <a:r>
                <a:rPr lang="en-HK" sz="1476" dirty="0">
                  <a:solidFill>
                    <a:prstClr val="black"/>
                  </a:solidFill>
                  <a:latin typeface="Times New Roman" panose="02020603050405020304" pitchFamily="18" charset="0"/>
                  <a:ea typeface="SimSun"/>
                  <a:cs typeface="Times New Roman" panose="02020603050405020304" pitchFamily="18" charset="0"/>
                </a:rPr>
                <a:t>, accounting for </a:t>
              </a:r>
              <a:r>
                <a:rPr lang="en-HK" sz="1476" dirty="0">
                  <a:solidFill>
                    <a:srgbClr val="C00000"/>
                  </a:solidFill>
                  <a:latin typeface="Times New Roman" panose="02020603050405020304" pitchFamily="18" charset="0"/>
                  <a:ea typeface="SimSun"/>
                  <a:cs typeface="Times New Roman" panose="02020603050405020304" pitchFamily="18" charset="0"/>
                </a:rPr>
                <a:t>1/5</a:t>
              </a:r>
              <a:r>
                <a:rPr lang="en-HK" sz="1476" dirty="0">
                  <a:solidFill>
                    <a:prstClr val="black"/>
                  </a:solidFill>
                  <a:latin typeface="Times New Roman" panose="02020603050405020304" pitchFamily="18" charset="0"/>
                  <a:ea typeface="SimSun"/>
                  <a:cs typeface="Times New Roman" panose="02020603050405020304" pitchFamily="18" charset="0"/>
                </a:rPr>
                <a:t> of global cooling energy use.</a:t>
              </a:r>
            </a:p>
            <a:p>
              <a:pPr marL="285750" indent="-285750" defTabSz="457200" eaLnBrk="1" fontAlgn="auto" hangingPunct="1">
                <a:spcBef>
                  <a:spcPts val="0"/>
                </a:spcBef>
                <a:spcAft>
                  <a:spcPts val="0"/>
                </a:spcAft>
                <a:buFont typeface="Arial" panose="020B0604020202020204" pitchFamily="34" charset="0"/>
                <a:buChar char="•"/>
              </a:pPr>
              <a:endParaRPr lang="en-HK" sz="1312" b="1" dirty="0">
                <a:solidFill>
                  <a:prstClr val="black"/>
                </a:solidFill>
                <a:latin typeface="Times New Roman" panose="02020603050405020304" pitchFamily="18" charset="0"/>
                <a:ea typeface="SimSun"/>
                <a:cs typeface="Times New Roman" panose="02020603050405020304" pitchFamily="18" charset="0"/>
              </a:endParaRPr>
            </a:p>
            <a:p>
              <a:pPr marL="285750" indent="-285750" defTabSz="457200" eaLnBrk="1" fontAlgn="auto" hangingPunct="1">
                <a:spcBef>
                  <a:spcPts val="0"/>
                </a:spcBef>
                <a:spcAft>
                  <a:spcPts val="0"/>
                </a:spcAft>
                <a:buFont typeface="Arial" panose="020B0604020202020204" pitchFamily="34" charset="0"/>
                <a:buChar char="•"/>
              </a:pPr>
              <a:r>
                <a:rPr lang="en-HK" sz="1476" b="1" dirty="0">
                  <a:solidFill>
                    <a:prstClr val="black"/>
                  </a:solidFill>
                  <a:latin typeface="Times New Roman" panose="02020603050405020304" pitchFamily="18" charset="0"/>
                  <a:ea typeface="SimSun"/>
                  <a:cs typeface="Times New Roman" panose="02020603050405020304" pitchFamily="18" charset="0"/>
                </a:rPr>
                <a:t>Hong Kong: </a:t>
              </a:r>
              <a:r>
                <a:rPr lang="en-HK" sz="1476" dirty="0">
                  <a:solidFill>
                    <a:prstClr val="black"/>
                  </a:solidFill>
                  <a:latin typeface="Times New Roman" panose="02020603050405020304" pitchFamily="18" charset="0"/>
                  <a:ea typeface="SimSun"/>
                  <a:cs typeface="Times New Roman" panose="02020603050405020304" pitchFamily="18" charset="0"/>
                </a:rPr>
                <a:t>the electricity end use for A/C increased by </a:t>
              </a:r>
              <a:r>
                <a:rPr lang="en-HK" sz="1476" dirty="0">
                  <a:solidFill>
                    <a:srgbClr val="C00000"/>
                  </a:solidFill>
                  <a:latin typeface="Times New Roman" panose="02020603050405020304" pitchFamily="18" charset="0"/>
                  <a:ea typeface="SimSun"/>
                  <a:cs typeface="Times New Roman" panose="02020603050405020304" pitchFamily="18" charset="0"/>
                </a:rPr>
                <a:t>29% </a:t>
              </a:r>
              <a:r>
                <a:rPr lang="en-HK" sz="1476" dirty="0">
                  <a:solidFill>
                    <a:prstClr val="black"/>
                  </a:solidFill>
                  <a:latin typeface="Times New Roman" panose="02020603050405020304" pitchFamily="18" charset="0"/>
                  <a:ea typeface="SimSun"/>
                  <a:cs typeface="Times New Roman" panose="02020603050405020304" pitchFamily="18" charset="0"/>
                </a:rPr>
                <a:t>in past 10 years and is about </a:t>
              </a:r>
              <a:r>
                <a:rPr lang="en-HK" sz="1476" dirty="0">
                  <a:solidFill>
                    <a:srgbClr val="C00000"/>
                  </a:solidFill>
                  <a:latin typeface="Times New Roman" panose="02020603050405020304" pitchFamily="18" charset="0"/>
                  <a:ea typeface="SimSun"/>
                  <a:cs typeface="Times New Roman" panose="02020603050405020304" pitchFamily="18" charset="0"/>
                </a:rPr>
                <a:t>30%</a:t>
              </a:r>
              <a:r>
                <a:rPr lang="en-HK" sz="1476" dirty="0">
                  <a:solidFill>
                    <a:prstClr val="black"/>
                  </a:solidFill>
                  <a:latin typeface="Times New Roman" panose="02020603050405020304" pitchFamily="18" charset="0"/>
                  <a:ea typeface="SimSun"/>
                  <a:cs typeface="Times New Roman" panose="02020603050405020304" pitchFamily="18" charset="0"/>
                </a:rPr>
                <a:t> of the total electricity use in building sector.</a:t>
              </a:r>
            </a:p>
          </p:txBody>
        </p:sp>
        <p:pic>
          <p:nvPicPr>
            <p:cNvPr id="38" name="图片 37">
              <a:extLst>
                <a:ext uri="{FF2B5EF4-FFF2-40B4-BE49-F238E27FC236}">
                  <a16:creationId xmlns:a16="http://schemas.microsoft.com/office/drawing/2014/main" id="{A6DEFF5E-18E8-4D1C-A209-C5CEBAA93C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5635" y="2824134"/>
              <a:ext cx="4377809" cy="2344857"/>
            </a:xfrm>
            <a:prstGeom prst="rect">
              <a:avLst/>
            </a:prstGeom>
          </p:spPr>
        </p:pic>
        <p:sp>
          <p:nvSpPr>
            <p:cNvPr id="40" name="文本框 39">
              <a:extLst>
                <a:ext uri="{FF2B5EF4-FFF2-40B4-BE49-F238E27FC236}">
                  <a16:creationId xmlns:a16="http://schemas.microsoft.com/office/drawing/2014/main" id="{F73C51D1-DEE3-4BAE-A79D-C4452E0CB51E}"/>
                </a:ext>
              </a:extLst>
            </p:cNvPr>
            <p:cNvSpPr txBox="1"/>
            <p:nvPr/>
          </p:nvSpPr>
          <p:spPr>
            <a:xfrm>
              <a:off x="2491224" y="3035550"/>
              <a:ext cx="662474" cy="307777"/>
            </a:xfrm>
            <a:prstGeom prst="rect">
              <a:avLst/>
            </a:prstGeom>
            <a:noFill/>
          </p:spPr>
          <p:txBody>
            <a:bodyPr wrap="square" rtlCol="0">
              <a:spAutoFit/>
            </a:bodyPr>
            <a:lstStyle/>
            <a:p>
              <a:pPr defTabSz="457200" eaLnBrk="1" fontAlgn="auto" hangingPunct="1">
                <a:spcBef>
                  <a:spcPts val="0"/>
                </a:spcBef>
                <a:spcAft>
                  <a:spcPts val="0"/>
                </a:spcAft>
              </a:pPr>
              <a:r>
                <a:rPr lang="en-HK" sz="1148" dirty="0">
                  <a:solidFill>
                    <a:prstClr val="black"/>
                  </a:solidFill>
                  <a:latin typeface="Times New Roman" panose="020B0604020202020204" pitchFamily="34" charset="0"/>
                  <a:ea typeface="SimSun"/>
                  <a:cs typeface="Times New Roman" panose="020B0604020202020204" pitchFamily="34" charset="0"/>
                </a:rPr>
                <a:t>US</a:t>
              </a:r>
            </a:p>
          </p:txBody>
        </p:sp>
        <p:sp>
          <p:nvSpPr>
            <p:cNvPr id="41" name="文本框 40">
              <a:extLst>
                <a:ext uri="{FF2B5EF4-FFF2-40B4-BE49-F238E27FC236}">
                  <a16:creationId xmlns:a16="http://schemas.microsoft.com/office/drawing/2014/main" id="{2BD2EA56-3D70-4313-A15A-57E24D0A4D2B}"/>
                </a:ext>
              </a:extLst>
            </p:cNvPr>
            <p:cNvSpPr txBox="1"/>
            <p:nvPr/>
          </p:nvSpPr>
          <p:spPr>
            <a:xfrm>
              <a:off x="2220338" y="3956743"/>
              <a:ext cx="1090126" cy="307777"/>
            </a:xfrm>
            <a:prstGeom prst="rect">
              <a:avLst/>
            </a:prstGeom>
            <a:noFill/>
          </p:spPr>
          <p:txBody>
            <a:bodyPr wrap="square" rtlCol="0">
              <a:spAutoFit/>
            </a:bodyPr>
            <a:lstStyle/>
            <a:p>
              <a:pPr defTabSz="457200" eaLnBrk="1" fontAlgn="auto" hangingPunct="1">
                <a:spcBef>
                  <a:spcPts val="0"/>
                </a:spcBef>
                <a:spcAft>
                  <a:spcPts val="0"/>
                </a:spcAft>
              </a:pPr>
              <a:r>
                <a:rPr lang="en-HK" sz="1148" dirty="0">
                  <a:solidFill>
                    <a:prstClr val="black"/>
                  </a:solidFill>
                  <a:latin typeface="Times New Roman" panose="020B0604020202020204" pitchFamily="34" charset="0"/>
                  <a:ea typeface="SimSun"/>
                  <a:cs typeface="Times New Roman" panose="020B0604020202020204" pitchFamily="34" charset="0"/>
                </a:rPr>
                <a:t>World</a:t>
              </a:r>
            </a:p>
          </p:txBody>
        </p:sp>
        <p:sp>
          <p:nvSpPr>
            <p:cNvPr id="42" name="文本框 41">
              <a:extLst>
                <a:ext uri="{FF2B5EF4-FFF2-40B4-BE49-F238E27FC236}">
                  <a16:creationId xmlns:a16="http://schemas.microsoft.com/office/drawing/2014/main" id="{F34C4778-A79B-4411-A787-0C9210E1434A}"/>
                </a:ext>
              </a:extLst>
            </p:cNvPr>
            <p:cNvSpPr txBox="1"/>
            <p:nvPr/>
          </p:nvSpPr>
          <p:spPr>
            <a:xfrm>
              <a:off x="3153479" y="4362902"/>
              <a:ext cx="979065" cy="307777"/>
            </a:xfrm>
            <a:prstGeom prst="rect">
              <a:avLst/>
            </a:prstGeom>
            <a:noFill/>
          </p:spPr>
          <p:txBody>
            <a:bodyPr wrap="square" rtlCol="0">
              <a:spAutoFit/>
            </a:bodyPr>
            <a:lstStyle/>
            <a:p>
              <a:pPr defTabSz="457200" eaLnBrk="1" fontAlgn="auto" hangingPunct="1">
                <a:spcBef>
                  <a:spcPts val="0"/>
                </a:spcBef>
                <a:spcAft>
                  <a:spcPts val="0"/>
                </a:spcAft>
              </a:pPr>
              <a:r>
                <a:rPr lang="en-HK" sz="1148" dirty="0">
                  <a:solidFill>
                    <a:prstClr val="black"/>
                  </a:solidFill>
                  <a:latin typeface="Times New Roman" panose="020B0604020202020204" pitchFamily="34" charset="0"/>
                  <a:ea typeface="SimSun"/>
                  <a:cs typeface="Times New Roman" panose="020B0604020202020204" pitchFamily="34" charset="0"/>
                </a:rPr>
                <a:t>China</a:t>
              </a:r>
            </a:p>
          </p:txBody>
        </p:sp>
        <p:cxnSp>
          <p:nvCxnSpPr>
            <p:cNvPr id="43" name="直接箭头连接符 42">
              <a:extLst>
                <a:ext uri="{FF2B5EF4-FFF2-40B4-BE49-F238E27FC236}">
                  <a16:creationId xmlns:a16="http://schemas.microsoft.com/office/drawing/2014/main" id="{4E1A74DE-2A9D-4489-A6E9-6C2581FECEDE}"/>
                </a:ext>
              </a:extLst>
            </p:cNvPr>
            <p:cNvCxnSpPr/>
            <p:nvPr/>
          </p:nvCxnSpPr>
          <p:spPr>
            <a:xfrm>
              <a:off x="2902845" y="3193137"/>
              <a:ext cx="466530" cy="0"/>
            </a:xfrm>
            <a:prstGeom prst="straightConnector1">
              <a:avLst/>
            </a:prstGeom>
            <a:noFill/>
            <a:ln w="22225" cap="flat" cmpd="sng" algn="ctr">
              <a:solidFill>
                <a:srgbClr val="DA7E3E"/>
              </a:solidFill>
              <a:prstDash val="solid"/>
              <a:miter lim="800000"/>
              <a:tailEnd type="triangle"/>
            </a:ln>
            <a:effectLst/>
          </p:spPr>
        </p:cxnSp>
        <p:cxnSp>
          <p:nvCxnSpPr>
            <p:cNvPr id="44" name="直接箭头连接符 43">
              <a:extLst>
                <a:ext uri="{FF2B5EF4-FFF2-40B4-BE49-F238E27FC236}">
                  <a16:creationId xmlns:a16="http://schemas.microsoft.com/office/drawing/2014/main" id="{4F260449-8138-4D88-BDAA-502C48094806}"/>
                </a:ext>
              </a:extLst>
            </p:cNvPr>
            <p:cNvCxnSpPr>
              <a:cxnSpLocks/>
            </p:cNvCxnSpPr>
            <p:nvPr/>
          </p:nvCxnSpPr>
          <p:spPr>
            <a:xfrm flipV="1">
              <a:off x="3742839" y="4272458"/>
              <a:ext cx="493290" cy="124280"/>
            </a:xfrm>
            <a:prstGeom prst="straightConnector1">
              <a:avLst/>
            </a:prstGeom>
            <a:noFill/>
            <a:ln w="22225" cap="flat" cmpd="sng" algn="ctr">
              <a:solidFill>
                <a:srgbClr val="B2030B"/>
              </a:solidFill>
              <a:prstDash val="solid"/>
              <a:miter lim="800000"/>
              <a:tailEnd type="triangle"/>
            </a:ln>
            <a:effectLst/>
          </p:spPr>
        </p:cxnSp>
        <p:cxnSp>
          <p:nvCxnSpPr>
            <p:cNvPr id="45" name="直接箭头连接符 44">
              <a:extLst>
                <a:ext uri="{FF2B5EF4-FFF2-40B4-BE49-F238E27FC236}">
                  <a16:creationId xmlns:a16="http://schemas.microsoft.com/office/drawing/2014/main" id="{D5D89A26-E711-4EBB-8A5F-C35610160EED}"/>
                </a:ext>
              </a:extLst>
            </p:cNvPr>
            <p:cNvCxnSpPr>
              <a:cxnSpLocks/>
            </p:cNvCxnSpPr>
            <p:nvPr/>
          </p:nvCxnSpPr>
          <p:spPr>
            <a:xfrm flipV="1">
              <a:off x="2910410" y="4077935"/>
              <a:ext cx="593013" cy="69871"/>
            </a:xfrm>
            <a:prstGeom prst="straightConnector1">
              <a:avLst/>
            </a:prstGeom>
            <a:noFill/>
            <a:ln w="22225" cap="flat" cmpd="sng" algn="ctr">
              <a:solidFill>
                <a:srgbClr val="2A899B"/>
              </a:solidFill>
              <a:prstDash val="solid"/>
              <a:miter lim="800000"/>
              <a:tailEnd type="triangle"/>
            </a:ln>
            <a:effectLst/>
          </p:spPr>
        </p:cxnSp>
        <p:sp>
          <p:nvSpPr>
            <p:cNvPr id="46" name="矩形 4">
              <a:extLst>
                <a:ext uri="{FF2B5EF4-FFF2-40B4-BE49-F238E27FC236}">
                  <a16:creationId xmlns:a16="http://schemas.microsoft.com/office/drawing/2014/main" id="{F07FE167-2C4A-4929-B2CE-A58C30E33794}"/>
                </a:ext>
              </a:extLst>
            </p:cNvPr>
            <p:cNvSpPr>
              <a:spLocks noChangeArrowheads="1"/>
            </p:cNvSpPr>
            <p:nvPr/>
          </p:nvSpPr>
          <p:spPr bwMode="auto">
            <a:xfrm>
              <a:off x="1141120" y="5487152"/>
              <a:ext cx="46307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624">
                  <a:solidFill>
                    <a:schemeClr val="bg2"/>
                  </a:solidFill>
                  <a:latin typeface="Times New Roman" panose="020B0604020202020204" pitchFamily="34" charset="0"/>
                  <a:ea typeface="SimSun" panose="020B0600070205080204" pitchFamily="34" charset="-128"/>
                  <a:cs typeface="Times New Roman"/>
                </a:defRPr>
              </a:lvl1pPr>
              <a:lvl2pPr marL="742950" indent="-285750">
                <a:defRPr sz="2624">
                  <a:solidFill>
                    <a:schemeClr val="bg2"/>
                  </a:solidFill>
                  <a:latin typeface="Times New Roman" panose="020B0604020202020204" pitchFamily="34" charset="0"/>
                  <a:ea typeface="SimSun" panose="020B0600070205080204" pitchFamily="34" charset="-128"/>
                  <a:cs typeface="Times New Roman"/>
                </a:defRPr>
              </a:lvl2pPr>
              <a:lvl3pPr marL="1143000" indent="-228600">
                <a:defRPr sz="2624">
                  <a:solidFill>
                    <a:schemeClr val="bg2"/>
                  </a:solidFill>
                  <a:latin typeface="Times New Roman" panose="020B0604020202020204" pitchFamily="34" charset="0"/>
                  <a:ea typeface="SimSun" panose="020B0600070205080204" pitchFamily="34" charset="-128"/>
                  <a:cs typeface="Times New Roman"/>
                </a:defRPr>
              </a:lvl3pPr>
              <a:lvl4pPr marL="1600200" indent="-228600">
                <a:defRPr sz="2624">
                  <a:solidFill>
                    <a:schemeClr val="bg2"/>
                  </a:solidFill>
                  <a:latin typeface="Times New Roman" panose="020B0604020202020204" pitchFamily="34" charset="0"/>
                  <a:ea typeface="SimSun" panose="020B0600070205080204" pitchFamily="34" charset="-128"/>
                  <a:cs typeface="Times New Roman"/>
                </a:defRPr>
              </a:lvl4pPr>
              <a:lvl5pPr marL="2057400" indent="-228600">
                <a:defRPr sz="2624">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0"/>
                </a:spcBef>
                <a:spcAft>
                  <a:spcPct val="0"/>
                </a:spcAft>
                <a:defRPr sz="2624">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0"/>
                </a:spcBef>
                <a:spcAft>
                  <a:spcPct val="0"/>
                </a:spcAft>
                <a:defRPr sz="2624">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0"/>
                </a:spcBef>
                <a:spcAft>
                  <a:spcPct val="0"/>
                </a:spcAft>
                <a:defRPr sz="2624">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0"/>
                </a:spcBef>
                <a:spcAft>
                  <a:spcPct val="0"/>
                </a:spcAft>
                <a:defRPr sz="2624">
                  <a:solidFill>
                    <a:schemeClr val="bg2"/>
                  </a:solidFill>
                  <a:latin typeface="Times New Roman" panose="020B0604020202020204" pitchFamily="34" charset="0"/>
                  <a:ea typeface="SimSun" panose="020B0600070205080204" pitchFamily="34" charset="-128"/>
                  <a:cs typeface="Times New Roman"/>
                </a:defRPr>
              </a:lvl9pPr>
            </a:lstStyle>
            <a:p>
              <a:pPr algn="ctr" defTabSz="457200" eaLnBrk="1" fontAlgn="auto" hangingPunct="1">
                <a:spcBef>
                  <a:spcPts val="0"/>
                </a:spcBef>
                <a:spcAft>
                  <a:spcPts val="0"/>
                </a:spcAft>
              </a:pPr>
              <a:r>
                <a:rPr lang="en-GB" altLang="zh-CN" sz="1148" b="1" dirty="0">
                  <a:solidFill>
                    <a:srgbClr val="C00000"/>
                  </a:solidFill>
                  <a:latin typeface="Times New Roman" panose="02020603050405020304" pitchFamily="18" charset="0"/>
                  <a:ea typeface="SimSun" panose="02010600030101010101" pitchFamily="2" charset="-122"/>
                  <a:cs typeface="Times New Roman"/>
                </a:rPr>
                <a:t>Electricity use for space cooling, 2000-2017</a:t>
              </a:r>
              <a:endParaRPr lang="zh-CN" altLang="en-US" sz="1148" b="1" dirty="0">
                <a:solidFill>
                  <a:srgbClr val="C00000"/>
                </a:solidFill>
                <a:latin typeface="Times New Roman" panose="020F0502020204030204" pitchFamily="34" charset="0"/>
                <a:ea typeface="SimSun" panose="02010600030101010101" pitchFamily="2" charset="-122"/>
                <a:cs typeface="Times New Roman"/>
              </a:endParaRPr>
            </a:p>
          </p:txBody>
        </p:sp>
        <p:pic>
          <p:nvPicPr>
            <p:cNvPr id="47" name="图片 46">
              <a:extLst>
                <a:ext uri="{FF2B5EF4-FFF2-40B4-BE49-F238E27FC236}">
                  <a16:creationId xmlns:a16="http://schemas.microsoft.com/office/drawing/2014/main" id="{C2AC8092-6D8C-456C-B4BA-665797B5FADE}"/>
                </a:ext>
              </a:extLst>
            </p:cNvPr>
            <p:cNvPicPr>
              <a:picLocks noChangeAspect="1"/>
            </p:cNvPicPr>
            <p:nvPr/>
          </p:nvPicPr>
          <p:blipFill rotWithShape="1">
            <a:blip r:embed="rId5">
              <a:extLst>
                <a:ext uri="{28A0092B-C50C-407E-A947-70E740481C1C}">
                  <a14:useLocalDpi xmlns:a14="http://schemas.microsoft.com/office/drawing/2010/main" val="0"/>
                </a:ext>
              </a:extLst>
            </a:blip>
            <a:srcRect b="88606"/>
            <a:stretch/>
          </p:blipFill>
          <p:spPr>
            <a:xfrm>
              <a:off x="1435634" y="5309309"/>
              <a:ext cx="1249680" cy="223139"/>
            </a:xfrm>
            <a:prstGeom prst="rect">
              <a:avLst/>
            </a:prstGeom>
          </p:spPr>
        </p:pic>
        <p:pic>
          <p:nvPicPr>
            <p:cNvPr id="48" name="图片 47">
              <a:extLst>
                <a:ext uri="{FF2B5EF4-FFF2-40B4-BE49-F238E27FC236}">
                  <a16:creationId xmlns:a16="http://schemas.microsoft.com/office/drawing/2014/main" id="{F7F8BA0D-1129-45CC-88BE-B276830696E4}"/>
                </a:ext>
              </a:extLst>
            </p:cNvPr>
            <p:cNvPicPr>
              <a:picLocks noChangeAspect="1"/>
            </p:cNvPicPr>
            <p:nvPr/>
          </p:nvPicPr>
          <p:blipFill rotWithShape="1">
            <a:blip r:embed="rId5">
              <a:extLst>
                <a:ext uri="{28A0092B-C50C-407E-A947-70E740481C1C}">
                  <a14:useLocalDpi xmlns:a14="http://schemas.microsoft.com/office/drawing/2010/main" val="0"/>
                </a:ext>
              </a:extLst>
            </a:blip>
            <a:srcRect t="31724" b="56398"/>
            <a:stretch/>
          </p:blipFill>
          <p:spPr>
            <a:xfrm>
              <a:off x="2404623" y="5350768"/>
              <a:ext cx="1249680" cy="232618"/>
            </a:xfrm>
            <a:prstGeom prst="rect">
              <a:avLst/>
            </a:prstGeom>
          </p:spPr>
        </p:pic>
        <p:pic>
          <p:nvPicPr>
            <p:cNvPr id="49" name="图片 48">
              <a:extLst>
                <a:ext uri="{FF2B5EF4-FFF2-40B4-BE49-F238E27FC236}">
                  <a16:creationId xmlns:a16="http://schemas.microsoft.com/office/drawing/2014/main" id="{47E3AAB7-59A1-4076-856A-240922A37C7E}"/>
                </a:ext>
              </a:extLst>
            </p:cNvPr>
            <p:cNvPicPr>
              <a:picLocks noChangeAspect="1"/>
            </p:cNvPicPr>
            <p:nvPr/>
          </p:nvPicPr>
          <p:blipFill rotWithShape="1">
            <a:blip r:embed="rId5">
              <a:extLst>
                <a:ext uri="{28A0092B-C50C-407E-A947-70E740481C1C}">
                  <a14:useLocalDpi xmlns:a14="http://schemas.microsoft.com/office/drawing/2010/main" val="0"/>
                </a:ext>
              </a:extLst>
            </a:blip>
            <a:srcRect t="61234" b="29834"/>
            <a:stretch/>
          </p:blipFill>
          <p:spPr>
            <a:xfrm>
              <a:off x="3531722" y="5333421"/>
              <a:ext cx="1249680" cy="174912"/>
            </a:xfrm>
            <a:prstGeom prst="rect">
              <a:avLst/>
            </a:prstGeom>
          </p:spPr>
        </p:pic>
        <p:pic>
          <p:nvPicPr>
            <p:cNvPr id="50" name="图片 49">
              <a:extLst>
                <a:ext uri="{FF2B5EF4-FFF2-40B4-BE49-F238E27FC236}">
                  <a16:creationId xmlns:a16="http://schemas.microsoft.com/office/drawing/2014/main" id="{65296F2D-8698-4025-8BC8-B1B69B56387E}"/>
                </a:ext>
              </a:extLst>
            </p:cNvPr>
            <p:cNvPicPr>
              <a:picLocks noChangeAspect="1"/>
            </p:cNvPicPr>
            <p:nvPr/>
          </p:nvPicPr>
          <p:blipFill rotWithShape="1">
            <a:blip r:embed="rId5">
              <a:extLst>
                <a:ext uri="{28A0092B-C50C-407E-A947-70E740481C1C}">
                  <a14:useLocalDpi xmlns:a14="http://schemas.microsoft.com/office/drawing/2010/main" val="0"/>
                </a:ext>
              </a:extLst>
            </a:blip>
            <a:srcRect t="89805"/>
            <a:stretch/>
          </p:blipFill>
          <p:spPr>
            <a:xfrm>
              <a:off x="4658821" y="5296345"/>
              <a:ext cx="1249680" cy="199649"/>
            </a:xfrm>
            <a:prstGeom prst="rect">
              <a:avLst/>
            </a:prstGeom>
          </p:spPr>
        </p:pic>
        <p:sp>
          <p:nvSpPr>
            <p:cNvPr id="51" name="矩形 50">
              <a:extLst>
                <a:ext uri="{FF2B5EF4-FFF2-40B4-BE49-F238E27FC236}">
                  <a16:creationId xmlns:a16="http://schemas.microsoft.com/office/drawing/2014/main" id="{9B162169-8957-4488-A548-B25E28DBB077}"/>
                </a:ext>
              </a:extLst>
            </p:cNvPr>
            <p:cNvSpPr/>
            <p:nvPr/>
          </p:nvSpPr>
          <p:spPr>
            <a:xfrm>
              <a:off x="6762313" y="5471452"/>
              <a:ext cx="4345805" cy="307777"/>
            </a:xfrm>
            <a:prstGeom prst="rect">
              <a:avLst/>
            </a:prstGeom>
          </p:spPr>
          <p:txBody>
            <a:bodyPr wrap="none">
              <a:spAutoFit/>
            </a:bodyPr>
            <a:lstStyle/>
            <a:p>
              <a:pPr defTabSz="457200" eaLnBrk="1" fontAlgn="auto" hangingPunct="1">
                <a:spcBef>
                  <a:spcPts val="0"/>
                </a:spcBef>
                <a:spcAft>
                  <a:spcPts val="0"/>
                </a:spcAft>
              </a:pPr>
              <a:r>
                <a:rPr lang="en-HK" sz="1148" b="1" dirty="0">
                  <a:solidFill>
                    <a:srgbClr val="C00000"/>
                  </a:solidFill>
                  <a:latin typeface="Times New Roman" panose="02020603050405020304" pitchFamily="18" charset="0"/>
                  <a:ea typeface="SimSun" panose="02010600030101010101" pitchFamily="2" charset="-122"/>
                  <a:cs typeface="Times New Roman"/>
                </a:rPr>
                <a:t>Electricity Consumption by End-use in HK, 2011-2021</a:t>
              </a:r>
            </a:p>
          </p:txBody>
        </p:sp>
        <p:sp>
          <p:nvSpPr>
            <p:cNvPr id="52" name="椭圆 51">
              <a:extLst>
                <a:ext uri="{FF2B5EF4-FFF2-40B4-BE49-F238E27FC236}">
                  <a16:creationId xmlns:a16="http://schemas.microsoft.com/office/drawing/2014/main" id="{5A13769F-3A53-4F54-A265-70ABFBF13E9D}"/>
                </a:ext>
              </a:extLst>
            </p:cNvPr>
            <p:cNvSpPr/>
            <p:nvPr/>
          </p:nvSpPr>
          <p:spPr>
            <a:xfrm>
              <a:off x="9264545" y="3387565"/>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476" kern="0" dirty="0">
                <a:solidFill>
                  <a:prstClr val="white"/>
                </a:solidFill>
                <a:latin typeface="Times New Roman" panose="020F0502020204030204"/>
                <a:ea typeface="SimSun"/>
                <a:cs typeface="Times New Roman"/>
              </a:endParaRPr>
            </a:p>
          </p:txBody>
        </p:sp>
        <p:sp>
          <p:nvSpPr>
            <p:cNvPr id="53" name="椭圆 52">
              <a:extLst>
                <a:ext uri="{FF2B5EF4-FFF2-40B4-BE49-F238E27FC236}">
                  <a16:creationId xmlns:a16="http://schemas.microsoft.com/office/drawing/2014/main" id="{D9503317-0037-46EA-8238-6E263CF3BE6A}"/>
                </a:ext>
              </a:extLst>
            </p:cNvPr>
            <p:cNvSpPr/>
            <p:nvPr/>
          </p:nvSpPr>
          <p:spPr>
            <a:xfrm>
              <a:off x="9587048" y="3104655"/>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476" kern="0" dirty="0">
                <a:solidFill>
                  <a:prstClr val="white"/>
                </a:solidFill>
                <a:latin typeface="Times New Roman" panose="020F0502020204030204"/>
                <a:ea typeface="SimSun"/>
                <a:cs typeface="Times New Roman"/>
              </a:endParaRPr>
            </a:p>
          </p:txBody>
        </p:sp>
        <p:cxnSp>
          <p:nvCxnSpPr>
            <p:cNvPr id="54" name="直接箭头连接符 53">
              <a:extLst>
                <a:ext uri="{FF2B5EF4-FFF2-40B4-BE49-F238E27FC236}">
                  <a16:creationId xmlns:a16="http://schemas.microsoft.com/office/drawing/2014/main" id="{599F89E1-666E-4BB7-A690-12313EE46B14}"/>
                </a:ext>
              </a:extLst>
            </p:cNvPr>
            <p:cNvCxnSpPr>
              <a:cxnSpLocks/>
              <a:endCxn id="56" idx="0"/>
            </p:cNvCxnSpPr>
            <p:nvPr/>
          </p:nvCxnSpPr>
          <p:spPr>
            <a:xfrm>
              <a:off x="9579527" y="3706477"/>
              <a:ext cx="124506" cy="188411"/>
            </a:xfrm>
            <a:prstGeom prst="straightConnector1">
              <a:avLst/>
            </a:prstGeom>
            <a:noFill/>
            <a:ln w="19050" cap="flat" cmpd="sng" algn="ctr">
              <a:solidFill>
                <a:srgbClr val="C00000"/>
              </a:solidFill>
              <a:prstDash val="solid"/>
              <a:miter lim="800000"/>
              <a:tailEnd type="triangle"/>
            </a:ln>
            <a:effectLst/>
          </p:spPr>
        </p:cxnSp>
        <p:sp>
          <p:nvSpPr>
            <p:cNvPr id="55" name="矩形 54">
              <a:extLst>
                <a:ext uri="{FF2B5EF4-FFF2-40B4-BE49-F238E27FC236}">
                  <a16:creationId xmlns:a16="http://schemas.microsoft.com/office/drawing/2014/main" id="{22B5F679-ED50-4DA4-AF20-4969400B3586}"/>
                </a:ext>
              </a:extLst>
            </p:cNvPr>
            <p:cNvSpPr/>
            <p:nvPr/>
          </p:nvSpPr>
          <p:spPr>
            <a:xfrm>
              <a:off x="9324064" y="3910605"/>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476" kern="0">
                <a:solidFill>
                  <a:prstClr val="white"/>
                </a:solidFill>
                <a:latin typeface="Times New Roman" panose="020F0502020204030204"/>
                <a:ea typeface="SimSun"/>
                <a:cs typeface="Times New Roman"/>
              </a:endParaRPr>
            </a:p>
          </p:txBody>
        </p:sp>
        <p:sp>
          <p:nvSpPr>
            <p:cNvPr id="56" name="文本框 55">
              <a:extLst>
                <a:ext uri="{FF2B5EF4-FFF2-40B4-BE49-F238E27FC236}">
                  <a16:creationId xmlns:a16="http://schemas.microsoft.com/office/drawing/2014/main" id="{CBCA25D8-979F-4E66-9F25-6F5E1000D302}"/>
                </a:ext>
              </a:extLst>
            </p:cNvPr>
            <p:cNvSpPr txBox="1"/>
            <p:nvPr/>
          </p:nvSpPr>
          <p:spPr>
            <a:xfrm>
              <a:off x="9256973" y="3894888"/>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984" b="1" dirty="0">
                  <a:solidFill>
                    <a:prstClr val="black"/>
                  </a:solidFill>
                  <a:latin typeface="Times New Roman" panose="020F0502020204030204"/>
                  <a:ea typeface="SimSun"/>
                  <a:cs typeface="Times New Roman"/>
                </a:rPr>
                <a:t>1.30GWh</a:t>
              </a:r>
            </a:p>
          </p:txBody>
        </p:sp>
        <p:cxnSp>
          <p:nvCxnSpPr>
            <p:cNvPr id="57" name="直接箭头连接符 56">
              <a:extLst>
                <a:ext uri="{FF2B5EF4-FFF2-40B4-BE49-F238E27FC236}">
                  <a16:creationId xmlns:a16="http://schemas.microsoft.com/office/drawing/2014/main" id="{B82E30C0-E92B-4DA0-92C7-EB150BEB3353}"/>
                </a:ext>
              </a:extLst>
            </p:cNvPr>
            <p:cNvCxnSpPr>
              <a:cxnSpLocks/>
            </p:cNvCxnSpPr>
            <p:nvPr/>
          </p:nvCxnSpPr>
          <p:spPr>
            <a:xfrm flipV="1">
              <a:off x="9741656" y="2951483"/>
              <a:ext cx="183494" cy="166567"/>
            </a:xfrm>
            <a:prstGeom prst="straightConnector1">
              <a:avLst/>
            </a:prstGeom>
            <a:noFill/>
            <a:ln w="19050" cap="flat" cmpd="sng" algn="ctr">
              <a:solidFill>
                <a:srgbClr val="C00000"/>
              </a:solidFill>
              <a:prstDash val="solid"/>
              <a:miter lim="800000"/>
              <a:tailEnd type="triangle"/>
            </a:ln>
            <a:effectLst/>
          </p:spPr>
        </p:cxnSp>
        <p:sp>
          <p:nvSpPr>
            <p:cNvPr id="58" name="文本框 57">
              <a:extLst>
                <a:ext uri="{FF2B5EF4-FFF2-40B4-BE49-F238E27FC236}">
                  <a16:creationId xmlns:a16="http://schemas.microsoft.com/office/drawing/2014/main" id="{8B8B4ADA-D2B5-400E-9AF2-27A934395748}"/>
                </a:ext>
              </a:extLst>
            </p:cNvPr>
            <p:cNvSpPr txBox="1"/>
            <p:nvPr/>
          </p:nvSpPr>
          <p:spPr>
            <a:xfrm>
              <a:off x="9769937" y="2680612"/>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984" b="1" dirty="0">
                  <a:solidFill>
                    <a:prstClr val="black"/>
                  </a:solidFill>
                  <a:latin typeface="Times New Roman" panose="020F0502020204030204"/>
                  <a:ea typeface="SimSun"/>
                  <a:cs typeface="Times New Roman"/>
                </a:rPr>
                <a:t>1.46GWh</a:t>
              </a:r>
            </a:p>
          </p:txBody>
        </p:sp>
        <p:sp>
          <p:nvSpPr>
            <p:cNvPr id="59" name="矩形 58">
              <a:extLst>
                <a:ext uri="{FF2B5EF4-FFF2-40B4-BE49-F238E27FC236}">
                  <a16:creationId xmlns:a16="http://schemas.microsoft.com/office/drawing/2014/main" id="{E1C98E01-18AB-475C-A476-9474CA24C796}"/>
                </a:ext>
              </a:extLst>
            </p:cNvPr>
            <p:cNvSpPr/>
            <p:nvPr/>
          </p:nvSpPr>
          <p:spPr>
            <a:xfrm>
              <a:off x="9824620" y="2699632"/>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476" kern="0">
                <a:solidFill>
                  <a:prstClr val="white"/>
                </a:solidFill>
                <a:latin typeface="Times New Roman" panose="020F0502020204030204"/>
                <a:ea typeface="SimSun"/>
                <a:cs typeface="Times New Roman"/>
              </a:endParaRPr>
            </a:p>
          </p:txBody>
        </p:sp>
        <p:sp>
          <p:nvSpPr>
            <p:cNvPr id="60" name="矩形 59">
              <a:extLst>
                <a:ext uri="{FF2B5EF4-FFF2-40B4-BE49-F238E27FC236}">
                  <a16:creationId xmlns:a16="http://schemas.microsoft.com/office/drawing/2014/main" id="{6D526305-CC20-4C59-96C4-DB8AA9D455F6}"/>
                </a:ext>
              </a:extLst>
            </p:cNvPr>
            <p:cNvSpPr/>
            <p:nvPr/>
          </p:nvSpPr>
          <p:spPr>
            <a:xfrm>
              <a:off x="595011" y="5811524"/>
              <a:ext cx="6096000" cy="246221"/>
            </a:xfrm>
            <a:prstGeom prst="rect">
              <a:avLst/>
            </a:prstGeom>
          </p:spPr>
          <p:txBody>
            <a:bodyPr>
              <a:spAutoFit/>
            </a:bodyPr>
            <a:lstStyle/>
            <a:p>
              <a:pPr algn="ctr" defTabSz="457200" eaLnBrk="1" fontAlgn="auto" hangingPunct="1">
                <a:spcAft>
                  <a:spcPts val="0"/>
                </a:spcAft>
              </a:pPr>
              <a:r>
                <a:rPr lang="en-HK" altLang="en-US" sz="820" i="1" dirty="0">
                  <a:solidFill>
                    <a:prstClr val="black"/>
                  </a:solidFill>
                  <a:latin typeface="Times New Roman" panose="020B0604020202020204" pitchFamily="34" charset="0"/>
                  <a:ea typeface="SimSun"/>
                  <a:cs typeface="Times New Roman" panose="020B0604020202020204" pitchFamily="34" charset="0"/>
                </a:rPr>
                <a:t>S</a:t>
              </a:r>
              <a:r>
                <a:rPr lang="en-US" altLang="zh-CN" sz="82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82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International Energy Agency (IEA). The Future of Cooling in China. 2019</a:t>
              </a:r>
              <a:endParaRPr lang="en-HK" altLang="en-US" sz="820" i="1" dirty="0">
                <a:solidFill>
                  <a:prstClr val="black"/>
                </a:solidFill>
                <a:latin typeface="Times New Roman" panose="020B0604020202020204" pitchFamily="34" charset="0"/>
                <a:ea typeface="SimSun"/>
                <a:cs typeface="Times New Roman" panose="020B0604020202020204" pitchFamily="34" charset="0"/>
              </a:endParaRPr>
            </a:p>
          </p:txBody>
        </p:sp>
        <p:sp>
          <p:nvSpPr>
            <p:cNvPr id="62" name="矩形 61">
              <a:extLst>
                <a:ext uri="{FF2B5EF4-FFF2-40B4-BE49-F238E27FC236}">
                  <a16:creationId xmlns:a16="http://schemas.microsoft.com/office/drawing/2014/main" id="{A179BD5E-94DC-4FE0-BFC3-B493299A2E24}"/>
                </a:ext>
              </a:extLst>
            </p:cNvPr>
            <p:cNvSpPr/>
            <p:nvPr/>
          </p:nvSpPr>
          <p:spPr>
            <a:xfrm>
              <a:off x="5582562" y="5795824"/>
              <a:ext cx="6096000" cy="246221"/>
            </a:xfrm>
            <a:prstGeom prst="rect">
              <a:avLst/>
            </a:prstGeom>
          </p:spPr>
          <p:txBody>
            <a:bodyPr>
              <a:spAutoFit/>
            </a:bodyPr>
            <a:lstStyle/>
            <a:p>
              <a:pPr algn="ctr" defTabSz="457200" eaLnBrk="1" fontAlgn="auto" hangingPunct="1">
                <a:spcAft>
                  <a:spcPts val="0"/>
                </a:spcAft>
              </a:pPr>
              <a:r>
                <a:rPr lang="en-HK" altLang="en-US" sz="820" i="1" dirty="0">
                  <a:solidFill>
                    <a:prstClr val="black"/>
                  </a:solidFill>
                  <a:latin typeface="Times New Roman" panose="020B0604020202020204" pitchFamily="34" charset="0"/>
                  <a:ea typeface="SimSun"/>
                  <a:cs typeface="Times New Roman" panose="020B0604020202020204" pitchFamily="34" charset="0"/>
                </a:rPr>
                <a:t>S</a:t>
              </a:r>
              <a:r>
                <a:rPr lang="en-US" altLang="zh-CN" sz="82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82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EMSD. Hong Kong Energy End-use Data. 2023</a:t>
              </a:r>
              <a:endParaRPr lang="en-HK" altLang="en-US" sz="820" i="1" dirty="0">
                <a:solidFill>
                  <a:prstClr val="black"/>
                </a:solidFill>
                <a:latin typeface="Times New Roman" panose="020B0604020202020204" pitchFamily="34" charset="0"/>
                <a:ea typeface="SimSun"/>
                <a:cs typeface="Times New Roman" panose="020B0604020202020204" pitchFamily="34" charset="0"/>
              </a:endParaRPr>
            </a:p>
          </p:txBody>
        </p:sp>
        <p:sp>
          <p:nvSpPr>
            <p:cNvPr id="30" name="Rectangle 18">
              <a:extLst>
                <a:ext uri="{FF2B5EF4-FFF2-40B4-BE49-F238E27FC236}">
                  <a16:creationId xmlns:a16="http://schemas.microsoft.com/office/drawing/2014/main" id="{42A46E62-DD70-4B57-AEA1-D6CF1A17DDD1}"/>
                </a:ext>
              </a:extLst>
            </p:cNvPr>
            <p:cNvSpPr/>
            <p:nvPr/>
          </p:nvSpPr>
          <p:spPr>
            <a:xfrm>
              <a:off x="3033996" y="6243421"/>
              <a:ext cx="6444397" cy="369332"/>
            </a:xfrm>
            <a:prstGeom prst="rect">
              <a:avLst/>
            </a:prstGeom>
          </p:spPr>
          <p:txBody>
            <a:bodyPr wrap="square">
              <a:spAutoFit/>
            </a:bodyPr>
            <a:lstStyle>
              <a:defPPr>
                <a:defRPr lang="zh-CN">
                  <a:latin typeface="Times New Roman"/>
                  <a:ea typeface="SimSun"/>
                  <a:cs typeface="Times New Roman"/>
                </a:defRPr>
              </a:defPPr>
              <a:lvl1pPr marL="0" algn="l" defTabSz="914400" rtl="0" eaLnBrk="1" latinLnBrk="0" hangingPunct="1">
                <a:defRPr sz="1476" kern="1200">
                  <a:solidFill>
                    <a:schemeClr val="tx1"/>
                  </a:solidFill>
                  <a:latin typeface="Times New Roman"/>
                  <a:ea typeface="SimSun"/>
                  <a:cs typeface="Times New Roman"/>
                </a:defRPr>
              </a:lvl1pPr>
              <a:lvl2pPr marL="457200" algn="l" defTabSz="914400" rtl="0" eaLnBrk="1" latinLnBrk="0" hangingPunct="1">
                <a:defRPr sz="1476" kern="1200">
                  <a:solidFill>
                    <a:schemeClr val="tx1"/>
                  </a:solidFill>
                  <a:latin typeface="Times New Roman"/>
                  <a:ea typeface="SimSun"/>
                  <a:cs typeface="Times New Roman"/>
                </a:defRPr>
              </a:lvl2pPr>
              <a:lvl3pPr marL="914400" algn="l" defTabSz="914400" rtl="0" eaLnBrk="1" latinLnBrk="0" hangingPunct="1">
                <a:defRPr sz="1476" kern="1200">
                  <a:solidFill>
                    <a:schemeClr val="tx1"/>
                  </a:solidFill>
                  <a:latin typeface="Times New Roman"/>
                  <a:ea typeface="SimSun"/>
                  <a:cs typeface="Times New Roman"/>
                </a:defRPr>
              </a:lvl3pPr>
              <a:lvl4pPr marL="1371600" algn="l" defTabSz="914400" rtl="0" eaLnBrk="1" latinLnBrk="0" hangingPunct="1">
                <a:defRPr sz="1476" kern="1200">
                  <a:solidFill>
                    <a:schemeClr val="tx1"/>
                  </a:solidFill>
                  <a:latin typeface="Times New Roman"/>
                  <a:ea typeface="SimSun"/>
                  <a:cs typeface="Times New Roman"/>
                </a:defRPr>
              </a:lvl4pPr>
              <a:lvl5pPr marL="1828800" algn="l" defTabSz="914400" rtl="0" eaLnBrk="1" latinLnBrk="0" hangingPunct="1">
                <a:defRPr sz="1476" kern="1200">
                  <a:solidFill>
                    <a:schemeClr val="tx1"/>
                  </a:solidFill>
                  <a:latin typeface="Times New Roman"/>
                  <a:ea typeface="SimSun"/>
                  <a:cs typeface="Times New Roman"/>
                </a:defRPr>
              </a:lvl5pPr>
              <a:lvl6pPr marL="2286000" algn="l" defTabSz="914400" rtl="0" eaLnBrk="1" latinLnBrk="0" hangingPunct="1">
                <a:defRPr sz="1476" kern="1200">
                  <a:solidFill>
                    <a:schemeClr val="tx1"/>
                  </a:solidFill>
                  <a:latin typeface="Times New Roman"/>
                  <a:ea typeface="SimSun"/>
                  <a:cs typeface="Times New Roman"/>
                </a:defRPr>
              </a:lvl6pPr>
              <a:lvl7pPr marL="2743200" algn="l" defTabSz="914400" rtl="0" eaLnBrk="1" latinLnBrk="0" hangingPunct="1">
                <a:defRPr sz="1476" kern="1200">
                  <a:solidFill>
                    <a:schemeClr val="tx1"/>
                  </a:solidFill>
                  <a:latin typeface="Times New Roman"/>
                  <a:ea typeface="SimSun"/>
                  <a:cs typeface="Times New Roman"/>
                </a:defRPr>
              </a:lvl7pPr>
              <a:lvl8pPr marL="3200400" algn="l" defTabSz="914400" rtl="0" eaLnBrk="1" latinLnBrk="0" hangingPunct="1">
                <a:defRPr sz="1476" kern="1200">
                  <a:solidFill>
                    <a:schemeClr val="tx1"/>
                  </a:solidFill>
                  <a:latin typeface="Times New Roman"/>
                  <a:ea typeface="SimSun"/>
                  <a:cs typeface="Times New Roman"/>
                </a:defRPr>
              </a:lvl8pPr>
              <a:lvl9pPr marL="3657600" algn="l" defTabSz="914400" rtl="0" eaLnBrk="1" latinLnBrk="0" hangingPunct="1">
                <a:defRPr sz="1476" kern="1200">
                  <a:solidFill>
                    <a:schemeClr val="tx1"/>
                  </a:solidFill>
                  <a:latin typeface="Times New Roman"/>
                  <a:ea typeface="SimSun"/>
                  <a:cs typeface="Times New Roman"/>
                </a:defRPr>
              </a:lvl9pPr>
            </a:lstStyle>
            <a:p>
              <a:pPr algn="ctr" fontAlgn="auto">
                <a:spcBef>
                  <a:spcPts val="0"/>
                </a:spcBef>
                <a:spcAft>
                  <a:spcPts val="0"/>
                </a:spcAft>
              </a:pPr>
              <a:r>
                <a:rPr lang="en-US" b="1" dirty="0">
                  <a:solidFill>
                    <a:prstClr val="black"/>
                  </a:solidFill>
                  <a:latin typeface="Times New Roman" panose="02020603050405020304" pitchFamily="18" charset="0"/>
                  <a:ea typeface="SimSun"/>
                  <a:cs typeface="Times New Roman" panose="02020603050405020304" pitchFamily="18" charset="0"/>
                </a:rPr>
                <a:t>Seek </a:t>
              </a:r>
              <a:r>
                <a:rPr lang="en-US" b="1" dirty="0">
                  <a:latin typeface="Times New Roman" panose="02020603050405020304" pitchFamily="18" charset="0"/>
                  <a:ea typeface="SimSun"/>
                  <a:cs typeface="Times New Roman" panose="02020603050405020304" pitchFamily="18" charset="0"/>
                </a:rPr>
                <a:t>for environmental friendly technology </a:t>
              </a:r>
              <a:r>
                <a:rPr lang="en-US" b="1" dirty="0">
                  <a:solidFill>
                    <a:prstClr val="black"/>
                  </a:solidFill>
                  <a:latin typeface="Times New Roman" panose="02020603050405020304" pitchFamily="18" charset="0"/>
                  <a:ea typeface="SimSun"/>
                  <a:cs typeface="Times New Roman" panose="02020603050405020304" pitchFamily="18" charset="0"/>
                </a:rPr>
                <a:t>for </a:t>
              </a:r>
              <a:r>
                <a:rPr lang="en-US" b="1" dirty="0">
                  <a:solidFill>
                    <a:srgbClr val="C00000"/>
                  </a:solidFill>
                  <a:latin typeface="Times New Roman" panose="02020603050405020304" pitchFamily="18" charset="0"/>
                  <a:ea typeface="SimSun"/>
                  <a:cs typeface="Times New Roman" panose="02020603050405020304" pitchFamily="18" charset="0"/>
                </a:rPr>
                <a:t>cooling</a:t>
              </a:r>
            </a:p>
          </p:txBody>
        </p:sp>
        <p:sp>
          <p:nvSpPr>
            <p:cNvPr id="31" name="圆角矩形 44">
              <a:extLst>
                <a:ext uri="{FF2B5EF4-FFF2-40B4-BE49-F238E27FC236}">
                  <a16:creationId xmlns:a16="http://schemas.microsoft.com/office/drawing/2014/main" id="{F21C7A4B-900A-4EC1-9FAD-679EE6457F62}"/>
                </a:ext>
              </a:extLst>
            </p:cNvPr>
            <p:cNvSpPr/>
            <p:nvPr/>
          </p:nvSpPr>
          <p:spPr>
            <a:xfrm>
              <a:off x="3189624" y="6138939"/>
              <a:ext cx="6240945" cy="615497"/>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476" kern="0">
                <a:solidFill>
                  <a:prstClr val="white"/>
                </a:solidFill>
                <a:latin typeface="Times New Roman"/>
                <a:ea typeface="SimSun"/>
                <a:cs typeface="Times New Roman"/>
              </a:endParaRPr>
            </a:p>
          </p:txBody>
        </p:sp>
      </p:grpSp>
      <p:sp>
        <p:nvSpPr>
          <p:cNvPr id="64"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中文要点｜建筑制冷能耗</a:t>
            </a:r>
          </a:p>
          <a:p>
            <a:pPr>
              <a:lnSpc>
                <a:spcPct val="108000"/>
              </a:lnSpc>
              <a:spcAft>
                <a:spcPts val="0"/>
              </a:spcAft>
            </a:pPr>
            <a:r>
              <a:rPr sz="1400" b="0">
                <a:solidFill>
                  <a:srgbClr val="282828"/>
                </a:solidFill>
                <a:latin typeface="Times New Roman"/>
                <a:ea typeface="SimSun"/>
                <a:cs typeface="Times New Roman"/>
              </a:rPr>
              <a:t>中国制冷能耗约占全球的五分之一；香港过去十年空调用电增长 </a:t>
            </a:r>
            <a:r>
              <a:rPr sz="1400" b="1">
                <a:solidFill>
                  <a:srgbClr val="282828"/>
                </a:solidFill>
                <a:latin typeface="Times New Roman"/>
                <a:ea typeface="SimSun"/>
                <a:cs typeface="Times New Roman"/>
              </a:rPr>
              <a:t>29%</a:t>
            </a:r>
            <a:r>
              <a:rPr sz="1400" b="0">
                <a:solidFill>
                  <a:srgbClr val="282828"/>
                </a:solidFill>
                <a:latin typeface="Times New Roman"/>
                <a:ea typeface="SimSun"/>
                <a:cs typeface="Times New Roman"/>
              </a:rPr>
              <a:t>。发展高效、环保的制冷技术十分必要。</a:t>
            </a:r>
          </a:p>
        </p:txBody>
      </p:sp>
    </p:spTree>
    <p:extLst>
      <p:ext uri="{BB962C8B-B14F-4D97-AF65-F5344CB8AC3E}">
        <p14:creationId xmlns:p14="http://schemas.microsoft.com/office/powerpoint/2010/main" val="166296069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arn(inVertical)">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E66AE7F-39D1-46F6-9803-1881DC508F2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a:t>
            </a:fld>
            <a:endParaRPr lang="en-US" altLang="zh-CN">
              <a:latin typeface="Times New Roman"/>
              <a:ea typeface="SimSun"/>
              <a:cs typeface="Times New Roman"/>
            </a:endParaRPr>
          </a:p>
        </p:txBody>
      </p:sp>
      <p:sp>
        <p:nvSpPr>
          <p:cNvPr id="21" name="Title 8">
            <a:extLst>
              <a:ext uri="{FF2B5EF4-FFF2-40B4-BE49-F238E27FC236}">
                <a16:creationId xmlns:a16="http://schemas.microsoft.com/office/drawing/2014/main" id="{62444E56-741C-49A3-896F-6AB341798218}"/>
              </a:ext>
            </a:extLst>
          </p:cNvPr>
          <p:cNvSpPr txBox="1">
            <a:spLocks/>
          </p:cNvSpPr>
          <p:nvPr/>
        </p:nvSpPr>
        <p:spPr bwMode="auto">
          <a:xfrm>
            <a:off x="882545" y="259531"/>
            <a:ext cx="83820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spcBef>
                <a:spcPts val="0"/>
              </a:spcBef>
              <a:spcAft>
                <a:spcPts val="0"/>
              </a:spcAft>
            </a:pPr>
            <a:r>
              <a:rPr lang="en-US" b="1" dirty="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spcBef>
                <a:spcPts val="0"/>
              </a:spcBef>
              <a:spcAft>
                <a:spcPts val="0"/>
              </a:spcAft>
            </a:pPr>
            <a:endParaRPr lang="en-US" sz="2000" b="1" dirty="0">
              <a:solidFill>
                <a:srgbClr val="000000"/>
              </a:solidFill>
              <a:latin typeface="Times New Roman"/>
              <a:ea typeface="SimSun"/>
              <a:cs typeface="Times New Roman" charset="0"/>
            </a:endParaRPr>
          </a:p>
        </p:txBody>
      </p:sp>
      <p:grpSp>
        <p:nvGrpSpPr>
          <p:cNvPr id="22" name="Original English content (proportional layout)"/>
          <p:cNvGrpSpPr/>
          <p:nvPr/>
        </p:nvGrpSpPr>
        <p:grpSpPr>
          <a:xfrm>
            <a:off x="1097280" y="731520"/>
            <a:ext cx="9997440" cy="5023714"/>
            <a:chOff x="0" y="731520"/>
            <a:chExt cx="12192000" cy="6126480"/>
          </a:xfrm>
        </p:grpSpPr>
        <p:sp>
          <p:nvSpPr>
            <p:cNvPr id="7" name="文本框 6">
              <a:extLst>
                <a:ext uri="{FF2B5EF4-FFF2-40B4-BE49-F238E27FC236}">
                  <a16:creationId xmlns:a16="http://schemas.microsoft.com/office/drawing/2014/main" id="{EA60AB70-41C4-4C00-8D30-E49B8D960DA7}"/>
                </a:ext>
              </a:extLst>
            </p:cNvPr>
            <p:cNvSpPr txBox="1"/>
            <p:nvPr/>
          </p:nvSpPr>
          <p:spPr>
            <a:xfrm>
              <a:off x="386754" y="935893"/>
              <a:ext cx="6867071"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1.2 Development of indirect evaporative cooling (IEC)</a:t>
              </a:r>
            </a:p>
          </p:txBody>
        </p:sp>
        <p:sp>
          <p:nvSpPr>
            <p:cNvPr id="8" name="文本框 7">
              <a:extLst>
                <a:ext uri="{FF2B5EF4-FFF2-40B4-BE49-F238E27FC236}">
                  <a16:creationId xmlns:a16="http://schemas.microsoft.com/office/drawing/2014/main" id="{57946878-A9AF-49F9-845B-00C79F50A193}"/>
                </a:ext>
              </a:extLst>
            </p:cNvPr>
            <p:cNvSpPr txBox="1"/>
            <p:nvPr/>
          </p:nvSpPr>
          <p:spPr>
            <a:xfrm>
              <a:off x="978030" y="2059893"/>
              <a:ext cx="6102652" cy="646331"/>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476" b="1" dirty="0">
                  <a:solidFill>
                    <a:prstClr val="black"/>
                  </a:solidFill>
                  <a:latin typeface="Times New Roman" panose="02020603050405020304" pitchFamily="18" charset="0"/>
                  <a:ea typeface="SimSun"/>
                  <a:cs typeface="Times New Roman" panose="02020603050405020304" pitchFamily="18" charset="0"/>
                </a:rPr>
                <a:t>Conventional IEC: </a:t>
              </a:r>
              <a:r>
                <a:rPr lang="en-HK" sz="1476" dirty="0">
                  <a:solidFill>
                    <a:prstClr val="black"/>
                  </a:solidFill>
                  <a:latin typeface="Times New Roman" panose="02020603050405020304" pitchFamily="18" charset="0"/>
                  <a:ea typeface="SimSun"/>
                  <a:cs typeface="Times New Roman" panose="02020603050405020304" pitchFamily="18" charset="0"/>
                </a:rPr>
                <a:t>for sensible cooling-dominant buildings under </a:t>
              </a:r>
              <a:r>
                <a:rPr lang="en-HK" sz="1476" dirty="0">
                  <a:solidFill>
                    <a:srgbClr val="C00000"/>
                  </a:solidFill>
                  <a:latin typeface="Times New Roman" panose="02020603050405020304" pitchFamily="18" charset="0"/>
                  <a:ea typeface="SimSun"/>
                  <a:cs typeface="Times New Roman" panose="02020603050405020304" pitchFamily="18" charset="0"/>
                </a:rPr>
                <a:t>dry climates.</a:t>
              </a:r>
            </a:p>
          </p:txBody>
        </p:sp>
        <p:pic>
          <p:nvPicPr>
            <p:cNvPr id="9" name="图片 8">
              <a:extLst>
                <a:ext uri="{FF2B5EF4-FFF2-40B4-BE49-F238E27FC236}">
                  <a16:creationId xmlns:a16="http://schemas.microsoft.com/office/drawing/2014/main" id="{1C454FAB-55F7-4E97-9EC7-976100049800}"/>
                </a:ext>
              </a:extLst>
            </p:cNvPr>
            <p:cNvPicPr>
              <a:picLocks noChangeAspect="1"/>
            </p:cNvPicPr>
            <p:nvPr/>
          </p:nvPicPr>
          <p:blipFill>
            <a:blip r:embed="rId3"/>
            <a:stretch>
              <a:fillRect/>
            </a:stretch>
          </p:blipFill>
          <p:spPr>
            <a:xfrm>
              <a:off x="7579339" y="1020824"/>
              <a:ext cx="3459521" cy="2393092"/>
            </a:xfrm>
            <a:prstGeom prst="rect">
              <a:avLst/>
            </a:prstGeom>
          </p:spPr>
        </p:pic>
        <p:sp>
          <p:nvSpPr>
            <p:cNvPr id="10" name="文本框 9">
              <a:extLst>
                <a:ext uri="{FF2B5EF4-FFF2-40B4-BE49-F238E27FC236}">
                  <a16:creationId xmlns:a16="http://schemas.microsoft.com/office/drawing/2014/main" id="{139F39C9-1B87-4875-9CAD-E40F11DAA6E0}"/>
                </a:ext>
              </a:extLst>
            </p:cNvPr>
            <p:cNvSpPr txBox="1"/>
            <p:nvPr/>
          </p:nvSpPr>
          <p:spPr>
            <a:xfrm>
              <a:off x="978030" y="2877074"/>
              <a:ext cx="6116890"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476" b="1" dirty="0">
                  <a:solidFill>
                    <a:prstClr val="black"/>
                  </a:solidFill>
                  <a:latin typeface="Times New Roman" panose="02020603050405020304" pitchFamily="18" charset="0"/>
                  <a:ea typeface="SimSun"/>
                  <a:cs typeface="Times New Roman" panose="02020603050405020304" pitchFamily="18" charset="0"/>
                </a:rPr>
                <a:t>Updated IEC: </a:t>
              </a:r>
              <a:r>
                <a:rPr lang="en-HK" sz="1476" dirty="0">
                  <a:solidFill>
                    <a:prstClr val="black"/>
                  </a:solidFill>
                  <a:latin typeface="Times New Roman" panose="02020603050405020304" pitchFamily="18" charset="0"/>
                  <a:ea typeface="SimSun"/>
                  <a:cs typeface="Times New Roman" panose="02020603050405020304" pitchFamily="18" charset="0"/>
                </a:rPr>
                <a:t>for energy recovery in </a:t>
              </a:r>
              <a:r>
                <a:rPr lang="en-HK" sz="1476" dirty="0">
                  <a:solidFill>
                    <a:srgbClr val="C00000"/>
                  </a:solidFill>
                  <a:latin typeface="Times New Roman" panose="02020603050405020304" pitchFamily="18" charset="0"/>
                  <a:ea typeface="SimSun"/>
                  <a:cs typeface="Times New Roman" panose="02020603050405020304" pitchFamily="18" charset="0"/>
                </a:rPr>
                <a:t>hot and humid regions.</a:t>
              </a:r>
            </a:p>
          </p:txBody>
        </p:sp>
        <p:pic>
          <p:nvPicPr>
            <p:cNvPr id="11" name="图片 10">
              <a:extLst>
                <a:ext uri="{FF2B5EF4-FFF2-40B4-BE49-F238E27FC236}">
                  <a16:creationId xmlns:a16="http://schemas.microsoft.com/office/drawing/2014/main" id="{6C167412-4EB0-46B9-9050-AE92F86F961B}"/>
                </a:ext>
              </a:extLst>
            </p:cNvPr>
            <p:cNvPicPr>
              <a:picLocks noChangeAspect="1"/>
            </p:cNvPicPr>
            <p:nvPr/>
          </p:nvPicPr>
          <p:blipFill>
            <a:blip r:embed="rId4"/>
            <a:stretch>
              <a:fillRect/>
            </a:stretch>
          </p:blipFill>
          <p:spPr>
            <a:xfrm>
              <a:off x="1164472" y="3719757"/>
              <a:ext cx="5708644" cy="1980000"/>
            </a:xfrm>
            <a:prstGeom prst="rect">
              <a:avLst/>
            </a:prstGeom>
          </p:spPr>
        </p:pic>
        <p:sp>
          <p:nvSpPr>
            <p:cNvPr id="12" name="矩形 11">
              <a:extLst>
                <a:ext uri="{FF2B5EF4-FFF2-40B4-BE49-F238E27FC236}">
                  <a16:creationId xmlns:a16="http://schemas.microsoft.com/office/drawing/2014/main" id="{3BFBECD2-63D3-4D41-B32B-6D1470A4DA26}"/>
                </a:ext>
              </a:extLst>
            </p:cNvPr>
            <p:cNvSpPr/>
            <p:nvPr/>
          </p:nvSpPr>
          <p:spPr>
            <a:xfrm>
              <a:off x="822338" y="1292040"/>
              <a:ext cx="6502840" cy="646331"/>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The IEC technology is a green and energy-saving technology that uses </a:t>
              </a:r>
              <a:r>
                <a:rPr lang="en-HK" sz="1476" dirty="0">
                  <a:solidFill>
                    <a:srgbClr val="C00000"/>
                  </a:solidFill>
                  <a:latin typeface="Times New Roman" panose="02020603050405020304" pitchFamily="18" charset="0"/>
                  <a:ea typeface="SimSun"/>
                  <a:cs typeface="Times New Roman" panose="02020603050405020304" pitchFamily="18" charset="0"/>
                </a:rPr>
                <a:t>water</a:t>
              </a:r>
              <a:r>
                <a:rPr lang="en-HK" sz="1476" dirty="0">
                  <a:solidFill>
                    <a:prstClr val="black"/>
                  </a:solidFill>
                  <a:latin typeface="Times New Roman" panose="02020603050405020304" pitchFamily="18" charset="0"/>
                  <a:ea typeface="SimSun"/>
                  <a:cs typeface="Times New Roman" panose="02020603050405020304" pitchFamily="18" charset="0"/>
                </a:rPr>
                <a:t> to </a:t>
              </a:r>
              <a:r>
                <a:rPr lang="en-HK" sz="1476" dirty="0">
                  <a:solidFill>
                    <a:srgbClr val="C00000"/>
                  </a:solidFill>
                  <a:latin typeface="Times New Roman" panose="02020603050405020304" pitchFamily="18" charset="0"/>
                  <a:ea typeface="SimSun"/>
                  <a:cs typeface="Times New Roman" panose="02020603050405020304" pitchFamily="18" charset="0"/>
                </a:rPr>
                <a:t>evaporate</a:t>
              </a:r>
              <a:r>
                <a:rPr lang="en-HK" sz="1476" dirty="0">
                  <a:solidFill>
                    <a:prstClr val="black"/>
                  </a:solidFill>
                  <a:latin typeface="Times New Roman" panose="02020603050405020304" pitchFamily="18" charset="0"/>
                  <a:ea typeface="SimSun"/>
                  <a:cs typeface="Times New Roman" panose="02020603050405020304" pitchFamily="18" charset="0"/>
                </a:rPr>
                <a:t> and absorb heat for cooling.</a:t>
              </a:r>
            </a:p>
          </p:txBody>
        </p:sp>
        <p:sp>
          <p:nvSpPr>
            <p:cNvPr id="13" name="矩形 12">
              <a:extLst>
                <a:ext uri="{FF2B5EF4-FFF2-40B4-BE49-F238E27FC236}">
                  <a16:creationId xmlns:a16="http://schemas.microsoft.com/office/drawing/2014/main" id="{CD0DF357-23A7-4ED1-9E7C-FF2280E96EFC}"/>
                </a:ext>
              </a:extLst>
            </p:cNvPr>
            <p:cNvSpPr/>
            <p:nvPr/>
          </p:nvSpPr>
          <p:spPr>
            <a:xfrm>
              <a:off x="7690096" y="4114392"/>
              <a:ext cx="3214535" cy="646331"/>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476" b="1" dirty="0">
                  <a:solidFill>
                    <a:prstClr val="black"/>
                  </a:solidFill>
                  <a:latin typeface="Times New Roman" panose="02020603050405020304" pitchFamily="18" charset="0"/>
                  <a:ea typeface="SimSun"/>
                  <a:cs typeface="Times New Roman" panose="02020603050405020304" pitchFamily="18" charset="0"/>
                </a:rPr>
                <a:t>Key point: </a:t>
              </a:r>
              <a:r>
                <a:rPr lang="en-HK" sz="1476" dirty="0">
                  <a:solidFill>
                    <a:prstClr val="black"/>
                  </a:solidFill>
                  <a:latin typeface="Times New Roman" panose="02020603050405020304" pitchFamily="18" charset="0"/>
                  <a:ea typeface="SimSun"/>
                  <a:cs typeface="Times New Roman" panose="02020603050405020304" pitchFamily="18" charset="0"/>
                </a:rPr>
                <a:t>the </a:t>
              </a:r>
              <a:r>
                <a:rPr lang="en-US" altLang="zh-CN" sz="1476" dirty="0">
                  <a:solidFill>
                    <a:prstClr val="black"/>
                  </a:solidFill>
                  <a:latin typeface="Times New Roman" panose="02020603050405020304" pitchFamily="18" charset="0"/>
                  <a:ea typeface="SimSun"/>
                  <a:cs typeface="Times New Roman" panose="02020603050405020304" pitchFamily="18" charset="0"/>
                </a:rPr>
                <a:t>process of </a:t>
              </a:r>
              <a:r>
                <a:rPr lang="en-HK" sz="1476" dirty="0">
                  <a:solidFill>
                    <a:prstClr val="black"/>
                  </a:solidFill>
                  <a:latin typeface="Times New Roman" panose="02020603050405020304" pitchFamily="18" charset="0"/>
                  <a:ea typeface="SimSun"/>
                  <a:cs typeface="Times New Roman" panose="02020603050405020304" pitchFamily="18" charset="0"/>
                </a:rPr>
                <a:t>evaporation of water into air.  </a:t>
              </a:r>
            </a:p>
          </p:txBody>
        </p:sp>
        <p:sp>
          <p:nvSpPr>
            <p:cNvPr id="14" name="矩形 13">
              <a:extLst>
                <a:ext uri="{FF2B5EF4-FFF2-40B4-BE49-F238E27FC236}">
                  <a16:creationId xmlns:a16="http://schemas.microsoft.com/office/drawing/2014/main" id="{B42C4010-8AF0-4BD0-A3CC-94D27DF8E5FB}"/>
                </a:ext>
              </a:extLst>
            </p:cNvPr>
            <p:cNvSpPr/>
            <p:nvPr/>
          </p:nvSpPr>
          <p:spPr>
            <a:xfrm>
              <a:off x="1828869" y="6455109"/>
              <a:ext cx="8534263" cy="246221"/>
            </a:xfrm>
            <a:prstGeom prst="rect">
              <a:avLst/>
            </a:prstGeom>
          </p:spPr>
          <p:txBody>
            <a:bodyPr wrap="square">
              <a:spAutoFit/>
            </a:bodyPr>
            <a:lstStyle/>
            <a:p>
              <a:pPr algn="ctr" defTabSz="457200" eaLnBrk="1" fontAlgn="auto" hangingPunct="1">
                <a:spcAft>
                  <a:spcPts val="0"/>
                </a:spcAft>
              </a:pPr>
              <a:r>
                <a:rPr lang="en-HK" altLang="en-US" sz="820" i="1" dirty="0">
                  <a:solidFill>
                    <a:prstClr val="black"/>
                  </a:solidFill>
                  <a:latin typeface="Times New Roman" panose="020B0604020202020204" pitchFamily="34" charset="0"/>
                  <a:ea typeface="SimSun"/>
                  <a:cs typeface="Times New Roman" panose="020B0604020202020204" pitchFamily="34" charset="0"/>
                </a:rPr>
                <a:t>S</a:t>
              </a:r>
              <a:r>
                <a:rPr lang="en-US" altLang="zh-CN" sz="82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82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A statistical </a:t>
              </a:r>
              <a:r>
                <a:rPr lang="en-HK" altLang="zh-CN" sz="82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modeling</a:t>
              </a:r>
              <a:r>
                <a:rPr lang="en-HK" altLang="zh-CN" sz="82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approach on the performance prediction of indirect evaporative cooling energy recovery systems. 2019 </a:t>
              </a:r>
              <a:endParaRPr lang="en-HK" altLang="en-US" sz="820" i="1" dirty="0">
                <a:solidFill>
                  <a:prstClr val="black"/>
                </a:solidFill>
                <a:latin typeface="Times New Roman" panose="020B0604020202020204" pitchFamily="34" charset="0"/>
                <a:ea typeface="SimSun"/>
                <a:cs typeface="Times New Roman" panose="020B0604020202020204" pitchFamily="34" charset="0"/>
              </a:endParaRPr>
            </a:p>
          </p:txBody>
        </p:sp>
        <p:sp>
          <p:nvSpPr>
            <p:cNvPr id="16" name="矩形 15">
              <a:extLst>
                <a:ext uri="{FF2B5EF4-FFF2-40B4-BE49-F238E27FC236}">
                  <a16:creationId xmlns:a16="http://schemas.microsoft.com/office/drawing/2014/main" id="{22ABFBB9-871B-4085-A46D-679911E48F7B}"/>
                </a:ext>
              </a:extLst>
            </p:cNvPr>
            <p:cNvSpPr/>
            <p:nvPr/>
          </p:nvSpPr>
          <p:spPr>
            <a:xfrm>
              <a:off x="7949152" y="3430356"/>
              <a:ext cx="3209533" cy="492443"/>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Fig.1.2.1 </a:t>
              </a:r>
              <a:r>
                <a:rPr lang="en-HK" sz="984" dirty="0">
                  <a:solidFill>
                    <a:prstClr val="black"/>
                  </a:solidFill>
                  <a:latin typeface="Times New Roman" panose="02020603050405020304" pitchFamily="18" charset="0"/>
                  <a:ea typeface="SimSun"/>
                  <a:cs typeface="Times New Roman" panose="02020603050405020304" pitchFamily="18" charset="0"/>
                </a:rPr>
                <a:t>Schematic diagram of a traditional IEC</a:t>
              </a:r>
            </a:p>
            <a:p>
              <a:pPr defTabSz="457200" eaLnBrk="1" fontAlgn="auto" hangingPunct="1">
                <a:spcBef>
                  <a:spcPts val="0"/>
                </a:spcBef>
                <a:spcAft>
                  <a:spcPts val="0"/>
                </a:spcAft>
              </a:pPr>
              <a:endParaRPr lang="en-HK" sz="1148" dirty="0">
                <a:solidFill>
                  <a:prstClr val="black"/>
                </a:solidFill>
                <a:latin typeface="Times New Roman" panose="020B0604020202020204" pitchFamily="34" charset="0"/>
                <a:ea typeface="SimSun"/>
                <a:cs typeface="Times New Roman" panose="020B0604020202020204" pitchFamily="34" charset="0"/>
              </a:endParaRPr>
            </a:p>
          </p:txBody>
        </p:sp>
        <p:sp>
          <p:nvSpPr>
            <p:cNvPr id="17" name="矩形 16">
              <a:extLst>
                <a:ext uri="{FF2B5EF4-FFF2-40B4-BE49-F238E27FC236}">
                  <a16:creationId xmlns:a16="http://schemas.microsoft.com/office/drawing/2014/main" id="{4CE88D99-8FF1-4BB2-80F5-5D2C72231F59}"/>
                </a:ext>
              </a:extLst>
            </p:cNvPr>
            <p:cNvSpPr/>
            <p:nvPr/>
          </p:nvSpPr>
          <p:spPr>
            <a:xfrm>
              <a:off x="2192731" y="5754065"/>
              <a:ext cx="3673250" cy="492443"/>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Fig.1.2.2 </a:t>
              </a:r>
              <a:r>
                <a:rPr lang="en-HK" sz="984" dirty="0">
                  <a:solidFill>
                    <a:prstClr val="black"/>
                  </a:solidFill>
                  <a:latin typeface="Times New Roman" panose="02020603050405020304" pitchFamily="18" charset="0"/>
                  <a:ea typeface="SimSun"/>
                  <a:cs typeface="Times New Roman" panose="02020603050405020304" pitchFamily="18" charset="0"/>
                </a:rPr>
                <a:t>System diagram of an IEC for energy recovery</a:t>
              </a:r>
            </a:p>
            <a:p>
              <a:pPr defTabSz="457200" eaLnBrk="1" fontAlgn="auto" hangingPunct="1">
                <a:spcBef>
                  <a:spcPts val="0"/>
                </a:spcBef>
                <a:spcAft>
                  <a:spcPts val="0"/>
                </a:spcAft>
              </a:pPr>
              <a:endParaRPr lang="en-HK" sz="1148" dirty="0">
                <a:solidFill>
                  <a:prstClr val="black"/>
                </a:solidFill>
                <a:latin typeface="Times New Roman" panose="020B0604020202020204" pitchFamily="34" charset="0"/>
                <a:ea typeface="SimSun"/>
                <a:cs typeface="Times New Roman" panose="020B0604020202020204" pitchFamily="34" charset="0"/>
              </a:endParaRPr>
            </a:p>
          </p:txBody>
        </p:sp>
        <p:sp>
          <p:nvSpPr>
            <p:cNvPr id="19" name="圆角矩形 44">
              <a:extLst>
                <a:ext uri="{FF2B5EF4-FFF2-40B4-BE49-F238E27FC236}">
                  <a16:creationId xmlns:a16="http://schemas.microsoft.com/office/drawing/2014/main" id="{40DE1E30-75F0-43E9-BAA7-7AE86F43BB84}"/>
                </a:ext>
              </a:extLst>
            </p:cNvPr>
            <p:cNvSpPr/>
            <p:nvPr/>
          </p:nvSpPr>
          <p:spPr>
            <a:xfrm>
              <a:off x="7704333" y="4047766"/>
              <a:ext cx="3209533" cy="852578"/>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476" kern="0">
                <a:solidFill>
                  <a:prstClr val="white"/>
                </a:solidFill>
                <a:latin typeface="Times New Roman"/>
                <a:ea typeface="SimSun"/>
                <a:cs typeface="Times New Roman"/>
              </a:endParaRPr>
            </a:p>
          </p:txBody>
        </p:sp>
        <p:sp>
          <p:nvSpPr>
            <p:cNvPr id="2" name="文本框 1">
              <a:extLst>
                <a:ext uri="{FF2B5EF4-FFF2-40B4-BE49-F238E27FC236}">
                  <a16:creationId xmlns:a16="http://schemas.microsoft.com/office/drawing/2014/main" id="{5206DD3F-AB6C-4127-9134-1BFC5812D031}"/>
                </a:ext>
              </a:extLst>
            </p:cNvPr>
            <p:cNvSpPr txBox="1"/>
            <p:nvPr/>
          </p:nvSpPr>
          <p:spPr>
            <a:xfrm>
              <a:off x="8675260" y="5419740"/>
              <a:ext cx="1854978" cy="461665"/>
            </a:xfrm>
            <a:prstGeom prst="rect">
              <a:avLst/>
            </a:prstGeom>
            <a:noFill/>
          </p:spPr>
          <p:txBody>
            <a:bodyPr wrap="square" rtlCol="0">
              <a:spAutoFit/>
            </a:bodyPr>
            <a:lstStyle/>
            <a:p>
              <a:r>
                <a:rPr lang="en-HK" b="1" i="1" dirty="0">
                  <a:solidFill>
                    <a:srgbClr val="C00000"/>
                  </a:solidFill>
                  <a:latin typeface="Times New Roman" panose="02020603050405020304" pitchFamily="18" charset="0"/>
                  <a:ea typeface="SimSun"/>
                  <a:cs typeface="Times New Roman" panose="02020603050405020304" pitchFamily="18" charset="0"/>
                </a:rPr>
                <a:t>Enhanced!</a:t>
              </a:r>
            </a:p>
          </p:txBody>
        </p:sp>
        <p:sp>
          <p:nvSpPr>
            <p:cNvPr id="3" name="箭头: 下 2">
              <a:extLst>
                <a:ext uri="{FF2B5EF4-FFF2-40B4-BE49-F238E27FC236}">
                  <a16:creationId xmlns:a16="http://schemas.microsoft.com/office/drawing/2014/main" id="{25EAB784-FFDA-4CA2-A466-A53200F0FCFE}"/>
                </a:ext>
              </a:extLst>
            </p:cNvPr>
            <p:cNvSpPr/>
            <p:nvPr/>
          </p:nvSpPr>
          <p:spPr bwMode="auto">
            <a:xfrm>
              <a:off x="9273141" y="5003051"/>
              <a:ext cx="184826" cy="400249"/>
            </a:xfrm>
            <a:prstGeom prst="down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a:solidFill>
                  <a:schemeClr val="bg2"/>
                </a:solidFill>
                <a:latin typeface="Times New Roman" charset="0"/>
                <a:ea typeface="SimSun"/>
                <a:cs typeface="Times New Roman"/>
              </a:endParaRPr>
            </a:p>
          </p:txBody>
        </p:sp>
      </p:grpSp>
      <p:sp>
        <p:nvSpPr>
          <p:cNvPr id="23"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中文要点｜间接蒸发冷却技术</a:t>
            </a:r>
          </a:p>
          <a:p>
            <a:pPr>
              <a:lnSpc>
                <a:spcPct val="108000"/>
              </a:lnSpc>
              <a:spcAft>
                <a:spcPts val="0"/>
              </a:spcAft>
            </a:pPr>
            <a:r>
              <a:rPr sz="1400" b="0">
                <a:solidFill>
                  <a:srgbClr val="282828"/>
                </a:solidFill>
                <a:latin typeface="Times New Roman"/>
                <a:ea typeface="SimSun"/>
                <a:cs typeface="Times New Roman"/>
              </a:rPr>
              <a:t>IEC 利用水蒸发吸热实现降温；应用由干燥地区的显热冷却，拓展至湿热地区的能量回收。</a:t>
            </a:r>
          </a:p>
        </p:txBody>
      </p:sp>
    </p:spTree>
    <p:extLst>
      <p:ext uri="{BB962C8B-B14F-4D97-AF65-F5344CB8AC3E}">
        <p14:creationId xmlns:p14="http://schemas.microsoft.com/office/powerpoint/2010/main" val="329859860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21"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spcBef>
                  <a:spcPts val="984"/>
                </a:spcBef>
                <a:spcAft>
                  <a:spcPts val="984"/>
                </a:spcAft>
                <a:buClrTx/>
                <a:buFont typeface="Wingdings" panose="05000000000000000000" pitchFamily="2" charset="2"/>
                <a:buChar char="Ø"/>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W</a:t>
              </a:r>
              <a:r>
                <a:rPr lang="en-US" altLang="zh-CN" sz="1476" b="1" kern="0" dirty="0">
                  <a:latin typeface="Times New Roman" panose="02020603050405020304" pitchFamily="18" charset="0"/>
                  <a:ea typeface="SimSun"/>
                  <a:cs typeface="Times New Roman" panose="02020603050405020304" pitchFamily="18" charset="0"/>
                </a:rPr>
                <a:t>orking principle</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0" name="文本框 9">
              <a:extLst>
                <a:ext uri="{FF2B5EF4-FFF2-40B4-BE49-F238E27FC236}">
                  <a16:creationId xmlns:a16="http://schemas.microsoft.com/office/drawing/2014/main" id="{F6E5958E-E7A8-8206-F4C3-2DB88B2C8BC3}"/>
                </a:ext>
              </a:extLst>
            </p:cNvPr>
            <p:cNvSpPr txBox="1"/>
            <p:nvPr/>
          </p:nvSpPr>
          <p:spPr>
            <a:xfrm>
              <a:off x="3475592" y="4042391"/>
              <a:ext cx="4895850" cy="280270"/>
            </a:xfrm>
            <a:prstGeom prst="rect">
              <a:avLst/>
            </a:prstGeom>
            <a:noFill/>
          </p:spPr>
          <p:txBody>
            <a:bodyPr wrap="square">
              <a:spAutoFit/>
            </a:bodyPr>
            <a:lstStyle/>
            <a:p>
              <a:pPr algn="ctr">
                <a:lnSpc>
                  <a:spcPct val="107000"/>
                </a:lnSpc>
                <a:spcAft>
                  <a:spcPts val="656"/>
                </a:spcAft>
              </a:pPr>
              <a:r>
                <a:rPr lang="en-US" altLang="zh-CN" sz="984" b="1" dirty="0">
                  <a:latin typeface="Times New Roman" panose="02020603050405020304" pitchFamily="18" charset="0"/>
                  <a:ea typeface="SimSun" panose="02010600030101010101" pitchFamily="2" charset="-122"/>
                  <a:cs typeface="Times New Roman" panose="02020603050405020304" pitchFamily="18" charset="0"/>
                </a:rPr>
                <a:t>Fig. 8.1 </a:t>
              </a:r>
              <a:r>
                <a:rPr lang="en-HK" altLang="zh-CN" sz="984" dirty="0">
                  <a:latin typeface="Times New Roman" panose="02020603050405020304" pitchFamily="18" charset="0"/>
                  <a:ea typeface="SimSun" panose="02010600030101010101" pitchFamily="2" charset="-122"/>
                  <a:cs typeface="Times New Roman" panose="02020603050405020304" pitchFamily="18" charset="0"/>
                </a:rPr>
                <a:t>(a) schematics and (b) psychrometric process of traditional IEC</a:t>
              </a:r>
              <a:endParaRPr lang="zh-CN" altLang="zh-CN" sz="984"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1718897" y="4936200"/>
              <a:ext cx="8754206" cy="1128450"/>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When IEC is applied in hot and humid areas, the </a:t>
              </a:r>
              <a:r>
                <a:rPr lang="en-HK" altLang="zh-CN" sz="1312" b="1"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primary air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humidity is high and the wet-bulb temperature of the </a:t>
              </a:r>
              <a:r>
                <a:rPr lang="en-HK" altLang="zh-CN" sz="1312" b="1"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secondary air (exhaust air)</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 in the air-conditioned space is low, resulting in condensation where the temperature of the plate surface is lower than the dew-point temperature of the primary air.</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13" name="图片 12">
              <a:extLst>
                <a:ext uri="{FF2B5EF4-FFF2-40B4-BE49-F238E27FC236}">
                  <a16:creationId xmlns:a16="http://schemas.microsoft.com/office/drawing/2014/main" id="{52554368-D56A-48DB-BCF5-F219E06A7B6C}"/>
                </a:ext>
              </a:extLst>
            </p:cNvPr>
            <p:cNvPicPr>
              <a:picLocks noChangeAspect="1"/>
            </p:cNvPicPr>
            <p:nvPr/>
          </p:nvPicPr>
          <p:blipFill>
            <a:blip r:embed="rId3"/>
            <a:stretch>
              <a:fillRect/>
            </a:stretch>
          </p:blipFill>
          <p:spPr>
            <a:xfrm>
              <a:off x="1993119" y="1451399"/>
              <a:ext cx="8024576" cy="2549304"/>
            </a:xfrm>
            <a:prstGeom prst="rect">
              <a:avLst/>
            </a:prstGeom>
          </p:spPr>
        </p:pic>
      </p:grpSp>
      <p:sp>
        <p:nvSpPr>
          <p:cNvPr id="2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中文要点｜工作原理</a:t>
            </a:r>
          </a:p>
          <a:p>
            <a:pPr>
              <a:lnSpc>
                <a:spcPct val="108000"/>
              </a:lnSpc>
              <a:spcAft>
                <a:spcPts val="0"/>
              </a:spcAft>
            </a:pPr>
            <a:r>
              <a:rPr sz="1400" b="0">
                <a:solidFill>
                  <a:srgbClr val="282828"/>
                </a:solidFill>
                <a:latin typeface="Times New Roman"/>
                <a:ea typeface="SimSun"/>
                <a:cs typeface="Times New Roman"/>
              </a:rPr>
              <a:t>湿热地区的一次空气湿度较高。当板面温度低于其露点温度时，一次空气侧发生冷凝，可同时回收显热与潜热。</a:t>
            </a:r>
          </a:p>
        </p:txBody>
      </p:sp>
    </p:spTree>
    <p:extLst>
      <p:ext uri="{BB962C8B-B14F-4D97-AF65-F5344CB8AC3E}">
        <p14:creationId xmlns:p14="http://schemas.microsoft.com/office/powerpoint/2010/main" val="40861036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D37DC7-6603-45E5-9710-38C89138650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7</a:t>
            </a:fld>
            <a:endParaRPr lang="en-US" altLang="zh-CN" dirty="0">
              <a:latin typeface="Times New Roman"/>
              <a:ea typeface="SimSun"/>
              <a:cs typeface="Times New Roman"/>
            </a:endParaRPr>
          </a:p>
        </p:txBody>
      </p:sp>
      <p:sp>
        <p:nvSpPr>
          <p:cNvPr id="19" name="Title 8">
            <a:extLst>
              <a:ext uri="{FF2B5EF4-FFF2-40B4-BE49-F238E27FC236}">
                <a16:creationId xmlns:a16="http://schemas.microsoft.com/office/drawing/2014/main" id="{14AC1D15-B791-4138-A6A6-DE4BF26CBA81}"/>
              </a:ext>
            </a:extLst>
          </p:cNvPr>
          <p:cNvSpPr txBox="1">
            <a:spLocks/>
          </p:cNvSpPr>
          <p:nvPr/>
        </p:nvSpPr>
        <p:spPr bwMode="auto">
          <a:xfrm>
            <a:off x="882545" y="259531"/>
            <a:ext cx="83820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spcBef>
                <a:spcPts val="0"/>
              </a:spcBef>
              <a:spcAft>
                <a:spcPts val="0"/>
              </a:spcAft>
            </a:pPr>
            <a:r>
              <a:rPr lang="en-US" b="1" dirty="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spcBef>
                <a:spcPts val="0"/>
              </a:spcBef>
              <a:spcAft>
                <a:spcPts val="0"/>
              </a:spcAft>
            </a:pPr>
            <a:endParaRPr lang="en-US" sz="2000" b="1" dirty="0">
              <a:solidFill>
                <a:srgbClr val="000000"/>
              </a:solidFill>
              <a:latin typeface="Times New Roman"/>
              <a:ea typeface="SimSun"/>
              <a:cs typeface="Times New Roman" charset="0"/>
            </a:endParaRPr>
          </a:p>
        </p:txBody>
      </p:sp>
      <p:grpSp>
        <p:nvGrpSpPr>
          <p:cNvPr id="23" name="Original English content (proportional layout)"/>
          <p:cNvGrpSpPr/>
          <p:nvPr/>
        </p:nvGrpSpPr>
        <p:grpSpPr>
          <a:xfrm>
            <a:off x="1097280" y="731520"/>
            <a:ext cx="9997440" cy="5023714"/>
            <a:chOff x="0" y="731520"/>
            <a:chExt cx="12192000" cy="6126480"/>
          </a:xfrm>
        </p:grpSpPr>
        <p:sp>
          <p:nvSpPr>
            <p:cNvPr id="6" name="文本框 5">
              <a:extLst>
                <a:ext uri="{FF2B5EF4-FFF2-40B4-BE49-F238E27FC236}">
                  <a16:creationId xmlns:a16="http://schemas.microsoft.com/office/drawing/2014/main" id="{523D1FCB-F41A-4EF6-BB9A-E5E2546B0349}"/>
                </a:ext>
              </a:extLst>
            </p:cNvPr>
            <p:cNvSpPr txBox="1"/>
            <p:nvPr/>
          </p:nvSpPr>
          <p:spPr>
            <a:xfrm>
              <a:off x="478152" y="959032"/>
              <a:ext cx="6867071"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1.3 Research on wettability of secondary air channel </a:t>
              </a:r>
            </a:p>
          </p:txBody>
        </p:sp>
        <p:sp>
          <p:nvSpPr>
            <p:cNvPr id="7" name="文本框 6">
              <a:extLst>
                <a:ext uri="{FF2B5EF4-FFF2-40B4-BE49-F238E27FC236}">
                  <a16:creationId xmlns:a16="http://schemas.microsoft.com/office/drawing/2014/main" id="{F13C73EA-AFF4-4314-A19B-943ED48BE4C5}"/>
                </a:ext>
              </a:extLst>
            </p:cNvPr>
            <p:cNvSpPr txBox="1"/>
            <p:nvPr/>
          </p:nvSpPr>
          <p:spPr>
            <a:xfrm>
              <a:off x="1520346" y="1729825"/>
              <a:ext cx="8824492" cy="984885"/>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40" dirty="0">
                  <a:solidFill>
                    <a:prstClr val="black"/>
                  </a:solidFill>
                  <a:latin typeface="Times New Roman" panose="02020603050405020304" pitchFamily="18" charset="0"/>
                  <a:ea typeface="SimSun"/>
                  <a:cs typeface="Times New Roman" panose="02020603050405020304" pitchFamily="18" charset="0"/>
                </a:rPr>
                <a:t>Low water supply               Low wettability and heat &amp; mass transfer</a:t>
              </a:r>
            </a:p>
            <a:p>
              <a:pPr marL="285750" indent="-285750" defTabSz="457200" eaLnBrk="1" fontAlgn="auto" hangingPunct="1">
                <a:spcBef>
                  <a:spcPts val="0"/>
                </a:spcBef>
                <a:spcAft>
                  <a:spcPts val="0"/>
                </a:spcAft>
                <a:buFont typeface="Arial" panose="020B0604020202020204" pitchFamily="34" charset="0"/>
                <a:buChar char="•"/>
              </a:pPr>
              <a:r>
                <a:rPr lang="en-HK" sz="1640" dirty="0">
                  <a:solidFill>
                    <a:prstClr val="black"/>
                  </a:solidFill>
                  <a:latin typeface="Times New Roman" panose="02020603050405020304" pitchFamily="18" charset="0"/>
                  <a:ea typeface="SimSun"/>
                  <a:cs typeface="Times New Roman" panose="02020603050405020304" pitchFamily="18" charset="0"/>
                </a:rPr>
                <a:t>High water supply              Higher film thickness and thermal resistance </a:t>
              </a:r>
            </a:p>
            <a:p>
              <a:pPr marL="285750" indent="-285750" defTabSz="457200" eaLnBrk="1" fontAlgn="auto" hangingPunct="1">
                <a:spcBef>
                  <a:spcPts val="0"/>
                </a:spcBef>
                <a:spcAft>
                  <a:spcPts val="0"/>
                </a:spcAft>
                <a:buFont typeface="Arial" panose="020B0604020202020204" pitchFamily="34" charset="0"/>
                <a:buChar char="•"/>
              </a:pPr>
              <a:endParaRPr lang="en-HK" sz="1476" dirty="0">
                <a:solidFill>
                  <a:prstClr val="black"/>
                </a:solidFill>
                <a:latin typeface="Times New Roman" panose="020B0604020202020204" pitchFamily="34" charset="0"/>
                <a:ea typeface="SimSun"/>
                <a:cs typeface="Times New Roman" panose="020B0604020202020204" pitchFamily="34" charset="0"/>
              </a:endParaRPr>
            </a:p>
          </p:txBody>
        </p:sp>
        <p:sp>
          <p:nvSpPr>
            <p:cNvPr id="9" name="箭头: 右 8">
              <a:extLst>
                <a:ext uri="{FF2B5EF4-FFF2-40B4-BE49-F238E27FC236}">
                  <a16:creationId xmlns:a16="http://schemas.microsoft.com/office/drawing/2014/main" id="{5C3AF333-D36D-439E-9EC5-9E2C6211B517}"/>
                </a:ext>
              </a:extLst>
            </p:cNvPr>
            <p:cNvSpPr/>
            <p:nvPr/>
          </p:nvSpPr>
          <p:spPr>
            <a:xfrm>
              <a:off x="3811517" y="1865649"/>
              <a:ext cx="706438" cy="180000"/>
            </a:xfrm>
            <a:prstGeom prst="rightArrow">
              <a:avLst/>
            </a:prstGeom>
            <a:solidFill>
              <a:srgbClr val="C00000"/>
            </a:solidFill>
            <a:ln w="12700" cap="flat" cmpd="sng" algn="ctr">
              <a:solidFill>
                <a:srgbClr val="C00000"/>
              </a:solidFill>
              <a:prstDash val="solid"/>
              <a:miter lim="800000"/>
            </a:ln>
            <a:effectLst/>
          </p:spPr>
          <p:txBody>
            <a:bodyPr wrap="square" anchor="ctr">
              <a:spAutoFit/>
            </a:bodyPr>
            <a:lstStyle>
              <a:lvl1pPr marL="342900" indent="-342900">
                <a:spcBef>
                  <a:spcPct val="20000"/>
                </a:spcBef>
                <a:buClr>
                  <a:schemeClr val="folHlink"/>
                </a:buClr>
                <a:buSzPct val="90000"/>
                <a:buFont typeface="Wingdings" panose="05000000000000000000" pitchFamily="2" charset="2"/>
                <a:buBlip>
                  <a:blip r:embed="rId3"/>
                </a:buBlip>
                <a:defRPr sz="2952" b="1">
                  <a:solidFill>
                    <a:schemeClr val="tx1"/>
                  </a:solidFill>
                  <a:latin typeface="Times New Roman"/>
                  <a:ea typeface="SimSun" pitchFamily="34" charset="-122"/>
                  <a:cs typeface="Times New Roman"/>
                </a:defRPr>
              </a:lvl1pPr>
              <a:lvl2pPr marL="742950" indent="-285750">
                <a:spcBef>
                  <a:spcPct val="20000"/>
                </a:spcBef>
                <a:buClr>
                  <a:schemeClr val="hlink"/>
                </a:buClr>
                <a:buSzPct val="90000"/>
                <a:buFont typeface="Wingdings" panose="05000000000000000000" pitchFamily="2" charset="2"/>
                <a:buBlip>
                  <a:blip r:embed="rId4"/>
                </a:buBlip>
                <a:defRPr sz="2296">
                  <a:solidFill>
                    <a:schemeClr val="tx1"/>
                  </a:solidFill>
                  <a:latin typeface="Times New Roman"/>
                  <a:ea typeface="SimSun" pitchFamily="34" charset="-122"/>
                  <a:cs typeface="Times New Roman"/>
                </a:defRPr>
              </a:lvl2pPr>
              <a:lvl3pPr marL="1143000" indent="-228600">
                <a:spcBef>
                  <a:spcPct val="20000"/>
                </a:spcBef>
                <a:buClr>
                  <a:schemeClr val="folHlink"/>
                </a:buClr>
                <a:buSzPct val="90000"/>
                <a:buFont typeface="Wingdings" panose="05000000000000000000" pitchFamily="2" charset="2"/>
                <a:buBlip>
                  <a:blip r:embed="rId5"/>
                </a:buBlip>
                <a:defRPr sz="1968">
                  <a:solidFill>
                    <a:schemeClr val="tx1"/>
                  </a:solidFill>
                  <a:latin typeface="Times New Roman"/>
                  <a:ea typeface="SimSun" pitchFamily="34" charset="-122"/>
                  <a:cs typeface="Times New Roman"/>
                </a:defRPr>
              </a:lvl3pPr>
              <a:lvl4pPr marL="1600200" indent="-228600">
                <a:spcBef>
                  <a:spcPct val="20000"/>
                </a:spcBef>
                <a:buClr>
                  <a:schemeClr val="accent2"/>
                </a:buClr>
                <a:buSzPct val="55000"/>
                <a:buFont typeface="Wingdings" panose="05000000000000000000" pitchFamily="2" charset="2"/>
                <a:buChar char="n"/>
                <a:defRPr sz="1640">
                  <a:solidFill>
                    <a:schemeClr val="tx1"/>
                  </a:solidFill>
                  <a:latin typeface="Times New Roman"/>
                  <a:ea typeface="SimSun" pitchFamily="34" charset="-122"/>
                  <a:cs typeface="Times New Roman"/>
                </a:defRPr>
              </a:lvl4pPr>
              <a:lvl5pPr marL="2057400" indent="-228600">
                <a:spcBef>
                  <a:spcPct val="20000"/>
                </a:spcBef>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9pPr>
            </a:lstStyle>
            <a:p>
              <a:pPr algn="ctr" defTabSz="457200" eaLnBrk="1" fontAlgn="auto" hangingPunct="1">
                <a:spcBef>
                  <a:spcPct val="0"/>
                </a:spcBef>
                <a:spcAft>
                  <a:spcPts val="0"/>
                </a:spcAft>
                <a:buClrTx/>
                <a:buSzTx/>
                <a:buFont typeface="Wingdings" panose="05000000000000000000" pitchFamily="2" charset="2"/>
                <a:buChar char="Ø"/>
                <a:defRPr>
                  <a:latin typeface="Times New Roman"/>
                  <a:ea typeface="SimSun"/>
                  <a:cs typeface="Times New Roman"/>
                </a:defRPr>
              </a:pPr>
              <a:endParaRPr lang="en-HK" altLang="en-US" sz="1968" b="0" i="1" kern="0" dirty="0">
                <a:solidFill>
                  <a:srgbClr val="000000"/>
                </a:solidFill>
                <a:latin typeface="Times New Roman" panose="02020603050405020304" pitchFamily="18" charset="0"/>
                <a:ea typeface="SimSun" panose="02010600030101010101" pitchFamily="2" charset="-122"/>
                <a:cs typeface="Times New Roman"/>
              </a:endParaRPr>
            </a:p>
          </p:txBody>
        </p:sp>
        <p:pic>
          <p:nvPicPr>
            <p:cNvPr id="10" name="图片 9">
              <a:extLst>
                <a:ext uri="{FF2B5EF4-FFF2-40B4-BE49-F238E27FC236}">
                  <a16:creationId xmlns:a16="http://schemas.microsoft.com/office/drawing/2014/main" id="{145283EF-9DC4-4754-A67B-07468085ABBF}"/>
                </a:ext>
              </a:extLst>
            </p:cNvPr>
            <p:cNvPicPr>
              <a:picLocks noChangeAspect="1"/>
            </p:cNvPicPr>
            <p:nvPr/>
          </p:nvPicPr>
          <p:blipFill rotWithShape="1">
            <a:blip r:embed="rId6">
              <a:extLst>
                <a:ext uri="{28A0092B-C50C-407E-A947-70E740481C1C}">
                  <a14:useLocalDpi xmlns:a14="http://schemas.microsoft.com/office/drawing/2010/main" val="0"/>
                </a:ext>
              </a:extLst>
            </a:blip>
            <a:srcRect r="39584"/>
            <a:stretch/>
          </p:blipFill>
          <p:spPr>
            <a:xfrm>
              <a:off x="1744725" y="3119572"/>
              <a:ext cx="3505958" cy="1402933"/>
            </a:xfrm>
            <a:prstGeom prst="rect">
              <a:avLst/>
            </a:prstGeom>
          </p:spPr>
        </p:pic>
        <p:sp>
          <p:nvSpPr>
            <p:cNvPr id="11" name="矩形 10">
              <a:extLst>
                <a:ext uri="{FF2B5EF4-FFF2-40B4-BE49-F238E27FC236}">
                  <a16:creationId xmlns:a16="http://schemas.microsoft.com/office/drawing/2014/main" id="{CAA5E4BC-7257-4E7D-B55A-5E7F7A558561}"/>
                </a:ext>
              </a:extLst>
            </p:cNvPr>
            <p:cNvSpPr/>
            <p:nvPr/>
          </p:nvSpPr>
          <p:spPr>
            <a:xfrm>
              <a:off x="6259409" y="2665506"/>
              <a:ext cx="2321469"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40" dirty="0">
                  <a:solidFill>
                    <a:prstClr val="black"/>
                  </a:solidFill>
                  <a:latin typeface="Times New Roman" panose="02020603050405020304" pitchFamily="18" charset="0"/>
                  <a:ea typeface="SimSun"/>
                  <a:cs typeface="Times New Roman" panose="02020603050405020304" pitchFamily="18" charset="0"/>
                </a:rPr>
                <a:t>Air flow direction</a:t>
              </a:r>
            </a:p>
          </p:txBody>
        </p:sp>
        <p:pic>
          <p:nvPicPr>
            <p:cNvPr id="12" name="图片 11">
              <a:extLst>
                <a:ext uri="{FF2B5EF4-FFF2-40B4-BE49-F238E27FC236}">
                  <a16:creationId xmlns:a16="http://schemas.microsoft.com/office/drawing/2014/main" id="{53D0933D-9024-4FB6-9D0B-438AE4E2C6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70773" y="3234971"/>
              <a:ext cx="5293392" cy="2493211"/>
            </a:xfrm>
            <a:prstGeom prst="rect">
              <a:avLst/>
            </a:prstGeom>
          </p:spPr>
        </p:pic>
        <p:pic>
          <p:nvPicPr>
            <p:cNvPr id="13" name="图片 12">
              <a:extLst>
                <a:ext uri="{FF2B5EF4-FFF2-40B4-BE49-F238E27FC236}">
                  <a16:creationId xmlns:a16="http://schemas.microsoft.com/office/drawing/2014/main" id="{F8E1EDF5-DB63-43BD-9B4E-4ECD2AB65D20}"/>
                </a:ext>
              </a:extLst>
            </p:cNvPr>
            <p:cNvPicPr>
              <a:picLocks noChangeAspect="1"/>
            </p:cNvPicPr>
            <p:nvPr/>
          </p:nvPicPr>
          <p:blipFill rotWithShape="1">
            <a:blip r:embed="rId6">
              <a:extLst>
                <a:ext uri="{28A0092B-C50C-407E-A947-70E740481C1C}">
                  <a14:useLocalDpi xmlns:a14="http://schemas.microsoft.com/office/drawing/2010/main" val="0"/>
                </a:ext>
              </a:extLst>
            </a:blip>
            <a:srcRect l="60117"/>
            <a:stretch/>
          </p:blipFill>
          <p:spPr>
            <a:xfrm>
              <a:off x="2203521" y="4481577"/>
              <a:ext cx="2314434" cy="1402933"/>
            </a:xfrm>
            <a:prstGeom prst="rect">
              <a:avLst/>
            </a:prstGeom>
          </p:spPr>
        </p:pic>
        <p:sp>
          <p:nvSpPr>
            <p:cNvPr id="14" name="矩形 13">
              <a:extLst>
                <a:ext uri="{FF2B5EF4-FFF2-40B4-BE49-F238E27FC236}">
                  <a16:creationId xmlns:a16="http://schemas.microsoft.com/office/drawing/2014/main" id="{1660984A-5705-45EB-800B-BE30FF291B07}"/>
                </a:ext>
              </a:extLst>
            </p:cNvPr>
            <p:cNvSpPr/>
            <p:nvPr/>
          </p:nvSpPr>
          <p:spPr>
            <a:xfrm>
              <a:off x="1291291" y="5909414"/>
              <a:ext cx="3782254" cy="276999"/>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Fig.1.3.1 </a:t>
              </a:r>
              <a:r>
                <a:rPr lang="en-HK" sz="984" dirty="0">
                  <a:solidFill>
                    <a:prstClr val="black"/>
                  </a:solidFill>
                  <a:latin typeface="Times New Roman" panose="02020603050405020304" pitchFamily="18" charset="0"/>
                  <a:ea typeface="SimSun"/>
                  <a:cs typeface="Times New Roman" panose="02020603050405020304" pitchFamily="18" charset="0"/>
                </a:rPr>
                <a:t>Plate with different pitch or protrusion geometry</a:t>
              </a:r>
            </a:p>
          </p:txBody>
        </p:sp>
        <p:sp>
          <p:nvSpPr>
            <p:cNvPr id="15" name="矩形 14">
              <a:extLst>
                <a:ext uri="{FF2B5EF4-FFF2-40B4-BE49-F238E27FC236}">
                  <a16:creationId xmlns:a16="http://schemas.microsoft.com/office/drawing/2014/main" id="{FC5F9486-09F4-4DE1-A107-43036D5C7A83}"/>
                </a:ext>
              </a:extLst>
            </p:cNvPr>
            <p:cNvSpPr/>
            <p:nvPr/>
          </p:nvSpPr>
          <p:spPr>
            <a:xfrm>
              <a:off x="6827975" y="5909414"/>
              <a:ext cx="3157531" cy="276999"/>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Fig.1.3.2 </a:t>
              </a:r>
              <a:r>
                <a:rPr lang="en-HK" sz="984" dirty="0">
                  <a:solidFill>
                    <a:prstClr val="black"/>
                  </a:solidFill>
                  <a:latin typeface="Times New Roman" panose="02020603050405020304" pitchFamily="18" charset="0"/>
                  <a:ea typeface="SimSun"/>
                  <a:cs typeface="Times New Roman" panose="02020603050405020304" pitchFamily="18" charset="0"/>
                </a:rPr>
                <a:t>Scheme of Top and Side configuration</a:t>
              </a:r>
            </a:p>
          </p:txBody>
        </p:sp>
        <p:sp>
          <p:nvSpPr>
            <p:cNvPr id="20" name="矩形 19">
              <a:extLst>
                <a:ext uri="{FF2B5EF4-FFF2-40B4-BE49-F238E27FC236}">
                  <a16:creationId xmlns:a16="http://schemas.microsoft.com/office/drawing/2014/main" id="{C32FA8AC-8E88-4DAB-A20C-C129DA0584AD}"/>
                </a:ext>
              </a:extLst>
            </p:cNvPr>
            <p:cNvSpPr/>
            <p:nvPr/>
          </p:nvSpPr>
          <p:spPr>
            <a:xfrm>
              <a:off x="1959006" y="6259757"/>
              <a:ext cx="8534263" cy="400110"/>
            </a:xfrm>
            <a:prstGeom prst="rect">
              <a:avLst/>
            </a:prstGeom>
          </p:spPr>
          <p:txBody>
            <a:bodyPr wrap="square">
              <a:spAutoFit/>
            </a:bodyPr>
            <a:lstStyle/>
            <a:p>
              <a:pPr algn="ctr" defTabSz="457200" eaLnBrk="1" fontAlgn="auto" hangingPunct="1">
                <a:spcAft>
                  <a:spcPts val="0"/>
                </a:spcAft>
              </a:pPr>
              <a:r>
                <a:rPr lang="en-HK" altLang="en-US" sz="820" i="1" dirty="0">
                  <a:solidFill>
                    <a:prstClr val="black"/>
                  </a:solidFill>
                  <a:latin typeface="Times New Roman" panose="020B0604020202020204" pitchFamily="34" charset="0"/>
                  <a:ea typeface="SimSun"/>
                  <a:cs typeface="Times New Roman" panose="020B0604020202020204" pitchFamily="34" charset="0"/>
                </a:rPr>
                <a:t>S</a:t>
              </a:r>
              <a:r>
                <a:rPr lang="en-US" altLang="zh-CN" sz="820" i="1" dirty="0" err="1">
                  <a:solidFill>
                    <a:prstClr val="black"/>
                  </a:solidFill>
                  <a:latin typeface="Times New Roman" panose="020B0604020202020204" pitchFamily="34" charset="0"/>
                  <a:ea typeface="SimSun" panose="02010600030101010101" pitchFamily="2" charset="-122"/>
                  <a:cs typeface="Times New Roman" panose="020B0604020202020204" pitchFamily="34" charset="0"/>
                </a:rPr>
                <a:t>ource</a:t>
              </a:r>
              <a:r>
                <a:rPr lang="en-HK" altLang="zh-CN" sz="82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Effect of plates coating on performance of an indirect evaporative cooling system. 2019;</a:t>
              </a:r>
            </a:p>
            <a:p>
              <a:pPr algn="ctr" defTabSz="457200" eaLnBrk="1" fontAlgn="auto" hangingPunct="1">
                <a:spcAft>
                  <a:spcPts val="0"/>
                </a:spcAft>
              </a:pPr>
              <a:r>
                <a:rPr lang="en-HK" altLang="zh-CN" sz="820" i="1" dirty="0">
                  <a:solidFill>
                    <a:prstClr val="black"/>
                  </a:solidFill>
                  <a:latin typeface="Times New Roman" panose="020B0604020202020204" pitchFamily="34" charset="0"/>
                  <a:ea typeface="SimSun" panose="02010600030101010101" pitchFamily="2" charset="-122"/>
                  <a:cs typeface="Times New Roman" panose="020B0604020202020204" pitchFamily="34" charset="0"/>
                </a:rPr>
                <a:t> Effect of heat exchanger plates geometry on performance of an indirect evaporative cooling system, 2020</a:t>
              </a:r>
              <a:endParaRPr lang="en-HK" altLang="en-US" sz="820" i="1" dirty="0">
                <a:solidFill>
                  <a:prstClr val="black"/>
                </a:solidFill>
                <a:latin typeface="Times New Roman" panose="020B0604020202020204" pitchFamily="34" charset="0"/>
                <a:ea typeface="SimSun"/>
                <a:cs typeface="Times New Roman" panose="020B0604020202020204" pitchFamily="34" charset="0"/>
              </a:endParaRPr>
            </a:p>
          </p:txBody>
        </p:sp>
        <p:sp>
          <p:nvSpPr>
            <p:cNvPr id="18" name="矩形 17">
              <a:extLst>
                <a:ext uri="{FF2B5EF4-FFF2-40B4-BE49-F238E27FC236}">
                  <a16:creationId xmlns:a16="http://schemas.microsoft.com/office/drawing/2014/main" id="{8A51D581-844B-4922-B4E6-85A9AAF4D125}"/>
                </a:ext>
              </a:extLst>
            </p:cNvPr>
            <p:cNvSpPr/>
            <p:nvPr/>
          </p:nvSpPr>
          <p:spPr>
            <a:xfrm>
              <a:off x="1170411" y="2666384"/>
              <a:ext cx="1943161"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40" dirty="0">
                  <a:solidFill>
                    <a:prstClr val="black"/>
                  </a:solidFill>
                  <a:latin typeface="Times New Roman" panose="02020603050405020304" pitchFamily="18" charset="0"/>
                  <a:ea typeface="SimSun"/>
                  <a:cs typeface="Times New Roman" panose="02020603050405020304" pitchFamily="18" charset="0"/>
                </a:rPr>
                <a:t>Plate structure</a:t>
              </a:r>
            </a:p>
          </p:txBody>
        </p:sp>
        <p:sp>
          <p:nvSpPr>
            <p:cNvPr id="21" name="矩形 20">
              <a:extLst>
                <a:ext uri="{FF2B5EF4-FFF2-40B4-BE49-F238E27FC236}">
                  <a16:creationId xmlns:a16="http://schemas.microsoft.com/office/drawing/2014/main" id="{78281F5F-93D5-4DAE-A76D-59CFFE3A72BB}"/>
                </a:ext>
              </a:extLst>
            </p:cNvPr>
            <p:cNvSpPr/>
            <p:nvPr/>
          </p:nvSpPr>
          <p:spPr>
            <a:xfrm>
              <a:off x="1170411" y="1321706"/>
              <a:ext cx="1824859"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40" dirty="0">
                  <a:solidFill>
                    <a:prstClr val="black"/>
                  </a:solidFill>
                  <a:latin typeface="Times New Roman" panose="02020603050405020304" pitchFamily="18" charset="0"/>
                  <a:ea typeface="SimSun"/>
                  <a:cs typeface="Times New Roman" panose="02020603050405020304" pitchFamily="18" charset="0"/>
                </a:rPr>
                <a:t>Water supply</a:t>
              </a:r>
            </a:p>
          </p:txBody>
        </p:sp>
        <p:sp>
          <p:nvSpPr>
            <p:cNvPr id="22" name="箭头: 右 21">
              <a:extLst>
                <a:ext uri="{FF2B5EF4-FFF2-40B4-BE49-F238E27FC236}">
                  <a16:creationId xmlns:a16="http://schemas.microsoft.com/office/drawing/2014/main" id="{08250E77-0F66-4150-93A9-601564A34DE7}"/>
                </a:ext>
              </a:extLst>
            </p:cNvPr>
            <p:cNvSpPr/>
            <p:nvPr/>
          </p:nvSpPr>
          <p:spPr>
            <a:xfrm>
              <a:off x="3811517" y="2161942"/>
              <a:ext cx="706438" cy="180000"/>
            </a:xfrm>
            <a:prstGeom prst="rightArrow">
              <a:avLst/>
            </a:prstGeom>
            <a:solidFill>
              <a:srgbClr val="C00000"/>
            </a:solidFill>
            <a:ln w="12700" cap="flat" cmpd="sng" algn="ctr">
              <a:solidFill>
                <a:srgbClr val="C00000"/>
              </a:solidFill>
              <a:prstDash val="solid"/>
              <a:miter lim="800000"/>
            </a:ln>
            <a:effectLst/>
          </p:spPr>
          <p:txBody>
            <a:bodyPr wrap="square" anchor="ctr">
              <a:spAutoFit/>
            </a:bodyPr>
            <a:lstStyle>
              <a:lvl1pPr marL="342900" indent="-342900">
                <a:spcBef>
                  <a:spcPct val="20000"/>
                </a:spcBef>
                <a:buClr>
                  <a:schemeClr val="folHlink"/>
                </a:buClr>
                <a:buSzPct val="90000"/>
                <a:buFont typeface="Wingdings" panose="05000000000000000000" pitchFamily="2" charset="2"/>
                <a:buBlip>
                  <a:blip r:embed="rId3"/>
                </a:buBlip>
                <a:defRPr sz="2952" b="1">
                  <a:solidFill>
                    <a:schemeClr val="tx1"/>
                  </a:solidFill>
                  <a:latin typeface="Times New Roman"/>
                  <a:ea typeface="SimSun" pitchFamily="34" charset="-122"/>
                  <a:cs typeface="Times New Roman"/>
                </a:defRPr>
              </a:lvl1pPr>
              <a:lvl2pPr marL="742950" indent="-285750">
                <a:spcBef>
                  <a:spcPct val="20000"/>
                </a:spcBef>
                <a:buClr>
                  <a:schemeClr val="hlink"/>
                </a:buClr>
                <a:buSzPct val="90000"/>
                <a:buFont typeface="Wingdings" panose="05000000000000000000" pitchFamily="2" charset="2"/>
                <a:buBlip>
                  <a:blip r:embed="rId4"/>
                </a:buBlip>
                <a:defRPr sz="2296">
                  <a:solidFill>
                    <a:schemeClr val="tx1"/>
                  </a:solidFill>
                  <a:latin typeface="Times New Roman"/>
                  <a:ea typeface="SimSun" pitchFamily="34" charset="-122"/>
                  <a:cs typeface="Times New Roman"/>
                </a:defRPr>
              </a:lvl2pPr>
              <a:lvl3pPr marL="1143000" indent="-228600">
                <a:spcBef>
                  <a:spcPct val="20000"/>
                </a:spcBef>
                <a:buClr>
                  <a:schemeClr val="folHlink"/>
                </a:buClr>
                <a:buSzPct val="90000"/>
                <a:buFont typeface="Wingdings" panose="05000000000000000000" pitchFamily="2" charset="2"/>
                <a:buBlip>
                  <a:blip r:embed="rId5"/>
                </a:buBlip>
                <a:defRPr sz="1968">
                  <a:solidFill>
                    <a:schemeClr val="tx1"/>
                  </a:solidFill>
                  <a:latin typeface="Times New Roman"/>
                  <a:ea typeface="SimSun" pitchFamily="34" charset="-122"/>
                  <a:cs typeface="Times New Roman"/>
                </a:defRPr>
              </a:lvl3pPr>
              <a:lvl4pPr marL="1600200" indent="-228600">
                <a:spcBef>
                  <a:spcPct val="20000"/>
                </a:spcBef>
                <a:buClr>
                  <a:schemeClr val="accent2"/>
                </a:buClr>
                <a:buSzPct val="55000"/>
                <a:buFont typeface="Wingdings" panose="05000000000000000000" pitchFamily="2" charset="2"/>
                <a:buChar char="n"/>
                <a:defRPr sz="1640">
                  <a:solidFill>
                    <a:schemeClr val="tx1"/>
                  </a:solidFill>
                  <a:latin typeface="Times New Roman"/>
                  <a:ea typeface="SimSun" pitchFamily="34" charset="-122"/>
                  <a:cs typeface="Times New Roman"/>
                </a:defRPr>
              </a:lvl4pPr>
              <a:lvl5pPr marL="2057400" indent="-228600">
                <a:spcBef>
                  <a:spcPct val="20000"/>
                </a:spcBef>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40">
                  <a:solidFill>
                    <a:schemeClr val="tx1"/>
                  </a:solidFill>
                  <a:latin typeface="Times New Roman"/>
                  <a:ea typeface="SimSun" pitchFamily="34" charset="-122"/>
                  <a:cs typeface="Times New Roman"/>
                </a:defRPr>
              </a:lvl9pPr>
            </a:lstStyle>
            <a:p>
              <a:pPr algn="ctr" defTabSz="457200" eaLnBrk="1" fontAlgn="auto" hangingPunct="1">
                <a:spcBef>
                  <a:spcPct val="0"/>
                </a:spcBef>
                <a:spcAft>
                  <a:spcPts val="0"/>
                </a:spcAft>
                <a:buClrTx/>
                <a:buSzTx/>
                <a:buFont typeface="Wingdings" panose="05000000000000000000" pitchFamily="2" charset="2"/>
                <a:buChar char="Ø"/>
                <a:defRPr>
                  <a:latin typeface="Times New Roman"/>
                  <a:ea typeface="SimSun"/>
                  <a:cs typeface="Times New Roman"/>
                </a:defRPr>
              </a:pPr>
              <a:endParaRPr lang="en-HK" altLang="en-US" sz="1968" b="0" i="1" kern="0" dirty="0">
                <a:solidFill>
                  <a:srgbClr val="000000"/>
                </a:solidFill>
                <a:latin typeface="Times New Roman" panose="02020603050405020304" pitchFamily="18" charset="0"/>
                <a:ea typeface="SimSun" panose="02010600030101010101" pitchFamily="2" charset="-122"/>
                <a:cs typeface="Times New Roman"/>
              </a:endParaRPr>
            </a:p>
          </p:txBody>
        </p:sp>
      </p:grpSp>
      <p:sp>
        <p:nvSpPr>
          <p:cNvPr id="24"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中文要点｜湿通道润湿性</a:t>
            </a:r>
          </a:p>
          <a:p>
            <a:pPr>
              <a:lnSpc>
                <a:spcPct val="108000"/>
              </a:lnSpc>
              <a:spcAft>
                <a:spcPts val="0"/>
              </a:spcAft>
            </a:pPr>
            <a:r>
              <a:rPr sz="1400" b="0">
                <a:solidFill>
                  <a:srgbClr val="282828"/>
                </a:solidFill>
                <a:latin typeface="Times New Roman"/>
                <a:ea typeface="SimSun"/>
                <a:cs typeface="Times New Roman"/>
              </a:rPr>
              <a:t>供水不足导致干区和传热传质性能下降；供水过多则使水膜增厚、热阻增大。应协同优化板面结构与供水方式。</a:t>
            </a:r>
          </a:p>
        </p:txBody>
      </p:sp>
    </p:spTree>
    <p:extLst>
      <p:ext uri="{BB962C8B-B14F-4D97-AF65-F5344CB8AC3E}">
        <p14:creationId xmlns:p14="http://schemas.microsoft.com/office/powerpoint/2010/main" val="43298232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B482234-D86D-4C48-BC4C-1674A8712D21}"/>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8</a:t>
            </a:fld>
            <a:endParaRPr lang="en-US" altLang="zh-CN">
              <a:latin typeface="Times New Roman"/>
              <a:ea typeface="SimSun"/>
              <a:cs typeface="Times New Roman"/>
            </a:endParaRPr>
          </a:p>
        </p:txBody>
      </p:sp>
      <p:sp>
        <p:nvSpPr>
          <p:cNvPr id="20" name="Title 8">
            <a:extLst>
              <a:ext uri="{FF2B5EF4-FFF2-40B4-BE49-F238E27FC236}">
                <a16:creationId xmlns:a16="http://schemas.microsoft.com/office/drawing/2014/main" id="{099B9800-76A0-4C9E-9283-74EBD0592B1E}"/>
              </a:ext>
            </a:extLst>
          </p:cNvPr>
          <p:cNvSpPr txBox="1">
            <a:spLocks/>
          </p:cNvSpPr>
          <p:nvPr/>
        </p:nvSpPr>
        <p:spPr bwMode="auto">
          <a:xfrm>
            <a:off x="882545" y="259531"/>
            <a:ext cx="83820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spcBef>
                <a:spcPts val="0"/>
              </a:spcBef>
              <a:spcAft>
                <a:spcPts val="0"/>
              </a:spcAft>
            </a:pPr>
            <a:r>
              <a:rPr lang="en-US" b="1" dirty="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spcBef>
                <a:spcPts val="0"/>
              </a:spcBef>
              <a:spcAft>
                <a:spcPts val="0"/>
              </a:spcAft>
            </a:pPr>
            <a:endParaRPr lang="en-US" sz="2000" b="1" dirty="0">
              <a:solidFill>
                <a:srgbClr val="000000"/>
              </a:solidFill>
              <a:latin typeface="Times New Roman"/>
              <a:ea typeface="SimSun"/>
              <a:cs typeface="Times New Roman" charset="0"/>
            </a:endParaRPr>
          </a:p>
        </p:txBody>
      </p:sp>
      <p:grpSp>
        <p:nvGrpSpPr>
          <p:cNvPr id="21" name="Original English content (proportional layout)"/>
          <p:cNvGrpSpPr/>
          <p:nvPr/>
        </p:nvGrpSpPr>
        <p:grpSpPr>
          <a:xfrm>
            <a:off x="1097280" y="731520"/>
            <a:ext cx="9997440" cy="5023714"/>
            <a:chOff x="0" y="731520"/>
            <a:chExt cx="12192000" cy="6126480"/>
          </a:xfrm>
        </p:grpSpPr>
        <p:pic>
          <p:nvPicPr>
            <p:cNvPr id="18" name="图片 17">
              <a:extLst>
                <a:ext uri="{FF2B5EF4-FFF2-40B4-BE49-F238E27FC236}">
                  <a16:creationId xmlns:a16="http://schemas.microsoft.com/office/drawing/2014/main" id="{564FF9B8-0D28-4CAC-A562-6424332E77C7}"/>
                </a:ext>
              </a:extLst>
            </p:cNvPr>
            <p:cNvPicPr>
              <a:picLocks noChangeAspect="1"/>
            </p:cNvPicPr>
            <p:nvPr/>
          </p:nvPicPr>
          <p:blipFill>
            <a:blip r:embed="rId3"/>
            <a:stretch>
              <a:fillRect/>
            </a:stretch>
          </p:blipFill>
          <p:spPr>
            <a:xfrm>
              <a:off x="6362621" y="1721279"/>
              <a:ext cx="4919082" cy="4222913"/>
            </a:xfrm>
            <a:prstGeom prst="rect">
              <a:avLst/>
            </a:prstGeom>
          </p:spPr>
        </p:pic>
        <p:sp>
          <p:nvSpPr>
            <p:cNvPr id="6" name="文本框 5">
              <a:extLst>
                <a:ext uri="{FF2B5EF4-FFF2-40B4-BE49-F238E27FC236}">
                  <a16:creationId xmlns:a16="http://schemas.microsoft.com/office/drawing/2014/main" id="{372D5F79-9D0A-411C-A040-152CF80DB7FC}"/>
                </a:ext>
              </a:extLst>
            </p:cNvPr>
            <p:cNvSpPr txBox="1"/>
            <p:nvPr/>
          </p:nvSpPr>
          <p:spPr>
            <a:xfrm>
              <a:off x="775066" y="930300"/>
              <a:ext cx="7893439"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40" dirty="0">
                  <a:solidFill>
                    <a:prstClr val="black"/>
                  </a:solidFill>
                  <a:latin typeface="Times New Roman" panose="02020603050405020304" pitchFamily="18" charset="0"/>
                  <a:ea typeface="SimSun"/>
                  <a:cs typeface="Times New Roman" panose="02020603050405020304" pitchFamily="18" charset="0"/>
                </a:rPr>
                <a:t>Water spray nozzle</a:t>
              </a:r>
            </a:p>
          </p:txBody>
        </p:sp>
        <p:pic>
          <p:nvPicPr>
            <p:cNvPr id="7" name="图片 6">
              <a:extLst>
                <a:ext uri="{FF2B5EF4-FFF2-40B4-BE49-F238E27FC236}">
                  <a16:creationId xmlns:a16="http://schemas.microsoft.com/office/drawing/2014/main" id="{B35B12EB-A562-42F7-84F4-D83D5AC6A9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8961" y="1660828"/>
              <a:ext cx="2895890" cy="1476822"/>
            </a:xfrm>
            <a:prstGeom prst="rect">
              <a:avLst/>
            </a:prstGeom>
          </p:spPr>
        </p:pic>
        <p:sp>
          <p:nvSpPr>
            <p:cNvPr id="8" name="文本框 7">
              <a:extLst>
                <a:ext uri="{FF2B5EF4-FFF2-40B4-BE49-F238E27FC236}">
                  <a16:creationId xmlns:a16="http://schemas.microsoft.com/office/drawing/2014/main" id="{CFEA6F62-D93B-4DE6-B8E2-1D5C6626D810}"/>
                </a:ext>
              </a:extLst>
            </p:cNvPr>
            <p:cNvSpPr txBox="1"/>
            <p:nvPr/>
          </p:nvSpPr>
          <p:spPr>
            <a:xfrm>
              <a:off x="906767" y="1260718"/>
              <a:ext cx="1931684"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40" dirty="0">
                  <a:solidFill>
                    <a:prstClr val="black"/>
                  </a:solidFill>
                  <a:latin typeface="Times New Roman" panose="02020603050405020304" pitchFamily="18" charset="0"/>
                  <a:ea typeface="SimSun"/>
                  <a:cs typeface="Times New Roman" panose="02020603050405020304" pitchFamily="18" charset="0"/>
                </a:rPr>
                <a:t>Arrangement</a:t>
              </a:r>
            </a:p>
          </p:txBody>
        </p:sp>
        <p:sp>
          <p:nvSpPr>
            <p:cNvPr id="9" name="文本框 8">
              <a:extLst>
                <a:ext uri="{FF2B5EF4-FFF2-40B4-BE49-F238E27FC236}">
                  <a16:creationId xmlns:a16="http://schemas.microsoft.com/office/drawing/2014/main" id="{9E4AB835-1458-4B7E-86C3-561D053D893C}"/>
                </a:ext>
              </a:extLst>
            </p:cNvPr>
            <p:cNvSpPr txBox="1"/>
            <p:nvPr/>
          </p:nvSpPr>
          <p:spPr>
            <a:xfrm>
              <a:off x="910297" y="3343277"/>
              <a:ext cx="1223046"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40" dirty="0">
                  <a:solidFill>
                    <a:prstClr val="black"/>
                  </a:solidFill>
                  <a:latin typeface="Times New Roman" panose="02020603050405020304" pitchFamily="18" charset="0"/>
                  <a:ea typeface="SimSun"/>
                  <a:cs typeface="Times New Roman" panose="02020603050405020304" pitchFamily="18" charset="0"/>
                </a:rPr>
                <a:t>T</a:t>
              </a:r>
              <a:r>
                <a:rPr lang="en-US" altLang="zh-CN" sz="1640" dirty="0" err="1">
                  <a:solidFill>
                    <a:prstClr val="black"/>
                  </a:solidFill>
                  <a:latin typeface="Times New Roman" panose="02020603050405020304" pitchFamily="18" charset="0"/>
                  <a:ea typeface="SimSun"/>
                  <a:cs typeface="Times New Roman" panose="02020603050405020304" pitchFamily="18" charset="0"/>
                </a:rPr>
                <a:t>ypes</a:t>
              </a:r>
              <a:endParaRPr lang="en-HK" sz="1640" dirty="0">
                <a:solidFill>
                  <a:prstClr val="black"/>
                </a:solidFill>
                <a:latin typeface="Times New Roman" panose="02020603050405020304" pitchFamily="18" charset="0"/>
                <a:ea typeface="SimSun"/>
                <a:cs typeface="Times New Roman" panose="02020603050405020304" pitchFamily="18" charset="0"/>
              </a:endParaRPr>
            </a:p>
          </p:txBody>
        </p:sp>
        <p:pic>
          <p:nvPicPr>
            <p:cNvPr id="10" name="图片 9">
              <a:extLst>
                <a:ext uri="{FF2B5EF4-FFF2-40B4-BE49-F238E27FC236}">
                  <a16:creationId xmlns:a16="http://schemas.microsoft.com/office/drawing/2014/main" id="{DBD39E2F-B5DF-4E80-A0FD-4E702CDC2B66}"/>
                </a:ext>
              </a:extLst>
            </p:cNvPr>
            <p:cNvPicPr>
              <a:picLocks noChangeAspect="1"/>
            </p:cNvPicPr>
            <p:nvPr/>
          </p:nvPicPr>
          <p:blipFill rotWithShape="1">
            <a:blip r:embed="rId5">
              <a:extLst>
                <a:ext uri="{28A0092B-C50C-407E-A947-70E740481C1C}">
                  <a14:useLocalDpi xmlns:a14="http://schemas.microsoft.com/office/drawing/2010/main" val="0"/>
                </a:ext>
              </a:extLst>
            </a:blip>
            <a:srcRect r="41511"/>
            <a:stretch/>
          </p:blipFill>
          <p:spPr>
            <a:xfrm>
              <a:off x="1652249" y="3700825"/>
              <a:ext cx="2947537" cy="1259872"/>
            </a:xfrm>
            <a:prstGeom prst="rect">
              <a:avLst/>
            </a:prstGeom>
          </p:spPr>
        </p:pic>
        <p:pic>
          <p:nvPicPr>
            <p:cNvPr id="11" name="图片 10">
              <a:extLst>
                <a:ext uri="{FF2B5EF4-FFF2-40B4-BE49-F238E27FC236}">
                  <a16:creationId xmlns:a16="http://schemas.microsoft.com/office/drawing/2014/main" id="{A6BE8FC5-02EE-4E51-ACCA-994E65E01EFB}"/>
                </a:ext>
              </a:extLst>
            </p:cNvPr>
            <p:cNvPicPr>
              <a:picLocks noChangeAspect="1"/>
            </p:cNvPicPr>
            <p:nvPr/>
          </p:nvPicPr>
          <p:blipFill rotWithShape="1">
            <a:blip r:embed="rId5">
              <a:extLst>
                <a:ext uri="{28A0092B-C50C-407E-A947-70E740481C1C}">
                  <a14:useLocalDpi xmlns:a14="http://schemas.microsoft.com/office/drawing/2010/main" val="0"/>
                </a:ext>
              </a:extLst>
            </a:blip>
            <a:srcRect l="58833"/>
            <a:stretch/>
          </p:blipFill>
          <p:spPr>
            <a:xfrm>
              <a:off x="2014867" y="5030651"/>
              <a:ext cx="1995091" cy="1211580"/>
            </a:xfrm>
            <a:prstGeom prst="rect">
              <a:avLst/>
            </a:prstGeom>
          </p:spPr>
        </p:pic>
        <p:sp>
          <p:nvSpPr>
            <p:cNvPr id="12" name="矩形 11">
              <a:extLst>
                <a:ext uri="{FF2B5EF4-FFF2-40B4-BE49-F238E27FC236}">
                  <a16:creationId xmlns:a16="http://schemas.microsoft.com/office/drawing/2014/main" id="{75E41081-C36A-4D1C-AECE-41C93056FDE2}"/>
                </a:ext>
              </a:extLst>
            </p:cNvPr>
            <p:cNvSpPr/>
            <p:nvPr/>
          </p:nvSpPr>
          <p:spPr>
            <a:xfrm>
              <a:off x="1372956" y="3126651"/>
              <a:ext cx="3278911" cy="461665"/>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Fig.1.3.3 </a:t>
              </a:r>
              <a:r>
                <a:rPr lang="en-HK" sz="984" dirty="0">
                  <a:solidFill>
                    <a:prstClr val="black"/>
                  </a:solidFill>
                  <a:latin typeface="Times New Roman" panose="02020603050405020304" pitchFamily="18" charset="0"/>
                  <a:ea typeface="SimSun"/>
                  <a:cs typeface="Times New Roman" panose="02020603050405020304" pitchFamily="18" charset="0"/>
                </a:rPr>
                <a:t>The photos of water distribution effect</a:t>
              </a:r>
              <a:r>
                <a:rPr lang="en-US" sz="984" baseline="30000" dirty="0">
                  <a:solidFill>
                    <a:prstClr val="black"/>
                  </a:solidFill>
                  <a:latin typeface="Times New Roman" panose="02020603050405020304" pitchFamily="18" charset="0"/>
                  <a:ea typeface="SimSun"/>
                  <a:cs typeface="Times New Roman" panose="02020603050405020304" pitchFamily="18" charset="0"/>
                </a:rPr>
                <a:t>[1]</a:t>
              </a:r>
              <a:endParaRPr lang="en-HK" sz="984"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984" dirty="0">
                <a:solidFill>
                  <a:prstClr val="black"/>
                </a:solidFill>
                <a:latin typeface="Times New Roman" panose="020B0604020202020204" pitchFamily="34" charset="0"/>
                <a:ea typeface="SimSun"/>
                <a:cs typeface="Times New Roman" panose="020B0604020202020204" pitchFamily="34" charset="0"/>
              </a:endParaRPr>
            </a:p>
          </p:txBody>
        </p:sp>
        <p:sp>
          <p:nvSpPr>
            <p:cNvPr id="13" name="矩形 12">
              <a:extLst>
                <a:ext uri="{FF2B5EF4-FFF2-40B4-BE49-F238E27FC236}">
                  <a16:creationId xmlns:a16="http://schemas.microsoft.com/office/drawing/2014/main" id="{8E7CFE02-F62C-43D5-B3A7-84E54DB6610B}"/>
                </a:ext>
              </a:extLst>
            </p:cNvPr>
            <p:cNvSpPr/>
            <p:nvPr/>
          </p:nvSpPr>
          <p:spPr>
            <a:xfrm>
              <a:off x="1460500" y="6210354"/>
              <a:ext cx="3541354" cy="461665"/>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Fig.1.3.4 </a:t>
              </a:r>
              <a:r>
                <a:rPr lang="en-HK" sz="984" dirty="0">
                  <a:solidFill>
                    <a:prstClr val="black"/>
                  </a:solidFill>
                  <a:latin typeface="Times New Roman" panose="02020603050405020304" pitchFamily="18" charset="0"/>
                  <a:ea typeface="SimSun"/>
                  <a:cs typeface="Times New Roman" panose="02020603050405020304" pitchFamily="18" charset="0"/>
                </a:rPr>
                <a:t>Five types of commonly used spray nozzle</a:t>
              </a:r>
              <a:r>
                <a:rPr lang="en-US" sz="984" baseline="30000" dirty="0">
                  <a:solidFill>
                    <a:prstClr val="black"/>
                  </a:solidFill>
                  <a:latin typeface="Times New Roman" panose="02020603050405020304" pitchFamily="18" charset="0"/>
                  <a:ea typeface="SimSun"/>
                  <a:cs typeface="Times New Roman" panose="02020603050405020304" pitchFamily="18" charset="0"/>
                </a:rPr>
                <a:t>[1]</a:t>
              </a:r>
              <a:endParaRPr lang="en-HK" sz="984"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984" dirty="0">
                <a:solidFill>
                  <a:prstClr val="black"/>
                </a:solidFill>
                <a:latin typeface="Times New Roman" panose="020B0604020202020204" pitchFamily="34" charset="0"/>
                <a:ea typeface="SimSun"/>
                <a:cs typeface="Times New Roman" panose="020B0604020202020204" pitchFamily="34" charset="0"/>
              </a:endParaRPr>
            </a:p>
          </p:txBody>
        </p:sp>
        <p:sp>
          <p:nvSpPr>
            <p:cNvPr id="14" name="矩形 13">
              <a:extLst>
                <a:ext uri="{FF2B5EF4-FFF2-40B4-BE49-F238E27FC236}">
                  <a16:creationId xmlns:a16="http://schemas.microsoft.com/office/drawing/2014/main" id="{C8350991-79F4-40F0-BD4B-2486795F9C6A}"/>
                </a:ext>
              </a:extLst>
            </p:cNvPr>
            <p:cNvSpPr/>
            <p:nvPr/>
          </p:nvSpPr>
          <p:spPr>
            <a:xfrm>
              <a:off x="6637653" y="5935438"/>
              <a:ext cx="4369017" cy="276999"/>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Fig.1.3.5 </a:t>
              </a:r>
              <a:r>
                <a:rPr lang="en-HK" sz="984" dirty="0">
                  <a:solidFill>
                    <a:prstClr val="black"/>
                  </a:solidFill>
                  <a:latin typeface="Times New Roman" panose="02020603050405020304" pitchFamily="18" charset="0"/>
                  <a:ea typeface="SimSun"/>
                  <a:cs typeface="Times New Roman" panose="02020603050405020304" pitchFamily="18" charset="0"/>
                </a:rPr>
                <a:t>Water distribution volume of spraying nozzles(220 L/h)</a:t>
              </a:r>
              <a:r>
                <a:rPr lang="en-US" sz="984" baseline="30000" dirty="0">
                  <a:solidFill>
                    <a:prstClr val="black"/>
                  </a:solidFill>
                  <a:latin typeface="Times New Roman" panose="02020603050405020304" pitchFamily="18" charset="0"/>
                  <a:ea typeface="SimSun"/>
                  <a:cs typeface="Times New Roman" panose="02020603050405020304" pitchFamily="18" charset="0"/>
                </a:rPr>
                <a:t> [1</a:t>
              </a:r>
              <a:r>
                <a:rPr lang="en-US" sz="984" baseline="30000" dirty="0">
                  <a:solidFill>
                    <a:prstClr val="black"/>
                  </a:solidFill>
                  <a:latin typeface="Times New Roman" panose="020F0502020204030204"/>
                  <a:ea typeface="SimSun"/>
                  <a:cs typeface="Times New Roman"/>
                </a:rPr>
                <a:t>]</a:t>
              </a:r>
              <a:endParaRPr lang="en-HK" sz="984" baseline="30000" dirty="0">
                <a:solidFill>
                  <a:prstClr val="black"/>
                </a:solidFill>
                <a:latin typeface="Times New Roman" panose="020F0502020204030204"/>
                <a:ea typeface="SimSun"/>
                <a:cs typeface="Times New Roman"/>
              </a:endParaRPr>
            </a:p>
          </p:txBody>
        </p:sp>
        <p:sp>
          <p:nvSpPr>
            <p:cNvPr id="19" name="矩形 18">
              <a:extLst>
                <a:ext uri="{FF2B5EF4-FFF2-40B4-BE49-F238E27FC236}">
                  <a16:creationId xmlns:a16="http://schemas.microsoft.com/office/drawing/2014/main" id="{D91E4C07-B92B-4844-BBED-212125B89E9F}"/>
                </a:ext>
              </a:extLst>
            </p:cNvPr>
            <p:cNvSpPr/>
            <p:nvPr/>
          </p:nvSpPr>
          <p:spPr>
            <a:xfrm>
              <a:off x="906766" y="6480683"/>
              <a:ext cx="9662662" cy="261290"/>
            </a:xfrm>
            <a:prstGeom prst="rect">
              <a:avLst/>
            </a:prstGeom>
          </p:spPr>
          <p:txBody>
            <a:bodyPr wrap="square">
              <a:spAutoFit/>
            </a:bodyPr>
            <a:lstStyle/>
            <a:p>
              <a:pPr marL="406400" indent="-406400" defTabSz="457200" eaLnBrk="1" fontAlgn="auto" hangingPunct="1">
                <a:lnSpc>
                  <a:spcPct val="107000"/>
                </a:lnSpc>
                <a:spcBef>
                  <a:spcPts val="0"/>
                </a:spcBef>
                <a:spcAft>
                  <a:spcPts val="0"/>
                </a:spcAft>
              </a:pPr>
              <a:r>
                <a:rPr lang="en-US" sz="902"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[1] Sun T, Huang X, Chen Y, Zhang H. Experimental investigation of water spraying in an indirect evaporative cooler from nozzle type and spray strategy perspectives. </a:t>
              </a:r>
              <a:endParaRPr lang="en-HK" sz="902"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A36BCB2F-72AD-4008-B678-9A07005B8EA9}"/>
                </a:ext>
              </a:extLst>
            </p:cNvPr>
            <p:cNvSpPr txBox="1"/>
            <p:nvPr/>
          </p:nvSpPr>
          <p:spPr>
            <a:xfrm>
              <a:off x="6162675" y="1258391"/>
              <a:ext cx="1931684" cy="400110"/>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640" dirty="0">
                  <a:solidFill>
                    <a:prstClr val="black"/>
                  </a:solidFill>
                  <a:latin typeface="Times New Roman" panose="02020603050405020304" pitchFamily="18" charset="0"/>
                  <a:ea typeface="SimSun"/>
                  <a:cs typeface="Times New Roman" panose="02020603050405020304" pitchFamily="18" charset="0"/>
                </a:rPr>
                <a:t>D</a:t>
              </a:r>
              <a:r>
                <a:rPr lang="en-US" altLang="zh-CN" sz="1640" dirty="0" err="1">
                  <a:solidFill>
                    <a:prstClr val="black"/>
                  </a:solidFill>
                  <a:latin typeface="Times New Roman" panose="02020603050405020304" pitchFamily="18" charset="0"/>
                  <a:ea typeface="SimSun"/>
                  <a:cs typeface="Times New Roman" panose="02020603050405020304" pitchFamily="18" charset="0"/>
                </a:rPr>
                <a:t>istributions</a:t>
              </a:r>
              <a:endParaRPr lang="en-HK" sz="1640" dirty="0">
                <a:solidFill>
                  <a:prstClr val="black"/>
                </a:solidFill>
                <a:latin typeface="Times New Roman" panose="02020603050405020304" pitchFamily="18" charset="0"/>
                <a:ea typeface="SimSun"/>
                <a:cs typeface="Times New Roman" panose="02020603050405020304" pitchFamily="18" charset="0"/>
              </a:endParaRPr>
            </a:p>
          </p:txBody>
        </p:sp>
      </p:grpSp>
      <p:sp>
        <p:nvSpPr>
          <p:cNvPr id="2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中文要点｜喷嘴与布水特性</a:t>
            </a:r>
          </a:p>
          <a:p>
            <a:pPr>
              <a:lnSpc>
                <a:spcPct val="108000"/>
              </a:lnSpc>
              <a:spcAft>
                <a:spcPts val="0"/>
              </a:spcAft>
            </a:pPr>
            <a:r>
              <a:rPr sz="1400" b="0">
                <a:solidFill>
                  <a:srgbClr val="282828"/>
                </a:solidFill>
                <a:latin typeface="Times New Roman"/>
                <a:ea typeface="SimSun"/>
                <a:cs typeface="Times New Roman"/>
              </a:rPr>
              <a:t>喷嘴类型、布置方式及喷淋分布共同决定板面的布水效果，是改善润湿性的重要设计因素。</a:t>
            </a:r>
          </a:p>
        </p:txBody>
      </p:sp>
    </p:spTree>
    <p:extLst>
      <p:ext uri="{BB962C8B-B14F-4D97-AF65-F5344CB8AC3E}">
        <p14:creationId xmlns:p14="http://schemas.microsoft.com/office/powerpoint/2010/main" val="284817558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5AA2B23-CD6E-49B1-AE8D-2AC5B4516E1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9</a:t>
            </a:fld>
            <a:endParaRPr lang="en-US" altLang="zh-CN">
              <a:latin typeface="Times New Roman"/>
              <a:ea typeface="SimSun"/>
              <a:cs typeface="Times New Roman"/>
            </a:endParaRPr>
          </a:p>
        </p:txBody>
      </p:sp>
      <p:sp>
        <p:nvSpPr>
          <p:cNvPr id="18" name="Title 8">
            <a:extLst>
              <a:ext uri="{FF2B5EF4-FFF2-40B4-BE49-F238E27FC236}">
                <a16:creationId xmlns:a16="http://schemas.microsoft.com/office/drawing/2014/main" id="{31252C30-804E-4227-9AE8-D551D1A10476}"/>
              </a:ext>
            </a:extLst>
          </p:cNvPr>
          <p:cNvSpPr txBox="1">
            <a:spLocks/>
          </p:cNvSpPr>
          <p:nvPr/>
        </p:nvSpPr>
        <p:spPr bwMode="auto">
          <a:xfrm>
            <a:off x="882545" y="259531"/>
            <a:ext cx="83820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spcBef>
                <a:spcPts val="0"/>
              </a:spcBef>
              <a:spcAft>
                <a:spcPts val="0"/>
              </a:spcAft>
            </a:pPr>
            <a:r>
              <a:rPr lang="en-US" b="1" dirty="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spcBef>
                <a:spcPts val="0"/>
              </a:spcBef>
              <a:spcAft>
                <a:spcPts val="0"/>
              </a:spcAft>
            </a:pPr>
            <a:endParaRPr lang="en-US" sz="2000" b="1" dirty="0">
              <a:solidFill>
                <a:srgbClr val="000000"/>
              </a:solidFill>
              <a:latin typeface="Times New Roman"/>
              <a:ea typeface="SimSun"/>
              <a:cs typeface="Times New Roman" charset="0"/>
            </a:endParaRPr>
          </a:p>
        </p:txBody>
      </p:sp>
      <p:grpSp>
        <p:nvGrpSpPr>
          <p:cNvPr id="29" name="Original English content (proportional layout)"/>
          <p:cNvGrpSpPr/>
          <p:nvPr/>
        </p:nvGrpSpPr>
        <p:grpSpPr>
          <a:xfrm>
            <a:off x="1097280" y="731520"/>
            <a:ext cx="9997440" cy="5023714"/>
            <a:chOff x="0" y="731520"/>
            <a:chExt cx="12192000" cy="6126480"/>
          </a:xfrm>
        </p:grpSpPr>
        <p:pic>
          <p:nvPicPr>
            <p:cNvPr id="4" name="图片 3">
              <a:extLst>
                <a:ext uri="{FF2B5EF4-FFF2-40B4-BE49-F238E27FC236}">
                  <a16:creationId xmlns:a16="http://schemas.microsoft.com/office/drawing/2014/main" id="{25CBF3B0-E901-4873-A723-7AA928F89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9347" y="1378030"/>
              <a:ext cx="7148037" cy="4184569"/>
            </a:xfrm>
            <a:prstGeom prst="rect">
              <a:avLst/>
            </a:prstGeom>
          </p:spPr>
        </p:pic>
        <p:sp>
          <p:nvSpPr>
            <p:cNvPr id="13" name="矩形 12">
              <a:extLst>
                <a:ext uri="{FF2B5EF4-FFF2-40B4-BE49-F238E27FC236}">
                  <a16:creationId xmlns:a16="http://schemas.microsoft.com/office/drawing/2014/main" id="{8E7CFE02-F62C-43D5-B3A7-84E54DB6610B}"/>
                </a:ext>
              </a:extLst>
            </p:cNvPr>
            <p:cNvSpPr/>
            <p:nvPr/>
          </p:nvSpPr>
          <p:spPr>
            <a:xfrm>
              <a:off x="4888438" y="5562599"/>
              <a:ext cx="2428870" cy="461665"/>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Fig.1.3.5 </a:t>
              </a:r>
              <a:r>
                <a:rPr lang="en-HK" sz="984" dirty="0">
                  <a:solidFill>
                    <a:prstClr val="black"/>
                  </a:solidFill>
                  <a:latin typeface="Times New Roman" panose="02020603050405020304" pitchFamily="18" charset="0"/>
                  <a:ea typeface="SimSun"/>
                  <a:cs typeface="Times New Roman" panose="02020603050405020304" pitchFamily="18" charset="0"/>
                </a:rPr>
                <a:t>Previous model of the IEC</a:t>
              </a:r>
              <a:endParaRPr lang="en-HK" sz="984" baseline="300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984" dirty="0">
                <a:solidFill>
                  <a:prstClr val="black"/>
                </a:solidFill>
                <a:latin typeface="Times New Roman" panose="020B0604020202020204" pitchFamily="34" charset="0"/>
                <a:ea typeface="SimSun"/>
                <a:cs typeface="Times New Roman" panose="020B0604020202020204" pitchFamily="34" charset="0"/>
              </a:endParaRPr>
            </a:p>
          </p:txBody>
        </p:sp>
        <p:sp>
          <p:nvSpPr>
            <p:cNvPr id="5" name="椭圆 4">
              <a:extLst>
                <a:ext uri="{FF2B5EF4-FFF2-40B4-BE49-F238E27FC236}">
                  <a16:creationId xmlns:a16="http://schemas.microsoft.com/office/drawing/2014/main" id="{3D378700-1184-42B0-BC78-8BC8371E099F}"/>
                </a:ext>
              </a:extLst>
            </p:cNvPr>
            <p:cNvSpPr/>
            <p:nvPr/>
          </p:nvSpPr>
          <p:spPr bwMode="auto">
            <a:xfrm>
              <a:off x="3409651" y="1791989"/>
              <a:ext cx="290049" cy="2751071"/>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dirty="0">
                <a:solidFill>
                  <a:schemeClr val="bg2"/>
                </a:solidFill>
                <a:latin typeface="Times New Roman" charset="0"/>
                <a:ea typeface="SimSun"/>
                <a:cs typeface="Times New Roman"/>
              </a:endParaRPr>
            </a:p>
          </p:txBody>
        </p:sp>
        <p:sp>
          <p:nvSpPr>
            <p:cNvPr id="20" name="椭圆 19">
              <a:extLst>
                <a:ext uri="{FF2B5EF4-FFF2-40B4-BE49-F238E27FC236}">
                  <a16:creationId xmlns:a16="http://schemas.microsoft.com/office/drawing/2014/main" id="{E3DEC194-6E28-4884-990E-FFC1823815C8}"/>
                </a:ext>
              </a:extLst>
            </p:cNvPr>
            <p:cNvSpPr/>
            <p:nvPr/>
          </p:nvSpPr>
          <p:spPr bwMode="auto">
            <a:xfrm>
              <a:off x="6122388" y="1723413"/>
              <a:ext cx="290049" cy="2835108"/>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dirty="0">
                <a:solidFill>
                  <a:schemeClr val="bg2"/>
                </a:solidFill>
                <a:latin typeface="Times New Roman" charset="0"/>
                <a:ea typeface="SimSun"/>
                <a:cs typeface="Times New Roman"/>
              </a:endParaRPr>
            </a:p>
          </p:txBody>
        </p:sp>
        <p:sp>
          <p:nvSpPr>
            <p:cNvPr id="21" name="椭圆 20">
              <a:extLst>
                <a:ext uri="{FF2B5EF4-FFF2-40B4-BE49-F238E27FC236}">
                  <a16:creationId xmlns:a16="http://schemas.microsoft.com/office/drawing/2014/main" id="{F029131F-E6FC-4848-92C8-DA8DDA95290A}"/>
                </a:ext>
              </a:extLst>
            </p:cNvPr>
            <p:cNvSpPr/>
            <p:nvPr/>
          </p:nvSpPr>
          <p:spPr bwMode="auto">
            <a:xfrm>
              <a:off x="8610981" y="1802399"/>
              <a:ext cx="290049" cy="2710543"/>
            </a:xfrm>
            <a:prstGeom prst="ellipse">
              <a:avLst/>
            </a:prstGeom>
            <a:noFill/>
            <a:ln w="22225" cap="flat" cmpd="sng" algn="ctr">
              <a:solidFill>
                <a:srgbClr val="A6062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dirty="0">
                <a:solidFill>
                  <a:schemeClr val="bg2"/>
                </a:solidFill>
                <a:latin typeface="Times New Roman" charset="0"/>
                <a:ea typeface="SimSun"/>
                <a:cs typeface="Times New Roman"/>
              </a:endParaRPr>
            </a:p>
          </p:txBody>
        </p:sp>
        <p:cxnSp>
          <p:nvCxnSpPr>
            <p:cNvPr id="17" name="直接箭头连接符 16">
              <a:extLst>
                <a:ext uri="{FF2B5EF4-FFF2-40B4-BE49-F238E27FC236}">
                  <a16:creationId xmlns:a16="http://schemas.microsoft.com/office/drawing/2014/main" id="{A2AD6BAD-522A-4E0D-92A7-68563455EA24}"/>
                </a:ext>
              </a:extLst>
            </p:cNvPr>
            <p:cNvCxnSpPr>
              <a:cxnSpLocks/>
              <a:stCxn id="5" idx="4"/>
            </p:cNvCxnSpPr>
            <p:nvPr/>
          </p:nvCxnSpPr>
          <p:spPr bwMode="auto">
            <a:xfrm>
              <a:off x="3554676" y="4543060"/>
              <a:ext cx="1927751" cy="1377303"/>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42E955AA-A101-4E43-A9B9-F5FF16A3C183}"/>
                </a:ext>
              </a:extLst>
            </p:cNvPr>
            <p:cNvCxnSpPr>
              <a:cxnSpLocks/>
              <a:stCxn id="20" idx="4"/>
            </p:cNvCxnSpPr>
            <p:nvPr/>
          </p:nvCxnSpPr>
          <p:spPr bwMode="auto">
            <a:xfrm>
              <a:off x="6267413" y="4558521"/>
              <a:ext cx="0" cy="1345541"/>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2C0854CB-3A56-4522-BCA5-2E5F1FDAFB38}"/>
                </a:ext>
              </a:extLst>
            </p:cNvPr>
            <p:cNvCxnSpPr>
              <a:cxnSpLocks/>
            </p:cNvCxnSpPr>
            <p:nvPr/>
          </p:nvCxnSpPr>
          <p:spPr bwMode="auto">
            <a:xfrm flipH="1">
              <a:off x="6709720" y="4490009"/>
              <a:ext cx="2057921" cy="1454844"/>
            </a:xfrm>
            <a:prstGeom prst="straightConnector1">
              <a:avLst/>
            </a:prstGeom>
            <a:ln>
              <a:solidFill>
                <a:srgbClr val="C00000"/>
              </a:solidFill>
              <a:headEnd type="none" w="med" len="med"/>
              <a:tailEnd type="triangle"/>
            </a:ln>
          </p:spPr>
          <p:style>
            <a:lnRef idx="2">
              <a:schemeClr val="accent1"/>
            </a:lnRef>
            <a:fillRef idx="0">
              <a:schemeClr val="accent1"/>
            </a:fillRef>
            <a:effectRef idx="1">
              <a:schemeClr val="accent1"/>
            </a:effectRef>
            <a:fontRef idx="minor">
              <a:schemeClr val="tx1"/>
            </a:fontRef>
          </p:style>
        </p:cxnSp>
        <p:sp>
          <p:nvSpPr>
            <p:cNvPr id="27" name="文本框 26">
              <a:extLst>
                <a:ext uri="{FF2B5EF4-FFF2-40B4-BE49-F238E27FC236}">
                  <a16:creationId xmlns:a16="http://schemas.microsoft.com/office/drawing/2014/main" id="{503B77FD-B937-426C-8785-AAC4A219E9AD}"/>
                </a:ext>
              </a:extLst>
            </p:cNvPr>
            <p:cNvSpPr txBox="1"/>
            <p:nvPr/>
          </p:nvSpPr>
          <p:spPr>
            <a:xfrm>
              <a:off x="1556127" y="5904062"/>
              <a:ext cx="9313860"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476" b="1" dirty="0">
                  <a:solidFill>
                    <a:prstClr val="black"/>
                  </a:solidFill>
                  <a:latin typeface="Times New Roman" panose="02020603050405020304" pitchFamily="18" charset="0"/>
                  <a:ea typeface="SimSun"/>
                  <a:cs typeface="Times New Roman" panose="02020603050405020304" pitchFamily="18" charset="0"/>
                </a:rPr>
                <a:t>Assumption: </a:t>
              </a:r>
              <a:r>
                <a:rPr lang="en-HK" sz="1476" dirty="0">
                  <a:solidFill>
                    <a:prstClr val="black"/>
                  </a:solidFill>
                  <a:latin typeface="Times New Roman" panose="02020603050405020304" pitchFamily="18" charset="0"/>
                  <a:ea typeface="SimSun"/>
                  <a:cs typeface="Times New Roman" panose="02020603050405020304" pitchFamily="18" charset="0"/>
                </a:rPr>
                <a:t>the thin water film </a:t>
              </a:r>
              <a:r>
                <a:rPr lang="en-HK" sz="1476" dirty="0">
                  <a:solidFill>
                    <a:srgbClr val="A60626"/>
                  </a:solidFill>
                  <a:latin typeface="Times New Roman" panose="02020603050405020304" pitchFamily="18" charset="0"/>
                  <a:ea typeface="SimSun"/>
                  <a:cs typeface="Times New Roman" panose="02020603050405020304" pitchFamily="18" charset="0"/>
                </a:rPr>
                <a:t>entirely and evenly </a:t>
              </a:r>
              <a:r>
                <a:rPr lang="en-HK" sz="1476" dirty="0">
                  <a:solidFill>
                    <a:prstClr val="black"/>
                  </a:solidFill>
                  <a:latin typeface="Times New Roman" panose="02020603050405020304" pitchFamily="18" charset="0"/>
                  <a:ea typeface="SimSun"/>
                  <a:cs typeface="Times New Roman" panose="02020603050405020304" pitchFamily="18" charset="0"/>
                </a:rPr>
                <a:t>covered the surface of the wet channel</a:t>
              </a:r>
              <a:r>
                <a:rPr lang="en-HK" sz="1312" dirty="0">
                  <a:solidFill>
                    <a:prstClr val="black"/>
                  </a:solidFill>
                  <a:latin typeface="Times New Roman" panose="02020603050405020304" pitchFamily="18" charset="0"/>
                  <a:ea typeface="SimSun"/>
                  <a:cs typeface="Times New Roman" panose="02020603050405020304" pitchFamily="18" charset="0"/>
                </a:rPr>
                <a:t>.</a:t>
              </a:r>
              <a:endParaRPr lang="en-HK" sz="1312" dirty="0">
                <a:solidFill>
                  <a:srgbClr val="247FAB"/>
                </a:solidFill>
                <a:latin typeface="Times New Roman" panose="02020603050405020304" pitchFamily="18" charset="0"/>
                <a:ea typeface="SimSun"/>
                <a:cs typeface="Times New Roman" panose="02020603050405020304" pitchFamily="18" charset="0"/>
              </a:endParaRPr>
            </a:p>
          </p:txBody>
        </p:sp>
        <p:sp>
          <p:nvSpPr>
            <p:cNvPr id="28" name="矩形 27">
              <a:extLst>
                <a:ext uri="{FF2B5EF4-FFF2-40B4-BE49-F238E27FC236}">
                  <a16:creationId xmlns:a16="http://schemas.microsoft.com/office/drawing/2014/main" id="{71FD4503-2693-4DBE-B8D8-827EE31A8078}"/>
                </a:ext>
              </a:extLst>
            </p:cNvPr>
            <p:cNvSpPr/>
            <p:nvPr/>
          </p:nvSpPr>
          <p:spPr>
            <a:xfrm>
              <a:off x="5408670" y="6273394"/>
              <a:ext cx="1080745" cy="523220"/>
            </a:xfrm>
            <a:prstGeom prst="rect">
              <a:avLst/>
            </a:prstGeom>
          </p:spPr>
          <p:txBody>
            <a:bodyPr wrap="none">
              <a:spAutoFit/>
            </a:bodyPr>
            <a:lstStyle/>
            <a:p>
              <a:r>
                <a:rPr lang="en-US" sz="2296" b="1" i="1" dirty="0">
                  <a:solidFill>
                    <a:srgbClr val="A60626"/>
                  </a:solidFill>
                  <a:latin typeface="Times New Roman" panose="02020603050405020304" pitchFamily="18" charset="0"/>
                  <a:ea typeface="SimSun"/>
                  <a:cs typeface="Times New Roman" panose="02020603050405020304" pitchFamily="18" charset="0"/>
                </a:rPr>
                <a:t>Ideal!</a:t>
              </a:r>
              <a:endParaRPr lang="en-HK" sz="2296" b="1" i="1" dirty="0">
                <a:solidFill>
                  <a:srgbClr val="A60626"/>
                </a:solidFill>
                <a:latin typeface="Times New Roman" panose="02020603050405020304" pitchFamily="18" charset="0"/>
                <a:ea typeface="SimSun"/>
                <a:cs typeface="Times New Roman" panose="02020603050405020304" pitchFamily="18" charset="0"/>
              </a:endParaRPr>
            </a:p>
          </p:txBody>
        </p:sp>
        <p:sp>
          <p:nvSpPr>
            <p:cNvPr id="16" name="文本框 15">
              <a:extLst>
                <a:ext uri="{FF2B5EF4-FFF2-40B4-BE49-F238E27FC236}">
                  <a16:creationId xmlns:a16="http://schemas.microsoft.com/office/drawing/2014/main" id="{0BB6A41B-B989-4BB1-93D3-8B7041E8C517}"/>
                </a:ext>
              </a:extLst>
            </p:cNvPr>
            <p:cNvSpPr txBox="1"/>
            <p:nvPr/>
          </p:nvSpPr>
          <p:spPr>
            <a:xfrm>
              <a:off x="535303" y="937637"/>
              <a:ext cx="3427098"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1.</a:t>
              </a:r>
              <a:r>
                <a:rPr lang="en-US" altLang="zh-CN" sz="1476" b="1" dirty="0">
                  <a:solidFill>
                    <a:prstClr val="black"/>
                  </a:solidFill>
                  <a:latin typeface="Times New Roman" panose="02020603050405020304" pitchFamily="18" charset="0"/>
                  <a:ea typeface="SimSun"/>
                  <a:cs typeface="Times New Roman" panose="02020603050405020304" pitchFamily="18" charset="0"/>
                </a:rPr>
                <a:t>4</a:t>
              </a:r>
              <a:r>
                <a:rPr lang="en-HK" sz="1476" b="1" dirty="0">
                  <a:solidFill>
                    <a:prstClr val="black"/>
                  </a:solidFill>
                  <a:latin typeface="Times New Roman" panose="02020603050405020304" pitchFamily="18" charset="0"/>
                  <a:ea typeface="SimSun"/>
                  <a:cs typeface="Times New Roman" panose="02020603050405020304" pitchFamily="18" charset="0"/>
                </a:rPr>
                <a:t> Research on </a:t>
              </a:r>
              <a:r>
                <a:rPr lang="en-US" altLang="zh-CN" sz="1476" b="1" dirty="0">
                  <a:solidFill>
                    <a:prstClr val="black"/>
                  </a:solidFill>
                  <a:latin typeface="Times New Roman" panose="02020603050405020304" pitchFamily="18" charset="0"/>
                  <a:ea typeface="SimSun"/>
                  <a:cs typeface="Times New Roman" panose="02020603050405020304" pitchFamily="18" charset="0"/>
                </a:rPr>
                <a:t>previous model</a:t>
              </a:r>
              <a:endParaRPr lang="en-HK" sz="1476" b="1" dirty="0">
                <a:solidFill>
                  <a:prstClr val="black"/>
                </a:solidFill>
                <a:latin typeface="Times New Roman" panose="02020603050405020304" pitchFamily="18" charset="0"/>
                <a:ea typeface="SimSun"/>
                <a:cs typeface="Times New Roman" panose="02020603050405020304" pitchFamily="18" charset="0"/>
              </a:endParaRPr>
            </a:p>
          </p:txBody>
        </p:sp>
      </p:grpSp>
      <p:sp>
        <p:nvSpPr>
          <p:cNvPr id="3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中文要点｜现有模型的局限</a:t>
            </a:r>
          </a:p>
          <a:p>
            <a:pPr>
              <a:lnSpc>
                <a:spcPct val="108000"/>
              </a:lnSpc>
              <a:spcAft>
                <a:spcPts val="0"/>
              </a:spcAft>
            </a:pPr>
            <a:r>
              <a:rPr sz="1400" b="0">
                <a:solidFill>
                  <a:srgbClr val="282828"/>
                </a:solidFill>
                <a:latin typeface="Times New Roman"/>
                <a:ea typeface="SimSun"/>
                <a:cs typeface="Times New Roman"/>
              </a:rPr>
              <a:t>“水膜完整且均匀覆盖湿通道”的理想假设与实际情况存在差异，需考虑不完全润湿与真实喷淋分布。</a:t>
            </a:r>
          </a:p>
        </p:txBody>
      </p:sp>
    </p:spTree>
    <p:extLst>
      <p:ext uri="{BB962C8B-B14F-4D97-AF65-F5344CB8AC3E}">
        <p14:creationId xmlns:p14="http://schemas.microsoft.com/office/powerpoint/2010/main" val="56860269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2548687-009F-4747-894B-0D4F64FF02E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10</a:t>
            </a:fld>
            <a:endParaRPr lang="en-US" altLang="zh-CN">
              <a:latin typeface="Times New Roman"/>
              <a:ea typeface="SimSun"/>
              <a:cs typeface="Times New Roman"/>
            </a:endParaRPr>
          </a:p>
        </p:txBody>
      </p:sp>
      <p:sp>
        <p:nvSpPr>
          <p:cNvPr id="13" name="Title 8">
            <a:extLst>
              <a:ext uri="{FF2B5EF4-FFF2-40B4-BE49-F238E27FC236}">
                <a16:creationId xmlns:a16="http://schemas.microsoft.com/office/drawing/2014/main" id="{BD1A0AA3-C312-48E2-9FC2-006C72C0AA13}"/>
              </a:ext>
            </a:extLst>
          </p:cNvPr>
          <p:cNvSpPr txBox="1">
            <a:spLocks/>
          </p:cNvSpPr>
          <p:nvPr/>
        </p:nvSpPr>
        <p:spPr bwMode="auto">
          <a:xfrm>
            <a:off x="882545" y="259531"/>
            <a:ext cx="83820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Times New Roman" charset="0"/>
                <a:ea typeface="SimSun" charset="0"/>
                <a:cs typeface="Times New Roman" charset="0"/>
              </a:defRPr>
            </a:lvl1pPr>
            <a:lvl2pPr marL="742950" indent="-285750" defTabSz="457200">
              <a:defRPr>
                <a:solidFill>
                  <a:schemeClr val="tx1"/>
                </a:solidFill>
                <a:latin typeface="Times New Roman" charset="0"/>
                <a:ea typeface="SimSun" charset="0"/>
                <a:cs typeface="Times New Roman" charset="0"/>
              </a:defRPr>
            </a:lvl2pPr>
            <a:lvl3pPr marL="1143000" indent="-228600" defTabSz="457200">
              <a:defRPr>
                <a:solidFill>
                  <a:schemeClr val="tx1"/>
                </a:solidFill>
                <a:latin typeface="Times New Roman" charset="0"/>
                <a:ea typeface="SimSun" charset="0"/>
                <a:cs typeface="Times New Roman" charset="0"/>
              </a:defRPr>
            </a:lvl3pPr>
            <a:lvl4pPr marL="1600200" indent="-228600" defTabSz="457200">
              <a:defRPr>
                <a:solidFill>
                  <a:schemeClr val="tx1"/>
                </a:solidFill>
                <a:latin typeface="Times New Roman" charset="0"/>
                <a:ea typeface="SimSun" charset="0"/>
                <a:cs typeface="Times New Roman" charset="0"/>
              </a:defRPr>
            </a:lvl4pPr>
            <a:lvl5pPr marL="2057400" indent="-228600" defTabSz="457200">
              <a:defRPr>
                <a:solidFill>
                  <a:schemeClr val="tx1"/>
                </a:solidFill>
                <a:latin typeface="Times New Roman" charset="0"/>
                <a:ea typeface="SimSun" charset="0"/>
                <a:cs typeface="Times New Roman" charset="0"/>
              </a:defRPr>
            </a:lvl5pPr>
            <a:lvl6pPr marL="2514600" indent="-228600" eaLnBrk="0" fontAlgn="base" hangingPunct="0">
              <a:spcBef>
                <a:spcPct val="0"/>
              </a:spcBef>
              <a:spcAft>
                <a:spcPct val="0"/>
              </a:spcAft>
              <a:defRPr>
                <a:solidFill>
                  <a:schemeClr val="tx1"/>
                </a:solidFill>
                <a:latin typeface="Times New Roman" charset="0"/>
                <a:ea typeface="SimSun" charset="0"/>
                <a:cs typeface="Times New Roman" charset="0"/>
              </a:defRPr>
            </a:lvl6pPr>
            <a:lvl7pPr marL="2971800" indent="-228600" eaLnBrk="0" fontAlgn="base" hangingPunct="0">
              <a:spcBef>
                <a:spcPct val="0"/>
              </a:spcBef>
              <a:spcAft>
                <a:spcPct val="0"/>
              </a:spcAft>
              <a:defRPr>
                <a:solidFill>
                  <a:schemeClr val="tx1"/>
                </a:solidFill>
                <a:latin typeface="Times New Roman" charset="0"/>
                <a:ea typeface="SimSun" charset="0"/>
                <a:cs typeface="Times New Roman" charset="0"/>
              </a:defRPr>
            </a:lvl7pPr>
            <a:lvl8pPr marL="3429000" indent="-228600" eaLnBrk="0" fontAlgn="base" hangingPunct="0">
              <a:spcBef>
                <a:spcPct val="0"/>
              </a:spcBef>
              <a:spcAft>
                <a:spcPct val="0"/>
              </a:spcAft>
              <a:defRPr>
                <a:solidFill>
                  <a:schemeClr val="tx1"/>
                </a:solidFill>
                <a:latin typeface="Times New Roman" charset="0"/>
                <a:ea typeface="SimSun" charset="0"/>
                <a:cs typeface="Times New Roman" charset="0"/>
              </a:defRPr>
            </a:lvl8pPr>
            <a:lvl9pPr marL="3886200" indent="-228600" eaLnBrk="0" fontAlgn="base" hangingPunct="0">
              <a:spcBef>
                <a:spcPct val="0"/>
              </a:spcBef>
              <a:spcAft>
                <a:spcPct val="0"/>
              </a:spcAft>
              <a:defRPr>
                <a:solidFill>
                  <a:schemeClr val="tx1"/>
                </a:solidFill>
                <a:latin typeface="Times New Roman" charset="0"/>
                <a:ea typeface="SimSun" charset="0"/>
                <a:cs typeface="Times New Roman" charset="0"/>
              </a:defRPr>
            </a:lvl9pPr>
          </a:lstStyle>
          <a:p>
            <a:pPr eaLnBrk="1" fontAlgn="auto" hangingPunct="1">
              <a:spcBef>
                <a:spcPts val="0"/>
              </a:spcBef>
              <a:spcAft>
                <a:spcPts val="0"/>
              </a:spcAft>
            </a:pPr>
            <a:r>
              <a:rPr lang="en-US" b="1" dirty="0">
                <a:solidFill>
                  <a:srgbClr val="000000"/>
                </a:solidFill>
                <a:latin typeface="Times New Roman" panose="02020603050405020304" pitchFamily="18" charset="0"/>
                <a:ea typeface="SimSun"/>
                <a:cs typeface="Times New Roman" panose="02020603050405020304" pitchFamily="18" charset="0"/>
              </a:rPr>
              <a:t>1. Research background and literature review</a:t>
            </a:r>
          </a:p>
          <a:p>
            <a:pPr eaLnBrk="1" fontAlgn="auto" hangingPunct="1">
              <a:spcBef>
                <a:spcPts val="0"/>
              </a:spcBef>
              <a:spcAft>
                <a:spcPts val="0"/>
              </a:spcAft>
            </a:pPr>
            <a:endParaRPr lang="en-US" sz="2000" b="1" dirty="0">
              <a:solidFill>
                <a:srgbClr val="000000"/>
              </a:solidFill>
              <a:latin typeface="Times New Roman"/>
              <a:ea typeface="SimSun"/>
              <a:cs typeface="Times New Roman" charset="0"/>
            </a:endParaRPr>
          </a:p>
        </p:txBody>
      </p:sp>
      <p:grpSp>
        <p:nvGrpSpPr>
          <p:cNvPr id="20" name="Original English content (proportional layout)"/>
          <p:cNvGrpSpPr/>
          <p:nvPr/>
        </p:nvGrpSpPr>
        <p:grpSpPr>
          <a:xfrm>
            <a:off x="1097280" y="731520"/>
            <a:ext cx="9997440" cy="5023714"/>
            <a:chOff x="0" y="731520"/>
            <a:chExt cx="12192000" cy="6126480"/>
          </a:xfrm>
        </p:grpSpPr>
        <p:sp>
          <p:nvSpPr>
            <p:cNvPr id="6" name="文本框 5">
              <a:extLst>
                <a:ext uri="{FF2B5EF4-FFF2-40B4-BE49-F238E27FC236}">
                  <a16:creationId xmlns:a16="http://schemas.microsoft.com/office/drawing/2014/main" id="{523D1FCB-F41A-4EF6-BB9A-E5E2546B0349}"/>
                </a:ext>
              </a:extLst>
            </p:cNvPr>
            <p:cNvSpPr txBox="1"/>
            <p:nvPr/>
          </p:nvSpPr>
          <p:spPr>
            <a:xfrm>
              <a:off x="478152" y="948355"/>
              <a:ext cx="6867071" cy="400110"/>
            </a:xfrm>
            <a:prstGeom prst="rect">
              <a:avLst/>
            </a:prstGeom>
            <a:noFill/>
          </p:spPr>
          <p:txBody>
            <a:bodyPr wrap="square" rtlCol="0">
              <a:spAutoFit/>
            </a:bodyPr>
            <a:lstStyle/>
            <a:p>
              <a:pPr defTabSz="457200" eaLnBrk="1" fontAlgn="auto" hangingPunct="1">
                <a:spcBef>
                  <a:spcPts val="0"/>
                </a:spcBef>
                <a:spcAft>
                  <a:spcPts val="0"/>
                </a:spcAft>
              </a:pPr>
              <a:r>
                <a:rPr lang="en-HK" sz="1640" b="1" dirty="0">
                  <a:solidFill>
                    <a:prstClr val="black"/>
                  </a:solidFill>
                  <a:latin typeface="Times New Roman" panose="02020603050405020304" pitchFamily="18" charset="0"/>
                  <a:ea typeface="SimSun"/>
                  <a:cs typeface="Times New Roman" panose="02020603050405020304" pitchFamily="18" charset="0"/>
                </a:rPr>
                <a:t>1.5 IEC as the recovery unit</a:t>
              </a:r>
            </a:p>
          </p:txBody>
        </p:sp>
        <p:sp>
          <p:nvSpPr>
            <p:cNvPr id="14" name="矩形 13">
              <a:extLst>
                <a:ext uri="{FF2B5EF4-FFF2-40B4-BE49-F238E27FC236}">
                  <a16:creationId xmlns:a16="http://schemas.microsoft.com/office/drawing/2014/main" id="{1660984A-5705-45EB-800B-BE30FF291B07}"/>
                </a:ext>
              </a:extLst>
            </p:cNvPr>
            <p:cNvSpPr/>
            <p:nvPr/>
          </p:nvSpPr>
          <p:spPr>
            <a:xfrm>
              <a:off x="4102185" y="3300147"/>
              <a:ext cx="3627468" cy="276999"/>
            </a:xfrm>
            <a:prstGeom prst="rect">
              <a:avLst/>
            </a:prstGeom>
          </p:spPr>
          <p:txBody>
            <a:bodyPr wrap="non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Fig.1.5.1 </a:t>
              </a:r>
              <a:r>
                <a:rPr lang="en-US" sz="984" dirty="0">
                  <a:solidFill>
                    <a:prstClr val="black"/>
                  </a:solidFill>
                  <a:latin typeface="Times New Roman" panose="02020603050405020304" pitchFamily="18" charset="0"/>
                  <a:ea typeface="SimSun"/>
                  <a:cs typeface="Times New Roman" panose="02020603050405020304" pitchFamily="18" charset="0"/>
                </a:rPr>
                <a:t>Schematics diagram of IEC followed by AHU</a:t>
              </a:r>
              <a:endParaRPr lang="en-HK" sz="984" dirty="0">
                <a:solidFill>
                  <a:prstClr val="black"/>
                </a:solidFill>
                <a:latin typeface="Times New Roman" panose="02020603050405020304" pitchFamily="18" charset="0"/>
                <a:ea typeface="SimSun"/>
                <a:cs typeface="Times New Roman" panose="02020603050405020304" pitchFamily="18" charset="0"/>
              </a:endParaRPr>
            </a:p>
          </p:txBody>
        </p:sp>
        <p:pic>
          <p:nvPicPr>
            <p:cNvPr id="2" name="图片 1">
              <a:extLst>
                <a:ext uri="{FF2B5EF4-FFF2-40B4-BE49-F238E27FC236}">
                  <a16:creationId xmlns:a16="http://schemas.microsoft.com/office/drawing/2014/main" id="{BB091CBB-CBBD-6E24-920D-550D736160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8495" y="1348465"/>
              <a:ext cx="6195010" cy="1980000"/>
            </a:xfrm>
            <a:prstGeom prst="rect">
              <a:avLst/>
            </a:prstGeom>
          </p:spPr>
        </p:pic>
        <p:sp>
          <p:nvSpPr>
            <p:cNvPr id="4" name="文本框 3">
              <a:extLst>
                <a:ext uri="{FF2B5EF4-FFF2-40B4-BE49-F238E27FC236}">
                  <a16:creationId xmlns:a16="http://schemas.microsoft.com/office/drawing/2014/main" id="{CF835B20-1FE2-5AD4-5C0C-9C88D6FC8312}"/>
                </a:ext>
              </a:extLst>
            </p:cNvPr>
            <p:cNvSpPr txBox="1"/>
            <p:nvPr/>
          </p:nvSpPr>
          <p:spPr>
            <a:xfrm>
              <a:off x="2274773" y="6178467"/>
              <a:ext cx="8278662" cy="400110"/>
            </a:xfrm>
            <a:prstGeom prst="rect">
              <a:avLst/>
            </a:prstGeom>
            <a:noFill/>
          </p:spPr>
          <p:txBody>
            <a:bodyPr wrap="square">
              <a:spAutoFit/>
            </a:bodyPr>
            <a:lstStyle/>
            <a:p>
              <a:r>
                <a:rPr lang="zh-CN" altLang="en-US" sz="1640" dirty="0">
                  <a:solidFill>
                    <a:prstClr val="black"/>
                  </a:solidFill>
                  <a:latin typeface="Times New Roman" panose="02020603050405020304" pitchFamily="18" charset="0"/>
                  <a:ea typeface="SimSun"/>
                  <a:cs typeface="Times New Roman" panose="02020603050405020304" pitchFamily="18" charset="0"/>
                </a:rPr>
                <a:t>A more </a:t>
              </a:r>
              <a:r>
                <a:rPr lang="zh-CN" altLang="en-US" sz="1640" b="1" i="1" dirty="0">
                  <a:solidFill>
                    <a:srgbClr val="C00000"/>
                  </a:solidFill>
                  <a:latin typeface="Times New Roman" panose="02020603050405020304" pitchFamily="18" charset="0"/>
                  <a:ea typeface="SimSun"/>
                  <a:cs typeface="Times New Roman" panose="02020603050405020304" pitchFamily="18" charset="0"/>
                </a:rPr>
                <a:t>standardized nozzle arrangement guideline </a:t>
              </a:r>
              <a:r>
                <a:rPr lang="zh-CN" altLang="en-US" sz="1640" dirty="0">
                  <a:solidFill>
                    <a:prstClr val="black"/>
                  </a:solidFill>
                  <a:latin typeface="Times New Roman" panose="02020603050405020304" pitchFamily="18" charset="0"/>
                  <a:ea typeface="SimSun"/>
                  <a:cs typeface="Times New Roman" panose="02020603050405020304" pitchFamily="18" charset="0"/>
                </a:rPr>
                <a:t>has not yet emerged</a:t>
              </a:r>
              <a:r>
                <a:rPr lang="en-US" altLang="zh-CN" sz="1640" dirty="0">
                  <a:solidFill>
                    <a:prstClr val="black"/>
                  </a:solidFill>
                  <a:latin typeface="Times New Roman" panose="02020603050405020304" pitchFamily="18" charset="0"/>
                  <a:ea typeface="SimSun"/>
                  <a:cs typeface="Times New Roman" panose="02020603050405020304" pitchFamily="18" charset="0"/>
                </a:rPr>
                <a:t>.</a:t>
              </a:r>
              <a:endParaRPr lang="zh-CN" altLang="en-US" sz="1640" dirty="0">
                <a:solidFill>
                  <a:prstClr val="black"/>
                </a:solidFill>
                <a:latin typeface="Times New Roman" panose="02020603050405020304" pitchFamily="18" charset="0"/>
                <a:ea typeface="SimSun"/>
                <a:cs typeface="Times New Roman" panose="02020603050405020304" pitchFamily="18" charset="0"/>
              </a:endParaRPr>
            </a:p>
          </p:txBody>
        </p:sp>
        <p:pic>
          <p:nvPicPr>
            <p:cNvPr id="5" name="图片 4">
              <a:extLst>
                <a:ext uri="{FF2B5EF4-FFF2-40B4-BE49-F238E27FC236}">
                  <a16:creationId xmlns:a16="http://schemas.microsoft.com/office/drawing/2014/main" id="{BB35BE47-F0F4-4F1C-98DE-F2162EE38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5695" y="3965897"/>
              <a:ext cx="3805759" cy="1980000"/>
            </a:xfrm>
            <a:prstGeom prst="rect">
              <a:avLst/>
            </a:prstGeom>
          </p:spPr>
        </p:pic>
        <p:pic>
          <p:nvPicPr>
            <p:cNvPr id="8" name="图片 7">
              <a:extLst>
                <a:ext uri="{FF2B5EF4-FFF2-40B4-BE49-F238E27FC236}">
                  <a16:creationId xmlns:a16="http://schemas.microsoft.com/office/drawing/2014/main" id="{7B9C0565-9603-4709-98FF-1206B8A58E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1453" y="3973457"/>
              <a:ext cx="2996400" cy="1980000"/>
            </a:xfrm>
            <a:prstGeom prst="rect">
              <a:avLst/>
            </a:prstGeom>
          </p:spPr>
        </p:pic>
        <p:sp>
          <p:nvSpPr>
            <p:cNvPr id="18" name="矩形 17">
              <a:extLst>
                <a:ext uri="{FF2B5EF4-FFF2-40B4-BE49-F238E27FC236}">
                  <a16:creationId xmlns:a16="http://schemas.microsoft.com/office/drawing/2014/main" id="{C43E418A-A63E-41B4-ACD9-BD1EECBBCE6B}"/>
                </a:ext>
              </a:extLst>
            </p:cNvPr>
            <p:cNvSpPr/>
            <p:nvPr/>
          </p:nvSpPr>
          <p:spPr>
            <a:xfrm>
              <a:off x="900996" y="3586237"/>
              <a:ext cx="5430141" cy="400110"/>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40" dirty="0">
                  <a:solidFill>
                    <a:prstClr val="black"/>
                  </a:solidFill>
                  <a:latin typeface="Times New Roman" panose="02020603050405020304" pitchFamily="18" charset="0"/>
                  <a:ea typeface="SimSun"/>
                  <a:cs typeface="Times New Roman" panose="02020603050405020304" pitchFamily="18" charset="0"/>
                </a:rPr>
                <a:t>Various nozzle settings for diamond-shaped IEC</a:t>
              </a:r>
            </a:p>
          </p:txBody>
        </p:sp>
        <p:sp>
          <p:nvSpPr>
            <p:cNvPr id="19" name="圆角矩形 44">
              <a:extLst>
                <a:ext uri="{FF2B5EF4-FFF2-40B4-BE49-F238E27FC236}">
                  <a16:creationId xmlns:a16="http://schemas.microsoft.com/office/drawing/2014/main" id="{EFA8BA0F-3A53-4119-8208-58CDB0207DAD}"/>
                </a:ext>
              </a:extLst>
            </p:cNvPr>
            <p:cNvSpPr/>
            <p:nvPr/>
          </p:nvSpPr>
          <p:spPr>
            <a:xfrm>
              <a:off x="2123476" y="6178468"/>
              <a:ext cx="7793751" cy="512075"/>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latin typeface="Times New Roman"/>
                  <a:ea typeface="SimSun"/>
                  <a:cs typeface="Times New Roman"/>
                </a:defRPr>
              </a:pPr>
              <a:endParaRPr lang="zh-CN" altLang="en-US" sz="1476" kern="0">
                <a:solidFill>
                  <a:prstClr val="white"/>
                </a:solidFill>
                <a:latin typeface="Times New Roman"/>
                <a:ea typeface="SimSun"/>
                <a:cs typeface="Times New Roman"/>
              </a:endParaRPr>
            </a:p>
          </p:txBody>
        </p:sp>
      </p:grpSp>
      <p:sp>
        <p:nvSpPr>
          <p:cNvPr id="21"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中文要点｜IEC 能量回收应用</a:t>
            </a:r>
          </a:p>
          <a:p>
            <a:pPr>
              <a:lnSpc>
                <a:spcPct val="108000"/>
              </a:lnSpc>
              <a:spcAft>
                <a:spcPts val="0"/>
              </a:spcAft>
            </a:pPr>
            <a:r>
              <a:rPr sz="1400" b="0">
                <a:solidFill>
                  <a:srgbClr val="282828"/>
                </a:solidFill>
                <a:latin typeface="Times New Roman"/>
                <a:ea typeface="SimSun"/>
                <a:cs typeface="Times New Roman"/>
              </a:rPr>
              <a:t>IEC 可与空气处理机组（AHU）结合使用，但菱形 IEC 仍缺少标准化的喷嘴布置指导方法。</a:t>
            </a:r>
          </a:p>
        </p:txBody>
      </p:sp>
    </p:spTree>
    <p:extLst>
      <p:ext uri="{BB962C8B-B14F-4D97-AF65-F5344CB8AC3E}">
        <p14:creationId xmlns:p14="http://schemas.microsoft.com/office/powerpoint/2010/main" val="239886700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11</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rgbClr val="C00000"/>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中文要点｜研究不足与目标</a:t>
            </a:r>
          </a:p>
          <a:p>
            <a:pPr>
              <a:lnSpc>
                <a:spcPct val="108000"/>
              </a:lnSpc>
              <a:spcAft>
                <a:spcPts val="0"/>
              </a:spcAft>
            </a:pPr>
            <a:r>
              <a:rPr sz="1400" b="0">
                <a:solidFill>
                  <a:srgbClr val="282828"/>
                </a:solidFill>
                <a:latin typeface="Times New Roman"/>
                <a:ea typeface="SimSun"/>
                <a:cs typeface="Times New Roman"/>
              </a:rPr>
              <a:t>围绕实际水膜分布、喷淋参数耦合和工程优化需求，建立从机理模型到智能预测的研究体系。</a:t>
            </a:r>
          </a:p>
        </p:txBody>
      </p:sp>
    </p:spTree>
    <p:extLst>
      <p:ext uri="{BB962C8B-B14F-4D97-AF65-F5344CB8AC3E}">
        <p14:creationId xmlns:p14="http://schemas.microsoft.com/office/powerpoint/2010/main" val="37589162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3">
            <a:extLst>
              <a:ext uri="{FF2B5EF4-FFF2-40B4-BE49-F238E27FC236}">
                <a16:creationId xmlns:a16="http://schemas.microsoft.com/office/drawing/2014/main" id="{B117BA7A-DC86-46C3-A64F-CB32A5B876F9}"/>
              </a:ext>
            </a:extLst>
          </p:cNvPr>
          <p:cNvSpPr>
            <a:spLocks noChangeArrowheads="1"/>
          </p:cNvSpPr>
          <p:nvPr/>
        </p:nvSpPr>
        <p:spPr bwMode="auto">
          <a:xfrm>
            <a:off x="962025" y="142876"/>
            <a:ext cx="7315200" cy="51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2. Research gaps and objectives</a:t>
            </a:r>
          </a:p>
        </p:txBody>
      </p:sp>
      <p:sp>
        <p:nvSpPr>
          <p:cNvPr id="3" name="灯片编号占位符 2">
            <a:extLst>
              <a:ext uri="{FF2B5EF4-FFF2-40B4-BE49-F238E27FC236}">
                <a16:creationId xmlns:a16="http://schemas.microsoft.com/office/drawing/2014/main" id="{CC26C1E1-6E4F-47BE-9F5A-82EE8FEB8C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12</a:t>
            </a:fld>
            <a:endParaRPr lang="en-US" altLang="zh-CN">
              <a:latin typeface="Times New Roman"/>
              <a:ea typeface="SimSun"/>
              <a:cs typeface="Times New Roman"/>
            </a:endParaRPr>
          </a:p>
        </p:txBody>
      </p:sp>
      <p:grpSp>
        <p:nvGrpSpPr>
          <p:cNvPr id="8" name="Original English content (proportional layout)"/>
          <p:cNvGrpSpPr/>
          <p:nvPr/>
        </p:nvGrpSpPr>
        <p:grpSpPr>
          <a:xfrm>
            <a:off x="1097280" y="731520"/>
            <a:ext cx="9997440" cy="5023714"/>
            <a:chOff x="0" y="731520"/>
            <a:chExt cx="12192000" cy="6126480"/>
          </a:xfrm>
        </p:grpSpPr>
        <p:sp>
          <p:nvSpPr>
            <p:cNvPr id="2" name="文本框 2">
              <a:extLst>
                <a:ext uri="{FF2B5EF4-FFF2-40B4-BE49-F238E27FC236}">
                  <a16:creationId xmlns:a16="http://schemas.microsoft.com/office/drawing/2014/main" id="{107BC49E-AA96-4902-F3C6-CF680147B4EF}"/>
                </a:ext>
              </a:extLst>
            </p:cNvPr>
            <p:cNvSpPr txBox="1">
              <a:spLocks noChangeArrowheads="1"/>
            </p:cNvSpPr>
            <p:nvPr/>
          </p:nvSpPr>
          <p:spPr bwMode="auto">
            <a:xfrm>
              <a:off x="962025" y="1301847"/>
              <a:ext cx="10115550" cy="549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457200" indent="-457200" algn="just">
                <a:lnSpc>
                  <a:spcPct val="150000"/>
                </a:lnSpc>
                <a:spcAft>
                  <a:spcPts val="492"/>
                </a:spcAft>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Most of the existing analysis about water spray of IEC are based on experimental data, and few mathematical models can </a:t>
              </a:r>
              <a:r>
                <a:rPr lang="en-HK" altLang="zh-CN" sz="1476" b="1" dirty="0">
                  <a:solidFill>
                    <a:srgbClr val="AF1E3B"/>
                  </a:solidFill>
                  <a:latin typeface="Times New Roman" panose="02020603050405020304" pitchFamily="18" charset="0"/>
                  <a:ea typeface="SimSun"/>
                  <a:cs typeface="Times New Roman" panose="02020603050405020304" pitchFamily="18" charset="0"/>
                </a:rPr>
                <a:t>quantitatively simulate </a:t>
              </a:r>
              <a:r>
                <a:rPr lang="en-HK" altLang="zh-CN" sz="1476" dirty="0">
                  <a:latin typeface="Times New Roman" panose="02020603050405020304" pitchFamily="18" charset="0"/>
                  <a:ea typeface="SimSun"/>
                  <a:cs typeface="Times New Roman" panose="02020603050405020304" pitchFamily="18" charset="0"/>
                </a:rPr>
                <a:t>the various parameters.</a:t>
              </a:r>
              <a:endParaRPr lang="en-US" altLang="zh-CN" sz="1476" dirty="0">
                <a:latin typeface="Times New Roman" panose="02020603050405020304" pitchFamily="18" charset="0"/>
                <a:ea typeface="SimSun"/>
                <a:cs typeface="Times New Roman" panose="02020603050405020304" pitchFamily="18" charset="0"/>
              </a:endParaRPr>
            </a:p>
            <a:p>
              <a:pPr marL="457200" indent="-457200" algn="just">
                <a:lnSpc>
                  <a:spcPct val="150000"/>
                </a:lnSpc>
                <a:spcAft>
                  <a:spcPts val="492"/>
                </a:spcAft>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The existing heat and mass transfer model of IEC has not fully discussed on the </a:t>
              </a:r>
              <a:r>
                <a:rPr lang="en-HK" altLang="zh-CN" sz="1476" b="1" dirty="0">
                  <a:solidFill>
                    <a:srgbClr val="AF1E3B"/>
                  </a:solidFill>
                  <a:latin typeface="Times New Roman" panose="02020603050405020304" pitchFamily="18" charset="0"/>
                  <a:ea typeface="SimSun"/>
                  <a:cs typeface="Times New Roman" panose="02020603050405020304" pitchFamily="18" charset="0"/>
                </a:rPr>
                <a:t>wetting ratio</a:t>
              </a:r>
              <a:r>
                <a:rPr lang="en-HK" altLang="zh-CN" sz="1476" dirty="0">
                  <a:latin typeface="Times New Roman" panose="02020603050405020304" pitchFamily="18" charset="0"/>
                  <a:ea typeface="SimSun"/>
                  <a:cs typeface="Times New Roman" panose="02020603050405020304" pitchFamily="18" charset="0"/>
                </a:rPr>
                <a:t>, and the ideal assumption needs to be corrected</a:t>
              </a:r>
              <a:r>
                <a:rPr lang="en-US" altLang="zh-CN" sz="1476" dirty="0">
                  <a:latin typeface="Times New Roman" panose="02020603050405020304" pitchFamily="18" charset="0"/>
                  <a:ea typeface="SimSun"/>
                  <a:cs typeface="Times New Roman" panose="02020603050405020304" pitchFamily="18" charset="0"/>
                </a:rPr>
                <a:t>. </a:t>
              </a:r>
            </a:p>
            <a:p>
              <a:pPr marL="457200" indent="-457200" algn="just">
                <a:lnSpc>
                  <a:spcPct val="150000"/>
                </a:lnSpc>
                <a:spcAft>
                  <a:spcPts val="492"/>
                </a:spcAft>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The current 2D model is not enough to accurately simulate the state of the </a:t>
              </a:r>
              <a:r>
                <a:rPr lang="en-HK" altLang="zh-CN" sz="1476" b="1" dirty="0">
                  <a:solidFill>
                    <a:srgbClr val="AF1E3B"/>
                  </a:solidFill>
                  <a:latin typeface="Times New Roman" panose="02020603050405020304" pitchFamily="18" charset="0"/>
                  <a:ea typeface="SimSun"/>
                  <a:cs typeface="Times New Roman" panose="02020603050405020304" pitchFamily="18" charset="0"/>
                </a:rPr>
                <a:t>water film distribution</a:t>
              </a:r>
              <a:r>
                <a:rPr lang="en-HK" altLang="zh-CN" sz="1476" dirty="0">
                  <a:latin typeface="Times New Roman" panose="02020603050405020304" pitchFamily="18" charset="0"/>
                  <a:ea typeface="SimSun"/>
                  <a:cs typeface="Times New Roman" panose="02020603050405020304" pitchFamily="18" charset="0"/>
                </a:rPr>
                <a:t>, and to deal with more complex hydraulic and thermal properties</a:t>
              </a:r>
              <a:r>
                <a:rPr lang="en-US" altLang="zh-CN" sz="1476" dirty="0">
                  <a:latin typeface="Times New Roman" panose="02020603050405020304" pitchFamily="18" charset="0"/>
                  <a:ea typeface="SimSun"/>
                  <a:cs typeface="Times New Roman" panose="02020603050405020304" pitchFamily="18" charset="0"/>
                </a:rPr>
                <a:t>.</a:t>
              </a:r>
            </a:p>
            <a:p>
              <a:pPr marL="457200" indent="-457200" algn="just">
                <a:lnSpc>
                  <a:spcPct val="150000"/>
                </a:lnSpc>
                <a:spcAft>
                  <a:spcPts val="492"/>
                </a:spcAft>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The </a:t>
              </a:r>
              <a:r>
                <a:rPr lang="en-US" altLang="zh-CN" sz="1476" b="1" dirty="0">
                  <a:solidFill>
                    <a:srgbClr val="AF1E3B"/>
                  </a:solidFill>
                  <a:latin typeface="Times New Roman" panose="02020603050405020304" pitchFamily="18" charset="0"/>
                  <a:ea typeface="SimSun"/>
                  <a:cs typeface="Times New Roman" panose="02020603050405020304" pitchFamily="18" charset="0"/>
                </a:rPr>
                <a:t>optimal nozzle arrangement </a:t>
              </a:r>
              <a:r>
                <a:rPr lang="en-US" altLang="zh-CN" sz="1476" dirty="0">
                  <a:latin typeface="Times New Roman" panose="02020603050405020304" pitchFamily="18" charset="0"/>
                  <a:ea typeface="SimSun"/>
                  <a:cs typeface="Times New Roman" panose="02020603050405020304" pitchFamily="18" charset="0"/>
                </a:rPr>
                <a:t>and</a:t>
              </a:r>
              <a:r>
                <a:rPr lang="en-US" altLang="zh-CN" sz="1476" b="1" dirty="0">
                  <a:solidFill>
                    <a:srgbClr val="AF1E3B"/>
                  </a:solidFill>
                  <a:latin typeface="Times New Roman" panose="02020603050405020304" pitchFamily="18" charset="0"/>
                  <a:ea typeface="SimSun"/>
                  <a:cs typeface="Times New Roman" panose="02020603050405020304" pitchFamily="18" charset="0"/>
                </a:rPr>
                <a:t> parameter setting </a:t>
              </a:r>
              <a:r>
                <a:rPr lang="en-US" altLang="zh-CN" sz="1476" dirty="0">
                  <a:latin typeface="Times New Roman" panose="02020603050405020304" pitchFamily="18" charset="0"/>
                  <a:ea typeface="SimSun"/>
                  <a:cs typeface="Times New Roman" panose="02020603050405020304" pitchFamily="18" charset="0"/>
                </a:rPr>
                <a:t>to maintain the best wetted situation of the IEC wet channel have not been identified.</a:t>
              </a:r>
            </a:p>
            <a:p>
              <a:pPr marL="457200" indent="-457200" algn="just">
                <a:lnSpc>
                  <a:spcPct val="150000"/>
                </a:lnSpc>
                <a:spcAft>
                  <a:spcPts val="492"/>
                </a:spcAft>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There is a need for </a:t>
              </a:r>
              <a:r>
                <a:rPr lang="en-US" altLang="zh-CN" sz="1476" b="1" dirty="0">
                  <a:solidFill>
                    <a:srgbClr val="AF1E3B"/>
                  </a:solidFill>
                  <a:latin typeface="Times New Roman" panose="02020603050405020304" pitchFamily="18" charset="0"/>
                  <a:ea typeface="SimSun"/>
                  <a:cs typeface="Times New Roman" panose="02020603050405020304" pitchFamily="18" charset="0"/>
                </a:rPr>
                <a:t>straightforward</a:t>
              </a:r>
              <a:r>
                <a:rPr lang="en-HK" altLang="zh-CN" sz="1476" b="1" dirty="0">
                  <a:solidFill>
                    <a:srgbClr val="AF1E3B"/>
                  </a:solidFill>
                  <a:latin typeface="Times New Roman" panose="02020603050405020304" pitchFamily="18" charset="0"/>
                  <a:ea typeface="SimSun"/>
                  <a:cs typeface="Times New Roman" panose="02020603050405020304" pitchFamily="18" charset="0"/>
                </a:rPr>
                <a:t> method </a:t>
              </a:r>
              <a:r>
                <a:rPr lang="en-HK" altLang="zh-CN" sz="1476" dirty="0">
                  <a:latin typeface="Times New Roman" panose="02020603050405020304" pitchFamily="18" charset="0"/>
                  <a:ea typeface="SimSun"/>
                  <a:cs typeface="Times New Roman" panose="02020603050405020304" pitchFamily="18" charset="0"/>
                </a:rPr>
                <a:t>to predict the IEC performance </a:t>
              </a:r>
              <a:r>
                <a:rPr lang="en-US" altLang="zh-CN" sz="1476" dirty="0">
                  <a:latin typeface="Times New Roman" panose="02020603050405020304" pitchFamily="18" charset="0"/>
                  <a:ea typeface="SimSun"/>
                  <a:cs typeface="Times New Roman" panose="02020603050405020304" pitchFamily="18" charset="0"/>
                </a:rPr>
                <a:t>for use in reality </a:t>
              </a:r>
              <a:r>
                <a:rPr lang="en-HK" altLang="zh-CN" sz="1476" dirty="0">
                  <a:latin typeface="Times New Roman" panose="02020603050405020304" pitchFamily="18" charset="0"/>
                  <a:ea typeface="SimSun"/>
                  <a:cs typeface="Times New Roman" panose="02020603050405020304" pitchFamily="18" charset="0"/>
                </a:rPr>
                <a:t>and optimize spray design parameters </a:t>
              </a:r>
              <a:r>
                <a:rPr lang="en-US" altLang="zh-CN" sz="1476" dirty="0">
                  <a:latin typeface="Times New Roman" panose="02020603050405020304" pitchFamily="18" charset="0"/>
                  <a:ea typeface="SimSun"/>
                  <a:cs typeface="Times New Roman" panose="02020603050405020304" pitchFamily="18" charset="0"/>
                </a:rPr>
                <a:t>in large scale projects</a:t>
              </a:r>
              <a:r>
                <a:rPr lang="en-HK" altLang="zh-CN" sz="1476" dirty="0">
                  <a:latin typeface="Times New Roman" panose="02020603050405020304" pitchFamily="18" charset="0"/>
                  <a:ea typeface="SimSun"/>
                  <a:cs typeface="Times New Roman" panose="02020603050405020304" pitchFamily="18" charset="0"/>
                </a:rPr>
                <a:t>.</a:t>
              </a:r>
              <a:endParaRPr lang="en-US" altLang="zh-CN" sz="1476" dirty="0">
                <a:latin typeface="Times New Roman" panose="02020603050405020304" pitchFamily="18" charset="0"/>
                <a:ea typeface="SimSun"/>
                <a:cs typeface="Times New Roman" panose="02020603050405020304" pitchFamily="18" charset="0"/>
              </a:endParaRPr>
            </a:p>
            <a:p>
              <a:pPr marL="457200" indent="-457200" algn="just">
                <a:lnSpc>
                  <a:spcPct val="150000"/>
                </a:lnSpc>
                <a:spcAft>
                  <a:spcPts val="492"/>
                </a:spcAft>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The </a:t>
              </a:r>
              <a:r>
                <a:rPr lang="en-HK" altLang="zh-CN" sz="1476" b="1" dirty="0">
                  <a:solidFill>
                    <a:srgbClr val="AF1E3B"/>
                  </a:solidFill>
                  <a:latin typeface="Times New Roman" panose="02020603050405020304" pitchFamily="18" charset="0"/>
                  <a:ea typeface="SimSun"/>
                  <a:cs typeface="Times New Roman" panose="02020603050405020304" pitchFamily="18" charset="0"/>
                </a:rPr>
                <a:t>diamond-shaped IEC </a:t>
              </a:r>
              <a:r>
                <a:rPr lang="en-HK" altLang="zh-CN" sz="1476" dirty="0">
                  <a:latin typeface="Times New Roman" panose="02020603050405020304" pitchFamily="18" charset="0"/>
                  <a:ea typeface="SimSun"/>
                  <a:cs typeface="Times New Roman" panose="02020603050405020304" pitchFamily="18" charset="0"/>
                </a:rPr>
                <a:t>used as heat recovery units combined with AHU in DCs require targeted water spray system settings.</a:t>
              </a:r>
              <a:endParaRPr lang="en-US" altLang="zh-CN" sz="1476" dirty="0">
                <a:latin typeface="Times New Roman" panose="02020603050405020304" pitchFamily="18" charset="0"/>
                <a:ea typeface="SimSun"/>
                <a:cs typeface="Times New Roman" panose="02020603050405020304" pitchFamily="18" charset="0"/>
              </a:endParaRPr>
            </a:p>
          </p:txBody>
        </p:sp>
        <p:sp>
          <p:nvSpPr>
            <p:cNvPr id="5" name="Content Placeholder 23">
              <a:extLst>
                <a:ext uri="{FF2B5EF4-FFF2-40B4-BE49-F238E27FC236}">
                  <a16:creationId xmlns:a16="http://schemas.microsoft.com/office/drawing/2014/main" id="{F5B213E1-BA12-4FA4-8700-DF6FD91B2CA8}"/>
                </a:ext>
              </a:extLst>
            </p:cNvPr>
            <p:cNvSpPr txBox="1">
              <a:spLocks/>
            </p:cNvSpPr>
            <p:nvPr/>
          </p:nvSpPr>
          <p:spPr bwMode="auto">
            <a:xfrm>
              <a:off x="364331" y="885825"/>
              <a:ext cx="8510587" cy="539750"/>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2.1 Research gap</a:t>
              </a:r>
              <a:r>
                <a:rPr lang="en-US" altLang="zh-CN" sz="1476" b="1" kern="0" dirty="0">
                  <a:latin typeface="Times New Roman" panose="02020603050405020304" pitchFamily="18" charset="0"/>
                  <a:ea typeface="SimSun"/>
                  <a:cs typeface="Times New Roman" panose="02020603050405020304" pitchFamily="18" charset="0"/>
                </a:rPr>
                <a:t>s</a:t>
              </a:r>
              <a:endParaRPr lang="en-US" altLang="en-US" sz="1476" b="1" kern="0" dirty="0">
                <a:latin typeface="Times New Roman" panose="02020603050405020304" pitchFamily="18" charset="0"/>
                <a:ea typeface="SimSun"/>
                <a:cs typeface="Times New Roman" panose="02020603050405020304" pitchFamily="18" charset="0"/>
              </a:endParaRPr>
            </a:p>
          </p:txBody>
        </p:sp>
      </p:grpSp>
      <p:sp>
        <p:nvSpPr>
          <p:cNvPr id="9"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中文要点｜六项研究不足</a:t>
            </a:r>
          </a:p>
          <a:p>
            <a:pPr>
              <a:lnSpc>
                <a:spcPct val="108000"/>
              </a:lnSpc>
              <a:spcAft>
                <a:spcPts val="0"/>
              </a:spcAft>
            </a:pPr>
            <a:r>
              <a:rPr sz="1400" b="0">
                <a:solidFill>
                  <a:srgbClr val="282828"/>
                </a:solidFill>
                <a:latin typeface="Times New Roman"/>
                <a:ea typeface="SimSun"/>
                <a:cs typeface="Times New Roman"/>
              </a:rPr>
              <a:t>现有研究在定量喷淋建模、真实润湿率、三维水膜模拟、最优喷嘴设计、高效预测及数据中心适配方面仍有不足。</a:t>
            </a:r>
          </a:p>
        </p:txBody>
      </p:sp>
    </p:spTree>
    <p:extLst>
      <p:ext uri="{BB962C8B-B14F-4D97-AF65-F5344CB8AC3E}">
        <p14:creationId xmlns:p14="http://schemas.microsoft.com/office/powerpoint/2010/main" val="171575927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853DE87-8E23-4C3B-844F-56A0FFBFD1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13</a:t>
            </a:fld>
            <a:endParaRPr lang="en-US" altLang="zh-CN">
              <a:latin typeface="Times New Roman"/>
              <a:ea typeface="SimSun"/>
              <a:cs typeface="Times New Roman"/>
            </a:endParaRPr>
          </a:p>
        </p:txBody>
      </p:sp>
      <p:sp>
        <p:nvSpPr>
          <p:cNvPr id="7" name="矩形 3">
            <a:extLst>
              <a:ext uri="{FF2B5EF4-FFF2-40B4-BE49-F238E27FC236}">
                <a16:creationId xmlns:a16="http://schemas.microsoft.com/office/drawing/2014/main" id="{76A06385-B35A-4EB9-86C0-5166E3E123A2}"/>
              </a:ext>
            </a:extLst>
          </p:cNvPr>
          <p:cNvSpPr>
            <a:spLocks noChangeArrowheads="1"/>
          </p:cNvSpPr>
          <p:nvPr/>
        </p:nvSpPr>
        <p:spPr bwMode="auto">
          <a:xfrm>
            <a:off x="962025" y="142876"/>
            <a:ext cx="7315200" cy="51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2. Research gaps and objectives</a:t>
            </a:r>
          </a:p>
        </p:txBody>
      </p:sp>
      <p:grpSp>
        <p:nvGrpSpPr>
          <p:cNvPr id="9" name="Original English content (proportional layout)"/>
          <p:cNvGrpSpPr/>
          <p:nvPr/>
        </p:nvGrpSpPr>
        <p:grpSpPr>
          <a:xfrm>
            <a:off x="1097280" y="731520"/>
            <a:ext cx="9997440" cy="5023714"/>
            <a:chOff x="0" y="731520"/>
            <a:chExt cx="12192000" cy="6126480"/>
          </a:xfrm>
        </p:grpSpPr>
        <p:sp>
          <p:nvSpPr>
            <p:cNvPr id="2" name="Content Placeholder 23"/>
            <p:cNvSpPr txBox="1">
              <a:spLocks/>
            </p:cNvSpPr>
            <p:nvPr/>
          </p:nvSpPr>
          <p:spPr bwMode="auto">
            <a:xfrm>
              <a:off x="623889" y="942975"/>
              <a:ext cx="8510587" cy="539750"/>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2.2 Research objectives</a:t>
              </a:r>
              <a:endParaRPr lang="en-US" altLang="zh-CN" sz="1476" b="1" kern="0" dirty="0">
                <a:latin typeface="Times New Roman" panose="02020603050405020304" pitchFamily="18" charset="0"/>
                <a:ea typeface="SimSun"/>
                <a:cs typeface="Times New Roman" panose="02020603050405020304" pitchFamily="18" charset="0"/>
              </a:endParaRPr>
            </a:p>
          </p:txBody>
        </p:sp>
        <p:sp>
          <p:nvSpPr>
            <p:cNvPr id="8" name="文本框 2">
              <a:extLst>
                <a:ext uri="{FF2B5EF4-FFF2-40B4-BE49-F238E27FC236}">
                  <a16:creationId xmlns:a16="http://schemas.microsoft.com/office/drawing/2014/main" id="{967DC070-33C9-4337-93BC-ADACBB0DD5C9}"/>
                </a:ext>
              </a:extLst>
            </p:cNvPr>
            <p:cNvSpPr txBox="1">
              <a:spLocks noChangeArrowheads="1"/>
            </p:cNvSpPr>
            <p:nvPr/>
          </p:nvSpPr>
          <p:spPr bwMode="auto">
            <a:xfrm>
              <a:off x="995363" y="1336348"/>
              <a:ext cx="10201274" cy="499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457200" indent="-457200" algn="just">
                <a:lnSpc>
                  <a:spcPct val="150000"/>
                </a:lnSpc>
                <a:spcBef>
                  <a:spcPts val="492"/>
                </a:spcBef>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To</a:t>
              </a:r>
              <a:r>
                <a:rPr lang="zh-CN" altLang="en-US" sz="1476" dirty="0">
                  <a:latin typeface="Times New Roman" panose="02020603050405020304" pitchFamily="18" charset="0"/>
                  <a:ea typeface="SimSun"/>
                  <a:cs typeface="Times New Roman" panose="02020603050405020304" pitchFamily="18" charset="0"/>
                </a:rPr>
                <a:t> </a:t>
              </a:r>
              <a:r>
                <a:rPr lang="en-US" altLang="zh-CN" sz="1476" dirty="0">
                  <a:latin typeface="Times New Roman" panose="02020603050405020304" pitchFamily="18" charset="0"/>
                  <a:ea typeface="SimSun"/>
                  <a:cs typeface="Times New Roman" panose="02020603050405020304" pitchFamily="18" charset="0"/>
                </a:rPr>
                <a:t>propose a </a:t>
              </a:r>
              <a:r>
                <a:rPr lang="en-US" altLang="zh-CN" sz="1476" b="1" dirty="0">
                  <a:solidFill>
                    <a:srgbClr val="AF1E3B"/>
                  </a:solidFill>
                  <a:latin typeface="Times New Roman" panose="02020603050405020304" pitchFamily="18" charset="0"/>
                  <a:ea typeface="SimSun"/>
                  <a:cs typeface="Times New Roman" panose="02020603050405020304" pitchFamily="18" charset="0"/>
                </a:rPr>
                <a:t>FDM model </a:t>
              </a:r>
              <a:r>
                <a:rPr lang="en-US" altLang="zh-CN" sz="1476" dirty="0">
                  <a:latin typeface="Times New Roman" panose="02020603050405020304" pitchFamily="18" charset="0"/>
                  <a:ea typeface="SimSun"/>
                  <a:cs typeface="Times New Roman" panose="02020603050405020304" pitchFamily="18" charset="0"/>
                </a:rPr>
                <a:t>for predicting the </a:t>
              </a:r>
              <a:r>
                <a:rPr lang="en-US" altLang="zh-CN" sz="1476" b="1" dirty="0">
                  <a:solidFill>
                    <a:srgbClr val="AF1E3B"/>
                  </a:solidFill>
                  <a:latin typeface="Times New Roman" panose="02020603050405020304" pitchFamily="18" charset="0"/>
                  <a:ea typeface="SimSun"/>
                  <a:cs typeface="Times New Roman" panose="02020603050405020304" pitchFamily="18" charset="0"/>
                </a:rPr>
                <a:t>water spray distribution </a:t>
              </a:r>
              <a:r>
                <a:rPr lang="en-US" altLang="zh-CN" sz="1476" dirty="0">
                  <a:latin typeface="Times New Roman" panose="02020603050405020304" pitchFamily="18" charset="0"/>
                  <a:ea typeface="SimSun"/>
                  <a:cs typeface="Times New Roman" panose="02020603050405020304" pitchFamily="18" charset="0"/>
                </a:rPr>
                <a:t>of the nozzles in IEC.</a:t>
              </a:r>
            </a:p>
            <a:p>
              <a:pPr marL="457200" indent="-457200" algn="just">
                <a:lnSpc>
                  <a:spcPct val="150000"/>
                </a:lnSpc>
                <a:spcBef>
                  <a:spcPts val="492"/>
                </a:spcBef>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To establish a </a:t>
              </a:r>
              <a:r>
                <a:rPr lang="en-US" altLang="zh-CN" sz="1476" b="1" dirty="0">
                  <a:solidFill>
                    <a:srgbClr val="AF1E3B"/>
                  </a:solidFill>
                  <a:latin typeface="Times New Roman" panose="02020603050405020304" pitchFamily="18" charset="0"/>
                  <a:ea typeface="SimSun"/>
                  <a:cs typeface="Times New Roman" panose="02020603050405020304" pitchFamily="18" charset="0"/>
                </a:rPr>
                <a:t>3D CFD model </a:t>
              </a:r>
              <a:r>
                <a:rPr lang="en-US" altLang="zh-CN" sz="1476" dirty="0">
                  <a:latin typeface="Times New Roman" panose="02020603050405020304" pitchFamily="18" charset="0"/>
                  <a:ea typeface="SimSun"/>
                  <a:cs typeface="Times New Roman" panose="02020603050405020304" pitchFamily="18" charset="0"/>
                </a:rPr>
                <a:t>to identify the formation and flow state of the water membrane covering the plate surface.</a:t>
              </a:r>
            </a:p>
            <a:p>
              <a:pPr marL="457200" indent="-457200" algn="just">
                <a:lnSpc>
                  <a:spcPct val="150000"/>
                </a:lnSpc>
                <a:spcBef>
                  <a:spcPts val="492"/>
                </a:spcBef>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To set up the</a:t>
              </a:r>
              <a:r>
                <a:rPr lang="en-US" altLang="zh-CN" sz="1476" b="1" dirty="0">
                  <a:solidFill>
                    <a:srgbClr val="C00000"/>
                  </a:solidFill>
                  <a:latin typeface="Times New Roman" panose="02020603050405020304" pitchFamily="18" charset="0"/>
                  <a:ea typeface="SimSun"/>
                  <a:cs typeface="Times New Roman" panose="02020603050405020304" pitchFamily="18" charset="0"/>
                </a:rPr>
                <a:t> </a:t>
              </a:r>
              <a:r>
                <a:rPr lang="en-US" altLang="zh-CN" sz="1476" b="1" dirty="0">
                  <a:solidFill>
                    <a:srgbClr val="AF1E3B"/>
                  </a:solidFill>
                  <a:latin typeface="Times New Roman" panose="02020603050405020304" pitchFamily="18" charset="0"/>
                  <a:ea typeface="SimSun"/>
                  <a:cs typeface="Times New Roman" panose="02020603050405020304" pitchFamily="18" charset="0"/>
                </a:rPr>
                <a:t>test bench </a:t>
              </a:r>
              <a:r>
                <a:rPr lang="en-US" altLang="zh-CN" sz="1476" dirty="0">
                  <a:latin typeface="Times New Roman" panose="02020603050405020304" pitchFamily="18" charset="0"/>
                  <a:ea typeface="SimSun"/>
                  <a:cs typeface="Times New Roman" panose="02020603050405020304" pitchFamily="18" charset="0"/>
                </a:rPr>
                <a:t>with the complete IEC system that can investigate the </a:t>
              </a:r>
              <a:r>
                <a:rPr lang="en-US" altLang="zh-CN" sz="1476" b="1" dirty="0">
                  <a:solidFill>
                    <a:srgbClr val="AF1E3B"/>
                  </a:solidFill>
                  <a:latin typeface="Times New Roman" panose="02020603050405020304" pitchFamily="18" charset="0"/>
                  <a:ea typeface="SimSun"/>
                  <a:cs typeface="Times New Roman" panose="02020603050405020304" pitchFamily="18" charset="0"/>
                </a:rPr>
                <a:t>practical wetted sections </a:t>
              </a:r>
              <a:r>
                <a:rPr lang="en-US" altLang="zh-CN" sz="1476" dirty="0">
                  <a:latin typeface="Times New Roman" panose="02020603050405020304" pitchFamily="18" charset="0"/>
                  <a:ea typeface="SimSun"/>
                  <a:cs typeface="Times New Roman" panose="02020603050405020304" pitchFamily="18" charset="0"/>
                </a:rPr>
                <a:t>in single channel pair for model verification.</a:t>
              </a:r>
            </a:p>
            <a:p>
              <a:pPr marL="457200" indent="-457200" algn="just">
                <a:lnSpc>
                  <a:spcPct val="150000"/>
                </a:lnSpc>
                <a:spcBef>
                  <a:spcPts val="492"/>
                </a:spcBef>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To conduct the </a:t>
              </a:r>
              <a:r>
                <a:rPr lang="en-US" altLang="zh-CN" sz="1476" b="1" dirty="0">
                  <a:solidFill>
                    <a:srgbClr val="AF1E3B"/>
                  </a:solidFill>
                  <a:latin typeface="Times New Roman" panose="02020603050405020304" pitchFamily="18" charset="0"/>
                  <a:ea typeface="SimSun"/>
                  <a:cs typeface="Times New Roman" panose="02020603050405020304" pitchFamily="18" charset="0"/>
                </a:rPr>
                <a:t>parametric analysis</a:t>
              </a:r>
              <a:r>
                <a:rPr lang="en-US" altLang="zh-CN" sz="1476" dirty="0">
                  <a:solidFill>
                    <a:srgbClr val="AF1E3B"/>
                  </a:solidFill>
                  <a:latin typeface="Times New Roman" panose="02020603050405020304" pitchFamily="18" charset="0"/>
                  <a:ea typeface="SimSun"/>
                  <a:cs typeface="Times New Roman" panose="02020603050405020304" pitchFamily="18" charset="0"/>
                </a:rPr>
                <a:t> </a:t>
              </a:r>
              <a:r>
                <a:rPr lang="en-US" altLang="zh-CN" sz="1476" dirty="0">
                  <a:latin typeface="Times New Roman" panose="02020603050405020304" pitchFamily="18" charset="0"/>
                  <a:ea typeface="SimSun"/>
                  <a:cs typeface="Times New Roman" panose="02020603050405020304" pitchFamily="18" charset="0"/>
                </a:rPr>
                <a:t>and determine the</a:t>
              </a:r>
              <a:r>
                <a:rPr lang="en-US" altLang="zh-CN" sz="1476" b="1" dirty="0">
                  <a:latin typeface="Times New Roman" panose="02020603050405020304" pitchFamily="18" charset="0"/>
                  <a:ea typeface="SimSun"/>
                  <a:cs typeface="Times New Roman" panose="02020603050405020304" pitchFamily="18" charset="0"/>
                </a:rPr>
                <a:t> </a:t>
              </a:r>
              <a:r>
                <a:rPr lang="en-US" altLang="zh-CN" sz="1476" b="1" dirty="0">
                  <a:solidFill>
                    <a:srgbClr val="AF1E3B"/>
                  </a:solidFill>
                  <a:latin typeface="Times New Roman" panose="02020603050405020304" pitchFamily="18" charset="0"/>
                  <a:ea typeface="SimSun"/>
                  <a:cs typeface="Times New Roman" panose="02020603050405020304" pitchFamily="18" charset="0"/>
                </a:rPr>
                <a:t>optimal water spraying strategies</a:t>
              </a:r>
              <a:r>
                <a:rPr lang="en-US" altLang="zh-CN" sz="1476" b="1" dirty="0">
                  <a:solidFill>
                    <a:srgbClr val="C00000"/>
                  </a:solidFill>
                  <a:latin typeface="Times New Roman" panose="02020603050405020304" pitchFamily="18" charset="0"/>
                  <a:ea typeface="SimSun"/>
                  <a:cs typeface="Times New Roman" panose="02020603050405020304" pitchFamily="18" charset="0"/>
                </a:rPr>
                <a:t> </a:t>
              </a:r>
              <a:r>
                <a:rPr lang="en-US" altLang="zh-CN" sz="1476" dirty="0">
                  <a:latin typeface="Times New Roman" panose="02020603050405020304" pitchFamily="18" charset="0"/>
                  <a:ea typeface="SimSun"/>
                  <a:cs typeface="Times New Roman" panose="02020603050405020304" pitchFamily="18" charset="0"/>
                </a:rPr>
                <a:t>for IEC system.</a:t>
              </a:r>
            </a:p>
            <a:p>
              <a:pPr marL="457200" indent="-457200" algn="just">
                <a:lnSpc>
                  <a:spcPct val="150000"/>
                </a:lnSpc>
                <a:spcBef>
                  <a:spcPts val="492"/>
                </a:spcBef>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To develop high-efficiency prediction model based on </a:t>
              </a:r>
              <a:r>
                <a:rPr lang="en-HK" altLang="zh-CN" sz="1476" b="1" dirty="0">
                  <a:solidFill>
                    <a:srgbClr val="AF1E3B"/>
                  </a:solidFill>
                  <a:latin typeface="Times New Roman" panose="02020603050405020304" pitchFamily="18" charset="0"/>
                  <a:ea typeface="SimSun"/>
                  <a:cs typeface="Times New Roman" panose="02020603050405020304" pitchFamily="18" charset="0"/>
                </a:rPr>
                <a:t>ML</a:t>
              </a:r>
              <a:r>
                <a:rPr lang="en-HK" altLang="zh-CN" sz="1476" dirty="0">
                  <a:latin typeface="Times New Roman" panose="02020603050405020304" pitchFamily="18" charset="0"/>
                  <a:ea typeface="SimSun"/>
                  <a:cs typeface="Times New Roman" panose="02020603050405020304" pitchFamily="18" charset="0"/>
                </a:rPr>
                <a:t> to accurately predict the performance of IEC system combined with </a:t>
              </a:r>
              <a:r>
                <a:rPr lang="en-HK" altLang="zh-CN" sz="1476" b="1" dirty="0">
                  <a:solidFill>
                    <a:srgbClr val="AF1E3B"/>
                  </a:solidFill>
                  <a:latin typeface="Times New Roman" panose="02020603050405020304" pitchFamily="18" charset="0"/>
                  <a:ea typeface="SimSun"/>
                  <a:cs typeface="Times New Roman" panose="02020603050405020304" pitchFamily="18" charset="0"/>
                </a:rPr>
                <a:t>genetic algorithm </a:t>
              </a:r>
              <a:r>
                <a:rPr lang="en-HK" altLang="zh-CN" sz="1476" dirty="0">
                  <a:latin typeface="Times New Roman" panose="02020603050405020304" pitchFamily="18" charset="0"/>
                  <a:ea typeface="SimSun"/>
                  <a:cs typeface="Times New Roman" panose="02020603050405020304" pitchFamily="18" charset="0"/>
                </a:rPr>
                <a:t>for multi-objective </a:t>
              </a:r>
              <a:r>
                <a:rPr lang="en-HK" altLang="zh-CN" sz="1476" b="1" dirty="0">
                  <a:solidFill>
                    <a:srgbClr val="AF1E3B"/>
                  </a:solidFill>
                  <a:latin typeface="Times New Roman" panose="02020603050405020304" pitchFamily="18" charset="0"/>
                  <a:ea typeface="SimSun"/>
                  <a:cs typeface="Times New Roman" panose="02020603050405020304" pitchFamily="18" charset="0"/>
                </a:rPr>
                <a:t>optimization</a:t>
              </a:r>
              <a:r>
                <a:rPr lang="en-HK" altLang="zh-CN" sz="1476" dirty="0">
                  <a:latin typeface="Times New Roman" panose="02020603050405020304" pitchFamily="18" charset="0"/>
                  <a:ea typeface="SimSun"/>
                  <a:cs typeface="Times New Roman" panose="02020603050405020304" pitchFamily="18" charset="0"/>
                </a:rPr>
                <a:t>.</a:t>
              </a:r>
              <a:endParaRPr lang="en-US" altLang="zh-CN" sz="1476" dirty="0">
                <a:latin typeface="Times New Roman" panose="02020603050405020304" pitchFamily="18" charset="0"/>
                <a:ea typeface="SimSun"/>
                <a:cs typeface="Times New Roman" panose="02020603050405020304" pitchFamily="18" charset="0"/>
              </a:endParaRPr>
            </a:p>
            <a:p>
              <a:pPr marL="457200" indent="-457200" algn="just">
                <a:lnSpc>
                  <a:spcPct val="150000"/>
                </a:lnSpc>
                <a:spcBef>
                  <a:spcPts val="492"/>
                </a:spcBef>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To establish and verified a</a:t>
              </a:r>
              <a:r>
                <a:rPr lang="en-US" altLang="zh-CN" sz="1476" b="1" dirty="0">
                  <a:solidFill>
                    <a:srgbClr val="C00000"/>
                  </a:solidFill>
                  <a:latin typeface="Times New Roman" panose="02020603050405020304" pitchFamily="18" charset="0"/>
                  <a:ea typeface="SimSun"/>
                  <a:cs typeface="Times New Roman" panose="02020603050405020304" pitchFamily="18" charset="0"/>
                </a:rPr>
                <a:t> </a:t>
              </a:r>
              <a:r>
                <a:rPr lang="en-HK" altLang="zh-CN" sz="1476" b="1" dirty="0">
                  <a:solidFill>
                    <a:srgbClr val="AF1E3B"/>
                  </a:solidFill>
                  <a:latin typeface="Times New Roman" panose="02020603050405020304" pitchFamily="18" charset="0"/>
                  <a:ea typeface="SimSun"/>
                  <a:cs typeface="Times New Roman" panose="02020603050405020304" pitchFamily="18" charset="0"/>
                </a:rPr>
                <a:t>CFD model</a:t>
              </a:r>
              <a:r>
                <a:rPr lang="en-HK" altLang="zh-CN" sz="1476" dirty="0">
                  <a:solidFill>
                    <a:srgbClr val="AF1E3B"/>
                  </a:solidFill>
                  <a:latin typeface="Times New Roman" panose="02020603050405020304" pitchFamily="18" charset="0"/>
                  <a:ea typeface="SimSun"/>
                  <a:cs typeface="Times New Roman" panose="02020603050405020304" pitchFamily="18" charset="0"/>
                </a:rPr>
                <a:t> </a:t>
              </a:r>
              <a:r>
                <a:rPr lang="en-HK" altLang="zh-CN" sz="1476" dirty="0">
                  <a:latin typeface="Times New Roman" panose="02020603050405020304" pitchFamily="18" charset="0"/>
                  <a:ea typeface="SimSun"/>
                  <a:cs typeface="Times New Roman" panose="02020603050405020304" pitchFamily="18" charset="0"/>
                </a:rPr>
                <a:t>based on the </a:t>
              </a:r>
              <a:r>
                <a:rPr lang="en-HK" altLang="zh-CN" sz="1476" b="1" dirty="0">
                  <a:solidFill>
                    <a:srgbClr val="AF1E3B"/>
                  </a:solidFill>
                  <a:latin typeface="Times New Roman" panose="02020603050405020304" pitchFamily="18" charset="0"/>
                  <a:ea typeface="SimSun"/>
                  <a:cs typeface="Times New Roman" panose="02020603050405020304" pitchFamily="18" charset="0"/>
                </a:rPr>
                <a:t>diamond-shaped IEC </a:t>
              </a:r>
              <a:r>
                <a:rPr lang="en-HK" altLang="zh-CN" sz="1476" dirty="0">
                  <a:latin typeface="Times New Roman" panose="02020603050405020304" pitchFamily="18" charset="0"/>
                  <a:ea typeface="SimSun"/>
                  <a:cs typeface="Times New Roman" panose="02020603050405020304" pitchFamily="18" charset="0"/>
                </a:rPr>
                <a:t>to explore the optimal nozzle configurations and performances, as well as the </a:t>
              </a:r>
              <a:r>
                <a:rPr lang="en-HK" altLang="zh-CN" sz="1476" dirty="0">
                  <a:solidFill>
                    <a:schemeClr val="bg2"/>
                  </a:solidFill>
                  <a:latin typeface="Times New Roman" panose="02020603050405020304" pitchFamily="18" charset="0"/>
                  <a:ea typeface="SimSun"/>
                  <a:cs typeface="Times New Roman" panose="02020603050405020304" pitchFamily="18" charset="0"/>
                </a:rPr>
                <a:t>enhancement strategies </a:t>
              </a:r>
              <a:r>
                <a:rPr lang="en-HK" altLang="zh-CN" sz="1476" dirty="0">
                  <a:latin typeface="Times New Roman" panose="02020603050405020304" pitchFamily="18" charset="0"/>
                  <a:ea typeface="SimSun"/>
                  <a:cs typeface="Times New Roman" panose="02020603050405020304" pitchFamily="18" charset="0"/>
                </a:rPr>
                <a:t>for IEC in DCs</a:t>
              </a:r>
              <a:endParaRPr lang="en-US" altLang="zh-CN" sz="1476" dirty="0">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中文要点｜研究目标</a:t>
            </a:r>
          </a:p>
          <a:p>
            <a:pPr>
              <a:lnSpc>
                <a:spcPct val="108000"/>
              </a:lnSpc>
              <a:spcAft>
                <a:spcPts val="0"/>
              </a:spcAft>
            </a:pPr>
            <a:r>
              <a:rPr sz="1400" b="0">
                <a:solidFill>
                  <a:srgbClr val="282828"/>
                </a:solidFill>
                <a:latin typeface="Times New Roman"/>
                <a:ea typeface="SimSun"/>
                <a:cs typeface="Times New Roman"/>
              </a:rPr>
              <a:t>建立并验证 FDM、三维 CFD 和 ANN 模型，结合实验与遗传算法，优化常规及菱形 IEC 的喷淋策略。</a:t>
            </a:r>
          </a:p>
        </p:txBody>
      </p:sp>
    </p:spTree>
    <p:extLst>
      <p:ext uri="{BB962C8B-B14F-4D97-AF65-F5344CB8AC3E}">
        <p14:creationId xmlns:p14="http://schemas.microsoft.com/office/powerpoint/2010/main" val="1626659428"/>
      </p:ext>
    </p:extLst>
  </p:cSld>
  <p:clrMapOvr>
    <a:masterClrMapping/>
  </p:clrMapOvr>
  <mc:AlternateContent xmlns:mc="http://schemas.openxmlformats.org/markup-compatibility/2006" xmlns:p14="http://schemas.microsoft.com/office/powerpoint/2010/main">
    <mc:Choice Requires="p14">
      <p:transition spd="slow" p14:dur="2000" advTm="47774"/>
    </mc:Choice>
    <mc:Fallback xmlns="">
      <p:transition spd="slow" advTm="47774"/>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853DE87-8E23-4C3B-844F-56A0FFBFD1A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14</a:t>
            </a:fld>
            <a:endParaRPr lang="en-US" altLang="zh-CN">
              <a:latin typeface="Times New Roman"/>
              <a:ea typeface="SimSun"/>
              <a:cs typeface="Times New Roman"/>
            </a:endParaRPr>
          </a:p>
        </p:txBody>
      </p:sp>
      <p:sp>
        <p:nvSpPr>
          <p:cNvPr id="4" name="Rectangle 2">
            <a:extLst>
              <a:ext uri="{FF2B5EF4-FFF2-40B4-BE49-F238E27FC236}">
                <a16:creationId xmlns:a16="http://schemas.microsoft.com/office/drawing/2014/main" id="{70A53435-5E66-4FD2-B6E6-769376465AC2}"/>
              </a:ext>
            </a:extLst>
          </p:cNvPr>
          <p:cNvSpPr>
            <a:spLocks noChangeArrowheads="1"/>
          </p:cNvSpPr>
          <p:nvPr/>
        </p:nvSpPr>
        <p:spPr bwMode="auto">
          <a:xfrm>
            <a:off x="962025" y="323639"/>
            <a:ext cx="1432188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5" name="对象 4">
            <a:extLst>
              <a:ext uri="{FF2B5EF4-FFF2-40B4-BE49-F238E27FC236}">
                <a16:creationId xmlns:a16="http://schemas.microsoft.com/office/drawing/2014/main" id="{8024DDC6-D731-4D53-AF6A-1F4C29FC01F4}"/>
              </a:ext>
            </a:extLst>
          </p:cNvPr>
          <p:cNvGraphicFramePr>
            <a:graphicFrameLocks noChangeAspect="1"/>
          </p:cNvGraphicFramePr>
          <p:nvPr>
            <p:extLst>
              <p:ext uri="{D42A27DB-BD31-4B8C-83A1-F6EECF244321}">
                <p14:modId xmlns:p14="http://schemas.microsoft.com/office/powerpoint/2010/main" val="3166520294"/>
              </p:ext>
            </p:extLst>
          </p:nvPr>
        </p:nvGraphicFramePr>
        <p:xfrm>
          <a:off x="1162050" y="231565"/>
          <a:ext cx="10258425" cy="6534361"/>
        </p:xfrm>
        <a:graphic>
          <a:graphicData uri="http://schemas.openxmlformats.org/presentationml/2006/ole">
            <mc:AlternateContent xmlns:mc="http://schemas.openxmlformats.org/markup-compatibility/2006">
              <mc:Choice xmlns:v="urn:schemas-microsoft-com:vml" Requires="v">
                <p:oleObj name="Visio" r:id="rId3" imgW="12420571" imgH="7917098" progId="Visio.Drawing.15">
                  <p:embed/>
                </p:oleObj>
              </mc:Choice>
              <mc:Fallback>
                <p:oleObj name="Visio" r:id="rId3" imgW="12420571" imgH="791709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231565"/>
                        <a:ext cx="10258425" cy="6534361"/>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1258FFE4-CC42-9598-ED29-2045DC52D9E2}"/>
              </a:ext>
            </a:extLst>
          </p:cNvPr>
          <p:cNvSpPr/>
          <p:nvPr/>
        </p:nvSpPr>
        <p:spPr bwMode="auto">
          <a:xfrm>
            <a:off x="1339566" y="309473"/>
            <a:ext cx="1211435" cy="456001"/>
          </a:xfrm>
          <a:prstGeom prst="rect">
            <a:avLst/>
          </a:prstGeom>
          <a:solidFill>
            <a:srgbClr val="FFE08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1200"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3</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1200" dirty="0">
                <a:solidFill>
                  <a:schemeClr val="bg2"/>
                </a:solidFill>
                <a:latin typeface="Times New Roman" panose="02020603050405020304" pitchFamily="18" charset="0"/>
                <a:ea typeface="SimSun"/>
                <a:cs typeface="Times New Roman" panose="02020603050405020304" pitchFamily="18" charset="0"/>
              </a:rPr>
              <a:t>FDM model</a:t>
            </a:r>
            <a:endParaRPr kumimoji="0" lang="zh-CN" altLang="en-US" sz="1200"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grpSp>
        <p:nvGrpSpPr>
          <p:cNvPr id="10" name="Original English content (proportional layout)"/>
          <p:cNvGrpSpPr/>
          <p:nvPr/>
        </p:nvGrpSpPr>
        <p:grpSpPr>
          <a:xfrm>
            <a:off x="1097280" y="731520"/>
            <a:ext cx="9997440" cy="5023714"/>
            <a:chOff x="0" y="731520"/>
            <a:chExt cx="12192000" cy="6126480"/>
          </a:xfrm>
        </p:grpSpPr>
        <p:sp>
          <p:nvSpPr>
            <p:cNvPr id="7" name="矩形 6">
              <a:extLst>
                <a:ext uri="{FF2B5EF4-FFF2-40B4-BE49-F238E27FC236}">
                  <a16:creationId xmlns:a16="http://schemas.microsoft.com/office/drawing/2014/main" id="{67269DCB-2C8E-C839-90D8-3233BED13225}"/>
                </a:ext>
              </a:extLst>
            </p:cNvPr>
            <p:cNvSpPr/>
            <p:nvPr/>
          </p:nvSpPr>
          <p:spPr bwMode="auto">
            <a:xfrm>
              <a:off x="4324688" y="3070835"/>
              <a:ext cx="1113394" cy="408055"/>
            </a:xfrm>
            <a:prstGeom prst="rect">
              <a:avLst/>
            </a:prstGeom>
            <a:solidFill>
              <a:srgbClr val="EFC4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984"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5</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984" dirty="0">
                  <a:solidFill>
                    <a:schemeClr val="bg2"/>
                  </a:solidFill>
                  <a:latin typeface="Times New Roman" panose="02020603050405020304" pitchFamily="18" charset="0"/>
                  <a:ea typeface="SimSun"/>
                  <a:cs typeface="Times New Roman" panose="02020603050405020304" pitchFamily="18" charset="0"/>
                </a:rPr>
                <a:t>ANN model</a:t>
              </a:r>
              <a:endParaRPr kumimoji="0" lang="zh-CN" altLang="en-US" sz="984"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sp>
          <p:nvSpPr>
            <p:cNvPr id="8" name="矩形 7">
              <a:extLst>
                <a:ext uri="{FF2B5EF4-FFF2-40B4-BE49-F238E27FC236}">
                  <a16:creationId xmlns:a16="http://schemas.microsoft.com/office/drawing/2014/main" id="{C3D91274-9D7B-8228-FB25-8D25A4EADA54}"/>
                </a:ext>
              </a:extLst>
            </p:cNvPr>
            <p:cNvSpPr/>
            <p:nvPr/>
          </p:nvSpPr>
          <p:spPr bwMode="auto">
            <a:xfrm>
              <a:off x="6444033" y="1155659"/>
              <a:ext cx="1043765" cy="536130"/>
            </a:xfrm>
            <a:prstGeom prst="rect">
              <a:avLst/>
            </a:prstGeom>
            <a:solidFill>
              <a:srgbClr val="C9E8A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984"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4</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861" dirty="0">
                  <a:solidFill>
                    <a:schemeClr val="bg2"/>
                  </a:solidFill>
                  <a:latin typeface="Times New Roman" panose="02020603050405020304" pitchFamily="18" charset="0"/>
                  <a:ea typeface="SimSun"/>
                  <a:cs typeface="Times New Roman" panose="02020603050405020304" pitchFamily="18" charset="0"/>
                </a:rPr>
                <a:t>Common cross-flow type IEC</a:t>
              </a:r>
              <a:endParaRPr kumimoji="0" lang="zh-CN" altLang="en-US" sz="86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sp>
          <p:nvSpPr>
            <p:cNvPr id="9" name="矩形 8">
              <a:extLst>
                <a:ext uri="{FF2B5EF4-FFF2-40B4-BE49-F238E27FC236}">
                  <a16:creationId xmlns:a16="http://schemas.microsoft.com/office/drawing/2014/main" id="{425BEDB0-1A94-E868-8308-2B33529EE459}"/>
                </a:ext>
              </a:extLst>
            </p:cNvPr>
            <p:cNvSpPr/>
            <p:nvPr/>
          </p:nvSpPr>
          <p:spPr bwMode="auto">
            <a:xfrm>
              <a:off x="7753039" y="1155659"/>
              <a:ext cx="908443" cy="515280"/>
            </a:xfrm>
            <a:prstGeom prst="rect">
              <a:avLst/>
            </a:prstGeom>
            <a:solidFill>
              <a:srgbClr val="DFF1CB"/>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90000"/>
                </a:lnSpc>
                <a:spcBef>
                  <a:spcPct val="20000"/>
                </a:spcBef>
                <a:spcAft>
                  <a:spcPct val="0"/>
                </a:spcAft>
                <a:buClrTx/>
                <a:buSzTx/>
                <a:buFontTx/>
                <a:buNone/>
                <a:tabLst/>
              </a:pPr>
              <a:r>
                <a:rPr kumimoji="0" lang="en-US" altLang="zh-CN" sz="984" b="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rPr>
                <a:t>Section 6</a:t>
              </a:r>
            </a:p>
            <a:p>
              <a:pPr marL="0" marR="0" indent="0" algn="ctr" defTabSz="914400" rtl="0" eaLnBrk="1" fontAlgn="base" latinLnBrk="0" hangingPunct="1">
                <a:lnSpc>
                  <a:spcPct val="90000"/>
                </a:lnSpc>
                <a:spcBef>
                  <a:spcPct val="20000"/>
                </a:spcBef>
                <a:spcAft>
                  <a:spcPct val="0"/>
                </a:spcAft>
                <a:buClrTx/>
                <a:buSzTx/>
                <a:buFontTx/>
                <a:buNone/>
                <a:tabLst/>
              </a:pPr>
              <a:r>
                <a:rPr lang="en-US" altLang="zh-CN" sz="861" dirty="0">
                  <a:solidFill>
                    <a:schemeClr val="bg2"/>
                  </a:solidFill>
                  <a:latin typeface="Times New Roman" panose="02020603050405020304" pitchFamily="18" charset="0"/>
                  <a:ea typeface="SimSun"/>
                  <a:cs typeface="Times New Roman" panose="02020603050405020304" pitchFamily="18" charset="0"/>
                </a:rPr>
                <a:t>Diamond-shaped IEC</a:t>
              </a:r>
              <a:endParaRPr kumimoji="0" lang="zh-CN" altLang="en-US" sz="861" i="0" u="none" strike="noStrike" cap="none" normalizeH="0" baseline="0" dirty="0">
                <a:ln>
                  <a:noFill/>
                </a:ln>
                <a:solidFill>
                  <a:schemeClr val="bg2"/>
                </a:solidFill>
                <a:effectLst/>
                <a:latin typeface="Times New Roman" panose="02020603050405020304" pitchFamily="18" charset="0"/>
                <a:ea typeface="SimSun"/>
                <a:cs typeface="Times New Roman" panose="02020603050405020304" pitchFamily="18" charset="0"/>
              </a:endParaRPr>
            </a:p>
          </p:txBody>
        </p:sp>
      </p:grpSp>
      <p:sp>
        <p:nvSpPr>
          <p:cNvPr id="11"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中文要点｜研究技术路线</a:t>
            </a:r>
          </a:p>
          <a:p>
            <a:pPr>
              <a:lnSpc>
                <a:spcPct val="108000"/>
              </a:lnSpc>
              <a:spcAft>
                <a:spcPts val="0"/>
              </a:spcAft>
            </a:pPr>
            <a:r>
              <a:rPr sz="1400" b="0">
                <a:solidFill>
                  <a:srgbClr val="282828"/>
                </a:solidFill>
                <a:latin typeface="Times New Roman"/>
                <a:ea typeface="SimSun"/>
                <a:cs typeface="Times New Roman"/>
              </a:rPr>
              <a:t>以 FDM 研究喷淋分布，以 CFD 分析水膜形成，以 ANN 提高预测效率，并拓展至菱形 IEC 的应用优化。</a:t>
            </a:r>
          </a:p>
        </p:txBody>
      </p:sp>
    </p:spTree>
    <p:extLst>
      <p:ext uri="{BB962C8B-B14F-4D97-AF65-F5344CB8AC3E}">
        <p14:creationId xmlns:p14="http://schemas.microsoft.com/office/powerpoint/2010/main" val="3914939096"/>
      </p:ext>
    </p:extLst>
  </p:cSld>
  <p:clrMapOvr>
    <a:masterClrMapping/>
  </p:clrMapOvr>
  <mc:AlternateContent xmlns:mc="http://schemas.openxmlformats.org/markup-compatibility/2006" xmlns:p14="http://schemas.microsoft.com/office/powerpoint/2010/main">
    <mc:Choice Requires="p14">
      <p:transition spd="slow" p14:dur="2000" advTm="47774"/>
    </mc:Choice>
    <mc:Fallback xmlns="">
      <p:transition spd="slow" advTm="4777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15</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rgbClr val="C00000"/>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中文要点｜第三部分：FDM 模型</a:t>
            </a:r>
          </a:p>
          <a:p>
            <a:pPr>
              <a:lnSpc>
                <a:spcPct val="108000"/>
              </a:lnSpc>
              <a:spcAft>
                <a:spcPts val="0"/>
              </a:spcAft>
            </a:pPr>
            <a:r>
              <a:rPr sz="1400" b="0">
                <a:solidFill>
                  <a:srgbClr val="282828"/>
                </a:solidFill>
                <a:latin typeface="Times New Roman"/>
                <a:ea typeface="SimSun"/>
                <a:cs typeface="Times New Roman"/>
              </a:rPr>
              <a:t>建立喷淋分布模型，通过实验验证与多喷嘴方案对比，优化板面润湿性及 IEC 能量回收性能。</a:t>
            </a:r>
          </a:p>
        </p:txBody>
      </p:sp>
    </p:spTree>
    <p:extLst>
      <p:ext uri="{BB962C8B-B14F-4D97-AF65-F5344CB8AC3E}">
        <p14:creationId xmlns:p14="http://schemas.microsoft.com/office/powerpoint/2010/main" val="10044434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3">
            <a:extLst>
              <a:ext uri="{FF2B5EF4-FFF2-40B4-BE49-F238E27FC236}">
                <a16:creationId xmlns:a16="http://schemas.microsoft.com/office/drawing/2014/main" id="{ACE7F072-BF5C-4B0C-A972-CAEBCE53071A}"/>
              </a:ext>
            </a:extLst>
          </p:cNvPr>
          <p:cNvSpPr>
            <a:spLocks noChangeArrowheads="1"/>
          </p:cNvSpPr>
          <p:nvPr/>
        </p:nvSpPr>
        <p:spPr bwMode="auto">
          <a:xfrm>
            <a:off x="864432" y="147580"/>
            <a:ext cx="9099077" cy="51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FDM model for nozzle optimization of IEC</a:t>
            </a:r>
          </a:p>
        </p:txBody>
      </p:sp>
      <p:sp>
        <p:nvSpPr>
          <p:cNvPr id="3" name="灯片编号占位符 2">
            <a:extLst>
              <a:ext uri="{FF2B5EF4-FFF2-40B4-BE49-F238E27FC236}">
                <a16:creationId xmlns:a16="http://schemas.microsoft.com/office/drawing/2014/main" id="{B5045246-EE37-4BB8-A189-B23A691781C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16</a:t>
            </a:fld>
            <a:endParaRPr lang="en-US" altLang="zh-CN" dirty="0">
              <a:latin typeface="Times New Roman"/>
              <a:ea typeface="SimSun"/>
              <a:cs typeface="Times New Roman"/>
            </a:endParaRPr>
          </a:p>
        </p:txBody>
      </p:sp>
      <p:grpSp>
        <p:nvGrpSpPr>
          <p:cNvPr id="26" name="Original English content (proportional layout)"/>
          <p:cNvGrpSpPr/>
          <p:nvPr/>
        </p:nvGrpSpPr>
        <p:grpSpPr>
          <a:xfrm>
            <a:off x="1097280" y="731520"/>
            <a:ext cx="9997440" cy="5023714"/>
            <a:chOff x="0" y="731520"/>
            <a:chExt cx="12192000" cy="6126480"/>
          </a:xfrm>
        </p:grpSpPr>
        <p:pic>
          <p:nvPicPr>
            <p:cNvPr id="6" name="图片 5">
              <a:extLst>
                <a:ext uri="{FF2B5EF4-FFF2-40B4-BE49-F238E27FC236}">
                  <a16:creationId xmlns:a16="http://schemas.microsoft.com/office/drawing/2014/main" id="{736EF977-B5E6-4612-B4E0-760D482E886E}"/>
                </a:ext>
              </a:extLst>
            </p:cNvPr>
            <p:cNvPicPr>
              <a:picLocks noChangeAspect="1"/>
            </p:cNvPicPr>
            <p:nvPr/>
          </p:nvPicPr>
          <p:blipFill>
            <a:blip r:embed="rId3"/>
            <a:stretch>
              <a:fillRect/>
            </a:stretch>
          </p:blipFill>
          <p:spPr>
            <a:xfrm>
              <a:off x="6608996" y="4282820"/>
              <a:ext cx="4584112" cy="1952100"/>
            </a:xfrm>
            <a:prstGeom prst="rect">
              <a:avLst/>
            </a:prstGeom>
          </p:spPr>
        </p:pic>
        <p:pic>
          <p:nvPicPr>
            <p:cNvPr id="7" name="图片 6">
              <a:extLst>
                <a:ext uri="{FF2B5EF4-FFF2-40B4-BE49-F238E27FC236}">
                  <a16:creationId xmlns:a16="http://schemas.microsoft.com/office/drawing/2014/main" id="{B8BE0C2B-0B3E-4C2D-9420-4C3ECFCE5D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1382" y="1035157"/>
              <a:ext cx="3397479" cy="3036684"/>
            </a:xfrm>
            <a:prstGeom prst="rect">
              <a:avLst/>
            </a:prstGeom>
          </p:spPr>
        </p:pic>
        <p:pic>
          <p:nvPicPr>
            <p:cNvPr id="10" name="图片 9">
              <a:extLst>
                <a:ext uri="{FF2B5EF4-FFF2-40B4-BE49-F238E27FC236}">
                  <a16:creationId xmlns:a16="http://schemas.microsoft.com/office/drawing/2014/main" id="{997745E3-102C-45DA-8D4E-780E6123C0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908" y="1520194"/>
              <a:ext cx="5087333" cy="3240000"/>
            </a:xfrm>
            <a:prstGeom prst="rect">
              <a:avLst/>
            </a:prstGeom>
          </p:spPr>
        </p:pic>
        <p:sp>
          <p:nvSpPr>
            <p:cNvPr id="11" name="椭圆 10">
              <a:extLst>
                <a:ext uri="{FF2B5EF4-FFF2-40B4-BE49-F238E27FC236}">
                  <a16:creationId xmlns:a16="http://schemas.microsoft.com/office/drawing/2014/main" id="{79F29C5C-DF92-4F2A-8E3C-E689D058AF2E}"/>
                </a:ext>
              </a:extLst>
            </p:cNvPr>
            <p:cNvSpPr/>
            <p:nvPr/>
          </p:nvSpPr>
          <p:spPr>
            <a:xfrm>
              <a:off x="1755844" y="1569937"/>
              <a:ext cx="1573452" cy="828259"/>
            </a:xfrm>
            <a:prstGeom prst="ellipse">
              <a:avLst/>
            </a:prstGeom>
            <a:noFill/>
            <a:ln w="127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476" kern="0" dirty="0">
                <a:solidFill>
                  <a:prstClr val="white"/>
                </a:solidFill>
                <a:latin typeface="Times New Roman" panose="020F0502020204030204"/>
                <a:ea typeface="SimSun"/>
                <a:cs typeface="Times New Roman"/>
              </a:endParaRPr>
            </a:p>
          </p:txBody>
        </p:sp>
        <p:cxnSp>
          <p:nvCxnSpPr>
            <p:cNvPr id="12" name="直接箭头连接符 11">
              <a:extLst>
                <a:ext uri="{FF2B5EF4-FFF2-40B4-BE49-F238E27FC236}">
                  <a16:creationId xmlns:a16="http://schemas.microsoft.com/office/drawing/2014/main" id="{1F4553F9-4CD6-40EF-8B1C-5D11EEAD4DA7}"/>
                </a:ext>
              </a:extLst>
            </p:cNvPr>
            <p:cNvCxnSpPr>
              <a:cxnSpLocks/>
            </p:cNvCxnSpPr>
            <p:nvPr/>
          </p:nvCxnSpPr>
          <p:spPr>
            <a:xfrm flipV="1">
              <a:off x="3329296" y="1618728"/>
              <a:ext cx="4185929" cy="290034"/>
            </a:xfrm>
            <a:prstGeom prst="straightConnector1">
              <a:avLst/>
            </a:prstGeom>
            <a:noFill/>
            <a:ln w="6350" cap="flat" cmpd="sng" algn="ctr">
              <a:solidFill>
                <a:srgbClr val="C00000"/>
              </a:solidFill>
              <a:prstDash val="solid"/>
              <a:miter lim="800000"/>
              <a:tailEnd type="triangle"/>
            </a:ln>
            <a:effectLst/>
          </p:spPr>
        </p:cxnSp>
        <p:sp>
          <p:nvSpPr>
            <p:cNvPr id="17" name="矩形 16">
              <a:extLst>
                <a:ext uri="{FF2B5EF4-FFF2-40B4-BE49-F238E27FC236}">
                  <a16:creationId xmlns:a16="http://schemas.microsoft.com/office/drawing/2014/main" id="{1BB2590E-3C33-462D-856F-620D5822B162}"/>
                </a:ext>
              </a:extLst>
            </p:cNvPr>
            <p:cNvSpPr/>
            <p:nvPr/>
          </p:nvSpPr>
          <p:spPr>
            <a:xfrm>
              <a:off x="1402676" y="4947054"/>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3.1.1 </a:t>
              </a:r>
              <a:r>
                <a:rPr lang="en-HK" sz="984" dirty="0">
                  <a:solidFill>
                    <a:prstClr val="black"/>
                  </a:solidFill>
                  <a:latin typeface="Times New Roman" panose="02020603050405020304" pitchFamily="18" charset="0"/>
                  <a:ea typeface="SimSun"/>
                  <a:cs typeface="Times New Roman" panose="02020603050405020304" pitchFamily="18" charset="0"/>
                </a:rPr>
                <a:t>Configuration of an IEC system</a:t>
              </a:r>
            </a:p>
          </p:txBody>
        </p:sp>
        <p:sp>
          <p:nvSpPr>
            <p:cNvPr id="23" name="矩形 22">
              <a:extLst>
                <a:ext uri="{FF2B5EF4-FFF2-40B4-BE49-F238E27FC236}">
                  <a16:creationId xmlns:a16="http://schemas.microsoft.com/office/drawing/2014/main" id="{E3C7E495-B22F-4CB1-BAC0-69116BBB6588}"/>
                </a:ext>
              </a:extLst>
            </p:cNvPr>
            <p:cNvSpPr/>
            <p:nvPr/>
          </p:nvSpPr>
          <p:spPr>
            <a:xfrm>
              <a:off x="6740410" y="4071841"/>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3.1.2 </a:t>
              </a:r>
              <a:r>
                <a:rPr lang="en-HK" sz="984" dirty="0">
                  <a:solidFill>
                    <a:prstClr val="black"/>
                  </a:solidFill>
                  <a:latin typeface="Times New Roman" panose="02020603050405020304" pitchFamily="18" charset="0"/>
                  <a:ea typeface="SimSun"/>
                  <a:cs typeface="Times New Roman" panose="02020603050405020304" pitchFamily="18" charset="0"/>
                </a:rPr>
                <a:t>Geometry used in volumetric flux distribution model</a:t>
              </a:r>
              <a:r>
                <a:rPr lang="en-US" sz="984" baseline="30000" dirty="0">
                  <a:solidFill>
                    <a:prstClr val="black"/>
                  </a:solidFill>
                  <a:latin typeface="Times New Roman" panose="02020603050405020304" pitchFamily="18" charset="0"/>
                  <a:ea typeface="SimSun"/>
                  <a:cs typeface="Times New Roman" panose="02020603050405020304" pitchFamily="18" charset="0"/>
                </a:rPr>
                <a:t> [1]</a:t>
              </a:r>
              <a:endParaRPr lang="en-HK" sz="984" dirty="0">
                <a:solidFill>
                  <a:prstClr val="black"/>
                </a:solidFill>
                <a:latin typeface="Times New Roman" panose="02020603050405020304" pitchFamily="18" charset="0"/>
                <a:ea typeface="SimSun"/>
                <a:cs typeface="Times New Roman" panose="02020603050405020304" pitchFamily="18" charset="0"/>
              </a:endParaRPr>
            </a:p>
          </p:txBody>
        </p:sp>
        <p:sp>
          <p:nvSpPr>
            <p:cNvPr id="24" name="矩形 23">
              <a:extLst>
                <a:ext uri="{FF2B5EF4-FFF2-40B4-BE49-F238E27FC236}">
                  <a16:creationId xmlns:a16="http://schemas.microsoft.com/office/drawing/2014/main" id="{E2930FF6-07BE-4486-A5C5-CEA70EC2414A}"/>
                </a:ext>
              </a:extLst>
            </p:cNvPr>
            <p:cNvSpPr/>
            <p:nvPr/>
          </p:nvSpPr>
          <p:spPr>
            <a:xfrm>
              <a:off x="7515225" y="6164188"/>
              <a:ext cx="4792063" cy="461665"/>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3.1.3 </a:t>
              </a:r>
              <a:r>
                <a:rPr lang="en-HK" sz="984" dirty="0">
                  <a:solidFill>
                    <a:prstClr val="black"/>
                  </a:solidFill>
                  <a:latin typeface="Times New Roman" panose="02020603050405020304" pitchFamily="18" charset="0"/>
                  <a:ea typeface="SimSun"/>
                  <a:cs typeface="Times New Roman" panose="02020603050405020304" pitchFamily="18" charset="0"/>
                </a:rPr>
                <a:t>Three scenarios of spray impact area</a:t>
              </a:r>
            </a:p>
            <a:p>
              <a:pPr defTabSz="457200" eaLnBrk="1" fontAlgn="auto" hangingPunct="1">
                <a:spcBef>
                  <a:spcPts val="0"/>
                </a:spcBef>
                <a:spcAft>
                  <a:spcPts val="0"/>
                </a:spcAft>
              </a:pPr>
              <a:endParaRPr lang="en-HK" sz="984" dirty="0">
                <a:solidFill>
                  <a:prstClr val="black"/>
                </a:solidFill>
                <a:latin typeface="Times New Roman" panose="020B0604020202020204" pitchFamily="34" charset="0"/>
                <a:ea typeface="SimSun"/>
                <a:cs typeface="Times New Roman" panose="020B0604020202020204" pitchFamily="34" charset="0"/>
              </a:endParaRPr>
            </a:p>
          </p:txBody>
        </p:sp>
        <p:sp>
          <p:nvSpPr>
            <p:cNvPr id="25" name="矩形 24">
              <a:extLst>
                <a:ext uri="{FF2B5EF4-FFF2-40B4-BE49-F238E27FC236}">
                  <a16:creationId xmlns:a16="http://schemas.microsoft.com/office/drawing/2014/main" id="{7DB86AE5-5915-4DED-8B6C-85D34F70AFB5}"/>
                </a:ext>
              </a:extLst>
            </p:cNvPr>
            <p:cNvSpPr/>
            <p:nvPr/>
          </p:nvSpPr>
          <p:spPr>
            <a:xfrm>
              <a:off x="1552576" y="6611780"/>
              <a:ext cx="9979897" cy="246221"/>
            </a:xfrm>
            <a:prstGeom prst="rect">
              <a:avLst/>
            </a:prstGeom>
          </p:spPr>
          <p:txBody>
            <a:bodyPr wrap="square">
              <a:spAutoFit/>
            </a:bodyPr>
            <a:lstStyle/>
            <a:p>
              <a:pPr defTabSz="457200" eaLnBrk="1" fontAlgn="auto" hangingPunct="1">
                <a:spcBef>
                  <a:spcPts val="0"/>
                </a:spcBef>
                <a:spcAft>
                  <a:spcPts val="0"/>
                </a:spcAft>
              </a:pPr>
              <a:r>
                <a:rPr lang="en-US" sz="82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[1] </a:t>
              </a:r>
              <a:r>
                <a:rPr lang="en-US" sz="820" dirty="0" err="1">
                  <a:solidFill>
                    <a:prstClr val="black"/>
                  </a:solidFill>
                  <a:latin typeface="Times New Roman" panose="02020603050405020304" pitchFamily="18" charset="0"/>
                  <a:ea typeface="SimSun" panose="02010600030101010101" pitchFamily="2" charset="-122"/>
                  <a:cs typeface="Times New Roman" panose="02020603050405020304" pitchFamily="18" charset="0"/>
                </a:rPr>
                <a:t>Mudawar</a:t>
              </a:r>
              <a:r>
                <a:rPr lang="en-US" sz="82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I, Estes KA. Optimizing and predicting CHF in spray cooling of a square surface. J Heat Transfer 1996;118:672–9. https://doi.org/10.1115/1.2822685.</a:t>
              </a:r>
              <a:endParaRPr lang="en-HK" sz="820" dirty="0">
                <a:solidFill>
                  <a:prstClr val="black"/>
                </a:solidFill>
                <a:latin typeface="Times New Roman" panose="02020603050405020304" pitchFamily="18" charset="0"/>
                <a:ea typeface="SimSun"/>
                <a:cs typeface="Times New Roman" panose="02020603050405020304" pitchFamily="18" charset="0"/>
              </a:endParaRPr>
            </a:p>
          </p:txBody>
        </p:sp>
        <p:sp>
          <p:nvSpPr>
            <p:cNvPr id="2" name="矩形 1">
              <a:extLst>
                <a:ext uri="{FF2B5EF4-FFF2-40B4-BE49-F238E27FC236}">
                  <a16:creationId xmlns:a16="http://schemas.microsoft.com/office/drawing/2014/main" id="{BFC2E9D6-DD4B-40D6-8701-5917191F2CDA}"/>
                </a:ext>
              </a:extLst>
            </p:cNvPr>
            <p:cNvSpPr/>
            <p:nvPr/>
          </p:nvSpPr>
          <p:spPr>
            <a:xfrm>
              <a:off x="998892" y="5199053"/>
              <a:ext cx="4792063" cy="1156086"/>
            </a:xfrm>
            <a:prstGeom prst="rect">
              <a:avLst/>
            </a:prstGeom>
          </p:spPr>
          <p:txBody>
            <a:bodyPr wrap="square">
              <a:spAutoFit/>
            </a:bodyPr>
            <a:lstStyle/>
            <a:p>
              <a:pPr>
                <a:lnSpc>
                  <a:spcPct val="150000"/>
                </a:lnSpc>
              </a:pPr>
              <a:r>
                <a:rPr lang="en-HK" sz="1312" b="1" dirty="0">
                  <a:latin typeface="Times New Roman" panose="02020603050405020304" pitchFamily="18" charset="0"/>
                  <a:ea typeface="SimSun"/>
                  <a:cs typeface="Times New Roman" panose="02020603050405020304" pitchFamily="18" charset="0"/>
                </a:rPr>
                <a:t>Assumption</a:t>
              </a:r>
              <a:r>
                <a:rPr lang="zh-CN" altLang="en-US" sz="1312" b="1" dirty="0">
                  <a:latin typeface="Times New Roman" panose="02020603050405020304" pitchFamily="18" charset="0"/>
                  <a:ea typeface="SimSun"/>
                  <a:cs typeface="Times New Roman" panose="02020603050405020304" pitchFamily="18" charset="0"/>
                </a:rPr>
                <a:t>：</a:t>
              </a:r>
              <a:endParaRPr lang="en-HK" altLang="zh-CN" sz="1312" b="1" dirty="0">
                <a:latin typeface="Times New Roman" panose="02020603050405020304" pitchFamily="18" charset="0"/>
                <a:ea typeface="SimSun"/>
                <a:cs typeface="Times New Roman" panose="02020603050405020304" pitchFamily="18" charset="0"/>
              </a:endParaRPr>
            </a:p>
            <a:p>
              <a:pPr>
                <a:lnSpc>
                  <a:spcPct val="150000"/>
                </a:lnSpc>
              </a:pPr>
              <a:r>
                <a:rPr lang="en-HK" sz="1312" dirty="0">
                  <a:latin typeface="Times New Roman" panose="02020603050405020304" pitchFamily="18" charset="0"/>
                  <a:ea typeface="SimSun"/>
                  <a:cs typeface="Times New Roman" panose="02020603050405020304" pitchFamily="18" charset="0"/>
                </a:rPr>
                <a:t>The total spray flow rate, Q, is uniformly distributed over any spherical surface </a:t>
              </a:r>
              <a:r>
                <a:rPr lang="en-HK" sz="1312" dirty="0" err="1">
                  <a:latin typeface="Times New Roman" panose="02020603050405020304" pitchFamily="18" charset="0"/>
                  <a:ea typeface="SimSun"/>
                  <a:cs typeface="Times New Roman" panose="02020603050405020304" pitchFamily="18" charset="0"/>
                </a:rPr>
                <a:t>centered</a:t>
              </a:r>
              <a:r>
                <a:rPr lang="en-HK" sz="1312" dirty="0">
                  <a:latin typeface="Times New Roman" panose="02020603050405020304" pitchFamily="18" charset="0"/>
                  <a:ea typeface="SimSun"/>
                  <a:cs typeface="Times New Roman" panose="02020603050405020304" pitchFamily="18" charset="0"/>
                </a:rPr>
                <a:t> at the spray orifice.</a:t>
              </a:r>
            </a:p>
          </p:txBody>
        </p:sp>
        <p:sp>
          <p:nvSpPr>
            <p:cNvPr id="15" name="Content Placeholder 23">
              <a:extLst>
                <a:ext uri="{FF2B5EF4-FFF2-40B4-BE49-F238E27FC236}">
                  <a16:creationId xmlns:a16="http://schemas.microsoft.com/office/drawing/2014/main" id="{1D69A371-8A3F-4C13-B12D-633F6189A6DE}"/>
                </a:ext>
              </a:extLst>
            </p:cNvPr>
            <p:cNvSpPr txBox="1">
              <a:spLocks/>
            </p:cNvSpPr>
            <p:nvPr/>
          </p:nvSpPr>
          <p:spPr bwMode="auto">
            <a:xfrm>
              <a:off x="542065" y="1012054"/>
              <a:ext cx="8510587" cy="539750"/>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3.1 Mathematical model</a:t>
              </a:r>
              <a:endParaRPr lang="en-US" altLang="zh-CN" sz="1476" b="1" kern="0" dirty="0">
                <a:latin typeface="Times New Roman" panose="02020603050405020304" pitchFamily="18" charset="0"/>
                <a:ea typeface="SimSun"/>
                <a:cs typeface="Times New Roman" panose="02020603050405020304" pitchFamily="18" charset="0"/>
              </a:endParaRPr>
            </a:p>
          </p:txBody>
        </p:sp>
      </p:grpSp>
      <p:sp>
        <p:nvSpPr>
          <p:cNvPr id="27"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中文要点｜数学模型与假设</a:t>
            </a:r>
          </a:p>
          <a:p>
            <a:pPr>
              <a:lnSpc>
                <a:spcPct val="108000"/>
              </a:lnSpc>
              <a:spcAft>
                <a:spcPts val="0"/>
              </a:spcAft>
            </a:pPr>
            <a:r>
              <a:rPr sz="1400" b="0">
                <a:solidFill>
                  <a:srgbClr val="282828"/>
                </a:solidFill>
                <a:latin typeface="Times New Roman"/>
                <a:ea typeface="SimSun"/>
                <a:cs typeface="Times New Roman"/>
              </a:rPr>
              <a:t>以喷口为球心，假设总喷淋流量 Q 在任一球面上均匀分布，据此计算不同区域的喷淋通量。</a:t>
            </a:r>
          </a:p>
        </p:txBody>
      </p:sp>
    </p:spTree>
    <p:extLst>
      <p:ext uri="{BB962C8B-B14F-4D97-AF65-F5344CB8AC3E}">
        <p14:creationId xmlns:p14="http://schemas.microsoft.com/office/powerpoint/2010/main" val="155050902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F1180BE-ECF2-4826-AE0C-151653CEE077}"/>
                  </a:ext>
                </a:extLst>
              </p:cNvPr>
              <p:cNvSpPr/>
              <p:nvPr/>
            </p:nvSpPr>
            <p:spPr>
              <a:xfrm>
                <a:off x="386739" y="1325869"/>
                <a:ext cx="3702307" cy="1328120"/>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sz="1800" dirty="0">
                    <a:solidFill>
                      <a:prstClr val="black"/>
                    </a:solidFill>
                    <a:latin typeface="Times New Roman" panose="02020603050405020304" pitchFamily="18" charset="0"/>
                    <a:ea typeface="SimSun"/>
                    <a:cs typeface="Times New Roman" panose="02020603050405020304" pitchFamily="18" charset="0"/>
                  </a:rPr>
                  <a:t>Boundary </a:t>
                </a:r>
                <a:r>
                  <a:rPr lang="en-US" altLang="zh-CN" sz="18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condition</a:t>
                </a:r>
                <a:r>
                  <a:rPr lang="en-HK" altLang="zh-CN" sz="18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p>
              <a:p>
                <a:pPr defTabSz="457200" eaLnBrk="1" fontAlgn="auto">
                  <a:spcBef>
                    <a:spcPts val="0"/>
                  </a:spcBef>
                  <a:spcAft>
                    <a:spcPts val="0"/>
                  </a:spcAft>
                </a:pPr>
                <a14:m>
                  <m:oMathPara xmlns:m="http://schemas.openxmlformats.org/officeDocument/2006/math">
                    <m:oMath>
                      <m:eqArr>
                        <m:eqArrPr>
                          <m:ctrlPr>
                            <a:rPr lang="en-HK" sz="1400" i="1">
                              <a:solidFill>
                                <a:prstClr val="black"/>
                              </a:solidFill>
                              <a:latin typeface="Times New Roman" panose="02040503050406030204" pitchFamily="18" charset="0"/>
                              <a:ea typeface="SimSun"/>
                              <a:cs typeface="Times New Roman"/>
                            </a:rPr>
                          </m:ctrlPr>
                        </m:eqArrPr>
                        <m:e>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𝑥</m:t>
                              </m:r>
                            </m:e>
                            <m:sup>
                              <m:r>
                                <a:rPr lang="en-US" sz="1400">
                                  <a:solidFill>
                                    <a:prstClr val="black"/>
                                  </a:solidFill>
                                  <a:latin typeface="Times New Roman" panose="02040503050406030204" pitchFamily="18" charset="0"/>
                                  <a:ea typeface="SimSun"/>
                                  <a:cs typeface="Times New Roman"/>
                                </a:rPr>
                                <m:t>2</m:t>
                              </m:r>
                            </m:sup>
                          </m:sSup>
                          <m:r>
                            <a:rPr lang="en-US" sz="1400">
                              <a:solidFill>
                                <a:prstClr val="black"/>
                              </a:solidFill>
                              <a:latin typeface="Times New Roman" panose="02040503050406030204" pitchFamily="18" charset="0"/>
                              <a:ea typeface="SimSun"/>
                              <a:cs typeface="Times New Roman"/>
                            </a:rPr>
                            <m:t>+</m:t>
                          </m:r>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𝑦</m:t>
                              </m:r>
                            </m:e>
                            <m:sup>
                              <m:r>
                                <a:rPr lang="en-US" sz="1400">
                                  <a:solidFill>
                                    <a:prstClr val="black"/>
                                  </a:solidFill>
                                  <a:latin typeface="Times New Roman" panose="02040503050406030204" pitchFamily="18" charset="0"/>
                                  <a:ea typeface="SimSun"/>
                                  <a:cs typeface="Times New Roman"/>
                                </a:rPr>
                                <m:t>2</m:t>
                              </m:r>
                            </m:sup>
                          </m:sSup>
                          <m:r>
                            <a:rPr lang="en-US"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𝐻</m:t>
                                  </m:r>
                                  <m:r>
                                    <a:rPr lang="en-US" sz="1400" i="1">
                                      <a:solidFill>
                                        <a:prstClr val="black"/>
                                      </a:solidFill>
                                      <a:latin typeface="Times New Roman" panose="02040503050406030204" pitchFamily="18" charset="0"/>
                                      <a:ea typeface="SimSun"/>
                                      <a:cs typeface="Times New Roman"/>
                                    </a:rPr>
                                    <m:t>×</m:t>
                                  </m:r>
                                  <m:func>
                                    <m:funcPr>
                                      <m:ctrlPr>
                                        <a:rPr lang="en-US" sz="1400">
                                          <a:solidFill>
                                            <a:prstClr val="black"/>
                                          </a:solidFill>
                                          <a:latin typeface="Times New Roman" panose="02040503050406030204" pitchFamily="18" charset="0"/>
                                          <a:ea typeface="SimSun"/>
                                          <a:cs typeface="Times New Roman"/>
                                        </a:rPr>
                                      </m:ctrlPr>
                                    </m:funcPr>
                                    <m:fName>
                                      <m:r>
                                        <m:rPr>
                                          <m:sty m:val="p"/>
                                        </m:rPr>
                                        <a:rPr lang="en-US" sz="1400">
                                          <a:solidFill>
                                            <a:prstClr val="black"/>
                                          </a:solidFill>
                                          <a:latin typeface="Times New Roman" panose="02040503050406030204" pitchFamily="18" charset="0"/>
                                          <a:ea typeface="SimSun"/>
                                          <a:cs typeface="Times New Roman"/>
                                        </a:rPr>
                                        <m:t>tan</m:t>
                                      </m:r>
                                    </m:fName>
                                    <m:e>
                                      <m:f>
                                        <m:fPr>
                                          <m:ctrlPr>
                                            <a:rPr lang="en-US" sz="1400" i="1">
                                              <a:solidFill>
                                                <a:prstClr val="black"/>
                                              </a:solidFill>
                                              <a:latin typeface="Times New Roman" panose="02040503050406030204" pitchFamily="18" charset="0"/>
                                              <a:ea typeface="SimSun"/>
                                              <a:cs typeface="Times New Roman"/>
                                            </a:rPr>
                                          </m:ctrlPr>
                                        </m:fPr>
                                        <m:num>
                                          <m:r>
                                            <a:rPr lang="en-US" sz="1400" i="1">
                                              <a:solidFill>
                                                <a:prstClr val="black"/>
                                              </a:solidFill>
                                              <a:latin typeface="Times New Roman" panose="02040503050406030204" pitchFamily="18" charset="0"/>
                                              <a:ea typeface="SimSun"/>
                                              <a:cs typeface="Times New Roman"/>
                                            </a:rPr>
                                            <m:t>𝜃</m:t>
                                          </m:r>
                                        </m:num>
                                        <m:den>
                                          <m:r>
                                            <a:rPr lang="en-US" sz="1400">
                                              <a:solidFill>
                                                <a:prstClr val="black"/>
                                              </a:solidFill>
                                              <a:latin typeface="Times New Roman" panose="02040503050406030204" pitchFamily="18" charset="0"/>
                                              <a:ea typeface="SimSun"/>
                                              <a:cs typeface="Times New Roman"/>
                                            </a:rPr>
                                            <m:t>2</m:t>
                                          </m:r>
                                        </m:den>
                                      </m:f>
                                    </m:e>
                                  </m:func>
                                </m:e>
                              </m:d>
                            </m:e>
                            <m:sup>
                              <m:r>
                                <a:rPr lang="en-US" sz="1400">
                                  <a:solidFill>
                                    <a:prstClr val="black"/>
                                  </a:solidFill>
                                  <a:latin typeface="Times New Roman" panose="02040503050406030204" pitchFamily="18" charset="0"/>
                                  <a:ea typeface="SimSun"/>
                                  <a:cs typeface="Times New Roman"/>
                                </a:rPr>
                                <m:t>2</m:t>
                              </m:r>
                            </m:sup>
                          </m:sSup>
                        </m:e>
                      </m:eqArr>
                    </m:oMath>
                  </m:oMathPara>
                </a14:m>
                <a:endParaRPr lang="en-HK" sz="1400" dirty="0">
                  <a:solidFill>
                    <a:prstClr val="black"/>
                  </a:solidFill>
                  <a:latin typeface="Times New Roman" panose="020F0502020204030204"/>
                  <a:ea typeface="SimSun"/>
                  <a:cs typeface="Times New Roman"/>
                </a:endParaRPr>
              </a:p>
              <a:p>
                <a:pPr defTabSz="457200" eaLnBrk="1" fontAlgn="auto" hangingPunct="1">
                  <a:spcBef>
                    <a:spcPts val="0"/>
                  </a:spcBef>
                  <a:spcAft>
                    <a:spcPts val="0"/>
                  </a:spcAft>
                </a:pPr>
                <a14:m>
                  <m:oMathPara xmlns:m="http://schemas.openxmlformats.org/officeDocument/2006/math">
                    <m:oMath>
                      <m:eqArr>
                        <m:eqArrPr>
                          <m:ctrlPr>
                            <a:rPr lang="en-HK" sz="1400" i="1">
                              <a:solidFill>
                                <a:prstClr val="black"/>
                              </a:solidFill>
                              <a:latin typeface="Times New Roman" panose="02040503050406030204" pitchFamily="18" charset="0"/>
                              <a:ea typeface="SimSun"/>
                              <a:cs typeface="Times New Roman"/>
                            </a:rPr>
                          </m:ctrlPr>
                        </m:eqArrPr>
                        <m:e>
                          <m:f>
                            <m:fPr>
                              <m:ctrlPr>
                                <a:rPr lang="en-HK" sz="1400" i="1">
                                  <a:solidFill>
                                    <a:prstClr val="black"/>
                                  </a:solidFill>
                                  <a:latin typeface="Times New Roman" panose="02040503050406030204" pitchFamily="18" charset="0"/>
                                  <a:ea typeface="SimSun"/>
                                  <a:cs typeface="Times New Roman"/>
                                </a:rPr>
                              </m:ctrlPr>
                            </m:fPr>
                            <m:num>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𝑥</m:t>
                                      </m:r>
                                      <m:r>
                                        <a:rPr lang="en-US" sz="1400" i="1">
                                          <a:solidFill>
                                            <a:prstClr val="black"/>
                                          </a:solidFill>
                                          <a:latin typeface="Times New Roman" panose="02040503050406030204" pitchFamily="18" charset="0"/>
                                          <a:ea typeface="SimSun"/>
                                          <a:cs typeface="Times New Roman"/>
                                        </a:rPr>
                                        <m:t>−</m:t>
                                      </m:r>
                                      <m:sSub>
                                        <m:sSubPr>
                                          <m:ctrlPr>
                                            <a:rPr lang="en-US" sz="1400" i="1">
                                              <a:solidFill>
                                                <a:prstClr val="black"/>
                                              </a:solidFill>
                                              <a:latin typeface="Times New Roman" panose="02040503050406030204" pitchFamily="18" charset="0"/>
                                              <a:ea typeface="SimSun"/>
                                              <a:cs typeface="Times New Roman"/>
                                            </a:rPr>
                                          </m:ctrlPr>
                                        </m:sSubPr>
                                        <m:e>
                                          <m:r>
                                            <a:rPr lang="en-US" sz="1400" i="1">
                                              <a:solidFill>
                                                <a:prstClr val="black"/>
                                              </a:solidFill>
                                              <a:latin typeface="Times New Roman" panose="02040503050406030204" pitchFamily="18" charset="0"/>
                                              <a:ea typeface="SimSun"/>
                                              <a:cs typeface="Times New Roman"/>
                                            </a:rPr>
                                            <m:t>𝑥</m:t>
                                          </m:r>
                                        </m:e>
                                        <m:sub>
                                          <m:r>
                                            <a:rPr lang="en-US" sz="1400" i="1">
                                              <a:solidFill>
                                                <a:prstClr val="black"/>
                                              </a:solidFill>
                                              <a:latin typeface="Times New Roman" panose="02040503050406030204" pitchFamily="18" charset="0"/>
                                              <a:ea typeface="SimSun"/>
                                              <a:cs typeface="Times New Roman"/>
                                            </a:rPr>
                                            <m:t>0</m:t>
                                          </m:r>
                                        </m:sub>
                                      </m:sSub>
                                    </m:e>
                                  </m:d>
                                </m:e>
                                <m:sup>
                                  <m:r>
                                    <a:rPr lang="en-US" sz="1400" i="1">
                                      <a:solidFill>
                                        <a:prstClr val="black"/>
                                      </a:solidFill>
                                      <a:latin typeface="Times New Roman" panose="02040503050406030204" pitchFamily="18" charset="0"/>
                                      <a:ea typeface="SimSun"/>
                                      <a:cs typeface="Times New Roman"/>
                                    </a:rPr>
                                    <m:t>2</m:t>
                                  </m:r>
                                </m:sup>
                              </m:sSup>
                            </m:num>
                            <m:den>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𝑎</m:t>
                                  </m:r>
                                </m:e>
                                <m:sup>
                                  <m:r>
                                    <a:rPr lang="en-US" sz="1400" i="1">
                                      <a:solidFill>
                                        <a:prstClr val="black"/>
                                      </a:solidFill>
                                      <a:latin typeface="Times New Roman" panose="02040503050406030204" pitchFamily="18" charset="0"/>
                                      <a:ea typeface="SimSun"/>
                                      <a:cs typeface="Times New Roman"/>
                                    </a:rPr>
                                    <m:t>2</m:t>
                                  </m:r>
                                </m:sup>
                              </m:sSup>
                            </m:den>
                          </m:f>
                          <m:r>
                            <a:rPr lang="en-US" sz="1400" i="1">
                              <a:solidFill>
                                <a:prstClr val="black"/>
                              </a:solidFill>
                              <a:latin typeface="Times New Roman" panose="02040503050406030204" pitchFamily="18" charset="0"/>
                              <a:ea typeface="SimSun"/>
                              <a:cs typeface="Times New Roman"/>
                            </a:rPr>
                            <m:t>+</m:t>
                          </m:r>
                          <m:f>
                            <m:fPr>
                              <m:ctrlPr>
                                <a:rPr lang="en-HK" sz="1400" i="1">
                                  <a:solidFill>
                                    <a:prstClr val="black"/>
                                  </a:solidFill>
                                  <a:latin typeface="Times New Roman" panose="02040503050406030204" pitchFamily="18" charset="0"/>
                                  <a:ea typeface="SimSun"/>
                                  <a:cs typeface="Times New Roman"/>
                                </a:rPr>
                              </m:ctrlPr>
                            </m:fPr>
                            <m:num>
                              <m:sSup>
                                <m:sSupPr>
                                  <m:ctrlPr>
                                    <a:rPr lang="en-HK" sz="1400" i="1">
                                      <a:solidFill>
                                        <a:prstClr val="black"/>
                                      </a:solidFill>
                                      <a:latin typeface="Times New Roman" panose="02040503050406030204" pitchFamily="18" charset="0"/>
                                      <a:ea typeface="SimSun"/>
                                      <a:cs typeface="Times New Roman"/>
                                    </a:rPr>
                                  </m:ctrlPr>
                                </m:sSupPr>
                                <m:e>
                                  <m:d>
                                    <m:dPr>
                                      <m:ctrlPr>
                                        <a:rPr lang="en-US" sz="1400" i="1">
                                          <a:solidFill>
                                            <a:prstClr val="black"/>
                                          </a:solidFill>
                                          <a:latin typeface="Times New Roman" panose="02040503050406030204" pitchFamily="18" charset="0"/>
                                          <a:ea typeface="SimSun"/>
                                          <a:cs typeface="Times New Roman"/>
                                        </a:rPr>
                                      </m:ctrlPr>
                                    </m:dPr>
                                    <m:e>
                                      <m:r>
                                        <a:rPr lang="en-US" sz="1400" i="1">
                                          <a:solidFill>
                                            <a:prstClr val="black"/>
                                          </a:solidFill>
                                          <a:latin typeface="Times New Roman" panose="02040503050406030204" pitchFamily="18" charset="0"/>
                                          <a:ea typeface="SimSun"/>
                                          <a:cs typeface="Times New Roman"/>
                                        </a:rPr>
                                        <m:t>𝑦</m:t>
                                      </m:r>
                                      <m:r>
                                        <a:rPr lang="en-US" sz="1400" i="1">
                                          <a:solidFill>
                                            <a:prstClr val="black"/>
                                          </a:solidFill>
                                          <a:latin typeface="Times New Roman" panose="02040503050406030204" pitchFamily="18" charset="0"/>
                                          <a:ea typeface="SimSun"/>
                                          <a:cs typeface="Times New Roman"/>
                                        </a:rPr>
                                        <m:t>−</m:t>
                                      </m:r>
                                      <m:sSub>
                                        <m:sSubPr>
                                          <m:ctrlPr>
                                            <a:rPr lang="en-US" sz="1400" i="1">
                                              <a:solidFill>
                                                <a:prstClr val="black"/>
                                              </a:solidFill>
                                              <a:latin typeface="Times New Roman" panose="02040503050406030204" pitchFamily="18" charset="0"/>
                                              <a:ea typeface="SimSun"/>
                                              <a:cs typeface="Times New Roman"/>
                                            </a:rPr>
                                          </m:ctrlPr>
                                        </m:sSubPr>
                                        <m:e>
                                          <m:r>
                                            <a:rPr lang="en-US" sz="1400" i="1">
                                              <a:solidFill>
                                                <a:prstClr val="black"/>
                                              </a:solidFill>
                                              <a:latin typeface="Times New Roman" panose="02040503050406030204" pitchFamily="18" charset="0"/>
                                              <a:ea typeface="SimSun"/>
                                              <a:cs typeface="Times New Roman"/>
                                            </a:rPr>
                                            <m:t>𝑦</m:t>
                                          </m:r>
                                        </m:e>
                                        <m:sub>
                                          <m:r>
                                            <a:rPr lang="en-US" sz="1400" i="1">
                                              <a:solidFill>
                                                <a:prstClr val="black"/>
                                              </a:solidFill>
                                              <a:latin typeface="Times New Roman" panose="02040503050406030204" pitchFamily="18" charset="0"/>
                                              <a:ea typeface="SimSun"/>
                                              <a:cs typeface="Times New Roman"/>
                                            </a:rPr>
                                            <m:t>0</m:t>
                                          </m:r>
                                        </m:sub>
                                      </m:sSub>
                                    </m:e>
                                  </m:d>
                                </m:e>
                                <m:sup>
                                  <m:r>
                                    <a:rPr lang="en-US" sz="1400" i="1">
                                      <a:solidFill>
                                        <a:prstClr val="black"/>
                                      </a:solidFill>
                                      <a:latin typeface="Times New Roman" panose="02040503050406030204" pitchFamily="18" charset="0"/>
                                      <a:ea typeface="SimSun"/>
                                      <a:cs typeface="Times New Roman"/>
                                    </a:rPr>
                                    <m:t>2</m:t>
                                  </m:r>
                                </m:sup>
                              </m:sSup>
                            </m:num>
                            <m:den>
                              <m:sSup>
                                <m:sSupPr>
                                  <m:ctrlPr>
                                    <a:rPr lang="en-US" sz="1400" i="1">
                                      <a:solidFill>
                                        <a:prstClr val="black"/>
                                      </a:solidFill>
                                      <a:latin typeface="Times New Roman" panose="02040503050406030204" pitchFamily="18" charset="0"/>
                                      <a:ea typeface="SimSun"/>
                                      <a:cs typeface="Times New Roman"/>
                                    </a:rPr>
                                  </m:ctrlPr>
                                </m:sSupPr>
                                <m:e>
                                  <m:r>
                                    <a:rPr lang="en-US" sz="1400" i="1">
                                      <a:solidFill>
                                        <a:prstClr val="black"/>
                                      </a:solidFill>
                                      <a:latin typeface="Times New Roman" panose="02040503050406030204" pitchFamily="18" charset="0"/>
                                      <a:ea typeface="SimSun"/>
                                      <a:cs typeface="Times New Roman"/>
                                    </a:rPr>
                                    <m:t>𝑏</m:t>
                                  </m:r>
                                </m:e>
                                <m:sup>
                                  <m:r>
                                    <a:rPr lang="en-US" sz="1400" i="1">
                                      <a:solidFill>
                                        <a:prstClr val="black"/>
                                      </a:solidFill>
                                      <a:latin typeface="Times New Roman" panose="02040503050406030204" pitchFamily="18" charset="0"/>
                                      <a:ea typeface="SimSun"/>
                                      <a:cs typeface="Times New Roman"/>
                                    </a:rPr>
                                    <m:t>2</m:t>
                                  </m:r>
                                </m:sup>
                              </m:sSup>
                            </m:den>
                          </m:f>
                          <m:r>
                            <a:rPr lang="en-US" sz="1400" i="1">
                              <a:solidFill>
                                <a:prstClr val="black"/>
                              </a:solidFill>
                              <a:latin typeface="Times New Roman" panose="02040503050406030204" pitchFamily="18" charset="0"/>
                              <a:ea typeface="SimSun"/>
                              <a:cs typeface="Times New Roman"/>
                            </a:rPr>
                            <m:t>=1</m:t>
                          </m:r>
                        </m:e>
                      </m:eqArr>
                    </m:oMath>
                  </m:oMathPara>
                </a14:m>
                <a:endParaRPr lang="en-HK" altLang="zh-CN" sz="1400" dirty="0">
                  <a:solidFill>
                    <a:prstClr val="black"/>
                  </a:solidFill>
                  <a:latin typeface="Times New Roman" panose="020B0604020202020204" pitchFamily="34" charset="0"/>
                  <a:ea typeface="SimSun" panose="02010600030101010101" pitchFamily="2" charset="-122"/>
                  <a:cs typeface="Times New Roman" panose="020B0604020202020204" pitchFamily="34" charset="0"/>
                </a:endParaRPr>
              </a:p>
            </p:txBody>
          </p:sp>
        </mc:Choice>
        <mc:Fallback xmlns="">
          <p:sp>
            <p:nvSpPr>
              <p:cNvPr id="2" name="矩形 1">
                <a:extLst>
                  <a:ext uri="{FF2B5EF4-FFF2-40B4-BE49-F238E27FC236}">
                    <a16:creationId xmlns:a16="http://schemas.microsoft.com/office/drawing/2014/main" id="{3F1180BE-ECF2-4826-AE0C-151653CEE077}"/>
                  </a:ext>
                </a:extLst>
              </p:cNvPr>
              <p:cNvSpPr>
                <a:spLocks noRot="1" noChangeAspect="1" noMove="1" noResize="1" noEditPoints="1" noAdjustHandles="1" noChangeArrowheads="1" noChangeShapeType="1" noTextEdit="1"/>
              </p:cNvSpPr>
              <p:nvPr/>
            </p:nvSpPr>
            <p:spPr>
              <a:xfrm>
                <a:off x="386739" y="1325869"/>
                <a:ext cx="3702307" cy="1328120"/>
              </a:xfrm>
              <a:prstGeom prst="rect">
                <a:avLst/>
              </a:prstGeom>
              <a:blipFill>
                <a:blip r:embed="rId6"/>
                <a:stretch>
                  <a:fillRect l="-658" t="-2294"/>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8E42BD7-6979-4C2C-A4DC-8263F33608C9}"/>
                  </a:ext>
                </a:extLst>
              </p:cNvPr>
              <p:cNvSpPr/>
              <p:nvPr/>
            </p:nvSpPr>
            <p:spPr>
              <a:xfrm>
                <a:off x="1199044" y="5331534"/>
                <a:ext cx="2520562" cy="621773"/>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eqArr>
                        <m:eqArrPr>
                          <m:ctrlPr>
                            <a:rPr lang="en-HK" sz="1200" i="1">
                              <a:solidFill>
                                <a:prstClr val="black"/>
                              </a:solidFill>
                              <a:latin typeface="Times New Roman" panose="02040503050406030204" pitchFamily="18" charset="0"/>
                              <a:ea typeface="SimSun"/>
                              <a:cs typeface="Times New Roman"/>
                            </a:rPr>
                          </m:ctrlPr>
                        </m:eqArrPr>
                        <m:e>
                          <m:r>
                            <a:rPr lang="en-HK" sz="1200">
                              <a:solidFill>
                                <a:prstClr val="black"/>
                              </a:solidFill>
                              <a:latin typeface="Times New Roman" panose="02040503050406030204" pitchFamily="18" charset="0"/>
                              <a:ea typeface="SimSun"/>
                              <a:cs typeface="Times New Roman"/>
                            </a:rPr>
                            <m:t>&amp;</m:t>
                          </m:r>
                          <m:sSup>
                            <m:sSupPr>
                              <m:ctrlPr>
                                <a:rPr lang="en-HK" sz="1200" i="1">
                                  <a:solidFill>
                                    <a:prstClr val="black"/>
                                  </a:solidFill>
                                  <a:latin typeface="Times New Roman" panose="02040503050406030204" pitchFamily="18" charset="0"/>
                                  <a:ea typeface="SimSun"/>
                                  <a:cs typeface="Times New Roman"/>
                                </a:rPr>
                              </m:ctrlPr>
                            </m:sSupPr>
                            <m:e>
                              <m:r>
                                <a:rPr lang="en-HK" sz="1200" i="1">
                                  <a:solidFill>
                                    <a:prstClr val="black"/>
                                  </a:solidFill>
                                  <a:latin typeface="Times New Roman" panose="02040503050406030204" pitchFamily="18" charset="0"/>
                                  <a:ea typeface="SimSun"/>
                                  <a:cs typeface="Times New Roman"/>
                                </a:rPr>
                                <m:t>𝑄</m:t>
                              </m:r>
                            </m:e>
                            <m:sup>
                              <m:r>
                                <a:rPr lang="en-HK" sz="1200">
                                  <a:solidFill>
                                    <a:prstClr val="black"/>
                                  </a:solidFill>
                                  <a:latin typeface="Times New Roman" panose="02040503050406030204" pitchFamily="18" charset="0"/>
                                  <a:ea typeface="SimSun"/>
                                  <a:cs typeface="Times New Roman"/>
                                </a:rPr>
                                <m:t>′′</m:t>
                              </m:r>
                            </m:sup>
                          </m:sSup>
                          <m:r>
                            <a:rPr lang="en-HK" sz="1200">
                              <a:solidFill>
                                <a:prstClr val="black"/>
                              </a:solidFill>
                              <a:latin typeface="Times New Roman" panose="02040503050406030204" pitchFamily="18" charset="0"/>
                              <a:ea typeface="SimSun"/>
                              <a:cs typeface="Times New Roman"/>
                            </a:rPr>
                            <m:t>=</m:t>
                          </m:r>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𝑄</m:t>
                              </m:r>
                            </m:num>
                            <m:den>
                              <m:sSup>
                                <m:sSupPr>
                                  <m:ctrlPr>
                                    <a:rPr lang="en-HK" sz="1200">
                                      <a:solidFill>
                                        <a:prstClr val="black"/>
                                      </a:solidFill>
                                      <a:latin typeface="Times New Roman" panose="02040503050406030204" pitchFamily="18" charset="0"/>
                                      <a:ea typeface="SimSun"/>
                                      <a:cs typeface="Times New Roman"/>
                                    </a:rPr>
                                  </m:ctrlPr>
                                </m:sSupPr>
                                <m:e>
                                  <m:r>
                                    <a:rPr lang="en-HK" sz="1200">
                                      <a:solidFill>
                                        <a:prstClr val="black"/>
                                      </a:solidFill>
                                      <a:latin typeface="Times New Roman" panose="02040503050406030204" pitchFamily="18" charset="0"/>
                                      <a:ea typeface="SimSun"/>
                                      <a:cs typeface="Times New Roman"/>
                                    </a:rPr>
                                    <m:t>2</m:t>
                                  </m:r>
                                  <m:r>
                                    <a:rPr lang="en-HK" sz="1200" i="1">
                                      <a:solidFill>
                                        <a:prstClr val="black"/>
                                      </a:solidFill>
                                      <a:latin typeface="Times New Roman" panose="02040503050406030204" pitchFamily="18" charset="0"/>
                                      <a:ea typeface="SimSun"/>
                                      <a:cs typeface="Times New Roman"/>
                                    </a:rPr>
                                    <m:t>𝜋</m:t>
                                  </m:r>
                                  <m:r>
                                    <a:rPr lang="en-HK" sz="1200" i="1">
                                      <a:solidFill>
                                        <a:prstClr val="black"/>
                                      </a:solidFill>
                                      <a:latin typeface="Times New Roman" panose="02040503050406030204" pitchFamily="18" charset="0"/>
                                      <a:ea typeface="SimSun"/>
                                      <a:cs typeface="Times New Roman"/>
                                    </a:rPr>
                                    <m:t>𝑅</m:t>
                                  </m:r>
                                </m:e>
                                <m:sup>
                                  <m:r>
                                    <a:rPr lang="en-HK" sz="1200">
                                      <a:solidFill>
                                        <a:prstClr val="black"/>
                                      </a:solidFill>
                                      <a:latin typeface="Times New Roman" panose="02040503050406030204" pitchFamily="18" charset="0"/>
                                      <a:ea typeface="SimSun"/>
                                      <a:cs typeface="Times New Roman"/>
                                    </a:rPr>
                                    <m:t>2</m:t>
                                  </m:r>
                                </m:sup>
                              </m:sSup>
                              <m:r>
                                <a:rPr lang="en-HK" sz="1200">
                                  <a:solidFill>
                                    <a:prstClr val="black"/>
                                  </a:solidFill>
                                  <a:latin typeface="Times New Roman" panose="02040503050406030204" pitchFamily="18" charset="0"/>
                                  <a:ea typeface="SimSun"/>
                                  <a:cs typeface="Times New Roman"/>
                                </a:rPr>
                                <m:t>×</m:t>
                              </m:r>
                              <m:d>
                                <m:dPr>
                                  <m:begChr m:val="["/>
                                  <m:endChr m:val="]"/>
                                  <m:ctrlPr>
                                    <a:rPr lang="en-HK" sz="1200">
                                      <a:solidFill>
                                        <a:prstClr val="black"/>
                                      </a:solidFill>
                                      <a:latin typeface="Times New Roman" panose="02040503050406030204" pitchFamily="18" charset="0"/>
                                      <a:ea typeface="SimSun"/>
                                      <a:cs typeface="Times New Roman"/>
                                    </a:rPr>
                                  </m:ctrlPr>
                                </m:dPr>
                                <m:e>
                                  <m:r>
                                    <a:rPr lang="en-HK" sz="1200">
                                      <a:solidFill>
                                        <a:prstClr val="black"/>
                                      </a:solidFill>
                                      <a:latin typeface="Times New Roman" panose="02040503050406030204" pitchFamily="18" charset="0"/>
                                      <a:ea typeface="SimSun"/>
                                      <a:cs typeface="Times New Roman"/>
                                    </a:rPr>
                                    <m:t>1−</m:t>
                                  </m:r>
                                  <m:func>
                                    <m:funcPr>
                                      <m:ctrlPr>
                                        <a:rPr lang="en-HK" sz="1200">
                                          <a:solidFill>
                                            <a:prstClr val="black"/>
                                          </a:solidFill>
                                          <a:latin typeface="Times New Roman" panose="02040503050406030204" pitchFamily="18" charset="0"/>
                                          <a:ea typeface="SimSun"/>
                                          <a:cs typeface="Times New Roman"/>
                                        </a:rPr>
                                      </m:ctrlPr>
                                    </m:funcPr>
                                    <m:fName>
                                      <m:r>
                                        <m:rPr>
                                          <m:sty m:val="p"/>
                                        </m:rPr>
                                        <a:rPr lang="en-HK" sz="1200">
                                          <a:solidFill>
                                            <a:prstClr val="black"/>
                                          </a:solidFill>
                                          <a:latin typeface="Times New Roman" panose="02040503050406030204" pitchFamily="18" charset="0"/>
                                          <a:ea typeface="SimSun"/>
                                          <a:cs typeface="Times New Roman"/>
                                        </a:rPr>
                                        <m:t>cos</m:t>
                                      </m:r>
                                    </m:fName>
                                    <m:e>
                                      <m:d>
                                        <m:dPr>
                                          <m:ctrlPr>
                                            <a:rPr lang="en-HK" sz="1200" i="1">
                                              <a:solidFill>
                                                <a:prstClr val="black"/>
                                              </a:solidFill>
                                              <a:latin typeface="Times New Roman" panose="02040503050406030204" pitchFamily="18" charset="0"/>
                                              <a:ea typeface="SimSun"/>
                                              <a:cs typeface="Times New Roman"/>
                                            </a:rPr>
                                          </m:ctrlPr>
                                        </m:dPr>
                                        <m:e>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𝜃</m:t>
                                              </m:r>
                                            </m:num>
                                            <m:den>
                                              <m:r>
                                                <a:rPr lang="en-HK" sz="1200">
                                                  <a:solidFill>
                                                    <a:prstClr val="black"/>
                                                  </a:solidFill>
                                                  <a:latin typeface="Times New Roman" panose="02040503050406030204" pitchFamily="18" charset="0"/>
                                                  <a:ea typeface="SimSun"/>
                                                  <a:cs typeface="Times New Roman"/>
                                                </a:rPr>
                                                <m:t>2</m:t>
                                              </m:r>
                                            </m:den>
                                          </m:f>
                                        </m:e>
                                      </m:d>
                                    </m:e>
                                  </m:func>
                                </m:e>
                              </m:d>
                            </m:den>
                          </m:f>
                          <m:r>
                            <a:rPr lang="en-HK" sz="1200">
                              <a:solidFill>
                                <a:prstClr val="black"/>
                              </a:solidFill>
                              <a:latin typeface="Times New Roman" panose="02040503050406030204" pitchFamily="18" charset="0"/>
                              <a:ea typeface="SimSun"/>
                              <a:cs typeface="Times New Roman"/>
                            </a:rPr>
                            <m:t>×</m:t>
                          </m:r>
                          <m:r>
                            <a:rPr lang="en-HK" sz="1200" i="1">
                              <a:solidFill>
                                <a:prstClr val="black"/>
                              </a:solidFill>
                              <a:latin typeface="Times New Roman" panose="02040503050406030204" pitchFamily="18" charset="0"/>
                              <a:ea typeface="SimSun"/>
                              <a:cs typeface="Times New Roman"/>
                            </a:rPr>
                            <m:t>𝑐𝑜𝑠</m:t>
                          </m:r>
                          <m:r>
                            <a:rPr lang="en-HK" sz="1200" i="1">
                              <a:solidFill>
                                <a:prstClr val="black"/>
                              </a:solidFill>
                              <a:latin typeface="Times New Roman" panose="02040503050406030204" pitchFamily="18" charset="0"/>
                              <a:ea typeface="SimSun"/>
                              <a:cs typeface="Times New Roman"/>
                            </a:rPr>
                            <m:t>𝛼</m:t>
                          </m:r>
                          <m:r>
                            <a:rPr lang="en-HK" sz="1200">
                              <a:solidFill>
                                <a:prstClr val="black"/>
                              </a:solidFill>
                              <a:latin typeface="Times New Roman" panose="02040503050406030204" pitchFamily="18" charset="0"/>
                              <a:ea typeface="SimSun"/>
                              <a:cs typeface="Times New Roman"/>
                            </a:rPr>
                            <m:t>#</m:t>
                          </m:r>
                        </m:e>
                      </m:eqArr>
                    </m:oMath>
                  </m:oMathPara>
                </a14:m>
                <a:endParaRPr lang="en-HK" sz="1200" dirty="0">
                  <a:solidFill>
                    <a:prstClr val="black"/>
                  </a:solidFill>
                  <a:latin typeface="Times New Roman" panose="020F0502020204030204"/>
                  <a:ea typeface="SimSun"/>
                  <a:cs typeface="Times New Roman"/>
                </a:endParaRPr>
              </a:p>
            </p:txBody>
          </p:sp>
        </mc:Choice>
        <mc:Fallback xmlns="">
          <p:sp>
            <p:nvSpPr>
              <p:cNvPr id="4" name="矩形 3">
                <a:extLst>
                  <a:ext uri="{FF2B5EF4-FFF2-40B4-BE49-F238E27FC236}">
                    <a16:creationId xmlns:a16="http://schemas.microsoft.com/office/drawing/2014/main" id="{28E42BD7-6979-4C2C-A4DC-8263F33608C9}"/>
                  </a:ext>
                </a:extLst>
              </p:cNvPr>
              <p:cNvSpPr>
                <a:spLocks noRot="1" noChangeAspect="1" noMove="1" noResize="1" noEditPoints="1" noAdjustHandles="1" noChangeArrowheads="1" noChangeShapeType="1" noTextEdit="1"/>
              </p:cNvSpPr>
              <p:nvPr/>
            </p:nvSpPr>
            <p:spPr>
              <a:xfrm>
                <a:off x="1199044" y="5331534"/>
                <a:ext cx="2520562" cy="621773"/>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BB0DF55-EC34-4F6B-86C1-EF2AF1F7BCB1}"/>
                  </a:ext>
                </a:extLst>
              </p:cNvPr>
              <p:cNvSpPr/>
              <p:nvPr/>
            </p:nvSpPr>
            <p:spPr>
              <a:xfrm>
                <a:off x="962499" y="5995519"/>
                <a:ext cx="3147144" cy="621773"/>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a:rPr lang="en-HK" sz="1200" i="1">
                          <a:solidFill>
                            <a:prstClr val="black"/>
                          </a:solidFill>
                          <a:latin typeface="Times New Roman" panose="02040503050406030204" pitchFamily="18" charset="0"/>
                          <a:ea typeface="SimSun"/>
                          <a:cs typeface="Times New Roman"/>
                        </a:rPr>
                        <m:t>𝑑𝑄</m:t>
                      </m:r>
                      <m:r>
                        <a:rPr lang="en-HK" sz="1200">
                          <a:solidFill>
                            <a:prstClr val="black"/>
                          </a:solidFill>
                          <a:latin typeface="Times New Roman" panose="02040503050406030204" pitchFamily="18" charset="0"/>
                          <a:ea typeface="SimSun"/>
                          <a:cs typeface="Times New Roman"/>
                        </a:rPr>
                        <m:t>=</m:t>
                      </m:r>
                      <m:sSup>
                        <m:sSupPr>
                          <m:ctrlPr>
                            <a:rPr lang="en-HK" sz="1200" i="1">
                              <a:solidFill>
                                <a:prstClr val="black"/>
                              </a:solidFill>
                              <a:latin typeface="Times New Roman" panose="02040503050406030204" pitchFamily="18" charset="0"/>
                              <a:ea typeface="SimSun"/>
                              <a:cs typeface="Times New Roman"/>
                            </a:rPr>
                          </m:ctrlPr>
                        </m:sSupPr>
                        <m:e>
                          <m:r>
                            <a:rPr lang="en-HK" sz="1200" i="1">
                              <a:solidFill>
                                <a:prstClr val="black"/>
                              </a:solidFill>
                              <a:latin typeface="Times New Roman" panose="02040503050406030204" pitchFamily="18" charset="0"/>
                              <a:ea typeface="SimSun"/>
                              <a:cs typeface="Times New Roman"/>
                            </a:rPr>
                            <m:t>𝑄</m:t>
                          </m:r>
                        </m:e>
                        <m:sup>
                          <m:r>
                            <a:rPr lang="en-HK" sz="1200">
                              <a:solidFill>
                                <a:prstClr val="black"/>
                              </a:solidFill>
                              <a:latin typeface="Times New Roman" panose="02040503050406030204" pitchFamily="18" charset="0"/>
                              <a:ea typeface="SimSun"/>
                              <a:cs typeface="Times New Roman"/>
                            </a:rPr>
                            <m:t>′′</m:t>
                          </m:r>
                        </m:sup>
                      </m:sSup>
                      <m:r>
                        <a:rPr lang="en-HK" sz="1200" i="1">
                          <a:solidFill>
                            <a:prstClr val="black"/>
                          </a:solidFill>
                          <a:latin typeface="Times New Roman" panose="02040503050406030204" pitchFamily="18" charset="0"/>
                          <a:ea typeface="SimSun"/>
                          <a:cs typeface="Times New Roman"/>
                        </a:rPr>
                        <m:t>𝑑𝑥𝑑𝑦</m:t>
                      </m:r>
                      <m:r>
                        <a:rPr lang="en-HK" sz="1200">
                          <a:solidFill>
                            <a:prstClr val="black"/>
                          </a:solidFill>
                          <a:latin typeface="Times New Roman" panose="02040503050406030204" pitchFamily="18" charset="0"/>
                          <a:ea typeface="SimSun"/>
                          <a:cs typeface="Times New Roman"/>
                        </a:rPr>
                        <m:t>=</m:t>
                      </m:r>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𝑄</m:t>
                          </m:r>
                          <m:r>
                            <a:rPr lang="en-HK" sz="1200">
                              <a:solidFill>
                                <a:prstClr val="black"/>
                              </a:solidFill>
                              <a:latin typeface="Times New Roman" panose="02040503050406030204" pitchFamily="18" charset="0"/>
                              <a:ea typeface="SimSun"/>
                              <a:cs typeface="Times New Roman"/>
                            </a:rPr>
                            <m:t>×</m:t>
                          </m:r>
                          <m:r>
                            <a:rPr lang="en-HK" sz="1200" i="1">
                              <a:solidFill>
                                <a:prstClr val="black"/>
                              </a:solidFill>
                              <a:latin typeface="Times New Roman" panose="02040503050406030204" pitchFamily="18" charset="0"/>
                              <a:ea typeface="SimSun"/>
                              <a:cs typeface="Times New Roman"/>
                            </a:rPr>
                            <m:t>𝐻</m:t>
                          </m:r>
                        </m:num>
                        <m:den>
                          <m:sSup>
                            <m:sSupPr>
                              <m:ctrlPr>
                                <a:rPr lang="en-HK" sz="1200">
                                  <a:solidFill>
                                    <a:prstClr val="black"/>
                                  </a:solidFill>
                                  <a:latin typeface="Times New Roman" panose="02040503050406030204" pitchFamily="18" charset="0"/>
                                  <a:ea typeface="SimSun"/>
                                  <a:cs typeface="Times New Roman"/>
                                </a:rPr>
                              </m:ctrlPr>
                            </m:sSupPr>
                            <m:e>
                              <m:r>
                                <a:rPr lang="en-HK" sz="1200">
                                  <a:solidFill>
                                    <a:prstClr val="black"/>
                                  </a:solidFill>
                                  <a:latin typeface="Times New Roman" panose="02040503050406030204" pitchFamily="18" charset="0"/>
                                  <a:ea typeface="SimSun"/>
                                  <a:cs typeface="Times New Roman"/>
                                </a:rPr>
                                <m:t>2</m:t>
                              </m:r>
                              <m:r>
                                <a:rPr lang="en-HK" sz="1200" i="1">
                                  <a:solidFill>
                                    <a:prstClr val="black"/>
                                  </a:solidFill>
                                  <a:latin typeface="Times New Roman" panose="02040503050406030204" pitchFamily="18" charset="0"/>
                                  <a:ea typeface="SimSun"/>
                                  <a:cs typeface="Times New Roman"/>
                                </a:rPr>
                                <m:t>𝜋</m:t>
                              </m:r>
                              <m:r>
                                <a:rPr lang="en-HK" sz="1200" i="1">
                                  <a:solidFill>
                                    <a:prstClr val="black"/>
                                  </a:solidFill>
                                  <a:latin typeface="Times New Roman" panose="02040503050406030204" pitchFamily="18" charset="0"/>
                                  <a:ea typeface="SimSun"/>
                                  <a:cs typeface="Times New Roman"/>
                                </a:rPr>
                                <m:t>𝑅</m:t>
                              </m:r>
                            </m:e>
                            <m:sup>
                              <m:r>
                                <a:rPr lang="en-HK" sz="1200">
                                  <a:solidFill>
                                    <a:prstClr val="black"/>
                                  </a:solidFill>
                                  <a:latin typeface="Times New Roman" panose="02040503050406030204" pitchFamily="18" charset="0"/>
                                  <a:ea typeface="SimSun"/>
                                  <a:cs typeface="Times New Roman"/>
                                </a:rPr>
                                <m:t>3</m:t>
                              </m:r>
                            </m:sup>
                          </m:sSup>
                          <m:r>
                            <a:rPr lang="en-HK" sz="1200">
                              <a:solidFill>
                                <a:prstClr val="black"/>
                              </a:solidFill>
                              <a:latin typeface="Times New Roman" panose="02040503050406030204" pitchFamily="18" charset="0"/>
                              <a:ea typeface="SimSun"/>
                              <a:cs typeface="Times New Roman"/>
                            </a:rPr>
                            <m:t>×</m:t>
                          </m:r>
                          <m:d>
                            <m:dPr>
                              <m:begChr m:val="["/>
                              <m:endChr m:val="]"/>
                              <m:ctrlPr>
                                <a:rPr lang="en-HK" sz="1200">
                                  <a:solidFill>
                                    <a:prstClr val="black"/>
                                  </a:solidFill>
                                  <a:latin typeface="Times New Roman" panose="02040503050406030204" pitchFamily="18" charset="0"/>
                                  <a:ea typeface="SimSun"/>
                                  <a:cs typeface="Times New Roman"/>
                                </a:rPr>
                              </m:ctrlPr>
                            </m:dPr>
                            <m:e>
                              <m:r>
                                <a:rPr lang="en-HK" sz="1200">
                                  <a:solidFill>
                                    <a:prstClr val="black"/>
                                  </a:solidFill>
                                  <a:latin typeface="Times New Roman" panose="02040503050406030204" pitchFamily="18" charset="0"/>
                                  <a:ea typeface="SimSun"/>
                                  <a:cs typeface="Times New Roman"/>
                                </a:rPr>
                                <m:t>1−</m:t>
                              </m:r>
                              <m:func>
                                <m:funcPr>
                                  <m:ctrlPr>
                                    <a:rPr lang="en-HK" sz="1200">
                                      <a:solidFill>
                                        <a:prstClr val="black"/>
                                      </a:solidFill>
                                      <a:latin typeface="Times New Roman" panose="02040503050406030204" pitchFamily="18" charset="0"/>
                                      <a:ea typeface="SimSun"/>
                                      <a:cs typeface="Times New Roman"/>
                                    </a:rPr>
                                  </m:ctrlPr>
                                </m:funcPr>
                                <m:fName>
                                  <m:r>
                                    <m:rPr>
                                      <m:sty m:val="p"/>
                                    </m:rPr>
                                    <a:rPr lang="en-HK" sz="1200">
                                      <a:solidFill>
                                        <a:prstClr val="black"/>
                                      </a:solidFill>
                                      <a:latin typeface="Times New Roman" panose="02040503050406030204" pitchFamily="18" charset="0"/>
                                      <a:ea typeface="SimSun"/>
                                      <a:cs typeface="Times New Roman"/>
                                    </a:rPr>
                                    <m:t>cos</m:t>
                                  </m:r>
                                </m:fName>
                                <m:e>
                                  <m:d>
                                    <m:dPr>
                                      <m:ctrlPr>
                                        <a:rPr lang="en-HK" sz="1200" i="1">
                                          <a:solidFill>
                                            <a:prstClr val="black"/>
                                          </a:solidFill>
                                          <a:latin typeface="Times New Roman" panose="02040503050406030204" pitchFamily="18" charset="0"/>
                                          <a:ea typeface="SimSun"/>
                                          <a:cs typeface="Times New Roman"/>
                                        </a:rPr>
                                      </m:ctrlPr>
                                    </m:dPr>
                                    <m:e>
                                      <m:f>
                                        <m:fPr>
                                          <m:ctrlPr>
                                            <a:rPr lang="en-HK" sz="1200" i="1">
                                              <a:solidFill>
                                                <a:prstClr val="black"/>
                                              </a:solidFill>
                                              <a:latin typeface="Times New Roman" panose="02040503050406030204" pitchFamily="18" charset="0"/>
                                              <a:ea typeface="SimSun"/>
                                              <a:cs typeface="Times New Roman"/>
                                            </a:rPr>
                                          </m:ctrlPr>
                                        </m:fPr>
                                        <m:num>
                                          <m:r>
                                            <a:rPr lang="en-HK" sz="1200" i="1">
                                              <a:solidFill>
                                                <a:prstClr val="black"/>
                                              </a:solidFill>
                                              <a:latin typeface="Times New Roman" panose="02040503050406030204" pitchFamily="18" charset="0"/>
                                              <a:ea typeface="SimSun"/>
                                              <a:cs typeface="Times New Roman"/>
                                            </a:rPr>
                                            <m:t>𝜃</m:t>
                                          </m:r>
                                        </m:num>
                                        <m:den>
                                          <m:r>
                                            <a:rPr lang="en-HK" sz="1200">
                                              <a:solidFill>
                                                <a:prstClr val="black"/>
                                              </a:solidFill>
                                              <a:latin typeface="Times New Roman" panose="02040503050406030204" pitchFamily="18" charset="0"/>
                                              <a:ea typeface="SimSun"/>
                                              <a:cs typeface="Times New Roman"/>
                                            </a:rPr>
                                            <m:t>2</m:t>
                                          </m:r>
                                        </m:den>
                                      </m:f>
                                    </m:e>
                                  </m:d>
                                </m:e>
                              </m:func>
                            </m:e>
                          </m:d>
                        </m:den>
                      </m:f>
                      <m:r>
                        <a:rPr lang="en-HK" sz="1200" i="1">
                          <a:solidFill>
                            <a:prstClr val="black"/>
                          </a:solidFill>
                          <a:latin typeface="Times New Roman" panose="02040503050406030204" pitchFamily="18" charset="0"/>
                          <a:ea typeface="SimSun"/>
                          <a:cs typeface="Times New Roman"/>
                        </a:rPr>
                        <m:t>𝑑𝑥𝑑𝑦</m:t>
                      </m:r>
                    </m:oMath>
                  </m:oMathPara>
                </a14:m>
                <a:endParaRPr lang="en-HK" sz="1200" dirty="0">
                  <a:solidFill>
                    <a:prstClr val="black"/>
                  </a:solidFill>
                  <a:latin typeface="Times New Roman" panose="020F0502020204030204"/>
                  <a:ea typeface="SimSun"/>
                  <a:cs typeface="Times New Roman"/>
                </a:endParaRPr>
              </a:p>
            </p:txBody>
          </p:sp>
        </mc:Choice>
        <mc:Fallback xmlns="">
          <p:sp>
            <p:nvSpPr>
              <p:cNvPr id="5" name="矩形 4">
                <a:extLst>
                  <a:ext uri="{FF2B5EF4-FFF2-40B4-BE49-F238E27FC236}">
                    <a16:creationId xmlns:a16="http://schemas.microsoft.com/office/drawing/2014/main" id="{BBB0DF55-EC34-4F6B-86C1-EF2AF1F7BCB1}"/>
                  </a:ext>
                </a:extLst>
              </p:cNvPr>
              <p:cNvSpPr>
                <a:spLocks noRot="1" noChangeAspect="1" noMove="1" noResize="1" noEditPoints="1" noAdjustHandles="1" noChangeArrowheads="1" noChangeShapeType="1" noTextEdit="1"/>
              </p:cNvSpPr>
              <p:nvPr/>
            </p:nvSpPr>
            <p:spPr>
              <a:xfrm>
                <a:off x="962499" y="5995519"/>
                <a:ext cx="3147144" cy="621773"/>
              </a:xfrm>
              <a:prstGeom prst="rect">
                <a:avLst/>
              </a:prstGeom>
              <a:blipFill>
                <a:blip r:embed="rId8"/>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FACE45A-EBFE-4DE9-B77A-056DA9265416}"/>
                  </a:ext>
                </a:extLst>
              </p:cNvPr>
              <p:cNvSpPr/>
              <p:nvPr/>
            </p:nvSpPr>
            <p:spPr>
              <a:xfrm>
                <a:off x="1199044" y="3059368"/>
                <a:ext cx="1750800" cy="353238"/>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a:rPr lang="en-HK" sz="1400" i="1">
                          <a:solidFill>
                            <a:prstClr val="black"/>
                          </a:solidFill>
                          <a:latin typeface="Times New Roman" panose="02040503050406030204" pitchFamily="18" charset="0"/>
                          <a:ea typeface="SimSun"/>
                          <a:cs typeface="Times New Roman"/>
                        </a:rPr>
                        <m:t>𝑅</m:t>
                      </m:r>
                      <m:r>
                        <a:rPr lang="en-HK" sz="1400">
                          <a:solidFill>
                            <a:prstClr val="black"/>
                          </a:solidFill>
                          <a:latin typeface="Times New Roman" panose="02040503050406030204" pitchFamily="18" charset="0"/>
                          <a:ea typeface="SimSun"/>
                          <a:cs typeface="Times New Roman"/>
                        </a:rPr>
                        <m:t>=</m:t>
                      </m:r>
                      <m:rad>
                        <m:radPr>
                          <m:degHide m:val="on"/>
                          <m:ctrlPr>
                            <a:rPr lang="en-HK" sz="1400" i="1">
                              <a:solidFill>
                                <a:prstClr val="black"/>
                              </a:solidFill>
                              <a:latin typeface="Times New Roman" panose="02040503050406030204" pitchFamily="18" charset="0"/>
                              <a:ea typeface="SimSun"/>
                              <a:cs typeface="Times New Roman"/>
                            </a:rPr>
                          </m:ctrlPr>
                        </m:radPr>
                        <m:deg/>
                        <m:e>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𝑥</m:t>
                              </m:r>
                            </m:e>
                            <m:sup>
                              <m:r>
                                <a:rPr lang="en-HK" sz="1400">
                                  <a:solidFill>
                                    <a:prstClr val="black"/>
                                  </a:solidFill>
                                  <a:latin typeface="Times New Roman" panose="02040503050406030204" pitchFamily="18" charset="0"/>
                                  <a:ea typeface="SimSun"/>
                                  <a:cs typeface="Times New Roman"/>
                                </a:rPr>
                                <m:t>2</m:t>
                              </m:r>
                            </m:sup>
                          </m:sSup>
                          <m:r>
                            <a:rPr lang="en-HK"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𝑦</m:t>
                              </m:r>
                            </m:e>
                            <m:sup>
                              <m:r>
                                <a:rPr lang="en-HK" sz="1400">
                                  <a:solidFill>
                                    <a:prstClr val="black"/>
                                  </a:solidFill>
                                  <a:latin typeface="Times New Roman" panose="02040503050406030204" pitchFamily="18" charset="0"/>
                                  <a:ea typeface="SimSun"/>
                                  <a:cs typeface="Times New Roman"/>
                                </a:rPr>
                                <m:t>2</m:t>
                              </m:r>
                            </m:sup>
                          </m:sSup>
                          <m:r>
                            <a:rPr lang="en-HK" sz="1400">
                              <a:solidFill>
                                <a:prstClr val="black"/>
                              </a:solidFill>
                              <a:latin typeface="Times New Roman" panose="02040503050406030204" pitchFamily="18" charset="0"/>
                              <a:ea typeface="SimSun"/>
                              <a:cs typeface="Times New Roman"/>
                            </a:rPr>
                            <m:t>+</m:t>
                          </m:r>
                          <m:sSup>
                            <m:sSupPr>
                              <m:ctrlPr>
                                <a:rPr lang="en-HK" sz="1400" i="1">
                                  <a:solidFill>
                                    <a:prstClr val="black"/>
                                  </a:solidFill>
                                  <a:latin typeface="Times New Roman" panose="02040503050406030204" pitchFamily="18" charset="0"/>
                                  <a:ea typeface="SimSun"/>
                                  <a:cs typeface="Times New Roman"/>
                                </a:rPr>
                              </m:ctrlPr>
                            </m:sSupPr>
                            <m:e>
                              <m:r>
                                <a:rPr lang="en-HK" sz="1400" i="1">
                                  <a:solidFill>
                                    <a:prstClr val="black"/>
                                  </a:solidFill>
                                  <a:latin typeface="Times New Roman" panose="02040503050406030204" pitchFamily="18" charset="0"/>
                                  <a:ea typeface="SimSun"/>
                                  <a:cs typeface="Times New Roman"/>
                                </a:rPr>
                                <m:t>𝐻</m:t>
                              </m:r>
                            </m:e>
                            <m:sup>
                              <m:r>
                                <a:rPr lang="en-HK" sz="1400">
                                  <a:solidFill>
                                    <a:prstClr val="black"/>
                                  </a:solidFill>
                                  <a:latin typeface="Times New Roman" panose="02040503050406030204" pitchFamily="18" charset="0"/>
                                  <a:ea typeface="SimSun"/>
                                  <a:cs typeface="Times New Roman"/>
                                </a:rPr>
                                <m:t>2</m:t>
                              </m:r>
                            </m:sup>
                          </m:sSup>
                        </m:e>
                      </m:rad>
                    </m:oMath>
                  </m:oMathPara>
                </a14:m>
                <a:endParaRPr lang="en-HK" sz="1400" dirty="0">
                  <a:solidFill>
                    <a:prstClr val="black"/>
                  </a:solidFill>
                  <a:latin typeface="Times New Roman" panose="020F0502020204030204"/>
                  <a:ea typeface="SimSun"/>
                  <a:cs typeface="Times New Roman"/>
                </a:endParaRPr>
              </a:p>
            </p:txBody>
          </p:sp>
        </mc:Choice>
        <mc:Fallback xmlns="">
          <p:sp>
            <p:nvSpPr>
              <p:cNvPr id="7" name="矩形 6">
                <a:extLst>
                  <a:ext uri="{FF2B5EF4-FFF2-40B4-BE49-F238E27FC236}">
                    <a16:creationId xmlns:a16="http://schemas.microsoft.com/office/drawing/2014/main" id="{EFACE45A-EBFE-4DE9-B77A-056DA9265416}"/>
                  </a:ext>
                </a:extLst>
              </p:cNvPr>
              <p:cNvSpPr>
                <a:spLocks noRot="1" noChangeAspect="1" noMove="1" noResize="1" noEditPoints="1" noAdjustHandles="1" noChangeArrowheads="1" noChangeShapeType="1" noTextEdit="1"/>
              </p:cNvSpPr>
              <p:nvPr/>
            </p:nvSpPr>
            <p:spPr>
              <a:xfrm>
                <a:off x="1199044" y="3059368"/>
                <a:ext cx="1750800" cy="353238"/>
              </a:xfrm>
              <a:prstGeom prst="rect">
                <a:avLst/>
              </a:prstGeom>
              <a:blipFill>
                <a:blip r:embed="rId9"/>
                <a:stretch>
                  <a:fillRect b="-1724"/>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5313A41-88CC-4CA8-A22A-534DE7410CD8}"/>
                  </a:ext>
                </a:extLst>
              </p:cNvPr>
              <p:cNvSpPr/>
              <p:nvPr/>
            </p:nvSpPr>
            <p:spPr>
              <a:xfrm>
                <a:off x="-865966" y="3375394"/>
                <a:ext cx="6096000" cy="1481046"/>
              </a:xfrm>
              <a:prstGeom prst="rect">
                <a:avLst/>
              </a:prstGeom>
            </p:spPr>
            <p:txBody>
              <a:bodyPr>
                <a:spAutoFit/>
              </a:bodyPr>
              <a:lstStyle/>
              <a:p>
                <a:pPr algn="ctr">
                  <a:spcAft>
                    <a:spcPts val="0"/>
                  </a:spcAft>
                </a:pPr>
                <a14:m>
                  <m:oMathPara xmlns:m="http://schemas.openxmlformats.org/officeDocument/2006/math">
                    <m:oMath>
                      <m:r>
                        <a:rPr lang="en-US" sz="1400" i="1">
                          <a:latin typeface="Times New Roman" panose="02040503050406030204" pitchFamily="18" charset="0"/>
                          <a:ea typeface="SimSun" panose="02010600030101010101" pitchFamily="2" charset="-122"/>
                          <a:cs typeface="Times New Roman" panose="02020603050405020304" pitchFamily="18" charset="0"/>
                        </a:rPr>
                        <m:t> </m:t>
                      </m:r>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r>
                        <a:rPr lang="en-US" sz="1400">
                          <a:latin typeface="Times New Roman" panose="02040503050406030204" pitchFamily="18" charset="0"/>
                          <a:ea typeface="SimSun" panose="02010600030101010101" pitchFamily="2" charset="-122"/>
                          <a:cs typeface="Times New Roman" panose="02020603050405020304" pitchFamily="18" charset="0"/>
                        </a:rPr>
                        <m:t>=</m:t>
                      </m:r>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𝐻</m:t>
                          </m:r>
                        </m:num>
                        <m:den>
                          <m:r>
                            <a:rPr lang="en-US" sz="1400" i="1">
                              <a:latin typeface="Times New Roman" panose="02040503050406030204" pitchFamily="18" charset="0"/>
                              <a:ea typeface="SimSun" panose="02010600030101010101" pitchFamily="2" charset="-122"/>
                              <a:cs typeface="Times New Roman" panose="02020603050405020304" pitchFamily="18" charset="0"/>
                            </a:rPr>
                            <m:t>𝑅</m:t>
                          </m:r>
                        </m:den>
                      </m:f>
                      <m:r>
                        <a:rPr lang="en-US" sz="1400" i="1">
                          <a:latin typeface="Times New Roman" panose="02040503050406030204" pitchFamily="18" charset="0"/>
                          <a:ea typeface="SimSun" panose="02010600030101010101" pitchFamily="2" charset="-122"/>
                          <a:cs typeface="Times New Roman" panose="02020603050405020304" pitchFamily="18" charset="0"/>
                        </a:rPr>
                        <m:t>  </m:t>
                      </m:r>
                    </m:oMath>
                  </m:oMathPara>
                </a14:m>
                <a:endParaRPr lang="en-HK" sz="1400" i="1" dirty="0">
                  <a:latin typeface="Times New Roman" panose="02040503050406030204" pitchFamily="18" charset="0"/>
                  <a:ea typeface="SimSun" panose="02010600030101010101" pitchFamily="2" charset="-122"/>
                  <a:cs typeface="Times New Roman" panose="02020603050405020304" pitchFamily="18" charset="0"/>
                </a:endParaRPr>
              </a:p>
              <a:p>
                <a:pPr algn="ctr">
                  <a:spcAft>
                    <a:spcPts val="0"/>
                  </a:spcAft>
                </a:pPr>
                <a14:m>
                  <m:oMathPara xmlns:m="http://schemas.openxmlformats.org/officeDocument/2006/math">
                    <m:oMath>
                      <m:eqArr>
                        <m:eqArrPr>
                          <m:ctrlPr>
                            <a:rPr lang="en-HK" sz="1400" i="1">
                              <a:latin typeface="Times New Roman" panose="02040503050406030204" pitchFamily="18" charset="0"/>
                              <a:ea typeface="SimSun" panose="02010600030101010101" pitchFamily="2" charset="-122"/>
                              <a:cs typeface="Times New Roman" panose="02020603050405020304" pitchFamily="18" charset="0"/>
                            </a:rPr>
                          </m:ctrlPr>
                        </m:eqArrPr>
                        <m:e>
                          <m:r>
                            <a:rPr lang="en-US" sz="1400" i="1">
                              <a:latin typeface="Times New Roman" panose="02040503050406030204" pitchFamily="18" charset="0"/>
                              <a:ea typeface="SimSun" panose="02010600030101010101" pitchFamily="2" charset="-122"/>
                              <a:cs typeface="Times New Roman" panose="02020603050405020304" pitchFamily="18" charset="0"/>
                            </a:rPr>
                            <m:t>𝑑𝐴</m:t>
                          </m:r>
                          <m:r>
                            <a:rPr lang="en-US" sz="1400">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400">
                                  <a:latin typeface="Times New Roman" panose="02040503050406030204" pitchFamily="18" charset="0"/>
                                  <a:ea typeface="SimSun" panose="02010600030101010101" pitchFamily="2" charset="-122"/>
                                  <a:cs typeface="Times New Roman" panose="02020603050405020304" pitchFamily="18" charset="0"/>
                                </a:rPr>
                              </m:ctrlPr>
                            </m:sSupPr>
                            <m:e>
                              <m:r>
                                <a:rPr lang="en-US" sz="1400">
                                  <a:latin typeface="Times New Roman" panose="02040503050406030204" pitchFamily="18" charset="0"/>
                                  <a:ea typeface="SimSun" panose="02010600030101010101" pitchFamily="2" charset="-122"/>
                                  <a:cs typeface="Times New Roman" panose="02020603050405020304" pitchFamily="18" charset="0"/>
                                </a:rPr>
                                <m:t>2</m:t>
                              </m:r>
                              <m:r>
                                <a:rPr lang="en-US" sz="1400" i="1">
                                  <a:latin typeface="Times New Roman" panose="02040503050406030204" pitchFamily="18" charset="0"/>
                                  <a:ea typeface="SimSun" panose="02010600030101010101" pitchFamily="2" charset="-122"/>
                                  <a:cs typeface="Times New Roman" panose="02020603050405020304" pitchFamily="18" charset="0"/>
                                </a:rPr>
                                <m:t>𝜋</m:t>
                              </m:r>
                              <m:r>
                                <a:rPr lang="en-US" sz="1400" i="1">
                                  <a:latin typeface="Times New Roman" panose="02040503050406030204" pitchFamily="18" charset="0"/>
                                  <a:ea typeface="SimSun" panose="02010600030101010101" pitchFamily="2" charset="-122"/>
                                  <a:cs typeface="Times New Roman" panose="02020603050405020304" pitchFamily="18" charset="0"/>
                                </a:rPr>
                                <m:t>𝑅</m:t>
                              </m:r>
                            </m:e>
                            <m:sup>
                              <m:r>
                                <a:rPr lang="en-US" sz="1400">
                                  <a:latin typeface="Times New Roman" panose="02040503050406030204" pitchFamily="18" charset="0"/>
                                  <a:ea typeface="SimSun" panose="02010600030101010101" pitchFamily="2" charset="-122"/>
                                  <a:cs typeface="Times New Roman" panose="02020603050405020304" pitchFamily="18" charset="0"/>
                                </a:rPr>
                                <m:t>2</m:t>
                              </m:r>
                            </m:sup>
                          </m:sSup>
                          <m:r>
                            <a:rPr lang="en-US" sz="1400" i="1">
                              <a:latin typeface="Times New Roman" panose="02040503050406030204" pitchFamily="18" charset="0"/>
                              <a:ea typeface="SimSun" panose="02010600030101010101" pitchFamily="2" charset="-122"/>
                              <a:cs typeface="Times New Roman" panose="02020603050405020304" pitchFamily="18" charset="0"/>
                            </a:rPr>
                            <m:t>×</m:t>
                          </m:r>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𝑠𝑖𝑛</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num>
                            <m:den>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den>
                          </m:f>
                          <m:r>
                            <a:rPr lang="en-US" sz="1400" i="1">
                              <a:latin typeface="Times New Roman" panose="02040503050406030204" pitchFamily="18" charset="0"/>
                              <a:ea typeface="SimSun" panose="02010600030101010101" pitchFamily="2" charset="-122"/>
                              <a:cs typeface="Times New Roman" panose="02020603050405020304" pitchFamily="18" charset="0"/>
                            </a:rPr>
                            <m:t>𝑑</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r>
                            <a:rPr lang="en-US" sz="1400" i="1">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400" dirty="0">
                  <a:latin typeface="Times New Roman" panose="02020603050405020304" pitchFamily="18" charset="0"/>
                  <a:ea typeface="SimSun" panose="02010600030101010101" pitchFamily="2" charset="-122"/>
                  <a:cs typeface="Times New Roman" panose="02020603050405020304" pitchFamily="18" charset="0"/>
                </a:endParaRPr>
              </a:p>
              <a:p>
                <a:pPr algn="just">
                  <a:spcAft>
                    <a:spcPts val="0"/>
                  </a:spcAft>
                </a:pPr>
                <a14:m>
                  <m:oMathPara xmlns:m="http://schemas.openxmlformats.org/officeDocument/2006/math">
                    <m:oMath>
                      <m:eqArr>
                        <m:eqArrPr>
                          <m:ctrlPr>
                            <a:rPr lang="en-HK" sz="1400" i="1">
                              <a:latin typeface="Times New Roman" panose="02040503050406030204" pitchFamily="18" charset="0"/>
                              <a:ea typeface="SimSun" panose="02010600030101010101" pitchFamily="2" charset="-122"/>
                              <a:cs typeface="Times New Roman" panose="02020603050405020304" pitchFamily="18" charset="0"/>
                            </a:rPr>
                          </m:ctrlPr>
                        </m:eqArrPr>
                        <m:e>
                          <m:r>
                            <a:rPr lang="en-US" sz="1400" i="1">
                              <a:latin typeface="Times New Roman" panose="02040503050406030204" pitchFamily="18" charset="0"/>
                              <a:ea typeface="SimSun" panose="02010600030101010101" pitchFamily="2" charset="-122"/>
                              <a:cs typeface="Times New Roman" panose="02020603050405020304" pitchFamily="18" charset="0"/>
                            </a:rPr>
                            <m:t>𝐴</m:t>
                          </m:r>
                          <m:r>
                            <a:rPr lang="en-US" sz="1400">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400">
                                  <a:latin typeface="Times New Roman" panose="02040503050406030204" pitchFamily="18" charset="0"/>
                                  <a:ea typeface="SimSun" panose="02010600030101010101" pitchFamily="2" charset="-122"/>
                                  <a:cs typeface="Times New Roman" panose="02020603050405020304" pitchFamily="18" charset="0"/>
                                </a:rPr>
                              </m:ctrlPr>
                            </m:sSupPr>
                            <m:e>
                              <m:r>
                                <a:rPr lang="en-US" sz="1400">
                                  <a:latin typeface="Times New Roman" panose="02040503050406030204" pitchFamily="18" charset="0"/>
                                  <a:ea typeface="SimSun" panose="02010600030101010101" pitchFamily="2" charset="-122"/>
                                  <a:cs typeface="Times New Roman" panose="02020603050405020304" pitchFamily="18" charset="0"/>
                                </a:rPr>
                                <m:t>2</m:t>
                              </m:r>
                              <m:r>
                                <a:rPr lang="en-US" sz="1400" i="1">
                                  <a:latin typeface="Times New Roman" panose="02040503050406030204" pitchFamily="18" charset="0"/>
                                  <a:ea typeface="SimSun" panose="02010600030101010101" pitchFamily="2" charset="-122"/>
                                  <a:cs typeface="Times New Roman" panose="02020603050405020304" pitchFamily="18" charset="0"/>
                                </a:rPr>
                                <m:t>𝜋</m:t>
                              </m:r>
                              <m:r>
                                <a:rPr lang="en-US" sz="1400" i="1">
                                  <a:latin typeface="Times New Roman" panose="02040503050406030204" pitchFamily="18" charset="0"/>
                                  <a:ea typeface="SimSun" panose="02010600030101010101" pitchFamily="2" charset="-122"/>
                                  <a:cs typeface="Times New Roman" panose="02020603050405020304" pitchFamily="18" charset="0"/>
                                </a:rPr>
                                <m:t>𝑅</m:t>
                              </m:r>
                            </m:e>
                            <m:sup>
                              <m:r>
                                <a:rPr lang="en-US" sz="1400">
                                  <a:latin typeface="Times New Roman" panose="02040503050406030204" pitchFamily="18" charset="0"/>
                                  <a:ea typeface="SimSun" panose="02010600030101010101" pitchFamily="2" charset="-122"/>
                                  <a:cs typeface="Times New Roman" panose="02020603050405020304" pitchFamily="18" charset="0"/>
                                </a:rPr>
                                <m:t>2</m:t>
                              </m:r>
                            </m:sup>
                          </m:sSup>
                          <m:r>
                            <a:rPr lang="en-US" sz="1400" i="1">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latin typeface="Times New Roman" panose="02040503050406030204" pitchFamily="18" charset="0"/>
                                  <a:ea typeface="SimSun" panose="02010600030101010101" pitchFamily="2" charset="-122"/>
                                  <a:cs typeface="Times New Roman" panose="02020603050405020304" pitchFamily="18" charset="0"/>
                                </a:rPr>
                              </m:ctrlPr>
                            </m:fPr>
                            <m:num>
                              <m:d>
                                <m:dPr>
                                  <m:begChr m:val="["/>
                                  <m:endChr m:val="]"/>
                                  <m:ctrlPr>
                                    <a:rPr lang="en-US" sz="1400">
                                      <a:latin typeface="Times New Roman" panose="02040503050406030204" pitchFamily="18" charset="0"/>
                                      <a:ea typeface="SimSun" panose="02010600030101010101" pitchFamily="2" charset="-122"/>
                                      <a:cs typeface="Times New Roman" panose="02020603050405020304" pitchFamily="18" charset="0"/>
                                    </a:rPr>
                                  </m:ctrlPr>
                                </m:dPr>
                                <m:e>
                                  <m:r>
                                    <a:rPr lang="en-US" sz="1400">
                                      <a:latin typeface="Times New Roman" panose="02040503050406030204" pitchFamily="18" charset="0"/>
                                      <a:ea typeface="SimSun" panose="02010600030101010101" pitchFamily="2" charset="-122"/>
                                      <a:cs typeface="Times New Roman" panose="02020603050405020304" pitchFamily="18" charset="0"/>
                                    </a:rPr>
                                    <m:t>1</m:t>
                                  </m:r>
                                  <m:r>
                                    <a:rPr lang="en-US" sz="1400" i="1">
                                      <a:latin typeface="Times New Roman" panose="02040503050406030204" pitchFamily="18" charset="0"/>
                                      <a:ea typeface="SimSun" panose="02010600030101010101" pitchFamily="2" charset="-122"/>
                                      <a:cs typeface="Times New Roman" panose="02020603050405020304" pitchFamily="18" charset="0"/>
                                    </a:rPr>
                                    <m:t>−</m:t>
                                  </m:r>
                                  <m:func>
                                    <m:funcPr>
                                      <m:ctrlPr>
                                        <a:rPr lang="en-US" sz="1400">
                                          <a:latin typeface="Times New Roman" panose="02040503050406030204" pitchFamily="18" charset="0"/>
                                          <a:ea typeface="SimSun" panose="02010600030101010101" pitchFamily="2" charset="-122"/>
                                          <a:cs typeface="Times New Roman" panose="02020603050405020304" pitchFamily="18" charset="0"/>
                                        </a:rPr>
                                      </m:ctrlPr>
                                    </m:funcPr>
                                    <m:fName>
                                      <m:r>
                                        <m:rPr>
                                          <m:sty m:val="p"/>
                                        </m:rPr>
                                        <a:rPr lang="en-US" sz="1400">
                                          <a:latin typeface="Times New Roman" panose="02040503050406030204" pitchFamily="18" charset="0"/>
                                          <a:ea typeface="SimSun" panose="02010600030101010101" pitchFamily="2" charset="-122"/>
                                          <a:cs typeface="Times New Roman" panose="02020603050405020304" pitchFamily="18" charset="0"/>
                                        </a:rPr>
                                        <m:t>cos</m:t>
                                      </m:r>
                                    </m:fName>
                                    <m:e>
                                      <m:d>
                                        <m:dPr>
                                          <m:ctrlPr>
                                            <a:rPr lang="en-HK" sz="1400" i="1">
                                              <a:latin typeface="Times New Roman" panose="02040503050406030204" pitchFamily="18" charset="0"/>
                                              <a:ea typeface="SimSun" panose="02010600030101010101" pitchFamily="2" charset="-122"/>
                                              <a:cs typeface="Times New Roman" panose="02020603050405020304" pitchFamily="18" charset="0"/>
                                            </a:rPr>
                                          </m:ctrlPr>
                                        </m:dPr>
                                        <m:e>
                                          <m:f>
                                            <m:fPr>
                                              <m:ctrlPr>
                                                <a:rPr lang="en-US" sz="1400" i="1">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latin typeface="Times New Roman" panose="02040503050406030204" pitchFamily="18" charset="0"/>
                                                  <a:ea typeface="SimSun" panose="02010600030101010101" pitchFamily="2" charset="-122"/>
                                                  <a:cs typeface="Times New Roman" panose="02020603050405020304" pitchFamily="18" charset="0"/>
                                                </a:rPr>
                                                <m:t>𝜃</m:t>
                                              </m:r>
                                            </m:num>
                                            <m:den>
                                              <m:r>
                                                <a:rPr lang="en-US" sz="1400">
                                                  <a:latin typeface="Times New Roman" panose="02040503050406030204" pitchFamily="18" charset="0"/>
                                                  <a:ea typeface="SimSun" panose="02010600030101010101" pitchFamily="2" charset="-122"/>
                                                  <a:cs typeface="Times New Roman" panose="02020603050405020304" pitchFamily="18" charset="0"/>
                                                </a:rPr>
                                                <m:t>2</m:t>
                                              </m:r>
                                            </m:den>
                                          </m:f>
                                        </m:e>
                                      </m:d>
                                    </m:e>
                                  </m:func>
                                </m:e>
                              </m:d>
                            </m:num>
                            <m:den>
                              <m:r>
                                <a:rPr lang="en-US" sz="1400" i="1">
                                  <a:latin typeface="Times New Roman" panose="02040503050406030204" pitchFamily="18" charset="0"/>
                                  <a:ea typeface="SimSun" panose="02010600030101010101" pitchFamily="2" charset="-122"/>
                                  <a:cs typeface="Times New Roman" panose="02020603050405020304" pitchFamily="18" charset="0"/>
                                </a:rPr>
                                <m:t>𝑐𝑜𝑠</m:t>
                              </m:r>
                              <m:r>
                                <a:rPr lang="en-US" sz="1400" i="1">
                                  <a:latin typeface="Times New Roman" panose="02040503050406030204" pitchFamily="18" charset="0"/>
                                  <a:ea typeface="SimSun" panose="02010600030101010101" pitchFamily="2" charset="-122"/>
                                  <a:cs typeface="Times New Roman" panose="02020603050405020304" pitchFamily="18" charset="0"/>
                                </a:rPr>
                                <m:t>𝛼</m:t>
                              </m:r>
                            </m:den>
                          </m:f>
                          <m:r>
                            <a:rPr lang="en-US" sz="1400" i="1">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400" dirty="0">
                  <a:latin typeface="Times New Roman"/>
                  <a:ea typeface="SimSun"/>
                  <a:cs typeface="Times New Roman"/>
                </a:endParaRPr>
              </a:p>
            </p:txBody>
          </p:sp>
        </mc:Choice>
        <mc:Fallback xmlns="">
          <p:sp>
            <p:nvSpPr>
              <p:cNvPr id="8" name="矩形 7">
                <a:extLst>
                  <a:ext uri="{FF2B5EF4-FFF2-40B4-BE49-F238E27FC236}">
                    <a16:creationId xmlns:a16="http://schemas.microsoft.com/office/drawing/2014/main" id="{85313A41-88CC-4CA8-A22A-534DE7410CD8}"/>
                  </a:ext>
                </a:extLst>
              </p:cNvPr>
              <p:cNvSpPr>
                <a:spLocks noRot="1" noChangeAspect="1" noMove="1" noResize="1" noEditPoints="1" noAdjustHandles="1" noChangeArrowheads="1" noChangeShapeType="1" noTextEdit="1"/>
              </p:cNvSpPr>
              <p:nvPr/>
            </p:nvSpPr>
            <p:spPr>
              <a:xfrm>
                <a:off x="-865966" y="3375394"/>
                <a:ext cx="6096000" cy="1481046"/>
              </a:xfrm>
              <a:prstGeom prst="rect">
                <a:avLst/>
              </a:prstGeom>
              <a:blipFill>
                <a:blip r:embed="rId10"/>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0A8CD6AA-A02A-4168-AD8E-381AA197D84E}"/>
                  </a:ext>
                </a:extLst>
              </p:cNvPr>
              <p:cNvSpPr/>
              <p:nvPr/>
            </p:nvSpPr>
            <p:spPr>
              <a:xfrm>
                <a:off x="2992149" y="2789469"/>
                <a:ext cx="6096000" cy="642805"/>
              </a:xfrm>
              <a:prstGeom prst="rect">
                <a:avLst/>
              </a:prstGeom>
            </p:spPr>
            <p:txBody>
              <a:bodyPr>
                <a:spAutoFit/>
              </a:bodyPr>
              <a:lstStyle/>
              <a:p>
                <a:pPr algn="just" defTabSz="457200" eaLnBrk="1" fontAlgn="auto">
                  <a:spcBef>
                    <a:spcPts val="0"/>
                  </a:spcBef>
                  <a:spcAft>
                    <a:spcPts val="0"/>
                  </a:spcAft>
                </a:pPr>
                <a14:m>
                  <m:oMathPara xmlns:m="http://schemas.openxmlformats.org/officeDocument/2006/math">
                    <m:oMath>
                      <m:eqArr>
                        <m:eqArr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eqArrPr>
                        <m:e>
                          <m:sSub>
                            <m:sSub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𝑄</m:t>
                              </m:r>
                            </m:e>
                            <m:sub>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𝑗</m:t>
                              </m:r>
                              <m: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ub>
                          </m:sSub>
                          <m:r>
                            <m:rPr>
                              <m:brk/>
                            </m:r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nary>
                            <m:naryPr>
                              <m:limLoc m:val="subSup"/>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naryPr>
                            <m:sub>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sub>
                              </m:sSub>
                            </m:sub>
                            <m:sup>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sub>
                              </m:sSub>
                            </m:sup>
                            <m:e>
                              <m:nary>
                                <m:naryPr>
                                  <m:limLoc m:val="subSup"/>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naryPr>
                                <m:sub>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sub>
                                  </m:sSub>
                                </m:sub>
                                <m:sup>
                                  <m:sSub>
                                    <m:sSub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b>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𝑖</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sub>
                                  </m:sSub>
                                </m:sup>
                                <m:e>
                                  <m:f>
                                    <m:f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𝑄</m:t>
                                      </m:r>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𝐻</m:t>
                                      </m:r>
                                    </m:num>
                                    <m:den>
                                      <m:sSup>
                                        <m:sSupPr>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𝜋</m:t>
                                          </m:r>
                                          <m:d>
                                            <m:d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ad>
                                                <m:radPr>
                                                  <m:degHide m:val="on"/>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radPr>
                                                <m:deg/>
                                                <m:e>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𝑥</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𝑦</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𝐻</m:t>
                                                      </m:r>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up>
                                                  </m:sSup>
                                                </m:e>
                                              </m:rad>
                                            </m:e>
                                          </m:d>
                                        </m:e>
                                        <m: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sup>
                                      </m:sSup>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d>
                                        <m:dPr>
                                          <m:begChr m:val="["/>
                                          <m:endChr m:val="]"/>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unc>
                                            <m:funcPr>
                                              <m:ctrl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uncPr>
                                            <m:fName>
                                              <m:r>
                                                <m:rPr>
                                                  <m:sty m:val="p"/>
                                                </m:rP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cos</m:t>
                                              </m:r>
                                            </m:fName>
                                            <m:e>
                                              <m:d>
                                                <m:dPr>
                                                  <m:ctrlPr>
                                                    <a:rPr lang="en-HK"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f>
                                                    <m:fPr>
                                                      <m:ctrlP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𝜃</m:t>
                                                      </m:r>
                                                    </m:num>
                                                    <m:den>
                                                      <m:r>
                                                        <a:rPr lang="en-US" sz="12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den>
                                                  </m:f>
                                                </m:e>
                                              </m:d>
                                            </m:e>
                                          </m:func>
                                        </m:e>
                                      </m:d>
                                    </m:den>
                                  </m:f>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𝑑𝑥𝑑𝑦</m:t>
                                  </m:r>
                                </m:e>
                              </m:nary>
                            </m:e>
                          </m:nary>
                          <m:r>
                            <a:rPr lang="en-US" sz="12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e>
                      </m:eqArr>
                    </m:oMath>
                  </m:oMathPara>
                </a14:m>
                <a:endParaRPr lang="en-HK" sz="12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0A8CD6AA-A02A-4168-AD8E-381AA197D84E}"/>
                  </a:ext>
                </a:extLst>
              </p:cNvPr>
              <p:cNvSpPr>
                <a:spLocks noRot="1" noChangeAspect="1" noMove="1" noResize="1" noEditPoints="1" noAdjustHandles="1" noChangeArrowheads="1" noChangeShapeType="1" noTextEdit="1"/>
              </p:cNvSpPr>
              <p:nvPr/>
            </p:nvSpPr>
            <p:spPr>
              <a:xfrm>
                <a:off x="2992149" y="2789469"/>
                <a:ext cx="6096000" cy="642805"/>
              </a:xfrm>
              <a:prstGeom prst="rect">
                <a:avLst/>
              </a:prstGeom>
              <a:blipFill>
                <a:blip r:embed="rId13"/>
                <a:stretch>
                  <a:fillRect/>
                </a:stretch>
              </a:blipFill>
            </p:spPr>
            <p:txBody>
              <a:bodyPr/>
              <a:lstStyle/>
              <a:p>
                <a:r>
                  <a:rPr lang="en-US">
                    <a:noFill/>
                    <a:latin typeface="Times New Roman"/>
                    <a:ea typeface="SimSun"/>
                    <a:cs typeface="Times New Roman"/>
                  </a:rPr>
                  <a:t> </a:t>
                </a:r>
              </a:p>
            </p:txBody>
          </p:sp>
        </mc:Fallback>
      </mc:AlternateContent>
      <p:sp>
        <p:nvSpPr>
          <p:cNvPr id="16" name="灯片编号占位符 15">
            <a:extLst>
              <a:ext uri="{FF2B5EF4-FFF2-40B4-BE49-F238E27FC236}">
                <a16:creationId xmlns:a16="http://schemas.microsoft.com/office/drawing/2014/main" id="{7C0267CB-089B-4557-984A-DB1AE2D8570C}"/>
              </a:ext>
            </a:extLst>
          </p:cNvPr>
          <p:cNvSpPr>
            <a:spLocks noGrp="1"/>
          </p:cNvSpPr>
          <p:nvPr>
            <p:ph type="sldNum" sz="quarter" idx="12"/>
          </p:nvPr>
        </p:nvSpPr>
        <p:spPr>
          <a:xfrm>
            <a:off x="9264711" y="6487542"/>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17</a:t>
            </a:fld>
            <a:endParaRPr lang="en-US" altLang="zh-CN">
              <a:latin typeface="Times New Roman"/>
              <a:ea typeface="SimSun"/>
              <a:cs typeface="Times New Roman"/>
            </a:endParaRPr>
          </a:p>
        </p:txBody>
      </p:sp>
      <p:sp>
        <p:nvSpPr>
          <p:cNvPr id="28" name="矩形 3">
            <a:extLst>
              <a:ext uri="{FF2B5EF4-FFF2-40B4-BE49-F238E27FC236}">
                <a16:creationId xmlns:a16="http://schemas.microsoft.com/office/drawing/2014/main" id="{1DBEC96F-257C-4757-8CD3-B2F8DF6A8808}"/>
              </a:ext>
            </a:extLst>
          </p:cNvPr>
          <p:cNvSpPr>
            <a:spLocks noChangeArrowheads="1"/>
          </p:cNvSpPr>
          <p:nvPr/>
        </p:nvSpPr>
        <p:spPr bwMode="auto">
          <a:xfrm>
            <a:off x="864432" y="147580"/>
            <a:ext cx="9099077" cy="510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a:t>
            </a:r>
          </a:p>
        </p:txBody>
      </p:sp>
      <p:grpSp>
        <p:nvGrpSpPr>
          <p:cNvPr id="29" name="Original English content (proportional layout)"/>
          <p:cNvGrpSpPr/>
          <p:nvPr/>
        </p:nvGrpSpPr>
        <p:grpSpPr>
          <a:xfrm>
            <a:off x="1097280" y="731520"/>
            <a:ext cx="9997440" cy="5023714"/>
            <a:chOff x="0" y="731520"/>
            <a:chExt cx="12192000" cy="6126480"/>
          </a:xfrm>
        </p:grpSpPr>
        <p:graphicFrame>
          <p:nvGraphicFramePr>
            <p:cNvPr id="27" name="对象 26">
              <a:extLst>
                <a:ext uri="{FF2B5EF4-FFF2-40B4-BE49-F238E27FC236}">
                  <a16:creationId xmlns:a16="http://schemas.microsoft.com/office/drawing/2014/main" id="{721F317A-D05B-4100-A9B4-D94F506BE036}"/>
                </a:ext>
              </a:extLst>
            </p:cNvPr>
            <p:cNvGraphicFramePr>
              <a:graphicFrameLocks noChangeAspect="1"/>
            </p:cNvGraphicFramePr>
            <p:nvPr>
              <p:extLst>
                <p:ext uri="{D42A27DB-BD31-4B8C-83A1-F6EECF244321}">
                  <p14:modId xmlns:p14="http://schemas.microsoft.com/office/powerpoint/2010/main" val="2614438092"/>
                </p:ext>
              </p:extLst>
            </p:nvPr>
          </p:nvGraphicFramePr>
          <p:xfrm>
            <a:off x="4147664" y="3694666"/>
            <a:ext cx="3862129" cy="3015754"/>
          </p:xfrm>
          <a:graphic>
            <a:graphicData uri="http://schemas.openxmlformats.org/presentationml/2006/ole">
              <mc:AlternateContent xmlns:mc="http://schemas.openxmlformats.org/markup-compatibility/2006">
                <mc:Choice xmlns:v="urn:schemas-microsoft-com:vml" Requires="v">
                  <p:oleObj name="Graph" r:id="rId3" imgW="6940973" imgH="5420971" progId="Origin50.Graph">
                    <p:embed/>
                  </p:oleObj>
                </mc:Choice>
                <mc:Fallback>
                  <p:oleObj name="Graph" r:id="rId3" imgW="6940973" imgH="5420971" progId="Origin50.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7664" y="3694666"/>
                          <a:ext cx="3862129" cy="3015754"/>
                        </a:xfrm>
                        <a:prstGeom prst="rect">
                          <a:avLst/>
                        </a:prstGeom>
                        <a:noFill/>
                      </p:spPr>
                    </p:pic>
                  </p:oleObj>
                </mc:Fallback>
              </mc:AlternateContent>
            </a:graphicData>
          </a:graphic>
        </p:graphicFrame>
        <p:sp>
          <p:nvSpPr>
            <p:cNvPr id="3" name="矩形 2">
              <a:extLst>
                <a:ext uri="{FF2B5EF4-FFF2-40B4-BE49-F238E27FC236}">
                  <a16:creationId xmlns:a16="http://schemas.microsoft.com/office/drawing/2014/main" id="{75BA3A70-0BD7-421C-A684-35C6EABF3E1B}"/>
                </a:ext>
              </a:extLst>
            </p:cNvPr>
            <p:cNvSpPr/>
            <p:nvPr/>
          </p:nvSpPr>
          <p:spPr>
            <a:xfrm>
              <a:off x="386739" y="4979133"/>
              <a:ext cx="3655873"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Volume flux of spray surface area:</a:t>
              </a:r>
            </a:p>
          </p:txBody>
        </p:sp>
        <p:sp>
          <p:nvSpPr>
            <p:cNvPr id="6" name="矩形 5">
              <a:extLst>
                <a:ext uri="{FF2B5EF4-FFF2-40B4-BE49-F238E27FC236}">
                  <a16:creationId xmlns:a16="http://schemas.microsoft.com/office/drawing/2014/main" id="{D81325FD-6598-416B-A911-A27A5BFE0A26}"/>
                </a:ext>
              </a:extLst>
            </p:cNvPr>
            <p:cNvSpPr/>
            <p:nvPr/>
          </p:nvSpPr>
          <p:spPr>
            <a:xfrm>
              <a:off x="388929" y="2694872"/>
              <a:ext cx="3095719"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Imaginary spherical surface</a:t>
              </a:r>
              <a:r>
                <a:rPr lang="en-HK" sz="1312" dirty="0">
                  <a:solidFill>
                    <a:prstClr val="black"/>
                  </a:solidFill>
                  <a:latin typeface="Times New Roman" panose="02020603050405020304" pitchFamily="18" charset="0"/>
                  <a:ea typeface="SimSun"/>
                  <a:cs typeface="Times New Roman" panose="02020603050405020304" pitchFamily="18" charset="0"/>
                </a:rPr>
                <a:t>:</a:t>
              </a:r>
            </a:p>
          </p:txBody>
        </p:sp>
        <p:sp>
          <p:nvSpPr>
            <p:cNvPr id="10" name="矩形 9">
              <a:extLst>
                <a:ext uri="{FF2B5EF4-FFF2-40B4-BE49-F238E27FC236}">
                  <a16:creationId xmlns:a16="http://schemas.microsoft.com/office/drawing/2014/main" id="{67F9244A-EAB9-4A7B-8F26-6F4AB0F29C64}"/>
                </a:ext>
              </a:extLst>
            </p:cNvPr>
            <p:cNvSpPr/>
            <p:nvPr/>
          </p:nvSpPr>
          <p:spPr>
            <a:xfrm>
              <a:off x="4086518" y="3492981"/>
              <a:ext cx="2345514"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Grid independence: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11" name="矩形 10">
              <a:extLst>
                <a:ext uri="{FF2B5EF4-FFF2-40B4-BE49-F238E27FC236}">
                  <a16:creationId xmlns:a16="http://schemas.microsoft.com/office/drawing/2014/main" id="{8CA7E5A9-851F-479C-BBB2-B769415132CD}"/>
                </a:ext>
              </a:extLst>
            </p:cNvPr>
            <p:cNvSpPr/>
            <p:nvPr/>
          </p:nvSpPr>
          <p:spPr>
            <a:xfrm>
              <a:off x="4078136" y="1078708"/>
              <a:ext cx="3258264"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Differential element division: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pic>
          <p:nvPicPr>
            <p:cNvPr id="12" name="图片 11">
              <a:extLst>
                <a:ext uri="{FF2B5EF4-FFF2-40B4-BE49-F238E27FC236}">
                  <a16:creationId xmlns:a16="http://schemas.microsoft.com/office/drawing/2014/main" id="{4BE7B695-C333-499B-BAF4-1000334E1CE5}"/>
                </a:ext>
              </a:extLst>
            </p:cNvPr>
            <p:cNvPicPr/>
            <p:nvPr/>
          </p:nvPicPr>
          <p:blipFill>
            <a:blip r:embed="rId11">
              <a:extLst>
                <a:ext uri="{28A0092B-C50C-407E-A947-70E740481C1C}">
                  <a14:useLocalDpi xmlns:a14="http://schemas.microsoft.com/office/drawing/2010/main" val="0"/>
                </a:ext>
              </a:extLst>
            </a:blip>
            <a:stretch>
              <a:fillRect/>
            </a:stretch>
          </p:blipFill>
          <p:spPr>
            <a:xfrm>
              <a:off x="5506114" y="1350283"/>
              <a:ext cx="2484273" cy="1319282"/>
            </a:xfrm>
            <a:prstGeom prst="rect">
              <a:avLst/>
            </a:prstGeom>
          </p:spPr>
        </p:pic>
        <p:pic>
          <p:nvPicPr>
            <p:cNvPr id="13" name="图片 12">
              <a:extLst>
                <a:ext uri="{FF2B5EF4-FFF2-40B4-BE49-F238E27FC236}">
                  <a16:creationId xmlns:a16="http://schemas.microsoft.com/office/drawing/2014/main" id="{D7C7AB55-A93B-47FB-96A7-966DC1534839}"/>
                </a:ext>
              </a:extLst>
            </p:cNvPr>
            <p:cNvPicPr/>
            <p:nvPr/>
          </p:nvPicPr>
          <p:blipFill>
            <a:blip r:embed="rId12">
              <a:extLst>
                <a:ext uri="{28A0092B-C50C-407E-A947-70E740481C1C}">
                  <a14:useLocalDpi xmlns:a14="http://schemas.microsoft.com/office/drawing/2010/main" val="0"/>
                </a:ext>
              </a:extLst>
            </a:blip>
            <a:stretch>
              <a:fillRect/>
            </a:stretch>
          </p:blipFill>
          <p:spPr>
            <a:xfrm>
              <a:off x="4268032" y="1681647"/>
              <a:ext cx="1238082" cy="1002334"/>
            </a:xfrm>
            <a:prstGeom prst="rect">
              <a:avLst/>
            </a:prstGeom>
          </p:spPr>
        </p:pic>
        <p:sp>
          <p:nvSpPr>
            <p:cNvPr id="15" name="矩形 14">
              <a:extLst>
                <a:ext uri="{FF2B5EF4-FFF2-40B4-BE49-F238E27FC236}">
                  <a16:creationId xmlns:a16="http://schemas.microsoft.com/office/drawing/2014/main" id="{B3DAD248-BB63-410B-93D2-EEE45B7FED29}"/>
                </a:ext>
              </a:extLst>
            </p:cNvPr>
            <p:cNvSpPr/>
            <p:nvPr/>
          </p:nvSpPr>
          <p:spPr>
            <a:xfrm>
              <a:off x="4772172" y="6558683"/>
              <a:ext cx="4792063"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Fig.3.2.1 </a:t>
              </a:r>
              <a:r>
                <a:rPr lang="en-HK" sz="984" dirty="0">
                  <a:latin typeface="Times New Roman" panose="02020603050405020304" pitchFamily="18" charset="0"/>
                  <a:ea typeface="SimSun"/>
                  <a:cs typeface="Times New Roman" panose="02020603050405020304" pitchFamily="18" charset="0"/>
                </a:rPr>
                <a:t>Proof of grid independence</a:t>
              </a:r>
            </a:p>
          </p:txBody>
        </p:sp>
        <p:pic>
          <p:nvPicPr>
            <p:cNvPr id="20" name="图片 19">
              <a:extLst>
                <a:ext uri="{FF2B5EF4-FFF2-40B4-BE49-F238E27FC236}">
                  <a16:creationId xmlns:a16="http://schemas.microsoft.com/office/drawing/2014/main" id="{C3A47AC5-2B11-4EBD-B925-F22AAE0E552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384469" y="1688619"/>
              <a:ext cx="3342867" cy="4046213"/>
            </a:xfrm>
            <a:prstGeom prst="rect">
              <a:avLst/>
            </a:prstGeom>
          </p:spPr>
        </p:pic>
        <p:sp>
          <p:nvSpPr>
            <p:cNvPr id="22" name="矩形 21">
              <a:extLst>
                <a:ext uri="{FF2B5EF4-FFF2-40B4-BE49-F238E27FC236}">
                  <a16:creationId xmlns:a16="http://schemas.microsoft.com/office/drawing/2014/main" id="{B78B787F-784D-4CAD-8D60-2CE3AA6748E4}"/>
                </a:ext>
              </a:extLst>
            </p:cNvPr>
            <p:cNvSpPr/>
            <p:nvPr/>
          </p:nvSpPr>
          <p:spPr>
            <a:xfrm>
              <a:off x="8113865" y="1201401"/>
              <a:ext cx="3518977"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Simulation process (MATLAB)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23" name="矩形 22">
              <a:extLst>
                <a:ext uri="{FF2B5EF4-FFF2-40B4-BE49-F238E27FC236}">
                  <a16:creationId xmlns:a16="http://schemas.microsoft.com/office/drawing/2014/main" id="{D37DC1B0-6F53-4232-A698-3439F87647A9}"/>
                </a:ext>
              </a:extLst>
            </p:cNvPr>
            <p:cNvSpPr/>
            <p:nvPr/>
          </p:nvSpPr>
          <p:spPr>
            <a:xfrm>
              <a:off x="8528343" y="5796757"/>
              <a:ext cx="3055118" cy="461665"/>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3.2.2 </a:t>
              </a:r>
              <a:r>
                <a:rPr lang="en-HK" sz="984" dirty="0">
                  <a:latin typeface="Times New Roman" panose="02020603050405020304" pitchFamily="18" charset="0"/>
                  <a:ea typeface="SimSun"/>
                  <a:cs typeface="Times New Roman" panose="02020603050405020304" pitchFamily="18" charset="0"/>
                </a:rPr>
                <a:t>Flow chart of simulation procedure</a:t>
              </a:r>
            </a:p>
            <a:p>
              <a:endParaRPr lang="en-HK" sz="984" dirty="0">
                <a:latin typeface="Times New Roman" panose="020B0604020202020204" pitchFamily="34" charset="0"/>
                <a:ea typeface="SimSun"/>
                <a:cs typeface="Times New Roman" panose="020B0604020202020204" pitchFamily="34" charset="0"/>
              </a:endParaRPr>
            </a:p>
          </p:txBody>
        </p:sp>
        <p:sp>
          <p:nvSpPr>
            <p:cNvPr id="21" name="矩形 20">
              <a:extLst>
                <a:ext uri="{FF2B5EF4-FFF2-40B4-BE49-F238E27FC236}">
                  <a16:creationId xmlns:a16="http://schemas.microsoft.com/office/drawing/2014/main" id="{D8379A05-B185-4BD6-A5EF-39C79A675BDD}"/>
                </a:ext>
              </a:extLst>
            </p:cNvPr>
            <p:cNvSpPr/>
            <p:nvPr/>
          </p:nvSpPr>
          <p:spPr>
            <a:xfrm>
              <a:off x="293347" y="970929"/>
              <a:ext cx="2165978" cy="369332"/>
            </a:xfrm>
            <a:prstGeom prst="rect">
              <a:avLst/>
            </a:prstGeom>
          </p:spPr>
          <p:txBody>
            <a:bodyPr wrap="none">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3.2 Model equations</a:t>
              </a:r>
            </a:p>
          </p:txBody>
        </p:sp>
      </p:grpSp>
      <p:sp>
        <p:nvSpPr>
          <p:cNvPr id="3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中文要点｜模型方程与求解</a:t>
            </a:r>
          </a:p>
          <a:p>
            <a:pPr>
              <a:lnSpc>
                <a:spcPct val="108000"/>
              </a:lnSpc>
              <a:spcAft>
                <a:spcPts val="0"/>
              </a:spcAft>
            </a:pPr>
            <a:r>
              <a:rPr sz="1400" b="0">
                <a:solidFill>
                  <a:srgbClr val="282828"/>
                </a:solidFill>
                <a:latin typeface="Times New Roman"/>
                <a:ea typeface="SimSun"/>
                <a:cs typeface="Times New Roman"/>
              </a:rPr>
              <a:t>通过球面几何与微元划分计算局部体积通量，并在 MATLAB 中完成求解与网格无关性验证。</a:t>
            </a:r>
          </a:p>
        </p:txBody>
      </p:sp>
    </p:spTree>
    <p:extLst>
      <p:ext uri="{BB962C8B-B14F-4D97-AF65-F5344CB8AC3E}">
        <p14:creationId xmlns:p14="http://schemas.microsoft.com/office/powerpoint/2010/main" val="5354287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76E1F98-FD43-4050-A1E8-D860DABC40CF}"/>
                  </a:ext>
                </a:extLst>
              </p:cNvPr>
              <p:cNvSpPr/>
              <p:nvPr/>
            </p:nvSpPr>
            <p:spPr>
              <a:xfrm>
                <a:off x="1288203" y="1842686"/>
                <a:ext cx="5826584" cy="1785104"/>
              </a:xfrm>
              <a:prstGeom prst="rect">
                <a:avLst/>
              </a:prstGeom>
            </p:spPr>
            <p:txBody>
              <a:bodyPr wrap="square">
                <a:spAutoFit/>
              </a:bodyPr>
              <a:lstStyle/>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Q=220 L/h,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Spray cone angle 45°,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Nozzle height 330 mm without inclined angle, </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Grid number is 10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10,</a:t>
                </a:r>
              </a:p>
              <a:p>
                <a:pPr defTabSz="457200" eaLnBrk="1" fontAlgn="auto" hangingPunct="1">
                  <a:spcBef>
                    <a:spcPts val="600"/>
                  </a:spcBef>
                  <a:spcAft>
                    <a:spcPts val="0"/>
                  </a:spcAft>
                </a:pPr>
                <a:r>
                  <a:rPr lang="en-HK" sz="1800" dirty="0">
                    <a:solidFill>
                      <a:prstClr val="black"/>
                    </a:solidFill>
                    <a:latin typeface="Times New Roman" panose="02020603050405020304" pitchFamily="18" charset="0"/>
                    <a:ea typeface="SimSun"/>
                    <a:cs typeface="Times New Roman" panose="02020603050405020304" pitchFamily="18" charset="0"/>
                  </a:rPr>
                  <a:t>Grid size is 50 mm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50 mm </a:t>
                </a:r>
                <a14:m>
                  <m:oMath xmlns:m="http://schemas.openxmlformats.org/officeDocument/2006/math">
                    <m:r>
                      <a:rPr lang="en-HK" sz="1800" i="1">
                        <a:solidFill>
                          <a:prstClr val="black"/>
                        </a:solidFill>
                        <a:latin typeface="Times New Roman" panose="02040503050406030204" pitchFamily="18" charset="0"/>
                        <a:ea typeface="SimSun" panose="02040503050406030204" pitchFamily="18" charset="0"/>
                        <a:cs typeface="Times New Roman" panose="020B0604020202020204" pitchFamily="34" charset="0"/>
                      </a:rPr>
                      <m:t>×</m:t>
                    </m:r>
                  </m:oMath>
                </a14:m>
                <a:r>
                  <a:rPr lang="en-HK" sz="1800" dirty="0">
                    <a:solidFill>
                      <a:prstClr val="black"/>
                    </a:solidFill>
                    <a:latin typeface="Times New Roman" panose="02020603050405020304" pitchFamily="18" charset="0"/>
                    <a:ea typeface="SimSun"/>
                    <a:cs typeface="Times New Roman" panose="02020603050405020304" pitchFamily="18" charset="0"/>
                  </a:rPr>
                  <a:t> 60mm.</a:t>
                </a:r>
              </a:p>
            </p:txBody>
          </p:sp>
        </mc:Choice>
        <mc:Fallback xmlns="">
          <p:sp>
            <p:nvSpPr>
              <p:cNvPr id="6" name="矩形 5">
                <a:extLst>
                  <a:ext uri="{FF2B5EF4-FFF2-40B4-BE49-F238E27FC236}">
                    <a16:creationId xmlns:a16="http://schemas.microsoft.com/office/drawing/2014/main" id="{176E1F98-FD43-4050-A1E8-D860DABC40CF}"/>
                  </a:ext>
                </a:extLst>
              </p:cNvPr>
              <p:cNvSpPr>
                <a:spLocks noRot="1" noChangeAspect="1" noMove="1" noResize="1" noEditPoints="1" noAdjustHandles="1" noChangeArrowheads="1" noChangeShapeType="1" noTextEdit="1"/>
              </p:cNvSpPr>
              <p:nvPr/>
            </p:nvSpPr>
            <p:spPr>
              <a:xfrm>
                <a:off x="1288203" y="1842686"/>
                <a:ext cx="5826584" cy="1785104"/>
              </a:xfrm>
              <a:prstGeom prst="rect">
                <a:avLst/>
              </a:prstGeom>
              <a:blipFill>
                <a:blip r:embed="rId7"/>
                <a:stretch>
                  <a:fillRect l="-837" t="-1706" b="-4437"/>
                </a:stretch>
              </a:blipFill>
            </p:spPr>
            <p:txBody>
              <a:bodyPr/>
              <a:lstStyle/>
              <a:p>
                <a:r>
                  <a:rPr lang="en-US">
                    <a:noFill/>
                    <a:latin typeface="Times New Roman"/>
                    <a:ea typeface="SimSun"/>
                    <a:cs typeface="Times New Roman"/>
                  </a:rPr>
                  <a:t> </a:t>
                </a:r>
              </a:p>
            </p:txBody>
          </p:sp>
        </mc:Fallback>
      </mc:AlternateContent>
      <p:sp>
        <p:nvSpPr>
          <p:cNvPr id="9" name="灯片编号占位符 8">
            <a:extLst>
              <a:ext uri="{FF2B5EF4-FFF2-40B4-BE49-F238E27FC236}">
                <a16:creationId xmlns:a16="http://schemas.microsoft.com/office/drawing/2014/main" id="{B3DA9FD2-B64A-4050-B0C5-362FD003963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18</a:t>
            </a:fld>
            <a:endParaRPr lang="en-US" altLang="zh-CN" dirty="0">
              <a:latin typeface="Times New Roman"/>
              <a:ea typeface="SimSun"/>
              <a:cs typeface="Times New Roman"/>
            </a:endParaRPr>
          </a:p>
        </p:txBody>
      </p:sp>
      <p:sp>
        <p:nvSpPr>
          <p:cNvPr id="15" name="矩形 3">
            <a:extLst>
              <a:ext uri="{FF2B5EF4-FFF2-40B4-BE49-F238E27FC236}">
                <a16:creationId xmlns:a16="http://schemas.microsoft.com/office/drawing/2014/main" id="{40AB118C-3093-466F-8D57-A34BF920C9F1}"/>
              </a:ext>
            </a:extLst>
          </p:cNvPr>
          <p:cNvSpPr>
            <a:spLocks noChangeArrowheads="1"/>
          </p:cNvSpPr>
          <p:nvPr/>
        </p:nvSpPr>
        <p:spPr bwMode="auto">
          <a:xfrm>
            <a:off x="864013" y="-22029"/>
            <a:ext cx="10813218"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grpSp>
        <p:nvGrpSpPr>
          <p:cNvPr id="17" name="Original English content (proportional layout)"/>
          <p:cNvGrpSpPr/>
          <p:nvPr/>
        </p:nvGrpSpPr>
        <p:grpSpPr>
          <a:xfrm>
            <a:off x="1097280" y="731520"/>
            <a:ext cx="9997440" cy="5023714"/>
            <a:chOff x="0" y="731520"/>
            <a:chExt cx="12192000" cy="6126480"/>
          </a:xfrm>
        </p:grpSpPr>
        <p:graphicFrame>
          <p:nvGraphicFramePr>
            <p:cNvPr id="16" name="对象 15">
              <a:extLst>
                <a:ext uri="{FF2B5EF4-FFF2-40B4-BE49-F238E27FC236}">
                  <a16:creationId xmlns:a16="http://schemas.microsoft.com/office/drawing/2014/main" id="{E385AD6F-9D60-417F-AB5C-D745CFB401EA}"/>
                </a:ext>
              </a:extLst>
            </p:cNvPr>
            <p:cNvGraphicFramePr>
              <a:graphicFrameLocks noChangeAspect="1"/>
            </p:cNvGraphicFramePr>
            <p:nvPr>
              <p:extLst>
                <p:ext uri="{D42A27DB-BD31-4B8C-83A1-F6EECF244321}">
                  <p14:modId xmlns:p14="http://schemas.microsoft.com/office/powerpoint/2010/main" val="3567545382"/>
                </p:ext>
              </p:extLst>
            </p:nvPr>
          </p:nvGraphicFramePr>
          <p:xfrm>
            <a:off x="6885594" y="1474689"/>
            <a:ext cx="4178001" cy="3457538"/>
          </p:xfrm>
          <a:graphic>
            <a:graphicData uri="http://schemas.openxmlformats.org/presentationml/2006/ole">
              <mc:AlternateContent xmlns:mc="http://schemas.openxmlformats.org/markup-compatibility/2006">
                <mc:Choice xmlns:v="urn:schemas-microsoft-com:vml" Requires="v">
                  <p:oleObj name="Graph" r:id="rId3" imgW="6384906" imgH="5282235" progId="Origin50.Graph">
                    <p:embed/>
                  </p:oleObj>
                </mc:Choice>
                <mc:Fallback>
                  <p:oleObj name="Graph" r:id="rId3" imgW="6384906" imgH="5282235" progId="Origin50.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5594" y="1474689"/>
                          <a:ext cx="4178001" cy="3457538"/>
                        </a:xfrm>
                        <a:prstGeom prst="rect">
                          <a:avLst/>
                        </a:prstGeom>
                        <a:noFill/>
                      </p:spPr>
                    </p:pic>
                  </p:oleObj>
                </mc:Fallback>
              </mc:AlternateContent>
            </a:graphicData>
          </a:graphic>
        </p:graphicFrame>
        <p:pic>
          <p:nvPicPr>
            <p:cNvPr id="3" name="图片 2">
              <a:extLst>
                <a:ext uri="{FF2B5EF4-FFF2-40B4-BE49-F238E27FC236}">
                  <a16:creationId xmlns:a16="http://schemas.microsoft.com/office/drawing/2014/main" id="{31066FB5-E48A-4263-927E-D4B5E2AEDF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0640" y="3839344"/>
              <a:ext cx="4739982" cy="2520000"/>
            </a:xfrm>
            <a:prstGeom prst="rect">
              <a:avLst/>
            </a:prstGeom>
          </p:spPr>
        </p:pic>
        <p:sp>
          <p:nvSpPr>
            <p:cNvPr id="5" name="矩形 4">
              <a:extLst>
                <a:ext uri="{FF2B5EF4-FFF2-40B4-BE49-F238E27FC236}">
                  <a16:creationId xmlns:a16="http://schemas.microsoft.com/office/drawing/2014/main" id="{CAF00261-34FA-4ECD-A573-3967B1E4F44B}"/>
                </a:ext>
              </a:extLst>
            </p:cNvPr>
            <p:cNvSpPr/>
            <p:nvPr/>
          </p:nvSpPr>
          <p:spPr>
            <a:xfrm>
              <a:off x="956177" y="1488750"/>
              <a:ext cx="1576072"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Condition: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7" name="矩形 6">
              <a:extLst>
                <a:ext uri="{FF2B5EF4-FFF2-40B4-BE49-F238E27FC236}">
                  <a16:creationId xmlns:a16="http://schemas.microsoft.com/office/drawing/2014/main" id="{1D6E575A-1BAA-495C-9A4F-C625BE84BAF2}"/>
                </a:ext>
              </a:extLst>
            </p:cNvPr>
            <p:cNvSpPr/>
            <p:nvPr/>
          </p:nvSpPr>
          <p:spPr>
            <a:xfrm>
              <a:off x="6764988" y="1191432"/>
              <a:ext cx="211474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Validation result: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8" name="矩形 7">
              <a:extLst>
                <a:ext uri="{FF2B5EF4-FFF2-40B4-BE49-F238E27FC236}">
                  <a16:creationId xmlns:a16="http://schemas.microsoft.com/office/drawing/2014/main" id="{F39F54A4-73F9-47DE-8A44-242E65CFCB32}"/>
                </a:ext>
              </a:extLst>
            </p:cNvPr>
            <p:cNvSpPr/>
            <p:nvPr/>
          </p:nvSpPr>
          <p:spPr>
            <a:xfrm>
              <a:off x="7005145" y="5391940"/>
              <a:ext cx="4607910" cy="400110"/>
            </a:xfrm>
            <a:prstGeom prst="rect">
              <a:avLst/>
            </a:prstGeom>
          </p:spPr>
          <p:txBody>
            <a:bodyPr wrap="square">
              <a:spAutoFit/>
            </a:bodyPr>
            <a:lstStyle/>
            <a:p>
              <a:pPr defTabSz="457200" eaLnBrk="1" fontAlgn="auto" hangingPunct="1">
                <a:spcBef>
                  <a:spcPts val="0"/>
                </a:spcBef>
                <a:spcAft>
                  <a:spcPts val="0"/>
                </a:spcAft>
              </a:pPr>
              <a:r>
                <a:rPr lang="en-US" sz="1640" b="1"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altLang="zh-CN" sz="1640" b="1" i="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a</a:t>
              </a:r>
              <a:r>
                <a:rPr lang="en-US" sz="1640" b="1" i="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cceptable.</a:t>
              </a:r>
              <a:r>
                <a:rPr lang="en-US" sz="1640" b="1" i="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endParaRPr lang="en-HK" sz="1640" b="1" i="1" dirty="0">
                <a:solidFill>
                  <a:prstClr val="black"/>
                </a:solidFill>
                <a:latin typeface="Times New Roman" panose="02020603050405020304" pitchFamily="18" charset="0"/>
                <a:ea typeface="SimSun"/>
                <a:cs typeface="Times New Roman" panose="02020603050405020304" pitchFamily="18" charset="0"/>
              </a:endParaRPr>
            </a:p>
          </p:txBody>
        </p:sp>
        <p:sp>
          <p:nvSpPr>
            <p:cNvPr id="12" name="矩形 11">
              <a:extLst>
                <a:ext uri="{FF2B5EF4-FFF2-40B4-BE49-F238E27FC236}">
                  <a16:creationId xmlns:a16="http://schemas.microsoft.com/office/drawing/2014/main" id="{432B8ECB-2DBF-4ECE-93FD-8ADC7D4825D6}"/>
                </a:ext>
              </a:extLst>
            </p:cNvPr>
            <p:cNvSpPr/>
            <p:nvPr/>
          </p:nvSpPr>
          <p:spPr>
            <a:xfrm>
              <a:off x="2732540" y="6293899"/>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3.3.1 </a:t>
              </a:r>
              <a:r>
                <a:rPr lang="en-HK" sz="984" dirty="0">
                  <a:solidFill>
                    <a:prstClr val="black"/>
                  </a:solidFill>
                  <a:latin typeface="Times New Roman" panose="02020603050405020304" pitchFamily="18" charset="0"/>
                  <a:ea typeface="SimSun"/>
                  <a:cs typeface="Times New Roman" panose="02020603050405020304" pitchFamily="18" charset="0"/>
                </a:rPr>
                <a:t>Experiment bench</a:t>
              </a:r>
            </a:p>
          </p:txBody>
        </p:sp>
        <p:sp>
          <p:nvSpPr>
            <p:cNvPr id="13" name="矩形 12">
              <a:extLst>
                <a:ext uri="{FF2B5EF4-FFF2-40B4-BE49-F238E27FC236}">
                  <a16:creationId xmlns:a16="http://schemas.microsoft.com/office/drawing/2014/main" id="{3450D832-42A3-4396-AF51-9EEB6188644E}"/>
                </a:ext>
              </a:extLst>
            </p:cNvPr>
            <p:cNvSpPr/>
            <p:nvPr/>
          </p:nvSpPr>
          <p:spPr>
            <a:xfrm>
              <a:off x="8116491" y="4932227"/>
              <a:ext cx="2114746" cy="283257"/>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3.3.2 </a:t>
              </a:r>
              <a:r>
                <a:rPr lang="en-HK" sz="984"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14" name="文本框 13">
              <a:extLst>
                <a:ext uri="{FF2B5EF4-FFF2-40B4-BE49-F238E27FC236}">
                  <a16:creationId xmlns:a16="http://schemas.microsoft.com/office/drawing/2014/main" id="{30143F42-FAFE-4178-B0F3-9A249829053E}"/>
                </a:ext>
              </a:extLst>
            </p:cNvPr>
            <p:cNvSpPr txBox="1"/>
            <p:nvPr/>
          </p:nvSpPr>
          <p:spPr>
            <a:xfrm>
              <a:off x="346177" y="1013641"/>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3.3 </a:t>
              </a:r>
              <a:r>
                <a:rPr lang="en-US" sz="1476" b="1" dirty="0">
                  <a:solidFill>
                    <a:prstClr val="black"/>
                  </a:solidFill>
                  <a:latin typeface="Times New Roman" panose="02020603050405020304" pitchFamily="18" charset="0"/>
                  <a:ea typeface="SimSun"/>
                  <a:cs typeface="Times New Roman" panose="02020603050405020304" pitchFamily="18" charset="0"/>
                </a:rPr>
                <a:t>E</a:t>
              </a:r>
              <a:r>
                <a:rPr lang="en-US" altLang="zh-CN" sz="1476" b="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xperiment validation</a:t>
              </a:r>
              <a:endParaRPr lang="en-HK" sz="1476" b="1" dirty="0">
                <a:solidFill>
                  <a:prstClr val="black"/>
                </a:solidFill>
                <a:latin typeface="Times New Roman" panose="02020603050405020304" pitchFamily="18" charset="0"/>
                <a:ea typeface="SimSun"/>
                <a:cs typeface="Times New Roman" panose="02020603050405020304" pitchFamily="18" charset="0"/>
              </a:endParaRPr>
            </a:p>
          </p:txBody>
        </p:sp>
      </p:grpSp>
      <p:sp>
        <p:nvSpPr>
          <p:cNvPr id="18"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中文要点｜喷淋分布模型验证</a:t>
            </a:r>
          </a:p>
          <a:p>
            <a:pPr>
              <a:lnSpc>
                <a:spcPct val="108000"/>
              </a:lnSpc>
              <a:spcAft>
                <a:spcPts val="0"/>
              </a:spcAft>
            </a:pPr>
            <a:r>
              <a:rPr sz="1400" b="0">
                <a:solidFill>
                  <a:srgbClr val="282828"/>
                </a:solidFill>
                <a:latin typeface="Times New Roman"/>
                <a:ea typeface="SimSun"/>
                <a:cs typeface="Times New Roman"/>
              </a:rPr>
              <a:t>搭建实验台，对比实验与模拟结果；模型最大偏差在可接受范围内，可用于后续喷嘴优化分析。</a:t>
            </a:r>
          </a:p>
        </p:txBody>
      </p:sp>
    </p:spTree>
    <p:extLst>
      <p:ext uri="{BB962C8B-B14F-4D97-AF65-F5344CB8AC3E}">
        <p14:creationId xmlns:p14="http://schemas.microsoft.com/office/powerpoint/2010/main" val="8924795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a:extLst>
              <a:ext uri="{FF2B5EF4-FFF2-40B4-BE49-F238E27FC236}">
                <a16:creationId xmlns:a16="http://schemas.microsoft.com/office/drawing/2014/main" id="{6AEADC08-85C1-46B6-9C3C-44F0ED3D35E9}"/>
              </a:ext>
            </a:extLst>
          </p:cNvPr>
          <p:cNvSpPr>
            <a:spLocks noGrp="1"/>
          </p:cNvSpPr>
          <p:nvPr>
            <p:ph type="sldNum" sz="quarter" idx="12"/>
          </p:nvPr>
        </p:nvSpPr>
        <p:spPr>
          <a:xfrm>
            <a:off x="9989392" y="6492875"/>
            <a:ext cx="21336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19</a:t>
            </a:fld>
            <a:endParaRPr lang="en-US" altLang="zh-CN" dirty="0">
              <a:latin typeface="Times New Roman"/>
              <a:ea typeface="SimSun"/>
              <a:cs typeface="Times New Roman"/>
            </a:endParaRPr>
          </a:p>
        </p:txBody>
      </p:sp>
      <p:sp>
        <p:nvSpPr>
          <p:cNvPr id="21" name="矩形 3">
            <a:extLst>
              <a:ext uri="{FF2B5EF4-FFF2-40B4-BE49-F238E27FC236}">
                <a16:creationId xmlns:a16="http://schemas.microsoft.com/office/drawing/2014/main" id="{FA7ED50A-0F21-4FFD-B7C0-C471AA883A61}"/>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22" name="Original English content (proportional layout)"/>
          <p:cNvGrpSpPr/>
          <p:nvPr/>
        </p:nvGrpSpPr>
        <p:grpSpPr>
          <a:xfrm>
            <a:off x="1097280" y="731520"/>
            <a:ext cx="9997440" cy="5023714"/>
            <a:chOff x="0" y="731520"/>
            <a:chExt cx="12192000" cy="6126480"/>
          </a:xfrm>
        </p:grpSpPr>
        <p:sp>
          <p:nvSpPr>
            <p:cNvPr id="4" name="矩形 3">
              <a:extLst>
                <a:ext uri="{FF2B5EF4-FFF2-40B4-BE49-F238E27FC236}">
                  <a16:creationId xmlns:a16="http://schemas.microsoft.com/office/drawing/2014/main" id="{44B6CA80-9723-4E48-AAFD-8771FD7AF0D1}"/>
                </a:ext>
              </a:extLst>
            </p:cNvPr>
            <p:cNvSpPr/>
            <p:nvPr/>
          </p:nvSpPr>
          <p:spPr>
            <a:xfrm>
              <a:off x="458076" y="1055509"/>
              <a:ext cx="2492990"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b="1" dirty="0">
                  <a:solidFill>
                    <a:prstClr val="black"/>
                  </a:solidFill>
                  <a:latin typeface="Times New Roman" panose="02020603050405020304" pitchFamily="18" charset="0"/>
                  <a:ea typeface="SimSun"/>
                  <a:cs typeface="Times New Roman" panose="02020603050405020304" pitchFamily="18" charset="0"/>
                </a:rPr>
                <a:t>Instrument selection</a:t>
              </a:r>
              <a:endParaRPr lang="en-HK" sz="1476" b="1" dirty="0">
                <a:solidFill>
                  <a:prstClr val="black"/>
                </a:solidFill>
                <a:latin typeface="Times New Roman" panose="02020603050405020304" pitchFamily="18" charset="0"/>
                <a:ea typeface="SimSun"/>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B6EDBB7A-178D-4498-B61C-F2E57641B09D}"/>
                </a:ext>
              </a:extLst>
            </p:cNvPr>
            <p:cNvGraphicFramePr>
              <a:graphicFrameLocks noGrp="1"/>
            </p:cNvGraphicFramePr>
            <p:nvPr/>
          </p:nvGraphicFramePr>
          <p:xfrm>
            <a:off x="993672" y="2129804"/>
            <a:ext cx="4489082" cy="1566473"/>
          </p:xfrm>
          <a:graphic>
            <a:graphicData uri="http://schemas.openxmlformats.org/drawingml/2006/table">
              <a:tbl>
                <a:tblPr firstRow="1" firstCol="1" bandRow="1">
                  <a:tableStyleId>{69012ECD-51FC-41F1-AA8D-1B2483CD663E}</a:tableStyleId>
                </a:tblPr>
                <a:tblGrid>
                  <a:gridCol w="653930">
                    <a:extLst>
                      <a:ext uri="{9D8B030D-6E8A-4147-A177-3AD203B41FA5}">
                        <a16:colId xmlns:a16="http://schemas.microsoft.com/office/drawing/2014/main" val="1492680179"/>
                      </a:ext>
                    </a:extLst>
                  </a:gridCol>
                  <a:gridCol w="994299">
                    <a:extLst>
                      <a:ext uri="{9D8B030D-6E8A-4147-A177-3AD203B41FA5}">
                        <a16:colId xmlns:a16="http://schemas.microsoft.com/office/drawing/2014/main" val="1099582554"/>
                      </a:ext>
                    </a:extLst>
                  </a:gridCol>
                  <a:gridCol w="985421">
                    <a:extLst>
                      <a:ext uri="{9D8B030D-6E8A-4147-A177-3AD203B41FA5}">
                        <a16:colId xmlns:a16="http://schemas.microsoft.com/office/drawing/2014/main" val="936513701"/>
                      </a:ext>
                    </a:extLst>
                  </a:gridCol>
                  <a:gridCol w="850135">
                    <a:extLst>
                      <a:ext uri="{9D8B030D-6E8A-4147-A177-3AD203B41FA5}">
                        <a16:colId xmlns:a16="http://schemas.microsoft.com/office/drawing/2014/main" val="2488443368"/>
                      </a:ext>
                    </a:extLst>
                  </a:gridCol>
                  <a:gridCol w="1005297">
                    <a:extLst>
                      <a:ext uri="{9D8B030D-6E8A-4147-A177-3AD203B41FA5}">
                        <a16:colId xmlns:a16="http://schemas.microsoft.com/office/drawing/2014/main" val="2263846524"/>
                      </a:ext>
                    </a:extLst>
                  </a:gridCol>
                </a:tblGrid>
                <a:tr h="688419">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Nozzle</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Orifice</a:t>
                        </a:r>
                        <a:endParaRPr lang="en-HK" sz="1148"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diameter</a:t>
                        </a:r>
                        <a:endParaRPr lang="en-HK" sz="1148"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(mm)</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Volumetric flow</a:t>
                        </a:r>
                        <a:endParaRPr lang="en-HK" sz="1148"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rate </a:t>
                        </a:r>
                        <a:endParaRPr lang="en-HK" sz="1148" dirty="0">
                          <a:effectLst/>
                          <a:latin typeface="Times New Roman" panose="02020603050405020304" pitchFamily="18" charset="0"/>
                          <a:ea typeface="SimSun"/>
                          <a:cs typeface="Times New Roman" panose="02020603050405020304" pitchFamily="18" charset="0"/>
                        </a:endParaRPr>
                      </a:p>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 </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Pressure</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Spray angle</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extLst>
                    <a:ext uri="{0D108BD9-81ED-4DB2-BD59-A6C34878D82A}">
                      <a16:rowId xmlns:a16="http://schemas.microsoft.com/office/drawing/2014/main" val="901868659"/>
                    </a:ext>
                  </a:extLst>
                </a:tr>
                <a:tr h="222882">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solidFill>
                              <a:schemeClr val="tx1"/>
                            </a:solidFill>
                            <a:effectLst/>
                            <a:latin typeface="Times New Roman" panose="02020603050405020304" pitchFamily="18" charset="0"/>
                            <a:ea typeface="SimSun"/>
                            <a:cs typeface="Times New Roman" panose="02020603050405020304" pitchFamily="18" charset="0"/>
                          </a:rPr>
                          <a:t>1</a:t>
                        </a:r>
                        <a:endParaRPr lang="en-HK" sz="1148"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2.4</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1.9-8.4</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0.4-10</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45-50</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721296"/>
                    </a:ext>
                  </a:extLst>
                </a:tr>
                <a:tr h="222882">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solidFill>
                              <a:schemeClr val="tx1"/>
                            </a:solidFill>
                            <a:effectLst/>
                            <a:latin typeface="Times New Roman" panose="02020603050405020304" pitchFamily="18" charset="0"/>
                            <a:ea typeface="SimSun"/>
                            <a:cs typeface="Times New Roman" panose="02020603050405020304" pitchFamily="18" charset="0"/>
                          </a:rPr>
                          <a:t>2</a:t>
                        </a:r>
                        <a:endParaRPr lang="en-HK" sz="1148"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3.0</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2.9-13</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0.4-10</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60-70</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0300693"/>
                    </a:ext>
                  </a:extLst>
                </a:tr>
                <a:tr h="222882">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solidFill>
                              <a:schemeClr val="tx1"/>
                            </a:solidFill>
                            <a:effectLst/>
                            <a:latin typeface="Times New Roman" panose="02020603050405020304" pitchFamily="18" charset="0"/>
                            <a:ea typeface="SimSun"/>
                            <a:cs typeface="Times New Roman" panose="02020603050405020304" pitchFamily="18" charset="0"/>
                          </a:rPr>
                          <a:t>3</a:t>
                        </a:r>
                        <a:endParaRPr lang="en-HK" sz="1148"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3.2</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6.7-16.2</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a:effectLst/>
                            <a:latin typeface="Times New Roman" panose="02020603050405020304" pitchFamily="18" charset="0"/>
                            <a:ea typeface="SimSun"/>
                            <a:cs typeface="Times New Roman" panose="02020603050405020304" pitchFamily="18" charset="0"/>
                          </a:rPr>
                          <a:t>0.4-10</a:t>
                        </a:r>
                        <a:endParaRPr lang="en-HK" sz="1148">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70-75</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279380"/>
                    </a:ext>
                  </a:extLst>
                </a:tr>
              </a:tbl>
            </a:graphicData>
          </a:graphic>
        </p:graphicFrame>
        <p:pic>
          <p:nvPicPr>
            <p:cNvPr id="6" name="图片 5">
              <a:extLst>
                <a:ext uri="{FF2B5EF4-FFF2-40B4-BE49-F238E27FC236}">
                  <a16:creationId xmlns:a16="http://schemas.microsoft.com/office/drawing/2014/main" id="{E9030BCD-2D58-4A13-BAA4-AA512AA549C4}"/>
                </a:ext>
              </a:extLst>
            </p:cNvPr>
            <p:cNvPicPr>
              <a:picLocks noChangeAspect="1"/>
            </p:cNvPicPr>
            <p:nvPr/>
          </p:nvPicPr>
          <p:blipFill rotWithShape="1">
            <a:blip r:embed="rId3">
              <a:extLst>
                <a:ext uri="{28A0092B-C50C-407E-A947-70E740481C1C}">
                  <a14:useLocalDpi xmlns:a14="http://schemas.microsoft.com/office/drawing/2010/main" val="0"/>
                </a:ext>
              </a:extLst>
            </a:blip>
            <a:srcRect t="1" r="3191" b="33534"/>
            <a:stretch/>
          </p:blipFill>
          <p:spPr>
            <a:xfrm>
              <a:off x="7025944" y="1824097"/>
              <a:ext cx="1508456" cy="1557915"/>
            </a:xfrm>
            <a:prstGeom prst="rect">
              <a:avLst/>
            </a:prstGeom>
          </p:spPr>
        </p:pic>
        <p:pic>
          <p:nvPicPr>
            <p:cNvPr id="7" name="图片 6">
              <a:extLst>
                <a:ext uri="{FF2B5EF4-FFF2-40B4-BE49-F238E27FC236}">
                  <a16:creationId xmlns:a16="http://schemas.microsoft.com/office/drawing/2014/main" id="{D21BA7C6-A9E6-4037-A95D-BF85FEB91C10}"/>
                </a:ext>
              </a:extLst>
            </p:cNvPr>
            <p:cNvPicPr/>
            <p:nvPr/>
          </p:nvPicPr>
          <p:blipFill>
            <a:blip r:embed="rId4">
              <a:extLst>
                <a:ext uri="{28A0092B-C50C-407E-A947-70E740481C1C}">
                  <a14:useLocalDpi xmlns:a14="http://schemas.microsoft.com/office/drawing/2010/main" val="0"/>
                </a:ext>
              </a:extLst>
            </a:blip>
            <a:stretch>
              <a:fillRect/>
            </a:stretch>
          </p:blipFill>
          <p:spPr>
            <a:xfrm>
              <a:off x="8737049" y="1742835"/>
              <a:ext cx="1917332" cy="1793121"/>
            </a:xfrm>
            <a:prstGeom prst="rect">
              <a:avLst/>
            </a:prstGeom>
          </p:spPr>
        </p:pic>
        <p:graphicFrame>
          <p:nvGraphicFramePr>
            <p:cNvPr id="8" name="表格 7">
              <a:extLst>
                <a:ext uri="{FF2B5EF4-FFF2-40B4-BE49-F238E27FC236}">
                  <a16:creationId xmlns:a16="http://schemas.microsoft.com/office/drawing/2014/main" id="{7B07609B-CAAB-4FF6-932E-E4CDAA452014}"/>
                </a:ext>
              </a:extLst>
            </p:cNvPr>
            <p:cNvGraphicFramePr>
              <a:graphicFrameLocks noGrp="1"/>
            </p:cNvGraphicFramePr>
            <p:nvPr/>
          </p:nvGraphicFramePr>
          <p:xfrm>
            <a:off x="993672" y="4071414"/>
            <a:ext cx="4489082" cy="1793825"/>
          </p:xfrm>
          <a:graphic>
            <a:graphicData uri="http://schemas.openxmlformats.org/drawingml/2006/table">
              <a:tbl>
                <a:tblPr firstRow="1" firstCol="1" bandRow="1">
                  <a:tableStyleId>{69012ECD-51FC-41F1-AA8D-1B2483CD663E}</a:tableStyleId>
                </a:tblPr>
                <a:tblGrid>
                  <a:gridCol w="1081229">
                    <a:extLst>
                      <a:ext uri="{9D8B030D-6E8A-4147-A177-3AD203B41FA5}">
                        <a16:colId xmlns:a16="http://schemas.microsoft.com/office/drawing/2014/main" val="1492680179"/>
                      </a:ext>
                    </a:extLst>
                  </a:gridCol>
                  <a:gridCol w="1380306">
                    <a:extLst>
                      <a:ext uri="{9D8B030D-6E8A-4147-A177-3AD203B41FA5}">
                        <a16:colId xmlns:a16="http://schemas.microsoft.com/office/drawing/2014/main" val="1099582554"/>
                      </a:ext>
                    </a:extLst>
                  </a:gridCol>
                  <a:gridCol w="732775">
                    <a:extLst>
                      <a:ext uri="{9D8B030D-6E8A-4147-A177-3AD203B41FA5}">
                        <a16:colId xmlns:a16="http://schemas.microsoft.com/office/drawing/2014/main" val="936513701"/>
                      </a:ext>
                    </a:extLst>
                  </a:gridCol>
                  <a:gridCol w="1294772">
                    <a:extLst>
                      <a:ext uri="{9D8B030D-6E8A-4147-A177-3AD203B41FA5}">
                        <a16:colId xmlns:a16="http://schemas.microsoft.com/office/drawing/2014/main" val="2488443368"/>
                      </a:ext>
                    </a:extLst>
                  </a:gridCol>
                </a:tblGrid>
                <a:tr h="688419">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solidFill>
                              <a:schemeClr val="bg1"/>
                            </a:solidFill>
                            <a:effectLst/>
                            <a:latin typeface="Times New Roman" panose="02020603050405020304" pitchFamily="18" charset="0"/>
                            <a:ea typeface="SimSun"/>
                            <a:cs typeface="Times New Roman" panose="02020603050405020304" pitchFamily="18" charset="0"/>
                          </a:rPr>
                          <a:t>Instrument</a:t>
                        </a: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HK" sz="1148" dirty="0">
                            <a:effectLst/>
                            <a:latin typeface="Times New Roman" panose="02020603050405020304" pitchFamily="18" charset="0"/>
                            <a:ea typeface="SimSun"/>
                            <a:cs typeface="Times New Roman" panose="02020603050405020304" pitchFamily="18" charset="0"/>
                          </a:rPr>
                          <a:t>Parameter</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Range </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Accuracy</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solidFill>
                        <a:srgbClr val="AF1E3B"/>
                      </a:solidFill>
                    </a:tcPr>
                  </a:tc>
                  <a:extLst>
                    <a:ext uri="{0D108BD9-81ED-4DB2-BD59-A6C34878D82A}">
                      <a16:rowId xmlns:a16="http://schemas.microsoft.com/office/drawing/2014/main" val="901868659"/>
                    </a:ext>
                  </a:extLst>
                </a:tr>
                <a:tr h="222882">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kern="1200" dirty="0">
                            <a:solidFill>
                              <a:schemeClr val="tx1"/>
                            </a:solidFill>
                            <a:effectLst/>
                            <a:latin typeface="Times New Roman" panose="02020603050405020304" pitchFamily="18" charset="0"/>
                            <a:ea typeface="SimSun"/>
                            <a:cs typeface="Times New Roman" panose="02020603050405020304" pitchFamily="18" charset="0"/>
                          </a:rPr>
                          <a:t>Flowmeter</a:t>
                        </a:r>
                        <a:endParaRPr lang="en-HK" sz="1148" b="1" kern="1200" dirty="0">
                          <a:solidFill>
                            <a:schemeClr val="tx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r>
                          <a:rPr lang="en-HK" sz="1148" kern="1200" dirty="0">
                            <a:effectLst/>
                            <a:latin typeface="Times New Roman" panose="02020603050405020304" pitchFamily="18" charset="0"/>
                            <a:ea typeface="SimSun"/>
                            <a:cs typeface="Times New Roman" panose="02020603050405020304" pitchFamily="18" charset="0"/>
                          </a:rPr>
                          <a:t>Water flow rate</a:t>
                        </a:r>
                        <a:endParaRPr lang="en-HK" sz="1148"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1.9-8.4</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0.4-10</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3721296"/>
                    </a:ext>
                  </a:extLst>
                </a:tr>
                <a:tr h="222882">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solidFill>
                              <a:schemeClr val="tx1"/>
                            </a:solidFill>
                            <a:effectLst/>
                            <a:latin typeface="Times New Roman" panose="02020603050405020304" pitchFamily="18" charset="0"/>
                            <a:ea typeface="SimSun"/>
                            <a:cs typeface="Times New Roman" panose="02020603050405020304" pitchFamily="18" charset="0"/>
                          </a:rPr>
                          <a:t>Pressure gage</a:t>
                        </a:r>
                        <a:endParaRPr lang="en-HK" sz="1148"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r>
                          <a:rPr lang="en-HK" sz="1148" kern="1200" dirty="0">
                            <a:effectLst/>
                            <a:latin typeface="Times New Roman" panose="02020603050405020304" pitchFamily="18" charset="0"/>
                            <a:ea typeface="SimSun"/>
                            <a:cs typeface="Times New Roman" panose="02020603050405020304" pitchFamily="18" charset="0"/>
                          </a:rPr>
                          <a:t>Water pressure</a:t>
                        </a:r>
                        <a:endParaRPr lang="en-HK" sz="1148"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2.9-13</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0.4-10</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0300693"/>
                    </a:ext>
                  </a:extLst>
                </a:tr>
                <a:tr h="222882">
                  <a:tc>
                    <a:txBody>
                      <a:bodyPr/>
                      <a:lstStyle>
                        <a:lvl1pPr marL="0" algn="l" defTabSz="457200" rtl="0" eaLnBrk="1" latinLnBrk="0" hangingPunct="1">
                          <a:defRPr sz="1476" b="1" kern="1200">
                            <a:solidFill>
                              <a:schemeClr val="lt1"/>
                            </a:solidFill>
                            <a:latin typeface="Times New Roman" panose="020F0502020204030204"/>
                            <a:ea typeface="SimSun"/>
                            <a:cs typeface="Times New Roman"/>
                          </a:defRPr>
                        </a:lvl1pPr>
                        <a:lvl2pPr marL="457200" algn="l" defTabSz="457200" rtl="0" eaLnBrk="1" latinLnBrk="0" hangingPunct="1">
                          <a:defRPr sz="1476" b="1" kern="1200">
                            <a:solidFill>
                              <a:schemeClr val="lt1"/>
                            </a:solidFill>
                            <a:latin typeface="Times New Roman" panose="020F0502020204030204"/>
                            <a:ea typeface="SimSun"/>
                            <a:cs typeface="Times New Roman"/>
                          </a:defRPr>
                        </a:lvl2pPr>
                        <a:lvl3pPr marL="914400" algn="l" defTabSz="457200" rtl="0" eaLnBrk="1" latinLnBrk="0" hangingPunct="1">
                          <a:defRPr sz="1476" b="1" kern="1200">
                            <a:solidFill>
                              <a:schemeClr val="lt1"/>
                            </a:solidFill>
                            <a:latin typeface="Times New Roman" panose="020F0502020204030204"/>
                            <a:ea typeface="SimSun"/>
                            <a:cs typeface="Times New Roman"/>
                          </a:defRPr>
                        </a:lvl3pPr>
                        <a:lvl4pPr marL="1371600" algn="l" defTabSz="457200" rtl="0" eaLnBrk="1" latinLnBrk="0" hangingPunct="1">
                          <a:defRPr sz="1476" b="1" kern="1200">
                            <a:solidFill>
                              <a:schemeClr val="lt1"/>
                            </a:solidFill>
                            <a:latin typeface="Times New Roman" panose="020F0502020204030204"/>
                            <a:ea typeface="SimSun"/>
                            <a:cs typeface="Times New Roman"/>
                          </a:defRPr>
                        </a:lvl4pPr>
                        <a:lvl5pPr marL="1828800" algn="l" defTabSz="457200" rtl="0" eaLnBrk="1" latinLnBrk="0" hangingPunct="1">
                          <a:defRPr sz="1476" b="1" kern="1200">
                            <a:solidFill>
                              <a:schemeClr val="lt1"/>
                            </a:solidFill>
                            <a:latin typeface="Times New Roman" panose="020F0502020204030204"/>
                            <a:ea typeface="SimSun"/>
                            <a:cs typeface="Times New Roman"/>
                          </a:defRPr>
                        </a:lvl5pPr>
                        <a:lvl6pPr marL="2286000" algn="l" defTabSz="457200" rtl="0" eaLnBrk="1" latinLnBrk="0" hangingPunct="1">
                          <a:defRPr sz="1476" b="1" kern="1200">
                            <a:solidFill>
                              <a:schemeClr val="lt1"/>
                            </a:solidFill>
                            <a:latin typeface="Times New Roman" panose="020F0502020204030204"/>
                            <a:ea typeface="SimSun"/>
                            <a:cs typeface="Times New Roman"/>
                          </a:defRPr>
                        </a:lvl6pPr>
                        <a:lvl7pPr marL="2743200" algn="l" defTabSz="457200" rtl="0" eaLnBrk="1" latinLnBrk="0" hangingPunct="1">
                          <a:defRPr sz="1476" b="1" kern="1200">
                            <a:solidFill>
                              <a:schemeClr val="lt1"/>
                            </a:solidFill>
                            <a:latin typeface="Times New Roman" panose="020F0502020204030204"/>
                            <a:ea typeface="SimSun"/>
                            <a:cs typeface="Times New Roman"/>
                          </a:defRPr>
                        </a:lvl7pPr>
                        <a:lvl8pPr marL="3200400" algn="l" defTabSz="457200" rtl="0" eaLnBrk="1" latinLnBrk="0" hangingPunct="1">
                          <a:defRPr sz="1476" b="1" kern="1200">
                            <a:solidFill>
                              <a:schemeClr val="lt1"/>
                            </a:solidFill>
                            <a:latin typeface="Times New Roman" panose="020F0502020204030204"/>
                            <a:ea typeface="SimSun"/>
                            <a:cs typeface="Times New Roman"/>
                          </a:defRPr>
                        </a:lvl8pPr>
                        <a:lvl9pPr marL="3657600" algn="l" defTabSz="457200" rtl="0" eaLnBrk="1" latinLnBrk="0" hangingPunct="1">
                          <a:defRPr sz="1476" b="1" kern="1200">
                            <a:solidFill>
                              <a:schemeClr val="lt1"/>
                            </a:solidFill>
                            <a:latin typeface="Times New Roman" panose="020F0502020204030204"/>
                            <a:ea typeface="SimSun"/>
                            <a:cs typeface="Times New Roman"/>
                          </a:defRPr>
                        </a:lvl9pPr>
                      </a:lstStyle>
                      <a:p>
                        <a:pPr algn="ctr">
                          <a:lnSpc>
                            <a:spcPct val="107000"/>
                          </a:lnSpc>
                          <a:spcAft>
                            <a:spcPts val="0"/>
                          </a:spcAft>
                        </a:pPr>
                        <a:r>
                          <a:rPr lang="en-US" sz="1148" dirty="0">
                            <a:solidFill>
                              <a:schemeClr val="tx1"/>
                            </a:solidFill>
                            <a:effectLst/>
                            <a:latin typeface="Times New Roman" panose="02020603050405020304" pitchFamily="18" charset="0"/>
                            <a:ea typeface="SimSun"/>
                            <a:cs typeface="Times New Roman" panose="02020603050405020304" pitchFamily="18" charset="0"/>
                          </a:rPr>
                          <a:t>Measuring cylinder</a:t>
                        </a:r>
                        <a:endParaRPr lang="en-HK" sz="1148"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r>
                          <a:rPr lang="en-HK" sz="1148" kern="1200" dirty="0">
                            <a:effectLst/>
                            <a:latin typeface="Times New Roman" panose="02020603050405020304" pitchFamily="18" charset="0"/>
                            <a:ea typeface="SimSun"/>
                            <a:cs typeface="Times New Roman" panose="02020603050405020304" pitchFamily="18" charset="0"/>
                          </a:rPr>
                          <a:t>Water volume</a:t>
                        </a:r>
                        <a:endParaRPr lang="en-HK" sz="1148" kern="1200" dirty="0">
                          <a:solidFill>
                            <a:schemeClr val="dk1"/>
                          </a:solidFill>
                          <a:effectLst/>
                          <a:latin typeface="Times New Roman" panose="02020603050405020304" pitchFamily="18" charset="0"/>
                          <a:ea typeface="SimSun"/>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6.7-16.2</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lvl1pPr marL="0" algn="l" defTabSz="457200" rtl="0" eaLnBrk="1" latinLnBrk="0" hangingPunct="1">
                          <a:defRPr sz="1476" kern="1200">
                            <a:solidFill>
                              <a:schemeClr val="dk1"/>
                            </a:solidFill>
                            <a:latin typeface="Times New Roman" panose="020F0502020204030204"/>
                            <a:ea typeface="SimSun"/>
                            <a:cs typeface="Times New Roman"/>
                          </a:defRPr>
                        </a:lvl1pPr>
                        <a:lvl2pPr marL="457200" algn="l" defTabSz="457200" rtl="0" eaLnBrk="1" latinLnBrk="0" hangingPunct="1">
                          <a:defRPr sz="1476" kern="1200">
                            <a:solidFill>
                              <a:schemeClr val="dk1"/>
                            </a:solidFill>
                            <a:latin typeface="Times New Roman" panose="020F0502020204030204"/>
                            <a:ea typeface="SimSun"/>
                            <a:cs typeface="Times New Roman"/>
                          </a:defRPr>
                        </a:lvl2pPr>
                        <a:lvl3pPr marL="914400" algn="l" defTabSz="457200" rtl="0" eaLnBrk="1" latinLnBrk="0" hangingPunct="1">
                          <a:defRPr sz="1476" kern="1200">
                            <a:solidFill>
                              <a:schemeClr val="dk1"/>
                            </a:solidFill>
                            <a:latin typeface="Times New Roman" panose="020F0502020204030204"/>
                            <a:ea typeface="SimSun"/>
                            <a:cs typeface="Times New Roman"/>
                          </a:defRPr>
                        </a:lvl3pPr>
                        <a:lvl4pPr marL="1371600" algn="l" defTabSz="457200" rtl="0" eaLnBrk="1" latinLnBrk="0" hangingPunct="1">
                          <a:defRPr sz="1476" kern="1200">
                            <a:solidFill>
                              <a:schemeClr val="dk1"/>
                            </a:solidFill>
                            <a:latin typeface="Times New Roman" panose="020F0502020204030204"/>
                            <a:ea typeface="SimSun"/>
                            <a:cs typeface="Times New Roman"/>
                          </a:defRPr>
                        </a:lvl4pPr>
                        <a:lvl5pPr marL="1828800" algn="l" defTabSz="457200" rtl="0" eaLnBrk="1" latinLnBrk="0" hangingPunct="1">
                          <a:defRPr sz="1476" kern="1200">
                            <a:solidFill>
                              <a:schemeClr val="dk1"/>
                            </a:solidFill>
                            <a:latin typeface="Times New Roman" panose="020F0502020204030204"/>
                            <a:ea typeface="SimSun"/>
                            <a:cs typeface="Times New Roman"/>
                          </a:defRPr>
                        </a:lvl5pPr>
                        <a:lvl6pPr marL="2286000" algn="l" defTabSz="457200" rtl="0" eaLnBrk="1" latinLnBrk="0" hangingPunct="1">
                          <a:defRPr sz="1476" kern="1200">
                            <a:solidFill>
                              <a:schemeClr val="dk1"/>
                            </a:solidFill>
                            <a:latin typeface="Times New Roman" panose="020F0502020204030204"/>
                            <a:ea typeface="SimSun"/>
                            <a:cs typeface="Times New Roman"/>
                          </a:defRPr>
                        </a:lvl6pPr>
                        <a:lvl7pPr marL="2743200" algn="l" defTabSz="457200" rtl="0" eaLnBrk="1" latinLnBrk="0" hangingPunct="1">
                          <a:defRPr sz="1476" kern="1200">
                            <a:solidFill>
                              <a:schemeClr val="dk1"/>
                            </a:solidFill>
                            <a:latin typeface="Times New Roman" panose="020F0502020204030204"/>
                            <a:ea typeface="SimSun"/>
                            <a:cs typeface="Times New Roman"/>
                          </a:defRPr>
                        </a:lvl7pPr>
                        <a:lvl8pPr marL="3200400" algn="l" defTabSz="457200" rtl="0" eaLnBrk="1" latinLnBrk="0" hangingPunct="1">
                          <a:defRPr sz="1476" kern="1200">
                            <a:solidFill>
                              <a:schemeClr val="dk1"/>
                            </a:solidFill>
                            <a:latin typeface="Times New Roman" panose="020F0502020204030204"/>
                            <a:ea typeface="SimSun"/>
                            <a:cs typeface="Times New Roman"/>
                          </a:defRPr>
                        </a:lvl8pPr>
                        <a:lvl9pPr marL="3657600" algn="l" defTabSz="457200" rtl="0" eaLnBrk="1" latinLnBrk="0" hangingPunct="1">
                          <a:defRPr sz="1476" kern="1200">
                            <a:solidFill>
                              <a:schemeClr val="dk1"/>
                            </a:solidFill>
                            <a:latin typeface="Times New Roman" panose="020F0502020204030204"/>
                            <a:ea typeface="SimSun"/>
                            <a:cs typeface="Times New Roman"/>
                          </a:defRPr>
                        </a:lvl9pPr>
                      </a:lstStyle>
                      <a:p>
                        <a:pPr algn="ctr">
                          <a:lnSpc>
                            <a:spcPct val="107000"/>
                          </a:lnSpc>
                          <a:spcAft>
                            <a:spcPts val="0"/>
                          </a:spcAft>
                        </a:pPr>
                        <a:r>
                          <a:rPr lang="en-US" sz="1148" dirty="0">
                            <a:effectLst/>
                            <a:latin typeface="Times New Roman" panose="02020603050405020304" pitchFamily="18" charset="0"/>
                            <a:ea typeface="SimSun"/>
                            <a:cs typeface="Times New Roman" panose="02020603050405020304" pitchFamily="18" charset="0"/>
                          </a:rPr>
                          <a:t>0.4-10</a:t>
                        </a:r>
                        <a:endParaRPr lang="en-HK" sz="1148"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55279380"/>
                    </a:ext>
                  </a:extLst>
                </a:tr>
              </a:tbl>
            </a:graphicData>
          </a:graphic>
        </p:graphicFrame>
        <p:sp>
          <p:nvSpPr>
            <p:cNvPr id="12" name="矩形 11">
              <a:extLst>
                <a:ext uri="{FF2B5EF4-FFF2-40B4-BE49-F238E27FC236}">
                  <a16:creationId xmlns:a16="http://schemas.microsoft.com/office/drawing/2014/main" id="{27391731-49C3-4478-AA8F-533231BC2DF4}"/>
                </a:ext>
              </a:extLst>
            </p:cNvPr>
            <p:cNvSpPr/>
            <p:nvPr/>
          </p:nvSpPr>
          <p:spPr>
            <a:xfrm>
              <a:off x="7780172" y="6398438"/>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8.3 </a:t>
              </a:r>
              <a:r>
                <a:rPr lang="en-HK" sz="984" dirty="0">
                  <a:solidFill>
                    <a:prstClr val="black"/>
                  </a:solidFill>
                  <a:latin typeface="Times New Roman" panose="02020603050405020304" pitchFamily="18" charset="0"/>
                  <a:ea typeface="SimSun"/>
                  <a:cs typeface="Times New Roman" panose="02020603050405020304" pitchFamily="18" charset="0"/>
                </a:rPr>
                <a:t>Photos of test instrument</a:t>
              </a:r>
            </a:p>
          </p:txBody>
        </p:sp>
        <p:sp>
          <p:nvSpPr>
            <p:cNvPr id="13" name="矩形 12">
              <a:extLst>
                <a:ext uri="{FF2B5EF4-FFF2-40B4-BE49-F238E27FC236}">
                  <a16:creationId xmlns:a16="http://schemas.microsoft.com/office/drawing/2014/main" id="{016A5827-1BF1-428B-B40E-8930B035533B}"/>
                </a:ext>
              </a:extLst>
            </p:cNvPr>
            <p:cNvSpPr/>
            <p:nvPr/>
          </p:nvSpPr>
          <p:spPr>
            <a:xfrm>
              <a:off x="917267" y="1794035"/>
              <a:ext cx="4792063" cy="307777"/>
            </a:xfrm>
            <a:prstGeom prst="rect">
              <a:avLst/>
            </a:prstGeom>
          </p:spPr>
          <p:txBody>
            <a:bodyPr wrap="square">
              <a:spAutoFit/>
            </a:bodyPr>
            <a:lstStyle/>
            <a:p>
              <a:pPr defTabSz="457200" eaLnBrk="1" fontAlgn="auto" hangingPunct="1">
                <a:spcBef>
                  <a:spcPts val="0"/>
                </a:spcBef>
                <a:spcAft>
                  <a:spcPts val="0"/>
                </a:spcAft>
              </a:pPr>
              <a:r>
                <a:rPr lang="en-HK" sz="1148" b="1" dirty="0">
                  <a:solidFill>
                    <a:prstClr val="black"/>
                  </a:solidFill>
                  <a:latin typeface="Times New Roman" panose="02020603050405020304" pitchFamily="18" charset="0"/>
                  <a:ea typeface="SimSun"/>
                  <a:cs typeface="Times New Roman" panose="02020603050405020304" pitchFamily="18" charset="0"/>
                </a:rPr>
                <a:t>Table 8.1 </a:t>
              </a:r>
              <a:r>
                <a:rPr lang="en-HK" sz="1148" dirty="0">
                  <a:solidFill>
                    <a:prstClr val="black"/>
                  </a:solidFill>
                  <a:latin typeface="Times New Roman" panose="02020603050405020304" pitchFamily="18" charset="0"/>
                  <a:ea typeface="SimSun"/>
                  <a:cs typeface="Times New Roman" panose="02020603050405020304" pitchFamily="18" charset="0"/>
                </a:rPr>
                <a:t>Solid nozzle selection</a:t>
              </a:r>
            </a:p>
          </p:txBody>
        </p:sp>
        <p:sp>
          <p:nvSpPr>
            <p:cNvPr id="14" name="矩形 13">
              <a:extLst>
                <a:ext uri="{FF2B5EF4-FFF2-40B4-BE49-F238E27FC236}">
                  <a16:creationId xmlns:a16="http://schemas.microsoft.com/office/drawing/2014/main" id="{9782D03B-DB3C-4802-AB9A-7D478BF27D5F}"/>
                </a:ext>
              </a:extLst>
            </p:cNvPr>
            <p:cNvSpPr/>
            <p:nvPr/>
          </p:nvSpPr>
          <p:spPr>
            <a:xfrm>
              <a:off x="907889" y="3722380"/>
              <a:ext cx="4792063" cy="307777"/>
            </a:xfrm>
            <a:prstGeom prst="rect">
              <a:avLst/>
            </a:prstGeom>
          </p:spPr>
          <p:txBody>
            <a:bodyPr wrap="square">
              <a:spAutoFit/>
            </a:bodyPr>
            <a:lstStyle/>
            <a:p>
              <a:pPr defTabSz="457200" eaLnBrk="1" fontAlgn="auto" hangingPunct="1">
                <a:spcBef>
                  <a:spcPts val="0"/>
                </a:spcBef>
                <a:spcAft>
                  <a:spcPts val="0"/>
                </a:spcAft>
              </a:pPr>
              <a:r>
                <a:rPr lang="en-HK" sz="1148" b="1" dirty="0">
                  <a:solidFill>
                    <a:prstClr val="black"/>
                  </a:solidFill>
                  <a:latin typeface="Times New Roman" panose="02020603050405020304" pitchFamily="18" charset="0"/>
                  <a:ea typeface="SimSun"/>
                  <a:cs typeface="Times New Roman" panose="02020603050405020304" pitchFamily="18" charset="0"/>
                </a:rPr>
                <a:t>Table 8.2 </a:t>
              </a:r>
              <a:r>
                <a:rPr lang="en-HK" sz="1148" dirty="0">
                  <a:solidFill>
                    <a:prstClr val="black"/>
                  </a:solidFill>
                  <a:latin typeface="Times New Roman" panose="02020603050405020304" pitchFamily="18" charset="0"/>
                  <a:ea typeface="SimSun"/>
                  <a:cs typeface="Times New Roman" panose="02020603050405020304" pitchFamily="18" charset="0"/>
                </a:rPr>
                <a:t>Instrument parameters list</a:t>
              </a:r>
            </a:p>
          </p:txBody>
        </p:sp>
        <p:pic>
          <p:nvPicPr>
            <p:cNvPr id="15" name="图片 14">
              <a:extLst>
                <a:ext uri="{FF2B5EF4-FFF2-40B4-BE49-F238E27FC236}">
                  <a16:creationId xmlns:a16="http://schemas.microsoft.com/office/drawing/2014/main" id="{C022CD82-34CA-450C-A69C-80B92DAA0A22}"/>
                </a:ext>
              </a:extLst>
            </p:cNvPr>
            <p:cNvPicPr>
              <a:picLocks noChangeAspect="1"/>
            </p:cNvPicPr>
            <p:nvPr/>
          </p:nvPicPr>
          <p:blipFill>
            <a:blip r:embed="rId5"/>
            <a:stretch>
              <a:fillRect/>
            </a:stretch>
          </p:blipFill>
          <p:spPr>
            <a:xfrm>
              <a:off x="7228595" y="3722380"/>
              <a:ext cx="1508455" cy="1430168"/>
            </a:xfrm>
            <a:prstGeom prst="rect">
              <a:avLst/>
            </a:prstGeom>
          </p:spPr>
        </p:pic>
        <p:pic>
          <p:nvPicPr>
            <p:cNvPr id="16" name="图片 15">
              <a:extLst>
                <a:ext uri="{FF2B5EF4-FFF2-40B4-BE49-F238E27FC236}">
                  <a16:creationId xmlns:a16="http://schemas.microsoft.com/office/drawing/2014/main" id="{EB747129-FC9B-4B86-9191-BFD1F05FF46F}"/>
                </a:ext>
              </a:extLst>
            </p:cNvPr>
            <p:cNvPicPr>
              <a:picLocks noChangeAspect="1"/>
            </p:cNvPicPr>
            <p:nvPr/>
          </p:nvPicPr>
          <p:blipFill>
            <a:blip r:embed="rId6"/>
            <a:stretch>
              <a:fillRect/>
            </a:stretch>
          </p:blipFill>
          <p:spPr>
            <a:xfrm>
              <a:off x="8255387" y="5153580"/>
              <a:ext cx="1404818" cy="1226503"/>
            </a:xfrm>
            <a:prstGeom prst="rect">
              <a:avLst/>
            </a:prstGeom>
          </p:spPr>
        </p:pic>
        <p:pic>
          <p:nvPicPr>
            <p:cNvPr id="17" name="图片 16">
              <a:extLst>
                <a:ext uri="{FF2B5EF4-FFF2-40B4-BE49-F238E27FC236}">
                  <a16:creationId xmlns:a16="http://schemas.microsoft.com/office/drawing/2014/main" id="{0961E9B6-4010-4919-B44E-FD0F2920E5D0}"/>
                </a:ext>
              </a:extLst>
            </p:cNvPr>
            <p:cNvPicPr>
              <a:picLocks noChangeAspect="1"/>
            </p:cNvPicPr>
            <p:nvPr/>
          </p:nvPicPr>
          <p:blipFill>
            <a:blip r:embed="rId7"/>
            <a:stretch>
              <a:fillRect/>
            </a:stretch>
          </p:blipFill>
          <p:spPr>
            <a:xfrm>
              <a:off x="8769666" y="3722380"/>
              <a:ext cx="1584245" cy="1429360"/>
            </a:xfrm>
            <a:prstGeom prst="rect">
              <a:avLst/>
            </a:prstGeom>
          </p:spPr>
        </p:pic>
        <p:sp>
          <p:nvSpPr>
            <p:cNvPr id="18" name="矩形 17">
              <a:extLst>
                <a:ext uri="{FF2B5EF4-FFF2-40B4-BE49-F238E27FC236}">
                  <a16:creationId xmlns:a16="http://schemas.microsoft.com/office/drawing/2014/main" id="{134E097A-F791-46FB-A270-EF66965E1CED}"/>
                </a:ext>
              </a:extLst>
            </p:cNvPr>
            <p:cNvSpPr/>
            <p:nvPr/>
          </p:nvSpPr>
          <p:spPr>
            <a:xfrm>
              <a:off x="7593360" y="3440460"/>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3.3.1 </a:t>
              </a:r>
              <a:r>
                <a:rPr lang="en-HK" sz="984" dirty="0">
                  <a:solidFill>
                    <a:prstClr val="black"/>
                  </a:solidFill>
                  <a:latin typeface="Times New Roman" panose="02020603050405020304" pitchFamily="18" charset="0"/>
                  <a:ea typeface="SimSun"/>
                  <a:cs typeface="Times New Roman" panose="02020603050405020304" pitchFamily="18" charset="0"/>
                </a:rPr>
                <a:t>Photos of the nozzles</a:t>
              </a:r>
            </a:p>
          </p:txBody>
        </p:sp>
      </p:grpSp>
      <p:sp>
        <p:nvSpPr>
          <p:cNvPr id="23"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中文要点｜实验仪器与喷嘴选型</a:t>
            </a:r>
          </a:p>
          <a:p>
            <a:pPr>
              <a:lnSpc>
                <a:spcPct val="108000"/>
              </a:lnSpc>
              <a:spcAft>
                <a:spcPts val="0"/>
              </a:spcAft>
            </a:pPr>
            <a:r>
              <a:rPr sz="1400" b="0">
                <a:solidFill>
                  <a:srgbClr val="282828"/>
                </a:solidFill>
                <a:latin typeface="Times New Roman"/>
                <a:ea typeface="SimSun"/>
                <a:cs typeface="Times New Roman"/>
              </a:rPr>
              <a:t>根据孔径、流量、压力和喷雾锥角选择喷嘴，并通过流量计、压力表与量筒开展喷淋测量。</a:t>
            </a:r>
          </a:p>
        </p:txBody>
      </p:sp>
    </p:spTree>
    <p:extLst>
      <p:ext uri="{BB962C8B-B14F-4D97-AF65-F5344CB8AC3E}">
        <p14:creationId xmlns:p14="http://schemas.microsoft.com/office/powerpoint/2010/main" val="251121747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95711F7-5B13-4371-9CD5-5D3334820BD0}"/>
                  </a:ext>
                </a:extLst>
              </p:cNvPr>
              <p:cNvSpPr/>
              <p:nvPr/>
            </p:nvSpPr>
            <p:spPr>
              <a:xfrm>
                <a:off x="1677699" y="1544385"/>
                <a:ext cx="4931887" cy="1872564"/>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2000" dirty="0">
                    <a:solidFill>
                      <a:prstClr val="black"/>
                    </a:solidFill>
                    <a:latin typeface="Times New Roman" panose="02020603050405020304" pitchFamily="18" charset="0"/>
                    <a:ea typeface="SimSun"/>
                    <a:cs typeface="Times New Roman" panose="02020603050405020304" pitchFamily="18" charset="0"/>
                  </a:rPr>
                  <a:t>Water distribution</a:t>
                </a:r>
              </a:p>
              <a:p>
                <a:pPr marL="285750" indent="-285750" defTabSz="457200" eaLnBrk="1" fontAlgn="auto" hangingPunct="1">
                  <a:spcBef>
                    <a:spcPts val="0"/>
                  </a:spcBef>
                  <a:spcAft>
                    <a:spcPts val="0"/>
                  </a:spcAft>
                  <a:buFont typeface="Wingdings" panose="05000000000000000000" pitchFamily="2" charset="2"/>
                  <a:buChar char="Ø"/>
                </a:pPr>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Uniformity coefficient: </a:t>
                </a:r>
              </a:p>
              <a:p>
                <a:pPr defTabSz="457200" eaLnBrk="1" fontAlgn="auto" hangingPunct="1">
                  <a:spcBef>
                    <a:spcPts val="0"/>
                  </a:spcBef>
                  <a:spcAft>
                    <a:spcPts val="0"/>
                  </a:spcAft>
                </a:pPr>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800" dirty="0">
                    <a:solidFill>
                      <a:prstClr val="black"/>
                    </a:solidFill>
                    <a:latin typeface="Times New Roman" panose="02020603050405020304" pitchFamily="18" charset="0"/>
                    <a:ea typeface="SimSun"/>
                    <a:cs typeface="Times New Roman" panose="02020603050405020304" pitchFamily="18" charset="0"/>
                  </a:rPr>
                  <a:t>Coverage ratio: </a:t>
                </a:r>
                <a14:m>
                  <m:oMath xmlns:m="http://schemas.openxmlformats.org/officeDocument/2006/math">
                    <m:r>
                      <a:rPr lang="en-HK" sz="1800">
                        <a:solidFill>
                          <a:prstClr val="black"/>
                        </a:solidFill>
                        <a:latin typeface="Times New Roman" panose="02040503050406030204" pitchFamily="18" charset="0"/>
                        <a:ea typeface="SimSun"/>
                        <a:cs typeface="Times New Roman"/>
                      </a:rPr>
                      <m:t> </m:t>
                    </m:r>
                    <m:r>
                      <m:rPr>
                        <m:sty m:val="p"/>
                      </m:rPr>
                      <a:rPr lang="en-US" sz="1800">
                        <a:solidFill>
                          <a:prstClr val="black"/>
                        </a:solidFill>
                        <a:latin typeface="Times New Roman" panose="02040503050406030204" pitchFamily="18" charset="0"/>
                        <a:ea typeface="SimSun"/>
                        <a:cs typeface="Times New Roman"/>
                      </a:rPr>
                      <m:t>γ</m:t>
                    </m:r>
                    <m:r>
                      <a:rPr lang="en-US" sz="1800">
                        <a:solidFill>
                          <a:prstClr val="black"/>
                        </a:solidFill>
                        <a:latin typeface="Times New Roman" panose="02040503050406030204" pitchFamily="18" charset="0"/>
                        <a:ea typeface="SimSun"/>
                        <a:cs typeface="Times New Roman"/>
                      </a:rPr>
                      <m:t>=</m:t>
                    </m:r>
                    <m:f>
                      <m:fPr>
                        <m:ctrlPr>
                          <a:rPr lang="en-HK" sz="1800" i="1">
                            <a:solidFill>
                              <a:prstClr val="black"/>
                            </a:solidFill>
                            <a:latin typeface="Times New Roman" panose="02040503050406030204" pitchFamily="18" charset="0"/>
                            <a:ea typeface="SimSun"/>
                            <a:cs typeface="Times New Roman"/>
                          </a:rPr>
                        </m:ctrlPr>
                      </m:fPr>
                      <m:num>
                        <m:sSub>
                          <m:sSubPr>
                            <m:ctrlPr>
                              <a:rPr lang="en-US" sz="1800" i="1">
                                <a:solidFill>
                                  <a:prstClr val="black"/>
                                </a:solidFill>
                                <a:latin typeface="Times New Roman" panose="02040503050406030204" pitchFamily="18" charset="0"/>
                                <a:ea typeface="SimSun"/>
                                <a:cs typeface="Times New Roman"/>
                              </a:rPr>
                            </m:ctrlPr>
                          </m:sSubPr>
                          <m:e>
                            <m:r>
                              <a:rPr lang="en-US" sz="1800" i="1">
                                <a:solidFill>
                                  <a:prstClr val="black"/>
                                </a:solidFill>
                                <a:latin typeface="Times New Roman" panose="02040503050406030204" pitchFamily="18" charset="0"/>
                                <a:ea typeface="SimSun"/>
                                <a:cs typeface="Times New Roman"/>
                              </a:rPr>
                              <m:t>𝑆</m:t>
                            </m:r>
                          </m:e>
                          <m:sub>
                            <m:r>
                              <a:rPr lang="en-US" sz="1800" i="1">
                                <a:solidFill>
                                  <a:prstClr val="black"/>
                                </a:solidFill>
                                <a:latin typeface="Times New Roman" panose="02040503050406030204" pitchFamily="18" charset="0"/>
                                <a:ea typeface="SimSun"/>
                                <a:cs typeface="Times New Roman"/>
                              </a:rPr>
                              <m:t>𝑤</m:t>
                            </m:r>
                          </m:sub>
                        </m:sSub>
                      </m:num>
                      <m:den>
                        <m:r>
                          <a:rPr lang="en-US" sz="1800" i="1">
                            <a:solidFill>
                              <a:prstClr val="black"/>
                            </a:solidFill>
                            <a:latin typeface="Times New Roman" panose="02040503050406030204" pitchFamily="18" charset="0"/>
                            <a:ea typeface="SimSun"/>
                            <a:cs typeface="Times New Roman"/>
                          </a:rPr>
                          <m:t>𝑆</m:t>
                        </m:r>
                      </m:den>
                    </m:f>
                  </m:oMath>
                </a14:m>
                <a:endParaRPr lang="en-US" sz="18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600" dirty="0">
                  <a:solidFill>
                    <a:prstClr val="black"/>
                  </a:solidFill>
                  <a:latin typeface="Times New Roman" panose="020B0604020202020204" pitchFamily="34" charset="0"/>
                  <a:ea typeface="SimSun"/>
                  <a:cs typeface="Times New Roman" panose="020B0604020202020204" pitchFamily="34" charset="0"/>
                </a:endParaRPr>
              </a:p>
            </p:txBody>
          </p:sp>
        </mc:Choice>
        <mc:Fallback xmlns="">
          <p:sp>
            <p:nvSpPr>
              <p:cNvPr id="4" name="矩形 3">
                <a:extLst>
                  <a:ext uri="{FF2B5EF4-FFF2-40B4-BE49-F238E27FC236}">
                    <a16:creationId xmlns:a16="http://schemas.microsoft.com/office/drawing/2014/main" id="{995711F7-5B13-4371-9CD5-5D3334820BD0}"/>
                  </a:ext>
                </a:extLst>
              </p:cNvPr>
              <p:cNvSpPr>
                <a:spLocks noRot="1" noChangeAspect="1" noMove="1" noResize="1" noEditPoints="1" noAdjustHandles="1" noChangeArrowheads="1" noChangeShapeType="1" noTextEdit="1"/>
              </p:cNvSpPr>
              <p:nvPr/>
            </p:nvSpPr>
            <p:spPr>
              <a:xfrm>
                <a:off x="1677699" y="1544385"/>
                <a:ext cx="4931887" cy="1872564"/>
              </a:xfrm>
              <a:prstGeom prst="rect">
                <a:avLst/>
              </a:prstGeom>
              <a:blipFill>
                <a:blip r:embed="rId3"/>
                <a:stretch>
                  <a:fillRect l="-1112" t="-162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0EF7F27-4875-480E-8001-F9840C8D6E6D}"/>
                  </a:ext>
                </a:extLst>
              </p:cNvPr>
              <p:cNvSpPr/>
              <p:nvPr/>
            </p:nvSpPr>
            <p:spPr>
              <a:xfrm>
                <a:off x="3852414" y="1824747"/>
                <a:ext cx="1783116" cy="785921"/>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HK" sz="1400">
                          <a:solidFill>
                            <a:prstClr val="black"/>
                          </a:solidFill>
                          <a:latin typeface="Times New Roman" panose="02040503050406030204" pitchFamily="18" charset="0"/>
                          <a:ea typeface="SimSun"/>
                          <a:cs typeface="Times New Roman"/>
                        </a:rPr>
                        <m:t>ξ</m:t>
                      </m:r>
                      <m:r>
                        <a:rPr lang="en-HK" sz="1400">
                          <a:solidFill>
                            <a:prstClr val="black"/>
                          </a:solidFill>
                          <a:latin typeface="Times New Roman" panose="02040503050406030204" pitchFamily="18" charset="0"/>
                          <a:ea typeface="SimSun"/>
                          <a:cs typeface="Times New Roman"/>
                        </a:rPr>
                        <m:t>=</m:t>
                      </m:r>
                      <m:f>
                        <m:fPr>
                          <m:ctrlPr>
                            <a:rPr lang="en-HK" sz="1400">
                              <a:solidFill>
                                <a:prstClr val="black"/>
                              </a:solidFill>
                              <a:latin typeface="Times New Roman" panose="02040503050406030204" pitchFamily="18" charset="0"/>
                              <a:ea typeface="SimSun"/>
                              <a:cs typeface="Times New Roman"/>
                            </a:rPr>
                          </m:ctrlPr>
                        </m:fPr>
                        <m:num>
                          <m:r>
                            <a:rPr lang="en-HK" sz="1400">
                              <a:solidFill>
                                <a:prstClr val="black"/>
                              </a:solidFill>
                              <a:latin typeface="Times New Roman" panose="02040503050406030204" pitchFamily="18" charset="0"/>
                              <a:ea typeface="SimSun"/>
                              <a:cs typeface="Times New Roman"/>
                            </a:rPr>
                            <m:t>1</m:t>
                          </m:r>
                        </m:num>
                        <m:den>
                          <m:acc>
                            <m:accPr>
                              <m:chr m:val="̅"/>
                              <m:ctrlPr>
                                <a:rPr lang="en-HK" sz="1400" i="1">
                                  <a:solidFill>
                                    <a:prstClr val="black"/>
                                  </a:solidFill>
                                  <a:latin typeface="Times New Roman" panose="02040503050406030204" pitchFamily="18" charset="0"/>
                                  <a:ea typeface="SimSun"/>
                                  <a:cs typeface="Times New Roman"/>
                                </a:rPr>
                              </m:ctrlPr>
                            </m:accPr>
                            <m:e>
                              <m:r>
                                <a:rPr lang="en-HK" sz="1400" i="1">
                                  <a:solidFill>
                                    <a:prstClr val="black"/>
                                  </a:solidFill>
                                  <a:latin typeface="Times New Roman" panose="02040503050406030204" pitchFamily="18" charset="0"/>
                                  <a:ea typeface="SimSun"/>
                                  <a:cs typeface="Times New Roman"/>
                                </a:rPr>
                                <m:t>𝑥</m:t>
                              </m:r>
                            </m:e>
                          </m:acc>
                        </m:den>
                      </m:f>
                      <m:d>
                        <m:dPr>
                          <m:ctrlPr>
                            <a:rPr lang="en-HK" sz="1400" i="1">
                              <a:solidFill>
                                <a:prstClr val="black"/>
                              </a:solidFill>
                              <a:latin typeface="Times New Roman" panose="02040503050406030204" pitchFamily="18" charset="0"/>
                              <a:ea typeface="SimSun"/>
                              <a:cs typeface="Times New Roman"/>
                            </a:rPr>
                          </m:ctrlPr>
                        </m:dPr>
                        <m:e>
                          <m:rad>
                            <m:radPr>
                              <m:degHide m:val="on"/>
                              <m:ctrlPr>
                                <a:rPr lang="en-HK" sz="1400" i="1">
                                  <a:solidFill>
                                    <a:prstClr val="black"/>
                                  </a:solidFill>
                                  <a:latin typeface="Times New Roman" panose="02040503050406030204" pitchFamily="18" charset="0"/>
                                  <a:ea typeface="SimSun"/>
                                  <a:cs typeface="Times New Roman"/>
                                </a:rPr>
                              </m:ctrlPr>
                            </m:radPr>
                            <m:deg/>
                            <m:e>
                              <m:f>
                                <m:fPr>
                                  <m:ctrlPr>
                                    <a:rPr lang="en-HK" sz="1400" i="1">
                                      <a:solidFill>
                                        <a:prstClr val="black"/>
                                      </a:solidFill>
                                      <a:latin typeface="Times New Roman" panose="02040503050406030204" pitchFamily="18" charset="0"/>
                                      <a:ea typeface="SimSun"/>
                                      <a:cs typeface="Times New Roman"/>
                                    </a:rPr>
                                  </m:ctrlPr>
                                </m:fPr>
                                <m:num>
                                  <m:nary>
                                    <m:naryPr>
                                      <m:chr m:val="∑"/>
                                      <m:limLoc m:val="subSup"/>
                                      <m:ctrlPr>
                                        <a:rPr lang="en-HK" sz="1400" i="1">
                                          <a:solidFill>
                                            <a:prstClr val="black"/>
                                          </a:solidFill>
                                          <a:latin typeface="Times New Roman" panose="02040503050406030204" pitchFamily="18" charset="0"/>
                                          <a:ea typeface="SimSun"/>
                                          <a:cs typeface="Times New Roman"/>
                                        </a:rPr>
                                      </m:ctrlPr>
                                    </m:naryPr>
                                    <m:sub>
                                      <m:r>
                                        <a:rPr lang="en-HK" sz="1400" i="1">
                                          <a:solidFill>
                                            <a:prstClr val="black"/>
                                          </a:solidFill>
                                          <a:latin typeface="Times New Roman" panose="02040503050406030204" pitchFamily="18" charset="0"/>
                                          <a:ea typeface="SimSun"/>
                                          <a:cs typeface="Times New Roman"/>
                                        </a:rPr>
                                        <m:t>𝑖</m:t>
                                      </m:r>
                                    </m:sub>
                                    <m:sup>
                                      <m:r>
                                        <a:rPr lang="en-HK" sz="1400" i="1">
                                          <a:solidFill>
                                            <a:prstClr val="black"/>
                                          </a:solidFill>
                                          <a:latin typeface="Times New Roman" panose="02040503050406030204" pitchFamily="18" charset="0"/>
                                          <a:ea typeface="SimSun"/>
                                          <a:cs typeface="Times New Roman"/>
                                        </a:rPr>
                                        <m:t>𝑁</m:t>
                                      </m:r>
                                    </m:sup>
                                    <m:e>
                                      <m:sSub>
                                        <m:sSubPr>
                                          <m:ctrlPr>
                                            <a:rPr lang="en-HK" sz="1400" i="1">
                                              <a:solidFill>
                                                <a:prstClr val="black"/>
                                              </a:solidFill>
                                              <a:latin typeface="Times New Roman" panose="02040503050406030204" pitchFamily="18" charset="0"/>
                                              <a:ea typeface="SimSun"/>
                                              <a:cs typeface="Times New Roman"/>
                                            </a:rPr>
                                          </m:ctrlPr>
                                        </m:sSubPr>
                                        <m:e>
                                          <m:r>
                                            <a:rPr lang="en-HK" sz="1400" i="1">
                                              <a:solidFill>
                                                <a:prstClr val="black"/>
                                              </a:solidFill>
                                              <a:latin typeface="Times New Roman" panose="02040503050406030204" pitchFamily="18" charset="0"/>
                                              <a:ea typeface="SimSun"/>
                                              <a:cs typeface="Times New Roman"/>
                                            </a:rPr>
                                            <m:t>𝑥</m:t>
                                          </m:r>
                                        </m:e>
                                        <m:sub>
                                          <m:r>
                                            <a:rPr lang="en-HK" sz="1400" i="1">
                                              <a:solidFill>
                                                <a:prstClr val="black"/>
                                              </a:solidFill>
                                              <a:latin typeface="Times New Roman" panose="02040503050406030204" pitchFamily="18" charset="0"/>
                                              <a:ea typeface="SimSun"/>
                                              <a:cs typeface="Times New Roman"/>
                                            </a:rPr>
                                            <m:t>𝑖</m:t>
                                          </m:r>
                                        </m:sub>
                                      </m:sSub>
                                      <m:r>
                                        <a:rPr lang="en-HK" sz="1400">
                                          <a:solidFill>
                                            <a:prstClr val="black"/>
                                          </a:solidFill>
                                          <a:latin typeface="Times New Roman" panose="02040503050406030204" pitchFamily="18" charset="0"/>
                                          <a:ea typeface="SimSun"/>
                                          <a:cs typeface="Times New Roman"/>
                                        </a:rPr>
                                        <m:t>−</m:t>
                                      </m:r>
                                      <m:acc>
                                        <m:accPr>
                                          <m:chr m:val="̅"/>
                                          <m:ctrlPr>
                                            <a:rPr lang="en-HK" sz="1400" i="1">
                                              <a:solidFill>
                                                <a:prstClr val="black"/>
                                              </a:solidFill>
                                              <a:latin typeface="Times New Roman" panose="02040503050406030204" pitchFamily="18" charset="0"/>
                                              <a:ea typeface="SimSun"/>
                                              <a:cs typeface="Times New Roman"/>
                                            </a:rPr>
                                          </m:ctrlPr>
                                        </m:accPr>
                                        <m:e>
                                          <m:r>
                                            <a:rPr lang="en-HK" sz="1400" i="1">
                                              <a:solidFill>
                                                <a:prstClr val="black"/>
                                              </a:solidFill>
                                              <a:latin typeface="Times New Roman" panose="02040503050406030204" pitchFamily="18" charset="0"/>
                                              <a:ea typeface="SimSun"/>
                                              <a:cs typeface="Times New Roman"/>
                                            </a:rPr>
                                            <m:t>𝑥</m:t>
                                          </m:r>
                                        </m:e>
                                      </m:acc>
                                    </m:e>
                                  </m:nary>
                                </m:num>
                                <m:den>
                                  <m:r>
                                    <a:rPr lang="en-HK" sz="1400" i="1">
                                      <a:solidFill>
                                        <a:prstClr val="black"/>
                                      </a:solidFill>
                                      <a:latin typeface="Times New Roman" panose="02040503050406030204" pitchFamily="18" charset="0"/>
                                      <a:ea typeface="SimSun"/>
                                      <a:cs typeface="Times New Roman"/>
                                    </a:rPr>
                                    <m:t>𝑁</m:t>
                                  </m:r>
                                </m:den>
                              </m:f>
                            </m:e>
                          </m:rad>
                        </m:e>
                      </m:d>
                    </m:oMath>
                  </m:oMathPara>
                </a14:m>
                <a:endParaRPr lang="en-HK" sz="1400" dirty="0">
                  <a:solidFill>
                    <a:prstClr val="black"/>
                  </a:solidFill>
                  <a:latin typeface="Times New Roman" panose="020F0502020204030204"/>
                  <a:ea typeface="SimSun"/>
                  <a:cs typeface="Times New Roman"/>
                </a:endParaRPr>
              </a:p>
            </p:txBody>
          </p:sp>
        </mc:Choice>
        <mc:Fallback xmlns="">
          <p:sp>
            <p:nvSpPr>
              <p:cNvPr id="5" name="矩形 4">
                <a:extLst>
                  <a:ext uri="{FF2B5EF4-FFF2-40B4-BE49-F238E27FC236}">
                    <a16:creationId xmlns:a16="http://schemas.microsoft.com/office/drawing/2014/main" id="{50EF7F27-4875-480E-8001-F9840C8D6E6D}"/>
                  </a:ext>
                </a:extLst>
              </p:cNvPr>
              <p:cNvSpPr>
                <a:spLocks noRot="1" noChangeAspect="1" noMove="1" noResize="1" noEditPoints="1" noAdjustHandles="1" noChangeArrowheads="1" noChangeShapeType="1" noTextEdit="1"/>
              </p:cNvSpPr>
              <p:nvPr/>
            </p:nvSpPr>
            <p:spPr>
              <a:xfrm>
                <a:off x="3852414" y="1824747"/>
                <a:ext cx="1783116" cy="785921"/>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29886C2-ACAD-4374-BE41-CAF6E2238FDF}"/>
                  </a:ext>
                </a:extLst>
              </p:cNvPr>
              <p:cNvSpPr/>
              <p:nvPr/>
            </p:nvSpPr>
            <p:spPr>
              <a:xfrm>
                <a:off x="1677699" y="3517904"/>
                <a:ext cx="4931887" cy="2993640"/>
              </a:xfrm>
              <a:prstGeom prst="rect">
                <a:avLst/>
              </a:prstGeom>
            </p:spPr>
            <p:txBody>
              <a:bodyPr wrap="squar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2000" dirty="0">
                    <a:solidFill>
                      <a:prstClr val="black"/>
                    </a:solidFill>
                    <a:latin typeface="Times New Roman" panose="02020603050405020304" pitchFamily="18" charset="0"/>
                    <a:ea typeface="SimSun"/>
                    <a:cs typeface="Times New Roman" panose="02020603050405020304" pitchFamily="18" charset="0"/>
                  </a:rPr>
                  <a:t>Water membrane</a:t>
                </a:r>
              </a:p>
              <a:p>
                <a:pPr defTabSz="457200" eaLnBrk="1" fontAlgn="auto" hangingPunct="1">
                  <a:spcBef>
                    <a:spcPts val="0"/>
                  </a:spcBef>
                  <a:spcAft>
                    <a:spcPts val="0"/>
                  </a:spcAft>
                </a:pPr>
                <a:endParaRPr lang="en-US" sz="1600" dirty="0">
                  <a:solidFill>
                    <a:prstClr val="black"/>
                  </a:solidFill>
                  <a:latin typeface="Times New Roman" panose="020B0604020202020204" pitchFamily="34" charset="0"/>
                  <a:ea typeface="SimSun"/>
                  <a:cs typeface="Times New Roman" panose="020B0604020202020204" pitchFamily="34"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Reynolds </a:t>
                </a:r>
                <a:r>
                  <a:rPr lang="en-US" altLang="zh-CN" sz="16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number</a:t>
                </a:r>
                <a:r>
                  <a:rPr lang="en-HK" altLang="zh-CN" sz="1600"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t>
                </a:r>
                <a14:m>
                  <m:oMath xmlns:m="http://schemas.openxmlformats.org/officeDocument/2006/math">
                    <m:sSub>
                      <m:sSubPr>
                        <m:ctrlPr>
                          <a:rPr lang="en-HK" sz="1600" i="1">
                            <a:solidFill>
                              <a:prstClr val="black"/>
                            </a:solidFill>
                            <a:latin typeface="Times New Roman" panose="02040503050406030204" pitchFamily="18" charset="0"/>
                            <a:ea typeface="SimSun"/>
                            <a:cs typeface="Times New Roman"/>
                          </a:rPr>
                        </m:ctrlPr>
                      </m:sSubPr>
                      <m:e>
                        <m:r>
                          <a:rPr lang="en-HK" sz="1600" i="1">
                            <a:solidFill>
                              <a:prstClr val="black"/>
                            </a:solidFill>
                            <a:latin typeface="Times New Roman" panose="02040503050406030204" pitchFamily="18" charset="0"/>
                            <a:ea typeface="SimSun"/>
                            <a:cs typeface="Times New Roman"/>
                          </a:rPr>
                          <m:t>   </m:t>
                        </m:r>
                        <m:r>
                          <a:rPr lang="en-US" sz="1600" i="1">
                            <a:solidFill>
                              <a:prstClr val="black"/>
                            </a:solidFill>
                            <a:latin typeface="Times New Roman" panose="02040503050406030204" pitchFamily="18" charset="0"/>
                            <a:ea typeface="SimSun"/>
                            <a:cs typeface="Times New Roman"/>
                          </a:rPr>
                          <m:t>𝑅𝑒</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m:t>
                    </m:r>
                    <m:f>
                      <m:fPr>
                        <m:ctrlPr>
                          <a:rPr lang="en-HK" sz="1600" i="1">
                            <a:solidFill>
                              <a:prstClr val="black"/>
                            </a:solidFill>
                            <a:latin typeface="Times New Roman" panose="02040503050406030204" pitchFamily="18" charset="0"/>
                            <a:ea typeface="SimSun"/>
                            <a:cs typeface="Times New Roman"/>
                          </a:rPr>
                        </m:ctrlPr>
                      </m:fPr>
                      <m:num>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𝑚</m:t>
                            </m:r>
                          </m:e>
                          <m:sub>
                            <m:r>
                              <a:rPr lang="en-US" sz="1600" i="1">
                                <a:solidFill>
                                  <a:prstClr val="black"/>
                                </a:solidFill>
                                <a:latin typeface="Times New Roman" panose="02040503050406030204" pitchFamily="18" charset="0"/>
                                <a:ea typeface="SimSun"/>
                                <a:cs typeface="Times New Roman"/>
                              </a:rPr>
                              <m:t>𝑤</m:t>
                            </m:r>
                          </m:sub>
                        </m:sSub>
                      </m:num>
                      <m:den>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𝐿</m:t>
                            </m:r>
                          </m:e>
                          <m:sub>
                            <m:r>
                              <a:rPr lang="en-US" sz="1600" i="1">
                                <a:solidFill>
                                  <a:prstClr val="black"/>
                                </a:solidFill>
                                <a:latin typeface="Times New Roman" panose="02040503050406030204" pitchFamily="18" charset="0"/>
                                <a:ea typeface="SimSun"/>
                                <a:cs typeface="Times New Roman"/>
                              </a:rPr>
                              <m:t>𝑓</m:t>
                            </m:r>
                          </m:sub>
                        </m:sSub>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𝜇</m:t>
                            </m:r>
                          </m:e>
                          <m:sub>
                            <m:r>
                              <a:rPr lang="en-US" sz="1600" i="1">
                                <a:solidFill>
                                  <a:prstClr val="black"/>
                                </a:solidFill>
                                <a:latin typeface="Times New Roman" panose="02040503050406030204" pitchFamily="18" charset="0"/>
                                <a:ea typeface="SimSun"/>
                                <a:cs typeface="Times New Roman"/>
                              </a:rPr>
                              <m:t>𝑤</m:t>
                            </m:r>
                          </m:sub>
                        </m:sSub>
                      </m:den>
                    </m:f>
                  </m:oMath>
                </a14:m>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Velocity: </a:t>
                </a:r>
                <a14:m>
                  <m:oMath xmlns:m="http://schemas.openxmlformats.org/officeDocument/2006/math">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𝑣</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=1.5×</m:t>
                    </m:r>
                    <m:sSup>
                      <m:sSupPr>
                        <m:ctrlPr>
                          <a:rPr lang="en-HK" sz="1600" i="1">
                            <a:solidFill>
                              <a:prstClr val="black"/>
                            </a:solidFill>
                            <a:latin typeface="Times New Roman" panose="02040503050406030204" pitchFamily="18" charset="0"/>
                            <a:ea typeface="SimSun"/>
                            <a:cs typeface="Times New Roman"/>
                          </a:rPr>
                        </m:ctrlPr>
                      </m:sSupPr>
                      <m:e>
                        <m:d>
                          <m:dPr>
                            <m:ctrlPr>
                              <a:rPr lang="en-HK" sz="1600" i="1">
                                <a:solidFill>
                                  <a:prstClr val="black"/>
                                </a:solidFill>
                                <a:latin typeface="Times New Roman" panose="02040503050406030204" pitchFamily="18" charset="0"/>
                                <a:ea typeface="SimSun"/>
                                <a:cs typeface="Times New Roman"/>
                              </a:rPr>
                            </m:ctrlPr>
                          </m:dPr>
                          <m:e>
                            <m:f>
                              <m:fPr>
                                <m:ctrlPr>
                                  <a:rPr lang="en-HK" sz="1600" i="1">
                                    <a:solidFill>
                                      <a:prstClr val="black"/>
                                    </a:solidFill>
                                    <a:latin typeface="Times New Roman" panose="02040503050406030204" pitchFamily="18" charset="0"/>
                                    <a:ea typeface="SimSun"/>
                                    <a:cs typeface="Times New Roman"/>
                                  </a:rPr>
                                </m:ctrlPr>
                              </m:fPr>
                              <m:num>
                                <m:sSub>
                                  <m:sSubPr>
                                    <m:ctrlPr>
                                      <a:rPr lang="en-US" sz="1600" i="1">
                                        <a:solidFill>
                                          <a:prstClr val="black"/>
                                        </a:solidFill>
                                        <a:latin typeface="Times New Roman" panose="02040503050406030204" pitchFamily="18" charset="0"/>
                                        <a:ea typeface="SimSun" panose="02040503050406030204" pitchFamily="18" charset="0"/>
                                        <a:cs typeface="Times New Roman"/>
                                      </a:rPr>
                                    </m:ctrlPr>
                                  </m:sSubPr>
                                  <m:e>
                                    <m:r>
                                      <a:rPr lang="en-US" sz="1600" i="1">
                                        <a:solidFill>
                                          <a:prstClr val="black"/>
                                        </a:solidFill>
                                        <a:latin typeface="Times New Roman" panose="02040503050406030204" pitchFamily="18" charset="0"/>
                                        <a:ea typeface="SimSun" panose="02040503050406030204" pitchFamily="18" charset="0"/>
                                        <a:cs typeface="Times New Roman"/>
                                      </a:rPr>
                                      <m:t>𝜇</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𝑔</m:t>
                                </m:r>
                              </m:num>
                              <m:den>
                                <m:r>
                                  <a:rPr lang="en-US" sz="1600" i="1">
                                    <a:solidFill>
                                      <a:prstClr val="black"/>
                                    </a:solidFill>
                                    <a:latin typeface="Times New Roman" panose="02040503050406030204" pitchFamily="18" charset="0"/>
                                    <a:ea typeface="SimSun"/>
                                    <a:cs typeface="Times New Roman"/>
                                  </a:rPr>
                                  <m:t>48</m:t>
                                </m:r>
                              </m:den>
                            </m:f>
                          </m:e>
                        </m:d>
                      </m:e>
                      <m:sup>
                        <m:f>
                          <m:fPr>
                            <m:ctrlPr>
                              <a:rPr lang="en-US" sz="1600" i="1">
                                <a:solidFill>
                                  <a:prstClr val="black"/>
                                </a:solidFill>
                                <a:latin typeface="Times New Roman" panose="02040503050406030204" pitchFamily="18" charset="0"/>
                                <a:ea typeface="SimSun"/>
                                <a:cs typeface="Times New Roman"/>
                              </a:rPr>
                            </m:ctrlPr>
                          </m:fPr>
                          <m:num>
                            <m:r>
                              <a:rPr lang="en-US" sz="1600" i="1">
                                <a:solidFill>
                                  <a:prstClr val="black"/>
                                </a:solidFill>
                                <a:latin typeface="Times New Roman" panose="02040503050406030204" pitchFamily="18" charset="0"/>
                                <a:ea typeface="SimSun"/>
                                <a:cs typeface="Times New Roman"/>
                              </a:rPr>
                              <m:t>1</m:t>
                            </m:r>
                          </m:num>
                          <m:den>
                            <m:r>
                              <a:rPr lang="en-US" sz="1600" i="1">
                                <a:solidFill>
                                  <a:prstClr val="black"/>
                                </a:solidFill>
                                <a:latin typeface="Times New Roman" panose="02040503050406030204" pitchFamily="18" charset="0"/>
                                <a:ea typeface="SimSun"/>
                                <a:cs typeface="Times New Roman"/>
                              </a:rPr>
                              <m:t>3</m:t>
                            </m:r>
                          </m:den>
                        </m:f>
                      </m:sup>
                    </m:sSup>
                    <m:sSup>
                      <m:sSupPr>
                        <m:ctrlPr>
                          <a:rPr lang="en-US" sz="1600" i="1">
                            <a:solidFill>
                              <a:prstClr val="black"/>
                            </a:solidFill>
                            <a:latin typeface="Times New Roman" panose="02040503050406030204" pitchFamily="18" charset="0"/>
                            <a:ea typeface="SimSun"/>
                            <a:cs typeface="Times New Roman"/>
                          </a:rPr>
                        </m:ctrlPr>
                      </m:sSupPr>
                      <m:e>
                        <m:r>
                          <a:rPr lang="en-US" sz="1600" i="1">
                            <a:solidFill>
                              <a:prstClr val="black"/>
                            </a:solidFill>
                            <a:latin typeface="Times New Roman" panose="02040503050406030204" pitchFamily="18" charset="0"/>
                            <a:ea typeface="SimSun"/>
                            <a:cs typeface="Times New Roman"/>
                          </a:rPr>
                          <m:t>(</m:t>
                        </m:r>
                        <m:sSub>
                          <m:sSubPr>
                            <m:ctrlPr>
                              <a:rPr lang="en-US" sz="1600" i="1">
                                <a:solidFill>
                                  <a:prstClr val="black"/>
                                </a:solidFill>
                                <a:latin typeface="Times New Roman" panose="02040503050406030204" pitchFamily="18" charset="0"/>
                                <a:ea typeface="SimSun"/>
                                <a:cs typeface="Times New Roman"/>
                              </a:rPr>
                            </m:ctrlPr>
                          </m:sSubPr>
                          <m:e>
                            <m:r>
                              <a:rPr lang="en-US" sz="1600" i="1">
                                <a:solidFill>
                                  <a:prstClr val="black"/>
                                </a:solidFill>
                                <a:latin typeface="Times New Roman" panose="02040503050406030204" pitchFamily="18" charset="0"/>
                                <a:ea typeface="SimSun"/>
                                <a:cs typeface="Times New Roman"/>
                              </a:rPr>
                              <m:t>𝑅𝑒</m:t>
                            </m:r>
                          </m:e>
                          <m:sub>
                            <m:r>
                              <a:rPr lang="en-US" sz="1600" i="1">
                                <a:solidFill>
                                  <a:prstClr val="black"/>
                                </a:solidFill>
                                <a:latin typeface="Times New Roman" panose="02040503050406030204" pitchFamily="18" charset="0"/>
                                <a:ea typeface="SimSun"/>
                                <a:cs typeface="Times New Roman"/>
                              </a:rPr>
                              <m:t>𝑤</m:t>
                            </m:r>
                          </m:sub>
                        </m:sSub>
                        <m:r>
                          <a:rPr lang="en-US" sz="1600" i="1">
                            <a:solidFill>
                              <a:prstClr val="black"/>
                            </a:solidFill>
                            <a:latin typeface="Times New Roman" panose="02040503050406030204" pitchFamily="18" charset="0"/>
                            <a:ea typeface="SimSun"/>
                            <a:cs typeface="Times New Roman"/>
                          </a:rPr>
                          <m:t>)</m:t>
                        </m:r>
                      </m:e>
                      <m:sup>
                        <m:f>
                          <m:fPr>
                            <m:ctrlPr>
                              <a:rPr lang="en-US" sz="1600" i="1">
                                <a:solidFill>
                                  <a:prstClr val="black"/>
                                </a:solidFill>
                                <a:latin typeface="Times New Roman" panose="02040503050406030204" pitchFamily="18" charset="0"/>
                                <a:ea typeface="SimSun"/>
                                <a:cs typeface="Times New Roman"/>
                              </a:rPr>
                            </m:ctrlPr>
                          </m:fPr>
                          <m:num>
                            <m:r>
                              <a:rPr lang="en-US" sz="1600" i="1">
                                <a:solidFill>
                                  <a:prstClr val="black"/>
                                </a:solidFill>
                                <a:latin typeface="Times New Roman" panose="02040503050406030204" pitchFamily="18" charset="0"/>
                                <a:ea typeface="SimSun"/>
                                <a:cs typeface="Times New Roman"/>
                              </a:rPr>
                              <m:t>2</m:t>
                            </m:r>
                          </m:num>
                          <m:den>
                            <m:r>
                              <a:rPr lang="en-US" sz="1600" i="1">
                                <a:solidFill>
                                  <a:prstClr val="black"/>
                                </a:solidFill>
                                <a:latin typeface="Times New Roman" panose="02040503050406030204" pitchFamily="18" charset="0"/>
                                <a:ea typeface="SimSun"/>
                                <a:cs typeface="Times New Roman"/>
                              </a:rPr>
                              <m:t>3</m:t>
                            </m:r>
                          </m:den>
                        </m:f>
                      </m:sup>
                    </m:sSup>
                  </m:oMath>
                </a14:m>
                <a:endParaRPr lang="en-HK"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Spraying density: </a:t>
                </a:r>
              </a:p>
              <a:p>
                <a:pPr defTabSz="457200" eaLnBrk="1" fontAlgn="auto" hangingPunct="1">
                  <a:spcBef>
                    <a:spcPts val="0"/>
                  </a:spcBef>
                  <a:spcAft>
                    <a:spcPts val="0"/>
                  </a:spcAft>
                </a:pPr>
                <a:endParaRPr lang="en-US"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US" sz="1600" dirty="0">
                    <a:solidFill>
                      <a:prstClr val="black"/>
                    </a:solidFill>
                    <a:latin typeface="Times New Roman" panose="02020603050405020304" pitchFamily="18" charset="0"/>
                    <a:ea typeface="SimSun"/>
                    <a:cs typeface="Times New Roman" panose="02020603050405020304" pitchFamily="18" charset="0"/>
                  </a:rPr>
                  <a:t>Water membrane thickness:</a:t>
                </a:r>
                <a:endParaRPr lang="en-HK" sz="1600"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endParaRPr lang="en-HK" sz="1600" dirty="0">
                  <a:solidFill>
                    <a:srgbClr val="A30000"/>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HK" sz="1600" b="1" dirty="0">
                    <a:solidFill>
                      <a:srgbClr val="A30000"/>
                    </a:solidFill>
                    <a:latin typeface="Times New Roman" panose="02020603050405020304" pitchFamily="18" charset="0"/>
                    <a:ea typeface="SimSun"/>
                    <a:cs typeface="Times New Roman" panose="02020603050405020304" pitchFamily="18" charset="0"/>
                  </a:rPr>
                  <a:t>Wettability factor</a:t>
                </a:r>
                <a:r>
                  <a:rPr lang="en-HK" sz="1600" dirty="0">
                    <a:solidFill>
                      <a:prstClr val="black"/>
                    </a:solidFill>
                    <a:latin typeface="Times New Roman" panose="02020603050405020304" pitchFamily="18" charset="0"/>
                    <a:ea typeface="SimSun"/>
                    <a:cs typeface="Times New Roman" panose="02020603050405020304" pitchFamily="18" charset="0"/>
                  </a:rPr>
                  <a:t>: </a:t>
                </a:r>
                <a:endParaRPr lang="en-US" sz="1600" dirty="0">
                  <a:solidFill>
                    <a:prstClr val="black"/>
                  </a:solidFill>
                  <a:latin typeface="Times New Roman" panose="02020603050405020304" pitchFamily="18" charset="0"/>
                  <a:ea typeface="SimSun"/>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D29886C2-ACAD-4374-BE41-CAF6E2238FDF}"/>
                  </a:ext>
                </a:extLst>
              </p:cNvPr>
              <p:cNvSpPr>
                <a:spLocks noRot="1" noChangeAspect="1" noMove="1" noResize="1" noEditPoints="1" noAdjustHandles="1" noChangeArrowheads="1" noChangeShapeType="1" noTextEdit="1"/>
              </p:cNvSpPr>
              <p:nvPr/>
            </p:nvSpPr>
            <p:spPr>
              <a:xfrm>
                <a:off x="1677699" y="3517904"/>
                <a:ext cx="4931887" cy="2993640"/>
              </a:xfrm>
              <a:prstGeom prst="rect">
                <a:avLst/>
              </a:prstGeom>
              <a:blipFill>
                <a:blip r:embed="rId5"/>
                <a:stretch>
                  <a:fillRect l="-1112" t="-1018" b="-183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308DDAB-5310-4C84-B837-AE646A4A7FB0}"/>
                  </a:ext>
                </a:extLst>
              </p:cNvPr>
              <p:cNvSpPr/>
              <p:nvPr/>
            </p:nvSpPr>
            <p:spPr>
              <a:xfrm>
                <a:off x="3351510" y="5073059"/>
                <a:ext cx="1308307" cy="558614"/>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num>
                        <m:den>
                          <m:d>
                            <m:d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𝑛</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e>
                          </m:d>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𝑓</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7" name="矩形 6">
                <a:extLst>
                  <a:ext uri="{FF2B5EF4-FFF2-40B4-BE49-F238E27FC236}">
                    <a16:creationId xmlns:a16="http://schemas.microsoft.com/office/drawing/2014/main" id="{D308DDAB-5310-4C84-B837-AE646A4A7FB0}"/>
                  </a:ext>
                </a:extLst>
              </p:cNvPr>
              <p:cNvSpPr>
                <a:spLocks noRot="1" noChangeAspect="1" noMove="1" noResize="1" noEditPoints="1" noAdjustHandles="1" noChangeArrowheads="1" noChangeShapeType="1" noTextEdit="1"/>
              </p:cNvSpPr>
              <p:nvPr/>
            </p:nvSpPr>
            <p:spPr>
              <a:xfrm>
                <a:off x="3351510" y="5073059"/>
                <a:ext cx="1308307" cy="558614"/>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6F87DF60-5F15-42B2-8460-4D61F95C40C6}"/>
                  </a:ext>
                </a:extLst>
              </p:cNvPr>
              <p:cNvSpPr/>
              <p:nvPr/>
            </p:nvSpPr>
            <p:spPr>
              <a:xfrm>
                <a:off x="4282601" y="5439046"/>
                <a:ext cx="1367618" cy="695062"/>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p>
                        <m:sSup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pPr>
                        <m:e>
                          <m:d>
                            <m:d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r>
                                        <a:rPr lang="en-US" sz="1400" i="1">
                                          <a:solidFill>
                                            <a:prstClr val="black"/>
                                          </a:solidFill>
                                          <a:latin typeface="Times New Roman" panose="02040503050406030204" pitchFamily="18" charset="0"/>
                                          <a:ea typeface="SimSun" panose="02040503050406030204" pitchFamily="18" charset="0"/>
                                          <a:cs typeface="Times New Roman" panose="02020603050405020304" pitchFamily="18" charset="0"/>
                                        </a:rPr>
                                        <m:t>𝜇</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num>
                                <m:den>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𝜌</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𝑔</m:t>
                                  </m:r>
                                </m:den>
                              </m:f>
                            </m:e>
                          </m:d>
                        </m:e>
                        <m:sup>
                          <m:f>
                            <m:fPr>
                              <m:ctrl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num>
                            <m:den>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3</m:t>
                              </m:r>
                            </m:den>
                          </m:f>
                        </m:sup>
                      </m:sSup>
                    </m:oMath>
                  </m:oMathPara>
                </a14:m>
                <a:endParaRPr lang="en-HK" sz="1400" dirty="0">
                  <a:solidFill>
                    <a:prstClr val="black"/>
                  </a:solidFill>
                  <a:latin typeface="Times New Roman" panose="020F0502020204030204"/>
                  <a:ea typeface="SimSun"/>
                  <a:cs typeface="Times New Roman"/>
                </a:endParaRPr>
              </a:p>
            </p:txBody>
          </p:sp>
        </mc:Choice>
        <mc:Fallback xmlns="">
          <p:sp>
            <p:nvSpPr>
              <p:cNvPr id="8" name="矩形 7">
                <a:extLst>
                  <a:ext uri="{FF2B5EF4-FFF2-40B4-BE49-F238E27FC236}">
                    <a16:creationId xmlns:a16="http://schemas.microsoft.com/office/drawing/2014/main" id="{6F87DF60-5F15-42B2-8460-4D61F95C40C6}"/>
                  </a:ext>
                </a:extLst>
              </p:cNvPr>
              <p:cNvSpPr>
                <a:spLocks noRot="1" noChangeAspect="1" noMove="1" noResize="1" noEditPoints="1" noAdjustHandles="1" noChangeArrowheads="1" noChangeShapeType="1" noTextEdit="1"/>
              </p:cNvSpPr>
              <p:nvPr/>
            </p:nvSpPr>
            <p:spPr>
              <a:xfrm>
                <a:off x="4282601" y="5439046"/>
                <a:ext cx="1367618" cy="695062"/>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1F8DDE0-1E96-4E88-B9E3-C464B695CFFA}"/>
                  </a:ext>
                </a:extLst>
              </p:cNvPr>
              <p:cNvSpPr/>
              <p:nvPr/>
            </p:nvSpPr>
            <p:spPr>
              <a:xfrm>
                <a:off x="3529263" y="6024027"/>
                <a:ext cx="1596270" cy="537840"/>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σ</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f>
                        <m:f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ℎ</m:t>
                          </m:r>
                        </m:num>
                        <m:den>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2</m:t>
                          </m:r>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𝑣</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𝜌</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9" name="矩形 8">
                <a:extLst>
                  <a:ext uri="{FF2B5EF4-FFF2-40B4-BE49-F238E27FC236}">
                    <a16:creationId xmlns:a16="http://schemas.microsoft.com/office/drawing/2014/main" id="{31F8DDE0-1E96-4E88-B9E3-C464B695CFFA}"/>
                  </a:ext>
                </a:extLst>
              </p:cNvPr>
              <p:cNvSpPr>
                <a:spLocks noRot="1" noChangeAspect="1" noMove="1" noResize="1" noEditPoints="1" noAdjustHandles="1" noChangeArrowheads="1" noChangeShapeType="1" noTextEdit="1"/>
              </p:cNvSpPr>
              <p:nvPr/>
            </p:nvSpPr>
            <p:spPr>
              <a:xfrm>
                <a:off x="3529263" y="6024027"/>
                <a:ext cx="1596270" cy="537840"/>
              </a:xfrm>
              <a:prstGeom prst="rect">
                <a:avLst/>
              </a:prstGeom>
              <a:blipFill>
                <a:blip r:embed="rId8"/>
                <a:stretch>
                  <a:fillRect b="-227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6FFDB3F-9583-40DD-9EBE-33075881A0B2}"/>
                  </a:ext>
                </a:extLst>
              </p:cNvPr>
              <p:cNvSpPr txBox="1"/>
              <p:nvPr/>
            </p:nvSpPr>
            <p:spPr>
              <a:xfrm>
                <a:off x="7819435" y="4984252"/>
                <a:ext cx="3134360" cy="546945"/>
              </a:xfrm>
              <a:prstGeom prst="rect">
                <a:avLst/>
              </a:prstGeom>
              <a:noFill/>
            </p:spPr>
            <p:txBody>
              <a:bodyPr wrap="square">
                <a:spAutoFit/>
              </a:bodyPr>
              <a:lstStyle/>
              <a:p>
                <a:pPr defTabSz="457200" eaLnBrk="1" fontAlgn="auto" hangingPunct="1">
                  <a:spcBef>
                    <a:spcPts val="0"/>
                  </a:spcBef>
                  <a:spcAft>
                    <a:spcPts val="0"/>
                  </a:spcAft>
                </a:pPr>
                <a14:m>
                  <m:oMathPara xmlns:m="http://schemas.openxmlformats.org/officeDocument/2006/math">
                    <m:oMath>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𝜂</m:t>
                          </m:r>
                        </m:e>
                        <m:sub>
                          <m:r>
                            <a:rPr lang="zh-CN" altLang="en-US" sz="1400" i="1">
                              <a:solidFill>
                                <a:prstClr val="black"/>
                              </a:solidFill>
                              <a:latin typeface="Times New Roman" panose="02040503050406030204" pitchFamily="18" charset="0"/>
                              <a:ea typeface="SimSun"/>
                              <a:cs typeface="Times New Roman"/>
                            </a:rPr>
                            <m:t>𝑤𝑏</m:t>
                          </m:r>
                        </m:sub>
                      </m:sSub>
                      <m:r>
                        <a:rPr lang="zh-CN" altLang="en-US" sz="1400">
                          <a:solidFill>
                            <a:prstClr val="black"/>
                          </a:solidFill>
                          <a:latin typeface="Times New Roman" panose="02040503050406030204" pitchFamily="18" charset="0"/>
                          <a:ea typeface="SimSun"/>
                          <a:cs typeface="Times New Roman"/>
                        </a:rPr>
                        <m:t>=</m:t>
                      </m:r>
                      <m:f>
                        <m:fPr>
                          <m:ctrlPr>
                            <a:rPr lang="zh-CN" altLang="en-US" sz="1400" i="1">
                              <a:solidFill>
                                <a:srgbClr val="836967"/>
                              </a:solidFill>
                              <a:latin typeface="Times New Roman" panose="02040503050406030204" pitchFamily="18" charset="0"/>
                              <a:ea typeface="SimSun"/>
                              <a:cs typeface="Times New Roman"/>
                            </a:rPr>
                          </m:ctrlPr>
                        </m:fPr>
                        <m:num>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𝑜𝑢𝑡</m:t>
                              </m:r>
                            </m:sub>
                          </m:sSub>
                        </m:num>
                        <m:den>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𝑤𝑏</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𝑠</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den>
                      </m:f>
                    </m:oMath>
                  </m:oMathPara>
                </a14:m>
                <a:endParaRPr lang="zh-CN" altLang="en-US" sz="1400" dirty="0">
                  <a:solidFill>
                    <a:prstClr val="black"/>
                  </a:solidFill>
                  <a:latin typeface="Times New Roman" panose="020F0502020204030204"/>
                  <a:ea typeface="SimSun" panose="02010600030101010101" pitchFamily="2" charset="-122"/>
                  <a:cs typeface="Times New Roman"/>
                </a:endParaRPr>
              </a:p>
            </p:txBody>
          </p:sp>
        </mc:Choice>
        <mc:Fallback xmlns="">
          <p:sp>
            <p:nvSpPr>
              <p:cNvPr id="12" name="文本框 11">
                <a:extLst>
                  <a:ext uri="{FF2B5EF4-FFF2-40B4-BE49-F238E27FC236}">
                    <a16:creationId xmlns:a16="http://schemas.microsoft.com/office/drawing/2014/main" id="{C6FFDB3F-9583-40DD-9EBE-33075881A0B2}"/>
                  </a:ext>
                </a:extLst>
              </p:cNvPr>
              <p:cNvSpPr txBox="1">
                <a:spLocks noRot="1" noChangeAspect="1" noMove="1" noResize="1" noEditPoints="1" noAdjustHandles="1" noChangeArrowheads="1" noChangeShapeType="1" noTextEdit="1"/>
              </p:cNvSpPr>
              <p:nvPr/>
            </p:nvSpPr>
            <p:spPr>
              <a:xfrm>
                <a:off x="7819435" y="4984252"/>
                <a:ext cx="3134360" cy="546945"/>
              </a:xfrm>
              <a:prstGeom prst="rect">
                <a:avLst/>
              </a:prstGeom>
              <a:blipFill>
                <a:blip r:embed="rId9"/>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ACD5137-AC2E-491D-831E-DDDF70F49F2F}"/>
                  </a:ext>
                </a:extLst>
              </p:cNvPr>
              <p:cNvSpPr txBox="1"/>
              <p:nvPr/>
            </p:nvSpPr>
            <p:spPr>
              <a:xfrm>
                <a:off x="7802111" y="5620531"/>
                <a:ext cx="3134360" cy="339773"/>
              </a:xfrm>
              <a:prstGeom prst="rect">
                <a:avLst/>
              </a:prstGeom>
              <a:noFill/>
            </p:spPr>
            <p:txBody>
              <a:bodyPr wrap="square">
                <a:spAutoFit/>
              </a:bodyPr>
              <a:lstStyle/>
              <a:p>
                <a:pPr defTabSz="457200" eaLnBrk="1" fontAlgn="auto" hangingPunct="1">
                  <a:spcBef>
                    <a:spcPts val="0"/>
                  </a:spcBef>
                  <a:spcAft>
                    <a:spcPts val="0"/>
                  </a:spcAft>
                </a:pPr>
                <a14:m>
                  <m:oMathPara xmlns:m="http://schemas.openxmlformats.org/officeDocument/2006/math">
                    <m:oMath>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𝑄</m:t>
                          </m:r>
                        </m:e>
                        <m:sub>
                          <m:r>
                            <a:rPr lang="zh-CN" altLang="en-US" sz="1400" i="1">
                              <a:solidFill>
                                <a:prstClr val="black"/>
                              </a:solidFill>
                              <a:latin typeface="Times New Roman" panose="02040503050406030204" pitchFamily="18" charset="0"/>
                              <a:ea typeface="SimSun"/>
                              <a:cs typeface="Times New Roman"/>
                            </a:rPr>
                            <m:t>𝑐</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𝑚</m:t>
                          </m:r>
                        </m:e>
                        <m:sub>
                          <m:r>
                            <a:rPr lang="zh-CN" altLang="en-US" sz="1400" i="1">
                              <a:solidFill>
                                <a:prstClr val="black"/>
                              </a:solidFill>
                              <a:latin typeface="Times New Roman" panose="02040503050406030204" pitchFamily="18" charset="0"/>
                              <a:ea typeface="SimSun"/>
                              <a:cs typeface="Times New Roman"/>
                            </a:rPr>
                            <m:t>𝑝</m:t>
                          </m:r>
                        </m:sub>
                      </m:sSub>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𝑐</m:t>
                          </m:r>
                        </m:e>
                        <m:sub>
                          <m:r>
                            <a:rPr lang="zh-CN" altLang="en-US" sz="1400" i="1">
                              <a:solidFill>
                                <a:prstClr val="black"/>
                              </a:solidFill>
                              <a:latin typeface="Times New Roman" panose="02040503050406030204" pitchFamily="18" charset="0"/>
                              <a:ea typeface="SimSun"/>
                              <a:cs typeface="Times New Roman"/>
                            </a:rPr>
                            <m:t>𝑝𝑎</m:t>
                          </m:r>
                        </m:sub>
                      </m:sSub>
                      <m:d>
                        <m:dPr>
                          <m:ctrlPr>
                            <a:rPr lang="zh-CN" altLang="en-US" sz="1400" i="1">
                              <a:solidFill>
                                <a:srgbClr val="836967"/>
                              </a:solidFill>
                              <a:latin typeface="Times New Roman" panose="02040503050406030204" pitchFamily="18" charset="0"/>
                              <a:ea typeface="SimSun"/>
                              <a:cs typeface="Times New Roman"/>
                            </a:rPr>
                          </m:ctrlPr>
                        </m:dPr>
                        <m:e>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𝑖𝑛</m:t>
                              </m:r>
                            </m:sub>
                          </m:sSub>
                          <m:r>
                            <a:rPr lang="zh-CN" altLang="en-US" sz="1400">
                              <a:solidFill>
                                <a:prstClr val="black"/>
                              </a:solidFill>
                              <a:latin typeface="Times New Roman" panose="02040503050406030204" pitchFamily="18" charset="0"/>
                              <a:ea typeface="SimSun"/>
                              <a:cs typeface="Times New Roman"/>
                            </a:rPr>
                            <m:t>−</m:t>
                          </m:r>
                          <m:sSub>
                            <m:sSubPr>
                              <m:ctrlPr>
                                <a:rPr lang="zh-CN" altLang="en-US" sz="1400" i="1">
                                  <a:solidFill>
                                    <a:prstClr val="black"/>
                                  </a:solidFill>
                                  <a:latin typeface="Times New Roman" panose="02040503050406030204" pitchFamily="18" charset="0"/>
                                  <a:ea typeface="SimSun"/>
                                  <a:cs typeface="Times New Roman"/>
                                </a:rPr>
                              </m:ctrlPr>
                            </m:sSubPr>
                            <m:e>
                              <m:r>
                                <a:rPr lang="zh-CN" altLang="en-US" sz="1400" i="1">
                                  <a:solidFill>
                                    <a:prstClr val="black"/>
                                  </a:solidFill>
                                  <a:latin typeface="Times New Roman" panose="02040503050406030204" pitchFamily="18" charset="0"/>
                                  <a:ea typeface="SimSun"/>
                                  <a:cs typeface="Times New Roman"/>
                                </a:rPr>
                                <m:t>𝑡</m:t>
                              </m:r>
                            </m:e>
                            <m:sub>
                              <m:r>
                                <a:rPr lang="zh-CN" altLang="en-US" sz="1400" i="1">
                                  <a:solidFill>
                                    <a:prstClr val="black"/>
                                  </a:solidFill>
                                  <a:latin typeface="Times New Roman" panose="02040503050406030204" pitchFamily="18" charset="0"/>
                                  <a:ea typeface="SimSun"/>
                                  <a:cs typeface="Times New Roman"/>
                                </a:rPr>
                                <m:t>𝑝</m:t>
                              </m:r>
                              <m:r>
                                <a:rPr lang="zh-CN" altLang="en-US" sz="1400">
                                  <a:solidFill>
                                    <a:prstClr val="black"/>
                                  </a:solidFill>
                                  <a:latin typeface="Times New Roman" panose="02040503050406030204" pitchFamily="18" charset="0"/>
                                  <a:ea typeface="SimSun"/>
                                  <a:cs typeface="Times New Roman"/>
                                </a:rPr>
                                <m:t>,</m:t>
                              </m:r>
                              <m:r>
                                <a:rPr lang="zh-CN" altLang="en-US" sz="1400" i="1">
                                  <a:solidFill>
                                    <a:prstClr val="black"/>
                                  </a:solidFill>
                                  <a:latin typeface="Times New Roman" panose="02040503050406030204" pitchFamily="18" charset="0"/>
                                  <a:ea typeface="SimSun"/>
                                  <a:cs typeface="Times New Roman"/>
                                </a:rPr>
                                <m:t>𝑜𝑢𝑡</m:t>
                              </m:r>
                            </m:sub>
                          </m:sSub>
                        </m:e>
                      </m:d>
                    </m:oMath>
                  </m:oMathPara>
                </a14:m>
                <a:endParaRPr lang="zh-CN" altLang="en-US" sz="1400" dirty="0">
                  <a:solidFill>
                    <a:prstClr val="black"/>
                  </a:solidFill>
                  <a:latin typeface="Times New Roman" panose="020F0502020204030204"/>
                  <a:ea typeface="SimSun" panose="02010600030101010101" pitchFamily="2" charset="-122"/>
                  <a:cs typeface="Times New Roman"/>
                </a:endParaRPr>
              </a:p>
            </p:txBody>
          </p:sp>
        </mc:Choice>
        <mc:Fallback xmlns="">
          <p:sp>
            <p:nvSpPr>
              <p:cNvPr id="13" name="文本框 12">
                <a:extLst>
                  <a:ext uri="{FF2B5EF4-FFF2-40B4-BE49-F238E27FC236}">
                    <a16:creationId xmlns:a16="http://schemas.microsoft.com/office/drawing/2014/main" id="{1ACD5137-AC2E-491D-831E-DDDF70F49F2F}"/>
                  </a:ext>
                </a:extLst>
              </p:cNvPr>
              <p:cNvSpPr txBox="1">
                <a:spLocks noRot="1" noChangeAspect="1" noMove="1" noResize="1" noEditPoints="1" noAdjustHandles="1" noChangeArrowheads="1" noChangeShapeType="1" noTextEdit="1"/>
              </p:cNvSpPr>
              <p:nvPr/>
            </p:nvSpPr>
            <p:spPr>
              <a:xfrm>
                <a:off x="7802111" y="5620531"/>
                <a:ext cx="3134360" cy="339773"/>
              </a:xfrm>
              <a:prstGeom prst="rect">
                <a:avLst/>
              </a:prstGeom>
              <a:blipFill>
                <a:blip r:embed="rId10"/>
                <a:stretch>
                  <a:fillRect b="-178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8876B4F8-F90D-443A-9617-8CBA13CF691A}"/>
              </a:ext>
            </a:extLst>
          </p:cNvPr>
          <p:cNvSpPr>
            <a:spLocks noGrp="1"/>
          </p:cNvSpPr>
          <p:nvPr>
            <p:ph type="sldNum" sz="quarter" idx="12"/>
          </p:nvPr>
        </p:nvSpPr>
        <p:spPr>
          <a:xfrm>
            <a:off x="9222552" y="6483412"/>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20</a:t>
            </a:fld>
            <a:endParaRPr lang="en-US" altLang="zh-CN">
              <a:latin typeface="Times New Roman"/>
              <a:ea typeface="SimSun"/>
              <a:cs typeface="Times New Roman"/>
            </a:endParaRPr>
          </a:p>
        </p:txBody>
      </p:sp>
      <p:sp>
        <p:nvSpPr>
          <p:cNvPr id="16" name="矩形 3">
            <a:extLst>
              <a:ext uri="{FF2B5EF4-FFF2-40B4-BE49-F238E27FC236}">
                <a16:creationId xmlns:a16="http://schemas.microsoft.com/office/drawing/2014/main" id="{3DD9B40B-E37D-4C9C-9B2C-BA7B87109E42}"/>
              </a:ext>
            </a:extLst>
          </p:cNvPr>
          <p:cNvSpPr>
            <a:spLocks noChangeArrowheads="1"/>
          </p:cNvSpPr>
          <p:nvPr/>
        </p:nvSpPr>
        <p:spPr bwMode="auto">
          <a:xfrm>
            <a:off x="864013" y="-22029"/>
            <a:ext cx="10813218"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76750317-A2D6-4907-9498-450E08BB728F}"/>
                  </a:ext>
                </a:extLst>
              </p:cNvPr>
              <p:cNvSpPr/>
              <p:nvPr/>
            </p:nvSpPr>
            <p:spPr>
              <a:xfrm>
                <a:off x="6588015" y="1480628"/>
                <a:ext cx="3624838" cy="3205108"/>
              </a:xfrm>
              <a:prstGeom prst="rect">
                <a:avLst/>
              </a:prstGeom>
            </p:spPr>
            <p:txBody>
              <a:bodyPr wrap="square">
                <a:spAutoFit/>
              </a:bodyPr>
              <a:lstStyle/>
              <a:p>
                <a:pPr marL="285750" indent="-285750" defTabSz="457200" eaLnBrk="1" fontAlgn="auto" hangingPunct="1">
                  <a:lnSpc>
                    <a:spcPts val="2800"/>
                  </a:lnSpc>
                  <a:spcBef>
                    <a:spcPts val="0"/>
                  </a:spcBef>
                  <a:spcAft>
                    <a:spcPts val="600"/>
                  </a:spcAft>
                  <a:buFont typeface="Wingdings" panose="05000000000000000000" pitchFamily="2" charset="2"/>
                  <a:buChar char="Ø"/>
                </a:pPr>
                <a:r>
                  <a:rPr lang="en-US" sz="1800" dirty="0">
                    <a:solidFill>
                      <a:prstClr val="black"/>
                    </a:solidFill>
                    <a:latin typeface="Times New Roman" panose="02020603050405020304" pitchFamily="18" charset="0"/>
                    <a:ea typeface="SimSun"/>
                    <a:cs typeface="Times New Roman" panose="02020603050405020304" pitchFamily="18" charset="0"/>
                  </a:rPr>
                  <a:t>IEC performance</a:t>
                </a:r>
                <a:endParaRPr lang="en-US" sz="1800" dirty="0">
                  <a:latin typeface="Times New Roman" panose="02020603050405020304" pitchFamily="18" charset="0"/>
                  <a:ea typeface="SimSun"/>
                  <a:cs typeface="Times New Roman" panose="02020603050405020304" pitchFamily="18" charset="0"/>
                </a:endParaRPr>
              </a:p>
              <a:p>
                <a:pPr>
                  <a:lnSpc>
                    <a:spcPts val="2800"/>
                  </a:lnSpc>
                </a:pPr>
                <a:r>
                  <a:rPr lang="en-US" sz="1800" dirty="0">
                    <a:latin typeface="Times New Roman" panose="02020603050405020304" pitchFamily="18" charset="0"/>
                    <a:ea typeface="SimSun"/>
                    <a:cs typeface="Times New Roman" panose="02020603050405020304" pitchFamily="18" charset="0"/>
                  </a:rPr>
                  <a:t>Pressure </a:t>
                </a:r>
                <a:r>
                  <a:rPr lang="en-US" sz="1800" dirty="0">
                    <a:solidFill>
                      <a:prstClr val="black"/>
                    </a:solidFill>
                    <a:latin typeface="Times New Roman" panose="02020603050405020304" pitchFamily="18" charset="0"/>
                    <a:ea typeface="SimSun"/>
                    <a:cs typeface="Times New Roman" panose="02020603050405020304" pitchFamily="18" charset="0"/>
                  </a:rPr>
                  <a:t>drop</a:t>
                </a:r>
                <a:r>
                  <a:rPr lang="en-US" sz="1800" dirty="0">
                    <a:latin typeface="Times New Roman" panose="02020603050405020304" pitchFamily="18" charset="0"/>
                    <a:ea typeface="SimSun"/>
                    <a:cs typeface="Times New Roman" panose="02020603050405020304" pitchFamily="18" charset="0"/>
                  </a:rPr>
                  <a:t>: </a:t>
                </a:r>
                <a14:m>
                  <m:oMath xmlns:m="http://schemas.openxmlformats.org/officeDocument/2006/math">
                    <m:eqArr>
                      <m:eqArrPr>
                        <m:ctrlPr>
                          <a:rPr lang="en-HK" sz="1600" i="1">
                            <a:latin typeface="Times New Roman" panose="02040503050406030204" pitchFamily="18" charset="0"/>
                            <a:ea typeface="SimSun"/>
                            <a:cs typeface="Times New Roman"/>
                          </a:rPr>
                        </m:ctrlPr>
                      </m:eqArrPr>
                      <m:e>
                        <m:r>
                          <a:rPr lang="en-HK"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r>
                          <a:rPr lang="en-US"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𝑓</m:t>
                                </m:r>
                              </m:e>
                              <m:sub>
                                <m:r>
                                  <a:rPr lang="en-US" sz="1600" i="1">
                                    <a:latin typeface="Times New Roman" panose="02040503050406030204" pitchFamily="18" charset="0"/>
                                    <a:ea typeface="SimSun"/>
                                    <a:cs typeface="Times New Roman"/>
                                  </a:rPr>
                                  <m:t>𝑅𝑒</m:t>
                                </m:r>
                              </m:sub>
                            </m:sSub>
                            <m:r>
                              <a:rPr lang="en-US" sz="1600" i="1">
                                <a:latin typeface="Times New Roman" panose="02040503050406030204" pitchFamily="18" charset="0"/>
                                <a:ea typeface="SimSun"/>
                                <a:cs typeface="Times New Roman"/>
                              </a:rPr>
                              <m:t>𝐿</m:t>
                            </m:r>
                            <m:r>
                              <a:rPr lang="en-US" sz="1600" i="1">
                                <a:latin typeface="Times New Roman" panose="02040503050406030204" pitchFamily="18" charset="0"/>
                                <a:ea typeface="SimSun"/>
                                <a:cs typeface="Times New Roman"/>
                              </a:rPr>
                              <m:t>𝜌</m:t>
                            </m:r>
                            <m:sSup>
                              <m:sSupPr>
                                <m:ctrlPr>
                                  <a:rPr lang="en-US" sz="1600" i="1">
                                    <a:latin typeface="Times New Roman" panose="02040503050406030204" pitchFamily="18" charset="0"/>
                                    <a:ea typeface="SimSun"/>
                                    <a:cs typeface="Times New Roman"/>
                                  </a:rPr>
                                </m:ctrlPr>
                              </m:sSupPr>
                              <m:e>
                                <m:r>
                                  <a:rPr lang="en-US" sz="1600" i="1">
                                    <a:latin typeface="Times New Roman" panose="02040503050406030204" pitchFamily="18" charset="0"/>
                                    <a:ea typeface="SimSun"/>
                                    <a:cs typeface="Times New Roman"/>
                                  </a:rPr>
                                  <m:t>𝑢</m:t>
                                </m:r>
                              </m:e>
                              <m:sup>
                                <m:r>
                                  <a:rPr lang="en-US" sz="1600" i="1">
                                    <a:latin typeface="Times New Roman" panose="02040503050406030204" pitchFamily="18" charset="0"/>
                                    <a:ea typeface="SimSun"/>
                                    <a:cs typeface="Times New Roman"/>
                                  </a:rPr>
                                  <m:t>2</m:t>
                                </m:r>
                              </m:sup>
                            </m:sSup>
                          </m:num>
                          <m:den>
                            <m:r>
                              <a:rPr lang="en-US" sz="1600" i="1">
                                <a:latin typeface="Times New Roman" panose="02040503050406030204" pitchFamily="18" charset="0"/>
                                <a:ea typeface="SimSun"/>
                                <a:cs typeface="Times New Roman"/>
                              </a:rPr>
                              <m:t>2</m:t>
                            </m:r>
                            <m:r>
                              <a:rPr lang="en-US" sz="1600" i="1">
                                <a:latin typeface="Times New Roman" panose="02040503050406030204" pitchFamily="18" charset="0"/>
                                <a:ea typeface="SimSun"/>
                                <a:cs typeface="Times New Roman"/>
                              </a:rPr>
                              <m:t>𝑅𝑒</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𝑑</m:t>
                                </m:r>
                              </m:e>
                              <m:sub>
                                <m:r>
                                  <a:rPr lang="en-US" sz="1600" i="1">
                                    <a:latin typeface="Times New Roman" panose="02040503050406030204" pitchFamily="18" charset="0"/>
                                    <a:ea typeface="SimSun"/>
                                    <a:cs typeface="Times New Roman"/>
                                  </a:rPr>
                                  <m:t>𝑒</m:t>
                                </m:r>
                              </m:sub>
                            </m:sSub>
                          </m:den>
                        </m:f>
                      </m:e>
                    </m:eqArr>
                  </m:oMath>
                </a14:m>
                <a:endParaRPr lang="en-US" sz="1600" dirty="0">
                  <a:latin typeface="Times New Roman" panose="020B0604020202020204" pitchFamily="34" charset="0"/>
                  <a:ea typeface="SimSun"/>
                  <a:cs typeface="Times New Roman" panose="020B0604020202020204" pitchFamily="34" charset="0"/>
                </a:endParaRPr>
              </a:p>
              <a:p>
                <a:pPr>
                  <a:lnSpc>
                    <a:spcPts val="3000"/>
                  </a:lnSpc>
                </a:pPr>
                <a:r>
                  <a:rPr lang="en-US" sz="1800" dirty="0">
                    <a:latin typeface="Times New Roman" panose="02020603050405020304" pitchFamily="18" charset="0"/>
                    <a:ea typeface="SimSun"/>
                    <a:cs typeface="Times New Roman" panose="02020603050405020304" pitchFamily="18" charset="0"/>
                  </a:rPr>
                  <a:t>Fan consumption: </a:t>
                </a:r>
                <a14:m>
                  <m:oMath xmlns:m="http://schemas.openxmlformats.org/officeDocument/2006/math">
                    <m:eqArr>
                      <m:eqArrPr>
                        <m:ctrlPr>
                          <a:rPr lang="en-HK" sz="1600" i="1">
                            <a:latin typeface="Times New Roman" panose="02040503050406030204" pitchFamily="18" charset="0"/>
                            <a:ea typeface="SimSun"/>
                            <a:cs typeface="Times New Roman"/>
                          </a:rPr>
                        </m:ctrlPr>
                      </m:eqArrPr>
                      <m:e>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𝑓𝑎𝑛</m:t>
                            </m:r>
                          </m:sub>
                        </m:sSub>
                        <m:r>
                          <a:rPr lang="en-US"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𝑄</m:t>
                            </m:r>
                            <m:r>
                              <a:rPr lang="en-HK"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num>
                          <m:den>
                            <m:r>
                              <a:rPr lang="en-US" sz="1600" i="1">
                                <a:latin typeface="Times New Roman" panose="02040503050406030204" pitchFamily="18" charset="0"/>
                                <a:ea typeface="SimSun"/>
                                <a:cs typeface="Times New Roman"/>
                              </a:rPr>
                              <m:t>3600×1000×</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𝜂</m:t>
                                </m:r>
                              </m:e>
                              <m:sub>
                                <m:r>
                                  <a:rPr lang="en-US" sz="1600" i="1">
                                    <a:latin typeface="Times New Roman" panose="02040503050406030204" pitchFamily="18" charset="0"/>
                                    <a:ea typeface="SimSun"/>
                                    <a:cs typeface="Times New Roman"/>
                                  </a:rPr>
                                  <m:t>0</m:t>
                                </m:r>
                              </m:sub>
                            </m:sSub>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𝜂</m:t>
                                </m:r>
                              </m:e>
                              <m:sub>
                                <m:r>
                                  <a:rPr lang="en-US" sz="1600" i="1">
                                    <a:latin typeface="Times New Roman" panose="02040503050406030204" pitchFamily="18" charset="0"/>
                                    <a:ea typeface="SimSun"/>
                                    <a:cs typeface="Times New Roman"/>
                                  </a:rPr>
                                  <m:t>1</m:t>
                                </m:r>
                              </m:sub>
                            </m:sSub>
                          </m:den>
                        </m:f>
                        <m:r>
                          <a:rPr lang="en-US" sz="1600" i="1">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𝐾</m:t>
                        </m:r>
                      </m:e>
                    </m:eqArr>
                  </m:oMath>
                </a14:m>
                <a:endParaRPr lang="en-US" sz="1600" dirty="0">
                  <a:latin typeface="Times New Roman" panose="020B0604020202020204" pitchFamily="34" charset="0"/>
                  <a:ea typeface="SimSun"/>
                  <a:cs typeface="Times New Roman" panose="020B0604020202020204" pitchFamily="34" charset="0"/>
                </a:endParaRPr>
              </a:p>
              <a:p>
                <a:pPr>
                  <a:lnSpc>
                    <a:spcPts val="3000"/>
                  </a:lnSpc>
                </a:pPr>
                <a:r>
                  <a:rPr lang="en-HK" sz="1800" dirty="0">
                    <a:latin typeface="Times New Roman" panose="02020603050405020304" pitchFamily="18" charset="0"/>
                    <a:ea typeface="SimSun"/>
                    <a:cs typeface="Times New Roman" panose="02020603050405020304" pitchFamily="18" charset="0"/>
                  </a:rPr>
                  <a:t>Pump consumption: </a:t>
                </a:r>
                <a14:m>
                  <m:oMath xmlns:m="http://schemas.openxmlformats.org/officeDocument/2006/math">
                    <m:eqArr>
                      <m:eqArrPr>
                        <m:ctrlPr>
                          <a:rPr lang="en-HK" sz="1400" i="1">
                            <a:latin typeface="Times New Roman" panose="02040503050406030204" pitchFamily="18" charset="0"/>
                            <a:ea typeface="SimSun"/>
                            <a:cs typeface="Times New Roman"/>
                          </a:rPr>
                        </m:ctrlPr>
                      </m:eqArr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𝑊</m:t>
                            </m:r>
                          </m:e>
                          <m:sub>
                            <m:r>
                              <a:rPr lang="en-US" sz="1400" i="1">
                                <a:latin typeface="Times New Roman" panose="02040503050406030204" pitchFamily="18" charset="0"/>
                                <a:ea typeface="SimSun"/>
                                <a:cs typeface="Times New Roman"/>
                              </a:rPr>
                              <m:t>𝑝𝑢𝑚𝑝</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𝑚</m:t>
                            </m:r>
                          </m:e>
                          <m:sub>
                            <m:r>
                              <a:rPr lang="en-US" sz="1400" i="1">
                                <a:latin typeface="Times New Roman" panose="02040503050406030204" pitchFamily="18" charset="0"/>
                                <a:ea typeface="SimSun"/>
                                <a:cs typeface="Times New Roman"/>
                              </a:rPr>
                              <m:t>𝑤</m:t>
                            </m:r>
                          </m:sub>
                        </m:sSub>
                        <m:r>
                          <a:rPr lang="en-US" sz="1400" i="1">
                            <a:latin typeface="Times New Roman" panose="02040503050406030204" pitchFamily="18" charset="0"/>
                            <a:ea typeface="SimSun"/>
                            <a:cs typeface="Times New Roman"/>
                          </a:rPr>
                          <m:t>𝑔</m:t>
                        </m:r>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𝑔𝑟𝑎𝑣𝑖𝑡𝑦</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𝑛𝑜𝑧𝑧𝑙𝑒𝑠</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𝑣𝑎𝑙𝑣𝑒𝑠</m:t>
                                </m:r>
                              </m:sub>
                            </m:sSub>
                          </m:e>
                        </m:d>
                        <m:r>
                          <a:rPr lang="en-HK" sz="1400" i="1">
                            <a:latin typeface="Times New Roman" panose="02040503050406030204" pitchFamily="18" charset="0"/>
                            <a:ea typeface="SimSun"/>
                            <a:cs typeface="Times New Roman"/>
                          </a:rPr>
                          <m:t>×</m:t>
                        </m:r>
                        <m:r>
                          <a:rPr lang="en-HK" sz="1400" i="1">
                            <a:latin typeface="Times New Roman" panose="02040503050406030204" pitchFamily="18" charset="0"/>
                            <a:ea typeface="SimSun"/>
                            <a:cs typeface="Times New Roman"/>
                          </a:rPr>
                          <m:t>𝐾</m:t>
                        </m:r>
                      </m:e>
                    </m:eqArr>
                  </m:oMath>
                </a14:m>
                <a:endParaRPr lang="en-HK" sz="1600" dirty="0">
                  <a:latin typeface="Times New Roman" panose="020B0604020202020204" pitchFamily="34" charset="0"/>
                  <a:ea typeface="SimSun"/>
                  <a:cs typeface="Times New Roman" panose="020B0604020202020204" pitchFamily="34" charset="0"/>
                </a:endParaRPr>
              </a:p>
              <a:p>
                <a:pPr>
                  <a:lnSpc>
                    <a:spcPts val="3000"/>
                  </a:lnSpc>
                </a:pPr>
                <a:r>
                  <a:rPr lang="en-HK" sz="1800" dirty="0">
                    <a:latin typeface="Times New Roman" panose="02020603050405020304" pitchFamily="18" charset="0"/>
                    <a:ea typeface="SimSun"/>
                    <a:cs typeface="Times New Roman" panose="02020603050405020304" pitchFamily="18" charset="0"/>
                  </a:rPr>
                  <a:t>The coefficient of performance: </a:t>
                </a:r>
                <a14:m>
                  <m:oMath xmlns:m="http://schemas.openxmlformats.org/officeDocument/2006/math">
                    <m:r>
                      <a:rPr lang="en-US" sz="1600" i="1">
                        <a:latin typeface="Times New Roman" panose="02040503050406030204" pitchFamily="18" charset="0"/>
                        <a:ea typeface="SimSun"/>
                        <a:cs typeface="Times New Roman"/>
                      </a:rPr>
                      <m:t>𝐶𝑂𝑃</m:t>
                    </m:r>
                    <m:r>
                      <a:rPr lang="en-US" sz="1600" i="1">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𝑄</m:t>
                            </m:r>
                          </m:e>
                          <m:sub>
                            <m:r>
                              <a:rPr lang="en-US" sz="1600" i="1">
                                <a:latin typeface="Times New Roman" panose="02040503050406030204" pitchFamily="18" charset="0"/>
                                <a:ea typeface="SimSun"/>
                                <a:cs typeface="Times New Roman"/>
                              </a:rPr>
                              <m:t>𝑝</m:t>
                            </m:r>
                          </m:sub>
                        </m:sSub>
                      </m:num>
                      <m:den>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𝑓𝑎𝑛</m:t>
                            </m:r>
                          </m:sub>
                        </m:sSub>
                        <m:r>
                          <a:rPr lang="en-US" sz="1600" i="1">
                            <a:latin typeface="Times New Roman" panose="02040503050406030204" pitchFamily="18" charset="0"/>
                            <a:ea typeface="SimSun"/>
                            <a:cs typeface="Times New Roman"/>
                          </a:rPr>
                          <m:t>+</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𝑊</m:t>
                            </m:r>
                          </m:e>
                          <m:sub>
                            <m:r>
                              <a:rPr lang="en-US" sz="1600" i="1">
                                <a:latin typeface="Times New Roman" panose="02040503050406030204" pitchFamily="18" charset="0"/>
                                <a:ea typeface="SimSun"/>
                                <a:cs typeface="Times New Roman"/>
                              </a:rPr>
                              <m:t>𝑝𝑢𝑚𝑝</m:t>
                            </m:r>
                          </m:sub>
                        </m:sSub>
                      </m:den>
                    </m:f>
                  </m:oMath>
                </a14:m>
                <a:endParaRPr lang="en-HK" sz="1600" dirty="0">
                  <a:latin typeface="Times New Roman" panose="020B0604020202020204" pitchFamily="34" charset="0"/>
                  <a:ea typeface="SimSun"/>
                  <a:cs typeface="Times New Roman" panose="020B0604020202020204" pitchFamily="34" charset="0"/>
                </a:endParaRPr>
              </a:p>
            </p:txBody>
          </p:sp>
        </mc:Choice>
        <mc:Fallback xmlns="">
          <p:sp>
            <p:nvSpPr>
              <p:cNvPr id="20" name="矩形 19">
                <a:extLst>
                  <a:ext uri="{FF2B5EF4-FFF2-40B4-BE49-F238E27FC236}">
                    <a16:creationId xmlns:a16="http://schemas.microsoft.com/office/drawing/2014/main" id="{76750317-A2D6-4907-9498-450E08BB728F}"/>
                  </a:ext>
                </a:extLst>
              </p:cNvPr>
              <p:cNvSpPr>
                <a:spLocks noRot="1" noChangeAspect="1" noMove="1" noResize="1" noEditPoints="1" noAdjustHandles="1" noChangeArrowheads="1" noChangeShapeType="1" noTextEdit="1"/>
              </p:cNvSpPr>
              <p:nvPr/>
            </p:nvSpPr>
            <p:spPr>
              <a:xfrm>
                <a:off x="6588015" y="1480628"/>
                <a:ext cx="3624838" cy="3205108"/>
              </a:xfrm>
              <a:prstGeom prst="rect">
                <a:avLst/>
              </a:prstGeom>
              <a:blipFill>
                <a:blip r:embed="rId11"/>
                <a:stretch>
                  <a:fillRect l="-1515" r="-7071"/>
                </a:stretch>
              </a:blipFill>
            </p:spPr>
            <p:txBody>
              <a:bodyPr/>
              <a:lstStyle/>
              <a:p>
                <a:r>
                  <a:rPr lang="en-US">
                    <a:noFill/>
                    <a:latin typeface="Times New Roman"/>
                    <a:ea typeface="SimSun"/>
                    <a:cs typeface="Times New Roman"/>
                  </a:rPr>
                  <a:t> </a:t>
                </a:r>
              </a:p>
            </p:txBody>
          </p:sp>
        </mc:Fallback>
      </mc:AlternateContent>
      <p:grpSp>
        <p:nvGrpSpPr>
          <p:cNvPr id="25" name="Original English content (proportional layout)"/>
          <p:cNvGrpSpPr/>
          <p:nvPr/>
        </p:nvGrpSpPr>
        <p:grpSpPr>
          <a:xfrm>
            <a:off x="1097280" y="731520"/>
            <a:ext cx="9997440" cy="5023714"/>
            <a:chOff x="0" y="731520"/>
            <a:chExt cx="12192000" cy="6126480"/>
          </a:xfrm>
        </p:grpSpPr>
        <p:sp>
          <p:nvSpPr>
            <p:cNvPr id="3" name="文本框 2">
              <a:extLst>
                <a:ext uri="{FF2B5EF4-FFF2-40B4-BE49-F238E27FC236}">
                  <a16:creationId xmlns:a16="http://schemas.microsoft.com/office/drawing/2014/main" id="{1E3251C6-9A89-4FAA-9B79-BD4DAD9F863F}"/>
                </a:ext>
              </a:extLst>
            </p:cNvPr>
            <p:cNvSpPr txBox="1"/>
            <p:nvPr/>
          </p:nvSpPr>
          <p:spPr>
            <a:xfrm>
              <a:off x="691176" y="933626"/>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3.4 Performance indexes</a:t>
              </a:r>
            </a:p>
          </p:txBody>
        </p:sp>
        <p:sp>
          <p:nvSpPr>
            <p:cNvPr id="10" name="矩形 9">
              <a:extLst>
                <a:ext uri="{FF2B5EF4-FFF2-40B4-BE49-F238E27FC236}">
                  <a16:creationId xmlns:a16="http://schemas.microsoft.com/office/drawing/2014/main" id="{E96617A6-5933-491A-A373-11ADE0AC5851}"/>
                </a:ext>
              </a:extLst>
            </p:cNvPr>
            <p:cNvSpPr/>
            <p:nvPr/>
          </p:nvSpPr>
          <p:spPr>
            <a:xfrm>
              <a:off x="6623004" y="4847944"/>
              <a:ext cx="4931887" cy="1354217"/>
            </a:xfrm>
            <a:prstGeom prst="rect">
              <a:avLst/>
            </a:prstGeom>
          </p:spPr>
          <p:txBody>
            <a:bodyPr wrap="square">
              <a:spAutoFit/>
            </a:bodyPr>
            <a:lstStyle/>
            <a:p>
              <a:pPr defTabSz="457200" eaLnBrk="1" fontAlgn="auto" hangingPunct="1">
                <a:spcBef>
                  <a:spcPts val="0"/>
                </a:spcBef>
                <a:spcAft>
                  <a:spcPts val="0"/>
                </a:spcAft>
              </a:pPr>
              <a:endParaRPr lang="en-US" sz="1476" dirty="0">
                <a:solidFill>
                  <a:prstClr val="black"/>
                </a:solidFill>
                <a:latin typeface="Times New Roman" panose="020B0604020202020204" pitchFamily="34" charset="0"/>
                <a:ea typeface="SimSun"/>
                <a:cs typeface="Times New Roman" panose="020B0604020202020204" pitchFamily="34" charset="0"/>
              </a:endParaRPr>
            </a:p>
            <a:p>
              <a:pPr defTabSz="457200" eaLnBrk="1" fontAlgn="auto" hangingPunct="1">
                <a:spcBef>
                  <a:spcPts val="0"/>
                </a:spcBef>
                <a:spcAft>
                  <a:spcPts val="0"/>
                </a:spcAft>
              </a:pPr>
              <a:r>
                <a:rPr lang="en-US" sz="1312" dirty="0">
                  <a:solidFill>
                    <a:prstClr val="black"/>
                  </a:solidFill>
                  <a:latin typeface="Times New Roman" panose="02020603050405020304" pitchFamily="18" charset="0"/>
                  <a:ea typeface="SimSun"/>
                  <a:cs typeface="Times New Roman" panose="02020603050405020304" pitchFamily="18" charset="0"/>
                </a:rPr>
                <a:t>Wet-bulb efficiency: </a:t>
              </a:r>
            </a:p>
            <a:p>
              <a:pPr defTabSz="457200" eaLnBrk="1" fontAlgn="auto" hangingPunct="1">
                <a:spcBef>
                  <a:spcPts val="0"/>
                </a:spcBef>
                <a:spcAft>
                  <a:spcPts val="0"/>
                </a:spcAft>
              </a:pPr>
              <a:endParaRPr lang="en-US" sz="1312" dirty="0">
                <a:solidFill>
                  <a:prstClr val="black"/>
                </a:solidFill>
                <a:latin typeface="Times New Roman" panose="02020603050405020304" pitchFamily="18" charset="0"/>
                <a:ea typeface="SimSun"/>
                <a:cs typeface="Times New Roman" panose="02020603050405020304" pitchFamily="18" charset="0"/>
              </a:endParaRPr>
            </a:p>
            <a:p>
              <a:pPr defTabSz="457200" eaLnBrk="1" fontAlgn="auto" hangingPunct="1">
                <a:spcBef>
                  <a:spcPts val="0"/>
                </a:spcBef>
                <a:spcAft>
                  <a:spcPts val="0"/>
                </a:spcAft>
              </a:pPr>
              <a:r>
                <a:rPr lang="en-HK" sz="1312" dirty="0">
                  <a:solidFill>
                    <a:prstClr val="black"/>
                  </a:solidFill>
                  <a:latin typeface="Times New Roman" panose="02020603050405020304" pitchFamily="18" charset="0"/>
                  <a:ea typeface="SimSun"/>
                  <a:cs typeface="Times New Roman" panose="02020603050405020304" pitchFamily="18" charset="0"/>
                </a:rPr>
                <a:t>Cooling capacity:</a:t>
              </a:r>
            </a:p>
            <a:p>
              <a:pPr defTabSz="457200" eaLnBrk="1" fontAlgn="auto" hangingPunct="1">
                <a:spcBef>
                  <a:spcPts val="0"/>
                </a:spcBef>
                <a:spcAft>
                  <a:spcPts val="0"/>
                </a:spcAft>
              </a:pPr>
              <a:endParaRPr lang="en-HK" sz="1312" dirty="0">
                <a:solidFill>
                  <a:prstClr val="black"/>
                </a:solidFill>
                <a:latin typeface="Times New Roman" panose="020B0604020202020204" pitchFamily="34" charset="0"/>
                <a:ea typeface="SimSun"/>
                <a:cs typeface="Times New Roman" panose="020B0604020202020204" pitchFamily="34" charset="0"/>
              </a:endParaRPr>
            </a:p>
          </p:txBody>
        </p:sp>
        <p:sp>
          <p:nvSpPr>
            <p:cNvPr id="11" name="矩形: 圆角 10">
              <a:extLst>
                <a:ext uri="{FF2B5EF4-FFF2-40B4-BE49-F238E27FC236}">
                  <a16:creationId xmlns:a16="http://schemas.microsoft.com/office/drawing/2014/main" id="{8B347E6B-7A7E-48C2-9DC4-433797CC6B6F}"/>
                </a:ext>
              </a:extLst>
            </p:cNvPr>
            <p:cNvSpPr/>
            <p:nvPr/>
          </p:nvSpPr>
          <p:spPr bwMode="auto">
            <a:xfrm>
              <a:off x="1380629" y="1379461"/>
              <a:ext cx="4489037" cy="1872564"/>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17" name="矩形: 圆角 16">
              <a:extLst>
                <a:ext uri="{FF2B5EF4-FFF2-40B4-BE49-F238E27FC236}">
                  <a16:creationId xmlns:a16="http://schemas.microsoft.com/office/drawing/2014/main" id="{7B205D15-E9F6-4A81-912A-2A763F7787D2}"/>
                </a:ext>
              </a:extLst>
            </p:cNvPr>
            <p:cNvSpPr/>
            <p:nvPr/>
          </p:nvSpPr>
          <p:spPr bwMode="auto">
            <a:xfrm>
              <a:off x="1380629" y="3504278"/>
              <a:ext cx="4489037" cy="3134092"/>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19" name="矩形 18">
              <a:extLst>
                <a:ext uri="{FF2B5EF4-FFF2-40B4-BE49-F238E27FC236}">
                  <a16:creationId xmlns:a16="http://schemas.microsoft.com/office/drawing/2014/main" id="{1F6334B0-7C24-414B-B40A-8C4940EF649A}"/>
                </a:ext>
              </a:extLst>
            </p:cNvPr>
            <p:cNvSpPr/>
            <p:nvPr/>
          </p:nvSpPr>
          <p:spPr bwMode="auto">
            <a:xfrm>
              <a:off x="6654594" y="2718826"/>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dirty="0">
                <a:ln>
                  <a:noFill/>
                </a:ln>
                <a:solidFill>
                  <a:schemeClr val="bg2"/>
                </a:solidFill>
                <a:effectLst/>
                <a:latin typeface="Times New Roman" charset="0"/>
                <a:ea typeface="SimSun"/>
                <a:cs typeface="Times New Roman"/>
              </a:endParaRPr>
            </a:p>
          </p:txBody>
        </p:sp>
        <p:sp>
          <p:nvSpPr>
            <p:cNvPr id="21" name="矩形: 圆角 20">
              <a:extLst>
                <a:ext uri="{FF2B5EF4-FFF2-40B4-BE49-F238E27FC236}">
                  <a16:creationId xmlns:a16="http://schemas.microsoft.com/office/drawing/2014/main" id="{1309ED2F-F544-47BC-99F1-90A1AA32B9A2}"/>
                </a:ext>
              </a:extLst>
            </p:cNvPr>
            <p:cNvSpPr/>
            <p:nvPr/>
          </p:nvSpPr>
          <p:spPr bwMode="auto">
            <a:xfrm>
              <a:off x="6161185" y="1379460"/>
              <a:ext cx="4483767" cy="5258909"/>
            </a:xfrm>
            <a:prstGeom prst="roundRect">
              <a:avLst/>
            </a:prstGeom>
            <a:noFill/>
            <a:ln>
              <a:solidFill>
                <a:srgbClr val="AF1E3B"/>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22" name="矩形 21">
              <a:extLst>
                <a:ext uri="{FF2B5EF4-FFF2-40B4-BE49-F238E27FC236}">
                  <a16:creationId xmlns:a16="http://schemas.microsoft.com/office/drawing/2014/main" id="{152E01CA-34F4-4696-9F96-5062403B90C1}"/>
                </a:ext>
              </a:extLst>
            </p:cNvPr>
            <p:cNvSpPr/>
            <p:nvPr/>
          </p:nvSpPr>
          <p:spPr bwMode="auto">
            <a:xfrm>
              <a:off x="6684575" y="3572510"/>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dirty="0">
                <a:ln>
                  <a:noFill/>
                </a:ln>
                <a:solidFill>
                  <a:schemeClr val="bg2"/>
                </a:solidFill>
                <a:effectLst/>
                <a:latin typeface="Times New Roman" charset="0"/>
                <a:ea typeface="SimSun"/>
                <a:cs typeface="Times New Roman"/>
              </a:endParaRPr>
            </a:p>
          </p:txBody>
        </p:sp>
        <p:sp>
          <p:nvSpPr>
            <p:cNvPr id="23" name="矩形 22">
              <a:extLst>
                <a:ext uri="{FF2B5EF4-FFF2-40B4-BE49-F238E27FC236}">
                  <a16:creationId xmlns:a16="http://schemas.microsoft.com/office/drawing/2014/main" id="{D801FA2E-E0E2-4767-BA62-A384CE395DA4}"/>
                </a:ext>
              </a:extLst>
            </p:cNvPr>
            <p:cNvSpPr/>
            <p:nvPr/>
          </p:nvSpPr>
          <p:spPr bwMode="auto">
            <a:xfrm>
              <a:off x="7260754" y="4408830"/>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dirty="0">
                <a:ln>
                  <a:noFill/>
                </a:ln>
                <a:solidFill>
                  <a:schemeClr val="bg2"/>
                </a:solidFill>
                <a:effectLst/>
                <a:latin typeface="Times New Roman" charset="0"/>
                <a:ea typeface="SimSun"/>
                <a:cs typeface="Times New Roman"/>
              </a:endParaRPr>
            </a:p>
          </p:txBody>
        </p:sp>
        <p:sp>
          <p:nvSpPr>
            <p:cNvPr id="24" name="矩形 23">
              <a:extLst>
                <a:ext uri="{FF2B5EF4-FFF2-40B4-BE49-F238E27FC236}">
                  <a16:creationId xmlns:a16="http://schemas.microsoft.com/office/drawing/2014/main" id="{4710880B-9F98-4084-86BF-2923D8B1AE9F}"/>
                </a:ext>
              </a:extLst>
            </p:cNvPr>
            <p:cNvSpPr/>
            <p:nvPr/>
          </p:nvSpPr>
          <p:spPr bwMode="auto">
            <a:xfrm>
              <a:off x="7852006" y="4412333"/>
              <a:ext cx="507389" cy="332117"/>
            </a:xfrm>
            <a:prstGeom prst="rect">
              <a:avLst/>
            </a:prstGeom>
            <a:solidFill>
              <a:srgbClr val="AF1E3B">
                <a:alpha val="35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dirty="0">
                <a:ln>
                  <a:noFill/>
                </a:ln>
                <a:solidFill>
                  <a:schemeClr val="bg2"/>
                </a:solidFill>
                <a:effectLst/>
                <a:latin typeface="Times New Roman" charset="0"/>
                <a:ea typeface="SimSun"/>
                <a:cs typeface="Times New Roman"/>
              </a:endParaRPr>
            </a:p>
          </p:txBody>
        </p:sp>
      </p:grpSp>
      <p:sp>
        <p:nvSpPr>
          <p:cNvPr id="26"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中文要点｜性能评价指标</a:t>
            </a:r>
          </a:p>
          <a:p>
            <a:pPr>
              <a:lnSpc>
                <a:spcPct val="108000"/>
              </a:lnSpc>
              <a:spcAft>
                <a:spcPts val="0"/>
              </a:spcAft>
            </a:pPr>
            <a:r>
              <a:rPr sz="1400" b="0">
                <a:solidFill>
                  <a:srgbClr val="282828"/>
                </a:solidFill>
                <a:latin typeface="Times New Roman"/>
                <a:ea typeface="SimSun"/>
                <a:cs typeface="Times New Roman"/>
              </a:rPr>
              <a:t>采用湿球效率和制冷量等指标，评价喷淋优化对 IEC 热湿处理能力与运行性能的影响。</a:t>
            </a:r>
          </a:p>
        </p:txBody>
      </p:sp>
    </p:spTree>
    <p:extLst>
      <p:ext uri="{BB962C8B-B14F-4D97-AF65-F5344CB8AC3E}">
        <p14:creationId xmlns:p14="http://schemas.microsoft.com/office/powerpoint/2010/main" val="327238580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2897123-5B2E-44C6-9546-F002E9796C0F}"/>
                  </a:ext>
                </a:extLst>
              </p:cNvPr>
              <p:cNvSpPr/>
              <p:nvPr/>
            </p:nvSpPr>
            <p:spPr>
              <a:xfrm>
                <a:off x="4005559" y="2222442"/>
                <a:ext cx="1308307" cy="558614"/>
              </a:xfrm>
              <a:prstGeom prst="rect">
                <a:avLst/>
              </a:prstGeom>
            </p:spPr>
            <p:txBody>
              <a:bodyPr wrap="none">
                <a:spAutoFit/>
              </a:bodyPr>
              <a:lstStyle/>
              <a:p>
                <a:pPr defTabSz="457200" eaLnBrk="1" fontAlgn="auto" hangingPunct="1">
                  <a:spcBef>
                    <a:spcPts val="0"/>
                  </a:spcBef>
                  <a:spcAft>
                    <a:spcPts val="0"/>
                  </a:spcAft>
                </a:pPr>
                <a14:m>
                  <m:oMathPara xmlns:m="http://schemas.openxmlformats.org/officeDocument/2006/math">
                    <m:oMath>
                      <m:r>
                        <m:rPr>
                          <m:sty m:val="p"/>
                        </m:rP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Γ</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m:t>
                      </m:r>
                      <m:f>
                        <m:f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fPr>
                        <m:num>
                          <m:sSub>
                            <m:sSubPr>
                              <m:ctrlPr>
                                <a:rPr lang="en-HK"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acc>
                                <m:accPr>
                                  <m:chr m:val="̇"/>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acc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𝑚</m:t>
                                  </m:r>
                                </m:e>
                              </m:acc>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𝑤</m:t>
                              </m:r>
                            </m:sub>
                          </m:sSub>
                        </m:num>
                        <m:den>
                          <m:d>
                            <m:d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d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𝑛</m:t>
                              </m:r>
                              <m:r>
                                <a:rPr lang="en-US" sz="1400">
                                  <a:solidFill>
                                    <a:prstClr val="black"/>
                                  </a:solidFill>
                                  <a:latin typeface="Times New Roman" panose="02040503050406030204" pitchFamily="18" charset="0"/>
                                  <a:ea typeface="SimSun" panose="02010600030101010101" pitchFamily="2" charset="-122"/>
                                  <a:cs typeface="Times New Roman" panose="02020603050405020304" pitchFamily="18" charset="0"/>
                                </a:rPr>
                                <m:t>+1</m:t>
                              </m:r>
                            </m:e>
                          </m:d>
                          <m:sSub>
                            <m:sSubPr>
                              <m:ctrlP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ctrlPr>
                            </m:sSubPr>
                            <m:e>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𝐿</m:t>
                              </m:r>
                            </m:e>
                            <m:sub>
                              <m:r>
                                <a:rPr lang="en-US" sz="1400" i="1">
                                  <a:solidFill>
                                    <a:prstClr val="black"/>
                                  </a:solidFill>
                                  <a:latin typeface="Times New Roman" panose="02040503050406030204" pitchFamily="18" charset="0"/>
                                  <a:ea typeface="SimSun" panose="02010600030101010101" pitchFamily="2" charset="-122"/>
                                  <a:cs typeface="Times New Roman" panose="02020603050405020304" pitchFamily="18" charset="0"/>
                                </a:rPr>
                                <m:t>𝑓</m:t>
                              </m:r>
                            </m:sub>
                          </m:sSub>
                        </m:den>
                      </m:f>
                    </m:oMath>
                  </m:oMathPara>
                </a14:m>
                <a:endParaRPr lang="en-HK" sz="1400" dirty="0">
                  <a:solidFill>
                    <a:prstClr val="black"/>
                  </a:solidFill>
                  <a:latin typeface="Times New Roman" panose="020F0502020204030204"/>
                  <a:ea typeface="SimSun"/>
                  <a:cs typeface="Times New Roman"/>
                </a:endParaRPr>
              </a:p>
            </p:txBody>
          </p:sp>
        </mc:Choice>
        <mc:Fallback xmlns="">
          <p:sp>
            <p:nvSpPr>
              <p:cNvPr id="8" name="矩形 7">
                <a:extLst>
                  <a:ext uri="{FF2B5EF4-FFF2-40B4-BE49-F238E27FC236}">
                    <a16:creationId xmlns:a16="http://schemas.microsoft.com/office/drawing/2014/main" id="{C2897123-5B2E-44C6-9546-F002E9796C0F}"/>
                  </a:ext>
                </a:extLst>
              </p:cNvPr>
              <p:cNvSpPr>
                <a:spLocks noRot="1" noChangeAspect="1" noMove="1" noResize="1" noEditPoints="1" noAdjustHandles="1" noChangeArrowheads="1" noChangeShapeType="1" noTextEdit="1"/>
              </p:cNvSpPr>
              <p:nvPr/>
            </p:nvSpPr>
            <p:spPr>
              <a:xfrm>
                <a:off x="4005559" y="2222442"/>
                <a:ext cx="1308307" cy="558614"/>
              </a:xfrm>
              <a:prstGeom prst="rect">
                <a:avLst/>
              </a:prstGeom>
              <a:blipFill>
                <a:blip r:embed="rId4"/>
                <a:stretch>
                  <a:fillRect b="-1099"/>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C2A57EB6-2B08-4E86-ADC5-FFFA37F5EED7}"/>
              </a:ext>
            </a:extLst>
          </p:cNvPr>
          <p:cNvSpPr>
            <a:spLocks noGrp="1"/>
          </p:cNvSpPr>
          <p:nvPr>
            <p:ph type="sldNum" sz="quarter" idx="12"/>
          </p:nvPr>
        </p:nvSpPr>
        <p:spPr>
          <a:xfrm>
            <a:off x="9266034" y="6400801"/>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21</a:t>
            </a:fld>
            <a:endParaRPr lang="en-US" altLang="zh-CN" dirty="0">
              <a:latin typeface="Times New Roman"/>
              <a:ea typeface="SimSun"/>
              <a:cs typeface="Times New Roman"/>
            </a:endParaRPr>
          </a:p>
        </p:txBody>
      </p:sp>
      <p:sp>
        <p:nvSpPr>
          <p:cNvPr id="19" name="矩形 3">
            <a:extLst>
              <a:ext uri="{FF2B5EF4-FFF2-40B4-BE49-F238E27FC236}">
                <a16:creationId xmlns:a16="http://schemas.microsoft.com/office/drawing/2014/main" id="{E071AB9A-85B9-46D9-AA9C-40C228DBDA04}"/>
              </a:ext>
            </a:extLst>
          </p:cNvPr>
          <p:cNvSpPr>
            <a:spLocks noChangeArrowheads="1"/>
          </p:cNvSpPr>
          <p:nvPr/>
        </p:nvSpPr>
        <p:spPr bwMode="auto">
          <a:xfrm>
            <a:off x="864013" y="-22029"/>
            <a:ext cx="10813218"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sp>
        <p:nvSpPr>
          <p:cNvPr id="14" name="Rectangle 2">
            <a:extLst>
              <a:ext uri="{FF2B5EF4-FFF2-40B4-BE49-F238E27FC236}">
                <a16:creationId xmlns:a16="http://schemas.microsoft.com/office/drawing/2014/main" id="{3E98F2FE-7A59-425D-B694-FD31049822E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1" name="Rectangle 4">
            <a:extLst>
              <a:ext uri="{FF2B5EF4-FFF2-40B4-BE49-F238E27FC236}">
                <a16:creationId xmlns:a16="http://schemas.microsoft.com/office/drawing/2014/main" id="{C6F8DE7B-769F-40B8-8AF9-1F5EE5343E6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pSp>
        <p:nvGrpSpPr>
          <p:cNvPr id="23" name="Original English content (proportional layout)"/>
          <p:cNvGrpSpPr/>
          <p:nvPr/>
        </p:nvGrpSpPr>
        <p:grpSpPr>
          <a:xfrm>
            <a:off x="1097280" y="731520"/>
            <a:ext cx="9997440" cy="5023714"/>
            <a:chOff x="0" y="731520"/>
            <a:chExt cx="12192000" cy="6126480"/>
          </a:xfrm>
        </p:grpSpPr>
        <p:sp>
          <p:nvSpPr>
            <p:cNvPr id="4" name="文本框 3">
              <a:extLst>
                <a:ext uri="{FF2B5EF4-FFF2-40B4-BE49-F238E27FC236}">
                  <a16:creationId xmlns:a16="http://schemas.microsoft.com/office/drawing/2014/main" id="{78588B8E-16A1-4E8F-A642-ED148466DEEA}"/>
                </a:ext>
              </a:extLst>
            </p:cNvPr>
            <p:cNvSpPr txBox="1"/>
            <p:nvPr/>
          </p:nvSpPr>
          <p:spPr>
            <a:xfrm>
              <a:off x="1303238" y="1383274"/>
              <a:ext cx="6428532"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3.5.1 </a:t>
              </a:r>
              <a:r>
                <a:rPr lang="en-HK" altLang="zh-CN" sz="1476"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water density and wettability in channels</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5" name="矩形 4">
              <a:extLst>
                <a:ext uri="{FF2B5EF4-FFF2-40B4-BE49-F238E27FC236}">
                  <a16:creationId xmlns:a16="http://schemas.microsoft.com/office/drawing/2014/main" id="{9568EE4D-6AB2-499B-ABF8-7E00C95A3C08}"/>
                </a:ext>
              </a:extLst>
            </p:cNvPr>
            <p:cNvSpPr/>
            <p:nvPr/>
          </p:nvSpPr>
          <p:spPr>
            <a:xfrm>
              <a:off x="1536432" y="1842407"/>
              <a:ext cx="2981072"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Water density modification</a:t>
              </a:r>
            </a:p>
          </p:txBody>
        </p:sp>
        <p:sp>
          <p:nvSpPr>
            <p:cNvPr id="7" name="矩形 6">
              <a:extLst>
                <a:ext uri="{FF2B5EF4-FFF2-40B4-BE49-F238E27FC236}">
                  <a16:creationId xmlns:a16="http://schemas.microsoft.com/office/drawing/2014/main" id="{FB7567DF-D2B5-4E92-83AE-DA5F85BA1736}"/>
                </a:ext>
              </a:extLst>
            </p:cNvPr>
            <p:cNvSpPr/>
            <p:nvPr/>
          </p:nvSpPr>
          <p:spPr>
            <a:xfrm>
              <a:off x="1687913" y="2328195"/>
              <a:ext cx="2392001" cy="338554"/>
            </a:xfrm>
            <a:prstGeom prst="rect">
              <a:avLst/>
            </a:prstGeom>
          </p:spPr>
          <p:txBody>
            <a:bodyPr wrap="none">
              <a:spAutoFit/>
            </a:bodyPr>
            <a:lstStyle/>
            <a:p>
              <a:pPr defTabSz="457200" eaLnBrk="1" fontAlgn="auto" hangingPunct="1">
                <a:spcBef>
                  <a:spcPts val="0"/>
                </a:spcBef>
                <a:spcAft>
                  <a:spcPts val="0"/>
                </a:spcAft>
              </a:pPr>
              <a:r>
                <a:rPr lang="en-US" sz="1312" dirty="0">
                  <a:solidFill>
                    <a:prstClr val="black"/>
                  </a:solidFill>
                  <a:latin typeface="Times New Roman" panose="02020603050405020304" pitchFamily="18" charset="0"/>
                  <a:ea typeface="SimSun"/>
                  <a:cs typeface="Times New Roman" panose="02020603050405020304" pitchFamily="18" charset="0"/>
                </a:rPr>
                <a:t>Original spraying density</a:t>
              </a:r>
              <a:r>
                <a:rPr lang="en-US" sz="1312" dirty="0">
                  <a:solidFill>
                    <a:prstClr val="black"/>
                  </a:solidFill>
                  <a:latin typeface="Times New Roman" panose="020B0604020202020204" pitchFamily="34" charset="0"/>
                  <a:ea typeface="SimSun"/>
                  <a:cs typeface="Times New Roman" panose="020B0604020202020204" pitchFamily="34" charset="0"/>
                </a:rPr>
                <a:t>: </a:t>
              </a:r>
            </a:p>
          </p:txBody>
        </p:sp>
        <p:sp>
          <p:nvSpPr>
            <p:cNvPr id="10" name="矩形 9">
              <a:extLst>
                <a:ext uri="{FF2B5EF4-FFF2-40B4-BE49-F238E27FC236}">
                  <a16:creationId xmlns:a16="http://schemas.microsoft.com/office/drawing/2014/main" id="{365A11DE-7118-406B-9E8D-65F063DDD022}"/>
                </a:ext>
              </a:extLst>
            </p:cNvPr>
            <p:cNvSpPr/>
            <p:nvPr/>
          </p:nvSpPr>
          <p:spPr>
            <a:xfrm>
              <a:off x="1816589" y="6031469"/>
              <a:ext cx="1473480" cy="369332"/>
            </a:xfrm>
            <a:prstGeom prst="rect">
              <a:avLst/>
            </a:prstGeom>
          </p:spPr>
          <p:txBody>
            <a:bodyPr wrap="none">
              <a:spAutoFit/>
            </a:bodyPr>
            <a:lstStyle/>
            <a:p>
              <a:pPr defTabSz="457200" eaLnBrk="1" fontAlgn="auto" hangingPunct="1">
                <a:spcBef>
                  <a:spcPts val="0"/>
                </a:spcBef>
                <a:spcAft>
                  <a:spcPts val="0"/>
                </a:spcAft>
              </a:pPr>
              <a:r>
                <a:rPr lang="en-US" sz="1476" dirty="0">
                  <a:solidFill>
                    <a:prstClr val="black"/>
                  </a:solidFill>
                  <a:latin typeface="Times New Roman" panose="02020603050405020304" pitchFamily="18" charset="0"/>
                  <a:ea typeface="SimSun"/>
                  <a:cs typeface="Times New Roman" panose="02020603050405020304" pitchFamily="18" charset="0"/>
                </a:rPr>
                <a:t>Ideal scenario</a:t>
              </a:r>
            </a:p>
          </p:txBody>
        </p:sp>
        <p:sp>
          <p:nvSpPr>
            <p:cNvPr id="11" name="矩形 10">
              <a:extLst>
                <a:ext uri="{FF2B5EF4-FFF2-40B4-BE49-F238E27FC236}">
                  <a16:creationId xmlns:a16="http://schemas.microsoft.com/office/drawing/2014/main" id="{35BBD14C-4AD1-4782-A85F-6A33F5323102}"/>
                </a:ext>
              </a:extLst>
            </p:cNvPr>
            <p:cNvSpPr/>
            <p:nvPr/>
          </p:nvSpPr>
          <p:spPr>
            <a:xfrm>
              <a:off x="5355892" y="6031469"/>
              <a:ext cx="1678665" cy="369332"/>
            </a:xfrm>
            <a:prstGeom prst="rect">
              <a:avLst/>
            </a:prstGeom>
          </p:spPr>
          <p:txBody>
            <a:bodyPr wrap="none">
              <a:spAutoFit/>
            </a:bodyPr>
            <a:lstStyle/>
            <a:p>
              <a:pPr defTabSz="457200" eaLnBrk="1" fontAlgn="auto" hangingPunct="1">
                <a:spcBef>
                  <a:spcPts val="0"/>
                </a:spcBef>
                <a:spcAft>
                  <a:spcPts val="0"/>
                </a:spcAft>
              </a:pPr>
              <a:r>
                <a:rPr lang="en-US" sz="1476" dirty="0">
                  <a:solidFill>
                    <a:prstClr val="black"/>
                  </a:solidFill>
                  <a:latin typeface="Times New Roman" panose="02020603050405020304" pitchFamily="18" charset="0"/>
                  <a:ea typeface="SimSun"/>
                  <a:cs typeface="Times New Roman" panose="02020603050405020304" pitchFamily="18" charset="0"/>
                </a:rPr>
                <a:t>Reality scenario</a:t>
              </a:r>
            </a:p>
          </p:txBody>
        </p:sp>
        <p:pic>
          <p:nvPicPr>
            <p:cNvPr id="12" name="图片 11">
              <a:extLst>
                <a:ext uri="{FF2B5EF4-FFF2-40B4-BE49-F238E27FC236}">
                  <a16:creationId xmlns:a16="http://schemas.microsoft.com/office/drawing/2014/main" id="{360BD3B8-8AB3-43AF-AD63-7422515FA9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5165" y="2858179"/>
              <a:ext cx="3562356" cy="2048112"/>
            </a:xfrm>
            <a:prstGeom prst="rect">
              <a:avLst/>
            </a:prstGeom>
          </p:spPr>
        </p:pic>
        <p:sp>
          <p:nvSpPr>
            <p:cNvPr id="13" name="椭圆 12">
              <a:extLst>
                <a:ext uri="{FF2B5EF4-FFF2-40B4-BE49-F238E27FC236}">
                  <a16:creationId xmlns:a16="http://schemas.microsoft.com/office/drawing/2014/main" id="{2A9E1777-AA53-4FF1-A2B3-EB091B6898E2}"/>
                </a:ext>
              </a:extLst>
            </p:cNvPr>
            <p:cNvSpPr/>
            <p:nvPr/>
          </p:nvSpPr>
          <p:spPr>
            <a:xfrm>
              <a:off x="9003387" y="3617747"/>
              <a:ext cx="262647" cy="340468"/>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latin typeface="Times New Roman"/>
                  <a:ea typeface="SimSun"/>
                  <a:cs typeface="Times New Roman"/>
                </a:defRPr>
              </a:pPr>
              <a:endParaRPr lang="en-HK" sz="1476" kern="0">
                <a:solidFill>
                  <a:prstClr val="white"/>
                </a:solidFill>
                <a:latin typeface="Times New Roman" panose="020F0502020204030204"/>
                <a:ea typeface="SimSun"/>
                <a:cs typeface="Times New Roman"/>
              </a:endParaRPr>
            </a:p>
          </p:txBody>
        </p:sp>
        <p:sp>
          <p:nvSpPr>
            <p:cNvPr id="17" name="矩形 16">
              <a:extLst>
                <a:ext uri="{FF2B5EF4-FFF2-40B4-BE49-F238E27FC236}">
                  <a16:creationId xmlns:a16="http://schemas.microsoft.com/office/drawing/2014/main" id="{9B191E51-CD88-4DD4-A748-84FCFC12D6A3}"/>
                </a:ext>
              </a:extLst>
            </p:cNvPr>
            <p:cNvSpPr/>
            <p:nvPr/>
          </p:nvSpPr>
          <p:spPr>
            <a:xfrm>
              <a:off x="8834234" y="5113545"/>
              <a:ext cx="3654907" cy="461665"/>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3.5.1 </a:t>
              </a:r>
              <a:r>
                <a:rPr lang="en-HK" sz="984" dirty="0">
                  <a:solidFill>
                    <a:prstClr val="black"/>
                  </a:solidFill>
                  <a:latin typeface="Times New Roman" panose="02020603050405020304" pitchFamily="18" charset="0"/>
                  <a:ea typeface="SimSun"/>
                  <a:cs typeface="Times New Roman" panose="02020603050405020304" pitchFamily="18" charset="0"/>
                </a:rPr>
                <a:t>H</a:t>
              </a:r>
              <a:r>
                <a:rPr lang="en-US" altLang="zh-CN" sz="984"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eat and mass </a:t>
              </a:r>
              <a:r>
                <a:rPr lang="en-HK" sz="984" dirty="0">
                  <a:solidFill>
                    <a:prstClr val="black"/>
                  </a:solidFill>
                  <a:latin typeface="Times New Roman" panose="02020603050405020304" pitchFamily="18" charset="0"/>
                  <a:ea typeface="SimSun"/>
                  <a:cs typeface="Times New Roman" panose="02020603050405020304" pitchFamily="18" charset="0"/>
                </a:rPr>
                <a:t>transfer of the </a:t>
              </a:r>
            </a:p>
            <a:p>
              <a:pPr defTabSz="457200" eaLnBrk="1" fontAlgn="auto" hangingPunct="1">
                <a:spcBef>
                  <a:spcPts val="0"/>
                </a:spcBef>
                <a:spcAft>
                  <a:spcPts val="0"/>
                </a:spcAft>
              </a:pPr>
              <a:r>
                <a:rPr lang="en-HK" sz="984" dirty="0">
                  <a:solidFill>
                    <a:prstClr val="black"/>
                  </a:solidFill>
                  <a:latin typeface="Times New Roman" panose="02020603050405020304" pitchFamily="18" charset="0"/>
                  <a:ea typeface="SimSun"/>
                  <a:cs typeface="Times New Roman" panose="02020603050405020304" pitchFamily="18" charset="0"/>
                </a:rPr>
                <a:t>            secondary air flow channel</a:t>
              </a:r>
            </a:p>
          </p:txBody>
        </p:sp>
        <p:sp>
          <p:nvSpPr>
            <p:cNvPr id="15" name="文本框 14">
              <a:extLst>
                <a:ext uri="{FF2B5EF4-FFF2-40B4-BE49-F238E27FC236}">
                  <a16:creationId xmlns:a16="http://schemas.microsoft.com/office/drawing/2014/main" id="{8395D8DC-FC62-4460-9702-9D690491332B}"/>
                </a:ext>
              </a:extLst>
            </p:cNvPr>
            <p:cNvSpPr txBox="1"/>
            <p:nvPr/>
          </p:nvSpPr>
          <p:spPr>
            <a:xfrm>
              <a:off x="700824" y="1013942"/>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3.5 Results and discussions</a:t>
              </a:r>
            </a:p>
          </p:txBody>
        </p:sp>
        <p:graphicFrame>
          <p:nvGraphicFramePr>
            <p:cNvPr id="20" name="对象 19">
              <a:extLst>
                <a:ext uri="{FF2B5EF4-FFF2-40B4-BE49-F238E27FC236}">
                  <a16:creationId xmlns:a16="http://schemas.microsoft.com/office/drawing/2014/main" id="{8418C967-C800-4B36-B473-179EB889762C}"/>
                </a:ext>
              </a:extLst>
            </p:cNvPr>
            <p:cNvGraphicFramePr>
              <a:graphicFrameLocks noChangeAspect="1"/>
            </p:cNvGraphicFramePr>
            <p:nvPr/>
          </p:nvGraphicFramePr>
          <p:xfrm>
            <a:off x="419100" y="2816725"/>
            <a:ext cx="3853356" cy="3214992"/>
          </p:xfrm>
          <a:graphic>
            <a:graphicData uri="http://schemas.openxmlformats.org/presentationml/2006/ole">
              <mc:AlternateContent xmlns:mc="http://schemas.openxmlformats.org/markup-compatibility/2006">
                <mc:Choice xmlns:v="urn:schemas-microsoft-com:vml" Requires="v">
                  <p:oleObj name="Graph" r:id="rId6" imgW="6384906" imgH="5420971" progId="Origin50.Graph">
                    <p:embed/>
                  </p:oleObj>
                </mc:Choice>
                <mc:Fallback>
                  <p:oleObj name="Graph" r:id="rId6" imgW="6384906" imgH="5420971" progId="Origin50.Graph">
                    <p:embed/>
                    <p:pic>
                      <p:nvPicPr>
                        <p:cNvPr id="20" name="对象 19">
                          <a:extLst>
                            <a:ext uri="{FF2B5EF4-FFF2-40B4-BE49-F238E27FC236}">
                              <a16:creationId xmlns:a16="http://schemas.microsoft.com/office/drawing/2014/main" id="{8418C967-C800-4B36-B473-179EB88976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 y="2816725"/>
                          <a:ext cx="3853356" cy="3214992"/>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AB3C3E67-99AF-4D54-A704-013D219F90A2}"/>
                </a:ext>
              </a:extLst>
            </p:cNvPr>
            <p:cNvGraphicFramePr>
              <a:graphicFrameLocks noChangeAspect="1"/>
            </p:cNvGraphicFramePr>
            <p:nvPr/>
          </p:nvGraphicFramePr>
          <p:xfrm>
            <a:off x="4225647" y="2921176"/>
            <a:ext cx="3575327" cy="3073921"/>
          </p:xfrm>
          <a:graphic>
            <a:graphicData uri="http://schemas.openxmlformats.org/presentationml/2006/ole">
              <mc:AlternateContent xmlns:mc="http://schemas.openxmlformats.org/markup-compatibility/2006">
                <mc:Choice xmlns:v="urn:schemas-microsoft-com:vml" Requires="v">
                  <p:oleObj name="Graph" r:id="rId8" imgW="6107567" imgH="5282235" progId="Origin50.Graph">
                    <p:embed/>
                  </p:oleObj>
                </mc:Choice>
                <mc:Fallback>
                  <p:oleObj name="Graph" r:id="rId8" imgW="6107567" imgH="5282235" progId="Origin50.Graph">
                    <p:embed/>
                    <p:pic>
                      <p:nvPicPr>
                        <p:cNvPr id="22" name="对象 21">
                          <a:extLst>
                            <a:ext uri="{FF2B5EF4-FFF2-40B4-BE49-F238E27FC236}">
                              <a16:creationId xmlns:a16="http://schemas.microsoft.com/office/drawing/2014/main" id="{AB3C3E67-99AF-4D54-A704-013D219F90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5647" y="2921176"/>
                          <a:ext cx="3575327" cy="3073921"/>
                        </a:xfrm>
                        <a:prstGeom prst="rect">
                          <a:avLst/>
                        </a:prstGeom>
                        <a:noFill/>
                      </p:spPr>
                    </p:pic>
                  </p:oleObj>
                </mc:Fallback>
              </mc:AlternateContent>
            </a:graphicData>
          </a:graphic>
        </p:graphicFrame>
      </p:grpSp>
      <p:sp>
        <p:nvSpPr>
          <p:cNvPr id="24"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中文要点｜喷淋密度与润湿修正</a:t>
            </a:r>
          </a:p>
          <a:p>
            <a:pPr>
              <a:lnSpc>
                <a:spcPct val="108000"/>
              </a:lnSpc>
              <a:spcAft>
                <a:spcPts val="0"/>
              </a:spcAft>
            </a:pPr>
            <a:r>
              <a:rPr sz="1400" b="0">
                <a:solidFill>
                  <a:srgbClr val="282828"/>
                </a:solidFill>
                <a:latin typeface="Times New Roman"/>
                <a:ea typeface="SimSun"/>
                <a:cs typeface="Times New Roman"/>
              </a:rPr>
              <a:t>将真实喷淋密度和局部润湿状态纳入湿通道传热传质分析，修正理想完全润湿假设。</a:t>
            </a:r>
          </a:p>
        </p:txBody>
      </p:sp>
    </p:spTree>
    <p:extLst>
      <p:ext uri="{BB962C8B-B14F-4D97-AF65-F5344CB8AC3E}">
        <p14:creationId xmlns:p14="http://schemas.microsoft.com/office/powerpoint/2010/main" val="36370720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66920EDB-9D69-4594-A6C5-2AB1453745AA}"/>
                  </a:ext>
                </a:extLst>
              </p:cNvPr>
              <p:cNvSpPr/>
              <p:nvPr/>
            </p:nvSpPr>
            <p:spPr>
              <a:xfrm>
                <a:off x="1705231" y="2018375"/>
                <a:ext cx="5207963" cy="661720"/>
              </a:xfrm>
              <a:prstGeom prst="rect">
                <a:avLst/>
              </a:prstGeom>
            </p:spPr>
            <p:txBody>
              <a:bodyPr wrap="square">
                <a:spAutoFit/>
              </a:bodyPr>
              <a:lstStyle/>
              <a:p>
                <a:pPr defTabSz="457200" eaLnBrk="1" fontAlgn="auto" hangingPunct="1">
                  <a:spcBef>
                    <a:spcPts val="0"/>
                  </a:spcBef>
                  <a:spcAft>
                    <a:spcPts val="600"/>
                  </a:spcAft>
                </a:pPr>
                <a:r>
                  <a:rPr lang="en-HK" sz="1600" dirty="0">
                    <a:solidFill>
                      <a:prstClr val="black"/>
                    </a:solidFill>
                    <a:latin typeface="Times New Roman" panose="02020603050405020304" pitchFamily="18" charset="0"/>
                    <a:ea typeface="SimSun"/>
                    <a:cs typeface="Times New Roman" panose="02020603050405020304" pitchFamily="18" charset="0"/>
                  </a:rPr>
                  <a:t>The size of heat exchanger: 400 mm </a:t>
                </a:r>
                <a14:m>
                  <m:oMath xmlns:m="http://schemas.openxmlformats.org/officeDocument/2006/math">
                    <m:r>
                      <a:rPr lang="en-HK" sz="1600" i="1" smtClean="0">
                        <a:solidFill>
                          <a:prstClr val="black"/>
                        </a:solidFill>
                        <a:latin typeface="Times New Roman" panose="02040503050406030204" pitchFamily="18" charset="0"/>
                        <a:ea typeface="SimSun" panose="02040503050406030204" pitchFamily="18" charset="0"/>
                        <a:cs typeface="Times New Roman" panose="02020603050405020304" pitchFamily="18" charset="0"/>
                      </a:rPr>
                      <m:t>×</m:t>
                    </m:r>
                  </m:oMath>
                </a14:m>
                <a:r>
                  <a:rPr lang="en-HK" sz="1600" dirty="0">
                    <a:solidFill>
                      <a:prstClr val="black"/>
                    </a:solidFill>
                    <a:latin typeface="Times New Roman" panose="02020603050405020304" pitchFamily="18" charset="0"/>
                    <a:ea typeface="SimSun"/>
                    <a:cs typeface="Times New Roman" panose="02020603050405020304" pitchFamily="18" charset="0"/>
                  </a:rPr>
                  <a:t> 400 mm</a:t>
                </a:r>
              </a:p>
              <a:p>
                <a:pPr defTabSz="457200" eaLnBrk="1" fontAlgn="auto" hangingPunct="1">
                  <a:spcBef>
                    <a:spcPts val="0"/>
                  </a:spcBef>
                  <a:spcAft>
                    <a:spcPts val="600"/>
                  </a:spcAft>
                </a:pPr>
                <a:r>
                  <a:rPr lang="en-HK" sz="1600" dirty="0">
                    <a:solidFill>
                      <a:prstClr val="black"/>
                    </a:solidFill>
                    <a:latin typeface="Times New Roman" panose="02020603050405020304" pitchFamily="18" charset="0"/>
                    <a:ea typeface="SimSun"/>
                    <a:cs typeface="Times New Roman" panose="02020603050405020304" pitchFamily="18" charset="0"/>
                  </a:rPr>
                  <a:t>The height of the nozzle: 300 mm</a:t>
                </a:r>
              </a:p>
            </p:txBody>
          </p:sp>
        </mc:Choice>
        <mc:Fallback xmlns="">
          <p:sp>
            <p:nvSpPr>
              <p:cNvPr id="11" name="矩形 10">
                <a:extLst>
                  <a:ext uri="{FF2B5EF4-FFF2-40B4-BE49-F238E27FC236}">
                    <a16:creationId xmlns:a16="http://schemas.microsoft.com/office/drawing/2014/main" id="{66920EDB-9D69-4594-A6C5-2AB1453745AA}"/>
                  </a:ext>
                </a:extLst>
              </p:cNvPr>
              <p:cNvSpPr>
                <a:spLocks noRot="1" noChangeAspect="1" noMove="1" noResize="1" noEditPoints="1" noAdjustHandles="1" noChangeArrowheads="1" noChangeShapeType="1" noTextEdit="1"/>
              </p:cNvSpPr>
              <p:nvPr/>
            </p:nvSpPr>
            <p:spPr>
              <a:xfrm>
                <a:off x="1705231" y="2018375"/>
                <a:ext cx="5207963" cy="661720"/>
              </a:xfrm>
              <a:prstGeom prst="rect">
                <a:avLst/>
              </a:prstGeom>
              <a:blipFill>
                <a:blip r:embed="rId6"/>
                <a:stretch>
                  <a:fillRect l="-703" t="-2752" b="-11009"/>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6D0E81DE-025E-4176-B7F5-E905DD8D3302}"/>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22</a:t>
            </a:fld>
            <a:endParaRPr lang="en-US" altLang="zh-CN">
              <a:latin typeface="Times New Roman"/>
              <a:ea typeface="SimSun"/>
              <a:cs typeface="Times New Roman"/>
            </a:endParaRPr>
          </a:p>
        </p:txBody>
      </p:sp>
      <p:sp>
        <p:nvSpPr>
          <p:cNvPr id="22" name="矩形 3">
            <a:extLst>
              <a:ext uri="{FF2B5EF4-FFF2-40B4-BE49-F238E27FC236}">
                <a16:creationId xmlns:a16="http://schemas.microsoft.com/office/drawing/2014/main" id="{981081A4-17ED-47E5-A92D-C74F08ECE170}"/>
              </a:ext>
            </a:extLst>
          </p:cNvPr>
          <p:cNvSpPr>
            <a:spLocks noChangeArrowheads="1"/>
          </p:cNvSpPr>
          <p:nvPr/>
        </p:nvSpPr>
        <p:spPr bwMode="auto">
          <a:xfrm>
            <a:off x="864013" y="-22029"/>
            <a:ext cx="10813218"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grpSp>
        <p:nvGrpSpPr>
          <p:cNvPr id="25" name="Original English content (proportional layout)"/>
          <p:cNvGrpSpPr/>
          <p:nvPr/>
        </p:nvGrpSpPr>
        <p:grpSpPr>
          <a:xfrm>
            <a:off x="1097280" y="731520"/>
            <a:ext cx="9997440" cy="5023714"/>
            <a:chOff x="0" y="731520"/>
            <a:chExt cx="12192000" cy="6126480"/>
          </a:xfrm>
        </p:grpSpPr>
        <p:sp>
          <p:nvSpPr>
            <p:cNvPr id="6" name="矩形 5">
              <a:extLst>
                <a:ext uri="{FF2B5EF4-FFF2-40B4-BE49-F238E27FC236}">
                  <a16:creationId xmlns:a16="http://schemas.microsoft.com/office/drawing/2014/main" id="{C4728E8C-08D8-4CB7-9715-B9B4E0E5F1BE}"/>
                </a:ext>
              </a:extLst>
            </p:cNvPr>
            <p:cNvSpPr/>
            <p:nvPr/>
          </p:nvSpPr>
          <p:spPr>
            <a:xfrm>
              <a:off x="1379078" y="1613225"/>
              <a:ext cx="2531462"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Arrangement schemes</a:t>
              </a:r>
            </a:p>
          </p:txBody>
        </p:sp>
        <p:pic>
          <p:nvPicPr>
            <p:cNvPr id="7" name="图片 6">
              <a:extLst>
                <a:ext uri="{FF2B5EF4-FFF2-40B4-BE49-F238E27FC236}">
                  <a16:creationId xmlns:a16="http://schemas.microsoft.com/office/drawing/2014/main" id="{037BA7FE-40E9-437E-86AE-9FCD3E8E17D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1271" b="61733"/>
            <a:stretch/>
          </p:blipFill>
          <p:spPr bwMode="auto">
            <a:xfrm>
              <a:off x="7293631" y="1306872"/>
              <a:ext cx="1350279" cy="1260000"/>
            </a:xfrm>
            <a:prstGeom prst="rect">
              <a:avLst/>
            </a:prstGeom>
            <a:ln>
              <a:noFill/>
            </a:ln>
            <a:extLst>
              <a:ext uri="{53640926-AAD7-44D8-BBD7-CCE9431645EC}">
                <a14:shadowObscured xmlns:a14="http://schemas.microsoft.com/office/drawing/2010/main"/>
              </a:ext>
            </a:extLst>
          </p:spPr>
        </p:pic>
        <p:pic>
          <p:nvPicPr>
            <p:cNvPr id="8" name="图片 7">
              <a:extLst>
                <a:ext uri="{FF2B5EF4-FFF2-40B4-BE49-F238E27FC236}">
                  <a16:creationId xmlns:a16="http://schemas.microsoft.com/office/drawing/2014/main" id="{CB3668D4-0B59-42BD-A70F-53B540351FC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867" t="53966" r="51931" b="11619"/>
            <a:stretch/>
          </p:blipFill>
          <p:spPr bwMode="auto">
            <a:xfrm>
              <a:off x="8773092" y="1341696"/>
              <a:ext cx="1220023" cy="1144800"/>
            </a:xfrm>
            <a:prstGeom prst="rect">
              <a:avLst/>
            </a:prstGeom>
            <a:ln>
              <a:noFill/>
            </a:ln>
            <a:extLst>
              <a:ext uri="{53640926-AAD7-44D8-BBD7-CCE9431645EC}">
                <a14:shadowObscured xmlns:a14="http://schemas.microsoft.com/office/drawing/2010/main"/>
              </a:ext>
            </a:extLst>
          </p:spPr>
        </p:pic>
        <p:sp>
          <p:nvSpPr>
            <p:cNvPr id="12" name="矩形 11">
              <a:extLst>
                <a:ext uri="{FF2B5EF4-FFF2-40B4-BE49-F238E27FC236}">
                  <a16:creationId xmlns:a16="http://schemas.microsoft.com/office/drawing/2014/main" id="{217AF81E-EF44-45C7-A6E4-50B612F2B928}"/>
                </a:ext>
              </a:extLst>
            </p:cNvPr>
            <p:cNvSpPr/>
            <p:nvPr/>
          </p:nvSpPr>
          <p:spPr>
            <a:xfrm>
              <a:off x="2843847" y="6211928"/>
              <a:ext cx="6686365" cy="553998"/>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Spray optimal arrangement: </a:t>
              </a:r>
              <a:r>
                <a:rPr lang="en-HK" sz="1312" dirty="0">
                  <a:solidFill>
                    <a:srgbClr val="A30000"/>
                  </a:solidFill>
                  <a:latin typeface="Times New Roman" panose="02020603050405020304" pitchFamily="18" charset="0"/>
                  <a:ea typeface="SimSun"/>
                  <a:cs typeface="Times New Roman" panose="02020603050405020304" pitchFamily="18" charset="0"/>
                </a:rPr>
                <a:t>Cent</a:t>
              </a:r>
              <a:r>
                <a:rPr lang="en-US" altLang="zh-CN" sz="1312" dirty="0" err="1">
                  <a:solidFill>
                    <a:srgbClr val="A30000"/>
                  </a:solidFill>
                  <a:latin typeface="Times New Roman" panose="02020603050405020304" pitchFamily="18" charset="0"/>
                  <a:ea typeface="SimSun"/>
                  <a:cs typeface="Times New Roman" panose="02020603050405020304" pitchFamily="18" charset="0"/>
                </a:rPr>
                <a:t>er</a:t>
              </a:r>
              <a:r>
                <a:rPr lang="en-HK" sz="1312" dirty="0">
                  <a:solidFill>
                    <a:srgbClr val="A30000"/>
                  </a:solidFill>
                  <a:latin typeface="Times New Roman" panose="02020603050405020304" pitchFamily="18" charset="0"/>
                  <a:ea typeface="SimSun"/>
                  <a:cs typeface="Times New Roman" panose="02020603050405020304" pitchFamily="18" charset="0"/>
                </a:rPr>
                <a:t>line</a:t>
              </a:r>
              <a:r>
                <a:rPr lang="en-HK" sz="1312" dirty="0">
                  <a:solidFill>
                    <a:prstClr val="black"/>
                  </a:solidFill>
                  <a:latin typeface="Times New Roman" panose="02020603050405020304" pitchFamily="18" charset="0"/>
                  <a:ea typeface="SimSun"/>
                  <a:cs typeface="Times New Roman" panose="02020603050405020304" pitchFamily="18" charset="0"/>
                </a:rPr>
                <a:t> with </a:t>
              </a:r>
              <a:r>
                <a:rPr lang="en-HK" sz="1312" dirty="0">
                  <a:solidFill>
                    <a:srgbClr val="A30000"/>
                  </a:solidFill>
                  <a:latin typeface="Times New Roman" panose="02020603050405020304" pitchFamily="18" charset="0"/>
                  <a:ea typeface="SimSun"/>
                  <a:cs typeface="Times New Roman" panose="02020603050405020304" pitchFamily="18" charset="0"/>
                </a:rPr>
                <a:t>160 mm </a:t>
              </a:r>
              <a:r>
                <a:rPr lang="en-HK" sz="1312" dirty="0">
                  <a:solidFill>
                    <a:prstClr val="black"/>
                  </a:solidFill>
                  <a:latin typeface="Times New Roman" panose="02020603050405020304" pitchFamily="18" charset="0"/>
                  <a:ea typeface="SimSun"/>
                  <a:cs typeface="Times New Roman" panose="02020603050405020304" pitchFamily="18" charset="0"/>
                </a:rPr>
                <a:t>distance.</a:t>
              </a:r>
            </a:p>
            <a:p>
              <a:pPr defTabSz="457200" eaLnBrk="1" fontAlgn="auto" hangingPunct="1">
                <a:spcBef>
                  <a:spcPts val="0"/>
                </a:spcBef>
                <a:spcAft>
                  <a:spcPts val="0"/>
                </a:spcAft>
              </a:pPr>
              <a:endParaRPr lang="en-HK" sz="1148" dirty="0">
                <a:solidFill>
                  <a:prstClr val="black"/>
                </a:solidFill>
                <a:latin typeface="Times New Roman" panose="020B0604020202020204" pitchFamily="34" charset="0"/>
                <a:ea typeface="SimSun"/>
                <a:cs typeface="Times New Roman" panose="020B0604020202020204" pitchFamily="34" charset="0"/>
              </a:endParaRPr>
            </a:p>
          </p:txBody>
        </p:sp>
        <p:sp>
          <p:nvSpPr>
            <p:cNvPr id="13" name="矩形 12">
              <a:extLst>
                <a:ext uri="{FF2B5EF4-FFF2-40B4-BE49-F238E27FC236}">
                  <a16:creationId xmlns:a16="http://schemas.microsoft.com/office/drawing/2014/main" id="{0A6EA3F4-D166-469F-8FF3-91A46C8B3E01}"/>
                </a:ext>
              </a:extLst>
            </p:cNvPr>
            <p:cNvSpPr/>
            <p:nvPr/>
          </p:nvSpPr>
          <p:spPr>
            <a:xfrm>
              <a:off x="7439768" y="2483862"/>
              <a:ext cx="2492990" cy="307777"/>
            </a:xfrm>
            <a:prstGeom prst="rect">
              <a:avLst/>
            </a:prstGeom>
          </p:spPr>
          <p:txBody>
            <a:bodyPr wrap="none">
              <a:spAutoFit/>
            </a:bodyPr>
            <a:lstStyle/>
            <a:p>
              <a:pPr algn="ctr" defTabSz="457200" eaLnBrk="1" fontAlgn="auto">
                <a:spcBef>
                  <a:spcPts val="0"/>
                </a:spcBef>
                <a:spcAft>
                  <a:spcPts val="0"/>
                </a:spcAft>
              </a:pPr>
              <a:r>
                <a:rPr lang="en-US" sz="1148"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 Diagonal         (b) Centerline</a:t>
              </a:r>
              <a:endParaRPr lang="en-HK" sz="1148" dirty="0">
                <a:solidFill>
                  <a:prstClr val="black"/>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矩形 16">
              <a:extLst>
                <a:ext uri="{FF2B5EF4-FFF2-40B4-BE49-F238E27FC236}">
                  <a16:creationId xmlns:a16="http://schemas.microsoft.com/office/drawing/2014/main" id="{C2D13C86-5010-4DE5-A895-B7F88753292E}"/>
                </a:ext>
              </a:extLst>
            </p:cNvPr>
            <p:cNvSpPr/>
            <p:nvPr/>
          </p:nvSpPr>
          <p:spPr>
            <a:xfrm>
              <a:off x="7439231" y="2750676"/>
              <a:ext cx="3053210"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3.5.2 </a:t>
              </a:r>
              <a:r>
                <a:rPr lang="en-HK" sz="984" dirty="0">
                  <a:solidFill>
                    <a:prstClr val="black"/>
                  </a:solidFill>
                  <a:latin typeface="Times New Roman" panose="02020603050405020304" pitchFamily="18" charset="0"/>
                  <a:ea typeface="SimSun"/>
                  <a:cs typeface="Times New Roman" panose="02020603050405020304" pitchFamily="18" charset="0"/>
                </a:rPr>
                <a:t>Nozzle arrangement schemes</a:t>
              </a:r>
            </a:p>
          </p:txBody>
        </p:sp>
        <p:sp>
          <p:nvSpPr>
            <p:cNvPr id="18" name="矩形 17">
              <a:extLst>
                <a:ext uri="{FF2B5EF4-FFF2-40B4-BE49-F238E27FC236}">
                  <a16:creationId xmlns:a16="http://schemas.microsoft.com/office/drawing/2014/main" id="{BEB984EE-A871-407E-B74B-62BB1A4B974C}"/>
                </a:ext>
              </a:extLst>
            </p:cNvPr>
            <p:cNvSpPr/>
            <p:nvPr/>
          </p:nvSpPr>
          <p:spPr>
            <a:xfrm>
              <a:off x="1379078" y="2918498"/>
              <a:ext cx="5207964" cy="338554"/>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312" dirty="0">
                  <a:solidFill>
                    <a:prstClr val="black"/>
                  </a:solidFill>
                  <a:latin typeface="Times New Roman" panose="02020603050405020304" pitchFamily="18" charset="0"/>
                  <a:ea typeface="SimSun"/>
                  <a:cs typeface="Times New Roman" panose="02020603050405020304" pitchFamily="18" charset="0"/>
                </a:rPr>
                <a:t>The effect of the nozzle distance on the spray distribution</a:t>
              </a:r>
            </a:p>
          </p:txBody>
        </p:sp>
        <p:sp>
          <p:nvSpPr>
            <p:cNvPr id="19" name="矩形 18">
              <a:extLst>
                <a:ext uri="{FF2B5EF4-FFF2-40B4-BE49-F238E27FC236}">
                  <a16:creationId xmlns:a16="http://schemas.microsoft.com/office/drawing/2014/main" id="{C301A508-1B3D-4F15-BBC8-D01E9083B3E9}"/>
                </a:ext>
              </a:extLst>
            </p:cNvPr>
            <p:cNvSpPr/>
            <p:nvPr/>
          </p:nvSpPr>
          <p:spPr>
            <a:xfrm>
              <a:off x="2843847" y="6473538"/>
              <a:ext cx="6253539" cy="338554"/>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Uniformity coefficient is </a:t>
              </a:r>
              <a:r>
                <a:rPr lang="en-HK" sz="1312" dirty="0">
                  <a:solidFill>
                    <a:srgbClr val="A30000"/>
                  </a:solidFill>
                  <a:latin typeface="Times New Roman" panose="02020603050405020304" pitchFamily="18" charset="0"/>
                  <a:ea typeface="SimSun"/>
                  <a:cs typeface="Times New Roman" panose="02020603050405020304" pitchFamily="18" charset="0"/>
                </a:rPr>
                <a:t>0.74</a:t>
              </a:r>
              <a:r>
                <a:rPr lang="en-HK" sz="1312" dirty="0">
                  <a:solidFill>
                    <a:prstClr val="black"/>
                  </a:solidFill>
                  <a:latin typeface="Times New Roman" panose="02020603050405020304" pitchFamily="18" charset="0"/>
                  <a:ea typeface="SimSun"/>
                  <a:cs typeface="Times New Roman" panose="02020603050405020304" pitchFamily="18" charset="0"/>
                </a:rPr>
                <a:t> and coverage ratio is </a:t>
              </a:r>
              <a:r>
                <a:rPr lang="en-HK" sz="1312" dirty="0">
                  <a:solidFill>
                    <a:srgbClr val="A30000"/>
                  </a:solidFill>
                  <a:latin typeface="Times New Roman" panose="02020603050405020304" pitchFamily="18" charset="0"/>
                  <a:ea typeface="SimSun"/>
                  <a:cs typeface="Times New Roman" panose="02020603050405020304" pitchFamily="18" charset="0"/>
                </a:rPr>
                <a:t>0.72</a:t>
              </a:r>
              <a:r>
                <a:rPr lang="en-HK" sz="1312" dirty="0">
                  <a:solidFill>
                    <a:prstClr val="black"/>
                  </a:solidFill>
                  <a:latin typeface="Times New Roman" panose="02020603050405020304" pitchFamily="18" charset="0"/>
                  <a:ea typeface="SimSun"/>
                  <a:cs typeface="Times New Roman" panose="02020603050405020304" pitchFamily="18" charset="0"/>
                </a:rPr>
                <a:t>.</a:t>
              </a:r>
            </a:p>
          </p:txBody>
        </p:sp>
        <p:sp>
          <p:nvSpPr>
            <p:cNvPr id="21" name="文本框 20">
              <a:extLst>
                <a:ext uri="{FF2B5EF4-FFF2-40B4-BE49-F238E27FC236}">
                  <a16:creationId xmlns:a16="http://schemas.microsoft.com/office/drawing/2014/main" id="{B14657C8-4033-4177-ABD4-A0D3FE4B9D19}"/>
                </a:ext>
              </a:extLst>
            </p:cNvPr>
            <p:cNvSpPr txBox="1"/>
            <p:nvPr/>
          </p:nvSpPr>
          <p:spPr>
            <a:xfrm>
              <a:off x="1065607" y="1237378"/>
              <a:ext cx="3334943"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3.5.2 Results of multiple nozzles</a:t>
              </a:r>
            </a:p>
          </p:txBody>
        </p:sp>
        <p:sp>
          <p:nvSpPr>
            <p:cNvPr id="15" name="矩形 14">
              <a:extLst>
                <a:ext uri="{FF2B5EF4-FFF2-40B4-BE49-F238E27FC236}">
                  <a16:creationId xmlns:a16="http://schemas.microsoft.com/office/drawing/2014/main" id="{B9D30361-7369-46DA-9620-49D6A90A8091}"/>
                </a:ext>
              </a:extLst>
            </p:cNvPr>
            <p:cNvSpPr/>
            <p:nvPr/>
          </p:nvSpPr>
          <p:spPr>
            <a:xfrm>
              <a:off x="678164" y="937740"/>
              <a:ext cx="2826415" cy="369332"/>
            </a:xfrm>
            <a:prstGeom prst="rect">
              <a:avLst/>
            </a:prstGeom>
          </p:spPr>
          <p:txBody>
            <a:bodyPr wrap="none">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3.5 Results and discussions</a:t>
              </a:r>
            </a:p>
          </p:txBody>
        </p:sp>
        <p:sp>
          <p:nvSpPr>
            <p:cNvPr id="23" name="矩形 22">
              <a:extLst>
                <a:ext uri="{FF2B5EF4-FFF2-40B4-BE49-F238E27FC236}">
                  <a16:creationId xmlns:a16="http://schemas.microsoft.com/office/drawing/2014/main" id="{6CC0698A-1A8C-401D-B546-403765FDA322}"/>
                </a:ext>
              </a:extLst>
            </p:cNvPr>
            <p:cNvSpPr/>
            <p:nvPr/>
          </p:nvSpPr>
          <p:spPr>
            <a:xfrm>
              <a:off x="1480323" y="3263712"/>
              <a:ext cx="2328971" cy="338554"/>
            </a:xfrm>
            <a:prstGeom prst="rect">
              <a:avLst/>
            </a:prstGeom>
          </p:spPr>
          <p:txBody>
            <a:bodyPr wrap="non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Uniformity coefficient</a:t>
              </a:r>
            </a:p>
          </p:txBody>
        </p:sp>
        <p:sp>
          <p:nvSpPr>
            <p:cNvPr id="24" name="矩形 23">
              <a:extLst>
                <a:ext uri="{FF2B5EF4-FFF2-40B4-BE49-F238E27FC236}">
                  <a16:creationId xmlns:a16="http://schemas.microsoft.com/office/drawing/2014/main" id="{A37078DB-BEBA-4BBB-9C0C-BCF534FD04C8}"/>
                </a:ext>
              </a:extLst>
            </p:cNvPr>
            <p:cNvSpPr/>
            <p:nvPr/>
          </p:nvSpPr>
          <p:spPr>
            <a:xfrm>
              <a:off x="6169541" y="3263712"/>
              <a:ext cx="1689886" cy="338554"/>
            </a:xfrm>
            <a:prstGeom prst="rect">
              <a:avLst/>
            </a:prstGeom>
          </p:spPr>
          <p:txBody>
            <a:bodyPr wrap="non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Coverage ratio</a:t>
              </a:r>
            </a:p>
          </p:txBody>
        </p:sp>
        <p:sp>
          <p:nvSpPr>
            <p:cNvPr id="3" name="Rectangle 2">
              <a:extLst>
                <a:ext uri="{FF2B5EF4-FFF2-40B4-BE49-F238E27FC236}">
                  <a16:creationId xmlns:a16="http://schemas.microsoft.com/office/drawing/2014/main" id="{B82B9D44-92C7-447B-AF2B-A48FAA6CB0F4}"/>
                </a:ext>
              </a:extLst>
            </p:cNvPr>
            <p:cNvSpPr>
              <a:spLocks noChangeArrowheads="1"/>
            </p:cNvSpPr>
            <p:nvPr/>
          </p:nvSpPr>
          <p:spPr bwMode="auto">
            <a:xfrm>
              <a:off x="1233577" y="3546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4" name="对象 3">
              <a:extLst>
                <a:ext uri="{FF2B5EF4-FFF2-40B4-BE49-F238E27FC236}">
                  <a16:creationId xmlns:a16="http://schemas.microsoft.com/office/drawing/2014/main" id="{C33FC933-619B-4D13-82B7-349F555167D5}"/>
                </a:ext>
              </a:extLst>
            </p:cNvPr>
            <p:cNvGraphicFramePr>
              <a:graphicFrameLocks noChangeAspect="1"/>
            </p:cNvGraphicFramePr>
            <p:nvPr>
              <p:extLst>
                <p:ext uri="{D42A27DB-BD31-4B8C-83A1-F6EECF244321}">
                  <p14:modId xmlns:p14="http://schemas.microsoft.com/office/powerpoint/2010/main" val="587168674"/>
                </p:ext>
              </p:extLst>
            </p:nvPr>
          </p:nvGraphicFramePr>
          <p:xfrm>
            <a:off x="1705231" y="3468228"/>
            <a:ext cx="3319131" cy="2806090"/>
          </p:xfrm>
          <a:graphic>
            <a:graphicData uri="http://schemas.openxmlformats.org/presentationml/2006/ole">
              <mc:AlternateContent xmlns:mc="http://schemas.openxmlformats.org/markup-compatibility/2006">
                <mc:Choice xmlns:v="urn:schemas-microsoft-com:vml" Requires="v">
                  <p:oleObj name="Graph" r:id="rId7" imgW="6107567" imgH="5143222" progId="Origin95.Graph">
                    <p:embed/>
                  </p:oleObj>
                </mc:Choice>
                <mc:Fallback>
                  <p:oleObj name="Graph" r:id="rId7" imgW="6107567" imgH="5143222" progId="Origin95.Graph">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5231" y="3468228"/>
                          <a:ext cx="3319131" cy="2806090"/>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5317BF5D-9588-451C-9B65-3388997C097B}"/>
                </a:ext>
              </a:extLst>
            </p:cNvPr>
            <p:cNvSpPr>
              <a:spLocks noChangeArrowheads="1"/>
            </p:cNvSpPr>
            <p:nvPr/>
          </p:nvSpPr>
          <p:spPr bwMode="auto">
            <a:xfrm>
              <a:off x="6503102" y="347221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9" name="对象 8">
              <a:extLst>
                <a:ext uri="{FF2B5EF4-FFF2-40B4-BE49-F238E27FC236}">
                  <a16:creationId xmlns:a16="http://schemas.microsoft.com/office/drawing/2014/main" id="{CF63ED6A-DA18-48B6-B902-078F7E027B74}"/>
                </a:ext>
              </a:extLst>
            </p:cNvPr>
            <p:cNvGraphicFramePr>
              <a:graphicFrameLocks noChangeAspect="1"/>
            </p:cNvGraphicFramePr>
            <p:nvPr>
              <p:extLst>
                <p:ext uri="{D42A27DB-BD31-4B8C-83A1-F6EECF244321}">
                  <p14:modId xmlns:p14="http://schemas.microsoft.com/office/powerpoint/2010/main" val="3117146516"/>
                </p:ext>
              </p:extLst>
            </p:nvPr>
          </p:nvGraphicFramePr>
          <p:xfrm>
            <a:off x="6503102" y="3472210"/>
            <a:ext cx="3319131" cy="2833724"/>
          </p:xfrm>
          <a:graphic>
            <a:graphicData uri="http://schemas.openxmlformats.org/presentationml/2006/ole">
              <mc:AlternateContent xmlns:mc="http://schemas.openxmlformats.org/markup-compatibility/2006">
                <mc:Choice xmlns:v="urn:schemas-microsoft-com:vml" Requires="v">
                  <p:oleObj name="Graph" r:id="rId9" imgW="6107567" imgH="5282235" progId="Origin95.Graph">
                    <p:embed/>
                  </p:oleObj>
                </mc:Choice>
                <mc:Fallback>
                  <p:oleObj name="Graph" r:id="rId9" imgW="6107567" imgH="5282235" progId="Origin95.Graph">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03102" y="3472210"/>
                          <a:ext cx="3319131" cy="2833724"/>
                        </a:xfrm>
                        <a:prstGeom prst="rect">
                          <a:avLst/>
                        </a:prstGeom>
                        <a:noFill/>
                      </p:spPr>
                    </p:pic>
                  </p:oleObj>
                </mc:Fallback>
              </mc:AlternateContent>
            </a:graphicData>
          </a:graphic>
        </p:graphicFrame>
      </p:grpSp>
      <p:sp>
        <p:nvSpPr>
          <p:cNvPr id="26"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中文要点｜多喷嘴最优布置</a:t>
            </a:r>
          </a:p>
          <a:p>
            <a:pPr>
              <a:lnSpc>
                <a:spcPct val="108000"/>
              </a:lnSpc>
              <a:spcAft>
                <a:spcPts val="0"/>
              </a:spcAft>
            </a:pPr>
            <a:r>
              <a:rPr sz="1400" b="0">
                <a:solidFill>
                  <a:srgbClr val="282828"/>
                </a:solidFill>
                <a:latin typeface="Times New Roman"/>
                <a:ea typeface="SimSun"/>
                <a:cs typeface="Times New Roman"/>
              </a:rPr>
              <a:t>本研究中，沿中心线布置、间距 </a:t>
            </a:r>
            <a:r>
              <a:rPr sz="1400" b="1">
                <a:solidFill>
                  <a:srgbClr val="282828"/>
                </a:solidFill>
                <a:latin typeface="Times New Roman"/>
                <a:ea typeface="SimSun"/>
                <a:cs typeface="Times New Roman"/>
              </a:rPr>
              <a:t>160 mm</a:t>
            </a:r>
            <a:r>
              <a:rPr sz="1400" b="0">
                <a:solidFill>
                  <a:srgbClr val="282828"/>
                </a:solidFill>
                <a:latin typeface="Times New Roman"/>
                <a:ea typeface="SimSun"/>
                <a:cs typeface="Times New Roman"/>
              </a:rPr>
              <a:t> 时效果最佳；均匀性系数为 </a:t>
            </a:r>
            <a:r>
              <a:rPr sz="1400" b="1">
                <a:solidFill>
                  <a:srgbClr val="282828"/>
                </a:solidFill>
                <a:latin typeface="Times New Roman"/>
                <a:ea typeface="SimSun"/>
                <a:cs typeface="Times New Roman"/>
              </a:rPr>
              <a:t>0.74</a:t>
            </a:r>
            <a:r>
              <a:rPr sz="1400" b="0">
                <a:solidFill>
                  <a:srgbClr val="282828"/>
                </a:solidFill>
                <a:latin typeface="Times New Roman"/>
                <a:ea typeface="SimSun"/>
                <a:cs typeface="Times New Roman"/>
              </a:rPr>
              <a:t>，覆盖率为 </a:t>
            </a:r>
            <a:r>
              <a:rPr sz="1400" b="1">
                <a:solidFill>
                  <a:srgbClr val="282828"/>
                </a:solidFill>
                <a:latin typeface="Times New Roman"/>
                <a:ea typeface="SimSun"/>
                <a:cs typeface="Times New Roman"/>
              </a:rPr>
              <a:t>0.72</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9198697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6143030-507C-45D8-AC60-1D401236027A}"/>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23</a:t>
            </a:fld>
            <a:endParaRPr lang="en-US" altLang="zh-CN" dirty="0">
              <a:latin typeface="Times New Roman"/>
              <a:ea typeface="SimSun"/>
              <a:cs typeface="Times New Roman"/>
            </a:endParaRPr>
          </a:p>
        </p:txBody>
      </p:sp>
      <p:sp>
        <p:nvSpPr>
          <p:cNvPr id="24" name="矩形 3">
            <a:extLst>
              <a:ext uri="{FF2B5EF4-FFF2-40B4-BE49-F238E27FC236}">
                <a16:creationId xmlns:a16="http://schemas.microsoft.com/office/drawing/2014/main" id="{C07D2443-0D14-467B-999C-206A4DCAB288}"/>
              </a:ext>
            </a:extLst>
          </p:cNvPr>
          <p:cNvSpPr>
            <a:spLocks noChangeArrowheads="1"/>
          </p:cNvSpPr>
          <p:nvPr/>
        </p:nvSpPr>
        <p:spPr bwMode="auto">
          <a:xfrm>
            <a:off x="864013" y="-22029"/>
            <a:ext cx="10813218"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grpSp>
        <p:nvGrpSpPr>
          <p:cNvPr id="30" name="Original English content (proportional layout)"/>
          <p:cNvGrpSpPr/>
          <p:nvPr/>
        </p:nvGrpSpPr>
        <p:grpSpPr>
          <a:xfrm>
            <a:off x="1097280" y="731520"/>
            <a:ext cx="9997440" cy="5023714"/>
            <a:chOff x="0" y="731520"/>
            <a:chExt cx="12192000" cy="6126480"/>
          </a:xfrm>
        </p:grpSpPr>
        <p:pic>
          <p:nvPicPr>
            <p:cNvPr id="5" name="图片 4">
              <a:extLst>
                <a:ext uri="{FF2B5EF4-FFF2-40B4-BE49-F238E27FC236}">
                  <a16:creationId xmlns:a16="http://schemas.microsoft.com/office/drawing/2014/main" id="{E26B9BE8-4BC3-4600-8861-591984032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080" y="3217800"/>
              <a:ext cx="3479308" cy="2698239"/>
            </a:xfrm>
            <a:prstGeom prst="rect">
              <a:avLst/>
            </a:prstGeom>
          </p:spPr>
        </p:pic>
        <p:pic>
          <p:nvPicPr>
            <p:cNvPr id="3" name="图片 2">
              <a:extLst>
                <a:ext uri="{FF2B5EF4-FFF2-40B4-BE49-F238E27FC236}">
                  <a16:creationId xmlns:a16="http://schemas.microsoft.com/office/drawing/2014/main" id="{B57CA2B8-CD4D-4BC2-BDAF-DB95580D22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0142" y="3217801"/>
              <a:ext cx="3459780" cy="2728196"/>
            </a:xfrm>
            <a:prstGeom prst="rect">
              <a:avLst/>
            </a:prstGeom>
          </p:spPr>
        </p:pic>
        <p:sp>
          <p:nvSpPr>
            <p:cNvPr id="6" name="矩形 5">
              <a:extLst>
                <a:ext uri="{FF2B5EF4-FFF2-40B4-BE49-F238E27FC236}">
                  <a16:creationId xmlns:a16="http://schemas.microsoft.com/office/drawing/2014/main" id="{C4728E8C-08D8-4CB7-9715-B9B4E0E5F1BE}"/>
                </a:ext>
              </a:extLst>
            </p:cNvPr>
            <p:cNvSpPr/>
            <p:nvPr/>
          </p:nvSpPr>
          <p:spPr>
            <a:xfrm>
              <a:off x="1435864" y="1629369"/>
              <a:ext cx="3204723"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Original arrangement scheme</a:t>
              </a:r>
            </a:p>
          </p:txBody>
        </p:sp>
        <p:sp>
          <p:nvSpPr>
            <p:cNvPr id="12" name="矩形 11">
              <a:extLst>
                <a:ext uri="{FF2B5EF4-FFF2-40B4-BE49-F238E27FC236}">
                  <a16:creationId xmlns:a16="http://schemas.microsoft.com/office/drawing/2014/main" id="{217AF81E-EF44-45C7-A6E4-50B612F2B928}"/>
                </a:ext>
              </a:extLst>
            </p:cNvPr>
            <p:cNvSpPr/>
            <p:nvPr/>
          </p:nvSpPr>
          <p:spPr>
            <a:xfrm>
              <a:off x="2427633" y="6163669"/>
              <a:ext cx="2871837" cy="338554"/>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Wettability value: 0.48</a:t>
              </a:r>
            </a:p>
          </p:txBody>
        </p:sp>
        <p:sp>
          <p:nvSpPr>
            <p:cNvPr id="17" name="矩形 16">
              <a:extLst>
                <a:ext uri="{FF2B5EF4-FFF2-40B4-BE49-F238E27FC236}">
                  <a16:creationId xmlns:a16="http://schemas.microsoft.com/office/drawing/2014/main" id="{C2D13C86-5010-4DE5-A895-B7F88753292E}"/>
                </a:ext>
              </a:extLst>
            </p:cNvPr>
            <p:cNvSpPr/>
            <p:nvPr/>
          </p:nvSpPr>
          <p:spPr>
            <a:xfrm>
              <a:off x="2324250" y="5886670"/>
              <a:ext cx="27715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3.5.3 </a:t>
              </a:r>
              <a:r>
                <a:rPr lang="en-HK" sz="984" dirty="0">
                  <a:solidFill>
                    <a:prstClr val="black"/>
                  </a:solidFill>
                  <a:latin typeface="Times New Roman" panose="02020603050405020304" pitchFamily="18" charset="0"/>
                  <a:ea typeface="SimSun"/>
                  <a:cs typeface="Times New Roman" panose="02020603050405020304" pitchFamily="18" charset="0"/>
                </a:rPr>
                <a:t>Original arrangement scheme </a:t>
              </a:r>
            </a:p>
          </p:txBody>
        </p:sp>
        <p:sp>
          <p:nvSpPr>
            <p:cNvPr id="21" name="文本框 20">
              <a:extLst>
                <a:ext uri="{FF2B5EF4-FFF2-40B4-BE49-F238E27FC236}">
                  <a16:creationId xmlns:a16="http://schemas.microsoft.com/office/drawing/2014/main" id="{B14657C8-4033-4177-ABD4-A0D3FE4B9D19}"/>
                </a:ext>
              </a:extLst>
            </p:cNvPr>
            <p:cNvSpPr txBox="1"/>
            <p:nvPr/>
          </p:nvSpPr>
          <p:spPr>
            <a:xfrm>
              <a:off x="1058107" y="1273605"/>
              <a:ext cx="6867071"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3.5.3 Comparison between original and optimized schemes</a:t>
              </a:r>
            </a:p>
          </p:txBody>
        </p:sp>
        <p:pic>
          <p:nvPicPr>
            <p:cNvPr id="15" name="图片 14">
              <a:extLst>
                <a:ext uri="{FF2B5EF4-FFF2-40B4-BE49-F238E27FC236}">
                  <a16:creationId xmlns:a16="http://schemas.microsoft.com/office/drawing/2014/main" id="{281A0B71-939A-459F-9895-FE0BD0F58189}"/>
                </a:ext>
              </a:extLst>
            </p:cNvPr>
            <p:cNvPicPr/>
            <p:nvPr/>
          </p:nvPicPr>
          <p:blipFill rotWithShape="1">
            <a:blip r:embed="rId5" cstate="print">
              <a:extLst>
                <a:ext uri="{28A0092B-C50C-407E-A947-70E740481C1C}">
                  <a14:useLocalDpi xmlns:a14="http://schemas.microsoft.com/office/drawing/2010/main" val="0"/>
                </a:ext>
              </a:extLst>
            </a:blip>
            <a:srcRect r="53313"/>
            <a:stretch/>
          </p:blipFill>
          <p:spPr bwMode="auto">
            <a:xfrm>
              <a:off x="2572719" y="2060102"/>
              <a:ext cx="1440000" cy="1263454"/>
            </a:xfrm>
            <a:prstGeom prst="rect">
              <a:avLst/>
            </a:prstGeom>
            <a:ln>
              <a:noFill/>
            </a:ln>
            <a:extLst>
              <a:ext uri="{53640926-AAD7-44D8-BBD7-CCE9431645EC}">
                <a14:shadowObscured xmlns:a14="http://schemas.microsoft.com/office/drawing/2010/main"/>
              </a:ext>
            </a:extLst>
          </p:spPr>
        </p:pic>
        <p:pic>
          <p:nvPicPr>
            <p:cNvPr id="16" name="图片 15">
              <a:extLst>
                <a:ext uri="{FF2B5EF4-FFF2-40B4-BE49-F238E27FC236}">
                  <a16:creationId xmlns:a16="http://schemas.microsoft.com/office/drawing/2014/main" id="{5E5CFAC3-E335-4901-BB86-4EFB9FB40F8A}"/>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7491763" y="2030867"/>
              <a:ext cx="1263600" cy="1263600"/>
            </a:xfrm>
            <a:prstGeom prst="rect">
              <a:avLst/>
            </a:prstGeom>
          </p:spPr>
        </p:pic>
        <p:sp>
          <p:nvSpPr>
            <p:cNvPr id="22" name="矩形 21">
              <a:extLst>
                <a:ext uri="{FF2B5EF4-FFF2-40B4-BE49-F238E27FC236}">
                  <a16:creationId xmlns:a16="http://schemas.microsoft.com/office/drawing/2014/main" id="{FBE49DA3-3150-407A-A87B-4E36686596FE}"/>
                </a:ext>
              </a:extLst>
            </p:cNvPr>
            <p:cNvSpPr/>
            <p:nvPr/>
          </p:nvSpPr>
          <p:spPr>
            <a:xfrm>
              <a:off x="7092086" y="5916039"/>
              <a:ext cx="2771564"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3.5.4 </a:t>
              </a:r>
              <a:r>
                <a:rPr lang="en-HK" sz="984" dirty="0">
                  <a:solidFill>
                    <a:prstClr val="black"/>
                  </a:solidFill>
                  <a:latin typeface="Times New Roman" panose="02020603050405020304" pitchFamily="18" charset="0"/>
                  <a:ea typeface="SimSun"/>
                  <a:cs typeface="Times New Roman" panose="02020603050405020304" pitchFamily="18" charset="0"/>
                </a:rPr>
                <a:t>Optimized arrangement scheme</a:t>
              </a:r>
            </a:p>
          </p:txBody>
        </p:sp>
        <p:sp>
          <p:nvSpPr>
            <p:cNvPr id="23" name="矩形 22">
              <a:extLst>
                <a:ext uri="{FF2B5EF4-FFF2-40B4-BE49-F238E27FC236}">
                  <a16:creationId xmlns:a16="http://schemas.microsoft.com/office/drawing/2014/main" id="{65CD633F-5A8D-486B-8716-9D8B8A5261DB}"/>
                </a:ext>
              </a:extLst>
            </p:cNvPr>
            <p:cNvSpPr/>
            <p:nvPr/>
          </p:nvSpPr>
          <p:spPr>
            <a:xfrm>
              <a:off x="6064560" y="1612079"/>
              <a:ext cx="346761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Optimized arrangement scheme </a:t>
              </a:r>
            </a:p>
          </p:txBody>
        </p:sp>
        <p:sp>
          <p:nvSpPr>
            <p:cNvPr id="28" name="矩形 27">
              <a:extLst>
                <a:ext uri="{FF2B5EF4-FFF2-40B4-BE49-F238E27FC236}">
                  <a16:creationId xmlns:a16="http://schemas.microsoft.com/office/drawing/2014/main" id="{D4976721-7031-423F-B9FF-99CFDAE48F29}"/>
                </a:ext>
              </a:extLst>
            </p:cNvPr>
            <p:cNvSpPr/>
            <p:nvPr/>
          </p:nvSpPr>
          <p:spPr>
            <a:xfrm>
              <a:off x="6983368" y="6204889"/>
              <a:ext cx="2697817" cy="338554"/>
            </a:xfrm>
            <a:prstGeom prst="rect">
              <a:avLst/>
            </a:prstGeom>
          </p:spPr>
          <p:txBody>
            <a:bodyPr wrap="square">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Wettability value: 0.89</a:t>
              </a:r>
            </a:p>
          </p:txBody>
        </p:sp>
        <p:sp>
          <p:nvSpPr>
            <p:cNvPr id="29" name="矩形 28">
              <a:extLst>
                <a:ext uri="{FF2B5EF4-FFF2-40B4-BE49-F238E27FC236}">
                  <a16:creationId xmlns:a16="http://schemas.microsoft.com/office/drawing/2014/main" id="{26F1B659-8693-4A46-8667-A91895DF15EA}"/>
                </a:ext>
              </a:extLst>
            </p:cNvPr>
            <p:cNvSpPr/>
            <p:nvPr/>
          </p:nvSpPr>
          <p:spPr>
            <a:xfrm>
              <a:off x="9316256" y="6214031"/>
              <a:ext cx="729859" cy="369332"/>
            </a:xfrm>
            <a:prstGeom prst="rect">
              <a:avLst/>
            </a:prstGeom>
          </p:spPr>
          <p:txBody>
            <a:bodyPr wrap="square">
              <a:spAutoFit/>
            </a:bodyPr>
            <a:lstStyle/>
            <a:p>
              <a:pPr defTabSz="457200" eaLnBrk="1" fontAlgn="auto" hangingPunct="1">
                <a:spcBef>
                  <a:spcPts val="0"/>
                </a:spcBef>
                <a:spcAft>
                  <a:spcPts val="0"/>
                </a:spcAft>
              </a:pPr>
              <a:r>
                <a:rPr lang="en-HK" sz="1476" b="1" dirty="0">
                  <a:solidFill>
                    <a:srgbClr val="A30000"/>
                  </a:solidFill>
                  <a:latin typeface="Times New Roman" panose="02020603050405020304" pitchFamily="18" charset="0"/>
                  <a:ea typeface="SimSun"/>
                  <a:cs typeface="Times New Roman" panose="02020603050405020304" pitchFamily="18" charset="0"/>
                </a:rPr>
                <a:t>46% </a:t>
              </a:r>
            </a:p>
          </p:txBody>
        </p:sp>
        <p:sp>
          <p:nvSpPr>
            <p:cNvPr id="9" name="箭头: 上 8">
              <a:extLst>
                <a:ext uri="{FF2B5EF4-FFF2-40B4-BE49-F238E27FC236}">
                  <a16:creationId xmlns:a16="http://schemas.microsoft.com/office/drawing/2014/main" id="{EF3D36B4-A021-41F9-8941-CBE13AB75163}"/>
                </a:ext>
              </a:extLst>
            </p:cNvPr>
            <p:cNvSpPr/>
            <p:nvPr/>
          </p:nvSpPr>
          <p:spPr bwMode="auto">
            <a:xfrm>
              <a:off x="9902198" y="6193037"/>
              <a:ext cx="177222" cy="338554"/>
            </a:xfrm>
            <a:prstGeom prst="upArrow">
              <a:avLst/>
            </a:prstGeom>
            <a:solidFill>
              <a:srgbClr val="A30000"/>
            </a:solidFill>
            <a:ln w="9525" cap="flat" cmpd="sng" algn="ctr">
              <a:solidFill>
                <a:srgbClr val="A3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a:solidFill>
                  <a:schemeClr val="bg2"/>
                </a:solidFill>
                <a:latin typeface="Times New Roman" charset="0"/>
                <a:ea typeface="SimSun"/>
                <a:cs typeface="Times New Roman"/>
              </a:endParaRPr>
            </a:p>
          </p:txBody>
        </p:sp>
        <p:sp>
          <p:nvSpPr>
            <p:cNvPr id="18" name="矩形 17">
              <a:extLst>
                <a:ext uri="{FF2B5EF4-FFF2-40B4-BE49-F238E27FC236}">
                  <a16:creationId xmlns:a16="http://schemas.microsoft.com/office/drawing/2014/main" id="{21CD1251-FE7E-4EFB-8C00-DEB270DB1448}"/>
                </a:ext>
              </a:extLst>
            </p:cNvPr>
            <p:cNvSpPr/>
            <p:nvPr/>
          </p:nvSpPr>
          <p:spPr>
            <a:xfrm>
              <a:off x="818163" y="962422"/>
              <a:ext cx="2826415" cy="369332"/>
            </a:xfrm>
            <a:prstGeom prst="rect">
              <a:avLst/>
            </a:prstGeom>
          </p:spPr>
          <p:txBody>
            <a:bodyPr wrap="none">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3.5 Results and discussions</a:t>
              </a:r>
            </a:p>
          </p:txBody>
        </p:sp>
      </p:grpSp>
      <p:sp>
        <p:nvSpPr>
          <p:cNvPr id="31"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中文要点｜原始与优化方案对比</a:t>
            </a:r>
          </a:p>
          <a:p>
            <a:pPr>
              <a:lnSpc>
                <a:spcPct val="108000"/>
              </a:lnSpc>
              <a:spcAft>
                <a:spcPts val="0"/>
              </a:spcAft>
            </a:pPr>
            <a:r>
              <a:rPr sz="1400" b="0">
                <a:solidFill>
                  <a:srgbClr val="282828"/>
                </a:solidFill>
                <a:latin typeface="Times New Roman"/>
                <a:ea typeface="SimSun"/>
                <a:cs typeface="Times New Roman"/>
              </a:rPr>
              <a:t>优化喷嘴布置后，润湿系数由 </a:t>
            </a:r>
            <a:r>
              <a:rPr sz="1400" b="1">
                <a:solidFill>
                  <a:srgbClr val="282828"/>
                </a:solidFill>
                <a:latin typeface="Times New Roman"/>
                <a:ea typeface="SimSun"/>
                <a:cs typeface="Times New Roman"/>
              </a:rPr>
              <a:t>0.48</a:t>
            </a:r>
            <a:r>
              <a:rPr sz="1400" b="0">
                <a:solidFill>
                  <a:srgbClr val="282828"/>
                </a:solidFill>
                <a:latin typeface="Times New Roman"/>
                <a:ea typeface="SimSun"/>
                <a:cs typeface="Times New Roman"/>
              </a:rPr>
              <a:t> 提高至 </a:t>
            </a:r>
            <a:r>
              <a:rPr sz="1400" b="1">
                <a:solidFill>
                  <a:srgbClr val="282828"/>
                </a:solidFill>
                <a:latin typeface="Times New Roman"/>
                <a:ea typeface="SimSun"/>
                <a:cs typeface="Times New Roman"/>
              </a:rPr>
              <a:t>0.89</a:t>
            </a:r>
            <a:r>
              <a:rPr sz="1400" b="0">
                <a:solidFill>
                  <a:srgbClr val="282828"/>
                </a:solidFill>
                <a:latin typeface="Times New Roman"/>
                <a:ea typeface="SimSun"/>
                <a:cs typeface="Times New Roman"/>
              </a:rPr>
              <a:t>，表明合理布水可显著改善板面润湿状态。</a:t>
            </a:r>
          </a:p>
        </p:txBody>
      </p:sp>
    </p:spTree>
    <p:extLst>
      <p:ext uri="{BB962C8B-B14F-4D97-AF65-F5344CB8AC3E}">
        <p14:creationId xmlns:p14="http://schemas.microsoft.com/office/powerpoint/2010/main" val="353305560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76FC50E-68FC-43B7-BAE5-7142E3986B0C}"/>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24</a:t>
            </a:fld>
            <a:endParaRPr lang="en-US" altLang="zh-CN">
              <a:latin typeface="Times New Roman"/>
              <a:ea typeface="SimSun"/>
              <a:cs typeface="Times New Roman"/>
            </a:endParaRPr>
          </a:p>
        </p:txBody>
      </p:sp>
      <p:sp>
        <p:nvSpPr>
          <p:cNvPr id="24" name="矩形 3">
            <a:extLst>
              <a:ext uri="{FF2B5EF4-FFF2-40B4-BE49-F238E27FC236}">
                <a16:creationId xmlns:a16="http://schemas.microsoft.com/office/drawing/2014/main" id="{6B8E4C10-AE51-44EF-BFD9-04B2F744F463}"/>
              </a:ext>
            </a:extLst>
          </p:cNvPr>
          <p:cNvSpPr>
            <a:spLocks noChangeArrowheads="1"/>
          </p:cNvSpPr>
          <p:nvPr/>
        </p:nvSpPr>
        <p:spPr bwMode="auto">
          <a:xfrm>
            <a:off x="864013" y="-22029"/>
            <a:ext cx="10813218"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3.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numerical model for nozzle optimization of IEC with experimental validation</a:t>
            </a:r>
          </a:p>
        </p:txBody>
      </p:sp>
      <p:grpSp>
        <p:nvGrpSpPr>
          <p:cNvPr id="26" name="Original English content (proportional layout)"/>
          <p:cNvGrpSpPr/>
          <p:nvPr/>
        </p:nvGrpSpPr>
        <p:grpSpPr>
          <a:xfrm>
            <a:off x="1097280" y="731520"/>
            <a:ext cx="9997440" cy="5023714"/>
            <a:chOff x="0" y="731520"/>
            <a:chExt cx="12192000" cy="6126480"/>
          </a:xfrm>
        </p:grpSpPr>
        <p:pic>
          <p:nvPicPr>
            <p:cNvPr id="13" name="图片 12">
              <a:extLst>
                <a:ext uri="{FF2B5EF4-FFF2-40B4-BE49-F238E27FC236}">
                  <a16:creationId xmlns:a16="http://schemas.microsoft.com/office/drawing/2014/main" id="{4F42FD25-23FF-473E-BC8E-55085292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730" y="4799818"/>
              <a:ext cx="403860" cy="396240"/>
            </a:xfrm>
            <a:prstGeom prst="rect">
              <a:avLst/>
            </a:prstGeom>
          </p:spPr>
        </p:pic>
        <p:pic>
          <p:nvPicPr>
            <p:cNvPr id="14" name="图片 13">
              <a:extLst>
                <a:ext uri="{FF2B5EF4-FFF2-40B4-BE49-F238E27FC236}">
                  <a16:creationId xmlns:a16="http://schemas.microsoft.com/office/drawing/2014/main" id="{995D16E1-70DB-46F2-9239-1ADC3F96D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5091" y="4922138"/>
              <a:ext cx="403860" cy="396240"/>
            </a:xfrm>
            <a:prstGeom prst="rect">
              <a:avLst/>
            </a:prstGeom>
          </p:spPr>
        </p:pic>
        <p:sp>
          <p:nvSpPr>
            <p:cNvPr id="16" name="矩形 15">
              <a:extLst>
                <a:ext uri="{FF2B5EF4-FFF2-40B4-BE49-F238E27FC236}">
                  <a16:creationId xmlns:a16="http://schemas.microsoft.com/office/drawing/2014/main" id="{34568366-1EBB-4BEA-9843-705BF866DA92}"/>
                </a:ext>
              </a:extLst>
            </p:cNvPr>
            <p:cNvSpPr/>
            <p:nvPr/>
          </p:nvSpPr>
          <p:spPr>
            <a:xfrm>
              <a:off x="2106611" y="5091438"/>
              <a:ext cx="3732616" cy="461665"/>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3.5.5 </a:t>
              </a:r>
              <a:r>
                <a:rPr lang="en-HK" sz="984" dirty="0">
                  <a:solidFill>
                    <a:prstClr val="black"/>
                  </a:solidFill>
                  <a:latin typeface="Times New Roman" panose="02020603050405020304" pitchFamily="18" charset="0"/>
                  <a:ea typeface="SimSun"/>
                  <a:cs typeface="Times New Roman" panose="02020603050405020304" pitchFamily="18" charset="0"/>
                </a:rPr>
                <a:t>Average value of the dehumidification rate </a:t>
              </a:r>
            </a:p>
            <a:p>
              <a:pPr defTabSz="457200" eaLnBrk="1" fontAlgn="auto" hangingPunct="1">
                <a:spcBef>
                  <a:spcPts val="0"/>
                </a:spcBef>
                <a:spcAft>
                  <a:spcPts val="0"/>
                </a:spcAft>
              </a:pPr>
              <a:endParaRPr lang="en-HK" sz="984" dirty="0">
                <a:solidFill>
                  <a:prstClr val="black"/>
                </a:solidFill>
                <a:latin typeface="Times New Roman" panose="020B0604020202020204" pitchFamily="34" charset="0"/>
                <a:ea typeface="SimSun"/>
                <a:cs typeface="Times New Roman" panose="020B0604020202020204" pitchFamily="34" charset="0"/>
              </a:endParaRPr>
            </a:p>
          </p:txBody>
        </p:sp>
        <p:sp>
          <p:nvSpPr>
            <p:cNvPr id="17" name="矩形 16">
              <a:extLst>
                <a:ext uri="{FF2B5EF4-FFF2-40B4-BE49-F238E27FC236}">
                  <a16:creationId xmlns:a16="http://schemas.microsoft.com/office/drawing/2014/main" id="{3EC4E648-8DBF-4B25-87C4-3AFDBCA0FCF7}"/>
                </a:ext>
              </a:extLst>
            </p:cNvPr>
            <p:cNvSpPr/>
            <p:nvPr/>
          </p:nvSpPr>
          <p:spPr>
            <a:xfrm>
              <a:off x="7161255" y="4714833"/>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15 </a:t>
              </a:r>
              <a:r>
                <a:rPr lang="en-HK" sz="984" dirty="0">
                  <a:solidFill>
                    <a:prstClr val="black"/>
                  </a:solidFill>
                  <a:latin typeface="Times New Roman" panose="02020603050405020304" pitchFamily="18" charset="0"/>
                  <a:ea typeface="SimSun"/>
                  <a:cs typeface="Times New Roman" panose="02020603050405020304" pitchFamily="18" charset="0"/>
                </a:rPr>
                <a:t>Average value of COP</a:t>
              </a:r>
            </a:p>
          </p:txBody>
        </p:sp>
        <p:sp>
          <p:nvSpPr>
            <p:cNvPr id="18" name="矩形 17">
              <a:extLst>
                <a:ext uri="{FF2B5EF4-FFF2-40B4-BE49-F238E27FC236}">
                  <a16:creationId xmlns:a16="http://schemas.microsoft.com/office/drawing/2014/main" id="{B3B165FD-229B-457C-BFBB-10E12C3FB96D}"/>
                </a:ext>
              </a:extLst>
            </p:cNvPr>
            <p:cNvSpPr/>
            <p:nvPr/>
          </p:nvSpPr>
          <p:spPr>
            <a:xfrm>
              <a:off x="2371700" y="5553103"/>
              <a:ext cx="7421361" cy="723275"/>
            </a:xfrm>
            <a:prstGeom prst="rect">
              <a:avLst/>
            </a:prstGeom>
          </p:spPr>
          <p:txBody>
            <a:bodyPr wrap="square">
              <a:spAutoFit/>
            </a:bodyPr>
            <a:lstStyle/>
            <a:p>
              <a:pPr marL="285750" indent="-285750">
                <a:spcAft>
                  <a:spcPts val="492"/>
                </a:spcAft>
                <a:buFont typeface="Arial" panose="020B0604020202020204" pitchFamily="34" charset="0"/>
                <a:buChar char="•"/>
              </a:pPr>
              <a:r>
                <a:rPr lang="en-HK" sz="1476" dirty="0">
                  <a:solidFill>
                    <a:prstClr val="black"/>
                  </a:solidFill>
                  <a:latin typeface="Times New Roman" panose="02020603050405020304" pitchFamily="18" charset="0"/>
                  <a:ea typeface="SimSun"/>
                  <a:cs typeface="Times New Roman" panose="02020603050405020304" pitchFamily="18" charset="0"/>
                </a:rPr>
                <a:t>The improvement of </a:t>
              </a:r>
              <a:r>
                <a:rPr lang="en-HK" sz="1476" dirty="0">
                  <a:solidFill>
                    <a:srgbClr val="A30000"/>
                  </a:solidFill>
                  <a:latin typeface="Times New Roman" panose="02020603050405020304" pitchFamily="18" charset="0"/>
                  <a:ea typeface="SimSun"/>
                  <a:cs typeface="Times New Roman" panose="02020603050405020304" pitchFamily="18" charset="0"/>
                </a:rPr>
                <a:t>dehumidification rate </a:t>
              </a:r>
              <a:r>
                <a:rPr lang="en-HK" sz="1476" dirty="0">
                  <a:solidFill>
                    <a:prstClr val="black"/>
                  </a:solidFill>
                  <a:latin typeface="Times New Roman" panose="02020603050405020304" pitchFamily="18" charset="0"/>
                  <a:ea typeface="SimSun"/>
                  <a:cs typeface="Times New Roman" panose="02020603050405020304" pitchFamily="18" charset="0"/>
                </a:rPr>
                <a:t>is </a:t>
              </a:r>
              <a:r>
                <a:rPr lang="en-HK" sz="1476" dirty="0">
                  <a:solidFill>
                    <a:srgbClr val="A30000"/>
                  </a:solidFill>
                  <a:latin typeface="Times New Roman" panose="02020603050405020304" pitchFamily="18" charset="0"/>
                  <a:ea typeface="SimSun"/>
                  <a:cs typeface="Times New Roman" panose="02020603050405020304" pitchFamily="18" charset="0"/>
                </a:rPr>
                <a:t>5.85%</a:t>
              </a:r>
              <a:r>
                <a:rPr lang="en-HK" sz="1476" dirty="0">
                  <a:solidFill>
                    <a:prstClr val="black"/>
                  </a:solidFill>
                  <a:latin typeface="Times New Roman" panose="02020603050405020304" pitchFamily="18" charset="0"/>
                  <a:ea typeface="SimSun"/>
                  <a:cs typeface="Times New Roman" panose="02020603050405020304" pitchFamily="18" charset="0"/>
                </a:rPr>
                <a:t> </a:t>
              </a:r>
              <a:r>
                <a:rPr lang="en-HK" sz="1476" dirty="0">
                  <a:solidFill>
                    <a:prstClr val="black"/>
                  </a:solidFill>
                  <a:latin typeface="Times New Roman" panose="020B0604020202020204" pitchFamily="34" charset="0"/>
                  <a:ea typeface="SimSun"/>
                  <a:cs typeface="Times New Roman" panose="020B0604020202020204" pitchFamily="34" charset="0"/>
                </a:rPr>
                <a:t>.</a:t>
              </a:r>
            </a:p>
            <a:p>
              <a:pPr marL="285750" indent="-285750">
                <a:spcAft>
                  <a:spcPts val="492"/>
                </a:spcAft>
                <a:buFont typeface="Arial" panose="020B0604020202020204" pitchFamily="34" charset="0"/>
                <a:buChar char="•"/>
              </a:pPr>
              <a:r>
                <a:rPr lang="en-HK" sz="1476" dirty="0">
                  <a:solidFill>
                    <a:prstClr val="black"/>
                  </a:solidFill>
                  <a:latin typeface="Times New Roman" panose="02020603050405020304" pitchFamily="18" charset="0"/>
                  <a:ea typeface="SimSun"/>
                  <a:cs typeface="Times New Roman" panose="02020603050405020304" pitchFamily="18" charset="0"/>
                </a:rPr>
                <a:t>The improvement of </a:t>
              </a:r>
              <a:r>
                <a:rPr lang="en-HK" sz="1476" dirty="0">
                  <a:solidFill>
                    <a:srgbClr val="A30000"/>
                  </a:solidFill>
                  <a:latin typeface="Times New Roman" panose="02020603050405020304" pitchFamily="18" charset="0"/>
                  <a:ea typeface="SimSun"/>
                  <a:cs typeface="Times New Roman" panose="02020603050405020304" pitchFamily="18" charset="0"/>
                </a:rPr>
                <a:t>COP</a:t>
              </a:r>
              <a:r>
                <a:rPr lang="en-HK" sz="1476" dirty="0">
                  <a:solidFill>
                    <a:prstClr val="black"/>
                  </a:solidFill>
                  <a:latin typeface="Times New Roman" panose="02020603050405020304" pitchFamily="18" charset="0"/>
                  <a:ea typeface="SimSun"/>
                  <a:cs typeface="Times New Roman" panose="02020603050405020304" pitchFamily="18" charset="0"/>
                </a:rPr>
                <a:t> value is </a:t>
              </a:r>
              <a:r>
                <a:rPr lang="en-HK" sz="1476" dirty="0">
                  <a:solidFill>
                    <a:srgbClr val="A30000"/>
                  </a:solidFill>
                  <a:latin typeface="Times New Roman" panose="02020603050405020304" pitchFamily="18" charset="0"/>
                  <a:ea typeface="SimSun"/>
                  <a:cs typeface="Times New Roman" panose="02020603050405020304" pitchFamily="18" charset="0"/>
                </a:rPr>
                <a:t>16% </a:t>
              </a:r>
              <a:r>
                <a:rPr lang="en-HK" sz="1476" dirty="0">
                  <a:solidFill>
                    <a:prstClr val="black"/>
                  </a:solidFill>
                  <a:latin typeface="Times New Roman" panose="02020603050405020304" pitchFamily="18" charset="0"/>
                  <a:ea typeface="SimSun"/>
                  <a:cs typeface="Times New Roman" panose="02020603050405020304" pitchFamily="18" charset="0"/>
                </a:rPr>
                <a:t>.</a:t>
              </a:r>
            </a:p>
          </p:txBody>
        </p:sp>
        <p:sp>
          <p:nvSpPr>
            <p:cNvPr id="12" name="文本框 11">
              <a:extLst>
                <a:ext uri="{FF2B5EF4-FFF2-40B4-BE49-F238E27FC236}">
                  <a16:creationId xmlns:a16="http://schemas.microsoft.com/office/drawing/2014/main" id="{5631AB29-848B-4391-9135-3AB5EB159ED0}"/>
                </a:ext>
              </a:extLst>
            </p:cNvPr>
            <p:cNvSpPr txBox="1"/>
            <p:nvPr/>
          </p:nvSpPr>
          <p:spPr>
            <a:xfrm>
              <a:off x="1149560" y="1325037"/>
              <a:ext cx="6867071"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3.5.4 Performance improvement with optimized nozzle arrangement</a:t>
              </a:r>
            </a:p>
          </p:txBody>
        </p:sp>
        <p:pic>
          <p:nvPicPr>
            <p:cNvPr id="3" name="图片 2">
              <a:extLst>
                <a:ext uri="{FF2B5EF4-FFF2-40B4-BE49-F238E27FC236}">
                  <a16:creationId xmlns:a16="http://schemas.microsoft.com/office/drawing/2014/main" id="{628488B4-BF20-401B-A0CC-A9F331195E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7594" y="2113065"/>
              <a:ext cx="3467198" cy="2905163"/>
            </a:xfrm>
            <a:prstGeom prst="rect">
              <a:avLst/>
            </a:prstGeom>
          </p:spPr>
        </p:pic>
        <p:pic>
          <p:nvPicPr>
            <p:cNvPr id="19" name="图片 18">
              <a:extLst>
                <a:ext uri="{FF2B5EF4-FFF2-40B4-BE49-F238E27FC236}">
                  <a16:creationId xmlns:a16="http://schemas.microsoft.com/office/drawing/2014/main" id="{AA5372B4-9714-4EE0-8851-F064274F08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4815" y="2227872"/>
              <a:ext cx="3299746" cy="2888230"/>
            </a:xfrm>
            <a:prstGeom prst="rect">
              <a:avLst/>
            </a:prstGeom>
          </p:spPr>
        </p:pic>
        <p:sp>
          <p:nvSpPr>
            <p:cNvPr id="20" name="矩形 19">
              <a:extLst>
                <a:ext uri="{FF2B5EF4-FFF2-40B4-BE49-F238E27FC236}">
                  <a16:creationId xmlns:a16="http://schemas.microsoft.com/office/drawing/2014/main" id="{7A1E5716-2774-4AB8-BE52-30382057EF8E}"/>
                </a:ext>
              </a:extLst>
            </p:cNvPr>
            <p:cNvSpPr/>
            <p:nvPr/>
          </p:nvSpPr>
          <p:spPr>
            <a:xfrm>
              <a:off x="1462689" y="1769935"/>
              <a:ext cx="2428870"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For dehumidification</a:t>
              </a:r>
            </a:p>
          </p:txBody>
        </p:sp>
        <p:sp>
          <p:nvSpPr>
            <p:cNvPr id="21" name="矩形 20">
              <a:extLst>
                <a:ext uri="{FF2B5EF4-FFF2-40B4-BE49-F238E27FC236}">
                  <a16:creationId xmlns:a16="http://schemas.microsoft.com/office/drawing/2014/main" id="{D58F90EF-8332-4CF8-9B57-86FE30E52EB6}"/>
                </a:ext>
              </a:extLst>
            </p:cNvPr>
            <p:cNvSpPr/>
            <p:nvPr/>
          </p:nvSpPr>
          <p:spPr>
            <a:xfrm>
              <a:off x="6167022" y="1800039"/>
              <a:ext cx="1849609"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HK" sz="1476" dirty="0">
                  <a:solidFill>
                    <a:prstClr val="black"/>
                  </a:solidFill>
                  <a:latin typeface="Times New Roman" panose="02020603050405020304" pitchFamily="18" charset="0"/>
                  <a:ea typeface="SimSun"/>
                  <a:cs typeface="Times New Roman" panose="02020603050405020304" pitchFamily="18" charset="0"/>
                </a:rPr>
                <a:t>For COP value</a:t>
              </a:r>
            </a:p>
          </p:txBody>
        </p:sp>
        <p:sp>
          <p:nvSpPr>
            <p:cNvPr id="22" name="矩形 21">
              <a:extLst>
                <a:ext uri="{FF2B5EF4-FFF2-40B4-BE49-F238E27FC236}">
                  <a16:creationId xmlns:a16="http://schemas.microsoft.com/office/drawing/2014/main" id="{64822A32-C550-4CE8-AF40-174A09E39595}"/>
                </a:ext>
              </a:extLst>
            </p:cNvPr>
            <p:cNvSpPr/>
            <p:nvPr/>
          </p:nvSpPr>
          <p:spPr>
            <a:xfrm>
              <a:off x="844778" y="937187"/>
              <a:ext cx="2826415" cy="369332"/>
            </a:xfrm>
            <a:prstGeom prst="rect">
              <a:avLst/>
            </a:prstGeom>
          </p:spPr>
          <p:txBody>
            <a:bodyPr wrap="none">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3.5 Results and discussions</a:t>
              </a:r>
            </a:p>
          </p:txBody>
        </p:sp>
        <p:sp>
          <p:nvSpPr>
            <p:cNvPr id="25" name="矩形 24">
              <a:extLst>
                <a:ext uri="{FF2B5EF4-FFF2-40B4-BE49-F238E27FC236}">
                  <a16:creationId xmlns:a16="http://schemas.microsoft.com/office/drawing/2014/main" id="{6786030D-C7EA-4D06-9765-8B90B1BDE786}"/>
                </a:ext>
              </a:extLst>
            </p:cNvPr>
            <p:cNvSpPr/>
            <p:nvPr/>
          </p:nvSpPr>
          <p:spPr>
            <a:xfrm>
              <a:off x="7091826" y="5118044"/>
              <a:ext cx="3732616" cy="461665"/>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3.5.6 </a:t>
              </a:r>
              <a:r>
                <a:rPr lang="en-HK" sz="984" dirty="0">
                  <a:solidFill>
                    <a:prstClr val="black"/>
                  </a:solidFill>
                  <a:latin typeface="Times New Roman" panose="02020603050405020304" pitchFamily="18" charset="0"/>
                  <a:ea typeface="SimSun"/>
                  <a:cs typeface="Times New Roman" panose="02020603050405020304" pitchFamily="18" charset="0"/>
                </a:rPr>
                <a:t>Average value of the COP</a:t>
              </a:r>
            </a:p>
            <a:p>
              <a:pPr defTabSz="457200" eaLnBrk="1" fontAlgn="auto" hangingPunct="1">
                <a:spcBef>
                  <a:spcPts val="0"/>
                </a:spcBef>
                <a:spcAft>
                  <a:spcPts val="0"/>
                </a:spcAft>
              </a:pPr>
              <a:endParaRPr lang="en-HK" sz="984" dirty="0">
                <a:solidFill>
                  <a:prstClr val="black"/>
                </a:solidFill>
                <a:latin typeface="Times New Roman" panose="020B0604020202020204" pitchFamily="34" charset="0"/>
                <a:ea typeface="SimSun"/>
                <a:cs typeface="Times New Roman" panose="020B0604020202020204" pitchFamily="34" charset="0"/>
              </a:endParaRPr>
            </a:p>
          </p:txBody>
        </p:sp>
      </p:grpSp>
      <p:sp>
        <p:nvSpPr>
          <p:cNvPr id="27"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中文要点｜系统性能提升</a:t>
            </a:r>
          </a:p>
          <a:p>
            <a:pPr>
              <a:lnSpc>
                <a:spcPct val="108000"/>
              </a:lnSpc>
              <a:spcAft>
                <a:spcPts val="0"/>
              </a:spcAft>
            </a:pPr>
            <a:r>
              <a:rPr sz="1400" b="0">
                <a:solidFill>
                  <a:srgbClr val="282828"/>
                </a:solidFill>
                <a:latin typeface="Times New Roman"/>
                <a:ea typeface="SimSun"/>
                <a:cs typeface="Times New Roman"/>
              </a:rPr>
              <a:t>优化喷嘴布置后，除湿率提高 </a:t>
            </a:r>
            <a:r>
              <a:rPr sz="1400" b="1">
                <a:solidFill>
                  <a:srgbClr val="282828"/>
                </a:solidFill>
                <a:latin typeface="Times New Roman"/>
                <a:ea typeface="SimSun"/>
                <a:cs typeface="Times New Roman"/>
              </a:rPr>
              <a:t>5.85%</a:t>
            </a:r>
            <a:r>
              <a:rPr sz="1400" b="0">
                <a:solidFill>
                  <a:srgbClr val="282828"/>
                </a:solidFill>
                <a:latin typeface="Times New Roman"/>
                <a:ea typeface="SimSun"/>
                <a:cs typeface="Times New Roman"/>
              </a:rPr>
              <a:t>，性能系数（COP）提高 </a:t>
            </a:r>
            <a:r>
              <a:rPr sz="1400" b="1">
                <a:solidFill>
                  <a:srgbClr val="282828"/>
                </a:solidFill>
                <a:latin typeface="Times New Roman"/>
                <a:ea typeface="SimSun"/>
                <a:cs typeface="Times New Roman"/>
              </a:rPr>
              <a:t>16%</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1154817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25</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rgbClr val="C00000"/>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中文要点｜第四部分：CFD 水膜模型</a:t>
            </a:r>
          </a:p>
          <a:p>
            <a:pPr>
              <a:lnSpc>
                <a:spcPct val="108000"/>
              </a:lnSpc>
              <a:spcAft>
                <a:spcPts val="0"/>
              </a:spcAft>
            </a:pPr>
            <a:r>
              <a:rPr sz="1400" b="0">
                <a:solidFill>
                  <a:srgbClr val="282828"/>
                </a:solidFill>
                <a:latin typeface="Times New Roman"/>
                <a:ea typeface="SimSun"/>
                <a:cs typeface="Times New Roman"/>
              </a:rPr>
              <a:t>建立考虑喷雾液滴与板面水膜的三维模型，分析喷淋参数、水膜覆盖及 IEC 性能之间的关系。</a:t>
            </a:r>
          </a:p>
        </p:txBody>
      </p:sp>
    </p:spTree>
    <p:extLst>
      <p:ext uri="{BB962C8B-B14F-4D97-AF65-F5344CB8AC3E}">
        <p14:creationId xmlns:p14="http://schemas.microsoft.com/office/powerpoint/2010/main" val="246297694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844E5D-FE2B-4D13-BD02-DAE1F502FF5E}"/>
              </a:ext>
            </a:extLst>
          </p:cNvPr>
          <p:cNvSpPr>
            <a:spLocks noGrp="1"/>
          </p:cNvSpPr>
          <p:nvPr>
            <p:ph type="sldNum" sz="quarter" idx="12"/>
          </p:nvPr>
        </p:nvSpPr>
        <p:spPr>
          <a:xfrm>
            <a:off x="9233742" y="6412296"/>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26</a:t>
            </a:fld>
            <a:endParaRPr lang="en-US" altLang="zh-CN">
              <a:latin typeface="Times New Roman"/>
              <a:ea typeface="SimSun"/>
              <a:cs typeface="Times New Roman"/>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CC4EC12-D2E2-4BFE-80BA-21509A6B70CA}"/>
                  </a:ext>
                </a:extLst>
              </p:cNvPr>
              <p:cNvSpPr/>
              <p:nvPr/>
            </p:nvSpPr>
            <p:spPr>
              <a:xfrm>
                <a:off x="9964977" y="5862508"/>
                <a:ext cx="854849" cy="557076"/>
              </a:xfrm>
              <a:prstGeom prst="rect">
                <a:avLst/>
              </a:prstGeom>
            </p:spPr>
            <p:txBody>
              <a:bodyPr wrap="none">
                <a:spAutoFit/>
              </a:bodyPr>
              <a:lstStyle/>
              <a:p>
                <a:pPr/>
                <a14:m>
                  <m:oMathPara xmlns:m="http://schemas.openxmlformats.org/officeDocument/2006/math">
                    <m:oMath>
                      <m:r>
                        <a:rPr lang="en-HK" sz="1400" i="1">
                          <a:latin typeface="Times New Roman" panose="02040503050406030204" pitchFamily="18" charset="0"/>
                          <a:ea typeface="SimSun"/>
                          <a:cs typeface="Times New Roman"/>
                        </a:rPr>
                        <m:t>𝜑</m:t>
                      </m:r>
                      <m:r>
                        <a:rPr lang="en-HK" sz="1400">
                          <a:latin typeface="Times New Roman" panose="02040503050406030204" pitchFamily="18" charset="0"/>
                          <a:ea typeface="SimSun"/>
                          <a:cs typeface="Times New Roman"/>
                        </a:rPr>
                        <m:t>=</m:t>
                      </m:r>
                      <m:f>
                        <m:fPr>
                          <m:ctrlPr>
                            <a:rPr lang="en-HK" sz="1400" i="1">
                              <a:latin typeface="Times New Roman" panose="02040503050406030204" pitchFamily="18" charset="0"/>
                              <a:ea typeface="SimSun"/>
                              <a:cs typeface="Times New Roman"/>
                            </a:rPr>
                          </m:ctrlPr>
                        </m:fPr>
                        <m:num>
                          <m:sSub>
                            <m:sSubPr>
                              <m:ctrlPr>
                                <a:rPr lang="en-HK" sz="1400" i="1">
                                  <a:latin typeface="Times New Roman" panose="02040503050406030204" pitchFamily="18" charset="0"/>
                                  <a:ea typeface="SimSun"/>
                                  <a:cs typeface="Times New Roman"/>
                                </a:rPr>
                              </m:ctrlPr>
                            </m:sSubPr>
                            <m:e>
                              <m:r>
                                <a:rPr lang="en-HK" sz="1400" i="1">
                                  <a:latin typeface="Times New Roman" panose="02040503050406030204" pitchFamily="18" charset="0"/>
                                  <a:ea typeface="SimSun"/>
                                  <a:cs typeface="Times New Roman"/>
                                </a:rPr>
                                <m:t>𝐴</m:t>
                              </m:r>
                            </m:e>
                            <m:sub>
                              <m:r>
                                <a:rPr lang="en-HK" sz="1400" i="1">
                                  <a:latin typeface="Times New Roman" panose="02040503050406030204" pitchFamily="18" charset="0"/>
                                  <a:ea typeface="SimSun"/>
                                  <a:cs typeface="Times New Roman"/>
                                </a:rPr>
                                <m:t>𝑤</m:t>
                              </m:r>
                            </m:sub>
                          </m:sSub>
                        </m:num>
                        <m:den>
                          <m:sSub>
                            <m:sSubPr>
                              <m:ctrlPr>
                                <a:rPr lang="en-HK" sz="1400" i="1">
                                  <a:latin typeface="Times New Roman" panose="02040503050406030204" pitchFamily="18" charset="0"/>
                                  <a:ea typeface="SimSun"/>
                                  <a:cs typeface="Times New Roman"/>
                                </a:rPr>
                              </m:ctrlPr>
                            </m:sSubPr>
                            <m:e>
                              <m:r>
                                <a:rPr lang="en-HK" sz="1400" i="1">
                                  <a:latin typeface="Times New Roman" panose="02040503050406030204" pitchFamily="18" charset="0"/>
                                  <a:ea typeface="SimSun"/>
                                  <a:cs typeface="Times New Roman"/>
                                </a:rPr>
                                <m:t>𝐴</m:t>
                              </m:r>
                            </m:e>
                            <m:sub>
                              <m:r>
                                <a:rPr lang="en-HK" sz="1400" i="1">
                                  <a:latin typeface="Times New Roman" panose="02040503050406030204" pitchFamily="18" charset="0"/>
                                  <a:ea typeface="SimSun"/>
                                  <a:cs typeface="Times New Roman"/>
                                </a:rPr>
                                <m:t>𝑝𝑙</m:t>
                              </m:r>
                            </m:sub>
                          </m:sSub>
                        </m:den>
                      </m:f>
                    </m:oMath>
                  </m:oMathPara>
                </a14:m>
                <a:endParaRPr lang="en-HK" sz="1400" dirty="0">
                  <a:latin typeface="Times New Roman"/>
                  <a:ea typeface="SimSun"/>
                  <a:cs typeface="Times New Roman"/>
                </a:endParaRPr>
              </a:p>
            </p:txBody>
          </p:sp>
        </mc:Choice>
        <mc:Fallback xmlns="">
          <p:sp>
            <p:nvSpPr>
              <p:cNvPr id="12" name="矩形 11">
                <a:extLst>
                  <a:ext uri="{FF2B5EF4-FFF2-40B4-BE49-F238E27FC236}">
                    <a16:creationId xmlns:a16="http://schemas.microsoft.com/office/drawing/2014/main" id="{4CC4EC12-D2E2-4BFE-80BA-21509A6B70CA}"/>
                  </a:ext>
                </a:extLst>
              </p:cNvPr>
              <p:cNvSpPr>
                <a:spLocks noRot="1" noChangeAspect="1" noMove="1" noResize="1" noEditPoints="1" noAdjustHandles="1" noChangeArrowheads="1" noChangeShapeType="1" noTextEdit="1"/>
              </p:cNvSpPr>
              <p:nvPr/>
            </p:nvSpPr>
            <p:spPr>
              <a:xfrm>
                <a:off x="9964977" y="5862508"/>
                <a:ext cx="854849" cy="557076"/>
              </a:xfrm>
              <a:prstGeom prst="rect">
                <a:avLst/>
              </a:prstGeom>
              <a:blipFill>
                <a:blip r:embed="rId5"/>
                <a:stretch>
                  <a:fillRect b="-1099"/>
                </a:stretch>
              </a:blipFill>
            </p:spPr>
            <p:txBody>
              <a:bodyPr/>
              <a:lstStyle/>
              <a:p>
                <a:r>
                  <a:rPr lang="en-US">
                    <a:noFill/>
                    <a:latin typeface="Times New Roman"/>
                    <a:ea typeface="SimSun"/>
                    <a:cs typeface="Times New Roman"/>
                  </a:rPr>
                  <a:t> </a:t>
                </a:r>
              </a:p>
            </p:txBody>
          </p:sp>
        </mc:Fallback>
      </mc:AlternateContent>
      <p:sp>
        <p:nvSpPr>
          <p:cNvPr id="19" name="矩形 3">
            <a:extLst>
              <a:ext uri="{FF2B5EF4-FFF2-40B4-BE49-F238E27FC236}">
                <a16:creationId xmlns:a16="http://schemas.microsoft.com/office/drawing/2014/main" id="{B1D8C289-DDD6-4A5B-A999-61ACB5328109}"/>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pSp>
        <p:nvGrpSpPr>
          <p:cNvPr id="20" name="Original English content (proportional layout)"/>
          <p:cNvGrpSpPr/>
          <p:nvPr/>
        </p:nvGrpSpPr>
        <p:grpSpPr>
          <a:xfrm>
            <a:off x="1097280" y="731520"/>
            <a:ext cx="9997440" cy="5023714"/>
            <a:chOff x="0" y="731520"/>
            <a:chExt cx="12192000" cy="6126480"/>
          </a:xfrm>
        </p:grpSpPr>
        <p:pic>
          <p:nvPicPr>
            <p:cNvPr id="4" name="图片 3">
              <a:extLst>
                <a:ext uri="{FF2B5EF4-FFF2-40B4-BE49-F238E27FC236}">
                  <a16:creationId xmlns:a16="http://schemas.microsoft.com/office/drawing/2014/main" id="{97CB8AF9-DC9E-4161-A939-0CC337370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546" y="1980471"/>
              <a:ext cx="2729792" cy="4796950"/>
            </a:xfrm>
            <a:prstGeom prst="rect">
              <a:avLst/>
            </a:prstGeom>
          </p:spPr>
        </p:pic>
        <p:sp>
          <p:nvSpPr>
            <p:cNvPr id="8" name="矩形 7">
              <a:extLst>
                <a:ext uri="{FF2B5EF4-FFF2-40B4-BE49-F238E27FC236}">
                  <a16:creationId xmlns:a16="http://schemas.microsoft.com/office/drawing/2014/main" id="{A1864603-06F1-4AE8-965F-BFE9A824EEBF}"/>
                </a:ext>
              </a:extLst>
            </p:cNvPr>
            <p:cNvSpPr/>
            <p:nvPr/>
          </p:nvSpPr>
          <p:spPr>
            <a:xfrm>
              <a:off x="257319" y="1019422"/>
              <a:ext cx="3288080" cy="369332"/>
            </a:xfrm>
            <a:prstGeom prst="rect">
              <a:avLst/>
            </a:prstGeom>
          </p:spPr>
          <p:txBody>
            <a:bodyPr wrap="none">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4.1 Model description (ANSYS)</a:t>
              </a:r>
            </a:p>
          </p:txBody>
        </p:sp>
        <p:sp>
          <p:nvSpPr>
            <p:cNvPr id="7" name="椭圆 6">
              <a:extLst>
                <a:ext uri="{FF2B5EF4-FFF2-40B4-BE49-F238E27FC236}">
                  <a16:creationId xmlns:a16="http://schemas.microsoft.com/office/drawing/2014/main" id="{E9CAB4BB-262F-45A3-879E-41998BBBE8E4}"/>
                </a:ext>
              </a:extLst>
            </p:cNvPr>
            <p:cNvSpPr/>
            <p:nvPr/>
          </p:nvSpPr>
          <p:spPr bwMode="auto">
            <a:xfrm>
              <a:off x="9964977" y="5710159"/>
              <a:ext cx="943493" cy="894178"/>
            </a:xfrm>
            <a:prstGeom prst="ellipse">
              <a:avLst/>
            </a:prstGeom>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dirty="0">
                <a:solidFill>
                  <a:srgbClr val="A60626"/>
                </a:solidFill>
                <a:latin typeface="Times New Roman" charset="0"/>
                <a:ea typeface="SimSun"/>
                <a:cs typeface="Times New Roman"/>
              </a:endParaRPr>
            </a:p>
          </p:txBody>
        </p:sp>
        <p:sp>
          <p:nvSpPr>
            <p:cNvPr id="9" name="矩形 8">
              <a:extLst>
                <a:ext uri="{FF2B5EF4-FFF2-40B4-BE49-F238E27FC236}">
                  <a16:creationId xmlns:a16="http://schemas.microsoft.com/office/drawing/2014/main" id="{9922598D-9535-4E3E-A25D-BA28755CF18D}"/>
                </a:ext>
              </a:extLst>
            </p:cNvPr>
            <p:cNvSpPr/>
            <p:nvPr/>
          </p:nvSpPr>
          <p:spPr>
            <a:xfrm>
              <a:off x="4265583" y="5778563"/>
              <a:ext cx="3157011"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Fig.4.1.2 </a:t>
              </a:r>
              <a:r>
                <a:rPr lang="en-HK" sz="984" dirty="0">
                  <a:latin typeface="Times New Roman" panose="02020603050405020304" pitchFamily="18" charset="0"/>
                  <a:ea typeface="SimSun"/>
                  <a:cs typeface="Times New Roman" panose="02020603050405020304" pitchFamily="18" charset="0"/>
                </a:rPr>
                <a:t>Configuration of an IEC system</a:t>
              </a:r>
            </a:p>
          </p:txBody>
        </p:sp>
        <p:pic>
          <p:nvPicPr>
            <p:cNvPr id="10" name="图片 9">
              <a:extLst>
                <a:ext uri="{FF2B5EF4-FFF2-40B4-BE49-F238E27FC236}">
                  <a16:creationId xmlns:a16="http://schemas.microsoft.com/office/drawing/2014/main" id="{3BE9E6F9-F6C2-4EFA-A99F-C75EA8A46D72}"/>
                </a:ext>
              </a:extLst>
            </p:cNvPr>
            <p:cNvPicPr/>
            <p:nvPr/>
          </p:nvPicPr>
          <p:blipFill>
            <a:blip r:embed="rId4">
              <a:extLst>
                <a:ext uri="{28A0092B-C50C-407E-A947-70E740481C1C}">
                  <a14:useLocalDpi xmlns:a14="http://schemas.microsoft.com/office/drawing/2010/main" val="0"/>
                </a:ext>
              </a:extLst>
            </a:blip>
            <a:stretch>
              <a:fillRect/>
            </a:stretch>
          </p:blipFill>
          <p:spPr>
            <a:xfrm>
              <a:off x="7978839" y="2157644"/>
              <a:ext cx="3483145" cy="2999479"/>
            </a:xfrm>
            <a:prstGeom prst="rect">
              <a:avLst/>
            </a:prstGeom>
          </p:spPr>
        </p:pic>
        <p:sp>
          <p:nvSpPr>
            <p:cNvPr id="11" name="矩形 10">
              <a:extLst>
                <a:ext uri="{FF2B5EF4-FFF2-40B4-BE49-F238E27FC236}">
                  <a16:creationId xmlns:a16="http://schemas.microsoft.com/office/drawing/2014/main" id="{9E61F4F3-7295-48C8-8C55-DD777A473AEF}"/>
                </a:ext>
              </a:extLst>
            </p:cNvPr>
            <p:cNvSpPr/>
            <p:nvPr/>
          </p:nvSpPr>
          <p:spPr>
            <a:xfrm>
              <a:off x="7705457" y="5251685"/>
              <a:ext cx="4792063"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Fig.4.1.3 </a:t>
              </a:r>
              <a:r>
                <a:rPr lang="en-HK" sz="984" dirty="0">
                  <a:latin typeface="Times New Roman" panose="02020603050405020304" pitchFamily="18" charset="0"/>
                  <a:ea typeface="SimSun"/>
                  <a:cs typeface="Times New Roman" panose="02020603050405020304" pitchFamily="18" charset="0"/>
                </a:rPr>
                <a:t>Geometry used in volumetric flux distribution model</a:t>
              </a:r>
              <a:endParaRPr lang="en-HK" sz="984" dirty="0">
                <a:latin typeface="Times New Roman" panose="020B0604020202020204" pitchFamily="34" charset="0"/>
                <a:ea typeface="SimSun"/>
                <a:cs typeface="Times New Roman" panose="020B0604020202020204" pitchFamily="34" charset="0"/>
              </a:endParaRPr>
            </a:p>
          </p:txBody>
        </p:sp>
        <p:sp>
          <p:nvSpPr>
            <p:cNvPr id="13" name="矩形 12">
              <a:extLst>
                <a:ext uri="{FF2B5EF4-FFF2-40B4-BE49-F238E27FC236}">
                  <a16:creationId xmlns:a16="http://schemas.microsoft.com/office/drawing/2014/main" id="{B5DA5B7F-FDDD-4602-A2BF-D99B9D52C614}"/>
                </a:ext>
              </a:extLst>
            </p:cNvPr>
            <p:cNvSpPr/>
            <p:nvPr/>
          </p:nvSpPr>
          <p:spPr>
            <a:xfrm>
              <a:off x="8488547" y="5987158"/>
              <a:ext cx="1612942" cy="338554"/>
            </a:xfrm>
            <a:prstGeom prst="rect">
              <a:avLst/>
            </a:prstGeom>
          </p:spPr>
          <p:txBody>
            <a:bodyPr wrap="none">
              <a:spAutoFit/>
            </a:bodyPr>
            <a:lstStyle/>
            <a:p>
              <a:r>
                <a:rPr lang="en-HK" sz="1312" dirty="0">
                  <a:latin typeface="Times New Roman" panose="02020603050405020304" pitchFamily="18" charset="0"/>
                  <a:ea typeface="SimSun"/>
                  <a:cs typeface="Times New Roman" panose="02020603050405020304" pitchFamily="18" charset="0"/>
                </a:rPr>
                <a:t>Coverage factor: </a:t>
              </a:r>
            </a:p>
          </p:txBody>
        </p:sp>
        <p:sp>
          <p:nvSpPr>
            <p:cNvPr id="14" name="矩形 13">
              <a:extLst>
                <a:ext uri="{FF2B5EF4-FFF2-40B4-BE49-F238E27FC236}">
                  <a16:creationId xmlns:a16="http://schemas.microsoft.com/office/drawing/2014/main" id="{9BDD8AE5-E139-4D61-B1EF-042597C2DE2B}"/>
                </a:ext>
              </a:extLst>
            </p:cNvPr>
            <p:cNvSpPr/>
            <p:nvPr/>
          </p:nvSpPr>
          <p:spPr>
            <a:xfrm>
              <a:off x="3709338" y="1469299"/>
              <a:ext cx="2866490" cy="338554"/>
            </a:xfrm>
            <a:prstGeom prst="rect">
              <a:avLst/>
            </a:prstGeom>
          </p:spPr>
          <p:txBody>
            <a:bodyPr wrap="none">
              <a:spAutoFit/>
            </a:bodyPr>
            <a:lstStyle/>
            <a:p>
              <a:pPr marL="285750" indent="-285750">
                <a:buFont typeface="Wingdings" panose="05000000000000000000" pitchFamily="2" charset="2"/>
                <a:buChar char="Ø"/>
              </a:pPr>
              <a:r>
                <a:rPr lang="en-HK" sz="1312" dirty="0">
                  <a:latin typeface="Times New Roman" panose="02020603050405020304" pitchFamily="18" charset="0"/>
                  <a:ea typeface="SimSun"/>
                  <a:cs typeface="Times New Roman" panose="02020603050405020304" pitchFamily="18" charset="0"/>
                </a:rPr>
                <a:t>Model of single wet channel </a:t>
              </a:r>
            </a:p>
          </p:txBody>
        </p:sp>
        <p:sp>
          <p:nvSpPr>
            <p:cNvPr id="15" name="矩形 14">
              <a:extLst>
                <a:ext uri="{FF2B5EF4-FFF2-40B4-BE49-F238E27FC236}">
                  <a16:creationId xmlns:a16="http://schemas.microsoft.com/office/drawing/2014/main" id="{E9CFA491-2490-4D9F-93B9-D66A35988A3D}"/>
                </a:ext>
              </a:extLst>
            </p:cNvPr>
            <p:cNvSpPr/>
            <p:nvPr/>
          </p:nvSpPr>
          <p:spPr>
            <a:xfrm>
              <a:off x="7235996" y="1469282"/>
              <a:ext cx="4535268" cy="338554"/>
            </a:xfrm>
            <a:prstGeom prst="rect">
              <a:avLst/>
            </a:prstGeom>
          </p:spPr>
          <p:txBody>
            <a:bodyPr wrap="square">
              <a:spAutoFit/>
            </a:bodyPr>
            <a:lstStyle/>
            <a:p>
              <a:pPr marL="285750" indent="-285750">
                <a:buFont typeface="Wingdings" panose="05000000000000000000" pitchFamily="2" charset="2"/>
                <a:buChar char="Ø"/>
              </a:pPr>
              <a:r>
                <a:rPr lang="en-HK" sz="1312" dirty="0">
                  <a:latin typeface="Times New Roman" panose="02020603050405020304" pitchFamily="18" charset="0"/>
                  <a:ea typeface="SimSun"/>
                  <a:cs typeface="Times New Roman" panose="02020603050405020304" pitchFamily="18" charset="0"/>
                </a:rPr>
                <a:t>Different heat transfer for different coverage area</a:t>
              </a:r>
            </a:p>
          </p:txBody>
        </p:sp>
        <p:pic>
          <p:nvPicPr>
            <p:cNvPr id="16" name="图片 15">
              <a:extLst>
                <a:ext uri="{FF2B5EF4-FFF2-40B4-BE49-F238E27FC236}">
                  <a16:creationId xmlns:a16="http://schemas.microsoft.com/office/drawing/2014/main" id="{73D5DB88-9437-457C-9E6D-7E2E73638BA1}"/>
                </a:ext>
              </a:extLst>
            </p:cNvPr>
            <p:cNvPicPr/>
            <p:nvPr/>
          </p:nvPicPr>
          <p:blipFill>
            <a:blip r:embed="rId6">
              <a:extLst>
                <a:ext uri="{28A0092B-C50C-407E-A947-70E740481C1C}">
                  <a14:useLocalDpi xmlns:a14="http://schemas.microsoft.com/office/drawing/2010/main" val="0"/>
                </a:ext>
              </a:extLst>
            </a:blip>
            <a:stretch>
              <a:fillRect/>
            </a:stretch>
          </p:blipFill>
          <p:spPr>
            <a:xfrm>
              <a:off x="4787491" y="1975695"/>
              <a:ext cx="1968490" cy="3635026"/>
            </a:xfrm>
            <a:prstGeom prst="rect">
              <a:avLst/>
            </a:prstGeom>
          </p:spPr>
        </p:pic>
        <p:sp>
          <p:nvSpPr>
            <p:cNvPr id="18" name="矩形 17">
              <a:extLst>
                <a:ext uri="{FF2B5EF4-FFF2-40B4-BE49-F238E27FC236}">
                  <a16:creationId xmlns:a16="http://schemas.microsoft.com/office/drawing/2014/main" id="{65E5F680-4B2B-41F7-8B28-D80F0CFCB1C0}"/>
                </a:ext>
              </a:extLst>
            </p:cNvPr>
            <p:cNvSpPr/>
            <p:nvPr/>
          </p:nvSpPr>
          <p:spPr>
            <a:xfrm>
              <a:off x="594591" y="1469299"/>
              <a:ext cx="1306768" cy="338554"/>
            </a:xfrm>
            <a:prstGeom prst="rect">
              <a:avLst/>
            </a:prstGeom>
          </p:spPr>
          <p:txBody>
            <a:bodyPr wrap="none">
              <a:spAutoFit/>
            </a:bodyPr>
            <a:lstStyle/>
            <a:p>
              <a:pPr marL="285750" indent="-285750">
                <a:buFont typeface="Wingdings" panose="05000000000000000000" pitchFamily="2" charset="2"/>
                <a:buChar char="Ø"/>
              </a:pPr>
              <a:r>
                <a:rPr lang="en-HK" sz="1312" dirty="0">
                  <a:latin typeface="Times New Roman" panose="02020603050405020304" pitchFamily="18" charset="0"/>
                  <a:ea typeface="SimSun"/>
                  <a:cs typeface="Times New Roman" panose="02020603050405020304" pitchFamily="18" charset="0"/>
                </a:rPr>
                <a:t>Flowchart</a:t>
              </a:r>
            </a:p>
          </p:txBody>
        </p:sp>
      </p:grpSp>
      <p:sp>
        <p:nvSpPr>
          <p:cNvPr id="21"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中文要点｜CFD 模型构建</a:t>
            </a:r>
          </a:p>
          <a:p>
            <a:pPr>
              <a:lnSpc>
                <a:spcPct val="108000"/>
              </a:lnSpc>
              <a:spcAft>
                <a:spcPts val="0"/>
              </a:spcAft>
            </a:pPr>
            <a:r>
              <a:rPr sz="1400" b="0">
                <a:solidFill>
                  <a:srgbClr val="282828"/>
                </a:solidFill>
                <a:latin typeface="Times New Roman"/>
                <a:ea typeface="SimSun"/>
                <a:cs typeface="Times New Roman"/>
              </a:rPr>
              <a:t>针对单个湿通道建模，区分润湿与未润湿区域的传热过程，并引入覆盖系数描述实际水膜状态。</a:t>
            </a:r>
          </a:p>
        </p:txBody>
      </p:sp>
    </p:spTree>
    <p:extLst>
      <p:ext uri="{BB962C8B-B14F-4D97-AF65-F5344CB8AC3E}">
        <p14:creationId xmlns:p14="http://schemas.microsoft.com/office/powerpoint/2010/main" val="235476545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9784B58F-FAD0-4985-94F1-077B985EA0E2}"/>
                  </a:ext>
                </a:extLst>
              </p:cNvPr>
              <p:cNvSpPr/>
              <p:nvPr/>
            </p:nvSpPr>
            <p:spPr>
              <a:xfrm>
                <a:off x="1528202" y="1626427"/>
                <a:ext cx="2086597" cy="560538"/>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𝑢</m:t>
                          </m:r>
                        </m:e>
                      </m:d>
                      <m:r>
                        <a:rPr lang="en-HK" sz="1600">
                          <a:latin typeface="Times New Roman" panose="02040503050406030204" pitchFamily="18" charset="0"/>
                          <a:ea typeface="SimSun"/>
                          <a:cs typeface="Times New Roman"/>
                        </a:rPr>
                        <m:t>=0</m:t>
                      </m:r>
                    </m:oMath>
                  </m:oMathPara>
                </a14:m>
                <a:endParaRPr lang="en-HK" sz="1600" dirty="0">
                  <a:latin typeface="Times New Roman"/>
                  <a:ea typeface="SimSun"/>
                  <a:cs typeface="Times New Roman"/>
                </a:endParaRPr>
              </a:p>
            </p:txBody>
          </p:sp>
        </mc:Choice>
        <mc:Fallback xmlns="">
          <p:sp>
            <p:nvSpPr>
              <p:cNvPr id="19" name="矩形 18">
                <a:extLst>
                  <a:ext uri="{FF2B5EF4-FFF2-40B4-BE49-F238E27FC236}">
                    <a16:creationId xmlns:a16="http://schemas.microsoft.com/office/drawing/2014/main" id="{9784B58F-FAD0-4985-94F1-077B985EA0E2}"/>
                  </a:ext>
                </a:extLst>
              </p:cNvPr>
              <p:cNvSpPr>
                <a:spLocks noRot="1" noChangeAspect="1" noMove="1" noResize="1" noEditPoints="1" noAdjustHandles="1" noChangeArrowheads="1" noChangeShapeType="1" noTextEdit="1"/>
              </p:cNvSpPr>
              <p:nvPr/>
            </p:nvSpPr>
            <p:spPr>
              <a:xfrm>
                <a:off x="1528202" y="1626427"/>
                <a:ext cx="2086597" cy="560538"/>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2F204E31-4AF7-43F6-866C-289013849E15}"/>
                  </a:ext>
                </a:extLst>
              </p:cNvPr>
              <p:cNvSpPr/>
              <p:nvPr/>
            </p:nvSpPr>
            <p:spPr>
              <a:xfrm>
                <a:off x="1417173" y="2611800"/>
                <a:ext cx="3732966" cy="838499"/>
              </a:xfrm>
              <a:prstGeom prst="rect">
                <a:avLst/>
              </a:prstGeom>
            </p:spPr>
            <p:txBody>
              <a:bodyPr wrap="squar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𝐸</m:t>
                          </m:r>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𝜌</m:t>
                          </m:r>
                          <m:sSup>
                            <m:sSupPr>
                              <m:ctrlPr>
                                <a:rPr lang="en-HK" sz="1600" i="1">
                                  <a:latin typeface="Times New Roman" panose="02040503050406030204" pitchFamily="18" charset="0"/>
                                  <a:ea typeface="SimSun"/>
                                  <a:cs typeface="Times New Roman"/>
                                </a:rPr>
                              </m:ctrlPr>
                            </m:sSupPr>
                            <m:e>
                              <m:r>
                                <a:rPr lang="en-HK" sz="1600" i="1">
                                  <a:latin typeface="Times New Roman" panose="02040503050406030204" pitchFamily="18" charset="0"/>
                                  <a:ea typeface="SimSun"/>
                                  <a:cs typeface="Times New Roman"/>
                                </a:rPr>
                                <m:t>𝑢</m:t>
                              </m:r>
                            </m:e>
                            <m:sup>
                              <m:r>
                                <a:rPr lang="en-HK" sz="1600">
                                  <a:latin typeface="Times New Roman" panose="02040503050406030204" pitchFamily="18" charset="0"/>
                                  <a:ea typeface="SimSun"/>
                                  <a:cs typeface="Times New Roman"/>
                                </a:rPr>
                                <m:t>2</m:t>
                              </m:r>
                            </m:sup>
                          </m:sSup>
                        </m:e>
                      </m:d>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𝑃</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d>
                        <m:dPr>
                          <m:ctrlPr>
                            <a:rPr lang="en-HK" sz="1600" i="1">
                              <a:latin typeface="Times New Roman" panose="02040503050406030204" pitchFamily="18" charset="0"/>
                              <a:ea typeface="SimSun"/>
                              <a:cs typeface="Times New Roman"/>
                            </a:rPr>
                          </m:ctrlPr>
                        </m:dPr>
                        <m:e>
                          <m:r>
                            <a:rPr lang="en-HK" sz="1600" i="1">
                              <a:latin typeface="Times New Roman" panose="02040503050406030204" pitchFamily="18" charset="0"/>
                              <a:ea typeface="SimSun"/>
                              <a:cs typeface="Times New Roman"/>
                            </a:rPr>
                            <m:t>𝜇</m:t>
                          </m:r>
                          <m:d>
                            <m:dPr>
                              <m:ctrlPr>
                                <a:rPr lang="en-HK" sz="1600">
                                  <a:latin typeface="Times New Roman" panose="02040503050406030204" pitchFamily="18" charset="0"/>
                                  <a:ea typeface="SimSun"/>
                                  <a:cs typeface="Times New Roman"/>
                                </a:rPr>
                              </m:ctrlPr>
                            </m:dPr>
                            <m:e>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𝑢</m:t>
                              </m:r>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sSup>
                                <m:sSupPr>
                                  <m:ctrlPr>
                                    <a:rPr lang="en-HK" sz="1600" i="1">
                                      <a:latin typeface="Times New Roman" panose="02040503050406030204" pitchFamily="18" charset="0"/>
                                      <a:ea typeface="SimSun"/>
                                      <a:cs typeface="Times New Roman"/>
                                    </a:rPr>
                                  </m:ctrlPr>
                                </m:sSupPr>
                                <m:e>
                                  <m:r>
                                    <a:rPr lang="en-HK" sz="1600" i="1">
                                      <a:latin typeface="Times New Roman" panose="02040503050406030204" pitchFamily="18" charset="0"/>
                                      <a:ea typeface="SimSun"/>
                                      <a:cs typeface="Times New Roman"/>
                                    </a:rPr>
                                    <m:t>𝑢</m:t>
                                  </m:r>
                                </m:e>
                                <m:sup>
                                  <m:r>
                                    <a:rPr lang="en-HK" sz="1600" i="1">
                                      <a:latin typeface="Times New Roman" panose="02040503050406030204" pitchFamily="18" charset="0"/>
                                      <a:ea typeface="SimSun"/>
                                      <a:cs typeface="Times New Roman"/>
                                    </a:rPr>
                                    <m:t>𝑇</m:t>
                                  </m:r>
                                </m:sup>
                              </m:sSup>
                            </m:e>
                          </m:d>
                        </m:e>
                      </m:d>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𝜌</m:t>
                      </m:r>
                      <m:r>
                        <a:rPr lang="en-HK" sz="1600" i="1">
                          <a:latin typeface="Times New Roman" panose="02040503050406030204" pitchFamily="18" charset="0"/>
                          <a:ea typeface="SimSun"/>
                          <a:cs typeface="Times New Roman"/>
                        </a:rPr>
                        <m:t>𝑔</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𝐹</m:t>
                      </m:r>
                    </m:oMath>
                  </m:oMathPara>
                </a14:m>
                <a:endParaRPr lang="en-HK" sz="1600" dirty="0">
                  <a:latin typeface="Times New Roman"/>
                  <a:ea typeface="SimSun"/>
                  <a:cs typeface="Times New Roman"/>
                </a:endParaRPr>
              </a:p>
            </p:txBody>
          </p:sp>
        </mc:Choice>
        <mc:Fallback xmlns="">
          <p:sp>
            <p:nvSpPr>
              <p:cNvPr id="21" name="矩形 20">
                <a:extLst>
                  <a:ext uri="{FF2B5EF4-FFF2-40B4-BE49-F238E27FC236}">
                    <a16:creationId xmlns:a16="http://schemas.microsoft.com/office/drawing/2014/main" id="{2F204E31-4AF7-43F6-866C-289013849E15}"/>
                  </a:ext>
                </a:extLst>
              </p:cNvPr>
              <p:cNvSpPr>
                <a:spLocks noRot="1" noChangeAspect="1" noMove="1" noResize="1" noEditPoints="1" noAdjustHandles="1" noChangeArrowheads="1" noChangeShapeType="1" noTextEdit="1"/>
              </p:cNvSpPr>
              <p:nvPr/>
            </p:nvSpPr>
            <p:spPr>
              <a:xfrm>
                <a:off x="1417173" y="2611800"/>
                <a:ext cx="3732966" cy="838499"/>
              </a:xfrm>
              <a:prstGeom prst="rect">
                <a:avLst/>
              </a:prstGeom>
              <a:blipFill>
                <a:blip r:embed="rId5"/>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489DAD21-4DD6-4C86-8037-4F26A74EBB81}"/>
                  </a:ext>
                </a:extLst>
              </p:cNvPr>
              <p:cNvSpPr/>
              <p:nvPr/>
            </p:nvSpPr>
            <p:spPr>
              <a:xfrm>
                <a:off x="1508428" y="3697032"/>
                <a:ext cx="3603935" cy="602601"/>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ℎ</m:t>
                          </m:r>
                        </m:e>
                        <m:sub>
                          <m:r>
                            <a:rPr lang="en-HK" sz="1600" i="1">
                              <a:latin typeface="Times New Roman" panose="02040503050406030204" pitchFamily="18" charset="0"/>
                              <a:ea typeface="SimSun"/>
                              <a:cs typeface="Times New Roman"/>
                            </a:rPr>
                            <m:t>𝑚𝑠</m:t>
                          </m:r>
                        </m:sub>
                      </m:sSub>
                      <m:d>
                        <m:dPr>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𝑡</m:t>
                                  </m:r>
                                </m:e>
                                <m:sub>
                                  <m:r>
                                    <a:rPr lang="en-HK" sz="1600" i="1">
                                      <a:latin typeface="Times New Roman" panose="02040503050406030204" pitchFamily="18" charset="0"/>
                                      <a:ea typeface="SimSun"/>
                                      <a:cs typeface="Times New Roman"/>
                                    </a:rPr>
                                    <m:t>𝑤</m:t>
                                  </m:r>
                                </m:sub>
                              </m:sSub>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e>
                      </m:d>
                      <m:r>
                        <a:rPr lang="en-HK" sz="1600" i="1">
                          <a:latin typeface="Times New Roman" panose="02040503050406030204" pitchFamily="18" charset="0"/>
                          <a:ea typeface="SimSun"/>
                          <a:cs typeface="Times New Roman"/>
                        </a:rPr>
                        <m:t>𝜎</m:t>
                      </m:r>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𝑑𝑥𝑑𝑦</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𝑚</m:t>
                              </m:r>
                            </m:e>
                          </m:acc>
                        </m:e>
                        <m:sub>
                          <m:r>
                            <a:rPr lang="en-HK" sz="1600" i="1">
                              <a:latin typeface="Times New Roman" panose="02040503050406030204" pitchFamily="18" charset="0"/>
                              <a:ea typeface="SimSun"/>
                              <a:cs typeface="Times New Roman"/>
                            </a:rPr>
                            <m:t>𝑠</m:t>
                          </m:r>
                        </m:sub>
                      </m:sSub>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𝑑𝑦</m:t>
                      </m:r>
                    </m:oMath>
                  </m:oMathPara>
                </a14:m>
                <a:endParaRPr lang="en-HK" sz="1600" dirty="0">
                  <a:latin typeface="Times New Roman"/>
                  <a:ea typeface="SimSun"/>
                  <a:cs typeface="Times New Roman"/>
                </a:endParaRPr>
              </a:p>
            </p:txBody>
          </p:sp>
        </mc:Choice>
        <mc:Fallback xmlns="">
          <p:sp>
            <p:nvSpPr>
              <p:cNvPr id="23" name="矩形 22">
                <a:extLst>
                  <a:ext uri="{FF2B5EF4-FFF2-40B4-BE49-F238E27FC236}">
                    <a16:creationId xmlns:a16="http://schemas.microsoft.com/office/drawing/2014/main" id="{489DAD21-4DD6-4C86-8037-4F26A74EBB81}"/>
                  </a:ext>
                </a:extLst>
              </p:cNvPr>
              <p:cNvSpPr>
                <a:spLocks noRot="1" noChangeAspect="1" noMove="1" noResize="1" noEditPoints="1" noAdjustHandles="1" noChangeArrowheads="1" noChangeShapeType="1" noTextEdit="1"/>
              </p:cNvSpPr>
              <p:nvPr/>
            </p:nvSpPr>
            <p:spPr>
              <a:xfrm>
                <a:off x="1508428" y="3697032"/>
                <a:ext cx="3603935" cy="602601"/>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2DAD2746-6358-4584-A5F0-FC93C43A7218}"/>
                  </a:ext>
                </a:extLst>
              </p:cNvPr>
              <p:cNvSpPr/>
              <p:nvPr/>
            </p:nvSpPr>
            <p:spPr>
              <a:xfrm>
                <a:off x="1508428" y="4260928"/>
                <a:ext cx="1504836" cy="602601"/>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𝑒</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𝑚</m:t>
                              </m:r>
                            </m:e>
                          </m:acc>
                        </m:e>
                        <m:sub>
                          <m:r>
                            <a:rPr lang="en-HK" sz="1600" i="1">
                              <a:latin typeface="Times New Roman" panose="02040503050406030204" pitchFamily="18" charset="0"/>
                              <a:ea typeface="SimSun"/>
                              <a:cs typeface="Times New Roman"/>
                            </a:rPr>
                            <m:t>𝑠</m:t>
                          </m:r>
                        </m:sub>
                      </m:sSub>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𝜔</m:t>
                              </m:r>
                            </m:e>
                            <m:sub>
                              <m:r>
                                <a:rPr lang="en-HK" sz="1600" i="1">
                                  <a:latin typeface="Times New Roman" panose="02040503050406030204" pitchFamily="18" charset="0"/>
                                  <a:ea typeface="SimSun"/>
                                  <a:cs typeface="Times New Roman"/>
                                </a:rPr>
                                <m:t>𝑠</m:t>
                              </m:r>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𝑦</m:t>
                          </m:r>
                        </m:den>
                      </m:f>
                    </m:oMath>
                  </m:oMathPara>
                </a14:m>
                <a:endParaRPr lang="en-HK" sz="1600" dirty="0">
                  <a:latin typeface="Times New Roman"/>
                  <a:ea typeface="SimSun"/>
                  <a:cs typeface="Times New Roman"/>
                </a:endParaRPr>
              </a:p>
            </p:txBody>
          </p:sp>
        </mc:Choice>
        <mc:Fallback xmlns="">
          <p:sp>
            <p:nvSpPr>
              <p:cNvPr id="24" name="矩形 23">
                <a:extLst>
                  <a:ext uri="{FF2B5EF4-FFF2-40B4-BE49-F238E27FC236}">
                    <a16:creationId xmlns:a16="http://schemas.microsoft.com/office/drawing/2014/main" id="{2DAD2746-6358-4584-A5F0-FC93C43A7218}"/>
                  </a:ext>
                </a:extLst>
              </p:cNvPr>
              <p:cNvSpPr>
                <a:spLocks noRot="1" noChangeAspect="1" noMove="1" noResize="1" noEditPoints="1" noAdjustHandles="1" noChangeArrowheads="1" noChangeShapeType="1" noTextEdit="1"/>
              </p:cNvSpPr>
              <p:nvPr/>
            </p:nvSpPr>
            <p:spPr>
              <a:xfrm>
                <a:off x="1508428" y="4260928"/>
                <a:ext cx="1504836" cy="602601"/>
              </a:xfrm>
              <a:prstGeom prst="rect">
                <a:avLst/>
              </a:prstGeom>
              <a:blipFill>
                <a:blip r:embed="rId7"/>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84CEEDF-7DED-43EA-9FA3-6B3CE26FED7B}"/>
                  </a:ext>
                </a:extLst>
              </p:cNvPr>
              <p:cNvSpPr/>
              <p:nvPr/>
            </p:nvSpPr>
            <p:spPr>
              <a:xfrm>
                <a:off x="1531252" y="5252293"/>
                <a:ext cx="1971822" cy="358560"/>
              </a:xfrm>
              <a:prstGeom prst="rect">
                <a:avLst/>
              </a:prstGeom>
            </p:spPr>
            <p:txBody>
              <a:bodyPr wrap="none">
                <a:spAutoFit/>
              </a:bodyPr>
              <a:lstStyle/>
              <a:p>
                <a:pPr/>
                <a14:m>
                  <m:oMathPara xmlns:m="http://schemas.openxmlformats.org/officeDocument/2006/math">
                    <m:oMath>
                      <m:r>
                        <m:rPr>
                          <m:sty m:val="p"/>
                        </m:rPr>
                        <a:rPr lang="en-HK" sz="1600">
                          <a:latin typeface="Times New Roman" panose="02040503050406030204" pitchFamily="18" charset="0"/>
                          <a:ea typeface="SimSun"/>
                          <a:cs typeface="Times New Roman"/>
                        </a:rPr>
                        <m:t>ρ</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a:latin typeface="Times New Roman" panose="02040503050406030204" pitchFamily="18" charset="0"/>
                              <a:ea typeface="SimSun"/>
                              <a:cs typeface="Times New Roman"/>
                            </a:rPr>
                            <m:t>1</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a:latin typeface="Times New Roman" panose="02040503050406030204" pitchFamily="18" charset="0"/>
                              <a:ea typeface="SimSun"/>
                              <a:cs typeface="Times New Roman"/>
                            </a:rPr>
                            <m:t>1</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i="1">
                              <a:latin typeface="Times New Roman" panose="02040503050406030204" pitchFamily="18" charset="0"/>
                              <a:ea typeface="SimSun"/>
                              <a:cs typeface="Times New Roman"/>
                            </a:rPr>
                            <m:t>𝑔</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i="1">
                              <a:latin typeface="Times New Roman" panose="02040503050406030204" pitchFamily="18" charset="0"/>
                              <a:ea typeface="SimSun"/>
                              <a:cs typeface="Times New Roman"/>
                            </a:rPr>
                            <m:t>𝑔</m:t>
                          </m:r>
                        </m:sub>
                      </m:sSub>
                    </m:oMath>
                  </m:oMathPara>
                </a14:m>
                <a:endParaRPr lang="en-HK" sz="1600" dirty="0">
                  <a:latin typeface="Times New Roman"/>
                  <a:ea typeface="SimSun"/>
                  <a:cs typeface="Times New Roman"/>
                </a:endParaRPr>
              </a:p>
            </p:txBody>
          </p:sp>
        </mc:Choice>
        <mc:Fallback xmlns="">
          <p:sp>
            <p:nvSpPr>
              <p:cNvPr id="26" name="矩形 25">
                <a:extLst>
                  <a:ext uri="{FF2B5EF4-FFF2-40B4-BE49-F238E27FC236}">
                    <a16:creationId xmlns:a16="http://schemas.microsoft.com/office/drawing/2014/main" id="{084CEEDF-7DED-43EA-9FA3-6B3CE26FED7B}"/>
                  </a:ext>
                </a:extLst>
              </p:cNvPr>
              <p:cNvSpPr>
                <a:spLocks noRot="1" noChangeAspect="1" noMove="1" noResize="1" noEditPoints="1" noAdjustHandles="1" noChangeArrowheads="1" noChangeShapeType="1" noTextEdit="1"/>
              </p:cNvSpPr>
              <p:nvPr/>
            </p:nvSpPr>
            <p:spPr>
              <a:xfrm>
                <a:off x="1531252" y="5252293"/>
                <a:ext cx="1971822" cy="358560"/>
              </a:xfrm>
              <a:prstGeom prst="rect">
                <a:avLst/>
              </a:prstGeom>
              <a:blipFill>
                <a:blip r:embed="rId8"/>
                <a:stretch>
                  <a:fillRect b="-3448"/>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4F72ED22-F12F-4F37-8EC8-803AAA3928F7}"/>
                  </a:ext>
                </a:extLst>
              </p:cNvPr>
              <p:cNvSpPr/>
              <p:nvPr/>
            </p:nvSpPr>
            <p:spPr>
              <a:xfrm>
                <a:off x="1533707" y="5723243"/>
                <a:ext cx="1983172" cy="358560"/>
              </a:xfrm>
              <a:prstGeom prst="rect">
                <a:avLst/>
              </a:prstGeom>
            </p:spPr>
            <p:txBody>
              <a:bodyPr wrap="none">
                <a:spAutoFit/>
              </a:bodyPr>
              <a:lstStyle/>
              <a:p>
                <a:pPr/>
                <a14:m>
                  <m:oMathPara xmlns:m="http://schemas.openxmlformats.org/officeDocument/2006/math">
                    <m:oMath>
                      <m:r>
                        <m:rPr>
                          <m:sty m:val="p"/>
                        </m:rPr>
                        <a:rPr lang="en-HK" sz="1600">
                          <a:latin typeface="Times New Roman" panose="02040503050406030204" pitchFamily="18" charset="0"/>
                          <a:ea typeface="SimSun"/>
                          <a:cs typeface="Times New Roman"/>
                        </a:rPr>
                        <m:t>μ</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a:latin typeface="Times New Roman" panose="02040503050406030204" pitchFamily="18" charset="0"/>
                              <a:ea typeface="SimSun"/>
                              <a:cs typeface="Times New Roman"/>
                            </a:rPr>
                            <m:t>1</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𝜇</m:t>
                          </m:r>
                        </m:e>
                        <m:sub>
                          <m:r>
                            <a:rPr lang="en-HK" sz="1600">
                              <a:latin typeface="Times New Roman" panose="02040503050406030204" pitchFamily="18" charset="0"/>
                              <a:ea typeface="SimSun"/>
                              <a:cs typeface="Times New Roman"/>
                            </a:rPr>
                            <m:t>1</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r>
                            <a:rPr lang="en-HK" sz="1600" i="1">
                              <a:latin typeface="Times New Roman" panose="02040503050406030204" pitchFamily="18" charset="0"/>
                              <a:ea typeface="SimSun"/>
                              <a:cs typeface="Times New Roman"/>
                            </a:rPr>
                            <m:t>𝑔</m:t>
                          </m:r>
                        </m:sub>
                      </m:sSub>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𝜇</m:t>
                          </m:r>
                        </m:e>
                        <m:sub>
                          <m:r>
                            <a:rPr lang="en-HK" sz="1600" i="1">
                              <a:latin typeface="Times New Roman" panose="02040503050406030204" pitchFamily="18" charset="0"/>
                              <a:ea typeface="SimSun"/>
                              <a:cs typeface="Times New Roman"/>
                            </a:rPr>
                            <m:t>𝑔</m:t>
                          </m:r>
                        </m:sub>
                      </m:sSub>
                    </m:oMath>
                  </m:oMathPara>
                </a14:m>
                <a:endParaRPr lang="en-HK" sz="1600" dirty="0">
                  <a:latin typeface="Times New Roman"/>
                  <a:ea typeface="SimSun"/>
                  <a:cs typeface="Times New Roman"/>
                </a:endParaRPr>
              </a:p>
            </p:txBody>
          </p:sp>
        </mc:Choice>
        <mc:Fallback xmlns="">
          <p:sp>
            <p:nvSpPr>
              <p:cNvPr id="27" name="矩形 26">
                <a:extLst>
                  <a:ext uri="{FF2B5EF4-FFF2-40B4-BE49-F238E27FC236}">
                    <a16:creationId xmlns:a16="http://schemas.microsoft.com/office/drawing/2014/main" id="{4F72ED22-F12F-4F37-8EC8-803AAA3928F7}"/>
                  </a:ext>
                </a:extLst>
              </p:cNvPr>
              <p:cNvSpPr>
                <a:spLocks noRot="1" noChangeAspect="1" noMove="1" noResize="1" noEditPoints="1" noAdjustHandles="1" noChangeArrowheads="1" noChangeShapeType="1" noTextEdit="1"/>
              </p:cNvSpPr>
              <p:nvPr/>
            </p:nvSpPr>
            <p:spPr>
              <a:xfrm>
                <a:off x="1533707" y="5723243"/>
                <a:ext cx="1983172" cy="358560"/>
              </a:xfrm>
              <a:prstGeom prst="rect">
                <a:avLst/>
              </a:prstGeom>
              <a:blipFill>
                <a:blip r:embed="rId9"/>
                <a:stretch>
                  <a:fillRect b="-1695"/>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EBC87E3B-4DC7-4C08-8D39-DDA5612D9B4A}"/>
                  </a:ext>
                </a:extLst>
              </p:cNvPr>
              <p:cNvSpPr/>
              <p:nvPr/>
            </p:nvSpPr>
            <p:spPr>
              <a:xfrm>
                <a:off x="1507981" y="6124461"/>
                <a:ext cx="2203680" cy="567784"/>
              </a:xfrm>
              <a:prstGeom prst="rect">
                <a:avLst/>
              </a:prstGeom>
            </p:spPr>
            <p:txBody>
              <a:bodyPr wrap="none">
                <a:spAutoFit/>
              </a:bodyPr>
              <a:lstStyle/>
              <a:p>
                <a:pPr/>
                <a14:m>
                  <m:oMathPara xmlns:m="http://schemas.openxmlformats.org/officeDocument/2006/math">
                    <m:oMath>
                      <m:f>
                        <m:fPr>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f>
                                <m:fPr>
                                  <m:type m:val="lin"/>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1</m:t>
                                  </m:r>
                                </m:num>
                                <m:den>
                                  <m:r>
                                    <a:rPr lang="en-HK" sz="1600" i="1">
                                      <a:latin typeface="Times New Roman" panose="02040503050406030204" pitchFamily="18" charset="0"/>
                                      <a:ea typeface="SimSun"/>
                                      <a:cs typeface="Times New Roman"/>
                                    </a:rPr>
                                    <m:t>𝑔</m:t>
                                  </m:r>
                                </m:den>
                              </m:f>
                            </m:sub>
                          </m:sSub>
                        </m:num>
                        <m:den>
                          <m:r>
                            <a:rPr lang="en-HK" sz="1600">
                              <a:latin typeface="Times New Roman" panose="02040503050406030204" pitchFamily="18" charset="0"/>
                              <a:ea typeface="SimSun"/>
                              <a:cs typeface="Times New Roman"/>
                            </a:rPr>
                            <m:t>𝜕</m:t>
                          </m:r>
                          <m:r>
                            <a:rPr lang="en-HK" sz="1600" i="1">
                              <a:latin typeface="Times New Roman" panose="02040503050406030204" pitchFamily="18" charset="0"/>
                              <a:ea typeface="SimSun"/>
                              <a:cs typeface="Times New Roman"/>
                            </a:rPr>
                            <m:t>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𝑢</m:t>
                          </m:r>
                        </m:e>
                      </m:acc>
                      <m:r>
                        <a:rPr lang="en-HK" sz="1600">
                          <a:latin typeface="Times New Roman" panose="02040503050406030204" pitchFamily="18" charset="0"/>
                          <a:ea typeface="SimSun"/>
                          <a:cs typeface="Times New Roman"/>
                        </a:rPr>
                        <m:t>∙</m:t>
                      </m:r>
                      <m:r>
                        <a:rPr lang="en-HK" sz="1600">
                          <a:latin typeface="Times New Roman" panose="02040503050406030204" pitchFamily="18" charset="0"/>
                          <a:ea typeface="SimSun"/>
                          <a:cs typeface="Times New Roman"/>
                        </a:rPr>
                        <m:t>𝛻</m:t>
                      </m:r>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𝛼</m:t>
                          </m:r>
                        </m:e>
                        <m:sub>
                          <m:f>
                            <m:fPr>
                              <m:type m:val="lin"/>
                              <m:ctrlPr>
                                <a:rPr lang="en-HK" sz="1600">
                                  <a:latin typeface="Times New Roman" panose="02040503050406030204" pitchFamily="18" charset="0"/>
                                  <a:ea typeface="SimSun"/>
                                  <a:cs typeface="Times New Roman"/>
                                </a:rPr>
                              </m:ctrlPr>
                            </m:fPr>
                            <m:num>
                              <m:r>
                                <a:rPr lang="en-HK" sz="1600">
                                  <a:latin typeface="Times New Roman" panose="02040503050406030204" pitchFamily="18" charset="0"/>
                                  <a:ea typeface="SimSun"/>
                                  <a:cs typeface="Times New Roman"/>
                                </a:rPr>
                                <m:t>1</m:t>
                              </m:r>
                            </m:num>
                            <m:den>
                              <m:r>
                                <a:rPr lang="en-HK" sz="1600" i="1">
                                  <a:latin typeface="Times New Roman" panose="02040503050406030204" pitchFamily="18" charset="0"/>
                                  <a:ea typeface="SimSun"/>
                                  <a:cs typeface="Times New Roman"/>
                                </a:rPr>
                                <m:t>𝑔</m:t>
                              </m:r>
                            </m:den>
                          </m:f>
                        </m:sub>
                      </m:sSub>
                      <m:r>
                        <a:rPr lang="en-HK" sz="1600">
                          <a:latin typeface="Times New Roman" panose="02040503050406030204" pitchFamily="18" charset="0"/>
                          <a:ea typeface="SimSun"/>
                          <a:cs typeface="Times New Roman"/>
                        </a:rPr>
                        <m:t>=0</m:t>
                      </m:r>
                    </m:oMath>
                  </m:oMathPara>
                </a14:m>
                <a:endParaRPr lang="en-HK" sz="1600" dirty="0">
                  <a:latin typeface="Times New Roman"/>
                  <a:ea typeface="SimSun"/>
                  <a:cs typeface="Times New Roman"/>
                </a:endParaRPr>
              </a:p>
            </p:txBody>
          </p:sp>
        </mc:Choice>
        <mc:Fallback xmlns="">
          <p:sp>
            <p:nvSpPr>
              <p:cNvPr id="28" name="矩形 27">
                <a:extLst>
                  <a:ext uri="{FF2B5EF4-FFF2-40B4-BE49-F238E27FC236}">
                    <a16:creationId xmlns:a16="http://schemas.microsoft.com/office/drawing/2014/main" id="{EBC87E3B-4DC7-4C08-8D39-DDA5612D9B4A}"/>
                  </a:ext>
                </a:extLst>
              </p:cNvPr>
              <p:cNvSpPr>
                <a:spLocks noRot="1" noChangeAspect="1" noMove="1" noResize="1" noEditPoints="1" noAdjustHandles="1" noChangeArrowheads="1" noChangeShapeType="1" noTextEdit="1"/>
              </p:cNvSpPr>
              <p:nvPr/>
            </p:nvSpPr>
            <p:spPr>
              <a:xfrm>
                <a:off x="1507981" y="6124461"/>
                <a:ext cx="2203680" cy="567784"/>
              </a:xfrm>
              <a:prstGeom prst="rect">
                <a:avLst/>
              </a:prstGeom>
              <a:blipFill>
                <a:blip r:embed="rId10"/>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A42D7DB2-03BD-473E-8855-F0E657132544}"/>
                  </a:ext>
                </a:extLst>
              </p:cNvPr>
              <p:cNvSpPr/>
              <p:nvPr/>
            </p:nvSpPr>
            <p:spPr>
              <a:xfrm>
                <a:off x="5459711" y="1729399"/>
                <a:ext cx="1233799" cy="624338"/>
              </a:xfrm>
              <a:prstGeom prst="rect">
                <a:avLst/>
              </a:prstGeom>
            </p:spPr>
            <p:txBody>
              <a:bodyPr wrap="none">
                <a:spAutoFit/>
              </a:bodyPr>
              <a:lstStyle/>
              <a:p>
                <a:pPr/>
                <a14:m>
                  <m:oMathPara xmlns:m="http://schemas.openxmlformats.org/officeDocument/2006/math">
                    <m:oMath>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𝑑</m:t>
                          </m:r>
                          <m:d>
                            <m:dPr>
                              <m:ctrlPr>
                                <a:rPr lang="en-HK" sz="1600" i="1">
                                  <a:latin typeface="Times New Roman" panose="02040503050406030204" pitchFamily="18" charset="0"/>
                                  <a:ea typeface="SimSun"/>
                                  <a:cs typeface="Times New Roman"/>
                                </a:rPr>
                              </m:ctrlPr>
                            </m:dPr>
                            <m:e>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𝑋</m:t>
                                      </m:r>
                                    </m:e>
                                    <m:sub>
                                      <m:r>
                                        <a:rPr lang="en-HK" sz="1600" i="1">
                                          <a:latin typeface="Times New Roman" panose="02040503050406030204" pitchFamily="18" charset="0"/>
                                          <a:ea typeface="SimSun"/>
                                          <a:cs typeface="Times New Roman"/>
                                        </a:rPr>
                                        <m:t>𝑔</m:t>
                                      </m:r>
                                    </m:sub>
                                  </m:sSub>
                                </m:e>
                              </m:acc>
                            </m:e>
                          </m:d>
                        </m:num>
                        <m:den>
                          <m:r>
                            <a:rPr lang="en-HK" sz="1600" i="1">
                              <a:latin typeface="Times New Roman" panose="02040503050406030204" pitchFamily="18" charset="0"/>
                              <a:ea typeface="SimSun"/>
                              <a:cs typeface="Times New Roman"/>
                            </a:rPr>
                            <m:t>𝑑𝑡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𝑉</m:t>
                              </m:r>
                            </m:e>
                            <m:sub>
                              <m:r>
                                <a:rPr lang="en-HK" sz="1600" i="1">
                                  <a:latin typeface="Times New Roman" panose="02040503050406030204" pitchFamily="18" charset="0"/>
                                  <a:ea typeface="SimSun"/>
                                  <a:cs typeface="Times New Roman"/>
                                </a:rPr>
                                <m:t>𝑔</m:t>
                              </m:r>
                            </m:sub>
                          </m:sSub>
                        </m:e>
                      </m:acc>
                    </m:oMath>
                  </m:oMathPara>
                </a14:m>
                <a:endParaRPr lang="en-HK" sz="1600" dirty="0">
                  <a:latin typeface="Times New Roman"/>
                  <a:ea typeface="SimSun"/>
                  <a:cs typeface="Times New Roman"/>
                </a:endParaRPr>
              </a:p>
            </p:txBody>
          </p:sp>
        </mc:Choice>
        <mc:Fallback xmlns="">
          <p:sp>
            <p:nvSpPr>
              <p:cNvPr id="30" name="矩形 29">
                <a:extLst>
                  <a:ext uri="{FF2B5EF4-FFF2-40B4-BE49-F238E27FC236}">
                    <a16:creationId xmlns:a16="http://schemas.microsoft.com/office/drawing/2014/main" id="{A42D7DB2-03BD-473E-8855-F0E657132544}"/>
                  </a:ext>
                </a:extLst>
              </p:cNvPr>
              <p:cNvSpPr>
                <a:spLocks noRot="1" noChangeAspect="1" noMove="1" noResize="1" noEditPoints="1" noAdjustHandles="1" noChangeArrowheads="1" noChangeShapeType="1" noTextEdit="1"/>
              </p:cNvSpPr>
              <p:nvPr/>
            </p:nvSpPr>
            <p:spPr>
              <a:xfrm>
                <a:off x="5459711" y="1729399"/>
                <a:ext cx="1233799" cy="624338"/>
              </a:xfrm>
              <a:prstGeom prst="rect">
                <a:avLst/>
              </a:prstGeom>
              <a:blipFill>
                <a:blip r:embed="rId11"/>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9CFF45E8-885C-4D77-91D9-E424F63501B3}"/>
                  </a:ext>
                </a:extLst>
              </p:cNvPr>
              <p:cNvSpPr/>
              <p:nvPr/>
            </p:nvSpPr>
            <p:spPr>
              <a:xfrm>
                <a:off x="5459710" y="2388185"/>
                <a:ext cx="1973169" cy="618439"/>
              </a:xfrm>
              <a:prstGeom prst="rect">
                <a:avLst/>
              </a:prstGeom>
            </p:spPr>
            <p:txBody>
              <a:bodyPr wrap="none">
                <a:spAutoFit/>
              </a:bodyPr>
              <a:lstStyle/>
              <a:p>
                <a:pPr/>
                <a14:m>
                  <m:oMathPara xmlns:m="http://schemas.openxmlformats.org/officeDocument/2006/math">
                    <m:oMath>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𝑑</m:t>
                          </m:r>
                          <m:d>
                            <m:dPr>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𝑚</m:t>
                                  </m:r>
                                </m:e>
                                <m:sub>
                                  <m:r>
                                    <a:rPr lang="en-HK" sz="1600" i="1">
                                      <a:latin typeface="Times New Roman" panose="02040503050406030204" pitchFamily="18" charset="0"/>
                                      <a:ea typeface="SimSun"/>
                                      <a:cs typeface="Times New Roman"/>
                                    </a:rPr>
                                    <m:t>𝑑</m:t>
                                  </m:r>
                                </m:sub>
                              </m:sSub>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𝑑</m:t>
                                      </m:r>
                                    </m:sub>
                                  </m:sSub>
                                </m:e>
                              </m:acc>
                            </m:e>
                          </m:d>
                        </m:num>
                        <m:den>
                          <m:r>
                            <a:rPr lang="en-HK" sz="1600" i="1">
                              <a:latin typeface="Times New Roman" panose="02040503050406030204" pitchFamily="18" charset="0"/>
                              <a:ea typeface="SimSun"/>
                              <a:cs typeface="Times New Roman"/>
                            </a:rPr>
                            <m:t>𝑑𝑡</m:t>
                          </m:r>
                        </m:den>
                      </m:f>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𝐷</m:t>
                              </m:r>
                            </m:sub>
                          </m:sSub>
                        </m:e>
                      </m:acc>
                      <m:r>
                        <a:rPr lang="en-HK" sz="1600">
                          <a:latin typeface="Times New Roman" panose="02040503050406030204" pitchFamily="18" charset="0"/>
                          <a:ea typeface="SimSun"/>
                          <a:cs typeface="Times New Roman"/>
                        </a:rPr>
                        <m:t>+</m:t>
                      </m:r>
                      <m:acc>
                        <m:accPr>
                          <m:chr m:val="⃗"/>
                          <m:ctrlPr>
                            <a:rPr lang="en-HK" sz="1600" i="1">
                              <a:latin typeface="Times New Roman" panose="02040503050406030204" pitchFamily="18" charset="0"/>
                              <a:ea typeface="SimSun"/>
                              <a:cs typeface="Times New Roman"/>
                            </a:rPr>
                          </m:ctrlPr>
                        </m:accPr>
                        <m:e>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𝐹</m:t>
                              </m:r>
                            </m:e>
                            <m:sub>
                              <m:r>
                                <a:rPr lang="en-HK" sz="1600" i="1">
                                  <a:latin typeface="Times New Roman" panose="02040503050406030204" pitchFamily="18" charset="0"/>
                                  <a:ea typeface="SimSun"/>
                                  <a:cs typeface="Times New Roman"/>
                                </a:rPr>
                                <m:t>𝑔</m:t>
                              </m:r>
                            </m:sub>
                          </m:sSub>
                        </m:e>
                      </m:acc>
                    </m:oMath>
                  </m:oMathPara>
                </a14:m>
                <a:endParaRPr lang="en-HK" sz="1600" dirty="0">
                  <a:latin typeface="Times New Roman"/>
                  <a:ea typeface="SimSun"/>
                  <a:cs typeface="Times New Roman"/>
                </a:endParaRPr>
              </a:p>
            </p:txBody>
          </p:sp>
        </mc:Choice>
        <mc:Fallback xmlns="">
          <p:sp>
            <p:nvSpPr>
              <p:cNvPr id="31" name="矩形 30">
                <a:extLst>
                  <a:ext uri="{FF2B5EF4-FFF2-40B4-BE49-F238E27FC236}">
                    <a16:creationId xmlns:a16="http://schemas.microsoft.com/office/drawing/2014/main" id="{9CFF45E8-885C-4D77-91D9-E424F63501B3}"/>
                  </a:ext>
                </a:extLst>
              </p:cNvPr>
              <p:cNvSpPr>
                <a:spLocks noRot="1" noChangeAspect="1" noMove="1" noResize="1" noEditPoints="1" noAdjustHandles="1" noChangeArrowheads="1" noChangeShapeType="1" noTextEdit="1"/>
              </p:cNvSpPr>
              <p:nvPr/>
            </p:nvSpPr>
            <p:spPr>
              <a:xfrm>
                <a:off x="5459710" y="2388185"/>
                <a:ext cx="1973169" cy="618439"/>
              </a:xfrm>
              <a:prstGeom prst="rect">
                <a:avLst/>
              </a:prstGeom>
              <a:blipFill>
                <a:blip r:embed="rId12"/>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DDE7A3DE-B2BA-4BA8-9CA6-EA91F0447FFD}"/>
                  </a:ext>
                </a:extLst>
              </p:cNvPr>
              <p:cNvSpPr/>
              <p:nvPr/>
            </p:nvSpPr>
            <p:spPr>
              <a:xfrm>
                <a:off x="5459710" y="2862581"/>
                <a:ext cx="2236831" cy="512384"/>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𝐹</m:t>
                              </m:r>
                            </m:e>
                          </m:acc>
                        </m:e>
                        <m:sub>
                          <m:r>
                            <a:rPr lang="en-HK" sz="1600" i="1">
                              <a:latin typeface="Times New Roman" panose="02040503050406030204" pitchFamily="18" charset="0"/>
                              <a:ea typeface="SimSun"/>
                              <a:cs typeface="Times New Roman"/>
                            </a:rPr>
                            <m:t>𝑑</m:t>
                          </m:r>
                        </m:sub>
                      </m:sSub>
                      <m:r>
                        <a:rPr lang="en-HK" sz="1600">
                          <a:latin typeface="Times New Roman" panose="02040503050406030204" pitchFamily="18" charset="0"/>
                          <a:ea typeface="SimSun"/>
                          <a:cs typeface="Times New Roman"/>
                        </a:rPr>
                        <m:t>=−</m:t>
                      </m:r>
                      <m:f>
                        <m:fPr>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𝜋</m:t>
                          </m:r>
                        </m:num>
                        <m:den>
                          <m:r>
                            <a:rPr lang="en-HK" sz="1600">
                              <a:latin typeface="Times New Roman" panose="02040503050406030204" pitchFamily="18" charset="0"/>
                              <a:ea typeface="SimSun"/>
                              <a:cs typeface="Times New Roman"/>
                            </a:rPr>
                            <m:t>8</m:t>
                          </m:r>
                        </m:den>
                      </m:f>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𝐶</m:t>
                          </m:r>
                        </m:e>
                        <m:sub>
                          <m:r>
                            <a:rPr lang="en-HK" sz="1600" i="1">
                              <a:latin typeface="Times New Roman" panose="02040503050406030204" pitchFamily="18" charset="0"/>
                              <a:ea typeface="SimSun"/>
                              <a:cs typeface="Times New Roman"/>
                            </a:rPr>
                            <m:t>𝐷</m:t>
                          </m:r>
                        </m:sub>
                      </m:sSub>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𝜌</m:t>
                          </m:r>
                        </m:e>
                        <m:sub>
                          <m:r>
                            <a:rPr lang="en-HK" sz="1600" i="1">
                              <a:latin typeface="Times New Roman" panose="02040503050406030204" pitchFamily="18" charset="0"/>
                              <a:ea typeface="SimSun"/>
                              <a:cs typeface="Times New Roman"/>
                            </a:rPr>
                            <m:t>𝑎</m:t>
                          </m:r>
                        </m:sub>
                      </m:sSub>
                      <m:sSubSup>
                        <m:sSubSupPr>
                          <m:ctrlPr>
                            <a:rPr lang="en-HK" sz="1600" i="1">
                              <a:latin typeface="Times New Roman" panose="02040503050406030204" pitchFamily="18" charset="0"/>
                              <a:ea typeface="SimSun"/>
                              <a:cs typeface="Times New Roman"/>
                            </a:rPr>
                          </m:ctrlPr>
                        </m:sSubSupPr>
                        <m:e>
                          <m:r>
                            <a:rPr lang="en-HK" sz="1600" i="1">
                              <a:latin typeface="Times New Roman" panose="02040503050406030204" pitchFamily="18" charset="0"/>
                              <a:ea typeface="SimSun"/>
                              <a:cs typeface="Times New Roman"/>
                            </a:rPr>
                            <m:t>𝐷</m:t>
                          </m:r>
                        </m:e>
                        <m:sub>
                          <m:r>
                            <a:rPr lang="en-HK" sz="1600" i="1">
                              <a:latin typeface="Times New Roman" panose="02040503050406030204" pitchFamily="18" charset="0"/>
                              <a:ea typeface="SimSun"/>
                              <a:cs typeface="Times New Roman"/>
                            </a:rPr>
                            <m:t>𝑑</m:t>
                          </m:r>
                        </m:sub>
                        <m:sup>
                          <m:r>
                            <a:rPr lang="en-HK" sz="1600">
                              <a:latin typeface="Times New Roman" panose="02040503050406030204" pitchFamily="18" charset="0"/>
                              <a:ea typeface="SimSun"/>
                              <a:cs typeface="Times New Roman"/>
                            </a:rPr>
                            <m:t>2</m:t>
                          </m:r>
                        </m:sup>
                      </m:sSubSup>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𝑉</m:t>
                              </m:r>
                            </m:e>
                          </m:acc>
                        </m:e>
                        <m:sub>
                          <m:r>
                            <a:rPr lang="en-HK" sz="1600" i="1">
                              <a:latin typeface="Times New Roman" panose="02040503050406030204" pitchFamily="18" charset="0"/>
                              <a:ea typeface="SimSun"/>
                              <a:cs typeface="Times New Roman"/>
                            </a:rPr>
                            <m:t>𝑟</m:t>
                          </m:r>
                        </m:sub>
                      </m:sSub>
                      <m:d>
                        <m:dPr>
                          <m:begChr m:val="|"/>
                          <m:endChr m:val="|"/>
                          <m:ctrlPr>
                            <a:rPr lang="en-HK" sz="1600" i="1">
                              <a:latin typeface="Times New Roman" panose="02040503050406030204" pitchFamily="18" charset="0"/>
                              <a:ea typeface="SimSun"/>
                              <a:cs typeface="Times New Roman"/>
                            </a:rPr>
                          </m:ctrlPr>
                        </m:dPr>
                        <m:e>
                          <m:sSub>
                            <m:sSubPr>
                              <m:ctrlPr>
                                <a:rPr lang="en-HK" sz="1600" i="1">
                                  <a:latin typeface="Times New Roman" panose="02040503050406030204" pitchFamily="18" charset="0"/>
                                  <a:ea typeface="SimSun"/>
                                  <a:cs typeface="Times New Roman"/>
                                </a:rPr>
                              </m:ctrlPr>
                            </m:sSubPr>
                            <m:e>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𝑉</m:t>
                                  </m:r>
                                </m:e>
                              </m:acc>
                            </m:e>
                            <m:sub>
                              <m:r>
                                <a:rPr lang="en-HK" sz="1600" i="1">
                                  <a:latin typeface="Times New Roman" panose="02040503050406030204" pitchFamily="18" charset="0"/>
                                  <a:ea typeface="SimSun"/>
                                  <a:cs typeface="Times New Roman"/>
                                </a:rPr>
                                <m:t>𝑟</m:t>
                              </m:r>
                            </m:sub>
                          </m:sSub>
                        </m:e>
                      </m:d>
                    </m:oMath>
                  </m:oMathPara>
                </a14:m>
                <a:endParaRPr lang="en-HK" sz="1600" dirty="0">
                  <a:latin typeface="Times New Roman"/>
                  <a:ea typeface="SimSun"/>
                  <a:cs typeface="Times New Roman"/>
                </a:endParaRPr>
              </a:p>
            </p:txBody>
          </p:sp>
        </mc:Choice>
        <mc:Fallback xmlns="">
          <p:sp>
            <p:nvSpPr>
              <p:cNvPr id="32" name="矩形 31">
                <a:extLst>
                  <a:ext uri="{FF2B5EF4-FFF2-40B4-BE49-F238E27FC236}">
                    <a16:creationId xmlns:a16="http://schemas.microsoft.com/office/drawing/2014/main" id="{DDE7A3DE-B2BA-4BA8-9CA6-EA91F0447FFD}"/>
                  </a:ext>
                </a:extLst>
              </p:cNvPr>
              <p:cNvSpPr>
                <a:spLocks noRot="1" noChangeAspect="1" noMove="1" noResize="1" noEditPoints="1" noAdjustHandles="1" noChangeArrowheads="1" noChangeShapeType="1" noTextEdit="1"/>
              </p:cNvSpPr>
              <p:nvPr/>
            </p:nvSpPr>
            <p:spPr>
              <a:xfrm>
                <a:off x="5459710" y="2862581"/>
                <a:ext cx="2236831" cy="512384"/>
              </a:xfrm>
              <a:prstGeom prst="rect">
                <a:avLst/>
              </a:prstGeom>
              <a:blipFill>
                <a:blip r:embed="rId13"/>
                <a:stretch>
                  <a:fillRect b="-3571"/>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CC0C75E1-F80A-42B8-9E91-E89C78BA5AFA}"/>
                  </a:ext>
                </a:extLst>
              </p:cNvPr>
              <p:cNvSpPr/>
              <p:nvPr/>
            </p:nvSpPr>
            <p:spPr>
              <a:xfrm>
                <a:off x="5459710" y="3791273"/>
                <a:ext cx="1480470" cy="338554"/>
              </a:xfrm>
              <a:prstGeom prst="rect">
                <a:avLst/>
              </a:prstGeom>
            </p:spPr>
            <p:txBody>
              <a:bodyPr wrap="none">
                <a:spAutoFit/>
              </a:bodyPr>
              <a:lstStyle/>
              <a:p>
                <a:pPr/>
                <a14:m>
                  <m:oMathPara xmlns:m="http://schemas.openxmlformats.org/officeDocument/2006/math">
                    <m:o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𝑅𝑒</m:t>
                          </m:r>
                        </m:e>
                        <m:sub>
                          <m:r>
                            <a:rPr lang="en-HK" sz="1600" i="1">
                              <a:latin typeface="Times New Roman" panose="02040503050406030204" pitchFamily="18" charset="0"/>
                              <a:ea typeface="SimSun"/>
                              <a:cs typeface="Times New Roman"/>
                            </a:rPr>
                            <m:t>𝑠</m:t>
                          </m:r>
                        </m:sub>
                      </m:sSub>
                      <m:r>
                        <a:rPr lang="en-HK" sz="1600">
                          <a:latin typeface="Times New Roman" panose="02040503050406030204" pitchFamily="18" charset="0"/>
                          <a:ea typeface="SimSun"/>
                          <a:cs typeface="Times New Roman"/>
                        </a:rPr>
                        <m:t>=4</m:t>
                      </m:r>
                      <m:acc>
                        <m:accPr>
                          <m:chr m:val="̅"/>
                          <m:ctrlPr>
                            <a:rPr lang="en-HK" sz="1600" i="1">
                              <a:latin typeface="Times New Roman" panose="02040503050406030204" pitchFamily="18" charset="0"/>
                              <a:ea typeface="SimSun"/>
                              <a:cs typeface="Times New Roman"/>
                            </a:rPr>
                          </m:ctrlPr>
                        </m:accPr>
                        <m:e>
                          <m:r>
                            <a:rPr lang="en-HK" sz="1600" i="1">
                              <a:latin typeface="Times New Roman" panose="02040503050406030204" pitchFamily="18" charset="0"/>
                              <a:ea typeface="SimSun"/>
                              <a:cs typeface="Times New Roman"/>
                            </a:rPr>
                            <m:t>𝜔</m:t>
                          </m:r>
                        </m:e>
                      </m:acc>
                      <m:f>
                        <m:fPr>
                          <m:type m:val="lin"/>
                          <m:ctrlPr>
                            <a:rPr lang="en-HK" sz="1600" i="1">
                              <a:latin typeface="Times New Roman" panose="02040503050406030204" pitchFamily="18" charset="0"/>
                              <a:ea typeface="SimSun"/>
                              <a:cs typeface="Times New Roman"/>
                            </a:rPr>
                          </m:ctrlPr>
                        </m:fPr>
                        <m:num>
                          <m:r>
                            <a:rPr lang="en-HK" sz="1600" i="1">
                              <a:latin typeface="Times New Roman" panose="02040503050406030204" pitchFamily="18" charset="0"/>
                              <a:ea typeface="SimSun"/>
                              <a:cs typeface="Times New Roman"/>
                            </a:rPr>
                            <m:t>𝛿</m:t>
                          </m:r>
                        </m:num>
                        <m:den>
                          <m:r>
                            <a:rPr lang="en-HK" sz="1600" i="1">
                              <a:latin typeface="Times New Roman" panose="02040503050406030204" pitchFamily="18" charset="0"/>
                              <a:ea typeface="SimSun"/>
                              <a:cs typeface="Times New Roman"/>
                            </a:rPr>
                            <m:t>𝑣</m:t>
                          </m:r>
                        </m:den>
                      </m:f>
                    </m:oMath>
                  </m:oMathPara>
                </a14:m>
                <a:endParaRPr lang="en-HK" sz="1600" dirty="0">
                  <a:latin typeface="Times New Roman"/>
                  <a:ea typeface="SimSun"/>
                  <a:cs typeface="Times New Roman"/>
                </a:endParaRPr>
              </a:p>
            </p:txBody>
          </p:sp>
        </mc:Choice>
        <mc:Fallback xmlns="">
          <p:sp>
            <p:nvSpPr>
              <p:cNvPr id="34" name="矩形 33">
                <a:extLst>
                  <a:ext uri="{FF2B5EF4-FFF2-40B4-BE49-F238E27FC236}">
                    <a16:creationId xmlns:a16="http://schemas.microsoft.com/office/drawing/2014/main" id="{CC0C75E1-F80A-42B8-9E91-E89C78BA5AFA}"/>
                  </a:ext>
                </a:extLst>
              </p:cNvPr>
              <p:cNvSpPr>
                <a:spLocks noRot="1" noChangeAspect="1" noMove="1" noResize="1" noEditPoints="1" noAdjustHandles="1" noChangeArrowheads="1" noChangeShapeType="1" noTextEdit="1"/>
              </p:cNvSpPr>
              <p:nvPr/>
            </p:nvSpPr>
            <p:spPr>
              <a:xfrm>
                <a:off x="5459710" y="3791273"/>
                <a:ext cx="1480470" cy="338554"/>
              </a:xfrm>
              <a:prstGeom prst="rect">
                <a:avLst/>
              </a:prstGeom>
              <a:blipFill>
                <a:blip r:embed="rId14"/>
                <a:stretch>
                  <a:fillRect t="-100000" r="-26033" b="-170909"/>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2EB13829-A891-44E9-8FDD-8E8A86C243E2}"/>
                  </a:ext>
                </a:extLst>
              </p:cNvPr>
              <p:cNvSpPr/>
              <p:nvPr/>
            </p:nvSpPr>
            <p:spPr>
              <a:xfrm>
                <a:off x="5499208" y="4100180"/>
                <a:ext cx="2912529" cy="338554"/>
              </a:xfrm>
              <a:prstGeom prst="rect">
                <a:avLst/>
              </a:prstGeom>
            </p:spPr>
            <p:txBody>
              <a:bodyPr wrap="none">
                <a:spAutoFit/>
              </a:bodyPr>
              <a:lstStyle/>
              <a:p>
                <a:r>
                  <a:rPr lang="en-HK" sz="1600" dirty="0">
                    <a:latin typeface="Times New Roman" panose="02020603050405020304" pitchFamily="18" charset="0"/>
                    <a:ea typeface="SimSun" panose="02010600030101010101" pitchFamily="2" charset="-122"/>
                    <a:cs typeface="Times New Roman"/>
                  </a:rPr>
                  <a:t>Applied</a:t>
                </a:r>
                <a:r>
                  <a:rPr lang="en-HK" sz="1600" dirty="0">
                    <a:latin typeface="Times New Roman"/>
                    <a:ea typeface="SimSun" panose="02010600030101010101" pitchFamily="2" charset="-122"/>
                    <a:cs typeface="Times New Roman" panose="02020603050405020304" pitchFamily="18" charset="0"/>
                  </a:rPr>
                  <a:t> </a:t>
                </a:r>
                <a14:m>
                  <m:oMath xmlns:m="http://schemas.openxmlformats.org/officeDocument/2006/math">
                    <m:r>
                      <a:rPr lang="en-HK" sz="1600" i="1">
                        <a:latin typeface="Times New Roman" panose="02040503050406030204" pitchFamily="18" charset="0"/>
                        <a:ea typeface="SimSun" panose="02010600030101010101" pitchFamily="2" charset="-122"/>
                        <a:cs typeface="Times New Roman" panose="02020603050405020304" pitchFamily="18" charset="0"/>
                      </a:rPr>
                      <m:t>𝑘</m:t>
                    </m:r>
                    <m:r>
                      <a:rPr lang="en-HK" sz="1600" i="1">
                        <a:latin typeface="Times New Roman" panose="02040503050406030204" pitchFamily="18" charset="0"/>
                        <a:ea typeface="SimSun" panose="02010600030101010101" pitchFamily="2" charset="-122"/>
                        <a:cs typeface="Times New Roman" panose="02020603050405020304" pitchFamily="18" charset="0"/>
                      </a:rPr>
                      <m:t>−</m:t>
                    </m:r>
                    <m:r>
                      <a:rPr lang="en-HK" sz="1600" i="1">
                        <a:latin typeface="Times New Roman" panose="02040503050406030204" pitchFamily="18" charset="0"/>
                        <a:ea typeface="SimSun" panose="02010600030101010101" pitchFamily="2" charset="-122"/>
                        <a:cs typeface="Times New Roman" panose="02020603050405020304" pitchFamily="18" charset="0"/>
                      </a:rPr>
                      <m:t>𝜀</m:t>
                    </m:r>
                  </m:oMath>
                </a14:m>
                <a:r>
                  <a:rPr lang="en-HK" sz="1600" dirty="0">
                    <a:latin typeface="Times New Roman" panose="02020603050405020304" pitchFamily="18" charset="0"/>
                    <a:ea typeface="SimSun" panose="02010600030101010101" pitchFamily="2" charset="-122"/>
                    <a:cs typeface="Times New Roman"/>
                  </a:rPr>
                  <a:t> turbulence model </a:t>
                </a:r>
                <a:endParaRPr lang="en-HK" sz="1600" dirty="0">
                  <a:latin typeface="Times New Roman"/>
                  <a:ea typeface="SimSun"/>
                  <a:cs typeface="Times New Roman"/>
                </a:endParaRPr>
              </a:p>
            </p:txBody>
          </p:sp>
        </mc:Choice>
        <mc:Fallback xmlns="">
          <p:sp>
            <p:nvSpPr>
              <p:cNvPr id="38" name="矩形 37">
                <a:extLst>
                  <a:ext uri="{FF2B5EF4-FFF2-40B4-BE49-F238E27FC236}">
                    <a16:creationId xmlns:a16="http://schemas.microsoft.com/office/drawing/2014/main" id="{2EB13829-A891-44E9-8FDD-8E8A86C243E2}"/>
                  </a:ext>
                </a:extLst>
              </p:cNvPr>
              <p:cNvSpPr>
                <a:spLocks noRot="1" noChangeAspect="1" noMove="1" noResize="1" noEditPoints="1" noAdjustHandles="1" noChangeArrowheads="1" noChangeShapeType="1" noTextEdit="1"/>
              </p:cNvSpPr>
              <p:nvPr/>
            </p:nvSpPr>
            <p:spPr>
              <a:xfrm>
                <a:off x="5499208" y="4100180"/>
                <a:ext cx="2912529" cy="338554"/>
              </a:xfrm>
              <a:prstGeom prst="rect">
                <a:avLst/>
              </a:prstGeom>
              <a:blipFill>
                <a:blip r:embed="rId16"/>
                <a:stretch>
                  <a:fillRect l="-1046" t="-5455" r="-209" b="-2363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5A06B125-5902-4538-AEB1-33F0B3E7E28B}"/>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27</a:t>
            </a:fld>
            <a:endParaRPr lang="en-US" altLang="zh-CN">
              <a:latin typeface="Times New Roman"/>
              <a:ea typeface="SimSun"/>
              <a:cs typeface="Times New Roman"/>
            </a:endParaRPr>
          </a:p>
        </p:txBody>
      </p:sp>
      <p:sp>
        <p:nvSpPr>
          <p:cNvPr id="44" name="矩形 3">
            <a:extLst>
              <a:ext uri="{FF2B5EF4-FFF2-40B4-BE49-F238E27FC236}">
                <a16:creationId xmlns:a16="http://schemas.microsoft.com/office/drawing/2014/main" id="{237CE9BB-87C2-4BD8-81BD-BF23306BD500}"/>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pSp>
        <p:nvGrpSpPr>
          <p:cNvPr id="48" name="Original English content (proportional layout)"/>
          <p:cNvGrpSpPr/>
          <p:nvPr/>
        </p:nvGrpSpPr>
        <p:grpSpPr>
          <a:xfrm>
            <a:off x="1097280" y="731520"/>
            <a:ext cx="9997440" cy="5023714"/>
            <a:chOff x="0" y="731520"/>
            <a:chExt cx="12192000" cy="6126480"/>
          </a:xfrm>
        </p:grpSpPr>
        <p:pic>
          <p:nvPicPr>
            <p:cNvPr id="47" name="图片 46">
              <a:extLst>
                <a:ext uri="{FF2B5EF4-FFF2-40B4-BE49-F238E27FC236}">
                  <a16:creationId xmlns:a16="http://schemas.microsoft.com/office/drawing/2014/main" id="{688A77F0-8416-4D0B-8E46-BBEA898A5C8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912437" y="3723758"/>
              <a:ext cx="553085" cy="1547495"/>
            </a:xfrm>
            <a:prstGeom prst="rect">
              <a:avLst/>
            </a:prstGeom>
            <a:noFill/>
          </p:spPr>
        </p:pic>
        <p:sp>
          <p:nvSpPr>
            <p:cNvPr id="18" name="矩形 17">
              <a:extLst>
                <a:ext uri="{FF2B5EF4-FFF2-40B4-BE49-F238E27FC236}">
                  <a16:creationId xmlns:a16="http://schemas.microsoft.com/office/drawing/2014/main" id="{6709DF6D-D34C-4D60-B37D-56C4DA8F6791}"/>
                </a:ext>
              </a:extLst>
            </p:cNvPr>
            <p:cNvSpPr/>
            <p:nvPr/>
          </p:nvSpPr>
          <p:spPr>
            <a:xfrm>
              <a:off x="1179133" y="1334647"/>
              <a:ext cx="2258952" cy="342786"/>
            </a:xfrm>
            <a:prstGeom prst="rect">
              <a:avLst/>
            </a:prstGeom>
          </p:spPr>
          <p:txBody>
            <a:bodyPr wrap="none">
              <a:spAutoFit/>
            </a:bodyPr>
            <a:lstStyle/>
            <a:p>
              <a:pPr algn="just">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(1) Conservation of mass</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20" name="矩形 19">
              <a:extLst>
                <a:ext uri="{FF2B5EF4-FFF2-40B4-BE49-F238E27FC236}">
                  <a16:creationId xmlns:a16="http://schemas.microsoft.com/office/drawing/2014/main" id="{B4FE9C60-D2C9-4987-935F-D33A4FB7F143}"/>
                </a:ext>
              </a:extLst>
            </p:cNvPr>
            <p:cNvSpPr/>
            <p:nvPr/>
          </p:nvSpPr>
          <p:spPr>
            <a:xfrm>
              <a:off x="1179131" y="2280034"/>
              <a:ext cx="2784737" cy="342786"/>
            </a:xfrm>
            <a:prstGeom prst="rect">
              <a:avLst/>
            </a:prstGeom>
          </p:spPr>
          <p:txBody>
            <a:bodyPr wrap="none">
              <a:spAutoFit/>
            </a:bodyPr>
            <a:lstStyle/>
            <a:p>
              <a:pPr>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(2) Conservation of momentum</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0C38144E-90D3-4157-8395-F70A0D7FE96E}"/>
                </a:ext>
              </a:extLst>
            </p:cNvPr>
            <p:cNvSpPr/>
            <p:nvPr/>
          </p:nvSpPr>
          <p:spPr>
            <a:xfrm>
              <a:off x="1177327" y="3458983"/>
              <a:ext cx="1643399" cy="342786"/>
            </a:xfrm>
            <a:prstGeom prst="rect">
              <a:avLst/>
            </a:prstGeom>
          </p:spPr>
          <p:txBody>
            <a:bodyPr wrap="none">
              <a:spAutoFit/>
            </a:bodyPr>
            <a:lstStyle/>
            <a:p>
              <a:pPr algn="just">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(3) Mass transfer </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25" name="矩形 24">
              <a:extLst>
                <a:ext uri="{FF2B5EF4-FFF2-40B4-BE49-F238E27FC236}">
                  <a16:creationId xmlns:a16="http://schemas.microsoft.com/office/drawing/2014/main" id="{A47138F7-B70D-40EC-98CD-3CEFC7B16BBB}"/>
                </a:ext>
              </a:extLst>
            </p:cNvPr>
            <p:cNvSpPr/>
            <p:nvPr/>
          </p:nvSpPr>
          <p:spPr>
            <a:xfrm>
              <a:off x="1174139" y="4863529"/>
              <a:ext cx="2471639" cy="338554"/>
            </a:xfrm>
            <a:prstGeom prst="rect">
              <a:avLst/>
            </a:prstGeom>
          </p:spPr>
          <p:txBody>
            <a:bodyPr wrap="none">
              <a:spAutoFit/>
            </a:bodyPr>
            <a:lstStyle/>
            <a:p>
              <a:r>
                <a:rPr lang="en-HK" sz="1312" dirty="0">
                  <a:latin typeface="Times New Roman" panose="02020603050405020304" pitchFamily="18" charset="0"/>
                  <a:ea typeface="SimSun" panose="02010600030101010101" pitchFamily="2" charset="-122"/>
                  <a:cs typeface="Times New Roman"/>
                </a:rPr>
                <a:t>(4) VOF multi-phase model</a:t>
              </a:r>
              <a:endParaRPr lang="en-HK" sz="1312" dirty="0">
                <a:latin typeface="Times New Roman"/>
                <a:ea typeface="SimSun"/>
                <a:cs typeface="Times New Roman"/>
              </a:endParaRPr>
            </a:p>
          </p:txBody>
        </p:sp>
        <p:sp>
          <p:nvSpPr>
            <p:cNvPr id="29" name="矩形 28">
              <a:extLst>
                <a:ext uri="{FF2B5EF4-FFF2-40B4-BE49-F238E27FC236}">
                  <a16:creationId xmlns:a16="http://schemas.microsoft.com/office/drawing/2014/main" id="{3BA7EDA3-69FA-4DDC-BED3-86D5F6606E8F}"/>
                </a:ext>
              </a:extLst>
            </p:cNvPr>
            <p:cNvSpPr/>
            <p:nvPr/>
          </p:nvSpPr>
          <p:spPr>
            <a:xfrm>
              <a:off x="5176190" y="1336452"/>
              <a:ext cx="2880917" cy="342786"/>
            </a:xfrm>
            <a:prstGeom prst="rect">
              <a:avLst/>
            </a:prstGeom>
          </p:spPr>
          <p:txBody>
            <a:bodyPr wrap="none">
              <a:spAutoFit/>
            </a:bodyPr>
            <a:lstStyle/>
            <a:p>
              <a:pPr algn="just">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(5) Discrete phase model (DPM)</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33" name="矩形 32">
              <a:extLst>
                <a:ext uri="{FF2B5EF4-FFF2-40B4-BE49-F238E27FC236}">
                  <a16:creationId xmlns:a16="http://schemas.microsoft.com/office/drawing/2014/main" id="{4C8FBD9D-EBC3-41B1-A099-270EFC7B604F}"/>
                </a:ext>
              </a:extLst>
            </p:cNvPr>
            <p:cNvSpPr/>
            <p:nvPr/>
          </p:nvSpPr>
          <p:spPr>
            <a:xfrm>
              <a:off x="5268673" y="3374965"/>
              <a:ext cx="1967462" cy="342786"/>
            </a:xfrm>
            <a:prstGeom prst="rect">
              <a:avLst/>
            </a:prstGeom>
          </p:spPr>
          <p:txBody>
            <a:bodyPr wrap="none">
              <a:spAutoFit/>
            </a:bodyPr>
            <a:lstStyle/>
            <a:p>
              <a:pPr algn="just">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(6) Turbulence model</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pic>
          <p:nvPicPr>
            <p:cNvPr id="35" name="图片 34">
              <a:extLst>
                <a:ext uri="{FF2B5EF4-FFF2-40B4-BE49-F238E27FC236}">
                  <a16:creationId xmlns:a16="http://schemas.microsoft.com/office/drawing/2014/main" id="{23EC7CA3-ABAA-4E7F-B3D8-608BD825342B}"/>
                </a:ext>
              </a:extLst>
            </p:cNvPr>
            <p:cNvPicPr/>
            <p:nvPr/>
          </p:nvPicPr>
          <p:blipFill>
            <a:blip r:embed="rId15" cstate="print">
              <a:extLst>
                <a:ext uri="{28A0092B-C50C-407E-A947-70E740481C1C}">
                  <a14:useLocalDpi xmlns:a14="http://schemas.microsoft.com/office/drawing/2010/main" val="0"/>
                </a:ext>
              </a:extLst>
            </a:blip>
            <a:stretch>
              <a:fillRect/>
            </a:stretch>
          </p:blipFill>
          <p:spPr>
            <a:xfrm>
              <a:off x="8881800" y="2770302"/>
              <a:ext cx="1819115" cy="2868645"/>
            </a:xfrm>
            <a:prstGeom prst="rect">
              <a:avLst/>
            </a:prstGeom>
          </p:spPr>
        </p:pic>
        <p:sp>
          <p:nvSpPr>
            <p:cNvPr id="36" name="矩形 35">
              <a:extLst>
                <a:ext uri="{FF2B5EF4-FFF2-40B4-BE49-F238E27FC236}">
                  <a16:creationId xmlns:a16="http://schemas.microsoft.com/office/drawing/2014/main" id="{3FA405FF-3B2A-417F-8A00-0A953952158C}"/>
                </a:ext>
              </a:extLst>
            </p:cNvPr>
            <p:cNvSpPr/>
            <p:nvPr/>
          </p:nvSpPr>
          <p:spPr>
            <a:xfrm>
              <a:off x="5282414" y="4529147"/>
              <a:ext cx="2093843" cy="342786"/>
            </a:xfrm>
            <a:prstGeom prst="rect">
              <a:avLst/>
            </a:prstGeom>
          </p:spPr>
          <p:txBody>
            <a:bodyPr wrap="none">
              <a:spAutoFit/>
            </a:bodyPr>
            <a:lstStyle/>
            <a:p>
              <a:pPr algn="just">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(7) Calculation method</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37" name="矩形 36">
              <a:extLst>
                <a:ext uri="{FF2B5EF4-FFF2-40B4-BE49-F238E27FC236}">
                  <a16:creationId xmlns:a16="http://schemas.microsoft.com/office/drawing/2014/main" id="{1A6987E3-F859-4074-9331-C20E4498BBB0}"/>
                </a:ext>
              </a:extLst>
            </p:cNvPr>
            <p:cNvSpPr/>
            <p:nvPr/>
          </p:nvSpPr>
          <p:spPr>
            <a:xfrm>
              <a:off x="5503120" y="4928467"/>
              <a:ext cx="2380780" cy="342786"/>
            </a:xfrm>
            <a:prstGeom prst="rect">
              <a:avLst/>
            </a:prstGeom>
          </p:spPr>
          <p:txBody>
            <a:bodyPr wrap="none">
              <a:spAutoFit/>
            </a:bodyPr>
            <a:lstStyle/>
            <a:p>
              <a:pPr algn="just">
                <a:lnSpc>
                  <a:spcPct val="107000"/>
                </a:lnSpc>
                <a:spcAft>
                  <a:spcPts val="656"/>
                </a:spcAft>
              </a:pPr>
              <a:r>
                <a:rPr lang="en-HK" sz="1312" dirty="0">
                  <a:latin typeface="Times New Roman" panose="02020603050405020304" pitchFamily="18" charset="0"/>
                  <a:ea typeface="SimSun" panose="02010600030101010101" pitchFamily="2" charset="-122"/>
                  <a:cs typeface="Times New Roman" panose="02020603050405020304" pitchFamily="18" charset="0"/>
                </a:rPr>
                <a:t>EWF coupled DPM model</a:t>
              </a:r>
              <a:endParaRPr lang="en-HK"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39" name="矩形 38">
              <a:extLst>
                <a:ext uri="{FF2B5EF4-FFF2-40B4-BE49-F238E27FC236}">
                  <a16:creationId xmlns:a16="http://schemas.microsoft.com/office/drawing/2014/main" id="{A9D30FF3-9469-4424-B2D5-4563CAC6F326}"/>
                </a:ext>
              </a:extLst>
            </p:cNvPr>
            <p:cNvSpPr/>
            <p:nvPr/>
          </p:nvSpPr>
          <p:spPr>
            <a:xfrm>
              <a:off x="5499208" y="5302385"/>
              <a:ext cx="3298788" cy="338554"/>
            </a:xfrm>
            <a:prstGeom prst="rect">
              <a:avLst/>
            </a:prstGeom>
          </p:spPr>
          <p:txBody>
            <a:bodyPr wrap="none">
              <a:spAutoFit/>
            </a:bodyPr>
            <a:lstStyle/>
            <a:p>
              <a:r>
                <a:rPr lang="en-HK" sz="1312" dirty="0">
                  <a:latin typeface="Times New Roman" panose="02020603050405020304" pitchFamily="18" charset="0"/>
                  <a:ea typeface="SimSun" panose="02010600030101010101" pitchFamily="2" charset="-122"/>
                  <a:cs typeface="Times New Roman" panose="02020603050405020304" pitchFamily="18" charset="0"/>
                </a:rPr>
                <a:t>The SIMPLE and </a:t>
              </a:r>
              <a:r>
                <a:rPr lang="en-US" sz="1312" dirty="0">
                  <a:latin typeface="Times New Roman" panose="02020603050405020304" pitchFamily="18" charset="0"/>
                  <a:ea typeface="SimSun" panose="02010600030101010101" pitchFamily="2" charset="-122"/>
                  <a:cs typeface="Times New Roman" panose="02020603050405020304" pitchFamily="18" charset="0"/>
                </a:rPr>
                <a:t>PRESTO! pressure</a:t>
              </a:r>
              <a:r>
                <a:rPr lang="en-HK" sz="1312" dirty="0">
                  <a:latin typeface="Times New Roman" panose="02020603050405020304" pitchFamily="18" charset="0"/>
                  <a:ea typeface="SimSun" panose="02010600030101010101" pitchFamily="2" charset="-122"/>
                  <a:cs typeface="Times New Roman" panose="02020603050405020304" pitchFamily="18" charset="0"/>
                </a:rPr>
                <a:t> </a:t>
              </a:r>
            </a:p>
          </p:txBody>
        </p:sp>
        <p:sp>
          <p:nvSpPr>
            <p:cNvPr id="40" name="矩形 39">
              <a:extLst>
                <a:ext uri="{FF2B5EF4-FFF2-40B4-BE49-F238E27FC236}">
                  <a16:creationId xmlns:a16="http://schemas.microsoft.com/office/drawing/2014/main" id="{3F17D9C1-855F-414C-92BF-CFDF3B41B5BA}"/>
                </a:ext>
              </a:extLst>
            </p:cNvPr>
            <p:cNvSpPr/>
            <p:nvPr/>
          </p:nvSpPr>
          <p:spPr>
            <a:xfrm>
              <a:off x="8783641" y="5701047"/>
              <a:ext cx="3157011" cy="261610"/>
            </a:xfrm>
            <a:prstGeom prst="rect">
              <a:avLst/>
            </a:prstGeom>
          </p:spPr>
          <p:txBody>
            <a:bodyPr wrap="square">
              <a:spAutoFit/>
            </a:bodyPr>
            <a:lstStyle/>
            <a:p>
              <a:r>
                <a:rPr lang="en-HK" sz="902" b="1" dirty="0">
                  <a:latin typeface="Times New Roman" panose="02020603050405020304" pitchFamily="18" charset="0"/>
                  <a:ea typeface="SimSun"/>
                  <a:cs typeface="Times New Roman" panose="02020603050405020304" pitchFamily="18" charset="0"/>
                </a:rPr>
                <a:t>Fig.4.2.1 </a:t>
              </a:r>
              <a:r>
                <a:rPr lang="en-HK" sz="902" dirty="0">
                  <a:latin typeface="Times New Roman" panose="02020603050405020304" pitchFamily="18" charset="0"/>
                  <a:ea typeface="SimSun"/>
                  <a:cs typeface="Times New Roman" panose="02020603050405020304" pitchFamily="18" charset="0"/>
                </a:rPr>
                <a:t>Sketch of meshing in the model</a:t>
              </a:r>
            </a:p>
          </p:txBody>
        </p:sp>
        <p:sp>
          <p:nvSpPr>
            <p:cNvPr id="42" name="矩形 41">
              <a:extLst>
                <a:ext uri="{FF2B5EF4-FFF2-40B4-BE49-F238E27FC236}">
                  <a16:creationId xmlns:a16="http://schemas.microsoft.com/office/drawing/2014/main" id="{8520FDF5-2393-4ACF-AFFA-60C8494F619F}"/>
                </a:ext>
              </a:extLst>
            </p:cNvPr>
            <p:cNvSpPr/>
            <p:nvPr/>
          </p:nvSpPr>
          <p:spPr>
            <a:xfrm>
              <a:off x="432473" y="954192"/>
              <a:ext cx="2165978" cy="369332"/>
            </a:xfrm>
            <a:prstGeom prst="rect">
              <a:avLst/>
            </a:prstGeom>
          </p:spPr>
          <p:txBody>
            <a:bodyPr wrap="none">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4.2 Model equations</a:t>
              </a:r>
            </a:p>
          </p:txBody>
        </p:sp>
        <p:sp>
          <p:nvSpPr>
            <p:cNvPr id="45" name="矩形 44">
              <a:extLst>
                <a:ext uri="{FF2B5EF4-FFF2-40B4-BE49-F238E27FC236}">
                  <a16:creationId xmlns:a16="http://schemas.microsoft.com/office/drawing/2014/main" id="{689AE2E5-5A55-4800-ADF6-BA5649DB4678}"/>
                </a:ext>
              </a:extLst>
            </p:cNvPr>
            <p:cNvSpPr/>
            <p:nvPr/>
          </p:nvSpPr>
          <p:spPr>
            <a:xfrm>
              <a:off x="9999754" y="4331116"/>
              <a:ext cx="120015" cy="42481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HK">
                <a:latin typeface="Times New Roman"/>
                <a:ea typeface="SimSun"/>
                <a:cs typeface="Times New Roman"/>
              </a:endParaRPr>
            </a:p>
          </p:txBody>
        </p:sp>
        <p:cxnSp>
          <p:nvCxnSpPr>
            <p:cNvPr id="46" name="直接箭头连接符 45">
              <a:extLst>
                <a:ext uri="{FF2B5EF4-FFF2-40B4-BE49-F238E27FC236}">
                  <a16:creationId xmlns:a16="http://schemas.microsoft.com/office/drawing/2014/main" id="{B33F72BF-0B7F-4F6C-8C4F-89703A639675}"/>
                </a:ext>
              </a:extLst>
            </p:cNvPr>
            <p:cNvCxnSpPr>
              <a:cxnSpLocks/>
            </p:cNvCxnSpPr>
            <p:nvPr/>
          </p:nvCxnSpPr>
          <p:spPr>
            <a:xfrm flipV="1">
              <a:off x="10120404" y="4496851"/>
              <a:ext cx="878275" cy="1"/>
            </a:xfrm>
            <a:prstGeom prst="straightConnector1">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grpSp>
      <p:sp>
        <p:nvSpPr>
          <p:cNvPr id="49"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中文要点｜控制方程与耦合求解</a:t>
            </a:r>
          </a:p>
          <a:p>
            <a:pPr>
              <a:lnSpc>
                <a:spcPct val="108000"/>
              </a:lnSpc>
              <a:spcAft>
                <a:spcPts val="0"/>
              </a:spcAft>
            </a:pPr>
            <a:r>
              <a:rPr sz="1400" b="0">
                <a:solidFill>
                  <a:srgbClr val="282828"/>
                </a:solidFill>
                <a:latin typeface="Times New Roman"/>
                <a:ea typeface="SimSun"/>
                <a:cs typeface="Times New Roman"/>
              </a:rPr>
              <a:t>模型考虑质量、动量与传质过程，并采用欧拉壁膜（EWF）与离散相模型（DPM）耦合描述喷雾及水膜。</a:t>
            </a:r>
          </a:p>
        </p:txBody>
      </p:sp>
    </p:spTree>
    <p:extLst>
      <p:ext uri="{BB962C8B-B14F-4D97-AF65-F5344CB8AC3E}">
        <p14:creationId xmlns:p14="http://schemas.microsoft.com/office/powerpoint/2010/main" val="37302386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D9371E1-430D-430F-986C-929F0405682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28</a:t>
            </a:fld>
            <a:endParaRPr lang="en-US" altLang="zh-CN">
              <a:latin typeface="Times New Roman"/>
              <a:ea typeface="SimSun"/>
              <a:cs typeface="Times New Roman"/>
            </a:endParaRPr>
          </a:p>
        </p:txBody>
      </p:sp>
      <p:sp>
        <p:nvSpPr>
          <p:cNvPr id="19" name="矩形 3">
            <a:extLst>
              <a:ext uri="{FF2B5EF4-FFF2-40B4-BE49-F238E27FC236}">
                <a16:creationId xmlns:a16="http://schemas.microsoft.com/office/drawing/2014/main" id="{98996587-E9AA-4C1F-91AE-2F3EA546BE0D}"/>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pSp>
        <p:nvGrpSpPr>
          <p:cNvPr id="26" name="Original English content (proportional layout)"/>
          <p:cNvGrpSpPr/>
          <p:nvPr/>
        </p:nvGrpSpPr>
        <p:grpSpPr>
          <a:xfrm>
            <a:off x="1097280" y="731520"/>
            <a:ext cx="9997440" cy="5023714"/>
            <a:chOff x="0" y="731520"/>
            <a:chExt cx="12192000" cy="6126480"/>
          </a:xfrm>
        </p:grpSpPr>
        <p:graphicFrame>
          <p:nvGraphicFramePr>
            <p:cNvPr id="23" name="对象 22">
              <a:extLst>
                <a:ext uri="{FF2B5EF4-FFF2-40B4-BE49-F238E27FC236}">
                  <a16:creationId xmlns:a16="http://schemas.microsoft.com/office/drawing/2014/main" id="{60C4AA45-821C-49F5-B928-C5C40E7526D8}"/>
                </a:ext>
              </a:extLst>
            </p:cNvPr>
            <p:cNvGraphicFramePr>
              <a:graphicFrameLocks noChangeAspect="1"/>
            </p:cNvGraphicFramePr>
            <p:nvPr>
              <p:extLst>
                <p:ext uri="{D42A27DB-BD31-4B8C-83A1-F6EECF244321}">
                  <p14:modId xmlns:p14="http://schemas.microsoft.com/office/powerpoint/2010/main" val="2758621797"/>
                </p:ext>
              </p:extLst>
            </p:nvPr>
          </p:nvGraphicFramePr>
          <p:xfrm>
            <a:off x="6791255" y="1674622"/>
            <a:ext cx="4230818" cy="3521849"/>
          </p:xfrm>
          <a:graphic>
            <a:graphicData uri="http://schemas.openxmlformats.org/presentationml/2006/ole">
              <mc:AlternateContent xmlns:mc="http://schemas.openxmlformats.org/markup-compatibility/2006">
                <mc:Choice xmlns:v="urn:schemas-microsoft-com:vml" Requires="v">
                  <p:oleObj name="Graph" r:id="rId3" imgW="6523715" imgH="5420971" progId="Origin95.Graph">
                    <p:embed/>
                  </p:oleObj>
                </mc:Choice>
                <mc:Fallback>
                  <p:oleObj name="Graph" r:id="rId3" imgW="6523715" imgH="5420971" progId="Origin95.Graph">
                    <p:embed/>
                    <p:pic>
                      <p:nvPicPr>
                        <p:cNvPr id="0" name="Object 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1255" y="1674622"/>
                          <a:ext cx="4230818" cy="3521849"/>
                        </a:xfrm>
                        <a:prstGeom prst="rect">
                          <a:avLst/>
                        </a:prstGeom>
                        <a:noFill/>
                      </p:spPr>
                    </p:pic>
                  </p:oleObj>
                </mc:Fallback>
              </mc:AlternateContent>
            </a:graphicData>
          </a:graphic>
        </p:graphicFrame>
        <p:sp>
          <p:nvSpPr>
            <p:cNvPr id="2" name="文本框 1">
              <a:extLst>
                <a:ext uri="{FF2B5EF4-FFF2-40B4-BE49-F238E27FC236}">
                  <a16:creationId xmlns:a16="http://schemas.microsoft.com/office/drawing/2014/main" id="{E720DF96-1927-4522-88AC-6E975D11B44C}"/>
                </a:ext>
              </a:extLst>
            </p:cNvPr>
            <p:cNvSpPr txBox="1"/>
            <p:nvPr/>
          </p:nvSpPr>
          <p:spPr>
            <a:xfrm>
              <a:off x="452142" y="935958"/>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a:solidFill>
                    <a:prstClr val="black"/>
                  </a:solidFill>
                  <a:latin typeface="Times New Roman" panose="02020603050405020304" pitchFamily="18" charset="0"/>
                  <a:ea typeface="SimSun"/>
                  <a:cs typeface="Times New Roman" panose="02020603050405020304" pitchFamily="18" charset="0"/>
                </a:rPr>
                <a:t>4.3 </a:t>
              </a:r>
              <a:r>
                <a:rPr lang="en-US" altLang="zh-CN" sz="1476" b="1">
                  <a:solidFill>
                    <a:prstClr val="black"/>
                  </a:solidFill>
                  <a:latin typeface="Times New Roman" panose="02020603050405020304" pitchFamily="18" charset="0"/>
                  <a:ea typeface="SimSun" panose="02010600030101010101" pitchFamily="2" charset="-122"/>
                  <a:cs typeface="Times New Roman" panose="02020603050405020304" pitchFamily="18" charset="0"/>
                </a:rPr>
                <a:t>Model validation</a:t>
              </a:r>
              <a:endParaRPr lang="en-HK" sz="1476" b="1" dirty="0">
                <a:solidFill>
                  <a:prstClr val="black"/>
                </a:solidFill>
                <a:latin typeface="Times New Roman" panose="02020603050405020304" pitchFamily="18" charset="0"/>
                <a:ea typeface="SimSun"/>
                <a:cs typeface="Times New Roman" panose="02020603050405020304" pitchFamily="18" charset="0"/>
              </a:endParaRPr>
            </a:p>
          </p:txBody>
        </p:sp>
        <p:sp>
          <p:nvSpPr>
            <p:cNvPr id="6" name="矩形 5">
              <a:extLst>
                <a:ext uri="{FF2B5EF4-FFF2-40B4-BE49-F238E27FC236}">
                  <a16:creationId xmlns:a16="http://schemas.microsoft.com/office/drawing/2014/main" id="{064456A3-825F-41A6-9980-75AECC33CD3B}"/>
                </a:ext>
              </a:extLst>
            </p:cNvPr>
            <p:cNvSpPr/>
            <p:nvPr/>
          </p:nvSpPr>
          <p:spPr>
            <a:xfrm>
              <a:off x="6660241" y="1305290"/>
              <a:ext cx="2223686" cy="369332"/>
            </a:xfrm>
            <a:prstGeom prst="rect">
              <a:avLst/>
            </a:prstGeom>
          </p:spPr>
          <p:txBody>
            <a:bodyPr wrap="none">
              <a:spAutoFit/>
            </a:bodyPr>
            <a:lstStyle/>
            <a:p>
              <a:pPr marL="285750" indent="-285750">
                <a:buFont typeface="Wingdings" panose="05000000000000000000" pitchFamily="2" charset="2"/>
                <a:buChar char="Ø"/>
              </a:pPr>
              <a:r>
                <a:rPr lang="en-HK" sz="1476" dirty="0">
                  <a:latin typeface="Times New Roman" panose="02020603050405020304" pitchFamily="18" charset="0"/>
                  <a:ea typeface="SimSun"/>
                  <a:cs typeface="Times New Roman" panose="02020603050405020304" pitchFamily="18" charset="0"/>
                </a:rPr>
                <a:t>Grid independence</a:t>
              </a:r>
            </a:p>
          </p:txBody>
        </p:sp>
        <p:sp>
          <p:nvSpPr>
            <p:cNvPr id="7" name="矩形 6">
              <a:extLst>
                <a:ext uri="{FF2B5EF4-FFF2-40B4-BE49-F238E27FC236}">
                  <a16:creationId xmlns:a16="http://schemas.microsoft.com/office/drawing/2014/main" id="{80D258E3-16A2-4582-8DFB-8660D91BF356}"/>
                </a:ext>
              </a:extLst>
            </p:cNvPr>
            <p:cNvSpPr/>
            <p:nvPr/>
          </p:nvSpPr>
          <p:spPr>
            <a:xfrm>
              <a:off x="576955" y="1305290"/>
              <a:ext cx="5371983" cy="369332"/>
            </a:xfrm>
            <a:prstGeom prst="rect">
              <a:avLst/>
            </a:prstGeom>
          </p:spPr>
          <p:txBody>
            <a:bodyPr wrap="none">
              <a:spAutoFit/>
            </a:bodyPr>
            <a:lstStyle/>
            <a:p>
              <a:pPr marL="285750" indent="-285750">
                <a:buFont typeface="Wingdings" panose="05000000000000000000" pitchFamily="2" charset="2"/>
                <a:buChar char="Ø"/>
              </a:pPr>
              <a:r>
                <a:rPr lang="en-HK" sz="1476" dirty="0">
                  <a:latin typeface="Times New Roman" panose="02020603050405020304" pitchFamily="18" charset="0"/>
                  <a:ea typeface="SimSun"/>
                  <a:cs typeface="Times New Roman" panose="02020603050405020304" pitchFamily="18" charset="0"/>
                </a:rPr>
                <a:t>Illustration of the </a:t>
              </a:r>
              <a:r>
                <a:rPr lang="en-US" altLang="zh-CN" sz="1476" dirty="0">
                  <a:latin typeface="Times New Roman" panose="02020603050405020304" pitchFamily="18" charset="0"/>
                  <a:ea typeface="SimSun"/>
                  <a:cs typeface="Times New Roman" panose="02020603050405020304" pitchFamily="18" charset="0"/>
                </a:rPr>
                <a:t>experimental and numerical results</a:t>
              </a:r>
              <a:endParaRPr lang="en-HK" sz="1476" dirty="0">
                <a:latin typeface="Times New Roman" panose="02020603050405020304" pitchFamily="18" charset="0"/>
                <a:ea typeface="SimSun"/>
                <a:cs typeface="Times New Roman" panose="02020603050405020304" pitchFamily="18" charset="0"/>
              </a:endParaRPr>
            </a:p>
          </p:txBody>
        </p:sp>
        <p:sp>
          <p:nvSpPr>
            <p:cNvPr id="10" name="矩形 9">
              <a:extLst>
                <a:ext uri="{FF2B5EF4-FFF2-40B4-BE49-F238E27FC236}">
                  <a16:creationId xmlns:a16="http://schemas.microsoft.com/office/drawing/2014/main" id="{4B84F03E-DC0E-4981-8621-C431E1B1C42E}"/>
                </a:ext>
              </a:extLst>
            </p:cNvPr>
            <p:cNvSpPr/>
            <p:nvPr/>
          </p:nvSpPr>
          <p:spPr>
            <a:xfrm>
              <a:off x="1035561" y="6129215"/>
              <a:ext cx="4635457" cy="584775"/>
            </a:xfrm>
            <a:prstGeom prst="rect">
              <a:avLst/>
            </a:prstGeom>
          </p:spPr>
          <p:txBody>
            <a:bodyPr wrap="square">
              <a:spAutoFit/>
            </a:bodyPr>
            <a:lstStyle/>
            <a:p>
              <a:pPr marL="285750" indent="-285750">
                <a:buFont typeface="Arial" panose="020B0604020202020204" pitchFamily="34" charset="0"/>
                <a:buChar char="•"/>
              </a:pPr>
              <a:r>
                <a:rPr lang="en-HK" sz="1312" dirty="0">
                  <a:latin typeface="Times New Roman" panose="02020603050405020304" pitchFamily="18" charset="0"/>
                  <a:ea typeface="SimSun"/>
                  <a:cs typeface="Times New Roman" panose="02020603050405020304" pitchFamily="18" charset="0"/>
                </a:rPr>
                <a:t>The </a:t>
              </a:r>
              <a:r>
                <a:rPr lang="en-HK" sz="1312" b="1" dirty="0">
                  <a:solidFill>
                    <a:srgbClr val="A60626"/>
                  </a:solidFill>
                  <a:latin typeface="Times New Roman" panose="02020603050405020304" pitchFamily="18" charset="0"/>
                  <a:ea typeface="SimSun"/>
                  <a:cs typeface="Times New Roman" panose="02020603050405020304" pitchFamily="18" charset="0"/>
                </a:rPr>
                <a:t>ICEM</a:t>
              </a:r>
              <a:r>
                <a:rPr lang="en-HK" sz="1312" dirty="0">
                  <a:latin typeface="Times New Roman" panose="02020603050405020304" pitchFamily="18" charset="0"/>
                  <a:ea typeface="SimSun"/>
                  <a:cs typeface="Times New Roman" panose="02020603050405020304" pitchFamily="18" charset="0"/>
                </a:rPr>
                <a:t> software in ANSYS was applied to the mesh computational model.</a:t>
              </a:r>
            </a:p>
          </p:txBody>
        </p:sp>
        <p:sp>
          <p:nvSpPr>
            <p:cNvPr id="12" name="椭圆 11">
              <a:extLst>
                <a:ext uri="{FF2B5EF4-FFF2-40B4-BE49-F238E27FC236}">
                  <a16:creationId xmlns:a16="http://schemas.microsoft.com/office/drawing/2014/main" id="{65F77BF4-E7CB-4B11-BE0F-ACEBD86B085A}"/>
                </a:ext>
              </a:extLst>
            </p:cNvPr>
            <p:cNvSpPr/>
            <p:nvPr/>
          </p:nvSpPr>
          <p:spPr>
            <a:xfrm>
              <a:off x="8551119" y="1811718"/>
              <a:ext cx="332808" cy="2925213"/>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sz="1148" dirty="0">
                <a:latin typeface="Times New Roman"/>
                <a:ea typeface="SimSun"/>
                <a:cs typeface="Times New Roman"/>
              </a:endParaRPr>
            </a:p>
          </p:txBody>
        </p:sp>
        <p:sp>
          <p:nvSpPr>
            <p:cNvPr id="13" name="矩形 12">
              <a:extLst>
                <a:ext uri="{FF2B5EF4-FFF2-40B4-BE49-F238E27FC236}">
                  <a16:creationId xmlns:a16="http://schemas.microsoft.com/office/drawing/2014/main" id="{010268D4-C98E-42E1-B80C-BE2152297D0F}"/>
                </a:ext>
              </a:extLst>
            </p:cNvPr>
            <p:cNvSpPr/>
            <p:nvPr/>
          </p:nvSpPr>
          <p:spPr>
            <a:xfrm>
              <a:off x="6768490" y="5552710"/>
              <a:ext cx="4480895" cy="584775"/>
            </a:xfrm>
            <a:prstGeom prst="rect">
              <a:avLst/>
            </a:prstGeom>
          </p:spPr>
          <p:txBody>
            <a:bodyPr wrap="square">
              <a:spAutoFit/>
            </a:bodyPr>
            <a:lstStyle/>
            <a:p>
              <a:pPr marL="285750" indent="-285750">
                <a:buFont typeface="Arial" panose="020B0604020202020204" pitchFamily="34" charset="0"/>
                <a:buChar char="•"/>
              </a:pPr>
              <a:r>
                <a:rPr lang="en-HK" sz="1312" dirty="0">
                  <a:latin typeface="Times New Roman" panose="02020603050405020304" pitchFamily="18" charset="0"/>
                  <a:ea typeface="SimSun"/>
                  <a:cs typeface="Times New Roman" panose="02020603050405020304" pitchFamily="18" charset="0"/>
                </a:rPr>
                <a:t>The grid number of </a:t>
              </a:r>
              <a:r>
                <a:rPr lang="en-HK" sz="1312" b="1" dirty="0">
                  <a:solidFill>
                    <a:srgbClr val="A60626"/>
                  </a:solidFill>
                  <a:latin typeface="Times New Roman" panose="02020603050405020304" pitchFamily="18" charset="0"/>
                  <a:ea typeface="SimSun"/>
                  <a:cs typeface="Times New Roman" panose="02020603050405020304" pitchFamily="18" charset="0"/>
                </a:rPr>
                <a:t>113200</a:t>
              </a:r>
              <a:r>
                <a:rPr lang="en-HK" sz="1312" dirty="0">
                  <a:latin typeface="Times New Roman" panose="02020603050405020304" pitchFamily="18" charset="0"/>
                  <a:ea typeface="SimSun"/>
                  <a:cs typeface="Times New Roman" panose="02020603050405020304" pitchFamily="18" charset="0"/>
                </a:rPr>
                <a:t> could be decided as the simulation number for further research.</a:t>
              </a:r>
            </a:p>
          </p:txBody>
        </p:sp>
        <p:sp>
          <p:nvSpPr>
            <p:cNvPr id="16" name="矩形 15">
              <a:extLst>
                <a:ext uri="{FF2B5EF4-FFF2-40B4-BE49-F238E27FC236}">
                  <a16:creationId xmlns:a16="http://schemas.microsoft.com/office/drawing/2014/main" id="{45D9223E-70D2-4655-8994-DCF81BC8338D}"/>
                </a:ext>
              </a:extLst>
            </p:cNvPr>
            <p:cNvSpPr/>
            <p:nvPr/>
          </p:nvSpPr>
          <p:spPr>
            <a:xfrm>
              <a:off x="7455810" y="5165837"/>
              <a:ext cx="3900666"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Fig.4.3.1 </a:t>
              </a:r>
              <a:r>
                <a:rPr lang="en-HK" sz="984" dirty="0">
                  <a:latin typeface="Times New Roman" panose="02020603050405020304" pitchFamily="18" charset="0"/>
                  <a:ea typeface="SimSun"/>
                  <a:cs typeface="Times New Roman" panose="02020603050405020304" pitchFamily="18" charset="0"/>
                </a:rPr>
                <a:t>Coverage ratio at different numbers of grid</a:t>
              </a:r>
            </a:p>
          </p:txBody>
        </p:sp>
        <p:pic>
          <p:nvPicPr>
            <p:cNvPr id="20" name="图片 19">
              <a:extLst>
                <a:ext uri="{FF2B5EF4-FFF2-40B4-BE49-F238E27FC236}">
                  <a16:creationId xmlns:a16="http://schemas.microsoft.com/office/drawing/2014/main" id="{79E66591-B8EB-46AB-A9EF-7DCAAAD47AA6}"/>
                </a:ext>
              </a:extLst>
            </p:cNvPr>
            <p:cNvPicPr>
              <a:picLocks noChangeAspect="1"/>
            </p:cNvPicPr>
            <p:nvPr/>
          </p:nvPicPr>
          <p:blipFill>
            <a:blip r:embed="rId5">
              <a:extLst>
                <a:ext uri="{28A0092B-C50C-407E-A947-70E740481C1C}">
                  <a14:useLocalDpi xmlns:a14="http://schemas.microsoft.com/office/drawing/2010/main" val="0"/>
                </a:ext>
              </a:extLst>
            </a:blip>
            <a:srcRect b="781"/>
            <a:stretch>
              <a:fillRect/>
            </a:stretch>
          </p:blipFill>
          <p:spPr bwMode="auto">
            <a:xfrm>
              <a:off x="2650762" y="3960758"/>
              <a:ext cx="1775675" cy="1800000"/>
            </a:xfrm>
            <a:prstGeom prst="rect">
              <a:avLst/>
            </a:prstGeom>
            <a:noFill/>
            <a:ln>
              <a:noFill/>
            </a:ln>
          </p:spPr>
        </p:pic>
        <p:sp>
          <p:nvSpPr>
            <p:cNvPr id="5" name="矩形 4">
              <a:extLst>
                <a:ext uri="{FF2B5EF4-FFF2-40B4-BE49-F238E27FC236}">
                  <a16:creationId xmlns:a16="http://schemas.microsoft.com/office/drawing/2014/main" id="{43DFF2F3-4345-44AF-815A-C5419A0BEDF4}"/>
                </a:ext>
              </a:extLst>
            </p:cNvPr>
            <p:cNvSpPr/>
            <p:nvPr/>
          </p:nvSpPr>
          <p:spPr>
            <a:xfrm>
              <a:off x="1553290" y="3652981"/>
              <a:ext cx="1789272" cy="307777"/>
            </a:xfrm>
            <a:prstGeom prst="rect">
              <a:avLst/>
            </a:prstGeom>
          </p:spPr>
          <p:txBody>
            <a:bodyPr wrap="none">
              <a:spAutoFit/>
            </a:bodyPr>
            <a:lstStyle/>
            <a:p>
              <a:r>
                <a:rPr lang="en-US" sz="1148" dirty="0">
                  <a:latin typeface="Times New Roman" panose="02020603050405020304" pitchFamily="18" charset="0"/>
                  <a:ea typeface="SimSun"/>
                  <a:cs typeface="Times New Roman" panose="02020603050405020304" pitchFamily="18" charset="0"/>
                </a:rPr>
                <a:t>(a) Experimental plate</a:t>
              </a:r>
            </a:p>
          </p:txBody>
        </p:sp>
        <p:sp>
          <p:nvSpPr>
            <p:cNvPr id="21" name="矩形 20">
              <a:extLst>
                <a:ext uri="{FF2B5EF4-FFF2-40B4-BE49-F238E27FC236}">
                  <a16:creationId xmlns:a16="http://schemas.microsoft.com/office/drawing/2014/main" id="{84C10F30-1AC7-46CF-9B64-B90CD72EEE80}"/>
                </a:ext>
              </a:extLst>
            </p:cNvPr>
            <p:cNvSpPr/>
            <p:nvPr/>
          </p:nvSpPr>
          <p:spPr>
            <a:xfrm>
              <a:off x="3734637" y="3630295"/>
              <a:ext cx="1640193" cy="307777"/>
            </a:xfrm>
            <a:prstGeom prst="rect">
              <a:avLst/>
            </a:prstGeom>
          </p:spPr>
          <p:txBody>
            <a:bodyPr wrap="none">
              <a:spAutoFit/>
            </a:bodyPr>
            <a:lstStyle/>
            <a:p>
              <a:r>
                <a:rPr lang="en-US" sz="1148" dirty="0">
                  <a:latin typeface="Times New Roman" panose="02020603050405020304" pitchFamily="18" charset="0"/>
                  <a:ea typeface="SimSun"/>
                  <a:cs typeface="Times New Roman" panose="02020603050405020304" pitchFamily="18" charset="0"/>
                </a:rPr>
                <a:t>(b) Numerical result</a:t>
              </a:r>
            </a:p>
          </p:txBody>
        </p:sp>
        <p:sp>
          <p:nvSpPr>
            <p:cNvPr id="22" name="矩形 21">
              <a:extLst>
                <a:ext uri="{FF2B5EF4-FFF2-40B4-BE49-F238E27FC236}">
                  <a16:creationId xmlns:a16="http://schemas.microsoft.com/office/drawing/2014/main" id="{A3B3D0E2-335B-4FE7-9938-BF9FAFB0B6A5}"/>
                </a:ext>
              </a:extLst>
            </p:cNvPr>
            <p:cNvSpPr/>
            <p:nvPr/>
          </p:nvSpPr>
          <p:spPr>
            <a:xfrm>
              <a:off x="2339350" y="5737521"/>
              <a:ext cx="2587568" cy="307777"/>
            </a:xfrm>
            <a:prstGeom prst="rect">
              <a:avLst/>
            </a:prstGeom>
          </p:spPr>
          <p:txBody>
            <a:bodyPr wrap="none">
              <a:spAutoFit/>
            </a:bodyPr>
            <a:lstStyle/>
            <a:p>
              <a:r>
                <a:rPr lang="en-US" sz="1148" dirty="0">
                  <a:latin typeface="Times New Roman" panose="02020603050405020304" pitchFamily="18" charset="0"/>
                  <a:ea typeface="SimSun"/>
                  <a:cs typeface="Times New Roman" panose="02020603050405020304" pitchFamily="18" charset="0"/>
                </a:rPr>
                <a:t>(c) Experimental result in ImageJ</a:t>
              </a:r>
            </a:p>
          </p:txBody>
        </p:sp>
        <p:sp>
          <p:nvSpPr>
            <p:cNvPr id="8" name="Rectangle 217">
              <a:extLst>
                <a:ext uri="{FF2B5EF4-FFF2-40B4-BE49-F238E27FC236}">
                  <a16:creationId xmlns:a16="http://schemas.microsoft.com/office/drawing/2014/main" id="{258704E8-107F-4D40-9FD2-327B0A1A2800}"/>
                </a:ext>
              </a:extLst>
            </p:cNvPr>
            <p:cNvSpPr>
              <a:spLocks noChangeArrowheads="1"/>
            </p:cNvSpPr>
            <p:nvPr/>
          </p:nvSpPr>
          <p:spPr bwMode="auto">
            <a:xfrm>
              <a:off x="5868409" y="15793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24" name="图片 23">
              <a:extLst>
                <a:ext uri="{FF2B5EF4-FFF2-40B4-BE49-F238E27FC236}">
                  <a16:creationId xmlns:a16="http://schemas.microsoft.com/office/drawing/2014/main" id="{786C0105-77AF-4D31-AC98-EEED70A33B85}"/>
                </a:ext>
              </a:extLst>
            </p:cNvPr>
            <p:cNvPicPr>
              <a:picLocks noChangeAspect="1"/>
            </p:cNvPicPr>
            <p:nvPr/>
          </p:nvPicPr>
          <p:blipFill>
            <a:blip r:embed="rId6"/>
            <a:stretch>
              <a:fillRect/>
            </a:stretch>
          </p:blipFill>
          <p:spPr>
            <a:xfrm>
              <a:off x="1401923" y="1807609"/>
              <a:ext cx="1832579" cy="1800000"/>
            </a:xfrm>
            <a:prstGeom prst="rect">
              <a:avLst/>
            </a:prstGeom>
          </p:spPr>
        </p:pic>
        <p:pic>
          <p:nvPicPr>
            <p:cNvPr id="25" name="图片 24">
              <a:extLst>
                <a:ext uri="{FF2B5EF4-FFF2-40B4-BE49-F238E27FC236}">
                  <a16:creationId xmlns:a16="http://schemas.microsoft.com/office/drawing/2014/main" id="{8BFB16C4-D647-4E5B-BECB-32383676EA48}"/>
                </a:ext>
              </a:extLst>
            </p:cNvPr>
            <p:cNvPicPr>
              <a:picLocks noChangeAspect="1"/>
            </p:cNvPicPr>
            <p:nvPr/>
          </p:nvPicPr>
          <p:blipFill>
            <a:blip r:embed="rId7"/>
            <a:stretch>
              <a:fillRect/>
            </a:stretch>
          </p:blipFill>
          <p:spPr>
            <a:xfrm>
              <a:off x="3633134" y="1818952"/>
              <a:ext cx="1840269" cy="1800000"/>
            </a:xfrm>
            <a:prstGeom prst="rect">
              <a:avLst/>
            </a:prstGeom>
          </p:spPr>
        </p:pic>
      </p:grpSp>
      <p:sp>
        <p:nvSpPr>
          <p:cNvPr id="27"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中文要点｜网格与水膜分布验证</a:t>
            </a:r>
          </a:p>
          <a:p>
            <a:pPr>
              <a:lnSpc>
                <a:spcPct val="108000"/>
              </a:lnSpc>
              <a:spcAft>
                <a:spcPts val="0"/>
              </a:spcAft>
            </a:pPr>
            <a:r>
              <a:rPr sz="1400" b="0">
                <a:solidFill>
                  <a:srgbClr val="282828"/>
                </a:solidFill>
                <a:latin typeface="Times New Roman"/>
                <a:ea typeface="SimSun"/>
                <a:cs typeface="Times New Roman"/>
              </a:rPr>
              <a:t>采用 </a:t>
            </a:r>
            <a:r>
              <a:rPr sz="1400" b="1">
                <a:solidFill>
                  <a:srgbClr val="282828"/>
                </a:solidFill>
                <a:latin typeface="Times New Roman"/>
                <a:ea typeface="SimSun"/>
                <a:cs typeface="Times New Roman"/>
              </a:rPr>
              <a:t>113,200</a:t>
            </a:r>
            <a:r>
              <a:rPr sz="1400" b="0">
                <a:solidFill>
                  <a:srgbClr val="282828"/>
                </a:solidFill>
                <a:latin typeface="Times New Roman"/>
                <a:ea typeface="SimSun"/>
                <a:cs typeface="Times New Roman"/>
              </a:rPr>
              <a:t> 个网格开展后续研究，并将模拟水膜分布与实验及 ImageJ 图像处理结果对比。</a:t>
            </a:r>
          </a:p>
        </p:txBody>
      </p:sp>
    </p:spTree>
    <p:extLst>
      <p:ext uri="{BB962C8B-B14F-4D97-AF65-F5344CB8AC3E}">
        <p14:creationId xmlns:p14="http://schemas.microsoft.com/office/powerpoint/2010/main" val="329482145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F0321DA-606C-4F03-8CFE-CB3D18F5A82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29</a:t>
            </a:fld>
            <a:endParaRPr lang="en-US" altLang="zh-CN">
              <a:latin typeface="Times New Roman"/>
              <a:ea typeface="SimSun"/>
              <a:cs typeface="Times New Roman"/>
            </a:endParaRPr>
          </a:p>
        </p:txBody>
      </p:sp>
      <p:sp>
        <p:nvSpPr>
          <p:cNvPr id="22" name="矩形 3">
            <a:extLst>
              <a:ext uri="{FF2B5EF4-FFF2-40B4-BE49-F238E27FC236}">
                <a16:creationId xmlns:a16="http://schemas.microsoft.com/office/drawing/2014/main" id="{A83E1EC0-E872-49D1-AA95-3A74B7DC3A47}"/>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6" name="Rectangle 219">
            <a:extLst>
              <a:ext uri="{FF2B5EF4-FFF2-40B4-BE49-F238E27FC236}">
                <a16:creationId xmlns:a16="http://schemas.microsoft.com/office/drawing/2014/main" id="{9C3718CC-FF8B-4A64-8DC6-BB7FFCD46D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pSp>
        <p:nvGrpSpPr>
          <p:cNvPr id="23" name="Original English content (proportional layout)"/>
          <p:cNvGrpSpPr/>
          <p:nvPr/>
        </p:nvGrpSpPr>
        <p:grpSpPr>
          <a:xfrm>
            <a:off x="1097280" y="731520"/>
            <a:ext cx="9997440" cy="5023714"/>
            <a:chOff x="0" y="731520"/>
            <a:chExt cx="12192000" cy="6126480"/>
          </a:xfrm>
        </p:grpSpPr>
        <p:pic>
          <p:nvPicPr>
            <p:cNvPr id="15" name="图片 14">
              <a:extLst>
                <a:ext uri="{FF2B5EF4-FFF2-40B4-BE49-F238E27FC236}">
                  <a16:creationId xmlns:a16="http://schemas.microsoft.com/office/drawing/2014/main" id="{0DB48571-81F7-4F2B-A0D7-8CC87FE44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7013" y="1494937"/>
              <a:ext cx="3650638" cy="4320000"/>
            </a:xfrm>
            <a:prstGeom prst="rect">
              <a:avLst/>
            </a:prstGeom>
            <a:noFill/>
          </p:spPr>
        </p:pic>
        <p:sp>
          <p:nvSpPr>
            <p:cNvPr id="5" name="矩形 4">
              <a:extLst>
                <a:ext uri="{FF2B5EF4-FFF2-40B4-BE49-F238E27FC236}">
                  <a16:creationId xmlns:a16="http://schemas.microsoft.com/office/drawing/2014/main" id="{CAF00261-34FA-4ECD-A573-3967B1E4F44B}"/>
                </a:ext>
              </a:extLst>
            </p:cNvPr>
            <p:cNvSpPr/>
            <p:nvPr/>
          </p:nvSpPr>
          <p:spPr>
            <a:xfrm>
              <a:off x="630078" y="1551392"/>
              <a:ext cx="1614545"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Conditions</a:t>
              </a:r>
              <a:r>
                <a:rPr lang="en-US" sz="1476" dirty="0">
                  <a:solidFill>
                    <a:prstClr val="black"/>
                  </a:solidFill>
                  <a:latin typeface="Times New Roman" panose="020B0604020202020204" pitchFamily="34" charset="0"/>
                  <a:ea typeface="SimSun"/>
                  <a:cs typeface="Times New Roman" panose="020B0604020202020204" pitchFamily="34" charset="0"/>
                </a:rPr>
                <a:t>: </a:t>
              </a:r>
              <a:endParaRPr lang="en-HK" sz="1476" dirty="0">
                <a:solidFill>
                  <a:prstClr val="black"/>
                </a:solidFill>
                <a:latin typeface="Times New Roman" panose="020B0604020202020204" pitchFamily="34" charset="0"/>
                <a:ea typeface="SimSun"/>
                <a:cs typeface="Times New Roman" panose="020B0604020202020204" pitchFamily="34" charset="0"/>
              </a:endParaRPr>
            </a:p>
          </p:txBody>
        </p:sp>
        <p:sp>
          <p:nvSpPr>
            <p:cNvPr id="7" name="矩形 6">
              <a:extLst>
                <a:ext uri="{FF2B5EF4-FFF2-40B4-BE49-F238E27FC236}">
                  <a16:creationId xmlns:a16="http://schemas.microsoft.com/office/drawing/2014/main" id="{1D6E575A-1BAA-495C-9A4F-C625BE84BAF2}"/>
                </a:ext>
              </a:extLst>
            </p:cNvPr>
            <p:cNvSpPr/>
            <p:nvPr/>
          </p:nvSpPr>
          <p:spPr>
            <a:xfrm>
              <a:off x="7217651" y="1433145"/>
              <a:ext cx="211474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Validation result: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13" name="矩形 12">
              <a:extLst>
                <a:ext uri="{FF2B5EF4-FFF2-40B4-BE49-F238E27FC236}">
                  <a16:creationId xmlns:a16="http://schemas.microsoft.com/office/drawing/2014/main" id="{3450D832-42A3-4396-AF51-9EEB6188644E}"/>
                </a:ext>
              </a:extLst>
            </p:cNvPr>
            <p:cNvSpPr/>
            <p:nvPr/>
          </p:nvSpPr>
          <p:spPr>
            <a:xfrm>
              <a:off x="8599912" y="5080566"/>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Fig.4.4.2 </a:t>
              </a:r>
              <a:r>
                <a:rPr lang="en-HK" sz="984"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2" name="矩形 1">
              <a:extLst>
                <a:ext uri="{FF2B5EF4-FFF2-40B4-BE49-F238E27FC236}">
                  <a16:creationId xmlns:a16="http://schemas.microsoft.com/office/drawing/2014/main" id="{AA203863-08F8-46E9-926E-0DF68D4222A3}"/>
                </a:ext>
              </a:extLst>
            </p:cNvPr>
            <p:cNvSpPr/>
            <p:nvPr/>
          </p:nvSpPr>
          <p:spPr>
            <a:xfrm>
              <a:off x="1117980" y="1876520"/>
              <a:ext cx="2253285" cy="1156086"/>
            </a:xfrm>
            <a:prstGeom prst="rect">
              <a:avLst/>
            </a:prstGeom>
          </p:spPr>
          <p:txBody>
            <a:bodyPr wrap="square">
              <a:spAutoFit/>
            </a:bodyPr>
            <a:lstStyle/>
            <a:p>
              <a:pPr>
                <a:lnSpc>
                  <a:spcPct val="150000"/>
                </a:lnSpc>
              </a:pPr>
              <a:r>
                <a:rPr lang="en-HK" sz="1312" dirty="0">
                  <a:latin typeface="Times New Roman" panose="02020603050405020304" pitchFamily="18" charset="0"/>
                  <a:ea typeface="SimSun"/>
                  <a:cs typeface="Times New Roman" panose="02020603050405020304" pitchFamily="18" charset="0"/>
                </a:rPr>
                <a:t>Q=0.01 kg/s;</a:t>
              </a:r>
            </a:p>
            <a:p>
              <a:pPr>
                <a:lnSpc>
                  <a:spcPct val="150000"/>
                </a:lnSpc>
              </a:pPr>
              <a:r>
                <a:rPr lang="en-HK" sz="1312" dirty="0">
                  <a:latin typeface="Times New Roman" panose="02020603050405020304" pitchFamily="18" charset="0"/>
                  <a:ea typeface="SimSun"/>
                  <a:cs typeface="Times New Roman" panose="02020603050405020304" pitchFamily="18" charset="0"/>
                </a:rPr>
                <a:t>Spray cone angle = 45°;</a:t>
              </a:r>
            </a:p>
            <a:p>
              <a:pPr>
                <a:lnSpc>
                  <a:spcPct val="150000"/>
                </a:lnSpc>
              </a:pPr>
              <a:r>
                <a:rPr lang="en-HK" sz="1312" dirty="0">
                  <a:latin typeface="Times New Roman" panose="02020603050405020304" pitchFamily="18" charset="0"/>
                  <a:ea typeface="SimSun"/>
                  <a:cs typeface="Times New Roman" panose="02020603050405020304" pitchFamily="18" charset="0"/>
                </a:rPr>
                <a:t>Nozzle height =150 mm</a:t>
              </a:r>
            </a:p>
          </p:txBody>
        </p:sp>
        <p:sp>
          <p:nvSpPr>
            <p:cNvPr id="16" name="矩形 15">
              <a:extLst>
                <a:ext uri="{FF2B5EF4-FFF2-40B4-BE49-F238E27FC236}">
                  <a16:creationId xmlns:a16="http://schemas.microsoft.com/office/drawing/2014/main" id="{1BA0274F-8C33-4B7C-9AEC-7734D827EDD8}"/>
                </a:ext>
              </a:extLst>
            </p:cNvPr>
            <p:cNvSpPr/>
            <p:nvPr/>
          </p:nvSpPr>
          <p:spPr>
            <a:xfrm>
              <a:off x="4418026" y="5876729"/>
              <a:ext cx="2602355"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Fig.4.4.1 </a:t>
              </a:r>
              <a:r>
                <a:rPr lang="en-HK" sz="984" dirty="0">
                  <a:latin typeface="Times New Roman" panose="02020603050405020304" pitchFamily="18" charset="0"/>
                  <a:ea typeface="SimSun"/>
                  <a:cs typeface="Times New Roman" panose="02020603050405020304" pitchFamily="18" charset="0"/>
                </a:rPr>
                <a:t>Experiment bench</a:t>
              </a:r>
            </a:p>
          </p:txBody>
        </p:sp>
        <p:sp>
          <p:nvSpPr>
            <p:cNvPr id="17" name="矩形 16">
              <a:extLst>
                <a:ext uri="{FF2B5EF4-FFF2-40B4-BE49-F238E27FC236}">
                  <a16:creationId xmlns:a16="http://schemas.microsoft.com/office/drawing/2014/main" id="{5C6C3AE7-DE30-4069-956A-A66B44179A5E}"/>
                </a:ext>
              </a:extLst>
            </p:cNvPr>
            <p:cNvSpPr/>
            <p:nvPr/>
          </p:nvSpPr>
          <p:spPr>
            <a:xfrm>
              <a:off x="630078" y="3654937"/>
              <a:ext cx="1877437"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Requirements: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10" name="矩形 9">
              <a:extLst>
                <a:ext uri="{FF2B5EF4-FFF2-40B4-BE49-F238E27FC236}">
                  <a16:creationId xmlns:a16="http://schemas.microsoft.com/office/drawing/2014/main" id="{8CCC74D0-844C-4C05-AC6A-2A8C1070422C}"/>
                </a:ext>
              </a:extLst>
            </p:cNvPr>
            <p:cNvSpPr/>
            <p:nvPr/>
          </p:nvSpPr>
          <p:spPr>
            <a:xfrm>
              <a:off x="1085265" y="4100473"/>
              <a:ext cx="4572000" cy="786754"/>
            </a:xfrm>
            <a:prstGeom prst="rect">
              <a:avLst/>
            </a:prstGeom>
          </p:spPr>
          <p:txBody>
            <a:bodyPr>
              <a:spAutoFit/>
            </a:bodyPr>
            <a:lstStyle/>
            <a:p>
              <a:pPr>
                <a:lnSpc>
                  <a:spcPct val="150000"/>
                </a:lnSpc>
              </a:pPr>
              <a:r>
                <a:rPr lang="en-HK" sz="1312" dirty="0">
                  <a:latin typeface="Times New Roman" panose="02020603050405020304" pitchFamily="18" charset="0"/>
                  <a:ea typeface="SimSun"/>
                  <a:cs typeface="Times New Roman" panose="02020603050405020304" pitchFamily="18" charset="0"/>
                </a:rPr>
                <a:t>Outermost transparent casing;</a:t>
              </a:r>
            </a:p>
            <a:p>
              <a:pPr>
                <a:lnSpc>
                  <a:spcPct val="150000"/>
                </a:lnSpc>
              </a:pPr>
              <a:r>
                <a:rPr lang="en-HK" sz="1312" dirty="0">
                  <a:latin typeface="Times New Roman" panose="02020603050405020304" pitchFamily="18" charset="0"/>
                  <a:ea typeface="SimSun"/>
                  <a:cs typeface="Times New Roman" panose="02020603050405020304" pitchFamily="18" charset="0"/>
                </a:rPr>
                <a:t>Sliding nozzles mounted on top</a:t>
              </a:r>
            </a:p>
          </p:txBody>
        </p:sp>
        <p:sp>
          <p:nvSpPr>
            <p:cNvPr id="21" name="矩形 20">
              <a:extLst>
                <a:ext uri="{FF2B5EF4-FFF2-40B4-BE49-F238E27FC236}">
                  <a16:creationId xmlns:a16="http://schemas.microsoft.com/office/drawing/2014/main" id="{62A402BC-637D-41EB-96A1-02AC96781A3D}"/>
                </a:ext>
              </a:extLst>
            </p:cNvPr>
            <p:cNvSpPr/>
            <p:nvPr/>
          </p:nvSpPr>
          <p:spPr>
            <a:xfrm>
              <a:off x="7323000" y="5439170"/>
              <a:ext cx="4502377" cy="584775"/>
            </a:xfrm>
            <a:prstGeom prst="rect">
              <a:avLst/>
            </a:prstGeom>
          </p:spPr>
          <p:txBody>
            <a:bodyPr wrap="square">
              <a:spAutoFit/>
            </a:bodyPr>
            <a:lstStyle/>
            <a:p>
              <a:pPr marL="285750" indent="-285750">
                <a:buFont typeface="Arial" panose="020B0604020202020204" pitchFamily="34" charset="0"/>
                <a:buChar char="•"/>
              </a:pPr>
              <a:r>
                <a:rPr lang="en-US" sz="1312" dirty="0">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7.1%</a:t>
              </a:r>
              <a:r>
                <a:rPr lang="en-US" sz="1312" dirty="0">
                  <a:latin typeface="Times New Roman" panose="02020603050405020304" pitchFamily="18" charset="0"/>
                  <a:ea typeface="SimSun" panose="02010600030101010101" pitchFamily="2" charset="-122"/>
                  <a:cs typeface="Times New Roman" panose="02020603050405020304" pitchFamily="18" charset="0"/>
                </a:rPr>
                <a:t>, </a:t>
              </a:r>
              <a:r>
                <a:rPr lang="en-HK" sz="1312" dirty="0">
                  <a:latin typeface="Times New Roman" panose="02020603050405020304" pitchFamily="18" charset="0"/>
                  <a:ea typeface="SimSun" panose="02010600030101010101" pitchFamily="2" charset="-122"/>
                  <a:cs typeface="Times New Roman" panose="02020603050405020304" pitchFamily="18" charset="0"/>
                </a:rPr>
                <a:t>which was acceptable for the further analysis.</a:t>
              </a:r>
              <a:r>
                <a:rPr lang="en-US" sz="1312" dirty="0">
                  <a:latin typeface="Times New Roman" panose="02020603050405020304" pitchFamily="18" charset="0"/>
                  <a:ea typeface="SimSun" panose="02010600030101010101" pitchFamily="2" charset="-122"/>
                  <a:cs typeface="Times New Roman" panose="02020603050405020304" pitchFamily="18" charset="0"/>
                </a:rPr>
                <a:t> </a:t>
              </a:r>
              <a:endParaRPr lang="en-HK" sz="1312" dirty="0">
                <a:latin typeface="Times New Roman" panose="02020603050405020304" pitchFamily="18" charset="0"/>
                <a:ea typeface="SimSun"/>
                <a:cs typeface="Times New Roman" panose="02020603050405020304" pitchFamily="18" charset="0"/>
              </a:endParaRPr>
            </a:p>
          </p:txBody>
        </p:sp>
        <p:sp>
          <p:nvSpPr>
            <p:cNvPr id="18" name="文本框 17">
              <a:extLst>
                <a:ext uri="{FF2B5EF4-FFF2-40B4-BE49-F238E27FC236}">
                  <a16:creationId xmlns:a16="http://schemas.microsoft.com/office/drawing/2014/main" id="{98E0AE2A-E407-4B45-9629-848DC903A987}"/>
                </a:ext>
              </a:extLst>
            </p:cNvPr>
            <p:cNvSpPr txBox="1"/>
            <p:nvPr/>
          </p:nvSpPr>
          <p:spPr>
            <a:xfrm>
              <a:off x="405649" y="961202"/>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4.4 Environment validation</a:t>
              </a:r>
            </a:p>
          </p:txBody>
        </p:sp>
        <p:graphicFrame>
          <p:nvGraphicFramePr>
            <p:cNvPr id="8" name="对象 7">
              <a:extLst>
                <a:ext uri="{FF2B5EF4-FFF2-40B4-BE49-F238E27FC236}">
                  <a16:creationId xmlns:a16="http://schemas.microsoft.com/office/drawing/2014/main" id="{3DDBFAEC-D5A7-4EFA-8F5B-020AB16ABD63}"/>
                </a:ext>
              </a:extLst>
            </p:cNvPr>
            <p:cNvGraphicFramePr>
              <a:graphicFrameLocks noChangeAspect="1"/>
            </p:cNvGraphicFramePr>
            <p:nvPr>
              <p:extLst>
                <p:ext uri="{D42A27DB-BD31-4B8C-83A1-F6EECF244321}">
                  <p14:modId xmlns:p14="http://schemas.microsoft.com/office/powerpoint/2010/main" val="1660729710"/>
                </p:ext>
              </p:extLst>
            </p:nvPr>
          </p:nvGraphicFramePr>
          <p:xfrm>
            <a:off x="7454519" y="1860087"/>
            <a:ext cx="3900063" cy="3301369"/>
          </p:xfrm>
          <a:graphic>
            <a:graphicData uri="http://schemas.openxmlformats.org/presentationml/2006/ole">
              <mc:AlternateContent xmlns:mc="http://schemas.openxmlformats.org/markup-compatibility/2006">
                <mc:Choice xmlns:v="urn:schemas-microsoft-com:vml" Requires="v">
                  <p:oleObj name="Graph" r:id="rId4" imgW="6246376" imgH="5254989" progId="Origin95.Graph">
                    <p:embed/>
                  </p:oleObj>
                </mc:Choice>
                <mc:Fallback>
                  <p:oleObj name="Graph" r:id="rId4" imgW="6246376" imgH="5254989" progId="Origin95.Graph">
                    <p:embed/>
                    <p:pic>
                      <p:nvPicPr>
                        <p:cNvPr id="0" name="Object 2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4519" y="1860087"/>
                          <a:ext cx="3900063" cy="3301369"/>
                        </a:xfrm>
                        <a:prstGeom prst="rect">
                          <a:avLst/>
                        </a:prstGeom>
                        <a:noFill/>
                      </p:spPr>
                    </p:pic>
                  </p:oleObj>
                </mc:Fallback>
              </mc:AlternateContent>
            </a:graphicData>
          </a:graphic>
        </p:graphicFrame>
      </p:grpSp>
      <p:sp>
        <p:nvSpPr>
          <p:cNvPr id="24"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中文要点｜水膜模型实验验证</a:t>
            </a:r>
          </a:p>
          <a:p>
            <a:pPr>
              <a:lnSpc>
                <a:spcPct val="108000"/>
              </a:lnSpc>
              <a:spcAft>
                <a:spcPts val="0"/>
              </a:spcAft>
            </a:pPr>
            <a:r>
              <a:rPr sz="1400" b="0">
                <a:solidFill>
                  <a:srgbClr val="282828"/>
                </a:solidFill>
                <a:latin typeface="Times New Roman"/>
                <a:ea typeface="SimSun"/>
                <a:cs typeface="Times New Roman"/>
              </a:rPr>
              <a:t>在流量 </a:t>
            </a:r>
            <a:r>
              <a:rPr sz="1400" b="1">
                <a:solidFill>
                  <a:srgbClr val="282828"/>
                </a:solidFill>
                <a:latin typeface="Times New Roman"/>
                <a:ea typeface="SimSun"/>
                <a:cs typeface="Times New Roman"/>
              </a:rPr>
              <a:t>0.01 kg/s</a:t>
            </a:r>
            <a:r>
              <a:rPr sz="1400" b="0">
                <a:solidFill>
                  <a:srgbClr val="282828"/>
                </a:solidFill>
                <a:latin typeface="Times New Roman"/>
                <a:ea typeface="SimSun"/>
                <a:cs typeface="Times New Roman"/>
              </a:rPr>
              <a:t>、喷雾锥角 </a:t>
            </a:r>
            <a:r>
              <a:rPr sz="1400" b="1">
                <a:solidFill>
                  <a:srgbClr val="282828"/>
                </a:solidFill>
                <a:latin typeface="Times New Roman"/>
                <a:ea typeface="SimSun"/>
                <a:cs typeface="Times New Roman"/>
              </a:rPr>
              <a:t>45</a:t>
            </a:r>
            <a:r>
              <a:rPr sz="1400" b="0">
                <a:solidFill>
                  <a:srgbClr val="282828"/>
                </a:solidFill>
                <a:latin typeface="Times New Roman"/>
                <a:ea typeface="SimSun"/>
                <a:cs typeface="Times New Roman"/>
              </a:rPr>
              <a:t>°、喷嘴高度 </a:t>
            </a:r>
            <a:r>
              <a:rPr sz="1400" b="1">
                <a:solidFill>
                  <a:srgbClr val="282828"/>
                </a:solidFill>
                <a:latin typeface="Times New Roman"/>
                <a:ea typeface="SimSun"/>
                <a:cs typeface="Times New Roman"/>
              </a:rPr>
              <a:t>150 mm</a:t>
            </a:r>
            <a:r>
              <a:rPr sz="1400" b="0">
                <a:solidFill>
                  <a:srgbClr val="282828"/>
                </a:solidFill>
                <a:latin typeface="Times New Roman"/>
                <a:ea typeface="SimSun"/>
                <a:cs typeface="Times New Roman"/>
              </a:rPr>
              <a:t> 的验证工况下，最大偏差为 </a:t>
            </a:r>
            <a:r>
              <a:rPr sz="1400" b="1">
                <a:solidFill>
                  <a:srgbClr val="282828"/>
                </a:solidFill>
                <a:latin typeface="Times New Roman"/>
                <a:ea typeface="SimSun"/>
                <a:cs typeface="Times New Roman"/>
              </a:rPr>
              <a:t>7.1%</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417157392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F0321DA-606C-4F03-8CFE-CB3D18F5A82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30</a:t>
            </a:fld>
            <a:endParaRPr lang="en-US" altLang="zh-CN">
              <a:latin typeface="Times New Roman"/>
              <a:ea typeface="SimSun"/>
              <a:cs typeface="Times New Roman"/>
            </a:endParaRPr>
          </a:p>
        </p:txBody>
      </p:sp>
      <p:sp>
        <p:nvSpPr>
          <p:cNvPr id="22" name="矩形 3">
            <a:extLst>
              <a:ext uri="{FF2B5EF4-FFF2-40B4-BE49-F238E27FC236}">
                <a16:creationId xmlns:a16="http://schemas.microsoft.com/office/drawing/2014/main" id="{A83E1EC0-E872-49D1-AA95-3A74B7DC3A47}"/>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6" name="Rectangle 219">
            <a:extLst>
              <a:ext uri="{FF2B5EF4-FFF2-40B4-BE49-F238E27FC236}">
                <a16:creationId xmlns:a16="http://schemas.microsoft.com/office/drawing/2014/main" id="{9C3718CC-FF8B-4A64-8DC6-BB7FFCD46D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pSp>
        <p:nvGrpSpPr>
          <p:cNvPr id="23" name="Original English content (proportional layout)"/>
          <p:cNvGrpSpPr/>
          <p:nvPr/>
        </p:nvGrpSpPr>
        <p:grpSpPr>
          <a:xfrm>
            <a:off x="1097280" y="731520"/>
            <a:ext cx="9997440" cy="5023714"/>
            <a:chOff x="0" y="731520"/>
            <a:chExt cx="12192000" cy="6126480"/>
          </a:xfrm>
        </p:grpSpPr>
        <p:sp>
          <p:nvSpPr>
            <p:cNvPr id="5" name="矩形 4">
              <a:extLst>
                <a:ext uri="{FF2B5EF4-FFF2-40B4-BE49-F238E27FC236}">
                  <a16:creationId xmlns:a16="http://schemas.microsoft.com/office/drawing/2014/main" id="{CAF00261-34FA-4ECD-A573-3967B1E4F44B}"/>
                </a:ext>
              </a:extLst>
            </p:cNvPr>
            <p:cNvSpPr/>
            <p:nvPr/>
          </p:nvSpPr>
          <p:spPr>
            <a:xfrm>
              <a:off x="630078" y="1551392"/>
              <a:ext cx="215956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Experiment bench</a:t>
              </a:r>
              <a:endParaRPr lang="en-HK" sz="1476" dirty="0">
                <a:solidFill>
                  <a:prstClr val="black"/>
                </a:solidFill>
                <a:latin typeface="Times New Roman" panose="020B0604020202020204" pitchFamily="34" charset="0"/>
                <a:ea typeface="SimSun"/>
                <a:cs typeface="Times New Roman" panose="020B0604020202020204" pitchFamily="34" charset="0"/>
              </a:endParaRPr>
            </a:p>
          </p:txBody>
        </p:sp>
        <p:sp>
          <p:nvSpPr>
            <p:cNvPr id="7" name="矩形 6">
              <a:extLst>
                <a:ext uri="{FF2B5EF4-FFF2-40B4-BE49-F238E27FC236}">
                  <a16:creationId xmlns:a16="http://schemas.microsoft.com/office/drawing/2014/main" id="{1D6E575A-1BAA-495C-9A4F-C625BE84BAF2}"/>
                </a:ext>
              </a:extLst>
            </p:cNvPr>
            <p:cNvSpPr/>
            <p:nvPr/>
          </p:nvSpPr>
          <p:spPr>
            <a:xfrm>
              <a:off x="7079628" y="1551392"/>
              <a:ext cx="2114746" cy="369332"/>
            </a:xfrm>
            <a:prstGeom prst="rect">
              <a:avLst/>
            </a:prstGeom>
          </p:spPr>
          <p:txBody>
            <a:bodyPr wrap="none">
              <a:spAutoFit/>
            </a:bodyPr>
            <a:lstStyle/>
            <a:p>
              <a:pPr marL="285750" indent="-285750" defTabSz="457200" eaLnBrk="1" fontAlgn="auto" hangingPunct="1">
                <a:spcBef>
                  <a:spcPts val="0"/>
                </a:spcBef>
                <a:spcAft>
                  <a:spcPts val="0"/>
                </a:spcAft>
                <a:buFont typeface="Wingdings" panose="05000000000000000000" pitchFamily="2" charset="2"/>
                <a:buChar char="Ø"/>
              </a:pPr>
              <a:r>
                <a:rPr lang="en-US" sz="1476" dirty="0">
                  <a:solidFill>
                    <a:prstClr val="black"/>
                  </a:solidFill>
                  <a:latin typeface="Times New Roman" panose="02020603050405020304" pitchFamily="18" charset="0"/>
                  <a:ea typeface="SimSun"/>
                  <a:cs typeface="Times New Roman" panose="02020603050405020304" pitchFamily="18" charset="0"/>
                </a:rPr>
                <a:t>Validation result: </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13" name="矩形 12">
              <a:extLst>
                <a:ext uri="{FF2B5EF4-FFF2-40B4-BE49-F238E27FC236}">
                  <a16:creationId xmlns:a16="http://schemas.microsoft.com/office/drawing/2014/main" id="{3450D832-42A3-4396-AF51-9EEB6188644E}"/>
                </a:ext>
              </a:extLst>
            </p:cNvPr>
            <p:cNvSpPr/>
            <p:nvPr/>
          </p:nvSpPr>
          <p:spPr>
            <a:xfrm>
              <a:off x="8538707" y="5268305"/>
              <a:ext cx="2019204"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Fig.4.4.4 </a:t>
              </a:r>
              <a:r>
                <a:rPr lang="en-HK" sz="984" dirty="0">
                  <a:solidFill>
                    <a:prstClr val="black"/>
                  </a:solidFill>
                  <a:latin typeface="Times New Roman" panose="02020603050405020304" pitchFamily="18" charset="0"/>
                  <a:ea typeface="SimSun"/>
                  <a:cs typeface="Times New Roman" panose="02020603050405020304" pitchFamily="18" charset="0"/>
                </a:rPr>
                <a:t>Validation results</a:t>
              </a:r>
            </a:p>
          </p:txBody>
        </p:sp>
        <p:sp>
          <p:nvSpPr>
            <p:cNvPr id="21" name="矩形 20">
              <a:extLst>
                <a:ext uri="{FF2B5EF4-FFF2-40B4-BE49-F238E27FC236}">
                  <a16:creationId xmlns:a16="http://schemas.microsoft.com/office/drawing/2014/main" id="{62A402BC-637D-41EB-96A1-02AC96781A3D}"/>
                </a:ext>
              </a:extLst>
            </p:cNvPr>
            <p:cNvSpPr/>
            <p:nvPr/>
          </p:nvSpPr>
          <p:spPr>
            <a:xfrm>
              <a:off x="7328008" y="5678574"/>
              <a:ext cx="4502377" cy="584775"/>
            </a:xfrm>
            <a:prstGeom prst="rect">
              <a:avLst/>
            </a:prstGeom>
          </p:spPr>
          <p:txBody>
            <a:bodyPr wrap="square">
              <a:spAutoFit/>
            </a:bodyPr>
            <a:lstStyle/>
            <a:p>
              <a:pPr marL="285750" indent="-285750">
                <a:buFont typeface="Arial" panose="020B0604020202020204" pitchFamily="34" charset="0"/>
                <a:buChar char="•"/>
              </a:pPr>
              <a:r>
                <a:rPr lang="en-US" sz="1312" dirty="0">
                  <a:latin typeface="Times New Roman" panose="02020603050405020304" pitchFamily="18" charset="0"/>
                  <a:ea typeface="SimSun" panose="02010600030101010101" pitchFamily="2" charset="-122"/>
                  <a:cs typeface="Times New Roman" panose="02020603050405020304" pitchFamily="18" charset="0"/>
                </a:rPr>
                <a:t>The maximum discrepancy is </a:t>
              </a:r>
              <a:r>
                <a:rPr lang="en-US"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8.2%</a:t>
              </a:r>
              <a:r>
                <a:rPr lang="en-US" sz="1312" dirty="0">
                  <a:latin typeface="Times New Roman" panose="02020603050405020304" pitchFamily="18" charset="0"/>
                  <a:ea typeface="SimSun" panose="02010600030101010101" pitchFamily="2" charset="-122"/>
                  <a:cs typeface="Times New Roman" panose="02020603050405020304" pitchFamily="18" charset="0"/>
                </a:rPr>
                <a:t>, </a:t>
              </a:r>
              <a:r>
                <a:rPr lang="en-HK" sz="1312" dirty="0">
                  <a:latin typeface="Times New Roman" panose="02020603050405020304" pitchFamily="18" charset="0"/>
                  <a:ea typeface="SimSun" panose="02010600030101010101" pitchFamily="2" charset="-122"/>
                  <a:cs typeface="Times New Roman" panose="02020603050405020304" pitchFamily="18" charset="0"/>
                </a:rPr>
                <a:t>which was acceptable for the further analysis.</a:t>
              </a:r>
              <a:r>
                <a:rPr lang="en-US" sz="1312" dirty="0">
                  <a:latin typeface="Times New Roman" panose="02020603050405020304" pitchFamily="18" charset="0"/>
                  <a:ea typeface="SimSun" panose="02010600030101010101" pitchFamily="2" charset="-122"/>
                  <a:cs typeface="Times New Roman" panose="02020603050405020304" pitchFamily="18" charset="0"/>
                </a:rPr>
                <a:t> </a:t>
              </a:r>
              <a:endParaRPr lang="en-HK" sz="1312" dirty="0">
                <a:latin typeface="Times New Roman" panose="02020603050405020304" pitchFamily="18" charset="0"/>
                <a:ea typeface="SimSun"/>
                <a:cs typeface="Times New Roman" panose="02020603050405020304" pitchFamily="18" charset="0"/>
              </a:endParaRPr>
            </a:p>
          </p:txBody>
        </p:sp>
        <p:sp>
          <p:nvSpPr>
            <p:cNvPr id="18" name="文本框 17">
              <a:extLst>
                <a:ext uri="{FF2B5EF4-FFF2-40B4-BE49-F238E27FC236}">
                  <a16:creationId xmlns:a16="http://schemas.microsoft.com/office/drawing/2014/main" id="{98E0AE2A-E407-4B45-9629-848DC903A987}"/>
                </a:ext>
              </a:extLst>
            </p:cNvPr>
            <p:cNvSpPr txBox="1"/>
            <p:nvPr/>
          </p:nvSpPr>
          <p:spPr>
            <a:xfrm>
              <a:off x="405649" y="961202"/>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4.4 Environment validation</a:t>
              </a:r>
            </a:p>
          </p:txBody>
        </p:sp>
        <p:pic>
          <p:nvPicPr>
            <p:cNvPr id="19" name="图片 18">
              <a:extLst>
                <a:ext uri="{FF2B5EF4-FFF2-40B4-BE49-F238E27FC236}">
                  <a16:creationId xmlns:a16="http://schemas.microsoft.com/office/drawing/2014/main" id="{2DB0A7BF-2080-4A24-92AC-95090B602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115" y="2018735"/>
              <a:ext cx="5512971" cy="3600000"/>
            </a:xfrm>
            <a:prstGeom prst="rect">
              <a:avLst/>
            </a:prstGeom>
          </p:spPr>
        </p:pic>
        <p:sp>
          <p:nvSpPr>
            <p:cNvPr id="9" name="Rectangle 2">
              <a:extLst>
                <a:ext uri="{FF2B5EF4-FFF2-40B4-BE49-F238E27FC236}">
                  <a16:creationId xmlns:a16="http://schemas.microsoft.com/office/drawing/2014/main" id="{0EC59F86-389A-485F-8724-09E44747A70A}"/>
                </a:ext>
              </a:extLst>
            </p:cNvPr>
            <p:cNvSpPr>
              <a:spLocks noChangeArrowheads="1"/>
            </p:cNvSpPr>
            <p:nvPr/>
          </p:nvSpPr>
          <p:spPr bwMode="auto">
            <a:xfrm>
              <a:off x="7217651" y="19524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1" name="对象 10">
              <a:extLst>
                <a:ext uri="{FF2B5EF4-FFF2-40B4-BE49-F238E27FC236}">
                  <a16:creationId xmlns:a16="http://schemas.microsoft.com/office/drawing/2014/main" id="{C694B137-4033-4701-B03E-3B8C9EF35B95}"/>
                </a:ext>
              </a:extLst>
            </p:cNvPr>
            <p:cNvGraphicFramePr>
              <a:graphicFrameLocks noChangeAspect="1"/>
            </p:cNvGraphicFramePr>
            <p:nvPr>
              <p:extLst>
                <p:ext uri="{D42A27DB-BD31-4B8C-83A1-F6EECF244321}">
                  <p14:modId xmlns:p14="http://schemas.microsoft.com/office/powerpoint/2010/main" val="1022724867"/>
                </p:ext>
              </p:extLst>
            </p:nvPr>
          </p:nvGraphicFramePr>
          <p:xfrm>
            <a:off x="7328008" y="2005795"/>
            <a:ext cx="3962183" cy="3326837"/>
          </p:xfrm>
          <a:graphic>
            <a:graphicData uri="http://schemas.openxmlformats.org/presentationml/2006/ole">
              <mc:AlternateContent xmlns:mc="http://schemas.openxmlformats.org/markup-compatibility/2006">
                <mc:Choice xmlns:v="urn:schemas-microsoft-com:vml" Requires="v">
                  <p:oleObj name="Graph" r:id="rId4" imgW="6246376" imgH="5254989" progId="Origin95.Graph">
                    <p:embed/>
                  </p:oleObj>
                </mc:Choice>
                <mc:Fallback>
                  <p:oleObj name="Graph" r:id="rId4" imgW="6246376" imgH="5254989" progId="Origin95.Graph">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8008" y="2005795"/>
                          <a:ext cx="3962183" cy="3326837"/>
                        </a:xfrm>
                        <a:prstGeom prst="rect">
                          <a:avLst/>
                        </a:prstGeom>
                        <a:noFill/>
                      </p:spPr>
                    </p:pic>
                  </p:oleObj>
                </mc:Fallback>
              </mc:AlternateContent>
            </a:graphicData>
          </a:graphic>
        </p:graphicFrame>
        <p:sp>
          <p:nvSpPr>
            <p:cNvPr id="20" name="矩形 19">
              <a:extLst>
                <a:ext uri="{FF2B5EF4-FFF2-40B4-BE49-F238E27FC236}">
                  <a16:creationId xmlns:a16="http://schemas.microsoft.com/office/drawing/2014/main" id="{1A42B36B-9477-4B63-AE31-5169BBDEC44A}"/>
                </a:ext>
              </a:extLst>
            </p:cNvPr>
            <p:cNvSpPr/>
            <p:nvPr/>
          </p:nvSpPr>
          <p:spPr>
            <a:xfrm>
              <a:off x="2994894" y="5716746"/>
              <a:ext cx="2019204"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Fig.4.4.3 </a:t>
              </a:r>
              <a:r>
                <a:rPr lang="en-HK" sz="984" dirty="0">
                  <a:solidFill>
                    <a:prstClr val="black"/>
                  </a:solidFill>
                  <a:latin typeface="Times New Roman" panose="02020603050405020304" pitchFamily="18" charset="0"/>
                  <a:ea typeface="SimSun"/>
                  <a:cs typeface="Times New Roman" panose="02020603050405020304" pitchFamily="18" charset="0"/>
                </a:rPr>
                <a:t>Validation results</a:t>
              </a:r>
            </a:p>
          </p:txBody>
        </p:sp>
      </p:grpSp>
      <p:sp>
        <p:nvSpPr>
          <p:cNvPr id="24"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中文要点｜系统性能实验验证</a:t>
            </a:r>
          </a:p>
          <a:p>
            <a:pPr>
              <a:lnSpc>
                <a:spcPct val="108000"/>
              </a:lnSpc>
              <a:spcAft>
                <a:spcPts val="0"/>
              </a:spcAft>
            </a:pPr>
            <a:r>
              <a:rPr sz="1400" b="0">
                <a:solidFill>
                  <a:srgbClr val="282828"/>
                </a:solidFill>
                <a:latin typeface="Times New Roman"/>
                <a:ea typeface="SimSun"/>
                <a:cs typeface="Times New Roman"/>
              </a:rPr>
              <a:t>实验与模拟结果的最大偏差为 </a:t>
            </a:r>
            <a:r>
              <a:rPr sz="1400" b="1">
                <a:solidFill>
                  <a:srgbClr val="282828"/>
                </a:solidFill>
                <a:latin typeface="Times New Roman"/>
                <a:ea typeface="SimSun"/>
                <a:cs typeface="Times New Roman"/>
              </a:rPr>
              <a:t>8.2%</a:t>
            </a:r>
            <a:r>
              <a:rPr sz="1400" b="0">
                <a:solidFill>
                  <a:srgbClr val="282828"/>
                </a:solidFill>
                <a:latin typeface="Times New Roman"/>
                <a:ea typeface="SimSun"/>
                <a:cs typeface="Times New Roman"/>
              </a:rPr>
              <a:t>，满足后续参数分析与系统性能研究的要求。</a:t>
            </a:r>
          </a:p>
        </p:txBody>
      </p:sp>
    </p:spTree>
    <p:extLst>
      <p:ext uri="{BB962C8B-B14F-4D97-AF65-F5344CB8AC3E}">
        <p14:creationId xmlns:p14="http://schemas.microsoft.com/office/powerpoint/2010/main" val="340036913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04AEFD1A-F491-478B-AB3F-DEA2A908B11D}"/>
                  </a:ext>
                </a:extLst>
              </p:cNvPr>
              <p:cNvSpPr/>
              <p:nvPr/>
            </p:nvSpPr>
            <p:spPr>
              <a:xfrm>
                <a:off x="1947313" y="1910749"/>
                <a:ext cx="2424831" cy="596638"/>
              </a:xfrm>
              <a:prstGeom prst="rect">
                <a:avLst/>
              </a:prstGeom>
            </p:spPr>
            <p:txBody>
              <a:bodyPr wrap="square">
                <a:spAutoFit/>
              </a:bodyPr>
              <a:lstStyle/>
              <a:p>
                <a:pPr/>
                <a14:m>
                  <m:oMathPara xmlns:m="http://schemas.openxmlformats.org/officeDocument/2006/math">
                    <m:oMath>
                      <m:sSub>
                        <m:sSubPr>
                          <m:ctrlPr>
                            <a:rPr lang="zh-CN" altLang="zh-CN" sz="1600" i="1">
                              <a:latin typeface="Times New Roman" panose="02040503050406030204" pitchFamily="18" charset="0"/>
                              <a:ea typeface="SimSun"/>
                              <a:cs typeface="Times New Roman"/>
                            </a:rPr>
                          </m:ctrlPr>
                        </m:sSubPr>
                        <m:e>
                          <m:acc>
                            <m:accPr>
                              <m:chr m:val="̇"/>
                              <m:ctrlPr>
                                <a:rPr lang="en-US" altLang="zh-CN" sz="1600" i="1">
                                  <a:latin typeface="Times New Roman"/>
                                  <a:ea typeface="SimSun"/>
                                  <a:cs typeface="Times New Roman"/>
                                </a:rPr>
                              </m:ctrlPr>
                            </m:accPr>
                            <m:e>
                              <m:r>
                                <a:rPr lang="en-US" altLang="zh-CN" sz="1600" i="1">
                                  <a:latin typeface="Times New Roman"/>
                                  <a:ea typeface="SimSun"/>
                                  <a:cs typeface="Times New Roman"/>
                                </a:rPr>
                                <m:t>𝑚</m:t>
                              </m:r>
                            </m:e>
                          </m:acc>
                        </m:e>
                        <m:sub>
                          <m:r>
                            <a:rPr lang="en-US" altLang="zh-CN" sz="1600" i="1">
                              <a:latin typeface="Times New Roman"/>
                              <a:ea typeface="SimSun"/>
                              <a:cs typeface="Times New Roman"/>
                            </a:rPr>
                            <m:t>𝑡ℎ</m:t>
                          </m:r>
                        </m:sub>
                      </m:sSub>
                      <m:r>
                        <a:rPr lang="en-US" altLang="zh-CN" sz="1600" i="1">
                          <a:latin typeface="Times New Roman"/>
                          <a:ea typeface="SimSun"/>
                          <a:cs typeface="Times New Roman"/>
                        </a:rPr>
                        <m:t>=</m:t>
                      </m:r>
                      <m:r>
                        <a:rPr lang="en-US" altLang="zh-CN" sz="1600" i="1">
                          <a:latin typeface="Times New Roman"/>
                          <a:ea typeface="SimSun"/>
                          <a:cs typeface="Times New Roman"/>
                        </a:rPr>
                        <m:t>𝜌</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𝐴</m:t>
                          </m:r>
                        </m:e>
                        <m:sub>
                          <m:r>
                            <a:rPr lang="en-US" altLang="zh-CN" sz="1600" i="1">
                              <a:latin typeface="Times New Roman"/>
                              <a:ea typeface="SimSun"/>
                              <a:cs typeface="Times New Roman"/>
                            </a:rPr>
                            <m:t>𝑂</m:t>
                          </m:r>
                        </m:sub>
                      </m:sSub>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m:t>
                          </m:r>
                          <m:f>
                            <m:fPr>
                              <m:ctrlPr>
                                <a:rPr lang="en-US" altLang="zh-CN" sz="1600" i="1">
                                  <a:latin typeface="Times New Roman"/>
                                  <a:ea typeface="SimSun"/>
                                  <a:cs typeface="Times New Roman"/>
                                </a:rPr>
                              </m:ctrlPr>
                            </m:fPr>
                            <m:num>
                              <m:r>
                                <a:rPr lang="en-US" altLang="zh-CN" sz="1600" i="1">
                                  <a:latin typeface="Times New Roman"/>
                                  <a:ea typeface="SimSun"/>
                                  <a:cs typeface="Times New Roman"/>
                                </a:rPr>
                                <m:t>2∆</m:t>
                              </m:r>
                              <m:r>
                                <a:rPr lang="en-US" altLang="zh-CN" sz="1600" i="1">
                                  <a:latin typeface="Times New Roman"/>
                                  <a:ea typeface="SimSun"/>
                                  <a:cs typeface="Times New Roman"/>
                                </a:rPr>
                                <m:t>𝑃</m:t>
                              </m:r>
                            </m:num>
                            <m:den>
                              <m:r>
                                <a:rPr lang="en-US" altLang="zh-CN" sz="1600" i="1">
                                  <a:latin typeface="Times New Roman"/>
                                  <a:ea typeface="SimSun"/>
                                  <a:cs typeface="Times New Roman"/>
                                </a:rPr>
                                <m:t>𝜌</m:t>
                              </m:r>
                            </m:den>
                          </m:f>
                          <m:r>
                            <a:rPr lang="en-US" altLang="zh-CN" sz="1600" i="1">
                              <a:latin typeface="Times New Roman"/>
                              <a:ea typeface="SimSun"/>
                              <a:cs typeface="Times New Roman"/>
                            </a:rPr>
                            <m:t>)</m:t>
                          </m:r>
                        </m:e>
                        <m:sup>
                          <m:r>
                            <a:rPr lang="en-US" altLang="zh-CN" sz="1600" i="1">
                              <a:latin typeface="Times New Roman"/>
                              <a:ea typeface="SimSun"/>
                              <a:cs typeface="Times New Roman"/>
                            </a:rPr>
                            <m:t>0.5</m:t>
                          </m:r>
                        </m:sup>
                      </m:sSup>
                    </m:oMath>
                  </m:oMathPara>
                </a14:m>
                <a:endParaRPr lang="zh-CN" altLang="zh-CN" sz="1600" dirty="0">
                  <a:latin typeface="Times New Roman"/>
                  <a:ea typeface="SimSun"/>
                  <a:cs typeface="Times New Roman"/>
                </a:endParaRPr>
              </a:p>
            </p:txBody>
          </p:sp>
        </mc:Choice>
        <mc:Fallback xmlns="">
          <p:sp>
            <p:nvSpPr>
              <p:cNvPr id="37" name="矩形 36">
                <a:extLst>
                  <a:ext uri="{FF2B5EF4-FFF2-40B4-BE49-F238E27FC236}">
                    <a16:creationId xmlns:a16="http://schemas.microsoft.com/office/drawing/2014/main" id="{04AEFD1A-F491-478B-AB3F-DEA2A908B11D}"/>
                  </a:ext>
                </a:extLst>
              </p:cNvPr>
              <p:cNvSpPr>
                <a:spLocks noRot="1" noChangeAspect="1" noMove="1" noResize="1" noEditPoints="1" noAdjustHandles="1" noChangeArrowheads="1" noChangeShapeType="1" noTextEdit="1"/>
              </p:cNvSpPr>
              <p:nvPr/>
            </p:nvSpPr>
            <p:spPr>
              <a:xfrm>
                <a:off x="1947313" y="1910749"/>
                <a:ext cx="2424831" cy="596638"/>
              </a:xfrm>
              <a:prstGeom prst="rect">
                <a:avLst/>
              </a:prstGeom>
              <a:blipFill>
                <a:blip r:embed="rId6"/>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5EF7F9EB-37AE-4981-B1A5-EE5B140C6B93}"/>
                  </a:ext>
                </a:extLst>
              </p:cNvPr>
              <p:cNvSpPr/>
              <p:nvPr/>
            </p:nvSpPr>
            <p:spPr>
              <a:xfrm>
                <a:off x="1832660" y="3061674"/>
                <a:ext cx="2654135" cy="358368"/>
              </a:xfrm>
              <a:prstGeom prst="rect">
                <a:avLst/>
              </a:prstGeom>
            </p:spPr>
            <p:txBody>
              <a:bodyPr wrap="square">
                <a:spAutoFit/>
              </a:bodyPr>
              <a:lstStyle/>
              <a:p>
                <a:pPr/>
                <a14:m>
                  <m:oMathPara xmlns:m="http://schemas.openxmlformats.org/officeDocument/2006/math">
                    <m:oMath>
                      <m:r>
                        <a:rPr lang="en-US" altLang="zh-CN" sz="1600" i="1">
                          <a:latin typeface="Times New Roman"/>
                          <a:ea typeface="SimSun"/>
                          <a:cs typeface="Times New Roman"/>
                        </a:rPr>
                        <m:t>𝑑</m:t>
                      </m:r>
                      <m:r>
                        <a:rPr lang="en-US" altLang="zh-CN" sz="1600">
                          <a:latin typeface="Times New Roman"/>
                          <a:ea typeface="SimSun"/>
                          <a:cs typeface="Times New Roman"/>
                        </a:rPr>
                        <m:t>=9.5</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𝑑</m:t>
                          </m:r>
                        </m:e>
                        <m:sub>
                          <m:r>
                            <a:rPr lang="en-US" altLang="zh-CN" sz="1600" i="1">
                              <a:latin typeface="Times New Roman"/>
                              <a:ea typeface="SimSun"/>
                              <a:cs typeface="Times New Roman"/>
                            </a:rPr>
                            <m:t>𝑗</m:t>
                          </m:r>
                        </m:sub>
                      </m:sSub>
                      <m:r>
                        <a:rPr lang="en-US" altLang="zh-CN" sz="1600">
                          <a:latin typeface="Times New Roman"/>
                          <a:ea typeface="SimSun"/>
                          <a:cs typeface="Times New Roman"/>
                        </a:rPr>
                        <m:t>/(∆</m:t>
                      </m:r>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𝑃</m:t>
                          </m:r>
                        </m:e>
                        <m:sub>
                          <m:r>
                            <a:rPr lang="en-US" altLang="zh-CN" sz="1600">
                              <a:latin typeface="Times New Roman"/>
                              <a:ea typeface="SimSun"/>
                              <a:cs typeface="Times New Roman"/>
                            </a:rPr>
                            <m:t>1</m:t>
                          </m:r>
                        </m:sub>
                      </m:sSub>
                      <m:r>
                        <a:rPr lang="en-US" altLang="zh-CN" sz="1600" i="1">
                          <a:latin typeface="Times New Roman"/>
                          <a:ea typeface="SimSun"/>
                          <a:cs typeface="Times New Roman"/>
                        </a:rPr>
                        <m:t>𝑠𝑖𝑛</m:t>
                      </m:r>
                      <m:r>
                        <a:rPr lang="en-US" altLang="zh-CN" sz="1600">
                          <a:latin typeface="Times New Roman"/>
                          <a:ea typeface="SimSun"/>
                          <a:cs typeface="Times New Roman"/>
                        </a:rPr>
                        <m:t>(</m:t>
                      </m:r>
                      <m:r>
                        <a:rPr lang="en-US" altLang="zh-CN" sz="1600" i="1">
                          <a:latin typeface="Times New Roman"/>
                          <a:ea typeface="SimSun"/>
                          <a:cs typeface="Times New Roman"/>
                        </a:rPr>
                        <m:t>𝛼</m:t>
                      </m:r>
                      <m:r>
                        <a:rPr lang="en-US" altLang="zh-CN" sz="1600">
                          <a:latin typeface="Times New Roman"/>
                          <a:ea typeface="SimSun"/>
                          <a:cs typeface="Times New Roman"/>
                        </a:rPr>
                        <m:t>/2))</m:t>
                      </m:r>
                    </m:oMath>
                  </m:oMathPara>
                </a14:m>
                <a:endParaRPr lang="zh-CN" altLang="zh-CN" sz="1600" dirty="0">
                  <a:latin typeface="Times New Roman"/>
                  <a:ea typeface="SimSun"/>
                  <a:cs typeface="Times New Roman"/>
                </a:endParaRPr>
              </a:p>
            </p:txBody>
          </p:sp>
        </mc:Choice>
        <mc:Fallback xmlns="">
          <p:sp>
            <p:nvSpPr>
              <p:cNvPr id="39" name="矩形 38">
                <a:extLst>
                  <a:ext uri="{FF2B5EF4-FFF2-40B4-BE49-F238E27FC236}">
                    <a16:creationId xmlns:a16="http://schemas.microsoft.com/office/drawing/2014/main" id="{5EF7F9EB-37AE-4981-B1A5-EE5B140C6B93}"/>
                  </a:ext>
                </a:extLst>
              </p:cNvPr>
              <p:cNvSpPr>
                <a:spLocks noRot="1" noChangeAspect="1" noMove="1" noResize="1" noEditPoints="1" noAdjustHandles="1" noChangeArrowheads="1" noChangeShapeType="1" noTextEdit="1"/>
              </p:cNvSpPr>
              <p:nvPr/>
            </p:nvSpPr>
            <p:spPr>
              <a:xfrm>
                <a:off x="1832660" y="3061674"/>
                <a:ext cx="2654135" cy="358368"/>
              </a:xfrm>
              <a:prstGeom prst="rect">
                <a:avLst/>
              </a:prstGeom>
              <a:blipFill>
                <a:blip r:embed="rId7"/>
                <a:stretch>
                  <a:fillRect b="-6780"/>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498D7BEB-7674-4C14-9BA3-FC1800626FB4}"/>
                  </a:ext>
                </a:extLst>
              </p:cNvPr>
              <p:cNvSpPr/>
              <p:nvPr/>
            </p:nvSpPr>
            <p:spPr>
              <a:xfrm>
                <a:off x="1129740" y="4188537"/>
                <a:ext cx="4750666" cy="595228"/>
              </a:xfrm>
              <a:prstGeom prst="rect">
                <a:avLst/>
              </a:prstGeom>
            </p:spPr>
            <p:txBody>
              <a:bodyPr wrap="square">
                <a:spAutoFit/>
              </a:bodyPr>
              <a:lstStyle/>
              <a:p>
                <a:pPr/>
                <a14:m>
                  <m:oMathPara xmlns:m="http://schemas.openxmlformats.org/officeDocument/2006/math">
                    <m:oMath>
                      <m:r>
                        <a:rPr lang="en-US" altLang="zh-CN" sz="1600" i="1">
                          <a:latin typeface="Times New Roman"/>
                          <a:ea typeface="SimSun"/>
                          <a:cs typeface="Times New Roman"/>
                        </a:rPr>
                        <m:t>2</m:t>
                      </m:r>
                      <m:r>
                        <a:rPr lang="en-US" altLang="zh-CN" sz="1600" i="1">
                          <a:latin typeface="Times New Roman"/>
                          <a:ea typeface="SimSun"/>
                          <a:cs typeface="Times New Roman"/>
                        </a:rPr>
                        <m:t>𝛼</m:t>
                      </m:r>
                      <m:r>
                        <a:rPr lang="en-US" altLang="zh-CN" sz="1600" i="1">
                          <a:latin typeface="Times New Roman"/>
                          <a:ea typeface="SimSun"/>
                          <a:cs typeface="Times New Roman"/>
                        </a:rPr>
                        <m:t>=334.32</m:t>
                      </m:r>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𝐾</m:t>
                          </m:r>
                        </m:e>
                        <m:sup>
                          <m:r>
                            <a:rPr lang="en-US" altLang="zh-CN" sz="1600" i="1">
                              <a:latin typeface="Times New Roman"/>
                              <a:ea typeface="SimSun"/>
                              <a:cs typeface="Times New Roman"/>
                            </a:rPr>
                            <m:t>−0.165</m:t>
                          </m:r>
                        </m:sup>
                      </m:sSup>
                      <m:sSup>
                        <m:sSupPr>
                          <m:ctrlPr>
                            <a:rPr lang="en-US" altLang="zh-CN" sz="1600" i="1">
                              <a:latin typeface="Times New Roman"/>
                              <a:ea typeface="SimSun"/>
                              <a:cs typeface="Times New Roman"/>
                            </a:rPr>
                          </m:ctrlPr>
                        </m:sSupPr>
                        <m:e>
                          <m:r>
                            <a:rPr lang="en-US" altLang="zh-CN" sz="1600" i="1">
                              <a:latin typeface="Times New Roman"/>
                              <a:ea typeface="SimSun"/>
                              <a:cs typeface="Times New Roman"/>
                            </a:rPr>
                            <m:t>(</m:t>
                          </m:r>
                          <m:f>
                            <m:fPr>
                              <m:ctrlPr>
                                <a:rPr lang="zh-CN" altLang="zh-CN" sz="1600" i="1">
                                  <a:latin typeface="Times New Roman"/>
                                  <a:ea typeface="SimSun"/>
                                  <a:cs typeface="Times New Roman"/>
                                </a:rPr>
                              </m:ctrlPr>
                            </m:fPr>
                            <m:num>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𝐷</m:t>
                                  </m:r>
                                </m:e>
                                <m:sub>
                                  <m:r>
                                    <a:rPr lang="en-US" altLang="zh-CN" sz="1600" i="1">
                                      <a:latin typeface="Times New Roman"/>
                                      <a:ea typeface="SimSun"/>
                                      <a:cs typeface="Times New Roman"/>
                                    </a:rPr>
                                    <m:t>𝑆</m:t>
                                  </m:r>
                                </m:sub>
                              </m:sSub>
                            </m:num>
                            <m:den>
                              <m:sSub>
                                <m:sSubPr>
                                  <m:ctrlPr>
                                    <a:rPr lang="en-US" altLang="zh-CN" sz="1600" i="1">
                                      <a:latin typeface="Times New Roman"/>
                                      <a:ea typeface="SimSun"/>
                                      <a:cs typeface="Times New Roman"/>
                                    </a:rPr>
                                  </m:ctrlPr>
                                </m:sSubPr>
                                <m:e>
                                  <m:r>
                                    <a:rPr lang="en-US" altLang="zh-CN" sz="1600" i="1">
                                      <a:latin typeface="Times New Roman"/>
                                      <a:ea typeface="SimSun"/>
                                      <a:cs typeface="Times New Roman"/>
                                    </a:rPr>
                                    <m:t>𝐷</m:t>
                                  </m:r>
                                </m:e>
                                <m:sub>
                                  <m:r>
                                    <a:rPr lang="en-US" altLang="zh-CN" sz="1600" i="1">
                                      <a:latin typeface="Times New Roman"/>
                                      <a:ea typeface="SimSun"/>
                                      <a:cs typeface="Times New Roman"/>
                                    </a:rPr>
                                    <m:t>𝑂</m:t>
                                  </m:r>
                                </m:sub>
                              </m:sSub>
                            </m:den>
                          </m:f>
                          <m:r>
                            <a:rPr lang="en-US" altLang="zh-CN" sz="1600" i="1">
                              <a:latin typeface="Times New Roman"/>
                              <a:ea typeface="SimSun"/>
                              <a:cs typeface="Times New Roman"/>
                            </a:rPr>
                            <m:t>)</m:t>
                          </m:r>
                        </m:e>
                        <m:sup>
                          <m:r>
                            <a:rPr lang="en-US" altLang="zh-CN" sz="1600" i="1">
                              <a:latin typeface="Times New Roman"/>
                              <a:ea typeface="SimSun"/>
                              <a:cs typeface="Times New Roman"/>
                            </a:rPr>
                            <m:t>−0.484</m:t>
                          </m:r>
                        </m:sup>
                      </m:sSup>
                      <m:sSubSup>
                        <m:sSubSupPr>
                          <m:ctrlPr>
                            <a:rPr lang="en-US" altLang="zh-CN" sz="1600" i="1">
                              <a:latin typeface="Times New Roman"/>
                              <a:ea typeface="SimSun"/>
                              <a:cs typeface="Times New Roman"/>
                            </a:rPr>
                          </m:ctrlPr>
                        </m:sSubSupPr>
                        <m:e>
                          <m:r>
                            <a:rPr lang="en-US" altLang="zh-CN" sz="1600" i="1">
                              <a:latin typeface="Times New Roman"/>
                              <a:ea typeface="SimSun"/>
                              <a:cs typeface="Times New Roman"/>
                            </a:rPr>
                            <m:t>𝑊</m:t>
                          </m:r>
                        </m:e>
                        <m:sub>
                          <m:r>
                            <a:rPr lang="en-US" altLang="zh-CN" sz="1600" i="1">
                              <a:latin typeface="Times New Roman"/>
                              <a:ea typeface="SimSun"/>
                              <a:cs typeface="Times New Roman"/>
                            </a:rPr>
                            <m:t>𝑒</m:t>
                          </m:r>
                        </m:sub>
                        <m:sup>
                          <m:r>
                            <a:rPr lang="en-US" altLang="zh-CN" sz="1600" i="1">
                              <a:latin typeface="Times New Roman"/>
                              <a:ea typeface="SimSun"/>
                              <a:cs typeface="Times New Roman"/>
                            </a:rPr>
                            <m:t>0.043</m:t>
                          </m:r>
                        </m:sup>
                      </m:sSubSup>
                      <m:sSubSup>
                        <m:sSubSupPr>
                          <m:ctrlPr>
                            <a:rPr lang="en-US" altLang="zh-CN" sz="1600" i="1">
                              <a:latin typeface="Times New Roman"/>
                              <a:ea typeface="SimSun"/>
                              <a:cs typeface="Times New Roman"/>
                            </a:rPr>
                          </m:ctrlPr>
                        </m:sSubSupPr>
                        <m:e>
                          <m:r>
                            <a:rPr lang="en-US" altLang="zh-CN" sz="1600" i="1">
                              <a:latin typeface="Times New Roman"/>
                              <a:ea typeface="SimSun"/>
                              <a:cs typeface="Times New Roman"/>
                            </a:rPr>
                            <m:t>𝑅𝑒</m:t>
                          </m:r>
                        </m:e>
                        <m:sub>
                          <m:r>
                            <a:rPr lang="en-US" altLang="zh-CN" sz="1600" i="1">
                              <a:latin typeface="Times New Roman"/>
                              <a:ea typeface="SimSun"/>
                              <a:cs typeface="Times New Roman"/>
                            </a:rPr>
                            <m:t>𝑝</m:t>
                          </m:r>
                        </m:sub>
                        <m:sup>
                          <m:r>
                            <a:rPr lang="en-US" altLang="zh-CN" sz="1600" i="1">
                              <a:latin typeface="Times New Roman"/>
                              <a:ea typeface="SimSun"/>
                              <a:cs typeface="Times New Roman"/>
                            </a:rPr>
                            <m:t>−0.065</m:t>
                          </m:r>
                        </m:sup>
                      </m:sSubSup>
                    </m:oMath>
                  </m:oMathPara>
                </a14:m>
                <a:endParaRPr lang="zh-CN" altLang="zh-CN" sz="1600" dirty="0">
                  <a:latin typeface="Times New Roman"/>
                  <a:ea typeface="SimSun"/>
                  <a:cs typeface="Times New Roman"/>
                </a:endParaRPr>
              </a:p>
            </p:txBody>
          </p:sp>
        </mc:Choice>
        <mc:Fallback xmlns="">
          <p:sp>
            <p:nvSpPr>
              <p:cNvPr id="41" name="矩形 40">
                <a:extLst>
                  <a:ext uri="{FF2B5EF4-FFF2-40B4-BE49-F238E27FC236}">
                    <a16:creationId xmlns:a16="http://schemas.microsoft.com/office/drawing/2014/main" id="{498D7BEB-7674-4C14-9BA3-FC1800626FB4}"/>
                  </a:ext>
                </a:extLst>
              </p:cNvPr>
              <p:cNvSpPr>
                <a:spLocks noRot="1" noChangeAspect="1" noMove="1" noResize="1" noEditPoints="1" noAdjustHandles="1" noChangeArrowheads="1" noChangeShapeType="1" noTextEdit="1"/>
              </p:cNvSpPr>
              <p:nvPr/>
            </p:nvSpPr>
            <p:spPr>
              <a:xfrm>
                <a:off x="1129740" y="4188537"/>
                <a:ext cx="4750666" cy="595228"/>
              </a:xfrm>
              <a:prstGeom prst="rect">
                <a:avLst/>
              </a:prstGeom>
              <a:blipFill>
                <a:blip r:embed="rId9"/>
                <a:stretch>
                  <a:fillRect/>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6FD23F5F-A11C-43E3-B85B-3FE693F07103}"/>
                  </a:ext>
                </a:extLst>
              </p:cNvPr>
              <p:cNvSpPr/>
              <p:nvPr/>
            </p:nvSpPr>
            <p:spPr>
              <a:xfrm>
                <a:off x="6763482" y="5130995"/>
                <a:ext cx="5091236" cy="115493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HK" sz="1600" dirty="0">
                    <a:latin typeface="Times New Roman" panose="02020603050405020304" pitchFamily="18" charset="0"/>
                    <a:ea typeface="SimSun" panose="02010600030101010101" pitchFamily="2" charset="-122"/>
                    <a:cs typeface="Times New Roman"/>
                  </a:rPr>
                  <a:t>Ideal object: nozzle with a orifice diameter of </a:t>
                </a:r>
                <a:r>
                  <a:rPr lang="en-HK" sz="1600" dirty="0">
                    <a:solidFill>
                      <a:srgbClr val="A60626"/>
                    </a:solidFill>
                    <a:latin typeface="Times New Roman" panose="02020603050405020304" pitchFamily="18" charset="0"/>
                    <a:ea typeface="SimSun" panose="02010600030101010101" pitchFamily="2" charset="-122"/>
                    <a:cs typeface="Times New Roman"/>
                  </a:rPr>
                  <a:t>3.0 mm</a:t>
                </a:r>
              </a:p>
              <a:p>
                <a:pPr marL="285750" indent="-285750" algn="just">
                  <a:lnSpc>
                    <a:spcPct val="150000"/>
                  </a:lnSpc>
                  <a:buFont typeface="Arial" panose="020B0604020202020204" pitchFamily="34" charset="0"/>
                  <a:buChar char="•"/>
                </a:pPr>
                <a:r>
                  <a:rPr lang="en-HK" sz="1600" dirty="0">
                    <a:latin typeface="Times New Roman" panose="02020603050405020304" pitchFamily="18" charset="0"/>
                    <a:ea typeface="SimSun" panose="02010600030101010101" pitchFamily="2" charset="-122"/>
                    <a:cs typeface="Times New Roman"/>
                  </a:rPr>
                  <a:t>Operating condition: at a pressure of </a:t>
                </a:r>
                <a:r>
                  <a:rPr lang="en-HK" sz="1600" dirty="0">
                    <a:solidFill>
                      <a:srgbClr val="A60626"/>
                    </a:solidFill>
                    <a:latin typeface="Times New Roman" panose="02020603050405020304" pitchFamily="18" charset="0"/>
                    <a:ea typeface="SimSun" panose="02010600030101010101" pitchFamily="2" charset="-122"/>
                    <a:cs typeface="Times New Roman"/>
                  </a:rPr>
                  <a:t>1.5 bar</a:t>
                </a:r>
                <a:r>
                  <a:rPr lang="en-HK" sz="1600" dirty="0">
                    <a:latin typeface="Times New Roman" panose="02020603050405020304" pitchFamily="18" charset="0"/>
                    <a:ea typeface="SimSun" panose="02010600030101010101" pitchFamily="2" charset="-122"/>
                    <a:cs typeface="Times New Roman"/>
                  </a:rPr>
                  <a:t>, the spray flow rate is </a:t>
                </a:r>
                <a:r>
                  <a:rPr lang="en-HK" sz="1600" dirty="0">
                    <a:solidFill>
                      <a:srgbClr val="A60626"/>
                    </a:solidFill>
                    <a:latin typeface="Times New Roman" panose="02020603050405020304" pitchFamily="18" charset="0"/>
                    <a:ea typeface="SimSun" panose="02010600030101010101" pitchFamily="2" charset="-122"/>
                    <a:cs typeface="Times New Roman"/>
                  </a:rPr>
                  <a:t>5.4 L/min, </a:t>
                </a:r>
                <a:r>
                  <a:rPr lang="en-HK" sz="1600" dirty="0">
                    <a:latin typeface="Times New Roman" panose="02020603050405020304" pitchFamily="18" charset="0"/>
                    <a:ea typeface="SimSun" panose="02010600030101010101" pitchFamily="2" charset="-122"/>
                    <a:cs typeface="Times New Roman"/>
                  </a:rPr>
                  <a:t>the spray cone angle is </a:t>
                </a:r>
                <a:r>
                  <a:rPr lang="en-HK" sz="1600" dirty="0">
                    <a:solidFill>
                      <a:srgbClr val="A60626"/>
                    </a:solidFill>
                    <a:latin typeface="Times New Roman" panose="02020603050405020304" pitchFamily="18" charset="0"/>
                    <a:ea typeface="SimSun" panose="02010600030101010101" pitchFamily="2" charset="-122"/>
                    <a:cs typeface="Times New Roman"/>
                  </a:rPr>
                  <a:t>68</a:t>
                </a:r>
                <a14:m>
                  <m:oMath xmlns:m="http://schemas.openxmlformats.org/officeDocument/2006/math">
                    <m:r>
                      <a:rPr lang="en-HK" sz="1600">
                        <a:solidFill>
                          <a:srgbClr val="A60626"/>
                        </a:solidFill>
                        <a:latin typeface="Times New Roman" panose="02040503050406030204" pitchFamily="18" charset="0"/>
                        <a:ea typeface="SimSun" panose="02010600030101010101" pitchFamily="2" charset="-122"/>
                        <a:cs typeface="Times New Roman" panose="02020603050405020304" pitchFamily="18" charset="0"/>
                      </a:rPr>
                      <m:t>°</m:t>
                    </m:r>
                  </m:oMath>
                </a14:m>
                <a:r>
                  <a:rPr lang="en-HK" sz="1600" dirty="0">
                    <a:solidFill>
                      <a:srgbClr val="A60626"/>
                    </a:solidFill>
                    <a:latin typeface="Times New Roman" panose="02020603050405020304" pitchFamily="18" charset="0"/>
                    <a:ea typeface="SimSun" panose="02010600030101010101" pitchFamily="2" charset="-122"/>
                    <a:cs typeface="Times New Roman"/>
                  </a:rPr>
                  <a:t>. </a:t>
                </a:r>
                <a:endParaRPr lang="en-HK" sz="1600" dirty="0">
                  <a:latin typeface="Times New Roman"/>
                  <a:ea typeface="SimSun"/>
                  <a:cs typeface="Times New Roman"/>
                </a:endParaRPr>
              </a:p>
            </p:txBody>
          </p:sp>
        </mc:Choice>
        <mc:Fallback xmlns="">
          <p:sp>
            <p:nvSpPr>
              <p:cNvPr id="46" name="矩形 45">
                <a:extLst>
                  <a:ext uri="{FF2B5EF4-FFF2-40B4-BE49-F238E27FC236}">
                    <a16:creationId xmlns:a16="http://schemas.microsoft.com/office/drawing/2014/main" id="{6FD23F5F-A11C-43E3-B85B-3FE693F07103}"/>
                  </a:ext>
                </a:extLst>
              </p:cNvPr>
              <p:cNvSpPr>
                <a:spLocks noRot="1" noChangeAspect="1" noMove="1" noResize="1" noEditPoints="1" noAdjustHandles="1" noChangeArrowheads="1" noChangeShapeType="1" noTextEdit="1"/>
              </p:cNvSpPr>
              <p:nvPr/>
            </p:nvSpPr>
            <p:spPr>
              <a:xfrm>
                <a:off x="6763482" y="5130995"/>
                <a:ext cx="5091236" cy="1154932"/>
              </a:xfrm>
              <a:prstGeom prst="rect">
                <a:avLst/>
              </a:prstGeom>
              <a:blipFill>
                <a:blip r:embed="rId10"/>
                <a:stretch>
                  <a:fillRect l="-478" r="-598" b="-6349"/>
                </a:stretch>
              </a:blipFill>
            </p:spPr>
            <p:txBody>
              <a:bodyPr/>
              <a:lstStyle/>
              <a:p>
                <a:r>
                  <a:rPr lang="en-US">
                    <a:noFill/>
                    <a:latin typeface="Times New Roman"/>
                    <a:ea typeface="SimSun"/>
                    <a:cs typeface="Times New Roman"/>
                  </a:rPr>
                  <a:t> </a:t>
                </a:r>
              </a:p>
            </p:txBody>
          </p:sp>
        </mc:Fallback>
      </mc:AlternateContent>
      <p:sp>
        <p:nvSpPr>
          <p:cNvPr id="3" name="灯片编号占位符 2">
            <a:extLst>
              <a:ext uri="{FF2B5EF4-FFF2-40B4-BE49-F238E27FC236}">
                <a16:creationId xmlns:a16="http://schemas.microsoft.com/office/drawing/2014/main" id="{E147FB26-A310-475E-979C-ED0EBD2DAA3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31</a:t>
            </a:fld>
            <a:endParaRPr lang="en-US" altLang="zh-CN">
              <a:latin typeface="Times New Roman"/>
              <a:ea typeface="SimSun"/>
              <a:cs typeface="Times New Roman"/>
            </a:endParaRPr>
          </a:p>
        </p:txBody>
      </p:sp>
      <p:sp>
        <p:nvSpPr>
          <p:cNvPr id="6" name="矩形 3">
            <a:extLst>
              <a:ext uri="{FF2B5EF4-FFF2-40B4-BE49-F238E27FC236}">
                <a16:creationId xmlns:a16="http://schemas.microsoft.com/office/drawing/2014/main" id="{B01C1A9C-426F-C430-26F2-AAE9460595AC}"/>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49" name="Original English content (proportional layout)"/>
          <p:cNvGrpSpPr/>
          <p:nvPr/>
        </p:nvGrpSpPr>
        <p:grpSpPr>
          <a:xfrm>
            <a:off x="1097280" y="731520"/>
            <a:ext cx="9997440" cy="5023714"/>
            <a:chOff x="0" y="731520"/>
            <a:chExt cx="12192000" cy="6126480"/>
          </a:xfrm>
        </p:grpSpPr>
        <p:graphicFrame>
          <p:nvGraphicFramePr>
            <p:cNvPr id="5" name="对象 4">
              <a:extLst>
                <a:ext uri="{FF2B5EF4-FFF2-40B4-BE49-F238E27FC236}">
                  <a16:creationId xmlns:a16="http://schemas.microsoft.com/office/drawing/2014/main" id="{8FD1B34B-0BFD-4D75-8B26-4106966E69F8}"/>
                </a:ext>
              </a:extLst>
            </p:cNvPr>
            <p:cNvGraphicFramePr>
              <a:graphicFrameLocks noChangeAspect="1"/>
            </p:cNvGraphicFramePr>
            <p:nvPr/>
          </p:nvGraphicFramePr>
          <p:xfrm>
            <a:off x="6856674" y="1337638"/>
            <a:ext cx="4440300" cy="3305016"/>
          </p:xfrm>
          <a:graphic>
            <a:graphicData uri="http://schemas.openxmlformats.org/presentationml/2006/ole">
              <mc:AlternateContent xmlns:mc="http://schemas.openxmlformats.org/markup-compatibility/2006">
                <mc:Choice xmlns:v="urn:schemas-microsoft-com:vml" Requires="v">
                  <p:oleObj name="Graph" r:id="rId3" imgW="6857410" imgH="5143222" progId="Origin95.Graph">
                    <p:embed/>
                  </p:oleObj>
                </mc:Choice>
                <mc:Fallback>
                  <p:oleObj name="Graph" r:id="rId3" imgW="6857410" imgH="5143222" progId="Origin95.Graph">
                    <p:embed/>
                    <p:pic>
                      <p:nvPicPr>
                        <p:cNvPr id="5" name="对象 4">
                          <a:extLst>
                            <a:ext uri="{FF2B5EF4-FFF2-40B4-BE49-F238E27FC236}">
                              <a16:creationId xmlns:a16="http://schemas.microsoft.com/office/drawing/2014/main" id="{8FD1B34B-0BFD-4D75-8B26-4106966E69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6674" y="1337638"/>
                          <a:ext cx="4440300" cy="3305016"/>
                        </a:xfrm>
                        <a:prstGeom prst="rect">
                          <a:avLst/>
                        </a:prstGeom>
                        <a:noFill/>
                      </p:spPr>
                    </p:pic>
                  </p:oleObj>
                </mc:Fallback>
              </mc:AlternateContent>
            </a:graphicData>
          </a:graphic>
        </p:graphicFrame>
        <p:sp>
          <p:nvSpPr>
            <p:cNvPr id="47" name="矩形 46">
              <a:extLst>
                <a:ext uri="{FF2B5EF4-FFF2-40B4-BE49-F238E27FC236}">
                  <a16:creationId xmlns:a16="http://schemas.microsoft.com/office/drawing/2014/main" id="{A6753483-5E34-4527-A3C3-A492FDD07860}"/>
                </a:ext>
              </a:extLst>
            </p:cNvPr>
            <p:cNvSpPr/>
            <p:nvPr/>
          </p:nvSpPr>
          <p:spPr bwMode="auto">
            <a:xfrm>
              <a:off x="1334004" y="5267495"/>
              <a:ext cx="4267887" cy="1384400"/>
            </a:xfrm>
            <a:prstGeom prst="rect">
              <a:avLst/>
            </a:prstGeom>
            <a:ln>
              <a:solidFill>
                <a:srgbClr val="A60626"/>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a:solidFill>
                  <a:schemeClr val="bg2"/>
                </a:solidFill>
                <a:latin typeface="Times New Roman" charset="0"/>
                <a:ea typeface="SimSun"/>
                <a:cs typeface="Times New Roman"/>
              </a:endParaRPr>
            </a:p>
          </p:txBody>
        </p:sp>
        <p:sp>
          <p:nvSpPr>
            <p:cNvPr id="35" name="矩形 34">
              <a:extLst>
                <a:ext uri="{FF2B5EF4-FFF2-40B4-BE49-F238E27FC236}">
                  <a16:creationId xmlns:a16="http://schemas.microsoft.com/office/drawing/2014/main" id="{C9606707-B646-48A5-9DE1-5BAE9D2680F2}"/>
                </a:ext>
              </a:extLst>
            </p:cNvPr>
            <p:cNvSpPr/>
            <p:nvPr/>
          </p:nvSpPr>
          <p:spPr>
            <a:xfrm>
              <a:off x="688961" y="1100888"/>
              <a:ext cx="3032105" cy="369332"/>
            </a:xfrm>
            <a:prstGeom prst="rect">
              <a:avLst/>
            </a:prstGeom>
          </p:spPr>
          <p:txBody>
            <a:bodyPr wrap="square">
              <a:spAutoFit/>
            </a:bodyPr>
            <a:lstStyle/>
            <a:p>
              <a:pPr marL="285750" indent="-285750">
                <a:buFont typeface="Wingdings" panose="05000000000000000000" pitchFamily="2" charset="2"/>
                <a:buChar char="Ø"/>
              </a:pPr>
              <a:r>
                <a:rPr lang="en-US" sz="1476" dirty="0">
                  <a:latin typeface="Times New Roman" panose="02020603050405020304" pitchFamily="18" charset="0"/>
                  <a:ea typeface="SimSun"/>
                  <a:cs typeface="Times New Roman" panose="02020603050405020304" pitchFamily="18" charset="0"/>
                </a:rPr>
                <a:t>Spray characteristics</a:t>
              </a:r>
              <a:endParaRPr lang="en-HK" sz="1476" dirty="0">
                <a:latin typeface="Times New Roman" panose="02020603050405020304" pitchFamily="18" charset="0"/>
                <a:ea typeface="SimSun"/>
                <a:cs typeface="Times New Roman" panose="02020603050405020304" pitchFamily="18" charset="0"/>
              </a:endParaRPr>
            </a:p>
          </p:txBody>
        </p:sp>
        <p:sp>
          <p:nvSpPr>
            <p:cNvPr id="36" name="矩形 35">
              <a:extLst>
                <a:ext uri="{FF2B5EF4-FFF2-40B4-BE49-F238E27FC236}">
                  <a16:creationId xmlns:a16="http://schemas.microsoft.com/office/drawing/2014/main" id="{96BF9115-8775-4D40-81C7-6B6F64425C40}"/>
                </a:ext>
              </a:extLst>
            </p:cNvPr>
            <p:cNvSpPr/>
            <p:nvPr/>
          </p:nvSpPr>
          <p:spPr>
            <a:xfrm>
              <a:off x="861980" y="1617063"/>
              <a:ext cx="5718172" cy="338554"/>
            </a:xfrm>
            <a:prstGeom prst="rect">
              <a:avLst/>
            </a:prstGeom>
          </p:spPr>
          <p:txBody>
            <a:bodyPr wrap="square">
              <a:spAutoFit/>
            </a:bodyPr>
            <a:lstStyle/>
            <a:p>
              <a:r>
                <a:rPr lang="en-US" altLang="zh-CN" sz="1312" dirty="0">
                  <a:latin typeface="Times New Roman" pitchFamily="18" charset="0"/>
                  <a:ea typeface="SimSun"/>
                  <a:cs typeface="Times New Roman" pitchFamily="18" charset="0"/>
                </a:rPr>
                <a:t>Theoretical mass flow rate is given by Lefebvre and </a:t>
              </a:r>
              <a:r>
                <a:rPr lang="en-US" altLang="zh-CN" sz="1312" dirty="0" err="1">
                  <a:latin typeface="Times New Roman" pitchFamily="18" charset="0"/>
                  <a:ea typeface="SimSun"/>
                  <a:cs typeface="Times New Roman" pitchFamily="18" charset="0"/>
                </a:rPr>
                <a:t>McDonell</a:t>
              </a:r>
              <a:endParaRPr lang="zh-CN" altLang="en-US" sz="1312" dirty="0">
                <a:latin typeface="Times New Roman" pitchFamily="18" charset="0"/>
                <a:ea typeface="SimSun"/>
                <a:cs typeface="Times New Roman" pitchFamily="18" charset="0"/>
              </a:endParaRPr>
            </a:p>
          </p:txBody>
        </p:sp>
        <p:sp>
          <p:nvSpPr>
            <p:cNvPr id="38" name="矩形 37">
              <a:extLst>
                <a:ext uri="{FF2B5EF4-FFF2-40B4-BE49-F238E27FC236}">
                  <a16:creationId xmlns:a16="http://schemas.microsoft.com/office/drawing/2014/main" id="{2791F8FC-218F-45C2-BE7B-62E9DB989D47}"/>
                </a:ext>
              </a:extLst>
            </p:cNvPr>
            <p:cNvSpPr/>
            <p:nvPr/>
          </p:nvSpPr>
          <p:spPr>
            <a:xfrm>
              <a:off x="861980" y="2541867"/>
              <a:ext cx="5439918" cy="584775"/>
            </a:xfrm>
            <a:prstGeom prst="rect">
              <a:avLst/>
            </a:prstGeom>
          </p:spPr>
          <p:txBody>
            <a:bodyPr wrap="square">
              <a:spAutoFit/>
            </a:bodyPr>
            <a:lstStyle/>
            <a:p>
              <a:r>
                <a:rPr lang="en-US" altLang="zh-CN" sz="1312" dirty="0">
                  <a:latin typeface="Times New Roman" pitchFamily="18" charset="0"/>
                  <a:ea typeface="SimSun"/>
                  <a:cs typeface="Times New Roman" pitchFamily="18" charset="0"/>
                </a:rPr>
                <a:t>The average droplet diameter is obtained from the following equation:</a:t>
              </a:r>
              <a:endParaRPr lang="zh-CN" altLang="zh-CN" sz="1312" dirty="0">
                <a:latin typeface="Times New Roman" pitchFamily="18" charset="0"/>
                <a:ea typeface="SimSun"/>
                <a:cs typeface="Times New Roman" pitchFamily="18" charset="0"/>
              </a:endParaRPr>
            </a:p>
          </p:txBody>
        </p:sp>
        <p:sp>
          <p:nvSpPr>
            <p:cNvPr id="40" name="矩形 39">
              <a:extLst>
                <a:ext uri="{FF2B5EF4-FFF2-40B4-BE49-F238E27FC236}">
                  <a16:creationId xmlns:a16="http://schemas.microsoft.com/office/drawing/2014/main" id="{30CF54E5-5DAD-4CA1-90ED-33FCFC47D452}"/>
                </a:ext>
              </a:extLst>
            </p:cNvPr>
            <p:cNvSpPr/>
            <p:nvPr/>
          </p:nvSpPr>
          <p:spPr>
            <a:xfrm>
              <a:off x="857642" y="3579763"/>
              <a:ext cx="5439917" cy="584775"/>
            </a:xfrm>
            <a:prstGeom prst="rect">
              <a:avLst/>
            </a:prstGeom>
          </p:spPr>
          <p:txBody>
            <a:bodyPr wrap="square">
              <a:spAutoFit/>
            </a:bodyPr>
            <a:lstStyle/>
            <a:p>
              <a:r>
                <a:rPr lang="en-US" altLang="zh-CN" sz="1312" dirty="0">
                  <a:latin typeface="Times New Roman" pitchFamily="18" charset="0"/>
                  <a:ea typeface="SimSun"/>
                  <a:cs typeface="Times New Roman" pitchFamily="18" charset="0"/>
                </a:rPr>
                <a:t>The correlation for spray cone angle based on inviscid theory (</a:t>
              </a:r>
              <a:r>
                <a:rPr lang="en-US" altLang="zh-CN" sz="1312" dirty="0">
                  <a:latin typeface="Times New Roman" pitchFamily="18" charset="0"/>
                  <a:ea typeface="SimSun"/>
                  <a:cs typeface="Times New Roman" pitchFamily="18" charset="0"/>
                  <a:hlinkClick r:id="rId8"/>
                </a:rPr>
                <a:t>Abramovich, 1944</a:t>
              </a:r>
              <a:r>
                <a:rPr lang="en-US" altLang="zh-CN" sz="1312" dirty="0">
                  <a:latin typeface="Times New Roman" pitchFamily="18" charset="0"/>
                  <a:ea typeface="SimSun"/>
                  <a:cs typeface="Times New Roman" pitchFamily="18" charset="0"/>
                </a:rPr>
                <a:t>) overpredicts the spray cone angle by 25%.</a:t>
              </a:r>
              <a:endParaRPr lang="zh-CN" altLang="zh-CN" sz="1312" dirty="0">
                <a:latin typeface="Times New Roman" pitchFamily="18" charset="0"/>
                <a:ea typeface="SimSun"/>
                <a:cs typeface="Times New Roman" pitchFamily="18" charset="0"/>
              </a:endParaRPr>
            </a:p>
          </p:txBody>
        </p:sp>
        <p:sp>
          <p:nvSpPr>
            <p:cNvPr id="2" name="Rectangle 2">
              <a:extLst>
                <a:ext uri="{FF2B5EF4-FFF2-40B4-BE49-F238E27FC236}">
                  <a16:creationId xmlns:a16="http://schemas.microsoft.com/office/drawing/2014/main" id="{2A1D18B0-DD8A-40D3-BED3-BC78BF78310A}"/>
                </a:ext>
              </a:extLst>
            </p:cNvPr>
            <p:cNvSpPr>
              <a:spLocks noChangeArrowheads="1"/>
            </p:cNvSpPr>
            <p:nvPr/>
          </p:nvSpPr>
          <p:spPr bwMode="auto">
            <a:xfrm>
              <a:off x="6126515" y="102713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44" name="矩形 43">
              <a:extLst>
                <a:ext uri="{FF2B5EF4-FFF2-40B4-BE49-F238E27FC236}">
                  <a16:creationId xmlns:a16="http://schemas.microsoft.com/office/drawing/2014/main" id="{0CF10C1C-9B67-4E7E-BA3A-642DB8DBB3A0}"/>
                </a:ext>
              </a:extLst>
            </p:cNvPr>
            <p:cNvSpPr/>
            <p:nvPr/>
          </p:nvSpPr>
          <p:spPr>
            <a:xfrm>
              <a:off x="9747905" y="2833839"/>
              <a:ext cx="130302" cy="9592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HK">
                <a:latin typeface="Times New Roman"/>
                <a:ea typeface="SimSun"/>
                <a:cs typeface="Times New Roman"/>
              </a:endParaRPr>
            </a:p>
          </p:txBody>
        </p:sp>
        <p:sp>
          <p:nvSpPr>
            <p:cNvPr id="45" name="矩形 44">
              <a:extLst>
                <a:ext uri="{FF2B5EF4-FFF2-40B4-BE49-F238E27FC236}">
                  <a16:creationId xmlns:a16="http://schemas.microsoft.com/office/drawing/2014/main" id="{444B6EC6-EA5E-48C6-ADA7-EAEF2EBCF809}"/>
                </a:ext>
              </a:extLst>
            </p:cNvPr>
            <p:cNvSpPr/>
            <p:nvPr/>
          </p:nvSpPr>
          <p:spPr>
            <a:xfrm>
              <a:off x="7717832" y="4612288"/>
              <a:ext cx="3013668"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8.4 </a:t>
              </a:r>
              <a:r>
                <a:rPr lang="en-HK" sz="984" dirty="0">
                  <a:latin typeface="Times New Roman" panose="02020603050405020304" pitchFamily="18" charset="0"/>
                  <a:ea typeface="SimSun"/>
                  <a:cs typeface="Times New Roman" panose="02020603050405020304" pitchFamily="18" charset="0"/>
                </a:rPr>
                <a:t>Nozzle spray characteristics</a:t>
              </a:r>
            </a:p>
          </p:txBody>
        </p:sp>
        <p:sp>
          <p:nvSpPr>
            <p:cNvPr id="16" name="矩形 15">
              <a:extLst>
                <a:ext uri="{FF2B5EF4-FFF2-40B4-BE49-F238E27FC236}">
                  <a16:creationId xmlns:a16="http://schemas.microsoft.com/office/drawing/2014/main" id="{EF24F0BF-8D97-4EA2-97A8-A5EA06AB6A50}"/>
                </a:ext>
              </a:extLst>
            </p:cNvPr>
            <p:cNvSpPr/>
            <p:nvPr/>
          </p:nvSpPr>
          <p:spPr>
            <a:xfrm>
              <a:off x="1394618" y="5344173"/>
              <a:ext cx="3994388" cy="1231043"/>
            </a:xfrm>
            <a:prstGeom prst="rect">
              <a:avLst/>
            </a:prstGeom>
          </p:spPr>
          <p:txBody>
            <a:bodyPr wrap="square">
              <a:spAutoFit/>
            </a:bodyPr>
            <a:lstStyle/>
            <a:p>
              <a:pPr marL="285750" indent="-285750" algn="just">
                <a:lnSpc>
                  <a:spcPct val="107000"/>
                </a:lnSpc>
                <a:spcAft>
                  <a:spcPts val="656"/>
                </a:spcAft>
                <a:buFont typeface="Arial" panose="020B0604020202020204" pitchFamily="34" charset="0"/>
                <a:buChar char="•"/>
              </a:pPr>
              <a:r>
                <a:rPr lang="en-HK" sz="1312" dirty="0">
                  <a:latin typeface="Times New Roman" panose="02020603050405020304" pitchFamily="18" charset="0"/>
                  <a:ea typeface="SimSun" panose="02010600030101010101" pitchFamily="2" charset="-122"/>
                  <a:cs typeface="Times New Roman" panose="02020603050405020304" pitchFamily="18" charset="0"/>
                </a:rPr>
                <a:t>The parameters are </a:t>
              </a:r>
              <a:r>
                <a:rPr lang="en-HK" sz="1312"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interrelated</a:t>
              </a:r>
              <a:r>
                <a:rPr lang="en-HK" sz="1312" dirty="0">
                  <a:latin typeface="Times New Roman" panose="02020603050405020304" pitchFamily="18" charset="0"/>
                  <a:ea typeface="SimSun" panose="02010600030101010101" pitchFamily="2" charset="-122"/>
                  <a:cs typeface="Times New Roman" panose="02020603050405020304" pitchFamily="18" charset="0"/>
                </a:rPr>
                <a:t> and cannot be adjusted individually.</a:t>
              </a:r>
            </a:p>
            <a:p>
              <a:pPr marL="285750" indent="-285750" algn="just">
                <a:lnSpc>
                  <a:spcPct val="107000"/>
                </a:lnSpc>
                <a:spcAft>
                  <a:spcPts val="656"/>
                </a:spcAft>
                <a:buFont typeface="Arial" panose="020B0604020202020204" pitchFamily="34" charset="0"/>
                <a:buChar char="•"/>
              </a:pPr>
              <a:r>
                <a:rPr lang="en-HK" sz="1312" dirty="0">
                  <a:latin typeface="Times New Roman" panose="02020603050405020304" pitchFamily="18" charset="0"/>
                  <a:ea typeface="SimSun" panose="02010600030101010101" pitchFamily="2" charset="-122"/>
                  <a:cs typeface="Times New Roman" panose="02020603050405020304" pitchFamily="18" charset="0"/>
                </a:rPr>
                <a:t>Maximise the film coverage and to </a:t>
              </a:r>
              <a:r>
                <a:rPr lang="en-HK" sz="1312"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balance the effects </a:t>
              </a:r>
              <a:r>
                <a:rPr lang="en-HK" sz="1312" dirty="0">
                  <a:latin typeface="Times New Roman" panose="02020603050405020304" pitchFamily="18" charset="0"/>
                  <a:ea typeface="SimSun" panose="02010600030101010101" pitchFamily="2" charset="-122"/>
                  <a:cs typeface="Times New Roman" panose="02020603050405020304" pitchFamily="18" charset="0"/>
                </a:rPr>
                <a:t>of each factor. </a:t>
              </a:r>
            </a:p>
          </p:txBody>
        </p:sp>
        <p:sp>
          <p:nvSpPr>
            <p:cNvPr id="48" name="箭头: 燕尾形 47">
              <a:extLst>
                <a:ext uri="{FF2B5EF4-FFF2-40B4-BE49-F238E27FC236}">
                  <a16:creationId xmlns:a16="http://schemas.microsoft.com/office/drawing/2014/main" id="{8C7B6167-F2DA-43F8-A95A-3128EDD58F75}"/>
                </a:ext>
              </a:extLst>
            </p:cNvPr>
            <p:cNvSpPr/>
            <p:nvPr/>
          </p:nvSpPr>
          <p:spPr bwMode="auto">
            <a:xfrm rot="5400000">
              <a:off x="3259091" y="4888241"/>
              <a:ext cx="491963" cy="217058"/>
            </a:xfrm>
            <a:prstGeom prst="notchedRightArrow">
              <a:avLst/>
            </a:prstGeom>
            <a:solidFill>
              <a:srgbClr val="A6062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a:solidFill>
                  <a:schemeClr val="bg2"/>
                </a:solidFill>
                <a:latin typeface="Times New Roman" charset="0"/>
                <a:ea typeface="SimSun"/>
                <a:cs typeface="Times New Roman"/>
              </a:endParaRPr>
            </a:p>
          </p:txBody>
        </p:sp>
        <p:sp>
          <p:nvSpPr>
            <p:cNvPr id="4" name="Rectangle 219">
              <a:extLst>
                <a:ext uri="{FF2B5EF4-FFF2-40B4-BE49-F238E27FC236}">
                  <a16:creationId xmlns:a16="http://schemas.microsoft.com/office/drawing/2014/main" id="{CD6700ED-B3FA-4462-8647-7EC8905D8390}"/>
                </a:ext>
              </a:extLst>
            </p:cNvPr>
            <p:cNvSpPr>
              <a:spLocks noChangeArrowheads="1"/>
            </p:cNvSpPr>
            <p:nvPr/>
          </p:nvSpPr>
          <p:spPr bwMode="auto">
            <a:xfrm>
              <a:off x="6301898" y="12045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pSp>
      <p:sp>
        <p:nvSpPr>
          <p:cNvPr id="5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中文要点｜喷雾参数的关联性</a:t>
            </a:r>
          </a:p>
          <a:p>
            <a:pPr>
              <a:lnSpc>
                <a:spcPct val="108000"/>
              </a:lnSpc>
              <a:spcAft>
                <a:spcPts val="0"/>
              </a:spcAft>
            </a:pPr>
            <a:r>
              <a:rPr sz="1400" b="0">
                <a:solidFill>
                  <a:srgbClr val="282828"/>
                </a:solidFill>
                <a:latin typeface="Times New Roman"/>
                <a:ea typeface="SimSun"/>
                <a:cs typeface="Times New Roman"/>
              </a:rPr>
              <a:t>流量、液滴直径和喷雾锥角相互关联，不能独立调节；优化时应综合平衡各因素对水膜覆盖的影响。</a:t>
            </a:r>
          </a:p>
        </p:txBody>
      </p:sp>
    </p:spTree>
    <p:extLst>
      <p:ext uri="{BB962C8B-B14F-4D97-AF65-F5344CB8AC3E}">
        <p14:creationId xmlns:p14="http://schemas.microsoft.com/office/powerpoint/2010/main" val="323162515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BB02FD7-DB76-4A6C-9C77-68CD6D0D439B}"/>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32</a:t>
            </a:fld>
            <a:endParaRPr lang="en-US" altLang="zh-CN">
              <a:latin typeface="Times New Roman"/>
              <a:ea typeface="SimSun"/>
              <a:cs typeface="Times New Roman"/>
            </a:endParaRPr>
          </a:p>
        </p:txBody>
      </p:sp>
      <p:sp>
        <p:nvSpPr>
          <p:cNvPr id="32" name="矩形 3">
            <a:extLst>
              <a:ext uri="{FF2B5EF4-FFF2-40B4-BE49-F238E27FC236}">
                <a16:creationId xmlns:a16="http://schemas.microsoft.com/office/drawing/2014/main" id="{8874DCA7-C8E2-40FE-97B5-33AAAFDF05B4}"/>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pSp>
        <p:nvGrpSpPr>
          <p:cNvPr id="45" name="Original English content (proportional layout)"/>
          <p:cNvGrpSpPr/>
          <p:nvPr/>
        </p:nvGrpSpPr>
        <p:grpSpPr>
          <a:xfrm>
            <a:off x="1097280" y="731520"/>
            <a:ext cx="9997440" cy="5023714"/>
            <a:chOff x="0" y="731520"/>
            <a:chExt cx="12192000" cy="6126480"/>
          </a:xfrm>
        </p:grpSpPr>
        <p:graphicFrame>
          <p:nvGraphicFramePr>
            <p:cNvPr id="6" name="对象 5">
              <a:extLst>
                <a:ext uri="{FF2B5EF4-FFF2-40B4-BE49-F238E27FC236}">
                  <a16:creationId xmlns:a16="http://schemas.microsoft.com/office/drawing/2014/main" id="{16DBDCFE-81FA-4E17-AC4F-30B829BBCC04}"/>
                </a:ext>
              </a:extLst>
            </p:cNvPr>
            <p:cNvGraphicFramePr>
              <a:graphicFrameLocks noChangeAspect="1"/>
            </p:cNvGraphicFramePr>
            <p:nvPr>
              <p:extLst>
                <p:ext uri="{D42A27DB-BD31-4B8C-83A1-F6EECF244321}">
                  <p14:modId xmlns:p14="http://schemas.microsoft.com/office/powerpoint/2010/main" val="1271130512"/>
                </p:ext>
              </p:extLst>
            </p:nvPr>
          </p:nvGraphicFramePr>
          <p:xfrm>
            <a:off x="6907294" y="1369223"/>
            <a:ext cx="3749793" cy="3078461"/>
          </p:xfrm>
          <a:graphic>
            <a:graphicData uri="http://schemas.openxmlformats.org/presentationml/2006/ole">
              <mc:AlternateContent xmlns:mc="http://schemas.openxmlformats.org/markup-compatibility/2006">
                <mc:Choice xmlns:v="urn:schemas-microsoft-com:vml" Requires="v">
                  <p:oleObj name="Graph" r:id="rId3" imgW="6246376" imgH="5143222" progId="Origin95.Graph">
                    <p:embed/>
                  </p:oleObj>
                </mc:Choice>
                <mc:Fallback>
                  <p:oleObj name="Graph" r:id="rId3" imgW="6246376" imgH="5143222" progId="Origin95.Graph">
                    <p:embed/>
                    <p:pic>
                      <p:nvPicPr>
                        <p:cNvPr id="0" name="Object 2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7294" y="1369223"/>
                          <a:ext cx="3749793" cy="3078461"/>
                        </a:xfrm>
                        <a:prstGeom prst="rect">
                          <a:avLst/>
                        </a:prstGeom>
                        <a:noFill/>
                      </p:spPr>
                    </p:pic>
                  </p:oleObj>
                </mc:Fallback>
              </mc:AlternateContent>
            </a:graphicData>
          </a:graphic>
        </p:graphicFrame>
        <p:sp>
          <p:nvSpPr>
            <p:cNvPr id="4" name="文本框 3">
              <a:extLst>
                <a:ext uri="{FF2B5EF4-FFF2-40B4-BE49-F238E27FC236}">
                  <a16:creationId xmlns:a16="http://schemas.microsoft.com/office/drawing/2014/main" id="{5791BBB0-0537-4A98-A5B4-42487898E978}"/>
                </a:ext>
              </a:extLst>
            </p:cNvPr>
            <p:cNvSpPr txBox="1"/>
            <p:nvPr/>
          </p:nvSpPr>
          <p:spPr>
            <a:xfrm>
              <a:off x="769327" y="1210646"/>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4.5.1 </a:t>
              </a:r>
              <a:r>
                <a:rPr lang="en-HK" sz="1476" dirty="0">
                  <a:latin typeface="Times New Roman" panose="02020603050405020304" pitchFamily="18" charset="0"/>
                  <a:ea typeface="SimSun"/>
                  <a:cs typeface="Times New Roman" panose="02020603050405020304" pitchFamily="18" charset="0"/>
                </a:rPr>
                <a:t>Influence for single nozzle</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sp>
          <p:nvSpPr>
            <p:cNvPr id="15" name="矩形 14">
              <a:extLst>
                <a:ext uri="{FF2B5EF4-FFF2-40B4-BE49-F238E27FC236}">
                  <a16:creationId xmlns:a16="http://schemas.microsoft.com/office/drawing/2014/main" id="{AEA956CB-BB35-41F6-9808-F4F1B9FC2426}"/>
                </a:ext>
              </a:extLst>
            </p:cNvPr>
            <p:cNvSpPr/>
            <p:nvPr/>
          </p:nvSpPr>
          <p:spPr>
            <a:xfrm>
              <a:off x="1008449" y="1564606"/>
              <a:ext cx="2589170" cy="369332"/>
            </a:xfrm>
            <a:prstGeom prst="rect">
              <a:avLst/>
            </a:prstGeom>
          </p:spPr>
          <p:txBody>
            <a:bodyPr wrap="none">
              <a:spAutoFit/>
            </a:bodyPr>
            <a:lstStyle/>
            <a:p>
              <a:pPr marL="285750" indent="-285750">
                <a:buFont typeface="Wingdings" panose="05000000000000000000" pitchFamily="2" charset="2"/>
                <a:buChar char="Ø"/>
              </a:pPr>
              <a:r>
                <a:rPr lang="en-HK" sz="1476" dirty="0">
                  <a:latin typeface="Times New Roman" panose="02020603050405020304" pitchFamily="18" charset="0"/>
                  <a:ea typeface="SimSun"/>
                  <a:cs typeface="Times New Roman" panose="02020603050405020304" pitchFamily="18" charset="0"/>
                </a:rPr>
                <a:t>Spray droplet diameter</a:t>
              </a:r>
            </a:p>
          </p:txBody>
        </p:sp>
        <p:pic>
          <p:nvPicPr>
            <p:cNvPr id="26" name="图片 25">
              <a:extLst>
                <a:ext uri="{FF2B5EF4-FFF2-40B4-BE49-F238E27FC236}">
                  <a16:creationId xmlns:a16="http://schemas.microsoft.com/office/drawing/2014/main" id="{7ED8E8C8-93B1-4351-9FD6-ECD4D8E0A531}"/>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1329421" y="2126191"/>
              <a:ext cx="1620000" cy="1620000"/>
            </a:xfrm>
            <a:prstGeom prst="rect">
              <a:avLst/>
            </a:prstGeom>
          </p:spPr>
        </p:pic>
        <p:pic>
          <p:nvPicPr>
            <p:cNvPr id="27" name="图片 26">
              <a:extLst>
                <a:ext uri="{FF2B5EF4-FFF2-40B4-BE49-F238E27FC236}">
                  <a16:creationId xmlns:a16="http://schemas.microsoft.com/office/drawing/2014/main" id="{2CE8FED2-C2F7-4E4D-99E8-EB83FEFEBB28}"/>
                </a:ext>
              </a:extLst>
            </p:cNvPr>
            <p:cNvPicPr/>
            <p:nvPr/>
          </p:nvPicPr>
          <p:blipFill>
            <a:blip r:embed="rId6">
              <a:extLst>
                <a:ext uri="{28A0092B-C50C-407E-A947-70E740481C1C}">
                  <a14:useLocalDpi xmlns:a14="http://schemas.microsoft.com/office/drawing/2010/main" val="0"/>
                </a:ext>
              </a:extLst>
            </a:blip>
            <a:stretch>
              <a:fillRect/>
            </a:stretch>
          </p:blipFill>
          <p:spPr>
            <a:xfrm>
              <a:off x="2949421" y="2126191"/>
              <a:ext cx="1620000" cy="1620000"/>
            </a:xfrm>
            <a:prstGeom prst="rect">
              <a:avLst/>
            </a:prstGeom>
          </p:spPr>
        </p:pic>
        <p:pic>
          <p:nvPicPr>
            <p:cNvPr id="28" name="图片 27">
              <a:extLst>
                <a:ext uri="{FF2B5EF4-FFF2-40B4-BE49-F238E27FC236}">
                  <a16:creationId xmlns:a16="http://schemas.microsoft.com/office/drawing/2014/main" id="{2725080A-6028-4072-BDB6-A337A3C4877F}"/>
                </a:ext>
              </a:extLst>
            </p:cNvPr>
            <p:cNvPicPr/>
            <p:nvPr/>
          </p:nvPicPr>
          <p:blipFill>
            <a:blip r:embed="rId7">
              <a:extLst>
                <a:ext uri="{28A0092B-C50C-407E-A947-70E740481C1C}">
                  <a14:useLocalDpi xmlns:a14="http://schemas.microsoft.com/office/drawing/2010/main" val="0"/>
                </a:ext>
              </a:extLst>
            </a:blip>
            <a:stretch>
              <a:fillRect/>
            </a:stretch>
          </p:blipFill>
          <p:spPr>
            <a:xfrm>
              <a:off x="4569421" y="2126191"/>
              <a:ext cx="1620000" cy="1620000"/>
            </a:xfrm>
            <a:prstGeom prst="rect">
              <a:avLst/>
            </a:prstGeom>
          </p:spPr>
        </p:pic>
        <p:pic>
          <p:nvPicPr>
            <p:cNvPr id="29" name="图片 28">
              <a:extLst>
                <a:ext uri="{FF2B5EF4-FFF2-40B4-BE49-F238E27FC236}">
                  <a16:creationId xmlns:a16="http://schemas.microsoft.com/office/drawing/2014/main" id="{3B9B6799-980D-4FD3-AA4F-ACC6A840B3BD}"/>
                </a:ext>
              </a:extLst>
            </p:cNvPr>
            <p:cNvPicPr/>
            <p:nvPr/>
          </p:nvPicPr>
          <p:blipFill>
            <a:blip r:embed="rId8">
              <a:extLst>
                <a:ext uri="{28A0092B-C50C-407E-A947-70E740481C1C}">
                  <a14:useLocalDpi xmlns:a14="http://schemas.microsoft.com/office/drawing/2010/main" val="0"/>
                </a:ext>
              </a:extLst>
            </a:blip>
            <a:stretch>
              <a:fillRect/>
            </a:stretch>
          </p:blipFill>
          <p:spPr>
            <a:xfrm>
              <a:off x="2143010" y="4092486"/>
              <a:ext cx="1620000" cy="1620000"/>
            </a:xfrm>
            <a:prstGeom prst="rect">
              <a:avLst/>
            </a:prstGeom>
          </p:spPr>
        </p:pic>
        <p:pic>
          <p:nvPicPr>
            <p:cNvPr id="30" name="图片 29">
              <a:extLst>
                <a:ext uri="{FF2B5EF4-FFF2-40B4-BE49-F238E27FC236}">
                  <a16:creationId xmlns:a16="http://schemas.microsoft.com/office/drawing/2014/main" id="{48B64F94-DDC6-4427-912F-CC95066593A2}"/>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3787544" y="4092486"/>
              <a:ext cx="1620000" cy="1620000"/>
            </a:xfrm>
            <a:prstGeom prst="rect">
              <a:avLst/>
            </a:prstGeom>
          </p:spPr>
        </p:pic>
        <p:sp>
          <p:nvSpPr>
            <p:cNvPr id="31" name="矩形 30">
              <a:extLst>
                <a:ext uri="{FF2B5EF4-FFF2-40B4-BE49-F238E27FC236}">
                  <a16:creationId xmlns:a16="http://schemas.microsoft.com/office/drawing/2014/main" id="{E3BB488C-8ABF-4576-923D-B78811EAA501}"/>
                </a:ext>
              </a:extLst>
            </p:cNvPr>
            <p:cNvSpPr/>
            <p:nvPr/>
          </p:nvSpPr>
          <p:spPr>
            <a:xfrm>
              <a:off x="2285011" y="6009569"/>
              <a:ext cx="4792063"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4.5.1 </a:t>
              </a:r>
              <a:r>
                <a:rPr lang="en-HK" sz="984" dirty="0">
                  <a:latin typeface="Times New Roman" panose="02020603050405020304" pitchFamily="18" charset="0"/>
                  <a:ea typeface="SimSun"/>
                  <a:cs typeface="Times New Roman" panose="02020603050405020304" pitchFamily="18" charset="0"/>
                </a:rPr>
                <a:t>Coverage area with different diameter</a:t>
              </a:r>
            </a:p>
          </p:txBody>
        </p:sp>
        <p:sp>
          <p:nvSpPr>
            <p:cNvPr id="33" name="矩形 32">
              <a:extLst>
                <a:ext uri="{FF2B5EF4-FFF2-40B4-BE49-F238E27FC236}">
                  <a16:creationId xmlns:a16="http://schemas.microsoft.com/office/drawing/2014/main" id="{F06103F3-88F8-430B-9F75-03F3A91EA4A9}"/>
                </a:ext>
              </a:extLst>
            </p:cNvPr>
            <p:cNvSpPr/>
            <p:nvPr/>
          </p:nvSpPr>
          <p:spPr>
            <a:xfrm>
              <a:off x="1688497" y="3712129"/>
              <a:ext cx="992765" cy="276999"/>
            </a:xfrm>
            <a:prstGeom prst="rect">
              <a:avLst/>
            </a:prstGeom>
          </p:spPr>
          <p:txBody>
            <a:bodyPr wrap="square">
              <a:spAutoFit/>
            </a:bodyPr>
            <a:lstStyle/>
            <a:p>
              <a:r>
                <a:rPr lang="en-HK" sz="984" dirty="0">
                  <a:latin typeface="Times New Roman" panose="02020603050405020304" pitchFamily="18" charset="0"/>
                  <a:ea typeface="SimSun"/>
                  <a:cs typeface="Times New Roman" panose="02020603050405020304" pitchFamily="18" charset="0"/>
                </a:rPr>
                <a:t>    0.05 mm</a:t>
              </a:r>
            </a:p>
          </p:txBody>
        </p:sp>
        <p:sp>
          <p:nvSpPr>
            <p:cNvPr id="36" name="矩形 35">
              <a:extLst>
                <a:ext uri="{FF2B5EF4-FFF2-40B4-BE49-F238E27FC236}">
                  <a16:creationId xmlns:a16="http://schemas.microsoft.com/office/drawing/2014/main" id="{3E4945EF-DD5F-4ADB-8B02-F9267F83AF24}"/>
                </a:ext>
              </a:extLst>
            </p:cNvPr>
            <p:cNvSpPr/>
            <p:nvPr/>
          </p:nvSpPr>
          <p:spPr>
            <a:xfrm>
              <a:off x="3253571" y="3746192"/>
              <a:ext cx="992765" cy="276999"/>
            </a:xfrm>
            <a:prstGeom prst="rect">
              <a:avLst/>
            </a:prstGeom>
          </p:spPr>
          <p:txBody>
            <a:bodyPr wrap="square">
              <a:spAutoFit/>
            </a:bodyPr>
            <a:lstStyle/>
            <a:p>
              <a:r>
                <a:rPr lang="en-HK" sz="984" dirty="0">
                  <a:latin typeface="Times New Roman" panose="02020603050405020304" pitchFamily="18" charset="0"/>
                  <a:ea typeface="SimSun"/>
                  <a:cs typeface="Times New Roman" panose="02020603050405020304" pitchFamily="18" charset="0"/>
                </a:rPr>
                <a:t>    0.15 mm</a:t>
              </a:r>
            </a:p>
          </p:txBody>
        </p:sp>
        <p:sp>
          <p:nvSpPr>
            <p:cNvPr id="37" name="矩形 36">
              <a:extLst>
                <a:ext uri="{FF2B5EF4-FFF2-40B4-BE49-F238E27FC236}">
                  <a16:creationId xmlns:a16="http://schemas.microsoft.com/office/drawing/2014/main" id="{B3DF0DDD-4B46-41EB-AFE4-E102B4A71FB6}"/>
                </a:ext>
              </a:extLst>
            </p:cNvPr>
            <p:cNvSpPr/>
            <p:nvPr/>
          </p:nvSpPr>
          <p:spPr>
            <a:xfrm>
              <a:off x="4941576" y="3746192"/>
              <a:ext cx="992765" cy="276999"/>
            </a:xfrm>
            <a:prstGeom prst="rect">
              <a:avLst/>
            </a:prstGeom>
          </p:spPr>
          <p:txBody>
            <a:bodyPr wrap="square">
              <a:spAutoFit/>
            </a:bodyPr>
            <a:lstStyle/>
            <a:p>
              <a:r>
                <a:rPr lang="en-HK" sz="984" dirty="0">
                  <a:latin typeface="Times New Roman" panose="02020603050405020304" pitchFamily="18" charset="0"/>
                  <a:ea typeface="SimSun"/>
                  <a:cs typeface="Times New Roman" panose="02020603050405020304" pitchFamily="18" charset="0"/>
                </a:rPr>
                <a:t>    0.25 mm</a:t>
              </a:r>
            </a:p>
          </p:txBody>
        </p:sp>
        <p:sp>
          <p:nvSpPr>
            <p:cNvPr id="38" name="矩形 37">
              <a:extLst>
                <a:ext uri="{FF2B5EF4-FFF2-40B4-BE49-F238E27FC236}">
                  <a16:creationId xmlns:a16="http://schemas.microsoft.com/office/drawing/2014/main" id="{10CCBC60-5AED-4E93-9213-58255C146CEB}"/>
                </a:ext>
              </a:extLst>
            </p:cNvPr>
            <p:cNvSpPr/>
            <p:nvPr/>
          </p:nvSpPr>
          <p:spPr>
            <a:xfrm>
              <a:off x="2456628" y="5736043"/>
              <a:ext cx="992765" cy="276999"/>
            </a:xfrm>
            <a:prstGeom prst="rect">
              <a:avLst/>
            </a:prstGeom>
          </p:spPr>
          <p:txBody>
            <a:bodyPr wrap="square">
              <a:spAutoFit/>
            </a:bodyPr>
            <a:lstStyle/>
            <a:p>
              <a:r>
                <a:rPr lang="en-HK" sz="984" dirty="0">
                  <a:latin typeface="Times New Roman" panose="02020603050405020304" pitchFamily="18" charset="0"/>
                  <a:ea typeface="SimSun"/>
                  <a:cs typeface="Times New Roman" panose="02020603050405020304" pitchFamily="18" charset="0"/>
                </a:rPr>
                <a:t>    0.35 mm</a:t>
              </a:r>
            </a:p>
          </p:txBody>
        </p:sp>
        <p:sp>
          <p:nvSpPr>
            <p:cNvPr id="39" name="矩形 38">
              <a:extLst>
                <a:ext uri="{FF2B5EF4-FFF2-40B4-BE49-F238E27FC236}">
                  <a16:creationId xmlns:a16="http://schemas.microsoft.com/office/drawing/2014/main" id="{1F95D3C9-D347-418E-B5B3-35C316F5F777}"/>
                </a:ext>
              </a:extLst>
            </p:cNvPr>
            <p:cNvSpPr/>
            <p:nvPr/>
          </p:nvSpPr>
          <p:spPr>
            <a:xfrm>
              <a:off x="4076628" y="5736043"/>
              <a:ext cx="992765" cy="276999"/>
            </a:xfrm>
            <a:prstGeom prst="rect">
              <a:avLst/>
            </a:prstGeom>
          </p:spPr>
          <p:txBody>
            <a:bodyPr wrap="square">
              <a:spAutoFit/>
            </a:bodyPr>
            <a:lstStyle/>
            <a:p>
              <a:r>
                <a:rPr lang="en-HK" sz="984" dirty="0">
                  <a:latin typeface="Times New Roman" panose="02020603050405020304" pitchFamily="18" charset="0"/>
                  <a:ea typeface="SimSun"/>
                  <a:cs typeface="Times New Roman" panose="02020603050405020304" pitchFamily="18" charset="0"/>
                </a:rPr>
                <a:t>    0.45 mm</a:t>
              </a:r>
            </a:p>
          </p:txBody>
        </p:sp>
        <p:sp>
          <p:nvSpPr>
            <p:cNvPr id="23" name="Rectangle 12">
              <a:extLst>
                <a:ext uri="{FF2B5EF4-FFF2-40B4-BE49-F238E27FC236}">
                  <a16:creationId xmlns:a16="http://schemas.microsoft.com/office/drawing/2014/main" id="{A98DDBF6-D20F-4EA3-8782-CE156D7E8412}"/>
                </a:ext>
              </a:extLst>
            </p:cNvPr>
            <p:cNvSpPr>
              <a:spLocks noChangeArrowheads="1"/>
            </p:cNvSpPr>
            <p:nvPr/>
          </p:nvSpPr>
          <p:spPr bwMode="auto">
            <a:xfrm>
              <a:off x="6368996" y="1726153"/>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42" name="矩形 41">
              <a:extLst>
                <a:ext uri="{FF2B5EF4-FFF2-40B4-BE49-F238E27FC236}">
                  <a16:creationId xmlns:a16="http://schemas.microsoft.com/office/drawing/2014/main" id="{FF8964B0-E1C9-40E5-B879-54D0D044323B}"/>
                </a:ext>
              </a:extLst>
            </p:cNvPr>
            <p:cNvSpPr/>
            <p:nvPr/>
          </p:nvSpPr>
          <p:spPr>
            <a:xfrm>
              <a:off x="7399937" y="4363560"/>
              <a:ext cx="4792063"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4.5.2 </a:t>
              </a:r>
              <a:r>
                <a:rPr lang="en-HK" sz="984" dirty="0">
                  <a:latin typeface="Times New Roman" panose="02020603050405020304" pitchFamily="18" charset="0"/>
                  <a:ea typeface="SimSun"/>
                  <a:cs typeface="Times New Roman" panose="02020603050405020304" pitchFamily="18" charset="0"/>
                </a:rPr>
                <a:t>Coverage ratio with different diameter</a:t>
              </a:r>
            </a:p>
          </p:txBody>
        </p:sp>
        <p:sp>
          <p:nvSpPr>
            <p:cNvPr id="43" name="矩形 42">
              <a:extLst>
                <a:ext uri="{FF2B5EF4-FFF2-40B4-BE49-F238E27FC236}">
                  <a16:creationId xmlns:a16="http://schemas.microsoft.com/office/drawing/2014/main" id="{13B2A23D-C721-44F2-B96D-620ED4B34ED1}"/>
                </a:ext>
              </a:extLst>
            </p:cNvPr>
            <p:cNvSpPr/>
            <p:nvPr/>
          </p:nvSpPr>
          <p:spPr>
            <a:xfrm>
              <a:off x="6952534" y="4849250"/>
              <a:ext cx="4400184" cy="1477328"/>
            </a:xfrm>
            <a:prstGeom prst="rect">
              <a:avLst/>
            </a:prstGeom>
          </p:spPr>
          <p:txBody>
            <a:bodyPr wrap="square">
              <a:spAutoFit/>
            </a:bodyPr>
            <a:lstStyle/>
            <a:p>
              <a:pPr>
                <a:spcAft>
                  <a:spcPts val="492"/>
                </a:spcAft>
              </a:pPr>
              <a:r>
                <a:rPr lang="en-HK" sz="1312" dirty="0">
                  <a:latin typeface="Times New Roman" panose="02020603050405020304" pitchFamily="18" charset="0"/>
                  <a:ea typeface="SimSun"/>
                  <a:cs typeface="Times New Roman" panose="02020603050405020304" pitchFamily="18" charset="0"/>
                </a:rPr>
                <a:t>Droplet flow is</a:t>
              </a:r>
              <a:r>
                <a:rPr lang="en-HK" sz="1312" dirty="0">
                  <a:solidFill>
                    <a:srgbClr val="AF1E3B"/>
                  </a:solidFill>
                  <a:latin typeface="Times New Roman" panose="02020603050405020304" pitchFamily="18" charset="0"/>
                  <a:ea typeface="SimSun"/>
                  <a:cs typeface="Times New Roman" panose="02020603050405020304" pitchFamily="18" charset="0"/>
                </a:rPr>
                <a:t> </a:t>
              </a:r>
              <a:r>
                <a:rPr lang="en-HK" sz="1312" b="1" dirty="0">
                  <a:solidFill>
                    <a:srgbClr val="AF1E3B"/>
                  </a:solidFill>
                  <a:latin typeface="Times New Roman" panose="02020603050405020304" pitchFamily="18" charset="0"/>
                  <a:ea typeface="SimSun"/>
                  <a:cs typeface="Times New Roman" panose="02020603050405020304" pitchFamily="18" charset="0"/>
                </a:rPr>
                <a:t>counter-current</a:t>
              </a:r>
              <a:r>
                <a:rPr lang="en-HK" sz="1312" dirty="0">
                  <a:solidFill>
                    <a:srgbClr val="AF1E3B"/>
                  </a:solidFill>
                  <a:latin typeface="Times New Roman" panose="02020603050405020304" pitchFamily="18" charset="0"/>
                  <a:ea typeface="SimSun"/>
                  <a:cs typeface="Times New Roman" panose="02020603050405020304" pitchFamily="18" charset="0"/>
                </a:rPr>
                <a:t> </a:t>
              </a:r>
              <a:r>
                <a:rPr lang="en-HK" sz="1312" dirty="0">
                  <a:latin typeface="Times New Roman" panose="02020603050405020304" pitchFamily="18" charset="0"/>
                  <a:ea typeface="SimSun"/>
                  <a:cs typeface="Times New Roman" panose="02020603050405020304" pitchFamily="18" charset="0"/>
                </a:rPr>
                <a:t>to the airflow.</a:t>
              </a:r>
            </a:p>
            <a:p>
              <a:pPr marL="285750" indent="-285750">
                <a:spcAft>
                  <a:spcPts val="492"/>
                </a:spcAft>
                <a:buFont typeface="Arial" panose="020B0604020202020204" pitchFamily="34" charset="0"/>
                <a:buChar char="•"/>
              </a:pPr>
              <a:r>
                <a:rPr lang="en-HK" sz="1312" dirty="0">
                  <a:latin typeface="Times New Roman" panose="02020603050405020304" pitchFamily="18" charset="0"/>
                  <a:ea typeface="SimSun"/>
                  <a:cs typeface="Times New Roman" panose="02020603050405020304" pitchFamily="18" charset="0"/>
                </a:rPr>
                <a:t>Too small, be </a:t>
              </a:r>
              <a:r>
                <a:rPr lang="en-HK" sz="1312" b="1" dirty="0">
                  <a:solidFill>
                    <a:srgbClr val="A60626"/>
                  </a:solidFill>
                  <a:latin typeface="Times New Roman" panose="02020603050405020304" pitchFamily="18" charset="0"/>
                  <a:ea typeface="SimSun"/>
                  <a:cs typeface="Times New Roman" panose="02020603050405020304" pitchFamily="18" charset="0"/>
                </a:rPr>
                <a:t>blown away </a:t>
              </a:r>
              <a:r>
                <a:rPr lang="en-HK" sz="1312" dirty="0">
                  <a:latin typeface="Times New Roman" panose="02020603050405020304" pitchFamily="18" charset="0"/>
                  <a:ea typeface="SimSun"/>
                  <a:cs typeface="Times New Roman" panose="02020603050405020304" pitchFamily="18" charset="0"/>
                </a:rPr>
                <a:t>before contact with the plate surface.</a:t>
              </a:r>
            </a:p>
            <a:p>
              <a:pPr marL="285750" indent="-285750">
                <a:spcAft>
                  <a:spcPts val="492"/>
                </a:spcAft>
                <a:buFont typeface="Arial" panose="020B0604020202020204" pitchFamily="34" charset="0"/>
                <a:buChar char="•"/>
              </a:pPr>
              <a:r>
                <a:rPr lang="en-HK" sz="1312" dirty="0">
                  <a:latin typeface="Times New Roman" panose="02020603050405020304" pitchFamily="18" charset="0"/>
                  <a:ea typeface="SimSun"/>
                  <a:cs typeface="Times New Roman" panose="02020603050405020304" pitchFamily="18" charset="0"/>
                </a:rPr>
                <a:t>Two large, </a:t>
              </a:r>
              <a:r>
                <a:rPr lang="en-HK" sz="1312" b="1" dirty="0">
                  <a:solidFill>
                    <a:srgbClr val="A60626"/>
                  </a:solidFill>
                  <a:latin typeface="Times New Roman" panose="02020603050405020304" pitchFamily="18" charset="0"/>
                  <a:ea typeface="SimSun"/>
                  <a:cs typeface="Times New Roman" panose="02020603050405020304" pitchFamily="18" charset="0"/>
                </a:rPr>
                <a:t>slide out of the wet channel</a:t>
              </a:r>
              <a:r>
                <a:rPr lang="en-HK" sz="1312" b="1" dirty="0">
                  <a:latin typeface="Times New Roman" panose="02020603050405020304" pitchFamily="18" charset="0"/>
                  <a:ea typeface="SimSun"/>
                  <a:cs typeface="Times New Roman" panose="02020603050405020304" pitchFamily="18" charset="0"/>
                </a:rPr>
                <a:t> </a:t>
              </a:r>
              <a:r>
                <a:rPr lang="en-HK" sz="1312" dirty="0">
                  <a:latin typeface="Times New Roman" panose="02020603050405020304" pitchFamily="18" charset="0"/>
                  <a:ea typeface="SimSun"/>
                  <a:cs typeface="Times New Roman" panose="02020603050405020304" pitchFamily="18" charset="0"/>
                </a:rPr>
                <a:t>before making contact with the plate surface.</a:t>
              </a:r>
            </a:p>
          </p:txBody>
        </p:sp>
        <p:sp>
          <p:nvSpPr>
            <p:cNvPr id="44" name="椭圆 43">
              <a:extLst>
                <a:ext uri="{FF2B5EF4-FFF2-40B4-BE49-F238E27FC236}">
                  <a16:creationId xmlns:a16="http://schemas.microsoft.com/office/drawing/2014/main" id="{EA761F19-2622-41F4-A302-E870D640F2E3}"/>
                </a:ext>
              </a:extLst>
            </p:cNvPr>
            <p:cNvSpPr/>
            <p:nvPr/>
          </p:nvSpPr>
          <p:spPr>
            <a:xfrm>
              <a:off x="8738750" y="1634755"/>
              <a:ext cx="413876" cy="2457731"/>
            </a:xfrm>
            <a:prstGeom prst="ellipse">
              <a:avLst/>
            </a:prstGeom>
            <a:noFill/>
            <a:ln w="19050">
              <a:solidFill>
                <a:srgbClr val="A60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dirty="0">
                <a:latin typeface="Times New Roman"/>
                <a:ea typeface="SimSun"/>
                <a:cs typeface="Times New Roman"/>
              </a:endParaRPr>
            </a:p>
          </p:txBody>
        </p:sp>
        <p:sp>
          <p:nvSpPr>
            <p:cNvPr id="22" name="文本框 21">
              <a:extLst>
                <a:ext uri="{FF2B5EF4-FFF2-40B4-BE49-F238E27FC236}">
                  <a16:creationId xmlns:a16="http://schemas.microsoft.com/office/drawing/2014/main" id="{6297C73F-6EA8-47DE-A871-F3A425E88FDC}"/>
                </a:ext>
              </a:extLst>
            </p:cNvPr>
            <p:cNvSpPr txBox="1"/>
            <p:nvPr/>
          </p:nvSpPr>
          <p:spPr>
            <a:xfrm>
              <a:off x="416279" y="909638"/>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4.5 Results and discussions</a:t>
              </a:r>
            </a:p>
          </p:txBody>
        </p:sp>
        <p:sp>
          <p:nvSpPr>
            <p:cNvPr id="5" name="Rectangle 219">
              <a:extLst>
                <a:ext uri="{FF2B5EF4-FFF2-40B4-BE49-F238E27FC236}">
                  <a16:creationId xmlns:a16="http://schemas.microsoft.com/office/drawing/2014/main" id="{BD433699-E2A8-4B25-9DCD-2DBDF2D9E730}"/>
                </a:ext>
              </a:extLst>
            </p:cNvPr>
            <p:cNvSpPr>
              <a:spLocks noChangeArrowheads="1"/>
            </p:cNvSpPr>
            <p:nvPr/>
          </p:nvSpPr>
          <p:spPr bwMode="auto">
            <a:xfrm>
              <a:off x="6819999" y="8903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34" name="矩形 33">
              <a:extLst>
                <a:ext uri="{FF2B5EF4-FFF2-40B4-BE49-F238E27FC236}">
                  <a16:creationId xmlns:a16="http://schemas.microsoft.com/office/drawing/2014/main" id="{316E71C9-ED78-49D5-A467-40E77F824EF6}"/>
                </a:ext>
              </a:extLst>
            </p:cNvPr>
            <p:cNvSpPr/>
            <p:nvPr/>
          </p:nvSpPr>
          <p:spPr bwMode="auto">
            <a:xfrm>
              <a:off x="6819999" y="4713216"/>
              <a:ext cx="4568260" cy="1674447"/>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pSp>
      <p:sp>
        <p:nvSpPr>
          <p:cNvPr id="46"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中文要点｜液滴直径的影响</a:t>
            </a:r>
          </a:p>
          <a:p>
            <a:pPr>
              <a:lnSpc>
                <a:spcPct val="108000"/>
              </a:lnSpc>
              <a:spcAft>
                <a:spcPts val="0"/>
              </a:spcAft>
            </a:pPr>
            <a:r>
              <a:rPr sz="1400" b="0">
                <a:solidFill>
                  <a:srgbClr val="282828"/>
                </a:solidFill>
                <a:latin typeface="Times New Roman"/>
                <a:ea typeface="SimSun"/>
                <a:cs typeface="Times New Roman"/>
              </a:rPr>
              <a:t>液滴过小易被逆向气流吹离，过大则可能在接触板面前滑出通道；需选择适宜的液滴尺度。</a:t>
            </a:r>
          </a:p>
        </p:txBody>
      </p:sp>
    </p:spTree>
    <p:extLst>
      <p:ext uri="{BB962C8B-B14F-4D97-AF65-F5344CB8AC3E}">
        <p14:creationId xmlns:p14="http://schemas.microsoft.com/office/powerpoint/2010/main" val="374373689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70B9FFF-D5A1-45B1-A6E6-843BEA93095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33</a:t>
            </a:fld>
            <a:endParaRPr lang="en-US" altLang="zh-CN">
              <a:latin typeface="Times New Roman"/>
              <a:ea typeface="SimSun"/>
              <a:cs typeface="Times New Roman"/>
            </a:endParaRPr>
          </a:p>
        </p:txBody>
      </p:sp>
      <p:sp>
        <p:nvSpPr>
          <p:cNvPr id="33" name="矩形 3">
            <a:extLst>
              <a:ext uri="{FF2B5EF4-FFF2-40B4-BE49-F238E27FC236}">
                <a16:creationId xmlns:a16="http://schemas.microsoft.com/office/drawing/2014/main" id="{76F1A6D1-EF12-4496-98AF-4C30DDFBCFF8}"/>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pSp>
        <p:nvGrpSpPr>
          <p:cNvPr id="34" name="Original English content (proportional layout)"/>
          <p:cNvGrpSpPr/>
          <p:nvPr/>
        </p:nvGrpSpPr>
        <p:grpSpPr>
          <a:xfrm>
            <a:off x="1097280" y="731520"/>
            <a:ext cx="9997440" cy="5023714"/>
            <a:chOff x="0" y="731520"/>
            <a:chExt cx="12192000" cy="6126480"/>
          </a:xfrm>
        </p:grpSpPr>
        <p:graphicFrame>
          <p:nvGraphicFramePr>
            <p:cNvPr id="6" name="对象 5">
              <a:extLst>
                <a:ext uri="{FF2B5EF4-FFF2-40B4-BE49-F238E27FC236}">
                  <a16:creationId xmlns:a16="http://schemas.microsoft.com/office/drawing/2014/main" id="{2E35C2B6-C808-4851-90E8-225E7B6DF41C}"/>
                </a:ext>
              </a:extLst>
            </p:cNvPr>
            <p:cNvGraphicFramePr>
              <a:graphicFrameLocks noChangeAspect="1"/>
            </p:cNvGraphicFramePr>
            <p:nvPr>
              <p:extLst>
                <p:ext uri="{D42A27DB-BD31-4B8C-83A1-F6EECF244321}">
                  <p14:modId xmlns:p14="http://schemas.microsoft.com/office/powerpoint/2010/main" val="3048118860"/>
                </p:ext>
              </p:extLst>
            </p:nvPr>
          </p:nvGraphicFramePr>
          <p:xfrm>
            <a:off x="6653530" y="1228688"/>
            <a:ext cx="3589338" cy="2971800"/>
          </p:xfrm>
          <a:graphic>
            <a:graphicData uri="http://schemas.openxmlformats.org/presentationml/2006/ole">
              <mc:AlternateContent xmlns:mc="http://schemas.openxmlformats.org/markup-compatibility/2006">
                <mc:Choice xmlns:v="urn:schemas-microsoft-com:vml" Requires="v">
                  <p:oleObj name="Graph" r:id="rId3" imgW="6246376" imgH="5143222" progId="Origin95.Graph">
                    <p:embed/>
                  </p:oleObj>
                </mc:Choice>
                <mc:Fallback>
                  <p:oleObj name="Graph" r:id="rId3" imgW="6246376" imgH="5143222" progId="Origin95.Graph">
                    <p:embed/>
                    <p:pic>
                      <p:nvPicPr>
                        <p:cNvPr id="0" name="Object 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3530" y="1228688"/>
                          <a:ext cx="3589338"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文本框 14">
              <a:extLst>
                <a:ext uri="{FF2B5EF4-FFF2-40B4-BE49-F238E27FC236}">
                  <a16:creationId xmlns:a16="http://schemas.microsoft.com/office/drawing/2014/main" id="{AA5CBF6D-5A83-45E2-B781-700FA31D83FE}"/>
                </a:ext>
              </a:extLst>
            </p:cNvPr>
            <p:cNvSpPr txBox="1"/>
            <p:nvPr/>
          </p:nvSpPr>
          <p:spPr>
            <a:xfrm>
              <a:off x="362334" y="939960"/>
              <a:ext cx="3548166"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4.5.2 </a:t>
              </a:r>
              <a:r>
                <a:rPr lang="en-HK" sz="1476" dirty="0">
                  <a:latin typeface="Times New Roman" panose="02020603050405020304" pitchFamily="18" charset="0"/>
                  <a:ea typeface="SimSun"/>
                  <a:cs typeface="Times New Roman" panose="02020603050405020304" pitchFamily="18" charset="0"/>
                </a:rPr>
                <a:t>Influence for multiple nozzles</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pic>
          <p:nvPicPr>
            <p:cNvPr id="16" name="图片 15">
              <a:extLst>
                <a:ext uri="{FF2B5EF4-FFF2-40B4-BE49-F238E27FC236}">
                  <a16:creationId xmlns:a16="http://schemas.microsoft.com/office/drawing/2014/main" id="{B0036912-7C13-41FA-865B-09AEA14B9382}"/>
                </a:ext>
              </a:extLst>
            </p:cNvPr>
            <p:cNvPicPr/>
            <p:nvPr/>
          </p:nvPicPr>
          <p:blipFill>
            <a:blip r:embed="rId5">
              <a:extLst>
                <a:ext uri="{28A0092B-C50C-407E-A947-70E740481C1C}">
                  <a14:useLocalDpi xmlns:a14="http://schemas.microsoft.com/office/drawing/2010/main" val="0"/>
                </a:ext>
              </a:extLst>
            </a:blip>
            <a:stretch>
              <a:fillRect/>
            </a:stretch>
          </p:blipFill>
          <p:spPr>
            <a:xfrm>
              <a:off x="1431914" y="1860473"/>
              <a:ext cx="1790700" cy="1799590"/>
            </a:xfrm>
            <a:prstGeom prst="rect">
              <a:avLst/>
            </a:prstGeom>
          </p:spPr>
        </p:pic>
        <p:pic>
          <p:nvPicPr>
            <p:cNvPr id="18" name="图片 17">
              <a:extLst>
                <a:ext uri="{FF2B5EF4-FFF2-40B4-BE49-F238E27FC236}">
                  <a16:creationId xmlns:a16="http://schemas.microsoft.com/office/drawing/2014/main" id="{34D79A36-9E83-4D2E-B4D5-60B853C33161}"/>
                </a:ext>
              </a:extLst>
            </p:cNvPr>
            <p:cNvPicPr/>
            <p:nvPr/>
          </p:nvPicPr>
          <p:blipFill>
            <a:blip r:embed="rId6">
              <a:extLst>
                <a:ext uri="{28A0092B-C50C-407E-A947-70E740481C1C}">
                  <a14:useLocalDpi xmlns:a14="http://schemas.microsoft.com/office/drawing/2010/main" val="0"/>
                </a:ext>
              </a:extLst>
            </a:blip>
            <a:stretch>
              <a:fillRect/>
            </a:stretch>
          </p:blipFill>
          <p:spPr>
            <a:xfrm>
              <a:off x="3331735" y="1860473"/>
              <a:ext cx="1790700" cy="1799590"/>
            </a:xfrm>
            <a:prstGeom prst="rect">
              <a:avLst/>
            </a:prstGeom>
          </p:spPr>
        </p:pic>
        <p:pic>
          <p:nvPicPr>
            <p:cNvPr id="19" name="图片 18">
              <a:extLst>
                <a:ext uri="{FF2B5EF4-FFF2-40B4-BE49-F238E27FC236}">
                  <a16:creationId xmlns:a16="http://schemas.microsoft.com/office/drawing/2014/main" id="{C425DF99-1142-40E6-AB74-201B087D2027}"/>
                </a:ext>
              </a:extLst>
            </p:cNvPr>
            <p:cNvPicPr/>
            <p:nvPr/>
          </p:nvPicPr>
          <p:blipFill>
            <a:blip r:embed="rId7">
              <a:extLst>
                <a:ext uri="{28A0092B-C50C-407E-A947-70E740481C1C}">
                  <a14:useLocalDpi xmlns:a14="http://schemas.microsoft.com/office/drawing/2010/main" val="0"/>
                </a:ext>
              </a:extLst>
            </a:blip>
            <a:stretch>
              <a:fillRect/>
            </a:stretch>
          </p:blipFill>
          <p:spPr>
            <a:xfrm>
              <a:off x="1431914" y="3919504"/>
              <a:ext cx="1794510" cy="1799590"/>
            </a:xfrm>
            <a:prstGeom prst="rect">
              <a:avLst/>
            </a:prstGeom>
          </p:spPr>
        </p:pic>
        <p:sp>
          <p:nvSpPr>
            <p:cNvPr id="20" name="矩形 19">
              <a:extLst>
                <a:ext uri="{FF2B5EF4-FFF2-40B4-BE49-F238E27FC236}">
                  <a16:creationId xmlns:a16="http://schemas.microsoft.com/office/drawing/2014/main" id="{DED630E9-C456-4E4F-A92E-70EEF89E8706}"/>
                </a:ext>
              </a:extLst>
            </p:cNvPr>
            <p:cNvSpPr/>
            <p:nvPr/>
          </p:nvSpPr>
          <p:spPr>
            <a:xfrm>
              <a:off x="759413" y="1318613"/>
              <a:ext cx="1826141" cy="369332"/>
            </a:xfrm>
            <a:prstGeom prst="rect">
              <a:avLst/>
            </a:prstGeom>
          </p:spPr>
          <p:txBody>
            <a:bodyPr wrap="none">
              <a:spAutoFit/>
            </a:bodyPr>
            <a:lstStyle/>
            <a:p>
              <a:pPr marL="285750" indent="-285750">
                <a:buFont typeface="Wingdings" panose="05000000000000000000" pitchFamily="2" charset="2"/>
                <a:buChar char="Ø"/>
              </a:pPr>
              <a:r>
                <a:rPr lang="en-HK" sz="1476" dirty="0">
                  <a:latin typeface="Times New Roman" panose="02020603050405020304" pitchFamily="18" charset="0"/>
                  <a:ea typeface="SimSun"/>
                  <a:cs typeface="Times New Roman" panose="02020603050405020304" pitchFamily="18" charset="0"/>
                </a:rPr>
                <a:t>Spray distance</a:t>
              </a:r>
            </a:p>
          </p:txBody>
        </p:sp>
        <p:pic>
          <p:nvPicPr>
            <p:cNvPr id="21" name="图片 20">
              <a:extLst>
                <a:ext uri="{FF2B5EF4-FFF2-40B4-BE49-F238E27FC236}">
                  <a16:creationId xmlns:a16="http://schemas.microsoft.com/office/drawing/2014/main" id="{4F090BC5-BEF5-40CE-ADE3-3226B8E39C60}"/>
                </a:ext>
              </a:extLst>
            </p:cNvPr>
            <p:cNvPicPr/>
            <p:nvPr/>
          </p:nvPicPr>
          <p:blipFill>
            <a:blip r:embed="rId8">
              <a:extLst>
                <a:ext uri="{28A0092B-C50C-407E-A947-70E740481C1C}">
                  <a14:useLocalDpi xmlns:a14="http://schemas.microsoft.com/office/drawing/2010/main" val="0"/>
                </a:ext>
              </a:extLst>
            </a:blip>
            <a:stretch>
              <a:fillRect/>
            </a:stretch>
          </p:blipFill>
          <p:spPr>
            <a:xfrm>
              <a:off x="3333028" y="3919504"/>
              <a:ext cx="1794510" cy="1799590"/>
            </a:xfrm>
            <a:prstGeom prst="rect">
              <a:avLst/>
            </a:prstGeom>
          </p:spPr>
        </p:pic>
        <p:sp>
          <p:nvSpPr>
            <p:cNvPr id="2" name="Rectangle 2">
              <a:extLst>
                <a:ext uri="{FF2B5EF4-FFF2-40B4-BE49-F238E27FC236}">
                  <a16:creationId xmlns:a16="http://schemas.microsoft.com/office/drawing/2014/main" id="{6BD5F9DA-DF46-46C4-BB61-C2CC6D719FCE}"/>
                </a:ext>
              </a:extLst>
            </p:cNvPr>
            <p:cNvSpPr>
              <a:spLocks noChangeArrowheads="1"/>
            </p:cNvSpPr>
            <p:nvPr/>
          </p:nvSpPr>
          <p:spPr bwMode="auto">
            <a:xfrm>
              <a:off x="6367183" y="159831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22" name="矩形 21">
              <a:extLst>
                <a:ext uri="{FF2B5EF4-FFF2-40B4-BE49-F238E27FC236}">
                  <a16:creationId xmlns:a16="http://schemas.microsoft.com/office/drawing/2014/main" id="{EDEDEB91-B53F-4EA4-8C31-BB78C85F0680}"/>
                </a:ext>
              </a:extLst>
            </p:cNvPr>
            <p:cNvSpPr/>
            <p:nvPr/>
          </p:nvSpPr>
          <p:spPr>
            <a:xfrm>
              <a:off x="1929795" y="3657895"/>
              <a:ext cx="992765" cy="276999"/>
            </a:xfrm>
            <a:prstGeom prst="rect">
              <a:avLst/>
            </a:prstGeom>
          </p:spPr>
          <p:txBody>
            <a:bodyPr wrap="square">
              <a:spAutoFit/>
            </a:bodyPr>
            <a:lstStyle/>
            <a:p>
              <a:r>
                <a:rPr lang="en-HK" sz="984" dirty="0">
                  <a:latin typeface="Times New Roman" panose="02020603050405020304" pitchFamily="18" charset="0"/>
                  <a:ea typeface="SimSun"/>
                  <a:cs typeface="Times New Roman" panose="02020603050405020304" pitchFamily="18" charset="0"/>
                </a:rPr>
                <a:t>    0 mm</a:t>
              </a:r>
            </a:p>
          </p:txBody>
        </p:sp>
        <p:sp>
          <p:nvSpPr>
            <p:cNvPr id="24" name="矩形 23">
              <a:extLst>
                <a:ext uri="{FF2B5EF4-FFF2-40B4-BE49-F238E27FC236}">
                  <a16:creationId xmlns:a16="http://schemas.microsoft.com/office/drawing/2014/main" id="{FBECE172-D203-4BE5-9F22-93F65AADA245}"/>
                </a:ext>
              </a:extLst>
            </p:cNvPr>
            <p:cNvSpPr/>
            <p:nvPr/>
          </p:nvSpPr>
          <p:spPr>
            <a:xfrm>
              <a:off x="3938730" y="3657895"/>
              <a:ext cx="655949" cy="276999"/>
            </a:xfrm>
            <a:prstGeom prst="rect">
              <a:avLst/>
            </a:prstGeom>
          </p:spPr>
          <p:txBody>
            <a:bodyPr wrap="none">
              <a:spAutoFit/>
            </a:bodyPr>
            <a:lstStyle/>
            <a:p>
              <a:r>
                <a:rPr lang="en-HK" sz="984" dirty="0">
                  <a:latin typeface="Times New Roman" panose="02020603050405020304" pitchFamily="18" charset="0"/>
                  <a:ea typeface="SimSun"/>
                  <a:cs typeface="Times New Roman" panose="02020603050405020304" pitchFamily="18" charset="0"/>
                </a:rPr>
                <a:t> 20 mm</a:t>
              </a:r>
            </a:p>
          </p:txBody>
        </p:sp>
        <p:sp>
          <p:nvSpPr>
            <p:cNvPr id="25" name="矩形 24">
              <a:extLst>
                <a:ext uri="{FF2B5EF4-FFF2-40B4-BE49-F238E27FC236}">
                  <a16:creationId xmlns:a16="http://schemas.microsoft.com/office/drawing/2014/main" id="{97609E29-2D20-4D40-9972-D70D8AA096BC}"/>
                </a:ext>
              </a:extLst>
            </p:cNvPr>
            <p:cNvSpPr/>
            <p:nvPr/>
          </p:nvSpPr>
          <p:spPr>
            <a:xfrm>
              <a:off x="2000893" y="5716926"/>
              <a:ext cx="655949" cy="276999"/>
            </a:xfrm>
            <a:prstGeom prst="rect">
              <a:avLst/>
            </a:prstGeom>
          </p:spPr>
          <p:txBody>
            <a:bodyPr wrap="none">
              <a:spAutoFit/>
            </a:bodyPr>
            <a:lstStyle/>
            <a:p>
              <a:r>
                <a:rPr lang="en-HK" sz="984" dirty="0">
                  <a:latin typeface="Times New Roman" panose="02020603050405020304" pitchFamily="18" charset="0"/>
                  <a:ea typeface="SimSun"/>
                  <a:cs typeface="Times New Roman" panose="02020603050405020304" pitchFamily="18" charset="0"/>
                </a:rPr>
                <a:t> 40 mm</a:t>
              </a:r>
            </a:p>
          </p:txBody>
        </p:sp>
        <p:sp>
          <p:nvSpPr>
            <p:cNvPr id="26" name="矩形 25">
              <a:extLst>
                <a:ext uri="{FF2B5EF4-FFF2-40B4-BE49-F238E27FC236}">
                  <a16:creationId xmlns:a16="http://schemas.microsoft.com/office/drawing/2014/main" id="{A440FCD2-35D8-4243-9064-D0B747EC8FAF}"/>
                </a:ext>
              </a:extLst>
            </p:cNvPr>
            <p:cNvSpPr/>
            <p:nvPr/>
          </p:nvSpPr>
          <p:spPr>
            <a:xfrm>
              <a:off x="3938730" y="5716926"/>
              <a:ext cx="655949" cy="276999"/>
            </a:xfrm>
            <a:prstGeom prst="rect">
              <a:avLst/>
            </a:prstGeom>
          </p:spPr>
          <p:txBody>
            <a:bodyPr wrap="none">
              <a:spAutoFit/>
            </a:bodyPr>
            <a:lstStyle/>
            <a:p>
              <a:r>
                <a:rPr lang="en-HK" sz="984" dirty="0">
                  <a:latin typeface="Times New Roman" panose="02020603050405020304" pitchFamily="18" charset="0"/>
                  <a:ea typeface="SimSun"/>
                  <a:cs typeface="Times New Roman" panose="02020603050405020304" pitchFamily="18" charset="0"/>
                </a:rPr>
                <a:t> 60 mm</a:t>
              </a:r>
            </a:p>
          </p:txBody>
        </p:sp>
        <p:sp>
          <p:nvSpPr>
            <p:cNvPr id="27" name="矩形 26">
              <a:extLst>
                <a:ext uri="{FF2B5EF4-FFF2-40B4-BE49-F238E27FC236}">
                  <a16:creationId xmlns:a16="http://schemas.microsoft.com/office/drawing/2014/main" id="{C2454E48-F29D-4364-9DB3-DFB5068F0D78}"/>
                </a:ext>
              </a:extLst>
            </p:cNvPr>
            <p:cNvSpPr/>
            <p:nvPr/>
          </p:nvSpPr>
          <p:spPr>
            <a:xfrm>
              <a:off x="1935212" y="6009649"/>
              <a:ext cx="2793045"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4.5.3 </a:t>
              </a:r>
              <a:r>
                <a:rPr lang="en-HK" sz="984" dirty="0">
                  <a:latin typeface="Times New Roman" panose="02020603050405020304" pitchFamily="18" charset="0"/>
                  <a:ea typeface="SimSun"/>
                  <a:cs typeface="Times New Roman" panose="02020603050405020304" pitchFamily="18" charset="0"/>
                </a:rPr>
                <a:t>Variation of the nozzle distance </a:t>
              </a:r>
            </a:p>
          </p:txBody>
        </p:sp>
        <p:sp>
          <p:nvSpPr>
            <p:cNvPr id="28" name="矩形 27">
              <a:extLst>
                <a:ext uri="{FF2B5EF4-FFF2-40B4-BE49-F238E27FC236}">
                  <a16:creationId xmlns:a16="http://schemas.microsoft.com/office/drawing/2014/main" id="{72B7FE64-53A0-4FD3-851B-9471A15D5037}"/>
                </a:ext>
              </a:extLst>
            </p:cNvPr>
            <p:cNvSpPr/>
            <p:nvPr/>
          </p:nvSpPr>
          <p:spPr>
            <a:xfrm>
              <a:off x="6799482" y="4172970"/>
              <a:ext cx="4792063"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4.5.4 </a:t>
              </a:r>
              <a:r>
                <a:rPr lang="en-HK" sz="984" dirty="0">
                  <a:latin typeface="Times New Roman" panose="02020603050405020304" pitchFamily="18" charset="0"/>
                  <a:ea typeface="SimSun"/>
                  <a:cs typeface="Times New Roman" panose="02020603050405020304" pitchFamily="18" charset="0"/>
                </a:rPr>
                <a:t>Impact of nozzle gap on coverage factor</a:t>
              </a:r>
            </a:p>
          </p:txBody>
        </p:sp>
        <p:sp>
          <p:nvSpPr>
            <p:cNvPr id="29" name="矩形 28">
              <a:extLst>
                <a:ext uri="{FF2B5EF4-FFF2-40B4-BE49-F238E27FC236}">
                  <a16:creationId xmlns:a16="http://schemas.microsoft.com/office/drawing/2014/main" id="{2CAF0D0D-21AB-457B-BDC4-7D3325C407E6}"/>
                </a:ext>
              </a:extLst>
            </p:cNvPr>
            <p:cNvSpPr/>
            <p:nvPr/>
          </p:nvSpPr>
          <p:spPr>
            <a:xfrm>
              <a:off x="6233480" y="4529770"/>
              <a:ext cx="5050037" cy="1892826"/>
            </a:xfrm>
            <a:prstGeom prst="rect">
              <a:avLst/>
            </a:prstGeom>
          </p:spPr>
          <p:txBody>
            <a:bodyPr wrap="square">
              <a:spAutoFit/>
            </a:bodyPr>
            <a:lstStyle/>
            <a:p>
              <a:r>
                <a:rPr lang="en-HK" sz="1312" dirty="0">
                  <a:latin typeface="Times New Roman" panose="02020603050405020304" pitchFamily="18" charset="0"/>
                  <a:ea typeface="SimSun"/>
                  <a:cs typeface="Times New Roman" panose="02020603050405020304" pitchFamily="18" charset="0"/>
                </a:rPr>
                <a:t>The best wetting situation of the plate surface occurs at a nozzle of </a:t>
              </a:r>
              <a:r>
                <a:rPr lang="en-HK" sz="1312" b="1" dirty="0">
                  <a:solidFill>
                    <a:srgbClr val="A60626"/>
                  </a:solidFill>
                  <a:latin typeface="Times New Roman" panose="02020603050405020304" pitchFamily="18" charset="0"/>
                  <a:ea typeface="SimSun"/>
                  <a:cs typeface="Times New Roman" panose="02020603050405020304" pitchFamily="18" charset="0"/>
                </a:rPr>
                <a:t>40 mm (1) </a:t>
              </a:r>
              <a:r>
                <a:rPr lang="en-HK" sz="1312" dirty="0">
                  <a:latin typeface="Times New Roman" panose="02020603050405020304" pitchFamily="18" charset="0"/>
                  <a:ea typeface="SimSun"/>
                  <a:cs typeface="Times New Roman" panose="02020603050405020304" pitchFamily="18" charset="0"/>
                </a:rPr>
                <a:t>and the gap was </a:t>
              </a:r>
              <a:r>
                <a:rPr lang="en-HK" sz="1312" b="1" dirty="0">
                  <a:solidFill>
                    <a:srgbClr val="A60626"/>
                  </a:solidFill>
                  <a:latin typeface="Times New Roman" panose="02020603050405020304" pitchFamily="18" charset="0"/>
                  <a:ea typeface="SimSun"/>
                  <a:cs typeface="Times New Roman" panose="02020603050405020304" pitchFamily="18" charset="0"/>
                </a:rPr>
                <a:t>80 mm (2)</a:t>
              </a:r>
              <a:r>
                <a:rPr lang="en-HK" sz="1312" b="1" dirty="0">
                  <a:latin typeface="Times New Roman" panose="02020603050405020304" pitchFamily="18" charset="0"/>
                  <a:ea typeface="SimSun"/>
                  <a:cs typeface="Times New Roman" panose="02020603050405020304" pitchFamily="18" charset="0"/>
                </a:rPr>
                <a:t>.</a:t>
              </a:r>
            </a:p>
            <a:p>
              <a:endParaRPr lang="en-HK" sz="1312" dirty="0">
                <a:latin typeface="Times New Roman" panose="02020603050405020304" pitchFamily="18" charset="0"/>
                <a:ea typeface="SimSun"/>
                <a:cs typeface="Times New Roman" panose="02020603050405020304" pitchFamily="18" charset="0"/>
              </a:endParaRPr>
            </a:p>
            <a:p>
              <a:pPr marL="285750" indent="-285750" defTabSz="457200" eaLnBrk="1" fontAlgn="auto" hangingPunct="1">
                <a:spcBef>
                  <a:spcPts val="0"/>
                </a:spcBef>
                <a:spcAft>
                  <a:spcPts val="492"/>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The spray of nozzles are </a:t>
              </a:r>
              <a:r>
                <a:rPr lang="en-HK" sz="1312" b="1" dirty="0">
                  <a:solidFill>
                    <a:srgbClr val="A60626"/>
                  </a:solidFill>
                  <a:latin typeface="Times New Roman" panose="02020603050405020304" pitchFamily="18" charset="0"/>
                  <a:ea typeface="SimSun"/>
                  <a:cs typeface="Times New Roman" panose="02020603050405020304" pitchFamily="18" charset="0"/>
                </a:rPr>
                <a:t>too far </a:t>
              </a:r>
              <a:r>
                <a:rPr lang="en-HK" sz="1312" dirty="0">
                  <a:solidFill>
                    <a:prstClr val="black"/>
                  </a:solidFill>
                  <a:latin typeface="Times New Roman" panose="02020603050405020304" pitchFamily="18" charset="0"/>
                  <a:ea typeface="SimSun"/>
                  <a:cs typeface="Times New Roman" panose="02020603050405020304" pitchFamily="18" charset="0"/>
                </a:rPr>
                <a:t>apart causing some droplets to </a:t>
              </a:r>
              <a:r>
                <a:rPr lang="en-HK" sz="1312" b="1" dirty="0">
                  <a:solidFill>
                    <a:srgbClr val="A60626"/>
                  </a:solidFill>
                  <a:latin typeface="Times New Roman" panose="02020603050405020304" pitchFamily="18" charset="0"/>
                  <a:ea typeface="SimSun"/>
                  <a:cs typeface="Times New Roman" panose="02020603050405020304" pitchFamily="18" charset="0"/>
                </a:rPr>
                <a:t>escape</a:t>
              </a:r>
              <a:r>
                <a:rPr lang="en-HK" sz="1312" dirty="0">
                  <a:solidFill>
                    <a:prstClr val="black"/>
                  </a:solidFill>
                  <a:latin typeface="Times New Roman" panose="02020603050405020304" pitchFamily="18" charset="0"/>
                  <a:ea typeface="SimSun"/>
                  <a:cs typeface="Times New Roman" panose="02020603050405020304" pitchFamily="18" charset="0"/>
                </a:rPr>
                <a:t> from the boundary.</a:t>
              </a:r>
            </a:p>
            <a:p>
              <a:pPr marL="285750" indent="-285750" defTabSz="457200" eaLnBrk="1" fontAlgn="auto" hangingPunct="1">
                <a:spcBef>
                  <a:spcPts val="0"/>
                </a:spcBef>
                <a:spcAft>
                  <a:spcPts val="492"/>
                </a:spcAft>
                <a:buFont typeface="Arial" panose="020B0604020202020204" pitchFamily="34" charset="0"/>
                <a:buChar char="•"/>
              </a:pPr>
              <a:r>
                <a:rPr lang="en-HK" sz="1312" dirty="0">
                  <a:solidFill>
                    <a:prstClr val="black"/>
                  </a:solidFill>
                  <a:latin typeface="Times New Roman" panose="02020603050405020304" pitchFamily="18" charset="0"/>
                  <a:ea typeface="SimSun"/>
                  <a:cs typeface="Times New Roman" panose="02020603050405020304" pitchFamily="18" charset="0"/>
                </a:rPr>
                <a:t> While being </a:t>
              </a:r>
              <a:r>
                <a:rPr lang="en-HK" sz="1312" b="1" dirty="0">
                  <a:solidFill>
                    <a:srgbClr val="A60626"/>
                  </a:solidFill>
                  <a:latin typeface="Times New Roman" panose="02020603050405020304" pitchFamily="18" charset="0"/>
                  <a:ea typeface="SimSun"/>
                  <a:cs typeface="Times New Roman" panose="02020603050405020304" pitchFamily="18" charset="0"/>
                </a:rPr>
                <a:t>too close </a:t>
              </a:r>
              <a:r>
                <a:rPr lang="en-HK" sz="1312" dirty="0">
                  <a:solidFill>
                    <a:prstClr val="black"/>
                  </a:solidFill>
                  <a:latin typeface="Times New Roman" panose="02020603050405020304" pitchFamily="18" charset="0"/>
                  <a:ea typeface="SimSun"/>
                  <a:cs typeface="Times New Roman" panose="02020603050405020304" pitchFamily="18" charset="0"/>
                </a:rPr>
                <a:t>caused a large number of spray droplets to </a:t>
              </a:r>
              <a:r>
                <a:rPr lang="en-HK" sz="1312" b="1" dirty="0">
                  <a:solidFill>
                    <a:srgbClr val="A60626"/>
                  </a:solidFill>
                  <a:latin typeface="Times New Roman" panose="02020603050405020304" pitchFamily="18" charset="0"/>
                  <a:ea typeface="SimSun"/>
                  <a:cs typeface="Times New Roman" panose="02020603050405020304" pitchFamily="18" charset="0"/>
                </a:rPr>
                <a:t>collide and splash </a:t>
              </a:r>
              <a:r>
                <a:rPr lang="en-HK" sz="1312" dirty="0">
                  <a:solidFill>
                    <a:prstClr val="black"/>
                  </a:solidFill>
                  <a:latin typeface="Times New Roman" panose="02020603050405020304" pitchFamily="18" charset="0"/>
                  <a:ea typeface="SimSun"/>
                  <a:cs typeface="Times New Roman" panose="02020603050405020304" pitchFamily="18" charset="0"/>
                </a:rPr>
                <a:t>against each other.</a:t>
              </a:r>
            </a:p>
          </p:txBody>
        </p:sp>
        <p:sp>
          <p:nvSpPr>
            <p:cNvPr id="30" name="椭圆 29">
              <a:extLst>
                <a:ext uri="{FF2B5EF4-FFF2-40B4-BE49-F238E27FC236}">
                  <a16:creationId xmlns:a16="http://schemas.microsoft.com/office/drawing/2014/main" id="{F02511E9-94CA-4840-ACCE-5CF48288727F}"/>
                </a:ext>
              </a:extLst>
            </p:cNvPr>
            <p:cNvSpPr/>
            <p:nvPr/>
          </p:nvSpPr>
          <p:spPr>
            <a:xfrm>
              <a:off x="8376308" y="1352803"/>
              <a:ext cx="286347" cy="2741315"/>
            </a:xfrm>
            <a:prstGeom prst="ellipse">
              <a:avLst/>
            </a:prstGeom>
            <a:noFill/>
            <a:ln w="19050">
              <a:solidFill>
                <a:srgbClr val="A60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dirty="0">
                <a:latin typeface="Times New Roman"/>
                <a:ea typeface="SimSun"/>
                <a:cs typeface="Times New Roman"/>
              </a:endParaRPr>
            </a:p>
          </p:txBody>
        </p:sp>
        <p:sp>
          <p:nvSpPr>
            <p:cNvPr id="5" name="Rectangle 220">
              <a:extLst>
                <a:ext uri="{FF2B5EF4-FFF2-40B4-BE49-F238E27FC236}">
                  <a16:creationId xmlns:a16="http://schemas.microsoft.com/office/drawing/2014/main" id="{BDF510A9-3CB9-4553-8D8C-12133F47EC4D}"/>
                </a:ext>
              </a:extLst>
            </p:cNvPr>
            <p:cNvSpPr>
              <a:spLocks noChangeArrowheads="1"/>
            </p:cNvSpPr>
            <p:nvPr/>
          </p:nvSpPr>
          <p:spPr bwMode="auto">
            <a:xfrm>
              <a:off x="2955198" y="11389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3" name="矩形 22">
              <a:extLst>
                <a:ext uri="{FF2B5EF4-FFF2-40B4-BE49-F238E27FC236}">
                  <a16:creationId xmlns:a16="http://schemas.microsoft.com/office/drawing/2014/main" id="{E7284172-BF02-4333-B569-F5456C6F7229}"/>
                </a:ext>
              </a:extLst>
            </p:cNvPr>
            <p:cNvSpPr/>
            <p:nvPr/>
          </p:nvSpPr>
          <p:spPr bwMode="auto">
            <a:xfrm>
              <a:off x="6123371" y="4517625"/>
              <a:ext cx="5078568" cy="1975143"/>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pSp>
      <p:sp>
        <p:nvSpPr>
          <p:cNvPr id="35"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中文要点｜喷嘴间距的影响</a:t>
            </a:r>
          </a:p>
          <a:p>
            <a:pPr>
              <a:lnSpc>
                <a:spcPct val="108000"/>
              </a:lnSpc>
              <a:spcAft>
                <a:spcPts val="0"/>
              </a:spcAft>
            </a:pPr>
            <a:r>
              <a:rPr sz="1400" b="0">
                <a:solidFill>
                  <a:srgbClr val="282828"/>
                </a:solidFill>
                <a:latin typeface="Times New Roman"/>
                <a:ea typeface="SimSun"/>
                <a:cs typeface="Times New Roman"/>
              </a:rPr>
              <a:t>间距过大易使液滴逸出边界，过小则加剧碰撞飞溅；应通过布置优化提高板面覆盖率。</a:t>
            </a:r>
          </a:p>
        </p:txBody>
      </p:sp>
    </p:spTree>
    <p:extLst>
      <p:ext uri="{BB962C8B-B14F-4D97-AF65-F5344CB8AC3E}">
        <p14:creationId xmlns:p14="http://schemas.microsoft.com/office/powerpoint/2010/main" val="194885305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8B60D27-8ED0-4D3B-AB91-5A097580526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34</a:t>
            </a:fld>
            <a:endParaRPr lang="en-US" altLang="zh-CN">
              <a:latin typeface="Times New Roman"/>
              <a:ea typeface="SimSun"/>
              <a:cs typeface="Times New Roman"/>
            </a:endParaRPr>
          </a:p>
        </p:txBody>
      </p:sp>
      <p:sp>
        <p:nvSpPr>
          <p:cNvPr id="25" name="矩形 3">
            <a:extLst>
              <a:ext uri="{FF2B5EF4-FFF2-40B4-BE49-F238E27FC236}">
                <a16:creationId xmlns:a16="http://schemas.microsoft.com/office/drawing/2014/main" id="{B5B0327E-8815-474E-B693-270F10C6A834}"/>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grpSp>
        <p:nvGrpSpPr>
          <p:cNvPr id="26" name="Original English content (proportional layout)"/>
          <p:cNvGrpSpPr/>
          <p:nvPr/>
        </p:nvGrpSpPr>
        <p:grpSpPr>
          <a:xfrm>
            <a:off x="1097280" y="731520"/>
            <a:ext cx="9997440" cy="5023714"/>
            <a:chOff x="0" y="731520"/>
            <a:chExt cx="12192000" cy="6126480"/>
          </a:xfrm>
        </p:grpSpPr>
        <p:sp>
          <p:nvSpPr>
            <p:cNvPr id="11" name="Rectangle 2">
              <a:extLst>
                <a:ext uri="{FF2B5EF4-FFF2-40B4-BE49-F238E27FC236}">
                  <a16:creationId xmlns:a16="http://schemas.microsoft.com/office/drawing/2014/main" id="{2C53AAAB-BDD1-498E-8103-1D2013B0BB54}"/>
                </a:ext>
              </a:extLst>
            </p:cNvPr>
            <p:cNvSpPr>
              <a:spLocks noChangeArrowheads="1"/>
            </p:cNvSpPr>
            <p:nvPr/>
          </p:nvSpPr>
          <p:spPr bwMode="auto">
            <a:xfrm>
              <a:off x="1524001" y="113633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pic>
          <p:nvPicPr>
            <p:cNvPr id="6" name="图片 5">
              <a:extLst>
                <a:ext uri="{FF2B5EF4-FFF2-40B4-BE49-F238E27FC236}">
                  <a16:creationId xmlns:a16="http://schemas.microsoft.com/office/drawing/2014/main" id="{B94C7286-4E25-43BC-A216-4DCFFA6497BA}"/>
                </a:ext>
              </a:extLst>
            </p:cNvPr>
            <p:cNvPicPr/>
            <p:nvPr/>
          </p:nvPicPr>
          <p:blipFill>
            <a:blip r:embed="rId3">
              <a:extLst>
                <a:ext uri="{28A0092B-C50C-407E-A947-70E740481C1C}">
                  <a14:useLocalDpi xmlns:a14="http://schemas.microsoft.com/office/drawing/2010/main" val="0"/>
                </a:ext>
              </a:extLst>
            </a:blip>
            <a:stretch>
              <a:fillRect/>
            </a:stretch>
          </p:blipFill>
          <p:spPr>
            <a:xfrm>
              <a:off x="2718900" y="1569395"/>
              <a:ext cx="1183466" cy="1819826"/>
            </a:xfrm>
            <a:prstGeom prst="rect">
              <a:avLst/>
            </a:prstGeom>
          </p:spPr>
        </p:pic>
        <p:pic>
          <p:nvPicPr>
            <p:cNvPr id="8" name="图片 7">
              <a:extLst>
                <a:ext uri="{FF2B5EF4-FFF2-40B4-BE49-F238E27FC236}">
                  <a16:creationId xmlns:a16="http://schemas.microsoft.com/office/drawing/2014/main" id="{D2557077-6601-42E4-BABD-EEB211D33AA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39729" y="3526805"/>
              <a:ext cx="1589103" cy="1692000"/>
            </a:xfrm>
            <a:prstGeom prst="rect">
              <a:avLst/>
            </a:prstGeom>
          </p:spPr>
        </p:pic>
        <p:pic>
          <p:nvPicPr>
            <p:cNvPr id="9" name="图片 8">
              <a:extLst>
                <a:ext uri="{FF2B5EF4-FFF2-40B4-BE49-F238E27FC236}">
                  <a16:creationId xmlns:a16="http://schemas.microsoft.com/office/drawing/2014/main" id="{E4EF0899-5BA6-4834-A4FD-50B2A46BF633}"/>
                </a:ext>
              </a:extLst>
            </p:cNvPr>
            <p:cNvPicPr/>
            <p:nvPr/>
          </p:nvPicPr>
          <p:blipFill>
            <a:blip r:embed="rId5">
              <a:extLst>
                <a:ext uri="{28A0092B-C50C-407E-A947-70E740481C1C}">
                  <a14:useLocalDpi xmlns:a14="http://schemas.microsoft.com/office/drawing/2010/main" val="0"/>
                </a:ext>
              </a:extLst>
            </a:blip>
            <a:stretch>
              <a:fillRect/>
            </a:stretch>
          </p:blipFill>
          <p:spPr>
            <a:xfrm>
              <a:off x="6433893" y="3540872"/>
              <a:ext cx="1587600" cy="1692000"/>
            </a:xfrm>
            <a:prstGeom prst="rect">
              <a:avLst/>
            </a:prstGeom>
          </p:spPr>
        </p:pic>
        <p:pic>
          <p:nvPicPr>
            <p:cNvPr id="13" name="图片 12">
              <a:extLst>
                <a:ext uri="{FF2B5EF4-FFF2-40B4-BE49-F238E27FC236}">
                  <a16:creationId xmlns:a16="http://schemas.microsoft.com/office/drawing/2014/main" id="{69B26CE5-8C31-4A5E-B63A-B58AC3A1C85B}"/>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8169370" y="3526805"/>
              <a:ext cx="1587600" cy="1692000"/>
            </a:xfrm>
            <a:prstGeom prst="rect">
              <a:avLst/>
            </a:prstGeom>
          </p:spPr>
        </p:pic>
        <p:pic>
          <p:nvPicPr>
            <p:cNvPr id="14" name="图片 13">
              <a:extLst>
                <a:ext uri="{FF2B5EF4-FFF2-40B4-BE49-F238E27FC236}">
                  <a16:creationId xmlns:a16="http://schemas.microsoft.com/office/drawing/2014/main" id="{6D699C5A-F61B-4B6E-B2F9-C05733C07FB1}"/>
                </a:ext>
              </a:extLst>
            </p:cNvPr>
            <p:cNvPicPr/>
            <p:nvPr/>
          </p:nvPicPr>
          <p:blipFill>
            <a:blip r:embed="rId7">
              <a:extLst>
                <a:ext uri="{28A0092B-C50C-407E-A947-70E740481C1C}">
                  <a14:useLocalDpi xmlns:a14="http://schemas.microsoft.com/office/drawing/2010/main" val="0"/>
                </a:ext>
              </a:extLst>
            </a:blip>
            <a:stretch>
              <a:fillRect/>
            </a:stretch>
          </p:blipFill>
          <p:spPr>
            <a:xfrm>
              <a:off x="3334763" y="3526805"/>
              <a:ext cx="1587600" cy="1692000"/>
            </a:xfrm>
            <a:prstGeom prst="rect">
              <a:avLst/>
            </a:prstGeom>
          </p:spPr>
        </p:pic>
        <p:pic>
          <p:nvPicPr>
            <p:cNvPr id="15" name="图片 14">
              <a:extLst>
                <a:ext uri="{FF2B5EF4-FFF2-40B4-BE49-F238E27FC236}">
                  <a16:creationId xmlns:a16="http://schemas.microsoft.com/office/drawing/2014/main" id="{E919D49D-35CC-4E2D-AFFC-B3D6F64C73AA}"/>
                </a:ext>
              </a:extLst>
            </p:cNvPr>
            <p:cNvPicPr/>
            <p:nvPr/>
          </p:nvPicPr>
          <p:blipFill>
            <a:blip r:embed="rId8" cstate="print">
              <a:extLst>
                <a:ext uri="{28A0092B-C50C-407E-A947-70E740481C1C}">
                  <a14:useLocalDpi xmlns:a14="http://schemas.microsoft.com/office/drawing/2010/main" val="0"/>
                </a:ext>
              </a:extLst>
            </a:blip>
            <a:stretch>
              <a:fillRect/>
            </a:stretch>
          </p:blipFill>
          <p:spPr>
            <a:xfrm>
              <a:off x="9904848" y="3520400"/>
              <a:ext cx="560151" cy="1776335"/>
            </a:xfrm>
            <a:prstGeom prst="rect">
              <a:avLst/>
            </a:prstGeom>
          </p:spPr>
        </p:pic>
        <p:pic>
          <p:nvPicPr>
            <p:cNvPr id="17" name="图片 16">
              <a:extLst>
                <a:ext uri="{FF2B5EF4-FFF2-40B4-BE49-F238E27FC236}">
                  <a16:creationId xmlns:a16="http://schemas.microsoft.com/office/drawing/2014/main" id="{65FC5BA7-8EA7-4A3F-B5B7-8BD015C5BDD7}"/>
                </a:ext>
              </a:extLst>
            </p:cNvPr>
            <p:cNvPicPr/>
            <p:nvPr/>
          </p:nvPicPr>
          <p:blipFill>
            <a:blip r:embed="rId9">
              <a:extLst>
                <a:ext uri="{28A0092B-C50C-407E-A947-70E740481C1C}">
                  <a14:useLocalDpi xmlns:a14="http://schemas.microsoft.com/office/drawing/2010/main" val="0"/>
                </a:ext>
              </a:extLst>
            </a:blip>
            <a:stretch>
              <a:fillRect/>
            </a:stretch>
          </p:blipFill>
          <p:spPr>
            <a:xfrm>
              <a:off x="7462480" y="1664897"/>
              <a:ext cx="1131574" cy="1819827"/>
            </a:xfrm>
            <a:prstGeom prst="rect">
              <a:avLst/>
            </a:prstGeom>
          </p:spPr>
        </p:pic>
        <p:sp>
          <p:nvSpPr>
            <p:cNvPr id="18" name="矩形 17">
              <a:extLst>
                <a:ext uri="{FF2B5EF4-FFF2-40B4-BE49-F238E27FC236}">
                  <a16:creationId xmlns:a16="http://schemas.microsoft.com/office/drawing/2014/main" id="{A74AC3DC-9F2B-43F7-98E2-949706B09CC1}"/>
                </a:ext>
              </a:extLst>
            </p:cNvPr>
            <p:cNvSpPr/>
            <p:nvPr/>
          </p:nvSpPr>
          <p:spPr>
            <a:xfrm>
              <a:off x="641332" y="1207798"/>
              <a:ext cx="2467342" cy="369332"/>
            </a:xfrm>
            <a:prstGeom prst="rect">
              <a:avLst/>
            </a:prstGeom>
          </p:spPr>
          <p:txBody>
            <a:bodyPr wrap="none">
              <a:spAutoFit/>
            </a:bodyPr>
            <a:lstStyle/>
            <a:p>
              <a:pPr marL="285750" indent="-285750">
                <a:buFont typeface="Wingdings" panose="05000000000000000000" pitchFamily="2" charset="2"/>
                <a:buChar char="Ø"/>
              </a:pPr>
              <a:r>
                <a:rPr lang="en-HK" sz="1476" dirty="0">
                  <a:latin typeface="Times New Roman" panose="02020603050405020304" pitchFamily="18" charset="0"/>
                  <a:ea typeface="SimSun"/>
                  <a:cs typeface="Times New Roman" panose="02020603050405020304" pitchFamily="18" charset="0"/>
                </a:rPr>
                <a:t>Conventional scheme</a:t>
              </a:r>
            </a:p>
          </p:txBody>
        </p:sp>
        <p:sp>
          <p:nvSpPr>
            <p:cNvPr id="16" name="矩形 15">
              <a:extLst>
                <a:ext uri="{FF2B5EF4-FFF2-40B4-BE49-F238E27FC236}">
                  <a16:creationId xmlns:a16="http://schemas.microsoft.com/office/drawing/2014/main" id="{A8B8747B-5344-484F-B7BF-75DF52EF940E}"/>
                </a:ext>
              </a:extLst>
            </p:cNvPr>
            <p:cNvSpPr/>
            <p:nvPr/>
          </p:nvSpPr>
          <p:spPr>
            <a:xfrm>
              <a:off x="6096000" y="1295565"/>
              <a:ext cx="2198038" cy="369332"/>
            </a:xfrm>
            <a:prstGeom prst="rect">
              <a:avLst/>
            </a:prstGeom>
          </p:spPr>
          <p:txBody>
            <a:bodyPr wrap="none">
              <a:spAutoFit/>
            </a:bodyPr>
            <a:lstStyle/>
            <a:p>
              <a:pPr marL="285750" indent="-285750">
                <a:buFont typeface="Wingdings" panose="05000000000000000000" pitchFamily="2" charset="2"/>
                <a:buChar char="Ø"/>
              </a:pPr>
              <a:r>
                <a:rPr lang="en-HK" sz="1476" dirty="0">
                  <a:latin typeface="Times New Roman" panose="02020603050405020304" pitchFamily="18" charset="0"/>
                  <a:ea typeface="SimSun"/>
                  <a:cs typeface="Times New Roman" panose="02020603050405020304" pitchFamily="18" charset="0"/>
                </a:rPr>
                <a:t>Optimized scheme</a:t>
              </a:r>
            </a:p>
          </p:txBody>
        </p:sp>
        <p:sp>
          <p:nvSpPr>
            <p:cNvPr id="2" name="矩形 1">
              <a:extLst>
                <a:ext uri="{FF2B5EF4-FFF2-40B4-BE49-F238E27FC236}">
                  <a16:creationId xmlns:a16="http://schemas.microsoft.com/office/drawing/2014/main" id="{5B33E2A0-09B8-440D-B282-27A219213BC8}"/>
                </a:ext>
              </a:extLst>
            </p:cNvPr>
            <p:cNvSpPr/>
            <p:nvPr/>
          </p:nvSpPr>
          <p:spPr>
            <a:xfrm>
              <a:off x="1741395" y="5590329"/>
              <a:ext cx="9174717" cy="1156086"/>
            </a:xfrm>
            <a:prstGeom prst="rect">
              <a:avLst/>
            </a:prstGeom>
          </p:spPr>
          <p:txBody>
            <a:bodyPr wrap="square">
              <a:spAutoFit/>
            </a:bodyPr>
            <a:lstStyle/>
            <a:p>
              <a:pPr marL="285750" indent="-285750">
                <a:lnSpc>
                  <a:spcPct val="150000"/>
                </a:lnSpc>
                <a:buFont typeface="Arial" panose="020B0604020202020204" pitchFamily="34" charset="0"/>
                <a:buChar char="•"/>
              </a:pPr>
              <a:r>
                <a:rPr lang="en-HK" sz="1312" spc="-5" dirty="0">
                  <a:latin typeface="Times New Roman" panose="02020603050405020304" pitchFamily="18" charset="0"/>
                  <a:ea typeface="SimSun" panose="02010600030101010101" pitchFamily="2" charset="-122"/>
                  <a:cs typeface="Times New Roman" panose="02020603050405020304" pitchFamily="18" charset="0"/>
                </a:rPr>
                <a:t>The water film coverage ratio of conventional and optimized schemes are </a:t>
              </a:r>
              <a:r>
                <a:rPr lang="en-HK" sz="1312" b="1" spc="-5"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0.72 and 0.91</a:t>
              </a:r>
              <a:r>
                <a:rPr lang="en-HK" sz="1312" spc="-5"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lnSpc>
                  <a:spcPct val="150000"/>
                </a:lnSpc>
                <a:buFont typeface="Arial" panose="020B0604020202020204" pitchFamily="34" charset="0"/>
                <a:buChar char="•"/>
              </a:pPr>
              <a:r>
                <a:rPr lang="en-HK" sz="1312"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Most rapid temperature drop </a:t>
              </a:r>
              <a:r>
                <a:rPr lang="en-HK" sz="1312" spc="-5" dirty="0">
                  <a:latin typeface="Times New Roman" panose="02020603050405020304" pitchFamily="18" charset="0"/>
                  <a:ea typeface="SimSun" panose="02010600030101010101" pitchFamily="2" charset="-122"/>
                  <a:cs typeface="Times New Roman" panose="02020603050405020304" pitchFamily="18" charset="0"/>
                </a:rPr>
                <a:t>at the </a:t>
              </a:r>
              <a:r>
                <a:rPr lang="en-HK" sz="1312"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top</a:t>
              </a:r>
              <a:r>
                <a:rPr lang="en-HK" sz="1312" b="1" spc="-5" dirty="0">
                  <a:latin typeface="Times New Roman" panose="02020603050405020304" pitchFamily="18" charset="0"/>
                  <a:ea typeface="SimSun" panose="02010600030101010101" pitchFamily="2" charset="-122"/>
                  <a:cs typeface="Times New Roman" panose="02020603050405020304" pitchFamily="18" charset="0"/>
                </a:rPr>
                <a:t> </a:t>
              </a:r>
              <a:r>
                <a:rPr lang="en-HK" sz="1312" spc="-5" dirty="0">
                  <a:latin typeface="Times New Roman" panose="02020603050405020304" pitchFamily="18" charset="0"/>
                  <a:ea typeface="SimSun" panose="02010600030101010101" pitchFamily="2" charset="-122"/>
                  <a:cs typeface="Times New Roman" panose="02020603050405020304" pitchFamily="18" charset="0"/>
                </a:rPr>
                <a:t>of the heat exchanger plate, due to the </a:t>
              </a:r>
              <a:r>
                <a:rPr lang="en-HK" sz="1312"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widest area </a:t>
              </a:r>
              <a:r>
                <a:rPr lang="en-HK" sz="1312" spc="-5" dirty="0">
                  <a:latin typeface="Times New Roman" panose="02020603050405020304" pitchFamily="18" charset="0"/>
                  <a:ea typeface="SimSun" panose="02010600030101010101" pitchFamily="2" charset="-122"/>
                  <a:cs typeface="Times New Roman" panose="02020603050405020304" pitchFamily="18" charset="0"/>
                </a:rPr>
                <a:t>covered by the water film and the </a:t>
              </a:r>
              <a:r>
                <a:rPr lang="en-HK" sz="1312" b="1" spc="-5" dirty="0">
                  <a:solidFill>
                    <a:srgbClr val="A60626"/>
                  </a:solidFill>
                  <a:latin typeface="Times New Roman" panose="02020603050405020304" pitchFamily="18" charset="0"/>
                  <a:ea typeface="SimSun" panose="02010600030101010101" pitchFamily="2" charset="-122"/>
                  <a:cs typeface="Times New Roman" panose="02020603050405020304" pitchFamily="18" charset="0"/>
                </a:rPr>
                <a:t>longest contact </a:t>
              </a:r>
              <a:r>
                <a:rPr lang="en-HK" sz="1312" spc="-5" dirty="0">
                  <a:latin typeface="Times New Roman" panose="02020603050405020304" pitchFamily="18" charset="0"/>
                  <a:ea typeface="SimSun" panose="02010600030101010101" pitchFamily="2" charset="-122"/>
                  <a:cs typeface="Times New Roman" panose="02020603050405020304" pitchFamily="18" charset="0"/>
                </a:rPr>
                <a:t>between airflow and water flow.</a:t>
              </a:r>
            </a:p>
          </p:txBody>
        </p:sp>
        <p:sp>
          <p:nvSpPr>
            <p:cNvPr id="19" name="矩形 18">
              <a:extLst>
                <a:ext uri="{FF2B5EF4-FFF2-40B4-BE49-F238E27FC236}">
                  <a16:creationId xmlns:a16="http://schemas.microsoft.com/office/drawing/2014/main" id="{E91ED908-327F-411E-92B5-A2C06380999B}"/>
                </a:ext>
              </a:extLst>
            </p:cNvPr>
            <p:cNvSpPr/>
            <p:nvPr/>
          </p:nvSpPr>
          <p:spPr>
            <a:xfrm>
              <a:off x="4042294" y="2325758"/>
              <a:ext cx="1935145" cy="369332"/>
            </a:xfrm>
            <a:prstGeom prst="rect">
              <a:avLst/>
            </a:prstGeom>
          </p:spPr>
          <p:txBody>
            <a:bodyPr wrap="none">
              <a:spAutoFit/>
            </a:bodyPr>
            <a:lstStyle/>
            <a:p>
              <a:r>
                <a:rPr lang="en-HK" sz="1476" i="1" dirty="0">
                  <a:latin typeface="Times New Roman" panose="02020603050405020304" pitchFamily="18" charset="0"/>
                  <a:ea typeface="SimSun"/>
                  <a:cs typeface="Times New Roman" panose="02020603050405020304" pitchFamily="18" charset="0"/>
                </a:rPr>
                <a:t>Linear distribution</a:t>
              </a:r>
            </a:p>
          </p:txBody>
        </p:sp>
        <p:sp>
          <p:nvSpPr>
            <p:cNvPr id="20" name="矩形 19">
              <a:extLst>
                <a:ext uri="{FF2B5EF4-FFF2-40B4-BE49-F238E27FC236}">
                  <a16:creationId xmlns:a16="http://schemas.microsoft.com/office/drawing/2014/main" id="{11174C3C-BA96-4A70-8728-796B8DDDE957}"/>
                </a:ext>
              </a:extLst>
            </p:cNvPr>
            <p:cNvSpPr/>
            <p:nvPr/>
          </p:nvSpPr>
          <p:spPr>
            <a:xfrm>
              <a:off x="8644412" y="2325758"/>
              <a:ext cx="2319930" cy="369332"/>
            </a:xfrm>
            <a:prstGeom prst="rect">
              <a:avLst/>
            </a:prstGeom>
          </p:spPr>
          <p:txBody>
            <a:bodyPr wrap="none">
              <a:spAutoFit/>
            </a:bodyPr>
            <a:lstStyle/>
            <a:p>
              <a:r>
                <a:rPr lang="en-HK" sz="1476" i="1" dirty="0">
                  <a:latin typeface="Times New Roman" panose="02020603050405020304" pitchFamily="18" charset="0"/>
                  <a:ea typeface="SimSun"/>
                  <a:cs typeface="Times New Roman" panose="02020603050405020304" pitchFamily="18" charset="0"/>
                </a:rPr>
                <a:t>Triangular distribution</a:t>
              </a:r>
            </a:p>
          </p:txBody>
        </p:sp>
        <p:sp>
          <p:nvSpPr>
            <p:cNvPr id="21" name="矩形 20">
              <a:extLst>
                <a:ext uri="{FF2B5EF4-FFF2-40B4-BE49-F238E27FC236}">
                  <a16:creationId xmlns:a16="http://schemas.microsoft.com/office/drawing/2014/main" id="{3BDACAE8-8823-4B7E-A0F2-913AECAC5B5C}"/>
                </a:ext>
              </a:extLst>
            </p:cNvPr>
            <p:cNvSpPr/>
            <p:nvPr/>
          </p:nvSpPr>
          <p:spPr>
            <a:xfrm>
              <a:off x="3852349" y="5349700"/>
              <a:ext cx="4792063" cy="276999"/>
            </a:xfrm>
            <a:prstGeom prst="rect">
              <a:avLst/>
            </a:prstGeom>
          </p:spPr>
          <p:txBody>
            <a:bodyPr wrap="square">
              <a:spAutoFit/>
            </a:bodyPr>
            <a:lstStyle/>
            <a:p>
              <a:r>
                <a:rPr lang="en-HK" sz="984" b="1" dirty="0">
                  <a:latin typeface="Times New Roman" panose="02020603050405020304" pitchFamily="18" charset="0"/>
                  <a:ea typeface="SimSun"/>
                  <a:cs typeface="Times New Roman" panose="02020603050405020304" pitchFamily="18" charset="0"/>
                </a:rPr>
                <a:t>Fig. 4.5.5 </a:t>
              </a:r>
              <a:r>
                <a:rPr lang="en-HK" sz="984" dirty="0">
                  <a:latin typeface="Times New Roman" panose="02020603050405020304" pitchFamily="18" charset="0"/>
                  <a:ea typeface="SimSun"/>
                  <a:cs typeface="Times New Roman" panose="02020603050405020304" pitchFamily="18" charset="0"/>
                </a:rPr>
                <a:t>Comparison between conventional and optimized schemes</a:t>
              </a:r>
            </a:p>
          </p:txBody>
        </p:sp>
        <p:sp>
          <p:nvSpPr>
            <p:cNvPr id="22" name="文本框 21">
              <a:extLst>
                <a:ext uri="{FF2B5EF4-FFF2-40B4-BE49-F238E27FC236}">
                  <a16:creationId xmlns:a16="http://schemas.microsoft.com/office/drawing/2014/main" id="{29965701-47A6-402A-8B35-2C83BD3BCCE3}"/>
                </a:ext>
              </a:extLst>
            </p:cNvPr>
            <p:cNvSpPr txBox="1"/>
            <p:nvPr/>
          </p:nvSpPr>
          <p:spPr>
            <a:xfrm>
              <a:off x="362620" y="902131"/>
              <a:ext cx="5178490"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4.5.3 </a:t>
              </a:r>
              <a:r>
                <a:rPr lang="en-HK" sz="1476" dirty="0">
                  <a:latin typeface="Times New Roman" panose="02020603050405020304" pitchFamily="18" charset="0"/>
                  <a:ea typeface="SimSun"/>
                  <a:cs typeface="Times New Roman" panose="02020603050405020304" pitchFamily="18" charset="0"/>
                </a:rPr>
                <a:t>Influence on IEC performance</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grpSp>
      <p:sp>
        <p:nvSpPr>
          <p:cNvPr id="27"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中文要点｜常规与优化方案对比</a:t>
            </a:r>
          </a:p>
          <a:p>
            <a:pPr>
              <a:lnSpc>
                <a:spcPct val="108000"/>
              </a:lnSpc>
              <a:spcAft>
                <a:spcPts val="0"/>
              </a:spcAft>
            </a:pPr>
            <a:r>
              <a:rPr sz="1400" b="0">
                <a:solidFill>
                  <a:srgbClr val="282828"/>
                </a:solidFill>
                <a:latin typeface="Times New Roman"/>
                <a:ea typeface="SimSun"/>
                <a:cs typeface="Times New Roman"/>
              </a:rPr>
              <a:t>优化后水膜覆盖率由 </a:t>
            </a:r>
            <a:r>
              <a:rPr sz="1400" b="1">
                <a:solidFill>
                  <a:srgbClr val="282828"/>
                </a:solidFill>
                <a:latin typeface="Times New Roman"/>
                <a:ea typeface="SimSun"/>
                <a:cs typeface="Times New Roman"/>
              </a:rPr>
              <a:t>0.72</a:t>
            </a:r>
            <a:r>
              <a:rPr sz="1400" b="0">
                <a:solidFill>
                  <a:srgbClr val="282828"/>
                </a:solidFill>
                <a:latin typeface="Times New Roman"/>
                <a:ea typeface="SimSun"/>
                <a:cs typeface="Times New Roman"/>
              </a:rPr>
              <a:t> 提高至 </a:t>
            </a:r>
            <a:r>
              <a:rPr sz="1400" b="1">
                <a:solidFill>
                  <a:srgbClr val="282828"/>
                </a:solidFill>
                <a:latin typeface="Times New Roman"/>
                <a:ea typeface="SimSun"/>
                <a:cs typeface="Times New Roman"/>
              </a:rPr>
              <a:t>0.91</a:t>
            </a:r>
            <a:r>
              <a:rPr sz="1400" b="0">
                <a:solidFill>
                  <a:srgbClr val="282828"/>
                </a:solidFill>
                <a:latin typeface="Times New Roman"/>
                <a:ea typeface="SimSun"/>
                <a:cs typeface="Times New Roman"/>
              </a:rPr>
              <a:t>；板面顶部因水膜覆盖充分、气水接触时间长，降温更快。</a:t>
            </a:r>
          </a:p>
        </p:txBody>
      </p:sp>
    </p:spTree>
    <p:extLst>
      <p:ext uri="{BB962C8B-B14F-4D97-AF65-F5344CB8AC3E}">
        <p14:creationId xmlns:p14="http://schemas.microsoft.com/office/powerpoint/2010/main" val="301780901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E383EE9A-9F5E-4063-9C6A-55A5668043D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5" name="灯片编号占位符 4">
            <a:extLst>
              <a:ext uri="{FF2B5EF4-FFF2-40B4-BE49-F238E27FC236}">
                <a16:creationId xmlns:a16="http://schemas.microsoft.com/office/drawing/2014/main" id="{1A8E8B63-ED7B-49DA-BCD4-B3CED501176E}"/>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35</a:t>
            </a:fld>
            <a:endParaRPr lang="en-US" altLang="zh-CN">
              <a:latin typeface="Times New Roman"/>
              <a:ea typeface="SimSun"/>
              <a:cs typeface="Times New Roman"/>
            </a:endParaRPr>
          </a:p>
        </p:txBody>
      </p:sp>
      <p:sp>
        <p:nvSpPr>
          <p:cNvPr id="21" name="矩形 3">
            <a:extLst>
              <a:ext uri="{FF2B5EF4-FFF2-40B4-BE49-F238E27FC236}">
                <a16:creationId xmlns:a16="http://schemas.microsoft.com/office/drawing/2014/main" id="{5EEDE306-6F4C-46C3-BFEC-D9681CDA853F}"/>
              </a:ext>
            </a:extLst>
          </p:cNvPr>
          <p:cNvSpPr>
            <a:spLocks noChangeArrowheads="1"/>
          </p:cNvSpPr>
          <p:nvPr/>
        </p:nvSpPr>
        <p:spPr bwMode="auto">
          <a:xfrm>
            <a:off x="923879" y="-47372"/>
            <a:ext cx="9807621"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b="1" dirty="0">
                <a:latin typeface="Times New Roman" panose="02020603050405020304" pitchFamily="18" charset="0"/>
                <a:ea typeface="SimSun" panose="020B0600070205080204" pitchFamily="34" charset="-128"/>
                <a:cs typeface="Times New Roman" panose="02020603050405020304" pitchFamily="18" charset="0"/>
              </a:rPr>
              <a:t>4. </a:t>
            </a:r>
            <a:r>
              <a:rPr lang="en-HK" altLang="zh-CN" b="1" dirty="0">
                <a:latin typeface="Times New Roman" panose="02020603050405020304" pitchFamily="18" charset="0"/>
                <a:ea typeface="SimSun" panose="020B0600070205080204" pitchFamily="34" charset="-128"/>
                <a:cs typeface="Times New Roman" panose="02020603050405020304" pitchFamily="18" charset="0"/>
              </a:rPr>
              <a:t>Development of CFD model for IEC considering water film formation with spray parameter analysis</a:t>
            </a:r>
          </a:p>
        </p:txBody>
      </p:sp>
      <p:sp>
        <p:nvSpPr>
          <p:cNvPr id="26" name="Rectangle 879">
            <a:extLst>
              <a:ext uri="{FF2B5EF4-FFF2-40B4-BE49-F238E27FC236}">
                <a16:creationId xmlns:a16="http://schemas.microsoft.com/office/drawing/2014/main" id="{AB08D2DC-0635-4041-B9A8-7217A7DF6A7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 name="Rectangle 1079">
            <a:extLst>
              <a:ext uri="{FF2B5EF4-FFF2-40B4-BE49-F238E27FC236}">
                <a16:creationId xmlns:a16="http://schemas.microsoft.com/office/drawing/2014/main" id="{BE0E741D-A968-46DC-9535-DF2080AA52F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11" name="Rectangle 1081">
            <a:extLst>
              <a:ext uri="{FF2B5EF4-FFF2-40B4-BE49-F238E27FC236}">
                <a16:creationId xmlns:a16="http://schemas.microsoft.com/office/drawing/2014/main" id="{15E54F06-932A-4A33-B649-B41A3CD162A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pSp>
        <p:nvGrpSpPr>
          <p:cNvPr id="29" name="Original English content (proportional layout)"/>
          <p:cNvGrpSpPr/>
          <p:nvPr/>
        </p:nvGrpSpPr>
        <p:grpSpPr>
          <a:xfrm>
            <a:off x="1097280" y="731520"/>
            <a:ext cx="9997440" cy="5023714"/>
            <a:chOff x="0" y="731520"/>
            <a:chExt cx="12192000" cy="6126480"/>
          </a:xfrm>
        </p:grpSpPr>
        <p:sp>
          <p:nvSpPr>
            <p:cNvPr id="6" name="文本框 5">
              <a:extLst>
                <a:ext uri="{FF2B5EF4-FFF2-40B4-BE49-F238E27FC236}">
                  <a16:creationId xmlns:a16="http://schemas.microsoft.com/office/drawing/2014/main" id="{F6BAE11D-DDD9-49A8-9F15-F7CEFF37EE05}"/>
                </a:ext>
              </a:extLst>
            </p:cNvPr>
            <p:cNvSpPr txBox="1"/>
            <p:nvPr/>
          </p:nvSpPr>
          <p:spPr>
            <a:xfrm>
              <a:off x="361044" y="964260"/>
              <a:ext cx="6428532"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4.5.4 </a:t>
              </a:r>
              <a:r>
                <a:rPr lang="en-HK" altLang="zh-CN" sz="1476"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The effect of inlet parameter of primary air and</a:t>
              </a:r>
              <a:r>
                <a:rPr lang="zh-CN" altLang="en-US" sz="1476"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r>
                <a:rPr lang="en-HK" altLang="zh-CN" sz="1476"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secondary</a:t>
              </a:r>
              <a:r>
                <a:rPr lang="zh-CN" altLang="en-US" sz="1476"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 </a:t>
              </a:r>
              <a:r>
                <a:rPr lang="en-HK" altLang="zh-CN" sz="1476"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air</a:t>
              </a:r>
              <a:endParaRPr lang="en-HK" sz="1476" dirty="0">
                <a:solidFill>
                  <a:prstClr val="black"/>
                </a:solidFill>
                <a:latin typeface="Times New Roman" panose="02020603050405020304" pitchFamily="18" charset="0"/>
                <a:ea typeface="SimSun"/>
                <a:cs typeface="Times New Roman" panose="02020603050405020304" pitchFamily="18" charset="0"/>
              </a:endParaRPr>
            </a:p>
          </p:txBody>
        </p:sp>
        <p:pic>
          <p:nvPicPr>
            <p:cNvPr id="13" name="图片 12">
              <a:extLst>
                <a:ext uri="{FF2B5EF4-FFF2-40B4-BE49-F238E27FC236}">
                  <a16:creationId xmlns:a16="http://schemas.microsoft.com/office/drawing/2014/main" id="{4F42FD25-23FF-473E-BC8E-550852925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384" y="4491509"/>
              <a:ext cx="403860" cy="396240"/>
            </a:xfrm>
            <a:prstGeom prst="rect">
              <a:avLst/>
            </a:prstGeom>
          </p:spPr>
        </p:pic>
        <p:pic>
          <p:nvPicPr>
            <p:cNvPr id="14" name="图片 13">
              <a:extLst>
                <a:ext uri="{FF2B5EF4-FFF2-40B4-BE49-F238E27FC236}">
                  <a16:creationId xmlns:a16="http://schemas.microsoft.com/office/drawing/2014/main" id="{995D16E1-70DB-46F2-9239-1ADC3F96D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4070" y="4583725"/>
              <a:ext cx="403860" cy="396240"/>
            </a:xfrm>
            <a:prstGeom prst="rect">
              <a:avLst/>
            </a:prstGeom>
          </p:spPr>
        </p:pic>
        <p:sp>
          <p:nvSpPr>
            <p:cNvPr id="10" name="Rectangle 8">
              <a:extLst>
                <a:ext uri="{FF2B5EF4-FFF2-40B4-BE49-F238E27FC236}">
                  <a16:creationId xmlns:a16="http://schemas.microsoft.com/office/drawing/2014/main" id="{721AF35C-FCC9-4383-9531-785F4363FA83}"/>
                </a:ext>
              </a:extLst>
            </p:cNvPr>
            <p:cNvSpPr>
              <a:spLocks noChangeArrowheads="1"/>
            </p:cNvSpPr>
            <p:nvPr/>
          </p:nvSpPr>
          <p:spPr bwMode="auto">
            <a:xfrm>
              <a:off x="5163491" y="106750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HK">
                <a:latin typeface="Times New Roman"/>
                <a:ea typeface="SimSun"/>
                <a:cs typeface="Times New Roman"/>
              </a:endParaRPr>
            </a:p>
          </p:txBody>
        </p:sp>
        <p:sp>
          <p:nvSpPr>
            <p:cNvPr id="19" name="矩形 18">
              <a:extLst>
                <a:ext uri="{FF2B5EF4-FFF2-40B4-BE49-F238E27FC236}">
                  <a16:creationId xmlns:a16="http://schemas.microsoft.com/office/drawing/2014/main" id="{DC6732B8-9EC7-4041-91EA-67C615BDFF42}"/>
                </a:ext>
              </a:extLst>
            </p:cNvPr>
            <p:cNvSpPr/>
            <p:nvPr/>
          </p:nvSpPr>
          <p:spPr>
            <a:xfrm>
              <a:off x="821936" y="1275350"/>
              <a:ext cx="3082895" cy="338554"/>
            </a:xfrm>
            <a:prstGeom prst="rect">
              <a:avLst/>
            </a:prstGeom>
          </p:spPr>
          <p:txBody>
            <a:bodyPr wrap="none">
              <a:spAutoFit/>
            </a:bodyPr>
            <a:lstStyle/>
            <a:p>
              <a:pPr marL="285750" indent="-285750">
                <a:buFont typeface="Wingdings" panose="05000000000000000000" pitchFamily="2" charset="2"/>
                <a:buChar char="Ø"/>
              </a:pPr>
              <a:r>
                <a:rPr lang="en-HK" sz="1312" dirty="0">
                  <a:latin typeface="Times New Roman" panose="02020603050405020304" pitchFamily="18" charset="0"/>
                  <a:ea typeface="SimSun"/>
                  <a:cs typeface="Times New Roman" panose="02020603050405020304" pitchFamily="18" charset="0"/>
                </a:rPr>
                <a:t>Inlet temperature of primary air</a:t>
              </a:r>
            </a:p>
          </p:txBody>
        </p:sp>
        <p:sp>
          <p:nvSpPr>
            <p:cNvPr id="20" name="矩形 19">
              <a:extLst>
                <a:ext uri="{FF2B5EF4-FFF2-40B4-BE49-F238E27FC236}">
                  <a16:creationId xmlns:a16="http://schemas.microsoft.com/office/drawing/2014/main" id="{4169E0B4-7139-4227-B383-6C23FE34FF2F}"/>
                </a:ext>
              </a:extLst>
            </p:cNvPr>
            <p:cNvSpPr/>
            <p:nvPr/>
          </p:nvSpPr>
          <p:spPr>
            <a:xfrm>
              <a:off x="831018" y="3816559"/>
              <a:ext cx="2943434" cy="338554"/>
            </a:xfrm>
            <a:prstGeom prst="rect">
              <a:avLst/>
            </a:prstGeom>
          </p:spPr>
          <p:txBody>
            <a:bodyPr wrap="none">
              <a:spAutoFit/>
            </a:bodyPr>
            <a:lstStyle/>
            <a:p>
              <a:pPr marL="285750" indent="-285750">
                <a:buFont typeface="Wingdings" panose="05000000000000000000" pitchFamily="2" charset="2"/>
                <a:buChar char="Ø"/>
              </a:pPr>
              <a:r>
                <a:rPr lang="en-HK" sz="1312" dirty="0">
                  <a:latin typeface="Times New Roman" panose="02020603050405020304" pitchFamily="18" charset="0"/>
                  <a:ea typeface="SimSun"/>
                  <a:cs typeface="Times New Roman" panose="02020603050405020304" pitchFamily="18" charset="0"/>
                </a:rPr>
                <a:t>Inlet velocity of </a:t>
              </a:r>
              <a:r>
                <a:rPr lang="en-US" altLang="zh-CN" sz="1312" dirty="0">
                  <a:latin typeface="Times New Roman" panose="02020603050405020304" pitchFamily="18" charset="0"/>
                  <a:ea typeface="SimSun"/>
                  <a:cs typeface="Times New Roman" panose="02020603050405020304" pitchFamily="18" charset="0"/>
                </a:rPr>
                <a:t>secondary</a:t>
              </a:r>
              <a:r>
                <a:rPr lang="en-HK" sz="1312" dirty="0">
                  <a:latin typeface="Times New Roman" panose="02020603050405020304" pitchFamily="18" charset="0"/>
                  <a:ea typeface="SimSun"/>
                  <a:cs typeface="Times New Roman" panose="02020603050405020304" pitchFamily="18" charset="0"/>
                </a:rPr>
                <a:t> air</a:t>
              </a:r>
            </a:p>
          </p:txBody>
        </p:sp>
        <p:sp>
          <p:nvSpPr>
            <p:cNvPr id="16" name="矩形 15">
              <a:extLst>
                <a:ext uri="{FF2B5EF4-FFF2-40B4-BE49-F238E27FC236}">
                  <a16:creationId xmlns:a16="http://schemas.microsoft.com/office/drawing/2014/main" id="{F9E8679B-C5F0-4F0B-864D-3FF5F15D3789}"/>
                </a:ext>
              </a:extLst>
            </p:cNvPr>
            <p:cNvSpPr/>
            <p:nvPr/>
          </p:nvSpPr>
          <p:spPr>
            <a:xfrm>
              <a:off x="8496894" y="2229405"/>
              <a:ext cx="2981691" cy="1155829"/>
            </a:xfrm>
            <a:prstGeom prst="rect">
              <a:avLst/>
            </a:prstGeom>
          </p:spPr>
          <p:txBody>
            <a:bodyPr wrap="square">
              <a:spAutoFit/>
            </a:bodyPr>
            <a:lstStyle/>
            <a:p>
              <a:pPr marL="285750" indent="-285750">
                <a:lnSpc>
                  <a:spcPct val="150000"/>
                </a:lnSpc>
                <a:spcAft>
                  <a:spcPts val="492"/>
                </a:spcAft>
                <a:buFont typeface="Arial" panose="020B0604020202020204" pitchFamily="34" charset="0"/>
                <a:buChar char="•"/>
              </a:pPr>
              <a:r>
                <a:rPr lang="en-HK" sz="1312" dirty="0">
                  <a:latin typeface="Times New Roman" panose="02020603050405020304" pitchFamily="18" charset="0"/>
                  <a:ea typeface="SimSun"/>
                  <a:cs typeface="Times New Roman" panose="02020603050405020304" pitchFamily="18" charset="0"/>
                </a:rPr>
                <a:t>An inlet air temperature of</a:t>
              </a:r>
              <a:r>
                <a:rPr lang="en-HK" sz="1312" dirty="0">
                  <a:solidFill>
                    <a:srgbClr val="A60626"/>
                  </a:solidFill>
                  <a:latin typeface="Times New Roman" panose="02020603050405020304" pitchFamily="18" charset="0"/>
                  <a:ea typeface="SimSun"/>
                  <a:cs typeface="Times New Roman" panose="02020603050405020304" pitchFamily="18" charset="0"/>
                </a:rPr>
                <a:t> 32°C, </a:t>
              </a:r>
              <a:r>
                <a:rPr lang="en-HK" sz="1312" dirty="0">
                  <a:latin typeface="Times New Roman" panose="02020603050405020304" pitchFamily="18" charset="0"/>
                  <a:ea typeface="SimSun"/>
                  <a:cs typeface="Times New Roman" panose="02020603050405020304" pitchFamily="18" charset="0"/>
                </a:rPr>
                <a:t>with increases of </a:t>
              </a:r>
              <a:r>
                <a:rPr lang="en-HK" sz="1312" dirty="0">
                  <a:solidFill>
                    <a:srgbClr val="A60626"/>
                  </a:solidFill>
                  <a:latin typeface="Times New Roman" panose="02020603050405020304" pitchFamily="18" charset="0"/>
                  <a:ea typeface="SimSun"/>
                  <a:cs typeface="Times New Roman" panose="02020603050405020304" pitchFamily="18" charset="0"/>
                </a:rPr>
                <a:t>15.1% and 17.6% </a:t>
              </a:r>
              <a:r>
                <a:rPr lang="en-HK" sz="1312" dirty="0">
                  <a:latin typeface="Times New Roman" panose="02020603050405020304" pitchFamily="18" charset="0"/>
                  <a:ea typeface="SimSun"/>
                  <a:cs typeface="Times New Roman" panose="02020603050405020304" pitchFamily="18" charset="0"/>
                </a:rPr>
                <a:t>for</a:t>
              </a:r>
              <a:r>
                <a:rPr lang="en-HK" sz="1312" dirty="0">
                  <a:solidFill>
                    <a:srgbClr val="A60626"/>
                  </a:solidFill>
                  <a:latin typeface="Times New Roman" panose="02020603050405020304" pitchFamily="18" charset="0"/>
                  <a:ea typeface="SimSun"/>
                  <a:cs typeface="Times New Roman" panose="02020603050405020304" pitchFamily="18" charset="0"/>
                </a:rPr>
                <a:t> 𝜀𝑤 and COP.</a:t>
              </a:r>
            </a:p>
          </p:txBody>
        </p:sp>
        <p:graphicFrame>
          <p:nvGraphicFramePr>
            <p:cNvPr id="22" name="对象 21">
              <a:extLst>
                <a:ext uri="{FF2B5EF4-FFF2-40B4-BE49-F238E27FC236}">
                  <a16:creationId xmlns:a16="http://schemas.microsoft.com/office/drawing/2014/main" id="{A1F86B66-287F-40B1-8A5B-24DB2C4E9DEF}"/>
                </a:ext>
              </a:extLst>
            </p:cNvPr>
            <p:cNvGraphicFramePr>
              <a:graphicFrameLocks noChangeAspect="1"/>
            </p:cNvGraphicFramePr>
            <p:nvPr>
              <p:extLst>
                <p:ext uri="{D42A27DB-BD31-4B8C-83A1-F6EECF244321}">
                  <p14:modId xmlns:p14="http://schemas.microsoft.com/office/powerpoint/2010/main" val="3507581767"/>
                </p:ext>
              </p:extLst>
            </p:nvPr>
          </p:nvGraphicFramePr>
          <p:xfrm>
            <a:off x="2003535" y="1532281"/>
            <a:ext cx="2858475" cy="2436679"/>
          </p:xfrm>
          <a:graphic>
            <a:graphicData uri="http://schemas.openxmlformats.org/presentationml/2006/ole">
              <mc:AlternateContent xmlns:mc="http://schemas.openxmlformats.org/markup-compatibility/2006">
                <mc:Choice xmlns:v="urn:schemas-microsoft-com:vml" Requires="v">
                  <p:oleObj name="Graph" r:id="rId4" imgW="6246376" imgH="5282235" progId="Origin95.Graph">
                    <p:embed/>
                  </p:oleObj>
                </mc:Choice>
                <mc:Fallback>
                  <p:oleObj name="Graph" r:id="rId4" imgW="6246376" imgH="5282235" progId="Origin95.Graph">
                    <p:embed/>
                    <p:pic>
                      <p:nvPicPr>
                        <p:cNvPr id="0" name="Object 8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3535" y="1532281"/>
                          <a:ext cx="2858475" cy="2436679"/>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689F8228-0770-48C2-A443-432F99ABD21D}"/>
                </a:ext>
              </a:extLst>
            </p:cNvPr>
            <p:cNvGraphicFramePr>
              <a:graphicFrameLocks noChangeAspect="1"/>
            </p:cNvGraphicFramePr>
            <p:nvPr>
              <p:extLst>
                <p:ext uri="{D42A27DB-BD31-4B8C-83A1-F6EECF244321}">
                  <p14:modId xmlns:p14="http://schemas.microsoft.com/office/powerpoint/2010/main" val="2332218823"/>
                </p:ext>
              </p:extLst>
            </p:nvPr>
          </p:nvGraphicFramePr>
          <p:xfrm>
            <a:off x="5249983" y="1563693"/>
            <a:ext cx="2790615" cy="2367697"/>
          </p:xfrm>
          <a:graphic>
            <a:graphicData uri="http://schemas.openxmlformats.org/presentationml/2006/ole">
              <mc:AlternateContent xmlns:mc="http://schemas.openxmlformats.org/markup-compatibility/2006">
                <mc:Choice xmlns:v="urn:schemas-microsoft-com:vml" Requires="v">
                  <p:oleObj name="Graph" r:id="rId6" imgW="6246376" imgH="5282235" progId="Origin95.Graph">
                    <p:embed/>
                  </p:oleObj>
                </mc:Choice>
                <mc:Fallback>
                  <p:oleObj name="Graph" r:id="rId6" imgW="6246376" imgH="5282235" progId="Origin95.Graph">
                    <p:embed/>
                    <p:pic>
                      <p:nvPicPr>
                        <p:cNvPr id="0" name="Object 8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9983" y="1563693"/>
                          <a:ext cx="2790615" cy="2367697"/>
                        </a:xfrm>
                        <a:prstGeom prst="rect">
                          <a:avLst/>
                        </a:prstGeom>
                        <a:noFill/>
                      </p:spPr>
                    </p:pic>
                  </p:oleObj>
                </mc:Fallback>
              </mc:AlternateContent>
            </a:graphicData>
          </a:graphic>
        </p:graphicFrame>
        <p:sp>
          <p:nvSpPr>
            <p:cNvPr id="3" name="矩形 2">
              <a:extLst>
                <a:ext uri="{FF2B5EF4-FFF2-40B4-BE49-F238E27FC236}">
                  <a16:creationId xmlns:a16="http://schemas.microsoft.com/office/drawing/2014/main" id="{38A8C48D-5398-4E50-AE8B-953F25FB8D88}"/>
                </a:ext>
              </a:extLst>
            </p:cNvPr>
            <p:cNvSpPr/>
            <p:nvPr/>
          </p:nvSpPr>
          <p:spPr>
            <a:xfrm>
              <a:off x="8496894" y="4887749"/>
              <a:ext cx="2916816" cy="1155829"/>
            </a:xfrm>
            <a:prstGeom prst="rect">
              <a:avLst/>
            </a:prstGeom>
          </p:spPr>
          <p:txBody>
            <a:bodyPr wrap="square">
              <a:spAutoFit/>
            </a:bodyPr>
            <a:lstStyle/>
            <a:p>
              <a:pPr marL="285750" indent="-285750">
                <a:lnSpc>
                  <a:spcPct val="150000"/>
                </a:lnSpc>
                <a:spcAft>
                  <a:spcPts val="492"/>
                </a:spcAft>
                <a:buFont typeface="Arial" panose="020B0604020202020204" pitchFamily="34" charset="0"/>
                <a:buChar char="•"/>
              </a:pPr>
              <a:r>
                <a:rPr lang="en-HK" sz="1312" dirty="0">
                  <a:latin typeface="Times New Roman" panose="02020603050405020304" pitchFamily="18" charset="0"/>
                  <a:ea typeface="SimSun"/>
                  <a:cs typeface="Times New Roman" panose="02020603050405020304" pitchFamily="18" charset="0"/>
                </a:rPr>
                <a:t>An inlet air velocity of </a:t>
              </a:r>
              <a:r>
                <a:rPr lang="en-HK" sz="1312" dirty="0">
                  <a:solidFill>
                    <a:srgbClr val="A60626"/>
                  </a:solidFill>
                  <a:latin typeface="Times New Roman" panose="02020603050405020304" pitchFamily="18" charset="0"/>
                  <a:ea typeface="SimSun"/>
                  <a:cs typeface="Times New Roman" panose="02020603050405020304" pitchFamily="18" charset="0"/>
                </a:rPr>
                <a:t>2 m/s, </a:t>
              </a:r>
              <a:r>
                <a:rPr lang="en-HK" sz="1312" dirty="0">
                  <a:latin typeface="Times New Roman" panose="02020603050405020304" pitchFamily="18" charset="0"/>
                  <a:ea typeface="SimSun"/>
                  <a:cs typeface="Times New Roman" panose="02020603050405020304" pitchFamily="18" charset="0"/>
                </a:rPr>
                <a:t>with increases of </a:t>
              </a:r>
              <a:r>
                <a:rPr lang="en-HK" sz="1312" dirty="0">
                  <a:solidFill>
                    <a:srgbClr val="A60626"/>
                  </a:solidFill>
                  <a:latin typeface="Times New Roman" panose="02020603050405020304" pitchFamily="18" charset="0"/>
                  <a:ea typeface="SimSun"/>
                  <a:cs typeface="Times New Roman" panose="02020603050405020304" pitchFamily="18" charset="0"/>
                </a:rPr>
                <a:t>10.4% and 14.9% </a:t>
              </a:r>
              <a:r>
                <a:rPr lang="en-HK" sz="1312" dirty="0">
                  <a:latin typeface="Times New Roman" panose="02020603050405020304" pitchFamily="18" charset="0"/>
                  <a:ea typeface="SimSun"/>
                  <a:cs typeface="Times New Roman" panose="02020603050405020304" pitchFamily="18" charset="0"/>
                </a:rPr>
                <a:t>for</a:t>
              </a:r>
              <a:r>
                <a:rPr lang="en-HK" sz="1312" dirty="0">
                  <a:solidFill>
                    <a:srgbClr val="A60626"/>
                  </a:solidFill>
                  <a:latin typeface="Times New Roman" panose="02020603050405020304" pitchFamily="18" charset="0"/>
                  <a:ea typeface="SimSun"/>
                  <a:cs typeface="Times New Roman" panose="02020603050405020304" pitchFamily="18" charset="0"/>
                </a:rPr>
                <a:t> 𝜀</a:t>
              </a:r>
              <a:r>
                <a:rPr lang="en-HK" sz="1312" baseline="-25000" dirty="0">
                  <a:solidFill>
                    <a:srgbClr val="A60626"/>
                  </a:solidFill>
                  <a:latin typeface="Times New Roman" panose="02020603050405020304" pitchFamily="18" charset="0"/>
                  <a:ea typeface="SimSun"/>
                  <a:cs typeface="Times New Roman" panose="02020603050405020304" pitchFamily="18" charset="0"/>
                </a:rPr>
                <a:t>𝑤</a:t>
              </a:r>
              <a:r>
                <a:rPr lang="en-HK" sz="1312" dirty="0">
                  <a:solidFill>
                    <a:srgbClr val="A60626"/>
                  </a:solidFill>
                  <a:latin typeface="Times New Roman" panose="02020603050405020304" pitchFamily="18" charset="0"/>
                  <a:ea typeface="SimSun"/>
                  <a:cs typeface="Times New Roman" panose="02020603050405020304" pitchFamily="18" charset="0"/>
                </a:rPr>
                <a:t> and COP.</a:t>
              </a:r>
            </a:p>
          </p:txBody>
        </p:sp>
        <p:sp>
          <p:nvSpPr>
            <p:cNvPr id="7" name="矩形 6">
              <a:extLst>
                <a:ext uri="{FF2B5EF4-FFF2-40B4-BE49-F238E27FC236}">
                  <a16:creationId xmlns:a16="http://schemas.microsoft.com/office/drawing/2014/main" id="{1141538D-DE06-43E7-9DA0-86363CCA35F4}"/>
                </a:ext>
              </a:extLst>
            </p:cNvPr>
            <p:cNvSpPr/>
            <p:nvPr/>
          </p:nvSpPr>
          <p:spPr bwMode="auto">
            <a:xfrm>
              <a:off x="8459822" y="2077149"/>
              <a:ext cx="3144964"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28" name="矩形 27">
              <a:extLst>
                <a:ext uri="{FF2B5EF4-FFF2-40B4-BE49-F238E27FC236}">
                  <a16:creationId xmlns:a16="http://schemas.microsoft.com/office/drawing/2014/main" id="{A1EC48A8-71E7-4156-B12F-D9622D2A4132}"/>
                </a:ext>
              </a:extLst>
            </p:cNvPr>
            <p:cNvSpPr/>
            <p:nvPr/>
          </p:nvSpPr>
          <p:spPr bwMode="auto">
            <a:xfrm>
              <a:off x="8459822" y="4788206"/>
              <a:ext cx="3144964"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aphicFrame>
          <p:nvGraphicFramePr>
            <p:cNvPr id="4" name="对象 3">
              <a:extLst>
                <a:ext uri="{FF2B5EF4-FFF2-40B4-BE49-F238E27FC236}">
                  <a16:creationId xmlns:a16="http://schemas.microsoft.com/office/drawing/2014/main" id="{7DAA5944-DD59-4B6A-8324-DD9DFCA3A571}"/>
                </a:ext>
              </a:extLst>
            </p:cNvPr>
            <p:cNvGraphicFramePr>
              <a:graphicFrameLocks noChangeAspect="1"/>
            </p:cNvGraphicFramePr>
            <p:nvPr>
              <p:extLst>
                <p:ext uri="{D42A27DB-BD31-4B8C-83A1-F6EECF244321}">
                  <p14:modId xmlns:p14="http://schemas.microsoft.com/office/powerpoint/2010/main" val="4157509320"/>
                </p:ext>
              </p:extLst>
            </p:nvPr>
          </p:nvGraphicFramePr>
          <p:xfrm>
            <a:off x="1817634" y="4155113"/>
            <a:ext cx="3124302" cy="2534081"/>
          </p:xfrm>
          <a:graphic>
            <a:graphicData uri="http://schemas.openxmlformats.org/presentationml/2006/ole">
              <mc:AlternateContent xmlns:mc="http://schemas.openxmlformats.org/markup-compatibility/2006">
                <mc:Choice xmlns:v="urn:schemas-microsoft-com:vml" Requires="v">
                  <p:oleObj name="Graph" r:id="rId8" imgW="6523715" imgH="5282235" progId="Origin95.Graph">
                    <p:embed/>
                  </p:oleObj>
                </mc:Choice>
                <mc:Fallback>
                  <p:oleObj name="Graph" r:id="rId8" imgW="6523715" imgH="5282235" progId="Origin95.Graph">
                    <p:embed/>
                    <p:pic>
                      <p:nvPicPr>
                        <p:cNvPr id="0" name="Object 107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7634" y="4155113"/>
                          <a:ext cx="3124302" cy="2534081"/>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E3BC5D3A-D614-4D0A-8774-A375B2028AA1}"/>
                </a:ext>
              </a:extLst>
            </p:cNvPr>
            <p:cNvGraphicFramePr>
              <a:graphicFrameLocks noChangeAspect="1"/>
            </p:cNvGraphicFramePr>
            <p:nvPr>
              <p:extLst>
                <p:ext uri="{D42A27DB-BD31-4B8C-83A1-F6EECF244321}">
                  <p14:modId xmlns:p14="http://schemas.microsoft.com/office/powerpoint/2010/main" val="2143832944"/>
                </p:ext>
              </p:extLst>
            </p:nvPr>
          </p:nvGraphicFramePr>
          <p:xfrm>
            <a:off x="5249983" y="4148516"/>
            <a:ext cx="2980790" cy="2517261"/>
          </p:xfrm>
          <a:graphic>
            <a:graphicData uri="http://schemas.openxmlformats.org/presentationml/2006/ole">
              <mc:AlternateContent xmlns:mc="http://schemas.openxmlformats.org/markup-compatibility/2006">
                <mc:Choice xmlns:v="urn:schemas-microsoft-com:vml" Requires="v">
                  <p:oleObj name="Graph" r:id="rId10" imgW="6246376" imgH="5282235" progId="Origin95.Graph">
                    <p:embed/>
                  </p:oleObj>
                </mc:Choice>
                <mc:Fallback>
                  <p:oleObj name="Graph" r:id="rId10" imgW="6246376" imgH="5282235" progId="Origin95.Graph">
                    <p:embed/>
                    <p:pic>
                      <p:nvPicPr>
                        <p:cNvPr id="0" name="Object 108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49983" y="4148516"/>
                          <a:ext cx="2980790" cy="2517261"/>
                        </a:xfrm>
                        <a:prstGeom prst="rect">
                          <a:avLst/>
                        </a:prstGeom>
                        <a:noFill/>
                      </p:spPr>
                    </p:pic>
                  </p:oleObj>
                </mc:Fallback>
              </mc:AlternateContent>
            </a:graphicData>
          </a:graphic>
        </p:graphicFrame>
      </p:grpSp>
      <p:sp>
        <p:nvSpPr>
          <p:cNvPr id="3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中文要点｜入口空气参数的影响</a:t>
            </a:r>
          </a:p>
          <a:p>
            <a:pPr>
              <a:lnSpc>
                <a:spcPct val="108000"/>
              </a:lnSpc>
              <a:spcAft>
                <a:spcPts val="0"/>
              </a:spcAft>
            </a:pPr>
            <a:r>
              <a:rPr sz="1400" b="0">
                <a:solidFill>
                  <a:srgbClr val="282828"/>
                </a:solidFill>
                <a:latin typeface="Times New Roman"/>
                <a:ea typeface="SimSun"/>
                <a:cs typeface="Times New Roman"/>
              </a:rPr>
              <a:t>在 </a:t>
            </a:r>
            <a:r>
              <a:rPr sz="1400" b="1">
                <a:solidFill>
                  <a:srgbClr val="282828"/>
                </a:solidFill>
                <a:latin typeface="Times New Roman"/>
                <a:ea typeface="SimSun"/>
                <a:cs typeface="Times New Roman"/>
              </a:rPr>
              <a:t>32 ℃</a:t>
            </a:r>
            <a:r>
              <a:rPr sz="1400" b="0">
                <a:solidFill>
                  <a:srgbClr val="282828"/>
                </a:solidFill>
                <a:latin typeface="Times New Roman"/>
                <a:ea typeface="SimSun"/>
                <a:cs typeface="Times New Roman"/>
              </a:rPr>
              <a:t> 工况下，湿球效率与 COP 分别提高 </a:t>
            </a:r>
            <a:r>
              <a:rPr sz="1400" b="1">
                <a:solidFill>
                  <a:srgbClr val="282828"/>
                </a:solidFill>
                <a:latin typeface="Times New Roman"/>
                <a:ea typeface="SimSun"/>
                <a:cs typeface="Times New Roman"/>
              </a:rPr>
              <a:t>15.1%</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17.6%</a:t>
            </a:r>
            <a:r>
              <a:rPr sz="1400" b="0">
                <a:solidFill>
                  <a:srgbClr val="282828"/>
                </a:solidFill>
                <a:latin typeface="Times New Roman"/>
                <a:ea typeface="SimSun"/>
                <a:cs typeface="Times New Roman"/>
              </a:rPr>
              <a:t>；</a:t>
            </a:r>
            <a:r>
              <a:rPr sz="1400" b="1">
                <a:solidFill>
                  <a:srgbClr val="282828"/>
                </a:solidFill>
                <a:latin typeface="Times New Roman"/>
                <a:ea typeface="SimSun"/>
                <a:cs typeface="Times New Roman"/>
              </a:rPr>
              <a:t>2 m/s</a:t>
            </a:r>
            <a:r>
              <a:rPr sz="1400" b="0">
                <a:solidFill>
                  <a:srgbClr val="282828"/>
                </a:solidFill>
                <a:latin typeface="Times New Roman"/>
                <a:ea typeface="SimSun"/>
                <a:cs typeface="Times New Roman"/>
              </a:rPr>
              <a:t> 工况下分别提高 </a:t>
            </a:r>
            <a:r>
              <a:rPr sz="1400" b="1">
                <a:solidFill>
                  <a:srgbClr val="282828"/>
                </a:solidFill>
                <a:latin typeface="Times New Roman"/>
                <a:ea typeface="SimSun"/>
                <a:cs typeface="Times New Roman"/>
              </a:rPr>
              <a:t>10.4%</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14.9%</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36717583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36</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rgbClr val="C00000"/>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rgbClr val="C00000"/>
                  </a:solidFill>
                  <a:latin typeface="Times New Roman" panose="02020603050405020304" pitchFamily="18" charset="0"/>
                  <a:ea typeface="SimSun"/>
                  <a:cs typeface="Times New Roman" panose="02020603050405020304" pitchFamily="18" charset="0"/>
                </a:rPr>
                <a:t>modeling</a:t>
              </a:r>
              <a:r>
                <a:rPr lang="en-HK" sz="1968" b="1" dirty="0">
                  <a:solidFill>
                    <a:srgbClr val="C00000"/>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中文要点｜第五部分：ANN–GA 优化</a:t>
            </a:r>
          </a:p>
          <a:p>
            <a:pPr>
              <a:lnSpc>
                <a:spcPct val="108000"/>
              </a:lnSpc>
              <a:spcAft>
                <a:spcPts val="0"/>
              </a:spcAft>
            </a:pPr>
            <a:r>
              <a:rPr sz="1400" b="0">
                <a:solidFill>
                  <a:srgbClr val="282828"/>
                </a:solidFill>
                <a:latin typeface="Times New Roman"/>
                <a:ea typeface="SimSun"/>
                <a:cs typeface="Times New Roman"/>
              </a:rPr>
              <a:t>基于实验数据建立人工神经网络（ANN），结合遗传算法（GA）开展喷淋策略的多目标优化。</a:t>
            </a:r>
          </a:p>
        </p:txBody>
      </p:sp>
    </p:spTree>
    <p:extLst>
      <p:ext uri="{BB962C8B-B14F-4D97-AF65-F5344CB8AC3E}">
        <p14:creationId xmlns:p14="http://schemas.microsoft.com/office/powerpoint/2010/main" val="34091266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15">
            <a:extLst>
              <a:ext uri="{FF2B5EF4-FFF2-40B4-BE49-F238E27FC236}">
                <a16:creationId xmlns:a16="http://schemas.microsoft.com/office/drawing/2014/main" id="{BF110477-1DEF-423A-8E83-83A6099C6B60}"/>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37</a:t>
            </a:fld>
            <a:endParaRPr lang="en-US" altLang="zh-CN">
              <a:latin typeface="Times New Roman"/>
              <a:ea typeface="SimSun"/>
              <a:cs typeface="Times New Roman"/>
            </a:endParaRPr>
          </a:p>
        </p:txBody>
      </p:sp>
      <p:sp>
        <p:nvSpPr>
          <p:cNvPr id="24" name="矩形 3">
            <a:extLst>
              <a:ext uri="{FF2B5EF4-FFF2-40B4-BE49-F238E27FC236}">
                <a16:creationId xmlns:a16="http://schemas.microsoft.com/office/drawing/2014/main" id="{1FD502EB-E9F3-43E9-893F-0C234A67D406}"/>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grpSp>
        <p:nvGrpSpPr>
          <p:cNvPr id="25" name="Original English content (proportional layout)"/>
          <p:cNvGrpSpPr/>
          <p:nvPr/>
        </p:nvGrpSpPr>
        <p:grpSpPr>
          <a:xfrm>
            <a:off x="1097280" y="731520"/>
            <a:ext cx="9997440" cy="5023714"/>
            <a:chOff x="0" y="731520"/>
            <a:chExt cx="12192000" cy="6126480"/>
          </a:xfrm>
        </p:grpSpPr>
        <p:sp>
          <p:nvSpPr>
            <p:cNvPr id="2" name="矩形: 圆角 1">
              <a:extLst>
                <a:ext uri="{FF2B5EF4-FFF2-40B4-BE49-F238E27FC236}">
                  <a16:creationId xmlns:a16="http://schemas.microsoft.com/office/drawing/2014/main" id="{3E9078E4-C115-4A20-899E-6D426CD8A4DD}"/>
                </a:ext>
              </a:extLst>
            </p:cNvPr>
            <p:cNvSpPr/>
            <p:nvPr/>
          </p:nvSpPr>
          <p:spPr bwMode="auto">
            <a:xfrm>
              <a:off x="6439711" y="3887039"/>
              <a:ext cx="4581727" cy="2669403"/>
            </a:xfrm>
            <a:prstGeom prst="roundRect">
              <a:avLst/>
            </a:prstGeom>
            <a:solidFill>
              <a:srgbClr val="AF1E3B">
                <a:alpha val="23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dirty="0">
                <a:ln>
                  <a:noFill/>
                </a:ln>
                <a:solidFill>
                  <a:schemeClr val="bg2"/>
                </a:solidFill>
                <a:effectLst/>
                <a:latin typeface="Times New Roman" charset="0"/>
                <a:ea typeface="SimSun"/>
                <a:cs typeface="Times New Roman"/>
              </a:endParaRPr>
            </a:p>
          </p:txBody>
        </p:sp>
        <p:pic>
          <p:nvPicPr>
            <p:cNvPr id="21" name="图片 20">
              <a:extLst>
                <a:ext uri="{FF2B5EF4-FFF2-40B4-BE49-F238E27FC236}">
                  <a16:creationId xmlns:a16="http://schemas.microsoft.com/office/drawing/2014/main" id="{E1660BA4-447B-4242-9817-91C7A43F4D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996" y="3805159"/>
              <a:ext cx="4973942" cy="252000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1868450" y="6370272"/>
              <a:ext cx="3246851"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Fig.5.1.1 </a:t>
              </a:r>
              <a:r>
                <a:rPr lang="en-HK" sz="984" dirty="0">
                  <a:solidFill>
                    <a:prstClr val="black"/>
                  </a:solidFill>
                  <a:latin typeface="Times New Roman" panose="02020603050405020304" pitchFamily="18" charset="0"/>
                  <a:ea typeface="SimSun"/>
                  <a:cs typeface="Times New Roman" panose="02020603050405020304" pitchFamily="18" charset="0"/>
                </a:rPr>
                <a:t>Schematic diagram of the IEC system </a:t>
              </a:r>
            </a:p>
          </p:txBody>
        </p:sp>
        <p:sp>
          <p:nvSpPr>
            <p:cNvPr id="11" name="文本框 10">
              <a:extLst>
                <a:ext uri="{FF2B5EF4-FFF2-40B4-BE49-F238E27FC236}">
                  <a16:creationId xmlns:a16="http://schemas.microsoft.com/office/drawing/2014/main" id="{0200EE70-2D6D-6085-98C4-D9B1EFFC1613}"/>
                </a:ext>
              </a:extLst>
            </p:cNvPr>
            <p:cNvSpPr txBox="1"/>
            <p:nvPr/>
          </p:nvSpPr>
          <p:spPr>
            <a:xfrm>
              <a:off x="6735361" y="4070697"/>
              <a:ext cx="4099415" cy="2308324"/>
            </a:xfrm>
            <a:prstGeom prst="rect">
              <a:avLst/>
            </a:prstGeom>
            <a:noFill/>
            <a:ln w="19050">
              <a:noFill/>
            </a:ln>
          </p:spPr>
          <p:txBody>
            <a:bodyPr wrap="square">
              <a:spAutoFit/>
            </a:bodyPr>
            <a:lstStyle/>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Conducted on a laboratory-scale prototype of the IEC system</a:t>
              </a:r>
              <a:endParaRPr lang="en-US"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US"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a:rPr>
                <a:t>Components</a:t>
              </a:r>
              <a:r>
                <a:rPr lang="en-HK" altLang="zh-CN" sz="1312" dirty="0">
                  <a:latin typeface="Times New Roman" panose="02020603050405020304" pitchFamily="18" charset="0"/>
                  <a:ea typeface="SimSun" panose="02010600030101010101" pitchFamily="2" charset="-122"/>
                  <a:cs typeface="Times New Roman"/>
                </a:rPr>
                <a:t>: cross-flow heat exchanger, nozzles and water pump.</a:t>
              </a:r>
            </a:p>
            <a:p>
              <a:pPr marL="285750" indent="-285750">
                <a:buFont typeface="Arial" panose="020B0604020202020204" pitchFamily="34" charset="0"/>
                <a:buChar char="•"/>
              </a:pPr>
              <a:endParaRPr lang="en-HK"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Keep the other basic parameters of the IEC constant, change the six main parameters, and record the effects.</a:t>
              </a:r>
              <a:endParaRPr lang="zh-CN" altLang="en-US" sz="1312" dirty="0">
                <a:latin typeface="Times New Roman"/>
                <a:ea typeface="SimSun"/>
                <a:cs typeface="Times New Roman"/>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49264" y="926129"/>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5.1 </a:t>
              </a:r>
              <a:r>
                <a:rPr lang="en-HK" altLang="en-US" sz="1476" b="1" kern="0" dirty="0">
                  <a:latin typeface="Times New Roman" panose="02020603050405020304" pitchFamily="18" charset="0"/>
                  <a:ea typeface="SimSun"/>
                  <a:cs typeface="Times New Roman" panose="02020603050405020304" pitchFamily="18" charset="0"/>
                </a:rPr>
                <a:t>Concept and model set up</a:t>
              </a:r>
              <a:endParaRPr lang="en-US" altLang="en-US" sz="1476" b="1" kern="0" dirty="0">
                <a:latin typeface="Times New Roman" panose="02020603050405020304" pitchFamily="18" charset="0"/>
                <a:ea typeface="SimSun"/>
                <a:cs typeface="Times New Roman" panose="02020603050405020304" pitchFamily="18" charset="0"/>
              </a:endParaRPr>
            </a:p>
          </p:txBody>
        </p:sp>
        <p:pic>
          <p:nvPicPr>
            <p:cNvPr id="15" name="图片 14">
              <a:extLst>
                <a:ext uri="{FF2B5EF4-FFF2-40B4-BE49-F238E27FC236}">
                  <a16:creationId xmlns:a16="http://schemas.microsoft.com/office/drawing/2014/main" id="{5B6DA965-682F-43E0-A254-DC03A6176842}"/>
                </a:ext>
              </a:extLst>
            </p:cNvPr>
            <p:cNvPicPr>
              <a:picLocks noChangeAspect="1"/>
            </p:cNvPicPr>
            <p:nvPr/>
          </p:nvPicPr>
          <p:blipFill>
            <a:blip r:embed="rId4"/>
            <a:stretch>
              <a:fillRect/>
            </a:stretch>
          </p:blipFill>
          <p:spPr>
            <a:xfrm>
              <a:off x="6624725" y="1432387"/>
              <a:ext cx="4164461" cy="2195350"/>
            </a:xfrm>
            <a:prstGeom prst="rect">
              <a:avLst/>
            </a:prstGeom>
          </p:spPr>
        </p:pic>
        <p:sp>
          <p:nvSpPr>
            <p:cNvPr id="18" name="矩形 17">
              <a:extLst>
                <a:ext uri="{FF2B5EF4-FFF2-40B4-BE49-F238E27FC236}">
                  <a16:creationId xmlns:a16="http://schemas.microsoft.com/office/drawing/2014/main" id="{B0BE6500-96CF-4098-BD87-31F2B1858CCD}"/>
                </a:ext>
              </a:extLst>
            </p:cNvPr>
            <p:cNvSpPr/>
            <p:nvPr/>
          </p:nvSpPr>
          <p:spPr>
            <a:xfrm>
              <a:off x="5997123" y="1213461"/>
              <a:ext cx="4792063" cy="307777"/>
            </a:xfrm>
            <a:prstGeom prst="rect">
              <a:avLst/>
            </a:prstGeom>
          </p:spPr>
          <p:txBody>
            <a:bodyPr wrap="square">
              <a:spAutoFit/>
            </a:bodyPr>
            <a:lstStyle/>
            <a:p>
              <a:pPr defTabSz="457200" eaLnBrk="1" fontAlgn="auto" hangingPunct="1">
                <a:spcBef>
                  <a:spcPts val="0"/>
                </a:spcBef>
                <a:spcAft>
                  <a:spcPts val="0"/>
                </a:spcAft>
              </a:pPr>
              <a:r>
                <a:rPr lang="en-HK" sz="1148" b="1" dirty="0">
                  <a:solidFill>
                    <a:prstClr val="black"/>
                  </a:solidFill>
                  <a:latin typeface="Times New Roman" panose="02020603050405020304" pitchFamily="18" charset="0"/>
                  <a:ea typeface="SimSun"/>
                  <a:cs typeface="Times New Roman" panose="02020603050405020304" pitchFamily="18" charset="0"/>
                </a:rPr>
                <a:t>Table 5.1.1 </a:t>
              </a:r>
              <a:r>
                <a:rPr lang="en-HK" sz="1148" dirty="0">
                  <a:solidFill>
                    <a:prstClr val="black"/>
                  </a:solidFill>
                  <a:latin typeface="Times New Roman" panose="02020603050405020304" pitchFamily="18" charset="0"/>
                  <a:ea typeface="SimSun"/>
                  <a:cs typeface="Times New Roman" panose="02020603050405020304" pitchFamily="18" charset="0"/>
                </a:rPr>
                <a:t>Solid nozzle selection</a:t>
              </a:r>
            </a:p>
          </p:txBody>
        </p:sp>
        <p:sp>
          <p:nvSpPr>
            <p:cNvPr id="19" name="文本框 18">
              <a:extLst>
                <a:ext uri="{FF2B5EF4-FFF2-40B4-BE49-F238E27FC236}">
                  <a16:creationId xmlns:a16="http://schemas.microsoft.com/office/drawing/2014/main" id="{16033E44-65C4-4D46-968B-3B12EFFAD4FB}"/>
                </a:ext>
              </a:extLst>
            </p:cNvPr>
            <p:cNvSpPr txBox="1"/>
            <p:nvPr/>
          </p:nvSpPr>
          <p:spPr>
            <a:xfrm>
              <a:off x="1016731" y="1510254"/>
              <a:ext cx="4098570" cy="1815882"/>
            </a:xfrm>
            <a:prstGeom prst="rect">
              <a:avLst/>
            </a:prstGeom>
            <a:noFill/>
          </p:spPr>
          <p:txBody>
            <a:bodyPr wrap="square">
              <a:spAutoFit/>
            </a:bodyPr>
            <a:lstStyle/>
            <a:p>
              <a:pPr marL="285750" indent="-285750">
                <a:buFont typeface="Arial" panose="020B0604020202020204" pitchFamily="34" charset="0"/>
                <a:buChar char="•"/>
              </a:pPr>
              <a:endParaRPr lang="en-HK"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The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six</a:t>
              </a:r>
              <a:r>
                <a:rPr lang="en-HK" altLang="zh-CN" sz="1312" dirty="0">
                  <a:latin typeface="Times New Roman" panose="02020603050405020304" pitchFamily="18" charset="0"/>
                  <a:ea typeface="SimSun" panose="02010600030101010101" pitchFamily="2" charset="-122"/>
                  <a:cs typeface="Times New Roman"/>
                </a:rPr>
                <a:t>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parameters </a:t>
              </a:r>
              <a:r>
                <a:rPr lang="en-HK" altLang="zh-CN" sz="1312" dirty="0">
                  <a:latin typeface="Times New Roman" panose="02020603050405020304" pitchFamily="18" charset="0"/>
                  <a:ea typeface="SimSun" panose="02010600030101010101" pitchFamily="2" charset="-122"/>
                  <a:cs typeface="Times New Roman"/>
                </a:rPr>
                <a:t>of the spray system that affect the performance of IEC can be identified in the table.</a:t>
              </a:r>
            </a:p>
            <a:p>
              <a:pPr marL="285750" indent="-285750">
                <a:buFont typeface="Arial" panose="020B0604020202020204" pitchFamily="34" charset="0"/>
                <a:buChar char="•"/>
              </a:pPr>
              <a:endParaRPr lang="en-HK"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Evaluation indexes: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wet-bulb efficiency</a:t>
              </a:r>
              <a:r>
                <a:rPr lang="en-HK" altLang="zh-CN" sz="1312" dirty="0">
                  <a:latin typeface="Times New Roman" panose="02020603050405020304" pitchFamily="18" charset="0"/>
                  <a:ea typeface="SimSun" panose="02010600030101010101" pitchFamily="2" charset="-122"/>
                  <a:cs typeface="Times New Roman"/>
                </a:rPr>
                <a:t> and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pressure drop</a:t>
              </a:r>
              <a:r>
                <a:rPr lang="en-HK" altLang="zh-CN" sz="1312" dirty="0">
                  <a:latin typeface="Times New Roman" panose="02020603050405020304" pitchFamily="18" charset="0"/>
                  <a:ea typeface="SimSun" panose="02010600030101010101" pitchFamily="2" charset="-122"/>
                  <a:cs typeface="Times New Roman"/>
                </a:rPr>
                <a:t>.</a:t>
              </a:r>
              <a:endParaRPr lang="zh-CN" altLang="en-US" sz="1312" dirty="0">
                <a:latin typeface="Times New Roman"/>
                <a:ea typeface="SimSun"/>
                <a:cs typeface="Times New Roman"/>
              </a:endParaRPr>
            </a:p>
          </p:txBody>
        </p:sp>
        <p:sp>
          <p:nvSpPr>
            <p:cNvPr id="22" name="文本框 21">
              <a:extLst>
                <a:ext uri="{FF2B5EF4-FFF2-40B4-BE49-F238E27FC236}">
                  <a16:creationId xmlns:a16="http://schemas.microsoft.com/office/drawing/2014/main" id="{41A6500A-464D-4FD0-941B-13435C71BC36}"/>
                </a:ext>
              </a:extLst>
            </p:cNvPr>
            <p:cNvSpPr txBox="1"/>
            <p:nvPr/>
          </p:nvSpPr>
          <p:spPr>
            <a:xfrm>
              <a:off x="849996" y="1329178"/>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Data preparation</a:t>
              </a:r>
              <a:endParaRPr lang="zh-CN" altLang="en-US" sz="1312" dirty="0">
                <a:latin typeface="Times New Roman"/>
                <a:ea typeface="SimSun"/>
                <a:cs typeface="Times New Roman"/>
              </a:endParaRPr>
            </a:p>
          </p:txBody>
        </p:sp>
        <p:sp>
          <p:nvSpPr>
            <p:cNvPr id="23" name="文本框 22">
              <a:extLst>
                <a:ext uri="{FF2B5EF4-FFF2-40B4-BE49-F238E27FC236}">
                  <a16:creationId xmlns:a16="http://schemas.microsoft.com/office/drawing/2014/main" id="{FA861512-BAB0-468A-B0A7-A4D2B0FF270C}"/>
                </a:ext>
              </a:extLst>
            </p:cNvPr>
            <p:cNvSpPr txBox="1"/>
            <p:nvPr/>
          </p:nvSpPr>
          <p:spPr>
            <a:xfrm>
              <a:off x="849996" y="3548486"/>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Collection of experimental data </a:t>
              </a:r>
              <a:endParaRPr lang="zh-CN" altLang="en-US" sz="1312" dirty="0">
                <a:latin typeface="Times New Roman"/>
                <a:ea typeface="SimSun"/>
                <a:cs typeface="Times New Roman"/>
              </a:endParaRPr>
            </a:p>
          </p:txBody>
        </p:sp>
        <p:sp>
          <p:nvSpPr>
            <p:cNvPr id="3" name="矩形 2">
              <a:extLst>
                <a:ext uri="{FF2B5EF4-FFF2-40B4-BE49-F238E27FC236}">
                  <a16:creationId xmlns:a16="http://schemas.microsoft.com/office/drawing/2014/main" id="{F846385A-0B21-4973-BD64-990769005F24}"/>
                </a:ext>
              </a:extLst>
            </p:cNvPr>
            <p:cNvSpPr/>
            <p:nvPr/>
          </p:nvSpPr>
          <p:spPr>
            <a:xfrm>
              <a:off x="7410170" y="3473848"/>
              <a:ext cx="1165704" cy="307777"/>
            </a:xfrm>
            <a:prstGeom prst="rect">
              <a:avLst/>
            </a:prstGeom>
          </p:spPr>
          <p:txBody>
            <a:bodyPr wrap="none">
              <a:spAutoFit/>
            </a:bodyPr>
            <a:lstStyle/>
            <a:p>
              <a:r>
                <a:rPr lang="en-US" sz="1148" dirty="0">
                  <a:latin typeface="Times New Roman" panose="02020603050405020304" pitchFamily="18" charset="0"/>
                  <a:ea typeface="SimSun"/>
                  <a:cs typeface="Times New Roman" panose="02020603050405020304" pitchFamily="18" charset="0"/>
                </a:rPr>
                <a:t>(weight ratio)</a:t>
              </a:r>
            </a:p>
          </p:txBody>
        </p:sp>
      </p:grpSp>
      <p:sp>
        <p:nvSpPr>
          <p:cNvPr id="26"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中文要点｜实验数据与评价指标</a:t>
            </a:r>
          </a:p>
          <a:p>
            <a:pPr>
              <a:lnSpc>
                <a:spcPct val="108000"/>
              </a:lnSpc>
              <a:spcAft>
                <a:spcPts val="0"/>
              </a:spcAft>
            </a:pPr>
            <a:r>
              <a:rPr sz="1400" b="0">
                <a:solidFill>
                  <a:srgbClr val="282828"/>
                </a:solidFill>
                <a:latin typeface="Times New Roman"/>
                <a:ea typeface="SimSun"/>
                <a:cs typeface="Times New Roman"/>
              </a:rPr>
              <a:t>改变六项主要喷淋参数，采集实验数据；以湿球效率与压降作为模型预测和优化的评价指标。</a:t>
            </a:r>
          </a:p>
        </p:txBody>
      </p:sp>
    </p:spTree>
    <p:extLst>
      <p:ext uri="{BB962C8B-B14F-4D97-AF65-F5344CB8AC3E}">
        <p14:creationId xmlns:p14="http://schemas.microsoft.com/office/powerpoint/2010/main" val="93238009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30F4554-0DA0-4692-9CD6-EA99E55F8553}"/>
                  </a:ext>
                </a:extLst>
              </p:cNvPr>
              <p:cNvSpPr txBox="1"/>
              <p:nvPr/>
            </p:nvSpPr>
            <p:spPr>
              <a:xfrm>
                <a:off x="1379756" y="3120815"/>
                <a:ext cx="3439494" cy="3734036"/>
              </a:xfrm>
              <a:prstGeom prst="rect">
                <a:avLst/>
              </a:prstGeom>
              <a:noFill/>
            </p:spPr>
            <p:txBody>
              <a:bodyPr wrap="square">
                <a:spAutoFit/>
              </a:bodyPr>
              <a:lstStyle/>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Input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𝑋</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𝑖</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𝑛</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Hidden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1</m:t>
                          </m:r>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𝑛𝑗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𝑥</m:t>
                          </m:r>
                        </m:e>
                        <m:sub>
                          <m:r>
                            <a:rPr lang="en-US" sz="1400" i="1">
                              <a:latin typeface="Times New Roman" panose="02040503050406030204" pitchFamily="18" charset="0"/>
                              <a:ea typeface="SimSun"/>
                              <a:cs typeface="Times New Roman"/>
                            </a:rPr>
                            <m:t>𝑛</m:t>
                          </m:r>
                        </m:sub>
                      </m:sSub>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𝑓</m:t>
                      </m:r>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𝑎</m:t>
                              </m:r>
                            </m:e>
                            <m:sub>
                              <m:r>
                                <a:rPr lang="en-US" sz="1400" i="1">
                                  <a:latin typeface="Times New Roman" panose="02040503050406030204" pitchFamily="18" charset="0"/>
                                  <a:ea typeface="SimSun"/>
                                  <a:cs typeface="Times New Roman"/>
                                </a:rPr>
                                <m:t>𝑗</m:t>
                              </m:r>
                            </m:sub>
                          </m:sSub>
                        </m:e>
                      </m:d>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𝐻</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𝑗</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𝑖</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marL="285750" indent="-285750" algn="just">
                  <a:lnSpc>
                    <a:spcPct val="107000"/>
                  </a:lnSpc>
                  <a:spcAft>
                    <a:spcPts val="600"/>
                  </a:spcAft>
                  <a:buFont typeface="Arial" panose="020B0604020202020204" pitchFamily="34" charset="0"/>
                  <a:buChar char="•"/>
                </a:pPr>
                <a:r>
                  <a:rPr lang="en-US" sz="1600" dirty="0">
                    <a:latin typeface="Times New Roman" panose="02020603050405020304" pitchFamily="18" charset="0"/>
                    <a:ea typeface="SimSun" panose="02010600030101010101" pitchFamily="2" charset="-122"/>
                    <a:cs typeface="Times New Roman"/>
                  </a:rPr>
                  <a:t>Hidden layer</a:t>
                </a: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1</m:t>
                          </m:r>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𝑤</m:t>
                          </m:r>
                        </m:e>
                        <m:sub>
                          <m:r>
                            <a:rPr lang="en-US" sz="1400" i="1">
                              <a:latin typeface="Times New Roman" panose="02040503050406030204" pitchFamily="18" charset="0"/>
                              <a:ea typeface="SimSun"/>
                              <a:cs typeface="Times New Roman"/>
                            </a:rPr>
                            <m:t>𝑙𝑘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ℎ</m:t>
                          </m:r>
                        </m:e>
                        <m:sub>
                          <m:r>
                            <a:rPr lang="en-US" sz="1400" i="1">
                              <a:latin typeface="Times New Roman" panose="02040503050406030204" pitchFamily="18" charset="0"/>
                              <a:ea typeface="SimSun"/>
                              <a:cs typeface="Times New Roman"/>
                            </a:rPr>
                            <m:t>𝑙</m:t>
                          </m:r>
                        </m:sub>
                      </m:sSub>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𝑔</m:t>
                      </m:r>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𝑛𝑒</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𝑡</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𝑏</m:t>
                              </m:r>
                            </m:e>
                            <m:sub>
                              <m:r>
                                <a:rPr lang="en-US" sz="1400" i="1">
                                  <a:latin typeface="Times New Roman" panose="02040503050406030204" pitchFamily="18" charset="0"/>
                                  <a:ea typeface="SimSun"/>
                                  <a:cs typeface="Times New Roman"/>
                                </a:rPr>
                                <m:t>𝑘</m:t>
                              </m:r>
                            </m:sub>
                          </m:sSub>
                        </m:e>
                      </m:d>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𝑂</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𝑜</m:t>
                                  </m:r>
                                </m:e>
                                <m:sub>
                                  <m:r>
                                    <a:rPr lang="en-US" sz="1400" i="1">
                                      <a:latin typeface="Times New Roman" panose="02040503050406030204" pitchFamily="18" charset="0"/>
                                      <a:ea typeface="SimSun"/>
                                      <a:cs typeface="Times New Roman"/>
                                    </a:rPr>
                                    <m:t>𝑚</m:t>
                                  </m:r>
                                </m:sub>
                              </m:sSub>
                            </m:e>
                          </m:d>
                        </m:e>
                        <m:sup>
                          <m:r>
                            <a:rPr lang="en-US" sz="1400" i="1">
                              <a:latin typeface="Times New Roman" panose="02040503050406030204" pitchFamily="18" charset="0"/>
                              <a:ea typeface="SimSun"/>
                              <a:cs typeface="Times New Roman"/>
                            </a:rPr>
                            <m:t>𝑇</m:t>
                          </m:r>
                        </m:sup>
                      </m:sSup>
                    </m:oMath>
                  </m:oMathPara>
                </a14:m>
                <a:endParaRPr lang="en-HK" altLang="zh-CN" sz="1400" dirty="0">
                  <a:latin typeface="Times New Roman" panose="020F0502020204030204" pitchFamily="34" charset="0"/>
                  <a:ea typeface="SimSun" panose="02010600030101010101" pitchFamily="2" charset="-122"/>
                  <a:cs typeface="Times New Roman" panose="02020603050405020304" pitchFamily="18" charset="0"/>
                </a:endParaRPr>
              </a:p>
              <a:p>
                <a:pPr algn="just">
                  <a:lnSpc>
                    <a:spcPct val="107000"/>
                  </a:lnSpc>
                  <a:spcAft>
                    <a:spcPts val="600"/>
                  </a:spcAft>
                </a:pPr>
                <a14:m>
                  <m:oMathPara xmlns:m="http://schemas.openxmlformats.org/officeDocument/2006/math">
                    <m:oMath>
                      <m:r>
                        <a:rPr lang="en-US" sz="1400" i="1">
                          <a:latin typeface="Times New Roman" panose="02040503050406030204" pitchFamily="18" charset="0"/>
                          <a:ea typeface="SimSun"/>
                          <a:cs typeface="Times New Roman"/>
                        </a:rPr>
                        <m:t>𝑌</m:t>
                      </m:r>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1</m:t>
                                  </m:r>
                                </m:sub>
                              </m:sSub>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2</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𝑘</m:t>
                                  </m:r>
                                </m:sub>
                              </m:sSub>
                              <m:r>
                                <a:rPr lang="en-US" sz="1400" i="1">
                                  <a:latin typeface="Times New Roman" panose="02040503050406030204" pitchFamily="18" charset="0"/>
                                  <a:ea typeface="SimSun"/>
                                  <a:cs typeface="Times New Roman"/>
                                </a:rPr>
                                <m:t>,</m:t>
                              </m:r>
                              <m:r>
                                <a:rPr lang="en-US" sz="1400">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𝑦</m:t>
                                  </m:r>
                                </m:e>
                                <m:sub>
                                  <m:r>
                                    <a:rPr lang="en-US" sz="1400" i="1">
                                      <a:latin typeface="Times New Roman" panose="02040503050406030204" pitchFamily="18" charset="0"/>
                                      <a:ea typeface="SimSun"/>
                                      <a:cs typeface="Times New Roman"/>
                                    </a:rPr>
                                    <m:t>𝑚</m:t>
                                  </m:r>
                                </m:sub>
                              </m:sSub>
                            </m:e>
                          </m:d>
                        </m:e>
                        <m:sup>
                          <m:r>
                            <a:rPr lang="en-US" sz="1400" i="1">
                              <a:latin typeface="Times New Roman" panose="02040503050406030204" pitchFamily="18" charset="0"/>
                              <a:ea typeface="SimSun"/>
                              <a:cs typeface="Times New Roman"/>
                            </a:rPr>
                            <m:t>𝑇</m:t>
                          </m:r>
                        </m:sup>
                      </m:sSup>
                    </m:oMath>
                  </m:oMathPara>
                </a14:m>
                <a:endParaRPr lang="zh-CN" altLang="zh-CN" sz="1400" dirty="0">
                  <a:latin typeface="Times New Roman" panose="020F0502020204030204" pitchFamily="34" charset="0"/>
                  <a:ea typeface="SimSun" panose="02010600030101010101" pitchFamily="2" charset="-122"/>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530F4554-0DA0-4692-9CD6-EA99E55F8553}"/>
                  </a:ext>
                </a:extLst>
              </p:cNvPr>
              <p:cNvSpPr txBox="1">
                <a:spLocks noRot="1" noChangeAspect="1" noMove="1" noResize="1" noEditPoints="1" noAdjustHandles="1" noChangeArrowheads="1" noChangeShapeType="1" noTextEdit="1"/>
              </p:cNvSpPr>
              <p:nvPr/>
            </p:nvSpPr>
            <p:spPr>
              <a:xfrm>
                <a:off x="1379756" y="3120815"/>
                <a:ext cx="3439494" cy="3734036"/>
              </a:xfrm>
              <a:prstGeom prst="rect">
                <a:avLst/>
              </a:prstGeom>
              <a:blipFill>
                <a:blip r:embed="rId4"/>
                <a:stretch>
                  <a:fillRect l="-708" t="-490"/>
                </a:stretch>
              </a:blipFill>
            </p:spPr>
            <p:txBody>
              <a:bodyPr/>
              <a:lstStyle/>
              <a:p>
                <a:r>
                  <a:rPr lang="en-US">
                    <a:noFill/>
                    <a:latin typeface="Times New Roman"/>
                    <a:ea typeface="SimSun"/>
                    <a:cs typeface="Times New Roman"/>
                  </a:rPr>
                  <a:t> </a:t>
                </a:r>
              </a:p>
            </p:txBody>
          </p:sp>
        </mc:Fallback>
      </mc:AlternateContent>
      <p:sp>
        <p:nvSpPr>
          <p:cNvPr id="3" name="灯片编号占位符 2">
            <a:extLst>
              <a:ext uri="{FF2B5EF4-FFF2-40B4-BE49-F238E27FC236}">
                <a16:creationId xmlns:a16="http://schemas.microsoft.com/office/drawing/2014/main" id="{EA9D3564-45AA-4278-A1FE-CFF2AB11C85D}"/>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38</a:t>
            </a:fld>
            <a:endParaRPr lang="en-US" altLang="zh-CN">
              <a:latin typeface="Times New Roman"/>
              <a:ea typeface="SimSun"/>
              <a:cs typeface="Times New Roman"/>
            </a:endParaRPr>
          </a:p>
        </p:txBody>
      </p:sp>
      <p:sp>
        <p:nvSpPr>
          <p:cNvPr id="24" name="矩形 3">
            <a:extLst>
              <a:ext uri="{FF2B5EF4-FFF2-40B4-BE49-F238E27FC236}">
                <a16:creationId xmlns:a16="http://schemas.microsoft.com/office/drawing/2014/main" id="{78B57106-E531-4E48-9846-5A2042A5BACD}"/>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grpSp>
        <p:nvGrpSpPr>
          <p:cNvPr id="25" name="Original English content (proportional layout)"/>
          <p:cNvGrpSpPr/>
          <p:nvPr/>
        </p:nvGrpSpPr>
        <p:grpSpPr>
          <a:xfrm>
            <a:off x="1097280" y="731520"/>
            <a:ext cx="9997440" cy="5023714"/>
            <a:chOff x="0" y="731520"/>
            <a:chExt cx="12192000" cy="6126480"/>
          </a:xfrm>
        </p:grpSpPr>
        <p:pic>
          <p:nvPicPr>
            <p:cNvPr id="14" name="图片 13">
              <a:extLst>
                <a:ext uri="{FF2B5EF4-FFF2-40B4-BE49-F238E27FC236}">
                  <a16:creationId xmlns:a16="http://schemas.microsoft.com/office/drawing/2014/main" id="{6DD5FBB7-A269-4047-BA87-946C37C02DDF}"/>
                </a:ext>
              </a:extLst>
            </p:cNvPr>
            <p:cNvPicPr/>
            <p:nvPr/>
          </p:nvPicPr>
          <p:blipFill>
            <a:blip r:embed="rId3">
              <a:extLst>
                <a:ext uri="{28A0092B-C50C-407E-A947-70E740481C1C}">
                  <a14:useLocalDpi xmlns:a14="http://schemas.microsoft.com/office/drawing/2010/main" val="0"/>
                </a:ext>
              </a:extLst>
            </a:blip>
            <a:stretch>
              <a:fillRect/>
            </a:stretch>
          </p:blipFill>
          <p:spPr>
            <a:xfrm>
              <a:off x="5299174" y="2816213"/>
              <a:ext cx="5513070" cy="377952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6851339" y="6571944"/>
              <a:ext cx="3246851"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Fig.5.2.1 </a:t>
              </a:r>
              <a:r>
                <a:rPr lang="en-HK" sz="984" dirty="0">
                  <a:solidFill>
                    <a:prstClr val="black"/>
                  </a:solidFill>
                  <a:latin typeface="Times New Roman" panose="02020603050405020304" pitchFamily="18" charset="0"/>
                  <a:ea typeface="SimSun"/>
                  <a:cs typeface="Times New Roman" panose="02020603050405020304" pitchFamily="18" charset="0"/>
                </a:rPr>
                <a:t>Structure of the IEC-ANN model</a:t>
              </a: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462609" y="944189"/>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5.2 </a:t>
              </a:r>
              <a:r>
                <a:rPr lang="en-HK" altLang="en-US" sz="1476" b="1" kern="0" dirty="0">
                  <a:latin typeface="Times New Roman" panose="02020603050405020304" pitchFamily="18" charset="0"/>
                  <a:ea typeface="SimSun"/>
                  <a:cs typeface="Times New Roman" panose="02020603050405020304" pitchFamily="18" charset="0"/>
                </a:rPr>
                <a:t>Design of model setting</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9" name="文本框 18">
              <a:extLst>
                <a:ext uri="{FF2B5EF4-FFF2-40B4-BE49-F238E27FC236}">
                  <a16:creationId xmlns:a16="http://schemas.microsoft.com/office/drawing/2014/main" id="{16033E44-65C4-4D46-968B-3B12EFFAD4FB}"/>
                </a:ext>
              </a:extLst>
            </p:cNvPr>
            <p:cNvSpPr txBox="1"/>
            <p:nvPr/>
          </p:nvSpPr>
          <p:spPr>
            <a:xfrm>
              <a:off x="1319197" y="1323307"/>
              <a:ext cx="9015248" cy="1323439"/>
            </a:xfrm>
            <a:prstGeom prst="rect">
              <a:avLst/>
            </a:prstGeom>
            <a:noFill/>
          </p:spPr>
          <p:txBody>
            <a:bodyPr wrap="square">
              <a:spAutoFit/>
            </a:bodyPr>
            <a:lstStyle/>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A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3-layer</a:t>
              </a:r>
              <a:r>
                <a:rPr lang="en-HK" altLang="zh-CN" sz="1312" dirty="0">
                  <a:latin typeface="Times New Roman" panose="02020603050405020304" pitchFamily="18" charset="0"/>
                  <a:ea typeface="SimSun" panose="02010600030101010101" pitchFamily="2" charset="-122"/>
                  <a:cs typeface="Times New Roman"/>
                </a:rPr>
                <a:t> network with a hidden layer comprising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14 neurons</a:t>
              </a:r>
              <a:r>
                <a:rPr lang="en-HK" altLang="zh-CN" sz="1312" dirty="0">
                  <a:latin typeface="Times New Roman" panose="02020603050405020304" pitchFamily="18" charset="0"/>
                  <a:ea typeface="SimSun" panose="02010600030101010101" pitchFamily="2" charset="-122"/>
                  <a:cs typeface="Times New Roman"/>
                </a:rPr>
                <a:t>, can effectively capture the relationship between the input and output variables.</a:t>
              </a:r>
            </a:p>
            <a:p>
              <a:endParaRPr lang="en-HK"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The dataset could be divided into three sections: the training dataset, validation dataset, and testing dataset, with portions of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70%</a:t>
              </a:r>
              <a:r>
                <a:rPr lang="en-HK" altLang="zh-CN" sz="1312" dirty="0">
                  <a:latin typeface="Times New Roman" panose="02020603050405020304" pitchFamily="18" charset="0"/>
                  <a:ea typeface="SimSun" panose="02010600030101010101" pitchFamily="2" charset="-122"/>
                  <a:cs typeface="Times New Roman"/>
                </a:rPr>
                <a:t>,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15%</a:t>
              </a:r>
              <a:r>
                <a:rPr lang="en-HK" altLang="zh-CN" sz="1312" dirty="0">
                  <a:latin typeface="Times New Roman" panose="02020603050405020304" pitchFamily="18" charset="0"/>
                  <a:ea typeface="SimSun" panose="02010600030101010101" pitchFamily="2" charset="-122"/>
                  <a:cs typeface="Times New Roman"/>
                </a:rPr>
                <a:t>, and </a:t>
              </a:r>
              <a:r>
                <a:rPr lang="en-HK" altLang="zh-CN" sz="1312" b="1" dirty="0">
                  <a:solidFill>
                    <a:srgbClr val="AF1E3B"/>
                  </a:solidFill>
                  <a:latin typeface="Times New Roman" panose="02020603050405020304" pitchFamily="18" charset="0"/>
                  <a:ea typeface="SimSun" panose="02010600030101010101" pitchFamily="2" charset="-122"/>
                  <a:cs typeface="Times New Roman"/>
                </a:rPr>
                <a:t>15%</a:t>
              </a:r>
              <a:r>
                <a:rPr lang="en-HK" altLang="zh-CN" sz="1312" dirty="0">
                  <a:latin typeface="Times New Roman" panose="02020603050405020304" pitchFamily="18" charset="0"/>
                  <a:ea typeface="SimSun" panose="02010600030101010101" pitchFamily="2" charset="-122"/>
                  <a:cs typeface="Times New Roman"/>
                </a:rPr>
                <a:t>, correspondingly</a:t>
              </a:r>
            </a:p>
          </p:txBody>
        </p:sp>
        <p:sp>
          <p:nvSpPr>
            <p:cNvPr id="20" name="文本框 19">
              <a:extLst>
                <a:ext uri="{FF2B5EF4-FFF2-40B4-BE49-F238E27FC236}">
                  <a16:creationId xmlns:a16="http://schemas.microsoft.com/office/drawing/2014/main" id="{A6C969F7-829A-4462-A0B1-23FBF8E3028F}"/>
                </a:ext>
              </a:extLst>
            </p:cNvPr>
            <p:cNvSpPr txBox="1"/>
            <p:nvPr/>
          </p:nvSpPr>
          <p:spPr>
            <a:xfrm>
              <a:off x="1040777" y="2775772"/>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Equations describe the model </a:t>
              </a:r>
              <a:endParaRPr lang="zh-CN" altLang="en-US" sz="1312" dirty="0">
                <a:latin typeface="Times New Roman"/>
                <a:ea typeface="SimSun"/>
                <a:cs typeface="Times New Roman"/>
              </a:endParaRPr>
            </a:p>
          </p:txBody>
        </p:sp>
      </p:grpSp>
      <p:sp>
        <p:nvSpPr>
          <p:cNvPr id="26"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中文要点｜神经网络结构</a:t>
            </a:r>
          </a:p>
          <a:p>
            <a:pPr>
              <a:lnSpc>
                <a:spcPct val="108000"/>
              </a:lnSpc>
              <a:spcAft>
                <a:spcPts val="0"/>
              </a:spcAft>
            </a:pPr>
            <a:r>
              <a:rPr sz="1400" b="0">
                <a:solidFill>
                  <a:srgbClr val="282828"/>
                </a:solidFill>
                <a:latin typeface="Times New Roman"/>
                <a:ea typeface="SimSun"/>
                <a:cs typeface="Times New Roman"/>
              </a:rPr>
              <a:t>采用三层网络，隐含层含 </a:t>
            </a:r>
            <a:r>
              <a:rPr sz="1400" b="1">
                <a:solidFill>
                  <a:srgbClr val="282828"/>
                </a:solidFill>
                <a:latin typeface="Times New Roman"/>
                <a:ea typeface="SimSun"/>
                <a:cs typeface="Times New Roman"/>
              </a:rPr>
              <a:t>14</a:t>
            </a:r>
            <a:r>
              <a:rPr sz="1400" b="0">
                <a:solidFill>
                  <a:srgbClr val="282828"/>
                </a:solidFill>
                <a:latin typeface="Times New Roman"/>
                <a:ea typeface="SimSun"/>
                <a:cs typeface="Times New Roman"/>
              </a:rPr>
              <a:t> 个神经元；训练集、验证集与测试集的比例分别为 </a:t>
            </a:r>
            <a:r>
              <a:rPr sz="1400" b="1">
                <a:solidFill>
                  <a:srgbClr val="282828"/>
                </a:solidFill>
                <a:latin typeface="Times New Roman"/>
                <a:ea typeface="SimSun"/>
                <a:cs typeface="Times New Roman"/>
              </a:rPr>
              <a:t>70%</a:t>
            </a:r>
            <a:r>
              <a:rPr sz="1400" b="0">
                <a:solidFill>
                  <a:srgbClr val="282828"/>
                </a:solidFill>
                <a:latin typeface="Times New Roman"/>
                <a:ea typeface="SimSun"/>
                <a:cs typeface="Times New Roman"/>
              </a:rPr>
              <a:t>、</a:t>
            </a:r>
            <a:r>
              <a:rPr sz="1400" b="1">
                <a:solidFill>
                  <a:srgbClr val="282828"/>
                </a:solidFill>
                <a:latin typeface="Times New Roman"/>
                <a:ea typeface="SimSun"/>
                <a:cs typeface="Times New Roman"/>
              </a:rPr>
              <a:t>15%</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15%</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388358556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6033E44-65C4-4D46-968B-3B12EFFAD4FB}"/>
                  </a:ext>
                </a:extLst>
              </p:cNvPr>
              <p:cNvSpPr txBox="1"/>
              <p:nvPr/>
            </p:nvSpPr>
            <p:spPr>
              <a:xfrm>
                <a:off x="1280730" y="1499542"/>
                <a:ext cx="5965471" cy="1426224"/>
              </a:xfrm>
              <a:prstGeom prst="rect">
                <a:avLst/>
              </a:prstGeom>
              <a:noFill/>
            </p:spPr>
            <p:txBody>
              <a:bodyPr wrap="square">
                <a:spAutoFit/>
              </a:bodyPr>
              <a:lstStyle/>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US" sz="1600" dirty="0">
                    <a:latin typeface="Times New Roman" panose="02020603050405020304" pitchFamily="18" charset="0"/>
                    <a:ea typeface="SimSun"/>
                    <a:cs typeface="Times New Roman" panose="02020603050405020304" pitchFamily="18" charset="0"/>
                  </a:rPr>
                  <a:t>Coefficient of determination (</a:t>
                </a:r>
                <a:r>
                  <a:rPr lang="en-US" sz="1600" i="1" dirty="0">
                    <a:latin typeface="Times New Roman" panose="02020603050405020304" pitchFamily="18" charset="0"/>
                    <a:ea typeface="SimSun"/>
                    <a:cs typeface="Times New Roman" panose="02020603050405020304" pitchFamily="18" charset="0"/>
                  </a:rPr>
                  <a:t>r</a:t>
                </a:r>
                <a:r>
                  <a:rPr lang="en-US" sz="1600" i="1" baseline="30000" dirty="0">
                    <a:latin typeface="Times New Roman" panose="02020603050405020304" pitchFamily="18" charset="0"/>
                    <a:ea typeface="SimSun"/>
                    <a:cs typeface="Times New Roman" panose="02020603050405020304" pitchFamily="18" charset="0"/>
                  </a:rPr>
                  <a:t>2</a:t>
                </a:r>
                <a:r>
                  <a:rPr lang="en-US" sz="1600" dirty="0">
                    <a:latin typeface="Times New Roman" panose="02020603050405020304" pitchFamily="18" charset="0"/>
                    <a:ea typeface="SimSun"/>
                    <a:cs typeface="Times New Roman" panose="02020603050405020304" pitchFamily="18" charset="0"/>
                  </a:rPr>
                  <a:t>)</a:t>
                </a:r>
              </a:p>
              <a:p>
                <a:pPr/>
                <a14:m>
                  <m:oMathPara xmlns:m="http://schemas.openxmlformats.org/officeDocument/2006/math">
                    <m:oMathParaPr>
                      <m:jc m:val="left"/>
                    </m:oMathParaPr>
                    <m:oMath>
                      <m:sSup>
                        <m:sSupPr>
                          <m:ctrlPr>
                            <a:rPr lang="en-US" sz="1400" i="1">
                              <a:latin typeface="Times New Roman" panose="02040503050406030204" pitchFamily="18" charset="0"/>
                              <a:ea typeface="SimSun"/>
                              <a:cs typeface="Times New Roman"/>
                            </a:rPr>
                          </m:ctrlPr>
                        </m:sSupPr>
                        <m:e>
                          <m:r>
                            <a:rPr lang="en-US" sz="1400" i="1">
                              <a:latin typeface="Times New Roman" panose="02040503050406030204" pitchFamily="18" charset="0"/>
                              <a:ea typeface="SimSun"/>
                              <a:cs typeface="Times New Roman"/>
                            </a:rPr>
                            <m:t>𝑟</m:t>
                          </m:r>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f>
                        <m:fPr>
                          <m:ctrlPr>
                            <a:rPr lang="en-HK" sz="1400" i="1">
                              <a:latin typeface="Times New Roman" panose="02040503050406030204" pitchFamily="18" charset="0"/>
                              <a:ea typeface="SimSun"/>
                              <a:cs typeface="Times New Roman"/>
                            </a:rPr>
                          </m:ctrlPr>
                        </m:fPr>
                        <m:num>
                          <m:sSup>
                            <m:sSupPr>
                              <m:ctrlPr>
                                <a:rPr lang="en-HK" sz="1400" i="1">
                                  <a:latin typeface="Times New Roman" panose="02040503050406030204" pitchFamily="18" charset="0"/>
                                  <a:ea typeface="SimSun"/>
                                  <a:cs typeface="Times New Roman"/>
                                </a:rPr>
                              </m:ctrlPr>
                            </m:sSupPr>
                            <m:e>
                              <m:d>
                                <m:dPr>
                                  <m:begChr m:val="["/>
                                  <m:endChr m:val="]"/>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r>
                                    <a:rPr lang="en-US" sz="1400" i="1">
                                      <a:latin typeface="Times New Roman" panose="02040503050406030204" pitchFamily="18" charset="0"/>
                                      <a:ea typeface="SimSun"/>
                                      <a:cs typeface="Times New Roman"/>
                                    </a:rPr>
                                    <m:t>−</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sup>
                              <m:r>
                                <a:rPr lang="en-US" sz="1400" i="1">
                                  <a:latin typeface="Times New Roman" panose="02040503050406030204" pitchFamily="18" charset="0"/>
                                  <a:ea typeface="SimSun"/>
                                  <a:cs typeface="Times New Roman"/>
                                </a:rPr>
                                <m:t>2</m:t>
                              </m:r>
                            </m:sup>
                          </m:sSup>
                        </m:num>
                        <m:den>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𝑛</m:t>
                          </m:r>
                          <m:sSup>
                            <m:sSupPr>
                              <m:ctrlPr>
                                <a:rPr lang="en-HK" sz="1400" i="1">
                                  <a:latin typeface="Times New Roman" panose="02040503050406030204" pitchFamily="18" charset="0"/>
                                  <a:ea typeface="SimSun"/>
                                  <a:cs typeface="Times New Roman"/>
                                </a:rPr>
                              </m:ctrlPr>
                            </m:sSupPr>
                            <m:e>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sSup>
                                    <m:sSupPr>
                                      <m:ctrlPr>
                                        <a:rPr lang="en-HK" sz="1400" i="1">
                                          <a:latin typeface="Times New Roman" panose="02040503050406030204" pitchFamily="18" charset="0"/>
                                          <a:ea typeface="SimSun"/>
                                          <a:cs typeface="Times New Roman"/>
                                        </a:rPr>
                                      </m:ctrlPr>
                                    </m:sSupPr>
                                    <m:e>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sup>
                                      <m:r>
                                        <a:rPr lang="en-US" sz="1400" i="1">
                                          <a:latin typeface="Times New Roman" panose="02040503050406030204" pitchFamily="18" charset="0"/>
                                          <a:ea typeface="SimSun"/>
                                          <a:cs typeface="Times New Roman"/>
                                        </a:rPr>
                                        <m:t>2</m:t>
                                      </m:r>
                                    </m:sup>
                                  </m:sSup>
                                  <m:d>
                                    <m:dPr>
                                      <m:begChr m:val="["/>
                                      <m:endChr m:val="]"/>
                                      <m:ctrlPr>
                                        <a:rPr lang="en-HK" sz="1400" i="1">
                                          <a:latin typeface="Times New Roman" panose="02040503050406030204" pitchFamily="18" charset="0"/>
                                          <a:ea typeface="SimSun"/>
                                          <a:cs typeface="Times New Roman"/>
                                        </a:rPr>
                                      </m:ctrlPr>
                                    </m:dPr>
                                    <m:e>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nary>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sSup>
                            <m:sSupPr>
                              <m:ctrlPr>
                                <a:rPr lang="en-HK" sz="1400" i="1">
                                  <a:latin typeface="Times New Roman" panose="02040503050406030204" pitchFamily="18" charset="0"/>
                                  <a:ea typeface="SimSun"/>
                                  <a:cs typeface="Times New Roman"/>
                                </a:rPr>
                              </m:ctrlPr>
                            </m:sSupPr>
                            <m:e>
                              <m:d>
                                <m:dPr>
                                  <m:begChr m:val="["/>
                                  <m:endChr m:val="]"/>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𝑛</m:t>
                                  </m:r>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sSup>
                                        <m:sSupPr>
                                          <m:ctrlPr>
                                            <a:rPr lang="en-HK" sz="1400" i="1">
                                              <a:latin typeface="Times New Roman" panose="02040503050406030204" pitchFamily="18" charset="0"/>
                                              <a:ea typeface="SimSun"/>
                                              <a:cs typeface="Times New Roman"/>
                                            </a:rPr>
                                          </m:ctrlPr>
                                        </m:sSupPr>
                                        <m:e>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e>
                                  </m:nary>
                                  <m:nary>
                                    <m:naryPr>
                                      <m:chr m:val="∑"/>
                                      <m:limLoc m:val="undOvr"/>
                                      <m:grow m:val="on"/>
                                      <m:ctrlPr>
                                        <a:rPr lang="en-US" sz="1400" i="1">
                                          <a:latin typeface="Times New Roman" panose="02040503050406030204" pitchFamily="18" charset="0"/>
                                          <a:ea typeface="SimSun"/>
                                          <a:cs typeface="Times New Roman"/>
                                        </a:rPr>
                                      </m:ctrlPr>
                                    </m:naryPr>
                                    <m:sub>
                                      <m:r>
                                        <a:rPr lang="en-US" sz="1400" i="1">
                                          <a:latin typeface="Times New Roman" panose="02040503050406030204" pitchFamily="18" charset="0"/>
                                          <a:ea typeface="SimSun"/>
                                          <a:cs typeface="Times New Roman"/>
                                        </a:rPr>
                                        <m:t>𝑘</m:t>
                                      </m:r>
                                      <m:r>
                                        <a:rPr lang="en-US" sz="1400" i="1">
                                          <a:latin typeface="Times New Roman" panose="02040503050406030204" pitchFamily="18" charset="0"/>
                                          <a:ea typeface="SimSun"/>
                                          <a:cs typeface="Times New Roman"/>
                                        </a:rPr>
                                        <m:t>=1</m:t>
                                      </m:r>
                                    </m:sub>
                                    <m:sup>
                                      <m:r>
                                        <a:rPr lang="en-US" sz="1400" i="1">
                                          <a:latin typeface="Times New Roman" panose="02040503050406030204" pitchFamily="18" charset="0"/>
                                          <a:ea typeface="SimSun"/>
                                          <a:cs typeface="Times New Roman"/>
                                        </a:rPr>
                                        <m:t>𝑛</m:t>
                                      </m:r>
                                    </m:sup>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nary>
                                </m:e>
                              </m:d>
                            </m:e>
                            <m:sup>
                              <m:r>
                                <a:rPr lang="en-US" sz="1400" i="1">
                                  <a:latin typeface="Times New Roman" panose="02040503050406030204" pitchFamily="18" charset="0"/>
                                  <a:ea typeface="SimSun"/>
                                  <a:cs typeface="Times New Roman"/>
                                </a:rPr>
                                <m:t>2</m:t>
                              </m:r>
                            </m:sup>
                          </m:sSup>
                          <m:r>
                            <a:rPr lang="en-US" sz="1400" i="1">
                              <a:latin typeface="Times New Roman" panose="02040503050406030204" pitchFamily="18" charset="0"/>
                              <a:ea typeface="SimSun"/>
                              <a:cs typeface="Times New Roman"/>
                            </a:rPr>
                            <m:t>]</m:t>
                          </m:r>
                        </m:den>
                      </m:f>
                    </m:oMath>
                  </m:oMathPara>
                </a14:m>
                <a:endParaRPr lang="en-HK" altLang="zh-CN" sz="14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19" name="文本框 18">
                <a:extLst>
                  <a:ext uri="{FF2B5EF4-FFF2-40B4-BE49-F238E27FC236}">
                    <a16:creationId xmlns:a16="http://schemas.microsoft.com/office/drawing/2014/main" id="{16033E44-65C4-4D46-968B-3B12EFFAD4FB}"/>
                  </a:ext>
                </a:extLst>
              </p:cNvPr>
              <p:cNvSpPr txBox="1">
                <a:spLocks noRot="1" noChangeAspect="1" noMove="1" noResize="1" noEditPoints="1" noAdjustHandles="1" noChangeArrowheads="1" noChangeShapeType="1" noTextEdit="1"/>
              </p:cNvSpPr>
              <p:nvPr/>
            </p:nvSpPr>
            <p:spPr>
              <a:xfrm>
                <a:off x="1280730" y="1499542"/>
                <a:ext cx="5965471" cy="1426224"/>
              </a:xfrm>
              <a:prstGeom prst="rect">
                <a:avLst/>
              </a:prstGeom>
              <a:blipFill>
                <a:blip r:embed="rId3"/>
                <a:stretch>
                  <a:fillRect l="-409"/>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3E09337-770C-4F81-814A-1BC14FDF9430}"/>
                  </a:ext>
                </a:extLst>
              </p:cNvPr>
              <p:cNvSpPr txBox="1"/>
              <p:nvPr/>
            </p:nvSpPr>
            <p:spPr>
              <a:xfrm>
                <a:off x="6912792" y="1497232"/>
                <a:ext cx="3194230" cy="1467518"/>
              </a:xfrm>
              <a:prstGeom prst="rect">
                <a:avLst/>
              </a:prstGeom>
              <a:noFill/>
            </p:spPr>
            <p:txBody>
              <a:bodyPr wrap="square">
                <a:spAutoFit/>
              </a:bodyPr>
              <a:lstStyle/>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HK" sz="1600" dirty="0">
                    <a:latin typeface="Times New Roman" panose="02020603050405020304" pitchFamily="18" charset="0"/>
                    <a:ea typeface="SimSun"/>
                    <a:cs typeface="Times New Roman" panose="02020603050405020304" pitchFamily="18" charset="0"/>
                  </a:rPr>
                  <a:t>Root mean square error (RMSE)</a:t>
                </a:r>
                <a:endParaRPr lang="en-US" sz="1600" dirty="0">
                  <a:latin typeface="Times New Roman" panose="02020603050405020304" pitchFamily="18" charset="0"/>
                  <a:ea typeface="SimSun"/>
                  <a:cs typeface="Times New Roman" panose="02020603050405020304" pitchFamily="18" charset="0"/>
                </a:endParaRPr>
              </a:p>
              <a:p>
                <a:pPr/>
                <a14:m>
                  <m:oMathPara xmlns:m="http://schemas.openxmlformats.org/officeDocument/2006/math">
                    <m:oMathParaPr>
                      <m:jc m:val="left"/>
                    </m:oMathParaPr>
                    <m:oMath>
                      <m:r>
                        <a:rPr lang="en-US" sz="1400" i="1">
                          <a:latin typeface="Times New Roman" panose="02040503050406030204" pitchFamily="18" charset="0"/>
                          <a:ea typeface="SimSun"/>
                          <a:cs typeface="Times New Roman"/>
                        </a:rPr>
                        <m:t>𝑅𝑀𝑆𝐸</m:t>
                      </m:r>
                      <m:r>
                        <a:rPr lang="en-US" sz="1400" i="1">
                          <a:latin typeface="Times New Roman" panose="02040503050406030204" pitchFamily="18" charset="0"/>
                          <a:ea typeface="SimSun"/>
                          <a:cs typeface="Times New Roman"/>
                        </a:rPr>
                        <m:t>=</m:t>
                      </m:r>
                      <m:rad>
                        <m:radPr>
                          <m:degHide m:val="on"/>
                          <m:ctrlPr>
                            <a:rPr lang="en-HK" sz="1400" i="1">
                              <a:latin typeface="Times New Roman" panose="02040503050406030204" pitchFamily="18" charset="0"/>
                              <a:ea typeface="SimSun"/>
                              <a:cs typeface="Times New Roman"/>
                            </a:rPr>
                          </m:ctrlPr>
                        </m:radPr>
                        <m:deg/>
                        <m:e>
                          <m:f>
                            <m:fPr>
                              <m:ctrlPr>
                                <a:rPr lang="en-HK" sz="1400" i="1">
                                  <a:latin typeface="Times New Roman" panose="02040503050406030204" pitchFamily="18" charset="0"/>
                                  <a:ea typeface="SimSun"/>
                                  <a:cs typeface="Times New Roman"/>
                                </a:rPr>
                              </m:ctrlPr>
                            </m:fPr>
                            <m:num>
                              <m:f>
                                <m:fPr>
                                  <m:ctrlPr>
                                    <a:rPr lang="en-US" sz="1400" i="1">
                                      <a:latin typeface="Times New Roman" panose="02040503050406030204" pitchFamily="18" charset="0"/>
                                      <a:ea typeface="SimSun"/>
                                      <a:cs typeface="Times New Roman"/>
                                    </a:rPr>
                                  </m:ctrlPr>
                                </m:fPr>
                                <m:num>
                                  <m:r>
                                    <a:rPr lang="en-US" sz="1400" i="1">
                                      <a:latin typeface="Times New Roman" panose="02040503050406030204" pitchFamily="18" charset="0"/>
                                      <a:ea typeface="SimSun"/>
                                      <a:cs typeface="Times New Roman"/>
                                    </a:rPr>
                                    <m:t>𝑛</m:t>
                                  </m:r>
                                </m:num>
                                <m:den>
                                  <m:r>
                                    <a:rPr lang="en-US" sz="1400" i="1">
                                      <a:latin typeface="Times New Roman" panose="02040503050406030204" pitchFamily="18" charset="0"/>
                                      <a:ea typeface="SimSun"/>
                                      <a:cs typeface="Times New Roman"/>
                                    </a:rPr>
                                    <m:t>𝑖</m:t>
                                  </m:r>
                                  <m:r>
                                    <a:rPr lang="en-US" sz="1400" i="1">
                                      <a:latin typeface="Times New Roman" panose="02040503050406030204" pitchFamily="18" charset="0"/>
                                      <a:ea typeface="SimSun"/>
                                      <a:cs typeface="Times New Roman"/>
                                    </a:rPr>
                                    <m:t>=</m:t>
                                  </m:r>
                                  <m:r>
                                    <a:rPr lang="en-US" sz="1400" i="1">
                                      <a:latin typeface="Times New Roman" panose="02040503050406030204" pitchFamily="18" charset="0"/>
                                      <a:ea typeface="SimSun"/>
                                      <a:cs typeface="Times New Roman"/>
                                    </a:rPr>
                                    <m:t>𝑘</m:t>
                                  </m:r>
                                </m:den>
                              </m:f>
                              <m:sSup>
                                <m:sSupPr>
                                  <m:ctrlPr>
                                    <a:rPr lang="en-HK" sz="1400" i="1">
                                      <a:latin typeface="Times New Roman" panose="02040503050406030204" pitchFamily="18" charset="0"/>
                                      <a:ea typeface="SimSun"/>
                                      <a:cs typeface="Times New Roman"/>
                                    </a:rPr>
                                  </m:ctrlPr>
                                </m:sSupPr>
                                <m:e>
                                  <m:d>
                                    <m:dPr>
                                      <m:ctrlPr>
                                        <a:rPr lang="en-HK" sz="1400" i="1">
                                          <a:latin typeface="Times New Roman" panose="02040503050406030204" pitchFamily="18" charset="0"/>
                                          <a:ea typeface="SimSun"/>
                                          <a:cs typeface="Times New Roman"/>
                                        </a:rPr>
                                      </m:ctrlPr>
                                    </m:dPr>
                                    <m:e>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𝑃</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r>
                                        <a:rPr lang="en-US" sz="1400" i="1">
                                          <a:latin typeface="Times New Roman" panose="02040503050406030204" pitchFamily="18" charset="0"/>
                                          <a:ea typeface="SimSun"/>
                                          <a:cs typeface="Times New Roman"/>
                                        </a:rPr>
                                        <m:t>−</m:t>
                                      </m:r>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𝑌</m:t>
                                          </m:r>
                                        </m:e>
                                        <m:sub>
                                          <m:r>
                                            <a:rPr lang="en-US" sz="1400" i="1">
                                              <a:latin typeface="Times New Roman" panose="02040503050406030204" pitchFamily="18" charset="0"/>
                                              <a:ea typeface="SimSun"/>
                                              <a:cs typeface="Times New Roman"/>
                                            </a:rPr>
                                            <m:t>𝑇</m:t>
                                          </m:r>
                                        </m:sub>
                                      </m:sSub>
                                      <m:d>
                                        <m:dPr>
                                          <m:ctrlPr>
                                            <a:rPr lang="en-US" sz="1400" i="1">
                                              <a:latin typeface="Times New Roman" panose="02040503050406030204" pitchFamily="18" charset="0"/>
                                              <a:ea typeface="SimSun"/>
                                              <a:cs typeface="Times New Roman"/>
                                            </a:rPr>
                                          </m:ctrlPr>
                                        </m:dPr>
                                        <m:e>
                                          <m:r>
                                            <a:rPr lang="en-US" sz="1400" i="1">
                                              <a:latin typeface="Times New Roman" panose="02040503050406030204" pitchFamily="18" charset="0"/>
                                              <a:ea typeface="SimSun"/>
                                              <a:cs typeface="Times New Roman"/>
                                            </a:rPr>
                                            <m:t>𝑘</m:t>
                                          </m:r>
                                        </m:e>
                                      </m:d>
                                    </m:e>
                                  </m:d>
                                </m:e>
                                <m:sup>
                                  <m:r>
                                    <a:rPr lang="en-US" sz="1400" i="1">
                                      <a:latin typeface="Times New Roman" panose="02040503050406030204" pitchFamily="18" charset="0"/>
                                      <a:ea typeface="SimSun"/>
                                      <a:cs typeface="Times New Roman"/>
                                    </a:rPr>
                                    <m:t>2</m:t>
                                  </m:r>
                                </m:sup>
                              </m:sSup>
                            </m:num>
                            <m:den>
                              <m:r>
                                <a:rPr lang="en-US" sz="1400" i="1">
                                  <a:latin typeface="Times New Roman" panose="02040503050406030204" pitchFamily="18" charset="0"/>
                                  <a:ea typeface="SimSun"/>
                                  <a:cs typeface="Times New Roman"/>
                                </a:rPr>
                                <m:t>𝑛</m:t>
                              </m:r>
                            </m:den>
                          </m:f>
                        </m:e>
                      </m:rad>
                    </m:oMath>
                  </m:oMathPara>
                </a14:m>
                <a:endParaRPr lang="en-HK" altLang="zh-CN" sz="1400"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14" name="文本框 13">
                <a:extLst>
                  <a:ext uri="{FF2B5EF4-FFF2-40B4-BE49-F238E27FC236}">
                    <a16:creationId xmlns:a16="http://schemas.microsoft.com/office/drawing/2014/main" id="{A3E09337-770C-4F81-814A-1BC14FDF9430}"/>
                  </a:ext>
                </a:extLst>
              </p:cNvPr>
              <p:cNvSpPr txBox="1">
                <a:spLocks noRot="1" noChangeAspect="1" noMove="1" noResize="1" noEditPoints="1" noAdjustHandles="1" noChangeArrowheads="1" noChangeShapeType="1" noTextEdit="1"/>
              </p:cNvSpPr>
              <p:nvPr/>
            </p:nvSpPr>
            <p:spPr>
              <a:xfrm>
                <a:off x="6912792" y="1497232"/>
                <a:ext cx="3194230" cy="1467518"/>
              </a:xfrm>
              <a:prstGeom prst="rect">
                <a:avLst/>
              </a:prstGeom>
              <a:blipFill>
                <a:blip r:embed="rId4"/>
                <a:stretch>
                  <a:fillRect l="-76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35A6205-58C3-4CCF-8CD9-85301F663455}"/>
                  </a:ext>
                </a:extLst>
              </p:cNvPr>
              <p:cNvSpPr txBox="1"/>
              <p:nvPr/>
            </p:nvSpPr>
            <p:spPr>
              <a:xfrm>
                <a:off x="1349740" y="3136913"/>
                <a:ext cx="2602596" cy="338554"/>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Validation results for </a:t>
                </a:r>
                <a14:m>
                  <m:oMath xmlns:m="http://schemas.openxmlformats.org/officeDocument/2006/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𝜀</m:t>
                        </m:r>
                      </m:e>
                      <m:sub>
                        <m:r>
                          <a:rPr lang="en-US" sz="1400" i="1">
                            <a:latin typeface="Times New Roman" panose="02040503050406030204" pitchFamily="18" charset="0"/>
                            <a:ea typeface="SimSun"/>
                            <a:cs typeface="Times New Roman"/>
                          </a:rPr>
                          <m:t>𝑤𝑏</m:t>
                        </m:r>
                      </m:sub>
                    </m:sSub>
                  </m:oMath>
                </a14:m>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t>
                </a:r>
                <a:endParaRPr lang="en-HK" altLang="zh-CN" sz="1400" dirty="0">
                  <a:latin typeface="Times New Roman" panose="02020603050405020304" pitchFamily="18" charset="0"/>
                  <a:ea typeface="SimSun" panose="02010600030101010101" pitchFamily="2" charset="-122"/>
                  <a:cs typeface="Times New Roman"/>
                </a:endParaRPr>
              </a:p>
            </p:txBody>
          </p:sp>
        </mc:Choice>
        <mc:Fallback xmlns="">
          <p:sp>
            <p:nvSpPr>
              <p:cNvPr id="20" name="文本框 19">
                <a:extLst>
                  <a:ext uri="{FF2B5EF4-FFF2-40B4-BE49-F238E27FC236}">
                    <a16:creationId xmlns:a16="http://schemas.microsoft.com/office/drawing/2014/main" id="{E35A6205-58C3-4CCF-8CD9-85301F663455}"/>
                  </a:ext>
                </a:extLst>
              </p:cNvPr>
              <p:cNvSpPr txBox="1">
                <a:spLocks noRot="1" noChangeAspect="1" noMove="1" noResize="1" noEditPoints="1" noAdjustHandles="1" noChangeArrowheads="1" noChangeShapeType="1" noTextEdit="1"/>
              </p:cNvSpPr>
              <p:nvPr/>
            </p:nvSpPr>
            <p:spPr>
              <a:xfrm>
                <a:off x="1349740" y="3136913"/>
                <a:ext cx="2602596" cy="338554"/>
              </a:xfrm>
              <a:prstGeom prst="rect">
                <a:avLst/>
              </a:prstGeom>
              <a:blipFill>
                <a:blip r:embed="rId6"/>
                <a:stretch>
                  <a:fillRect l="-937" t="-5455" b="-23636"/>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39</a:t>
            </a:fld>
            <a:endParaRPr lang="en-US" altLang="zh-CN">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487ACB5-A7B5-403E-9789-1804E92592F8}"/>
                  </a:ext>
                </a:extLst>
              </p:cNvPr>
              <p:cNvSpPr txBox="1"/>
              <p:nvPr/>
            </p:nvSpPr>
            <p:spPr>
              <a:xfrm>
                <a:off x="6258917" y="3130040"/>
                <a:ext cx="2602596" cy="338554"/>
              </a:xfrm>
              <a:prstGeom prst="rect">
                <a:avLst/>
              </a:prstGeom>
              <a:noFill/>
            </p:spPr>
            <p:txBody>
              <a:bodyPr wrap="square">
                <a:spAutoFit/>
              </a:bodyPr>
              <a:lstStyle/>
              <a:p>
                <a:pPr marL="285750" indent="-285750">
                  <a:buFont typeface="Arial" panose="020B0604020202020204" pitchFamily="34" charset="0"/>
                  <a:buChar char="•"/>
                </a:pPr>
                <a:r>
                  <a:rPr lang="en-US" altLang="zh-CN" sz="1600" dirty="0">
                    <a:latin typeface="Times New Roman" panose="02020603050405020304" pitchFamily="18" charset="0"/>
                    <a:ea typeface="SimSun" panose="02010600030101010101" pitchFamily="2" charset="-122"/>
                    <a:cs typeface="Times New Roman" panose="02020603050405020304" pitchFamily="18" charset="0"/>
                  </a:rPr>
                  <a:t>Validation results for </a:t>
                </a:r>
                <a14:m>
                  <m:oMath xmlns:m="http://schemas.openxmlformats.org/officeDocument/2006/math">
                    <m:r>
                      <a:rPr lang="en-HK" sz="1400" i="1" smtClean="0">
                        <a:latin typeface="Times New Roman" panose="02040503050406030204" pitchFamily="18" charset="0"/>
                        <a:ea typeface="SimSun" panose="02040503050406030204" pitchFamily="18" charset="0"/>
                        <a:cs typeface="Times New Roman"/>
                      </a:rPr>
                      <m:t>∆</m:t>
                    </m:r>
                    <m:r>
                      <a:rPr lang="en-HK" sz="1400" b="0" i="1" smtClean="0">
                        <a:latin typeface="Times New Roman" panose="02040503050406030204" pitchFamily="18" charset="0"/>
                        <a:ea typeface="SimSun" panose="02040503050406030204" pitchFamily="18" charset="0"/>
                        <a:cs typeface="Times New Roman"/>
                      </a:rPr>
                      <m:t>𝑃</m:t>
                    </m:r>
                  </m:oMath>
                </a14:m>
                <a:r>
                  <a:rPr lang="en-US" altLang="zh-CN" sz="1400" dirty="0">
                    <a:latin typeface="Times New Roman" panose="02020603050405020304" pitchFamily="18" charset="0"/>
                    <a:ea typeface="SimSun" panose="02010600030101010101" pitchFamily="2" charset="-122"/>
                    <a:cs typeface="Times New Roman" panose="02020603050405020304" pitchFamily="18" charset="0"/>
                  </a:rPr>
                  <a:t>  </a:t>
                </a:r>
                <a:endParaRPr lang="en-HK" altLang="zh-CN" sz="1400" dirty="0">
                  <a:latin typeface="Times New Roman" panose="02020603050405020304" pitchFamily="18" charset="0"/>
                  <a:ea typeface="SimSun" panose="02010600030101010101" pitchFamily="2" charset="-122"/>
                  <a:cs typeface="Times New Roman"/>
                </a:endParaRPr>
              </a:p>
            </p:txBody>
          </p:sp>
        </mc:Choice>
        <mc:Fallback xmlns="">
          <p:sp>
            <p:nvSpPr>
              <p:cNvPr id="24" name="文本框 23">
                <a:extLst>
                  <a:ext uri="{FF2B5EF4-FFF2-40B4-BE49-F238E27FC236}">
                    <a16:creationId xmlns:a16="http://schemas.microsoft.com/office/drawing/2014/main" id="{D487ACB5-A7B5-403E-9789-1804E92592F8}"/>
                  </a:ext>
                </a:extLst>
              </p:cNvPr>
              <p:cNvSpPr txBox="1">
                <a:spLocks noRot="1" noChangeAspect="1" noMove="1" noResize="1" noEditPoints="1" noAdjustHandles="1" noChangeArrowheads="1" noChangeShapeType="1" noTextEdit="1"/>
              </p:cNvSpPr>
              <p:nvPr/>
            </p:nvSpPr>
            <p:spPr>
              <a:xfrm>
                <a:off x="6258917" y="3130040"/>
                <a:ext cx="2602596" cy="338554"/>
              </a:xfrm>
              <a:prstGeom prst="rect">
                <a:avLst/>
              </a:prstGeom>
              <a:blipFill>
                <a:blip r:embed="rId7"/>
                <a:stretch>
                  <a:fillRect l="-937" t="-5357" b="-21429"/>
                </a:stretch>
              </a:blipFill>
            </p:spPr>
            <p:txBody>
              <a:bodyPr/>
              <a:lstStyle/>
              <a:p>
                <a:r>
                  <a:rPr lang="en-US">
                    <a:noFill/>
                    <a:latin typeface="Times New Roman"/>
                    <a:ea typeface="SimSun"/>
                    <a:cs typeface="Times New Roman"/>
                  </a:rPr>
                  <a:t> </a:t>
                </a:r>
              </a:p>
            </p:txBody>
          </p:sp>
        </mc:Fallback>
      </mc:AlternateContent>
      <p:sp>
        <p:nvSpPr>
          <p:cNvPr id="26" name="矩形 3">
            <a:extLst>
              <a:ext uri="{FF2B5EF4-FFF2-40B4-BE49-F238E27FC236}">
                <a16:creationId xmlns:a16="http://schemas.microsoft.com/office/drawing/2014/main" id="{0F9850C2-7E88-4574-A261-BB798FA1CEA9}"/>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grpSp>
        <p:nvGrpSpPr>
          <p:cNvPr id="27" name="Original English content (proportional layout)"/>
          <p:cNvGrpSpPr/>
          <p:nvPr/>
        </p:nvGrpSpPr>
        <p:grpSpPr>
          <a:xfrm>
            <a:off x="1097280" y="731520"/>
            <a:ext cx="9997440" cy="5023714"/>
            <a:chOff x="0" y="731520"/>
            <a:chExt cx="12192000" cy="6126480"/>
          </a:xfrm>
        </p:grpSpPr>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69801" y="923611"/>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5.3 </a:t>
              </a:r>
              <a:r>
                <a:rPr lang="en-HK" altLang="en-US" sz="1476" b="1" kern="0" dirty="0">
                  <a:latin typeface="Times New Roman" panose="02020603050405020304" pitchFamily="18" charset="0"/>
                  <a:ea typeface="SimSun"/>
                  <a:cs typeface="Times New Roman" panose="02020603050405020304" pitchFamily="18" charset="0"/>
                </a:rPr>
                <a:t>Model validations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22" name="文本框 21">
              <a:extLst>
                <a:ext uri="{FF2B5EF4-FFF2-40B4-BE49-F238E27FC236}">
                  <a16:creationId xmlns:a16="http://schemas.microsoft.com/office/drawing/2014/main" id="{41A6500A-464D-4FD0-941B-13435C71BC36}"/>
                </a:ext>
              </a:extLst>
            </p:cNvPr>
            <p:cNvSpPr txBox="1"/>
            <p:nvPr/>
          </p:nvSpPr>
          <p:spPr>
            <a:xfrm>
              <a:off x="1087738" y="1334252"/>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Evaluation metrics of neural network</a:t>
              </a:r>
              <a:endParaRPr lang="zh-CN" altLang="en-US" sz="1312" dirty="0">
                <a:latin typeface="Times New Roman"/>
                <a:ea typeface="SimSun"/>
                <a:cs typeface="Times New Roman"/>
              </a:endParaRPr>
            </a:p>
          </p:txBody>
        </p:sp>
        <p:sp>
          <p:nvSpPr>
            <p:cNvPr id="23" name="文本框 22">
              <a:extLst>
                <a:ext uri="{FF2B5EF4-FFF2-40B4-BE49-F238E27FC236}">
                  <a16:creationId xmlns:a16="http://schemas.microsoft.com/office/drawing/2014/main" id="{FA861512-BAB0-468A-B0A7-A4D2B0FF270C}"/>
                </a:ext>
              </a:extLst>
            </p:cNvPr>
            <p:cNvSpPr txBox="1"/>
            <p:nvPr/>
          </p:nvSpPr>
          <p:spPr>
            <a:xfrm>
              <a:off x="1084796" y="2748362"/>
              <a:ext cx="2081212"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Validation results</a:t>
              </a:r>
              <a:endParaRPr lang="zh-CN" altLang="en-US" sz="1312" dirty="0">
                <a:latin typeface="Times New Roman"/>
                <a:ea typeface="SimSun"/>
                <a:cs typeface="Times New Roman"/>
              </a:endParaRPr>
            </a:p>
          </p:txBody>
        </p:sp>
        <p:pic>
          <p:nvPicPr>
            <p:cNvPr id="16" name="图片 15">
              <a:extLst>
                <a:ext uri="{FF2B5EF4-FFF2-40B4-BE49-F238E27FC236}">
                  <a16:creationId xmlns:a16="http://schemas.microsoft.com/office/drawing/2014/main" id="{D76045D2-33B3-4FFE-AEFE-93DA0A36FDCE}"/>
                </a:ext>
              </a:extLst>
            </p:cNvPr>
            <p:cNvPicPr>
              <a:picLocks noChangeAspect="1"/>
            </p:cNvPicPr>
            <p:nvPr/>
          </p:nvPicPr>
          <p:blipFill rotWithShape="1">
            <a:blip r:embed="rId5"/>
            <a:srcRect r="51647"/>
            <a:stretch/>
          </p:blipFill>
          <p:spPr>
            <a:xfrm>
              <a:off x="1712967" y="3511592"/>
              <a:ext cx="3622514" cy="2880000"/>
            </a:xfrm>
            <a:prstGeom prst="rect">
              <a:avLst/>
            </a:prstGeom>
          </p:spPr>
        </p:pic>
        <p:sp>
          <p:nvSpPr>
            <p:cNvPr id="25" name="矩形 24">
              <a:extLst>
                <a:ext uri="{FF2B5EF4-FFF2-40B4-BE49-F238E27FC236}">
                  <a16:creationId xmlns:a16="http://schemas.microsoft.com/office/drawing/2014/main" id="{0CC38A83-65F3-4D8A-8550-520315C097C1}"/>
                </a:ext>
              </a:extLst>
            </p:cNvPr>
            <p:cNvSpPr/>
            <p:nvPr/>
          </p:nvSpPr>
          <p:spPr>
            <a:xfrm>
              <a:off x="4495800" y="6436925"/>
              <a:ext cx="4014107"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Fig.5.3.1 </a:t>
              </a:r>
              <a:r>
                <a:rPr lang="en-HK" sz="984" dirty="0">
                  <a:solidFill>
                    <a:prstClr val="black"/>
                  </a:solidFill>
                  <a:latin typeface="Times New Roman" panose="02020603050405020304" pitchFamily="18" charset="0"/>
                  <a:ea typeface="SimSun"/>
                  <a:cs typeface="Times New Roman" panose="02020603050405020304" pitchFamily="18" charset="0"/>
                </a:rPr>
                <a:t>Validation results of the proposed IEC-ANN model</a:t>
              </a:r>
            </a:p>
          </p:txBody>
        </p:sp>
        <p:pic>
          <p:nvPicPr>
            <p:cNvPr id="15" name="图片 14">
              <a:extLst>
                <a:ext uri="{FF2B5EF4-FFF2-40B4-BE49-F238E27FC236}">
                  <a16:creationId xmlns:a16="http://schemas.microsoft.com/office/drawing/2014/main" id="{1660DE93-ED6A-4240-A8F7-6AEAB9A9875D}"/>
                </a:ext>
              </a:extLst>
            </p:cNvPr>
            <p:cNvPicPr>
              <a:picLocks noChangeAspect="1"/>
            </p:cNvPicPr>
            <p:nvPr/>
          </p:nvPicPr>
          <p:blipFill rotWithShape="1">
            <a:blip r:embed="rId5"/>
            <a:srcRect l="51647"/>
            <a:stretch/>
          </p:blipFill>
          <p:spPr>
            <a:xfrm>
              <a:off x="6856519" y="3475587"/>
              <a:ext cx="3622514" cy="2880000"/>
            </a:xfrm>
            <a:prstGeom prst="rect">
              <a:avLst/>
            </a:prstGeom>
          </p:spPr>
        </p:pic>
      </p:grpSp>
      <p:sp>
        <p:nvSpPr>
          <p:cNvPr id="28"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中文要点｜ANN 模型验证</a:t>
            </a:r>
          </a:p>
          <a:p>
            <a:pPr>
              <a:lnSpc>
                <a:spcPct val="108000"/>
              </a:lnSpc>
              <a:spcAft>
                <a:spcPts val="0"/>
              </a:spcAft>
            </a:pPr>
            <a:r>
              <a:rPr sz="1400" b="0">
                <a:solidFill>
                  <a:srgbClr val="282828"/>
                </a:solidFill>
                <a:latin typeface="Times New Roman"/>
                <a:ea typeface="SimSun"/>
                <a:cs typeface="Times New Roman"/>
              </a:rPr>
              <a:t>通过神经网络评价指标及预测值与实验值的对比，检验所建立 IEC–ANN 模型的预测能力。</a:t>
            </a:r>
          </a:p>
        </p:txBody>
      </p:sp>
    </p:spTree>
    <p:extLst>
      <p:ext uri="{BB962C8B-B14F-4D97-AF65-F5344CB8AC3E}">
        <p14:creationId xmlns:p14="http://schemas.microsoft.com/office/powerpoint/2010/main" val="390626729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40</a:t>
            </a:fld>
            <a:endParaRPr lang="en-US" altLang="zh-CN">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3D740581-7BC4-4D11-9A15-4D931444F47A}"/>
                  </a:ext>
                </a:extLst>
              </p:cNvPr>
              <p:cNvSpPr/>
              <p:nvPr/>
            </p:nvSpPr>
            <p:spPr>
              <a:xfrm>
                <a:off x="2657506" y="6271205"/>
                <a:ext cx="2426604" cy="276999"/>
              </a:xfrm>
              <a:prstGeom prst="rect">
                <a:avLst/>
              </a:prstGeom>
            </p:spPr>
            <p:txBody>
              <a:bodyPr wrap="square">
                <a:spAutoFit/>
              </a:bodyPr>
              <a:lstStyle/>
              <a:p>
                <a:pPr defTabSz="457200" eaLnBrk="1" fontAlgn="auto" hangingPunct="1">
                  <a:spcBef>
                    <a:spcPts val="0"/>
                  </a:spcBef>
                  <a:spcAft>
                    <a:spcPts val="0"/>
                  </a:spcAft>
                </a:pPr>
                <a:r>
                  <a:rPr lang="en-HK" sz="1200" dirty="0">
                    <a:solidFill>
                      <a:prstClr val="black"/>
                    </a:solidFill>
                    <a:latin typeface="Times New Roman" panose="02020603050405020304" pitchFamily="18" charset="0"/>
                    <a:ea typeface="SimSun"/>
                    <a:cs typeface="Times New Roman" panose="02020603050405020304" pitchFamily="18" charset="0"/>
                  </a:rPr>
                  <a:t>(c) Effect of pressure on </a:t>
                </a:r>
                <a14:m>
                  <m:oMath xmlns:m="http://schemas.openxmlformats.org/officeDocument/2006/math">
                    <m:sSub>
                      <m:sSubPr>
                        <m:ctrlPr>
                          <a:rPr lang="en-US" sz="1200" i="1">
                            <a:latin typeface="Times New Roman" panose="02040503050406030204" pitchFamily="18" charset="0"/>
                            <a:ea typeface="SimSun"/>
                            <a:cs typeface="Times New Roman"/>
                          </a:rPr>
                        </m:ctrlPr>
                      </m:sSubPr>
                      <m:e>
                        <m:r>
                          <a:rPr lang="en-US" sz="1200" i="1">
                            <a:latin typeface="Times New Roman" panose="02040503050406030204" pitchFamily="18" charset="0"/>
                            <a:ea typeface="SimSun"/>
                            <a:cs typeface="Times New Roman"/>
                          </a:rPr>
                          <m:t>𝜀</m:t>
                        </m:r>
                      </m:e>
                      <m:sub>
                        <m:r>
                          <a:rPr lang="en-US" sz="1200" i="1">
                            <a:latin typeface="Times New Roman" panose="02040503050406030204" pitchFamily="18" charset="0"/>
                            <a:ea typeface="SimSun"/>
                            <a:cs typeface="Times New Roman"/>
                          </a:rPr>
                          <m:t>𝑤𝑏</m:t>
                        </m:r>
                      </m:sub>
                    </m:sSub>
                  </m:oMath>
                </a14:m>
                <a:r>
                  <a:rPr lang="en-HK" sz="1200" dirty="0">
                    <a:solidFill>
                      <a:prstClr val="black"/>
                    </a:solidFill>
                    <a:latin typeface="Times New Roman" panose="02020603050405020304" pitchFamily="18" charset="0"/>
                    <a:ea typeface="SimSun"/>
                    <a:cs typeface="Times New Roman" panose="02020603050405020304" pitchFamily="18" charset="0"/>
                  </a:rPr>
                  <a:t> </a:t>
                </a:r>
              </a:p>
            </p:txBody>
          </p:sp>
        </mc:Choice>
        <mc:Fallback xmlns="">
          <p:sp>
            <p:nvSpPr>
              <p:cNvPr id="29" name="矩形 28">
                <a:extLst>
                  <a:ext uri="{FF2B5EF4-FFF2-40B4-BE49-F238E27FC236}">
                    <a16:creationId xmlns:a16="http://schemas.microsoft.com/office/drawing/2014/main" id="{3D740581-7BC4-4D11-9A15-4D931444F47A}"/>
                  </a:ext>
                </a:extLst>
              </p:cNvPr>
              <p:cNvSpPr>
                <a:spLocks noRot="1" noChangeAspect="1" noMove="1" noResize="1" noEditPoints="1" noAdjustHandles="1" noChangeArrowheads="1" noChangeShapeType="1" noTextEdit="1"/>
              </p:cNvSpPr>
              <p:nvPr/>
            </p:nvSpPr>
            <p:spPr>
              <a:xfrm>
                <a:off x="2657506" y="6271205"/>
                <a:ext cx="2426604" cy="276999"/>
              </a:xfrm>
              <a:prstGeom prst="rect">
                <a:avLst/>
              </a:prstGeom>
              <a:blipFill>
                <a:blip r:embed="rId6"/>
                <a:stretch>
                  <a:fillRect l="-251" t="-2222" b="-17778"/>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6B69FB8-A4E2-4EB5-9DCB-5948840A5D54}"/>
                  </a:ext>
                </a:extLst>
              </p:cNvPr>
              <p:cNvSpPr txBox="1"/>
              <p:nvPr/>
            </p:nvSpPr>
            <p:spPr>
              <a:xfrm>
                <a:off x="6004981" y="4963251"/>
                <a:ext cx="6119680" cy="1894749"/>
              </a:xfrm>
              <a:prstGeom prst="rect">
                <a:avLst/>
              </a:prstGeom>
              <a:noFill/>
            </p:spPr>
            <p:txBody>
              <a:bodyPr wrap="square">
                <a:spAutoFit/>
              </a:bodyPr>
              <a:lstStyle/>
              <a:p>
                <a:pPr>
                  <a:lnSpc>
                    <a:spcPct val="150000"/>
                  </a:lnSpc>
                </a:pPr>
                <a:r>
                  <a:rPr lang="en-HK" altLang="zh-CN" sz="1600" dirty="0">
                    <a:latin typeface="Times New Roman" panose="02020603050405020304" pitchFamily="18" charset="0"/>
                    <a:ea typeface="SimSun" panose="02010600030101010101" pitchFamily="2" charset="-122"/>
                    <a:cs typeface="Times New Roman"/>
                  </a:rPr>
                  <a:t>(a) The peak value of 67° is achieved at a pressure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0.15 MPa</a:t>
                </a:r>
                <a:r>
                  <a:rPr lang="en-HK" altLang="zh-CN" sz="1600" dirty="0">
                    <a:latin typeface="Times New Roman" panose="02020603050405020304" pitchFamily="18" charset="0"/>
                    <a:ea typeface="SimSun" panose="02010600030101010101" pitchFamily="2" charset="-122"/>
                    <a:cs typeface="Times New Roman"/>
                  </a:rPr>
                  <a:t>.</a:t>
                </a:r>
                <a:endParaRPr lang="en-US" altLang="zh-CN" sz="1600" dirty="0">
                  <a:latin typeface="Times New Roman" panose="02020603050405020304" pitchFamily="18" charset="0"/>
                  <a:ea typeface="SimSun" panose="02010600030101010101" pitchFamily="2" charset="-122"/>
                  <a:cs typeface="Times New Roman"/>
                </a:endParaRPr>
              </a:p>
              <a:p>
                <a:pPr>
                  <a:lnSpc>
                    <a:spcPct val="150000"/>
                  </a:lnSpc>
                </a:pPr>
                <a:r>
                  <a:rPr lang="en-US" altLang="zh-CN" sz="1600" dirty="0">
                    <a:latin typeface="Times New Roman" panose="02020603050405020304" pitchFamily="18" charset="0"/>
                    <a:ea typeface="SimSun" panose="02010600030101010101" pitchFamily="2" charset="-122"/>
                    <a:cs typeface="Times New Roman"/>
                  </a:rPr>
                  <a:t>(b) T</a:t>
                </a:r>
                <a:r>
                  <a:rPr lang="en-HK" altLang="zh-CN" sz="1600" dirty="0">
                    <a:latin typeface="Times New Roman" panose="02020603050405020304" pitchFamily="18" charset="0"/>
                    <a:ea typeface="SimSun" panose="02010600030101010101" pitchFamily="2" charset="-122"/>
                    <a:cs typeface="Times New Roman"/>
                  </a:rPr>
                  <a:t>he increasing trend of spray flow rate with the rise in pressure. </a:t>
                </a:r>
              </a:p>
              <a:p>
                <a:pPr>
                  <a:lnSpc>
                    <a:spcPct val="150000"/>
                  </a:lnSpc>
                </a:pPr>
                <a:r>
                  <a:rPr lang="en-HK" altLang="zh-CN" sz="1600" dirty="0">
                    <a:latin typeface="Times New Roman" panose="02020603050405020304" pitchFamily="18" charset="0"/>
                    <a:ea typeface="SimSun" panose="02010600030101010101" pitchFamily="2" charset="-122"/>
                    <a:cs typeface="Times New Roman"/>
                  </a:rPr>
                  <a:t>(c) The trend of </a:t>
                </a:r>
                <a14:m>
                  <m:oMath xmlns:m="http://schemas.openxmlformats.org/officeDocument/2006/math">
                    <m:sSub>
                      <m:sSubPr>
                        <m:ctrlPr>
                          <a:rPr lang="en-US" sz="1600" b="1" i="1">
                            <a:solidFill>
                              <a:srgbClr val="C00000"/>
                            </a:solidFill>
                            <a:latin typeface="Times New Roman" panose="02040503050406030204" pitchFamily="18" charset="0"/>
                            <a:ea typeface="SimSun"/>
                            <a:cs typeface="Times New Roman"/>
                          </a:rPr>
                        </m:ctrlPr>
                      </m:sSubPr>
                      <m:e>
                        <m:r>
                          <a:rPr lang="en-US" sz="1600" b="1" i="1">
                            <a:solidFill>
                              <a:srgbClr val="C00000"/>
                            </a:solidFill>
                            <a:latin typeface="Times New Roman" panose="02040503050406030204" pitchFamily="18" charset="0"/>
                            <a:ea typeface="SimSun"/>
                            <a:cs typeface="Times New Roman"/>
                          </a:rPr>
                          <m:t>𝜺</m:t>
                        </m:r>
                      </m:e>
                      <m:sub>
                        <m:r>
                          <a:rPr lang="en-US" sz="1600" b="1" i="1">
                            <a:solidFill>
                              <a:srgbClr val="C00000"/>
                            </a:solidFill>
                            <a:latin typeface="Times New Roman" panose="02040503050406030204" pitchFamily="18" charset="0"/>
                            <a:ea typeface="SimSun"/>
                            <a:cs typeface="Times New Roman"/>
                          </a:rPr>
                          <m:t>𝒘𝒃</m:t>
                        </m:r>
                      </m:sub>
                    </m:sSub>
                  </m:oMath>
                </a14:m>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altLang="zh-CN" sz="1600" dirty="0">
                    <a:latin typeface="Times New Roman" panose="02020603050405020304" pitchFamily="18" charset="0"/>
                    <a:ea typeface="SimSun" panose="02010600030101010101" pitchFamily="2" charset="-122"/>
                    <a:cs typeface="Times New Roman"/>
                  </a:rPr>
                  <a:t>with pressure is consistent with spray angle.</a:t>
                </a:r>
              </a:p>
              <a:p>
                <a:pPr>
                  <a:lnSpc>
                    <a:spcPct val="150000"/>
                  </a:lnSpc>
                </a:pPr>
                <a:r>
                  <a:rPr lang="en-HK" altLang="zh-CN" sz="1600" dirty="0">
                    <a:latin typeface="Times New Roman" panose="02020603050405020304" pitchFamily="18" charset="0"/>
                    <a:ea typeface="SimSun" panose="02010600030101010101" pitchFamily="2" charset="-122"/>
                    <a:cs typeface="Times New Roman"/>
                  </a:rPr>
                  <a:t>(d) The maximum coverage ratio is achieved at a pressure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0.15 MPa</a:t>
                </a:r>
                <a:r>
                  <a:rPr lang="en-HK" altLang="zh-CN" sz="1600" dirty="0">
                    <a:latin typeface="Times New Roman" panose="02020603050405020304" pitchFamily="18" charset="0"/>
                    <a:ea typeface="SimSun" panose="02010600030101010101" pitchFamily="2" charset="-122"/>
                    <a:cs typeface="Times New Roman"/>
                  </a:rPr>
                  <a:t>.</a:t>
                </a:r>
              </a:p>
              <a:p>
                <a:pPr>
                  <a:lnSpc>
                    <a:spcPct val="150000"/>
                  </a:lnSpc>
                </a:pPr>
                <a:endParaRPr lang="en-US"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30" name="文本框 29">
                <a:extLst>
                  <a:ext uri="{FF2B5EF4-FFF2-40B4-BE49-F238E27FC236}">
                    <a16:creationId xmlns:a16="http://schemas.microsoft.com/office/drawing/2014/main" id="{16B69FB8-A4E2-4EB5-9DCB-5948840A5D54}"/>
                  </a:ext>
                </a:extLst>
              </p:cNvPr>
              <p:cNvSpPr txBox="1">
                <a:spLocks noRot="1" noChangeAspect="1" noMove="1" noResize="1" noEditPoints="1" noAdjustHandles="1" noChangeArrowheads="1" noChangeShapeType="1" noTextEdit="1"/>
              </p:cNvSpPr>
              <p:nvPr/>
            </p:nvSpPr>
            <p:spPr>
              <a:xfrm>
                <a:off x="6004981" y="4963251"/>
                <a:ext cx="6119680" cy="1894749"/>
              </a:xfrm>
              <a:prstGeom prst="rect">
                <a:avLst/>
              </a:prstGeom>
              <a:blipFill>
                <a:blip r:embed="rId7"/>
                <a:stretch>
                  <a:fillRect l="-498"/>
                </a:stretch>
              </a:blipFill>
            </p:spPr>
            <p:txBody>
              <a:bodyPr/>
              <a:lstStyle/>
              <a:p>
                <a:r>
                  <a:rPr lang="en-US">
                    <a:noFill/>
                    <a:latin typeface="Times New Roman"/>
                    <a:ea typeface="SimSun"/>
                    <a:cs typeface="Times New Roman"/>
                  </a:rPr>
                  <a:t> </a:t>
                </a:r>
              </a:p>
            </p:txBody>
          </p:sp>
        </mc:Fallback>
      </mc:AlternateContent>
      <p:grpSp>
        <p:nvGrpSpPr>
          <p:cNvPr id="31" name="Original English content (proportional layout)"/>
          <p:cNvGrpSpPr/>
          <p:nvPr/>
        </p:nvGrpSpPr>
        <p:grpSpPr>
          <a:xfrm>
            <a:off x="1097280" y="731520"/>
            <a:ext cx="9997440" cy="5023714"/>
            <a:chOff x="0" y="731520"/>
            <a:chExt cx="12192000" cy="6126480"/>
          </a:xfrm>
        </p:grpSpPr>
        <p:pic>
          <p:nvPicPr>
            <p:cNvPr id="17" name="图片 16">
              <a:extLst>
                <a:ext uri="{FF2B5EF4-FFF2-40B4-BE49-F238E27FC236}">
                  <a16:creationId xmlns:a16="http://schemas.microsoft.com/office/drawing/2014/main" id="{B7E1D35F-5594-44B9-8F64-FD30AA64157B}"/>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bwMode="auto">
            <a:xfrm>
              <a:off x="995038" y="1784146"/>
              <a:ext cx="5273588" cy="2232000"/>
            </a:xfrm>
            <a:prstGeom prst="rect">
              <a:avLst/>
            </a:prstGeom>
            <a:ln>
              <a:noFill/>
            </a:ln>
            <a:extLst>
              <a:ext uri="{53640926-AAD7-44D8-BBD7-CCE9431645EC}">
                <a14:shadowObscured xmlns:a14="http://schemas.microsoft.com/office/drawing/2010/main"/>
              </a:ext>
            </a:extLst>
          </p:spPr>
        </p:pic>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90459" y="937927"/>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5.4 </a:t>
              </a:r>
              <a:r>
                <a:rPr lang="en-HK" altLang="en-US" sz="1476" b="1" kern="0" dirty="0">
                  <a:latin typeface="Times New Roman" panose="02020603050405020304" pitchFamily="18" charset="0"/>
                  <a:ea typeface="SimSun"/>
                  <a:cs typeface="Times New Roman" panose="02020603050405020304" pitchFamily="18" charset="0"/>
                </a:rPr>
                <a:t>Results and discussions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22" name="文本框 21">
              <a:extLst>
                <a:ext uri="{FF2B5EF4-FFF2-40B4-BE49-F238E27FC236}">
                  <a16:creationId xmlns:a16="http://schemas.microsoft.com/office/drawing/2014/main" id="{41A6500A-464D-4FD0-941B-13435C71BC36}"/>
                </a:ext>
              </a:extLst>
            </p:cNvPr>
            <p:cNvSpPr txBox="1"/>
            <p:nvPr/>
          </p:nvSpPr>
          <p:spPr>
            <a:xfrm>
              <a:off x="849994" y="1623109"/>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Nozzle characteristics parameters</a:t>
              </a:r>
              <a:endParaRPr lang="zh-CN" altLang="en-US" sz="1312" dirty="0">
                <a:latin typeface="Times New Roman"/>
                <a:ea typeface="SimSun"/>
                <a:cs typeface="Times New Roman"/>
              </a:endParaRPr>
            </a:p>
          </p:txBody>
        </p:sp>
        <p:sp>
          <p:nvSpPr>
            <p:cNvPr id="20" name="文本框 19">
              <a:extLst>
                <a:ext uri="{FF2B5EF4-FFF2-40B4-BE49-F238E27FC236}">
                  <a16:creationId xmlns:a16="http://schemas.microsoft.com/office/drawing/2014/main" id="{E35A6205-58C3-4CCF-8CD9-85301F663455}"/>
                </a:ext>
              </a:extLst>
            </p:cNvPr>
            <p:cNvSpPr txBox="1"/>
            <p:nvPr/>
          </p:nvSpPr>
          <p:spPr>
            <a:xfrm>
              <a:off x="6413670" y="1474234"/>
              <a:ext cx="5302303" cy="338554"/>
            </a:xfrm>
            <a:prstGeom prst="rect">
              <a:avLst/>
            </a:prstGeom>
            <a:noFill/>
          </p:spPr>
          <p:txBody>
            <a:bodyPr wrap="square">
              <a:spAutoFit/>
            </a:bodyPr>
            <a:lstStyle/>
            <a:p>
              <a:pPr marL="285750" indent="-285750">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Effect of pressure on droplet diameter and coverage ratio</a:t>
              </a:r>
              <a:endParaRPr lang="en-HK" altLang="zh-CN" sz="1148" dirty="0">
                <a:latin typeface="Times New Roman" panose="02020603050405020304" pitchFamily="18" charset="0"/>
                <a:ea typeface="SimSun" panose="02010600030101010101" pitchFamily="2" charset="-122"/>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79371" y="1289568"/>
              <a:ext cx="4073083"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5.4.1 Effect of variations in a single factor</a:t>
              </a:r>
            </a:p>
          </p:txBody>
        </p:sp>
        <p:pic>
          <p:nvPicPr>
            <p:cNvPr id="18" name="图片 17">
              <a:extLst>
                <a:ext uri="{FF2B5EF4-FFF2-40B4-BE49-F238E27FC236}">
                  <a16:creationId xmlns:a16="http://schemas.microsoft.com/office/drawing/2014/main" id="{E62731A7-292E-45B0-A46C-6B489F40F25F}"/>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bwMode="auto">
            <a:xfrm>
              <a:off x="2367083" y="4118891"/>
              <a:ext cx="2639411" cy="2232000"/>
            </a:xfrm>
            <a:prstGeom prst="rect">
              <a:avLst/>
            </a:prstGeom>
            <a:ln>
              <a:noFill/>
            </a:ln>
            <a:extLst>
              <a:ext uri="{53640926-AAD7-44D8-BBD7-CCE9431645EC}">
                <a14:shadowObscured xmlns:a14="http://schemas.microsoft.com/office/drawing/2010/main"/>
              </a:ext>
            </a:extLst>
          </p:spPr>
        </p:pic>
        <p:pic>
          <p:nvPicPr>
            <p:cNvPr id="21" name="图片 20">
              <a:extLst>
                <a:ext uri="{FF2B5EF4-FFF2-40B4-BE49-F238E27FC236}">
                  <a16:creationId xmlns:a16="http://schemas.microsoft.com/office/drawing/2014/main" id="{D4EBCA21-22F1-448C-8450-6CE54E29159D}"/>
                </a:ext>
              </a:extLst>
            </p:cNvPr>
            <p:cNvPicPr>
              <a:picLocks noChangeAspect="1"/>
            </p:cNvPicPr>
            <p:nvPr/>
          </p:nvPicPr>
          <p:blipFill>
            <a:blip r:embed="rId5"/>
            <a:stretch>
              <a:fillRect/>
            </a:stretch>
          </p:blipFill>
          <p:spPr>
            <a:xfrm>
              <a:off x="6797452" y="1865962"/>
              <a:ext cx="4813746" cy="2880000"/>
            </a:xfrm>
            <a:prstGeom prst="rect">
              <a:avLst/>
            </a:prstGeom>
          </p:spPr>
        </p:pic>
        <p:sp>
          <p:nvSpPr>
            <p:cNvPr id="26" name="矩形 25">
              <a:extLst>
                <a:ext uri="{FF2B5EF4-FFF2-40B4-BE49-F238E27FC236}">
                  <a16:creationId xmlns:a16="http://schemas.microsoft.com/office/drawing/2014/main" id="{BCF04087-4373-4225-81AE-D93EABDE08B5}"/>
                </a:ext>
              </a:extLst>
            </p:cNvPr>
            <p:cNvSpPr/>
            <p:nvPr/>
          </p:nvSpPr>
          <p:spPr>
            <a:xfrm>
              <a:off x="2081893" y="6521217"/>
              <a:ext cx="4014107"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Fig.5.4.1 </a:t>
              </a:r>
              <a:r>
                <a:rPr lang="en-HK" sz="984" dirty="0">
                  <a:solidFill>
                    <a:prstClr val="black"/>
                  </a:solidFill>
                  <a:latin typeface="Times New Roman" panose="02020603050405020304" pitchFamily="18" charset="0"/>
                  <a:ea typeface="SimSun"/>
                  <a:cs typeface="Times New Roman" panose="02020603050405020304" pitchFamily="18" charset="0"/>
                </a:rPr>
                <a:t>The effect of nozzle pressure variations</a:t>
              </a:r>
            </a:p>
          </p:txBody>
        </p:sp>
        <p:sp>
          <p:nvSpPr>
            <p:cNvPr id="27" name="矩形 26">
              <a:extLst>
                <a:ext uri="{FF2B5EF4-FFF2-40B4-BE49-F238E27FC236}">
                  <a16:creationId xmlns:a16="http://schemas.microsoft.com/office/drawing/2014/main" id="{F0F03C77-6E9D-437B-8F34-A512AD95C2D3}"/>
                </a:ext>
              </a:extLst>
            </p:cNvPr>
            <p:cNvSpPr/>
            <p:nvPr/>
          </p:nvSpPr>
          <p:spPr>
            <a:xfrm>
              <a:off x="1234314" y="4006473"/>
              <a:ext cx="2426604" cy="276999"/>
            </a:xfrm>
            <a:prstGeom prst="rect">
              <a:avLst/>
            </a:prstGeom>
          </p:spPr>
          <p:txBody>
            <a:bodyPr wrap="square">
              <a:spAutoFit/>
            </a:bodyPr>
            <a:lstStyle/>
            <a:p>
              <a:pPr defTabSz="457200" eaLnBrk="1" fontAlgn="auto" hangingPunct="1">
                <a:spcBef>
                  <a:spcPts val="0"/>
                </a:spcBef>
                <a:spcAft>
                  <a:spcPts val="0"/>
                </a:spcAft>
              </a:pPr>
              <a:r>
                <a:rPr lang="en-HK" sz="984" dirty="0">
                  <a:solidFill>
                    <a:prstClr val="black"/>
                  </a:solidFill>
                  <a:latin typeface="Times New Roman" panose="02020603050405020304" pitchFamily="18" charset="0"/>
                  <a:ea typeface="SimSun"/>
                  <a:cs typeface="Times New Roman" panose="02020603050405020304" pitchFamily="18" charset="0"/>
                </a:rPr>
                <a:t>(a) Effect of pressure on cone angle</a:t>
              </a:r>
            </a:p>
          </p:txBody>
        </p:sp>
        <p:sp>
          <p:nvSpPr>
            <p:cNvPr id="28" name="矩形 27">
              <a:extLst>
                <a:ext uri="{FF2B5EF4-FFF2-40B4-BE49-F238E27FC236}">
                  <a16:creationId xmlns:a16="http://schemas.microsoft.com/office/drawing/2014/main" id="{0B325B03-B4CB-402E-94A7-573CBE2E4B14}"/>
                </a:ext>
              </a:extLst>
            </p:cNvPr>
            <p:cNvSpPr/>
            <p:nvPr/>
          </p:nvSpPr>
          <p:spPr>
            <a:xfrm>
              <a:off x="3842022" y="4006473"/>
              <a:ext cx="2426604" cy="276999"/>
            </a:xfrm>
            <a:prstGeom prst="rect">
              <a:avLst/>
            </a:prstGeom>
          </p:spPr>
          <p:txBody>
            <a:bodyPr wrap="square">
              <a:spAutoFit/>
            </a:bodyPr>
            <a:lstStyle/>
            <a:p>
              <a:pPr defTabSz="457200" eaLnBrk="1" fontAlgn="auto" hangingPunct="1">
                <a:spcBef>
                  <a:spcPts val="0"/>
                </a:spcBef>
                <a:spcAft>
                  <a:spcPts val="0"/>
                </a:spcAft>
              </a:pPr>
              <a:r>
                <a:rPr lang="en-HK" sz="984" dirty="0">
                  <a:solidFill>
                    <a:prstClr val="black"/>
                  </a:solidFill>
                  <a:latin typeface="Times New Roman" panose="02020603050405020304" pitchFamily="18" charset="0"/>
                  <a:ea typeface="SimSun"/>
                  <a:cs typeface="Times New Roman" panose="02020603050405020304" pitchFamily="18" charset="0"/>
                </a:rPr>
                <a:t>(b) Effect of pressure on flow rate</a:t>
              </a:r>
            </a:p>
          </p:txBody>
        </p:sp>
      </p:grpSp>
      <p:sp>
        <p:nvSpPr>
          <p:cNvPr id="3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中文要点｜喷嘴压力的影响</a:t>
            </a:r>
          </a:p>
          <a:p>
            <a:pPr>
              <a:lnSpc>
                <a:spcPct val="108000"/>
              </a:lnSpc>
              <a:spcAft>
                <a:spcPts val="0"/>
              </a:spcAft>
            </a:pPr>
            <a:r>
              <a:rPr sz="1400" b="0">
                <a:solidFill>
                  <a:srgbClr val="282828"/>
                </a:solidFill>
                <a:latin typeface="Times New Roman"/>
                <a:ea typeface="SimSun"/>
                <a:cs typeface="Times New Roman"/>
              </a:rPr>
              <a:t>压力改变会同时影响喷雾锥角、流量和液滴直径，进而影响水膜覆盖和系统性能。</a:t>
            </a:r>
          </a:p>
        </p:txBody>
      </p:sp>
    </p:spTree>
    <p:extLst>
      <p:ext uri="{BB962C8B-B14F-4D97-AF65-F5344CB8AC3E}">
        <p14:creationId xmlns:p14="http://schemas.microsoft.com/office/powerpoint/2010/main" val="1145162355"/>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41</a:t>
            </a:fld>
            <a:endParaRPr lang="en-US" altLang="zh-CN"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08C1CF8-DBF4-4D1A-9146-E6B69EBBDC7C}"/>
                  </a:ext>
                </a:extLst>
              </p:cNvPr>
              <p:cNvSpPr txBox="1"/>
              <p:nvPr/>
            </p:nvSpPr>
            <p:spPr>
              <a:xfrm>
                <a:off x="1386307" y="5284113"/>
                <a:ext cx="9805395" cy="115608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peak value of wet-bulb efficiency is achieved at a spacing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80 mm</a:t>
                </a:r>
                <a:r>
                  <a:rPr lang="en-HK" altLang="zh-CN" sz="1600" dirty="0">
                    <a:latin typeface="Times New Roman" panose="02020603050405020304" pitchFamily="18" charset="0"/>
                    <a:ea typeface="SimSun" panose="02010600030101010101" pitchFamily="2" charset="-122"/>
                    <a:cs typeface="Times New Roman"/>
                  </a:rPr>
                  <a:t>.</a:t>
                </a:r>
                <a:endParaRPr lang="en-US" altLang="zh-CN" sz="1600" dirty="0">
                  <a:latin typeface="Times New Roman" panose="02020603050405020304" pitchFamily="18" charset="0"/>
                  <a:ea typeface="SimSun" panose="02010600030101010101" pitchFamily="2" charset="-122"/>
                  <a:cs typeface="Times New Roman"/>
                </a:endParaRPr>
              </a:p>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sz="1600" dirty="0">
                    <a:solidFill>
                      <a:prstClr val="black"/>
                    </a:solidFill>
                    <a:latin typeface="Times New Roman" panose="02020603050405020304" pitchFamily="18" charset="0"/>
                    <a:ea typeface="SimSun"/>
                    <a:cs typeface="Times New Roman" panose="02020603050405020304" pitchFamily="18" charset="0"/>
                  </a:rPr>
                  <a:t>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initially increases </a:t>
                </a:r>
                <a:r>
                  <a:rPr lang="en-HK" altLang="zh-CN" sz="1600" dirty="0">
                    <a:latin typeface="Times New Roman" panose="02020603050405020304" pitchFamily="18" charset="0"/>
                    <a:ea typeface="SimSun" panose="02010600030101010101" pitchFamily="2" charset="-122"/>
                    <a:cs typeface="Times New Roman"/>
                  </a:rPr>
                  <a:t>with increasing nozzle aperture size and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decreases</a:t>
                </a:r>
                <a:r>
                  <a:rPr lang="en-HK" altLang="zh-CN" sz="1600" dirty="0">
                    <a:latin typeface="Times New Roman" panose="02020603050405020304" pitchFamily="18" charset="0"/>
                    <a:ea typeface="SimSun" panose="02010600030101010101" pitchFamily="2" charset="-122"/>
                    <a:cs typeface="Times New Roman"/>
                  </a:rPr>
                  <a:t> with apertures larger than 6 mm.</a:t>
                </a:r>
              </a:p>
              <a:p>
                <a:pPr marL="285750" indent="-285750">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r>
                      <a:rPr lang="en-US" sz="1600" i="1">
                        <a:latin typeface="Times New Roman" panose="02040503050406030204" pitchFamily="18" charset="0"/>
                        <a:ea typeface="SimSun"/>
                        <a:cs typeface="Times New Roman"/>
                      </a:rPr>
                      <m:t> </m:t>
                    </m:r>
                  </m:oMath>
                </a14:m>
                <a:r>
                  <a:rPr lang="en-HK" altLang="zh-CN" sz="1600" dirty="0">
                    <a:latin typeface="Times New Roman" panose="02020603050405020304" pitchFamily="18" charset="0"/>
                    <a:ea typeface="SimSun" panose="02010600030101010101" pitchFamily="2" charset="-122"/>
                    <a:cs typeface="Times New Roman"/>
                  </a:rPr>
                  <a:t>demonstrates an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initial increase </a:t>
                </a:r>
                <a:r>
                  <a:rPr lang="en-HK" altLang="zh-CN" sz="1600" dirty="0">
                    <a:latin typeface="Times New Roman" panose="02020603050405020304" pitchFamily="18" charset="0"/>
                    <a:ea typeface="SimSun" panose="02010600030101010101" pitchFamily="2" charset="-122"/>
                    <a:cs typeface="Times New Roman"/>
                  </a:rPr>
                  <a:t>as the number of nozzles increases, but it starts to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decline</a:t>
                </a:r>
                <a:r>
                  <a:rPr lang="en-HK" altLang="zh-CN" sz="1600" dirty="0">
                    <a:latin typeface="Times New Roman" panose="02020603050405020304" pitchFamily="18" charset="0"/>
                    <a:ea typeface="SimSun" panose="02010600030101010101" pitchFamily="2" charset="-122"/>
                    <a:cs typeface="Times New Roman"/>
                  </a:rPr>
                  <a:t> when n≥10.</a:t>
                </a:r>
                <a:endParaRPr lang="zh-CN" altLang="en-US" sz="1600" dirty="0">
                  <a:latin typeface="Times New Roman" panose="02020603050405020304" pitchFamily="18" charset="0"/>
                  <a:ea typeface="SimSun" panose="02010600030101010101" pitchFamily="2" charset="-122"/>
                  <a:cs typeface="Times New Roman"/>
                </a:endParaRPr>
              </a:p>
            </p:txBody>
          </p:sp>
        </mc:Choice>
        <mc:Fallback xmlns="">
          <p:sp>
            <p:nvSpPr>
              <p:cNvPr id="24" name="文本框 23">
                <a:extLst>
                  <a:ext uri="{FF2B5EF4-FFF2-40B4-BE49-F238E27FC236}">
                    <a16:creationId xmlns:a16="http://schemas.microsoft.com/office/drawing/2014/main" id="{C08C1CF8-DBF4-4D1A-9146-E6B69EBBDC7C}"/>
                  </a:ext>
                </a:extLst>
              </p:cNvPr>
              <p:cNvSpPr txBox="1">
                <a:spLocks noRot="1" noChangeAspect="1" noMove="1" noResize="1" noEditPoints="1" noAdjustHandles="1" noChangeArrowheads="1" noChangeShapeType="1" noTextEdit="1"/>
              </p:cNvSpPr>
              <p:nvPr/>
            </p:nvSpPr>
            <p:spPr>
              <a:xfrm>
                <a:off x="1386307" y="5284113"/>
                <a:ext cx="9805395" cy="1156086"/>
              </a:xfrm>
              <a:prstGeom prst="rect">
                <a:avLst/>
              </a:prstGeom>
              <a:blipFill>
                <a:blip r:embed="rId4"/>
                <a:stretch>
                  <a:fillRect l="-249" b="-6349"/>
                </a:stretch>
              </a:blipFill>
            </p:spPr>
            <p:txBody>
              <a:bodyPr/>
              <a:lstStyle/>
              <a:p>
                <a:r>
                  <a:rPr lang="en-US">
                    <a:noFill/>
                    <a:latin typeface="Times New Roman"/>
                    <a:ea typeface="SimSun"/>
                    <a:cs typeface="Times New Roman"/>
                  </a:rPr>
                  <a:t> </a:t>
                </a:r>
              </a:p>
            </p:txBody>
          </p:sp>
        </mc:Fallback>
      </mc:AlternateContent>
      <p:grpSp>
        <p:nvGrpSpPr>
          <p:cNvPr id="27" name="Original English content (proportional layout)"/>
          <p:cNvGrpSpPr/>
          <p:nvPr/>
        </p:nvGrpSpPr>
        <p:grpSpPr>
          <a:xfrm>
            <a:off x="1097280" y="731520"/>
            <a:ext cx="9997440" cy="5023714"/>
            <a:chOff x="0" y="731520"/>
            <a:chExt cx="12192000" cy="6126480"/>
          </a:xfrm>
        </p:grpSpPr>
        <p:pic>
          <p:nvPicPr>
            <p:cNvPr id="16" name="图片 15">
              <a:extLst>
                <a:ext uri="{FF2B5EF4-FFF2-40B4-BE49-F238E27FC236}">
                  <a16:creationId xmlns:a16="http://schemas.microsoft.com/office/drawing/2014/main" id="{6E60EA61-5FA0-403D-923C-4F5BEA884405}"/>
                </a:ext>
              </a:extLst>
            </p:cNvPr>
            <p:cNvPicPr>
              <a:picLocks noChangeAspect="1"/>
            </p:cNvPicPr>
            <p:nvPr/>
          </p:nvPicPr>
          <p:blipFill>
            <a:blip r:embed="rId3"/>
            <a:stretch>
              <a:fillRect/>
            </a:stretch>
          </p:blipFill>
          <p:spPr>
            <a:xfrm>
              <a:off x="1569643" y="2208740"/>
              <a:ext cx="9277220" cy="2520000"/>
            </a:xfrm>
            <a:prstGeom prst="rect">
              <a:avLst/>
            </a:prstGeom>
          </p:spPr>
        </p:pic>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90459" y="937927"/>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5.4 </a:t>
              </a:r>
              <a:r>
                <a:rPr lang="en-HK" altLang="en-US" sz="1476" b="1" kern="0" dirty="0">
                  <a:latin typeface="Times New Roman" panose="02020603050405020304" pitchFamily="18" charset="0"/>
                  <a:ea typeface="SimSun"/>
                  <a:cs typeface="Times New Roman" panose="02020603050405020304" pitchFamily="18" charset="0"/>
                </a:rPr>
                <a:t>Results and discussions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22" name="文本框 21">
              <a:extLst>
                <a:ext uri="{FF2B5EF4-FFF2-40B4-BE49-F238E27FC236}">
                  <a16:creationId xmlns:a16="http://schemas.microsoft.com/office/drawing/2014/main" id="{41A6500A-464D-4FD0-941B-13435C71BC36}"/>
                </a:ext>
              </a:extLst>
            </p:cNvPr>
            <p:cNvSpPr txBox="1"/>
            <p:nvPr/>
          </p:nvSpPr>
          <p:spPr>
            <a:xfrm>
              <a:off x="1434648" y="1797411"/>
              <a:ext cx="2369454"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Nozzle spacing</a:t>
              </a:r>
              <a:endParaRPr lang="zh-CN" altLang="en-US" sz="1312" dirty="0">
                <a:latin typeface="Times New Roman"/>
                <a:ea typeface="SimSun"/>
                <a:cs typeface="Times New Roman"/>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79371" y="1289568"/>
              <a:ext cx="4073083"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5.4.1 Effect of variations in a single factor</a:t>
              </a:r>
            </a:p>
          </p:txBody>
        </p:sp>
        <p:sp>
          <p:nvSpPr>
            <p:cNvPr id="26" name="矩形 25">
              <a:extLst>
                <a:ext uri="{FF2B5EF4-FFF2-40B4-BE49-F238E27FC236}">
                  <a16:creationId xmlns:a16="http://schemas.microsoft.com/office/drawing/2014/main" id="{BCF04087-4373-4225-81AE-D93EABDE08B5}"/>
                </a:ext>
              </a:extLst>
            </p:cNvPr>
            <p:cNvSpPr/>
            <p:nvPr/>
          </p:nvSpPr>
          <p:spPr>
            <a:xfrm>
              <a:off x="3731692" y="4800108"/>
              <a:ext cx="5211308" cy="307777"/>
            </a:xfrm>
            <a:prstGeom prst="rect">
              <a:avLst/>
            </a:prstGeom>
          </p:spPr>
          <p:txBody>
            <a:bodyPr wrap="square">
              <a:spAutoFit/>
            </a:bodyPr>
            <a:lstStyle/>
            <a:p>
              <a:pPr defTabSz="457200" eaLnBrk="1" fontAlgn="auto" hangingPunct="1">
                <a:spcBef>
                  <a:spcPts val="0"/>
                </a:spcBef>
                <a:spcAft>
                  <a:spcPts val="0"/>
                </a:spcAft>
              </a:pPr>
              <a:r>
                <a:rPr lang="en-HK" sz="1148" b="1" dirty="0">
                  <a:solidFill>
                    <a:prstClr val="black"/>
                  </a:solidFill>
                  <a:latin typeface="Times New Roman" panose="02020603050405020304" pitchFamily="18" charset="0"/>
                  <a:ea typeface="SimSun"/>
                  <a:cs typeface="Times New Roman" panose="02020603050405020304" pitchFamily="18" charset="0"/>
                </a:rPr>
                <a:t>Fig.5.4.2 </a:t>
              </a:r>
              <a:r>
                <a:rPr lang="en-HK" sz="1148" dirty="0">
                  <a:solidFill>
                    <a:prstClr val="black"/>
                  </a:solidFill>
                  <a:latin typeface="Times New Roman" panose="02020603050405020304" pitchFamily="18" charset="0"/>
                  <a:ea typeface="SimSun"/>
                  <a:cs typeface="Times New Roman" panose="02020603050405020304" pitchFamily="18" charset="0"/>
                </a:rPr>
                <a:t>The effect of three other nozzle parameters variations</a:t>
              </a:r>
            </a:p>
          </p:txBody>
        </p:sp>
        <p:sp>
          <p:nvSpPr>
            <p:cNvPr id="19" name="文本框 18">
              <a:extLst>
                <a:ext uri="{FF2B5EF4-FFF2-40B4-BE49-F238E27FC236}">
                  <a16:creationId xmlns:a16="http://schemas.microsoft.com/office/drawing/2014/main" id="{F73BA449-0F05-4605-836B-0A296C6D1A21}"/>
                </a:ext>
              </a:extLst>
            </p:cNvPr>
            <p:cNvSpPr txBox="1"/>
            <p:nvPr/>
          </p:nvSpPr>
          <p:spPr>
            <a:xfrm>
              <a:off x="4596948" y="1798818"/>
              <a:ext cx="1899102"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Nozzle aperture</a:t>
              </a:r>
              <a:endParaRPr lang="zh-CN" altLang="en-US" sz="1312" dirty="0">
                <a:latin typeface="Times New Roman"/>
                <a:ea typeface="SimSun"/>
                <a:cs typeface="Times New Roman"/>
              </a:endParaRPr>
            </a:p>
          </p:txBody>
        </p:sp>
        <p:sp>
          <p:nvSpPr>
            <p:cNvPr id="23" name="文本框 22">
              <a:extLst>
                <a:ext uri="{FF2B5EF4-FFF2-40B4-BE49-F238E27FC236}">
                  <a16:creationId xmlns:a16="http://schemas.microsoft.com/office/drawing/2014/main" id="{C73A1540-F6B4-4960-8DF0-7C62AF258952}"/>
                </a:ext>
              </a:extLst>
            </p:cNvPr>
            <p:cNvSpPr txBox="1"/>
            <p:nvPr/>
          </p:nvSpPr>
          <p:spPr>
            <a:xfrm>
              <a:off x="7702098" y="1797411"/>
              <a:ext cx="1899102"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Nozzle count</a:t>
              </a:r>
              <a:endParaRPr lang="zh-CN" altLang="en-US" sz="1312" dirty="0">
                <a:latin typeface="Times New Roman"/>
                <a:ea typeface="SimSun"/>
                <a:cs typeface="Times New Roman"/>
              </a:endParaRPr>
            </a:p>
          </p:txBody>
        </p:sp>
        <p:sp>
          <p:nvSpPr>
            <p:cNvPr id="3" name="椭圆 2">
              <a:extLst>
                <a:ext uri="{FF2B5EF4-FFF2-40B4-BE49-F238E27FC236}">
                  <a16:creationId xmlns:a16="http://schemas.microsoft.com/office/drawing/2014/main" id="{51BD5558-EEEB-4B5C-AEAB-D377FF6377B0}"/>
                </a:ext>
              </a:extLst>
            </p:cNvPr>
            <p:cNvSpPr/>
            <p:nvPr/>
          </p:nvSpPr>
          <p:spPr bwMode="auto">
            <a:xfrm>
              <a:off x="2459115" y="2361460"/>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17" name="椭圆 16">
              <a:extLst>
                <a:ext uri="{FF2B5EF4-FFF2-40B4-BE49-F238E27FC236}">
                  <a16:creationId xmlns:a16="http://schemas.microsoft.com/office/drawing/2014/main" id="{11FD431D-0744-4501-BF84-5621D30D5786}"/>
                </a:ext>
              </a:extLst>
            </p:cNvPr>
            <p:cNvSpPr/>
            <p:nvPr/>
          </p:nvSpPr>
          <p:spPr bwMode="auto">
            <a:xfrm>
              <a:off x="6289005" y="2356265"/>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18" name="椭圆 17">
              <a:extLst>
                <a:ext uri="{FF2B5EF4-FFF2-40B4-BE49-F238E27FC236}">
                  <a16:creationId xmlns:a16="http://schemas.microsoft.com/office/drawing/2014/main" id="{B6F28FE5-003F-4195-9006-30CBF9A557E9}"/>
                </a:ext>
              </a:extLst>
            </p:cNvPr>
            <p:cNvSpPr/>
            <p:nvPr/>
          </p:nvSpPr>
          <p:spPr bwMode="auto">
            <a:xfrm>
              <a:off x="9368901" y="2330251"/>
              <a:ext cx="363984" cy="324345"/>
            </a:xfrm>
            <a:prstGeom prst="ellipse">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pSp>
      <p:sp>
        <p:nvSpPr>
          <p:cNvPr id="28"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中文要点｜喷嘴几何参数的影响</a:t>
            </a:r>
          </a:p>
          <a:p>
            <a:pPr>
              <a:lnSpc>
                <a:spcPct val="108000"/>
              </a:lnSpc>
              <a:spcAft>
                <a:spcPts val="0"/>
              </a:spcAft>
            </a:pPr>
            <a:r>
              <a:rPr sz="1400" b="0">
                <a:solidFill>
                  <a:srgbClr val="282828"/>
                </a:solidFill>
                <a:latin typeface="Times New Roman"/>
                <a:ea typeface="SimSun"/>
                <a:cs typeface="Times New Roman"/>
              </a:rPr>
              <a:t>喷嘴间距、孔径和数量共同影响喷淋分布，应结合润湿效果与运行阻力进行选择。</a:t>
            </a:r>
          </a:p>
        </p:txBody>
      </p:sp>
    </p:spTree>
    <p:extLst>
      <p:ext uri="{BB962C8B-B14F-4D97-AF65-F5344CB8AC3E}">
        <p14:creationId xmlns:p14="http://schemas.microsoft.com/office/powerpoint/2010/main" val="6491712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42</a:t>
            </a:fld>
            <a:endParaRPr lang="en-US" altLang="zh-CN"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CF04087-4373-4225-81AE-D93EABDE08B5}"/>
                  </a:ext>
                </a:extLst>
              </p:cNvPr>
              <p:cNvSpPr/>
              <p:nvPr/>
            </p:nvSpPr>
            <p:spPr>
              <a:xfrm>
                <a:off x="1918325" y="4151133"/>
                <a:ext cx="5211308" cy="307777"/>
              </a:xfrm>
              <a:prstGeom prst="rect">
                <a:avLst/>
              </a:prstGeom>
            </p:spPr>
            <p:txBody>
              <a:bodyPr wrap="square">
                <a:spAutoFit/>
              </a:bodyPr>
              <a:lstStyle/>
              <a:p>
                <a:pPr defTabSz="457200" eaLnBrk="1" fontAlgn="auto" hangingPunct="1">
                  <a:spcBef>
                    <a:spcPts val="0"/>
                  </a:spcBef>
                  <a:spcAft>
                    <a:spcPts val="0"/>
                  </a:spcAft>
                </a:pPr>
                <a:r>
                  <a:rPr lang="en-HK" sz="1400" b="1" dirty="0">
                    <a:solidFill>
                      <a:prstClr val="black"/>
                    </a:solidFill>
                    <a:latin typeface="Times New Roman" panose="02020603050405020304" pitchFamily="18" charset="0"/>
                    <a:ea typeface="SimSun"/>
                    <a:cs typeface="Times New Roman" panose="02020603050405020304" pitchFamily="18" charset="0"/>
                  </a:rPr>
                  <a:t>Fig.5.4.3 </a:t>
                </a:r>
                <a:r>
                  <a:rPr lang="en-HK" sz="1400" dirty="0">
                    <a:solidFill>
                      <a:prstClr val="black"/>
                    </a:solidFill>
                    <a:latin typeface="Times New Roman" panose="02020603050405020304" pitchFamily="18" charset="0"/>
                    <a:ea typeface="SimSun"/>
                    <a:cs typeface="Times New Roman" panose="02020603050405020304" pitchFamily="18" charset="0"/>
                  </a:rPr>
                  <a:t>The effect of operation parameters on </a:t>
                </a:r>
                <a14:m>
                  <m:oMath xmlns:m="http://schemas.openxmlformats.org/officeDocument/2006/math">
                    <m:sSub>
                      <m:sSubPr>
                        <m:ctrlPr>
                          <a:rPr lang="en-US" sz="1400" i="1">
                            <a:latin typeface="Times New Roman" panose="02040503050406030204" pitchFamily="18" charset="0"/>
                            <a:ea typeface="SimSun"/>
                            <a:cs typeface="Times New Roman"/>
                          </a:rPr>
                        </m:ctrlPr>
                      </m:sSubPr>
                      <m:e>
                        <m:r>
                          <a:rPr lang="en-US" sz="1400" i="1">
                            <a:latin typeface="Times New Roman" panose="02040503050406030204" pitchFamily="18" charset="0"/>
                            <a:ea typeface="SimSun"/>
                            <a:cs typeface="Times New Roman"/>
                          </a:rPr>
                          <m:t>𝜀</m:t>
                        </m:r>
                      </m:e>
                      <m:sub>
                        <m:r>
                          <a:rPr lang="en-HK" sz="1400" b="0" i="1" smtClean="0">
                            <a:latin typeface="Times New Roman" panose="02040503050406030204" pitchFamily="18" charset="0"/>
                            <a:ea typeface="SimSun"/>
                            <a:cs typeface="Times New Roman"/>
                          </a:rPr>
                          <m:t>𝑤𝑏</m:t>
                        </m:r>
                      </m:sub>
                    </m:sSub>
                  </m:oMath>
                </a14:m>
                <a:r>
                  <a:rPr lang="en-HK" sz="1400" dirty="0">
                    <a:solidFill>
                      <a:prstClr val="black"/>
                    </a:solidFill>
                    <a:latin typeface="Times New Roman" panose="02020603050405020304" pitchFamily="18" charset="0"/>
                    <a:ea typeface="SimSun"/>
                    <a:cs typeface="Times New Roman" panose="02020603050405020304" pitchFamily="18" charset="0"/>
                  </a:rPr>
                  <a:t> </a:t>
                </a:r>
              </a:p>
            </p:txBody>
          </p:sp>
        </mc:Choice>
        <mc:Fallback xmlns="">
          <p:sp>
            <p:nvSpPr>
              <p:cNvPr id="26" name="矩形 25">
                <a:extLst>
                  <a:ext uri="{FF2B5EF4-FFF2-40B4-BE49-F238E27FC236}">
                    <a16:creationId xmlns:a16="http://schemas.microsoft.com/office/drawing/2014/main" id="{BCF04087-4373-4225-81AE-D93EABDE08B5}"/>
                  </a:ext>
                </a:extLst>
              </p:cNvPr>
              <p:cNvSpPr>
                <a:spLocks noRot="1" noChangeAspect="1" noMove="1" noResize="1" noEditPoints="1" noAdjustHandles="1" noChangeArrowheads="1" noChangeShapeType="1" noTextEdit="1"/>
              </p:cNvSpPr>
              <p:nvPr/>
            </p:nvSpPr>
            <p:spPr>
              <a:xfrm>
                <a:off x="1918325" y="4151133"/>
                <a:ext cx="5211308" cy="307777"/>
              </a:xfrm>
              <a:prstGeom prst="rect">
                <a:avLst/>
              </a:prstGeom>
              <a:blipFill>
                <a:blip r:embed="rId6"/>
                <a:stretch>
                  <a:fillRect l="-351" t="-4000" b="-20000"/>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72FE34C-052C-4910-BE0B-10F97CC2FA8F}"/>
                  </a:ext>
                </a:extLst>
              </p:cNvPr>
              <p:cNvSpPr txBox="1"/>
              <p:nvPr/>
            </p:nvSpPr>
            <p:spPr>
              <a:xfrm>
                <a:off x="6932546" y="1851947"/>
                <a:ext cx="4627944" cy="197169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HK" altLang="zh-CN" sz="1600" dirty="0">
                    <a:latin typeface="Times New Roman" panose="02020603050405020304" pitchFamily="18" charset="0"/>
                    <a:ea typeface="SimSun" panose="02010600030101010101" pitchFamily="2" charset="-122"/>
                    <a:cs typeface="Times New Roman"/>
                  </a:rPr>
                  <a:t>Ratio of air to water</a:t>
                </a:r>
              </a:p>
              <a:p>
                <a:pPr marL="285750" indent="-285750" algn="just">
                  <a:lnSpc>
                    <a:spcPct val="150000"/>
                  </a:lnSpc>
                  <a:spcBef>
                    <a:spcPts val="0"/>
                  </a:spcBef>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Initial stage:</a:t>
                </a:r>
                <a:r>
                  <a:rPr lang="zh-CN" altLang="en-US" sz="1600" dirty="0">
                    <a:latin typeface="Times New Roman" panose="02020603050405020304" pitchFamily="18" charset="0"/>
                    <a:ea typeface="SimSun" panose="02010600030101010101" pitchFamily="2" charset="-122"/>
                    <a:cs typeface="Times New Roman"/>
                  </a:rPr>
                  <a:t> </a:t>
                </a:r>
                <a:r>
                  <a:rPr lang="en-HK" altLang="zh-CN" sz="1600" dirty="0">
                    <a:latin typeface="Times New Roman" panose="02020603050405020304" pitchFamily="18" charset="0"/>
                    <a:ea typeface="SimSun" panose="02010600030101010101" pitchFamily="2" charset="-122"/>
                    <a:cs typeface="Times New Roman"/>
                  </a:rPr>
                  <a:t>improves the convective heat and mass transfer coefficient, thus optimising the </a:t>
                </a:r>
                <a14:m>
                  <m:oMath xmlns:m="http://schemas.openxmlformats.org/officeDocument/2006/math">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a:t>
                </a:r>
              </a:p>
              <a:p>
                <a:pPr marL="285750" indent="-285750" algn="just">
                  <a:lnSpc>
                    <a:spcPct val="150000"/>
                  </a:lnSpc>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Later stage: disrupts the formation of a water film, increasing the pressure drop</a:t>
                </a:r>
              </a:p>
            </p:txBody>
          </p:sp>
        </mc:Choice>
        <mc:Fallback xmlns="">
          <p:sp>
            <p:nvSpPr>
              <p:cNvPr id="21" name="文本框 20">
                <a:extLst>
                  <a:ext uri="{FF2B5EF4-FFF2-40B4-BE49-F238E27FC236}">
                    <a16:creationId xmlns:a16="http://schemas.microsoft.com/office/drawing/2014/main" id="{572FE34C-052C-4910-BE0B-10F97CC2FA8F}"/>
                  </a:ext>
                </a:extLst>
              </p:cNvPr>
              <p:cNvSpPr txBox="1">
                <a:spLocks noRot="1" noChangeAspect="1" noMove="1" noResize="1" noEditPoints="1" noAdjustHandles="1" noChangeArrowheads="1" noChangeShapeType="1" noTextEdit="1"/>
              </p:cNvSpPr>
              <p:nvPr/>
            </p:nvSpPr>
            <p:spPr>
              <a:xfrm>
                <a:off x="6932546" y="1851947"/>
                <a:ext cx="4627944" cy="1971694"/>
              </a:xfrm>
              <a:prstGeom prst="rect">
                <a:avLst/>
              </a:prstGeom>
              <a:blipFill>
                <a:blip r:embed="rId8"/>
                <a:stretch>
                  <a:fillRect l="-527" r="-791" b="-3406"/>
                </a:stretch>
              </a:blipFill>
            </p:spPr>
            <p:txBody>
              <a:bodyPr/>
              <a:lstStyle/>
              <a:p>
                <a:r>
                  <a:rPr lang="en-US">
                    <a:noFill/>
                    <a:latin typeface="Times New Roman"/>
                    <a:ea typeface="SimSun"/>
                    <a:cs typeface="Times New Roman"/>
                  </a:rPr>
                  <a:t> </a:t>
                </a:r>
              </a:p>
            </p:txBody>
          </p:sp>
        </mc:Fallback>
      </mc:AlternateContent>
      <p:grpSp>
        <p:nvGrpSpPr>
          <p:cNvPr id="27" name="Original English content (proportional layout)"/>
          <p:cNvGrpSpPr/>
          <p:nvPr/>
        </p:nvGrpSpPr>
        <p:grpSpPr>
          <a:xfrm>
            <a:off x="1097280" y="731520"/>
            <a:ext cx="9997440" cy="5023714"/>
            <a:chOff x="0" y="731520"/>
            <a:chExt cx="12192000" cy="6126480"/>
          </a:xfrm>
        </p:grpSpPr>
        <p:sp>
          <p:nvSpPr>
            <p:cNvPr id="19" name="矩形 18">
              <a:extLst>
                <a:ext uri="{FF2B5EF4-FFF2-40B4-BE49-F238E27FC236}">
                  <a16:creationId xmlns:a16="http://schemas.microsoft.com/office/drawing/2014/main" id="{BC113EA7-5BB6-409E-A5D2-B97D45B8C941}"/>
                </a:ext>
              </a:extLst>
            </p:cNvPr>
            <p:cNvSpPr/>
            <p:nvPr/>
          </p:nvSpPr>
          <p:spPr bwMode="auto">
            <a:xfrm>
              <a:off x="947051" y="4515495"/>
              <a:ext cx="4959640" cy="2015853"/>
            </a:xfrm>
            <a:prstGeom prst="rect">
              <a:avLst/>
            </a:prstGeom>
            <a:solidFill>
              <a:srgbClr val="B96E87">
                <a:tint val="66000"/>
                <a:satMod val="160000"/>
                <a:alpha val="2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pic>
          <p:nvPicPr>
            <p:cNvPr id="22" name="图片 21">
              <a:extLst>
                <a:ext uri="{FF2B5EF4-FFF2-40B4-BE49-F238E27FC236}">
                  <a16:creationId xmlns:a16="http://schemas.microsoft.com/office/drawing/2014/main" id="{1A942D7F-F762-4804-9C9C-CCBA95737A1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bwMode="auto">
            <a:xfrm>
              <a:off x="6213811" y="4351363"/>
              <a:ext cx="2913533" cy="2232000"/>
            </a:xfrm>
            <a:prstGeom prst="rect">
              <a:avLst/>
            </a:prstGeom>
            <a:ln>
              <a:noFill/>
            </a:ln>
            <a:extLst>
              <a:ext uri="{53640926-AAD7-44D8-BBD7-CCE9431645EC}">
                <a14:shadowObscured xmlns:a14="http://schemas.microsoft.com/office/drawing/2010/main"/>
              </a:ext>
            </a:extLst>
          </p:spPr>
        </p:pic>
        <p:pic>
          <p:nvPicPr>
            <p:cNvPr id="23" name="图片 22">
              <a:extLst>
                <a:ext uri="{FF2B5EF4-FFF2-40B4-BE49-F238E27FC236}">
                  <a16:creationId xmlns:a16="http://schemas.microsoft.com/office/drawing/2014/main" id="{AB440F50-E763-492C-8DC7-F71932D0E36B}"/>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bwMode="auto">
            <a:xfrm>
              <a:off x="3524241" y="1963442"/>
              <a:ext cx="2894120" cy="2232000"/>
            </a:xfrm>
            <a:prstGeom prst="rect">
              <a:avLst/>
            </a:prstGeom>
            <a:ln>
              <a:noFill/>
            </a:ln>
            <a:extLst>
              <a:ext uri="{53640926-AAD7-44D8-BBD7-CCE9431645EC}">
                <a14:shadowObscured xmlns:a14="http://schemas.microsoft.com/office/drawing/2010/main"/>
              </a:ext>
            </a:extLst>
          </p:spPr>
        </p:pic>
        <p:sp>
          <p:nvSpPr>
            <p:cNvPr id="6" name="矩形 5">
              <a:extLst>
                <a:ext uri="{FF2B5EF4-FFF2-40B4-BE49-F238E27FC236}">
                  <a16:creationId xmlns:a16="http://schemas.microsoft.com/office/drawing/2014/main" id="{4C7AB77A-745A-4F7F-8668-9437FD15EA4B}"/>
                </a:ext>
              </a:extLst>
            </p:cNvPr>
            <p:cNvSpPr/>
            <p:nvPr/>
          </p:nvSpPr>
          <p:spPr bwMode="auto">
            <a:xfrm>
              <a:off x="6822785" y="1851946"/>
              <a:ext cx="4824718" cy="2112249"/>
            </a:xfrm>
            <a:prstGeom prst="rect">
              <a:avLst/>
            </a:prstGeom>
            <a:solidFill>
              <a:srgbClr val="B96E87">
                <a:tint val="66000"/>
                <a:satMod val="160000"/>
                <a:alpha val="28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pic>
          <p:nvPicPr>
            <p:cNvPr id="17" name="图片 16">
              <a:extLst>
                <a:ext uri="{FF2B5EF4-FFF2-40B4-BE49-F238E27FC236}">
                  <a16:creationId xmlns:a16="http://schemas.microsoft.com/office/drawing/2014/main" id="{16355CD3-E2C1-404C-8275-10B65859F0EC}"/>
                </a:ext>
              </a:extLst>
            </p:cNvPr>
            <p:cNvPicPr>
              <a:picLocks noChangeAspect="1"/>
            </p:cNvPicPr>
            <p:nvPr/>
          </p:nvPicPr>
          <p:blipFill rotWithShape="1">
            <a:blip r:embed="rId5">
              <a:extLst>
                <a:ext uri="{28A0092B-C50C-407E-A947-70E740481C1C}">
                  <a14:useLocalDpi xmlns:a14="http://schemas.microsoft.com/office/drawing/2010/main"/>
                </a:ext>
              </a:extLst>
            </a:blip>
            <a:srcRect l="51923"/>
            <a:stretch/>
          </p:blipFill>
          <p:spPr bwMode="auto">
            <a:xfrm>
              <a:off x="9069483" y="4351363"/>
              <a:ext cx="2844801" cy="2232000"/>
            </a:xfrm>
            <a:prstGeom prst="rect">
              <a:avLst/>
            </a:prstGeom>
            <a:ln>
              <a:noFill/>
            </a:ln>
            <a:extLst>
              <a:ext uri="{53640926-AAD7-44D8-BBD7-CCE9431645EC}">
                <a14:shadowObscured xmlns:a14="http://schemas.microsoft.com/office/drawing/2010/main"/>
              </a:ext>
            </a:extLst>
          </p:spPr>
        </p:pic>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5.4 </a:t>
              </a:r>
              <a:r>
                <a:rPr lang="en-HK" altLang="en-US" sz="1476" b="1" kern="0" dirty="0">
                  <a:latin typeface="Times New Roman" panose="02020603050405020304" pitchFamily="18" charset="0"/>
                  <a:ea typeface="SimSun"/>
                  <a:cs typeface="Times New Roman" panose="02020603050405020304" pitchFamily="18" charset="0"/>
                </a:rPr>
                <a:t>Results and discussions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4073083"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5.4.1 Effect of variations in a single factor</a:t>
              </a:r>
            </a:p>
          </p:txBody>
        </p:sp>
        <p:pic>
          <p:nvPicPr>
            <p:cNvPr id="11" name="图片 10">
              <a:extLst>
                <a:ext uri="{FF2B5EF4-FFF2-40B4-BE49-F238E27FC236}">
                  <a16:creationId xmlns:a16="http://schemas.microsoft.com/office/drawing/2014/main" id="{E0FF88A8-F43A-49F2-8051-CBF2A39E565C}"/>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bwMode="auto">
            <a:xfrm>
              <a:off x="696084" y="1956712"/>
              <a:ext cx="2831160" cy="2232000"/>
            </a:xfrm>
            <a:prstGeom prst="rect">
              <a:avLst/>
            </a:prstGeom>
            <a:ln>
              <a:noFill/>
            </a:ln>
            <a:extLst>
              <a:ext uri="{53640926-AAD7-44D8-BBD7-CCE9431645EC}">
                <a14:shadowObscured xmlns:a14="http://schemas.microsoft.com/office/drawing/2010/main"/>
              </a:ext>
            </a:extLst>
          </p:spPr>
        </p:pic>
        <p:sp>
          <p:nvSpPr>
            <p:cNvPr id="18" name="文本框 17">
              <a:extLst>
                <a:ext uri="{FF2B5EF4-FFF2-40B4-BE49-F238E27FC236}">
                  <a16:creationId xmlns:a16="http://schemas.microsoft.com/office/drawing/2014/main" id="{F40C4369-DFA1-4532-9CEB-61316E0CA766}"/>
                </a:ext>
              </a:extLst>
            </p:cNvPr>
            <p:cNvSpPr txBox="1"/>
            <p:nvPr/>
          </p:nvSpPr>
          <p:spPr>
            <a:xfrm>
              <a:off x="811894" y="1587380"/>
              <a:ext cx="393183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Operation characteristics parameters</a:t>
              </a:r>
              <a:endParaRPr lang="zh-CN" altLang="en-US" sz="1312" dirty="0">
                <a:latin typeface="Times New Roman"/>
                <a:ea typeface="SimSun"/>
                <a:cs typeface="Times New Roman"/>
              </a:endParaRPr>
            </a:p>
          </p:txBody>
        </p:sp>
        <p:sp>
          <p:nvSpPr>
            <p:cNvPr id="20" name="矩形 19">
              <a:extLst>
                <a:ext uri="{FF2B5EF4-FFF2-40B4-BE49-F238E27FC236}">
                  <a16:creationId xmlns:a16="http://schemas.microsoft.com/office/drawing/2014/main" id="{E7D6BDAB-5D97-45FF-9EE7-983C589C645E}"/>
                </a:ext>
              </a:extLst>
            </p:cNvPr>
            <p:cNvSpPr/>
            <p:nvPr/>
          </p:nvSpPr>
          <p:spPr>
            <a:xfrm>
              <a:off x="6822785" y="6531348"/>
              <a:ext cx="5211308" cy="307777"/>
            </a:xfrm>
            <a:prstGeom prst="rect">
              <a:avLst/>
            </a:prstGeom>
          </p:spPr>
          <p:txBody>
            <a:bodyPr wrap="square">
              <a:spAutoFit/>
            </a:bodyPr>
            <a:lstStyle/>
            <a:p>
              <a:pPr defTabSz="457200" eaLnBrk="1" fontAlgn="auto" hangingPunct="1">
                <a:spcBef>
                  <a:spcPts val="0"/>
                </a:spcBef>
                <a:spcAft>
                  <a:spcPts val="0"/>
                </a:spcAft>
              </a:pPr>
              <a:r>
                <a:rPr lang="en-HK" sz="1148" b="1" dirty="0">
                  <a:solidFill>
                    <a:prstClr val="black"/>
                  </a:solidFill>
                  <a:latin typeface="Times New Roman" panose="02020603050405020304" pitchFamily="18" charset="0"/>
                  <a:ea typeface="SimSun"/>
                  <a:cs typeface="Times New Roman" panose="02020603050405020304" pitchFamily="18" charset="0"/>
                </a:rPr>
                <a:t>Fig.5.4.4 </a:t>
              </a:r>
              <a:r>
                <a:rPr lang="en-HK" sz="1148" dirty="0">
                  <a:solidFill>
                    <a:prstClr val="black"/>
                  </a:solidFill>
                  <a:latin typeface="Times New Roman" panose="02020603050405020304" pitchFamily="18" charset="0"/>
                  <a:ea typeface="SimSun"/>
                  <a:cs typeface="Times New Roman" panose="02020603050405020304" pitchFamily="18" charset="0"/>
                </a:rPr>
                <a:t>The effect of operation parameters on pressure drop  </a:t>
              </a:r>
            </a:p>
          </p:txBody>
        </p:sp>
        <p:sp>
          <p:nvSpPr>
            <p:cNvPr id="25" name="文本框 24">
              <a:extLst>
                <a:ext uri="{FF2B5EF4-FFF2-40B4-BE49-F238E27FC236}">
                  <a16:creationId xmlns:a16="http://schemas.microsoft.com/office/drawing/2014/main" id="{776B95AA-D971-4D4E-B56F-D7F1FEE29B0D}"/>
                </a:ext>
              </a:extLst>
            </p:cNvPr>
            <p:cNvSpPr txBox="1"/>
            <p:nvPr/>
          </p:nvSpPr>
          <p:spPr>
            <a:xfrm>
              <a:off x="1112899" y="4424901"/>
              <a:ext cx="4627944" cy="197169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Spray density</a:t>
              </a:r>
            </a:p>
            <a:p>
              <a:pPr marL="285750" indent="-285750" algn="just">
                <a:lnSpc>
                  <a:spcPct val="150000"/>
                </a:lnSpc>
                <a:spcBef>
                  <a:spcPts val="0"/>
                </a:spcBef>
                <a:spcAft>
                  <a:spcPts val="492"/>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L</a:t>
              </a:r>
              <a:r>
                <a:rPr lang="en-US" altLang="zh-CN" sz="1312" dirty="0" err="1">
                  <a:latin typeface="Times New Roman" panose="02020603050405020304" pitchFamily="18" charset="0"/>
                  <a:ea typeface="SimSun" panose="02010600030101010101" pitchFamily="2" charset="-122"/>
                  <a:cs typeface="Times New Roman"/>
                </a:rPr>
                <a:t>ower</a:t>
              </a:r>
              <a:r>
                <a:rPr lang="en-US" altLang="zh-CN" sz="1312" dirty="0">
                  <a:latin typeface="Times New Roman" panose="02020603050405020304" pitchFamily="18" charset="0"/>
                  <a:ea typeface="SimSun" panose="02010600030101010101" pitchFamily="2" charset="-122"/>
                  <a:cs typeface="Times New Roman"/>
                </a:rPr>
                <a:t> stage</a:t>
              </a:r>
              <a:r>
                <a:rPr lang="en-HK" altLang="zh-CN" sz="1312" dirty="0">
                  <a:latin typeface="Times New Roman" panose="02020603050405020304" pitchFamily="18" charset="0"/>
                  <a:ea typeface="SimSun" panose="02010600030101010101" pitchFamily="2" charset="-122"/>
                  <a:cs typeface="Times New Roman"/>
                </a:rPr>
                <a:t>:</a:t>
              </a:r>
              <a:r>
                <a:rPr lang="zh-CN" altLang="en-US" sz="1312" dirty="0">
                  <a:latin typeface="Times New Roman" panose="02020603050405020304" pitchFamily="18" charset="0"/>
                  <a:ea typeface="SimSun" panose="02010600030101010101" pitchFamily="2" charset="-122"/>
                  <a:cs typeface="Times New Roman"/>
                </a:rPr>
                <a:t> </a:t>
              </a:r>
              <a:r>
                <a:rPr lang="en-HK" altLang="zh-CN" sz="1312" dirty="0">
                  <a:latin typeface="Times New Roman" panose="02020603050405020304" pitchFamily="18" charset="0"/>
                  <a:ea typeface="SimSun" panose="02010600030101010101" pitchFamily="2" charset="-122"/>
                  <a:cs typeface="Times New Roman"/>
                </a:rPr>
                <a:t>Uneven water film distribution, presence of dry areas</a:t>
              </a:r>
            </a:p>
            <a:p>
              <a:pPr marL="285750" indent="-285750" algn="just">
                <a:lnSpc>
                  <a:spcPct val="150000"/>
                </a:lnSpc>
                <a:spcBef>
                  <a:spcPts val="0"/>
                </a:spcBef>
                <a:spcAft>
                  <a:spcPts val="492"/>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Higher stage: thicker water film lead to clogging of secondary air channel, increasing air resistance.</a:t>
              </a:r>
            </a:p>
          </p:txBody>
        </p:sp>
      </p:grpSp>
      <p:sp>
        <p:nvSpPr>
          <p:cNvPr id="28"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中文要点｜喷淋密度的影响</a:t>
            </a:r>
          </a:p>
          <a:p>
            <a:pPr>
              <a:lnSpc>
                <a:spcPct val="108000"/>
              </a:lnSpc>
              <a:spcAft>
                <a:spcPts val="0"/>
              </a:spcAft>
            </a:pPr>
            <a:r>
              <a:rPr sz="1400" b="0">
                <a:solidFill>
                  <a:srgbClr val="282828"/>
                </a:solidFill>
                <a:latin typeface="Times New Roman"/>
                <a:ea typeface="SimSun"/>
                <a:cs typeface="Times New Roman"/>
              </a:rPr>
              <a:t>喷淋密度低时水膜不均、存在干区；过高时水膜增厚，可能堵塞二次空气通道并增大空气阻力。</a:t>
            </a:r>
          </a:p>
        </p:txBody>
      </p:sp>
    </p:spTree>
    <p:extLst>
      <p:ext uri="{BB962C8B-B14F-4D97-AF65-F5344CB8AC3E}">
        <p14:creationId xmlns:p14="http://schemas.microsoft.com/office/powerpoint/2010/main" val="73889755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43</a:t>
            </a:fld>
            <a:endParaRPr lang="en-US" altLang="zh-CN"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BC2B341A-347E-497E-BAAD-DFC3411178C6}"/>
                  </a:ext>
                </a:extLst>
              </p:cNvPr>
              <p:cNvSpPr txBox="1"/>
              <p:nvPr/>
            </p:nvSpPr>
            <p:spPr>
              <a:xfrm>
                <a:off x="7431141" y="4800596"/>
                <a:ext cx="4132649" cy="1602362"/>
              </a:xfrm>
              <a:prstGeom prst="rect">
                <a:avLst/>
              </a:prstGeom>
              <a:noFill/>
            </p:spPr>
            <p:txBody>
              <a:bodyPr wrap="square">
                <a:spAutoFit/>
              </a:bodyPr>
              <a:lstStyle/>
              <a:p>
                <a:pPr marL="285750" indent="-285750" algn="just">
                  <a:lnSpc>
                    <a:spcPct val="150000"/>
                  </a:lnSpc>
                  <a:spcBef>
                    <a:spcPts val="600"/>
                  </a:spcBef>
                  <a:spcAft>
                    <a:spcPts val="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Ratio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 </m:t>
                    </m:r>
                  </m:oMath>
                </a14:m>
                <a:r>
                  <a:rPr lang="en-HK" altLang="zh-CN" sz="1600" dirty="0">
                    <a:latin typeface="Times New Roman" panose="02020603050405020304" pitchFamily="18" charset="0"/>
                    <a:ea typeface="SimSun" panose="02010600030101010101" pitchFamily="2" charset="-122"/>
                    <a:cs typeface="Times New Roman"/>
                  </a:rPr>
                  <a:t>Count </a:t>
                </a:r>
                <a14:m>
                  <m:oMath xmlns:m="http://schemas.openxmlformats.org/officeDocument/2006/math">
                    <m:r>
                      <a:rPr lang="en-HK" altLang="zh-CN" sz="1600" i="1" smtClean="0">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Density</a:t>
                </a:r>
                <a:r>
                  <a:rPr lang="en-HK" altLang="zh-CN" sz="1600" dirty="0">
                    <a:latin typeface="Times New Roman"/>
                    <a:ea typeface="SimSun" panose="02040503050406030204" pitchFamily="18" charset="0"/>
                    <a:cs typeface="Times New Roman"/>
                  </a:rPr>
                  <a:t>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Pressure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Spacing </a:t>
                </a:r>
                <a14:m>
                  <m:oMath xmlns:m="http://schemas.openxmlformats.org/officeDocument/2006/math">
                    <m:r>
                      <a:rPr lang="en-HK" altLang="zh-CN" sz="1600" i="1">
                        <a:latin typeface="Times New Roman" panose="02040503050406030204" pitchFamily="18" charset="0"/>
                        <a:ea typeface="SimSun" panose="02040503050406030204" pitchFamily="18" charset="0"/>
                        <a:cs typeface="Times New Roman"/>
                      </a:rPr>
                      <m:t>&lt;</m:t>
                    </m:r>
                  </m:oMath>
                </a14:m>
                <a:r>
                  <a:rPr lang="en-HK" altLang="zh-CN" sz="1600" dirty="0">
                    <a:latin typeface="Times New Roman" panose="02020603050405020304" pitchFamily="18" charset="0"/>
                    <a:ea typeface="SimSun" panose="02010600030101010101" pitchFamily="2" charset="-122"/>
                    <a:cs typeface="Times New Roman"/>
                  </a:rPr>
                  <a:t> Aperture</a:t>
                </a:r>
              </a:p>
              <a:p>
                <a:pPr marL="285750" indent="-285750" algn="just">
                  <a:lnSpc>
                    <a:spcPct val="150000"/>
                  </a:lnSpc>
                  <a:spcBef>
                    <a:spcPts val="600"/>
                  </a:spcBef>
                  <a:spcAft>
                    <a:spcPts val="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The smallest impact factor with a correlation coefficient of </a:t>
                </a:r>
                <a:r>
                  <a:rPr lang="en-HK" altLang="zh-CN" sz="1600" b="1" dirty="0">
                    <a:solidFill>
                      <a:srgbClr val="C00000"/>
                    </a:solidFill>
                    <a:latin typeface="Times New Roman" panose="02020603050405020304" pitchFamily="18" charset="0"/>
                    <a:ea typeface="SimSun" panose="02010600030101010101" pitchFamily="2" charset="-122"/>
                    <a:cs typeface="Times New Roman"/>
                  </a:rPr>
                  <a:t>0.5228</a:t>
                </a:r>
                <a:r>
                  <a:rPr lang="en-HK" altLang="zh-CN" sz="1600" dirty="0">
                    <a:latin typeface="Times New Roman" panose="02020603050405020304" pitchFamily="18" charset="0"/>
                    <a:ea typeface="SimSun" panose="02010600030101010101" pitchFamily="2" charset="-122"/>
                    <a:cs typeface="Times New Roman"/>
                  </a:rPr>
                  <a:t>, remains important.</a:t>
                </a:r>
              </a:p>
            </p:txBody>
          </p:sp>
        </mc:Choice>
        <mc:Fallback xmlns="">
          <p:sp>
            <p:nvSpPr>
              <p:cNvPr id="38" name="文本框 37">
                <a:extLst>
                  <a:ext uri="{FF2B5EF4-FFF2-40B4-BE49-F238E27FC236}">
                    <a16:creationId xmlns:a16="http://schemas.microsoft.com/office/drawing/2014/main" id="{BC2B341A-347E-497E-BAAD-DFC3411178C6}"/>
                  </a:ext>
                </a:extLst>
              </p:cNvPr>
              <p:cNvSpPr txBox="1">
                <a:spLocks noRot="1" noChangeAspect="1" noMove="1" noResize="1" noEditPoints="1" noAdjustHandles="1" noChangeArrowheads="1" noChangeShapeType="1" noTextEdit="1"/>
              </p:cNvSpPr>
              <p:nvPr/>
            </p:nvSpPr>
            <p:spPr>
              <a:xfrm>
                <a:off x="7431141" y="4800596"/>
                <a:ext cx="4132649" cy="1602362"/>
              </a:xfrm>
              <a:prstGeom prst="rect">
                <a:avLst/>
              </a:prstGeom>
              <a:blipFill>
                <a:blip r:embed="rId6"/>
                <a:stretch>
                  <a:fillRect l="-590" r="-885" b="-4183"/>
                </a:stretch>
              </a:blipFill>
            </p:spPr>
            <p:txBody>
              <a:bodyPr/>
              <a:lstStyle/>
              <a:p>
                <a:r>
                  <a:rPr lang="en-US">
                    <a:noFill/>
                    <a:latin typeface="Times New Roman"/>
                    <a:ea typeface="SimSun"/>
                    <a:cs typeface="Times New Roman"/>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04B8C3A7-E0B9-4663-BC11-FE2739F5EFF3}"/>
                  </a:ext>
                </a:extLst>
              </p:cNvPr>
              <p:cNvSpPr txBox="1"/>
              <p:nvPr/>
            </p:nvSpPr>
            <p:spPr>
              <a:xfrm>
                <a:off x="1307733" y="4724335"/>
                <a:ext cx="4804067" cy="2125582"/>
              </a:xfrm>
              <a:prstGeom prst="rect">
                <a:avLst/>
              </a:prstGeom>
              <a:noFill/>
            </p:spPr>
            <p:txBody>
              <a:bodyPr wrap="square">
                <a:spAutoFit/>
              </a:bodyPr>
              <a:lstStyle/>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Small </a:t>
                </a:r>
                <a:r>
                  <a:rPr lang="en-HK" altLang="zh-CN" sz="1600" dirty="0">
                    <a:solidFill>
                      <a:srgbClr val="C00000"/>
                    </a:solidFill>
                    <a:latin typeface="Times New Roman" panose="02020603050405020304" pitchFamily="18" charset="0"/>
                    <a:ea typeface="SimSun" panose="02010600030101010101" pitchFamily="2" charset="-122"/>
                    <a:cs typeface="Times New Roman"/>
                  </a:rPr>
                  <a:t>spacing</a:t>
                </a:r>
                <a:r>
                  <a:rPr lang="en-HK" altLang="zh-CN" sz="1600" dirty="0">
                    <a:latin typeface="Times New Roman" panose="02020603050405020304" pitchFamily="18" charset="0"/>
                    <a:ea typeface="SimSun" panose="02010600030101010101" pitchFamily="2" charset="-122"/>
                    <a:cs typeface="Times New Roman"/>
                  </a:rPr>
                  <a:t>: increasing the pressure rapidly brings the IEC performance to its peak and then decreases.</a:t>
                </a:r>
                <a:endParaRPr lang="en-US" altLang="zh-CN" sz="1600" dirty="0">
                  <a:latin typeface="Times New Roman" panose="02020603050405020304" pitchFamily="18" charset="0"/>
                  <a:ea typeface="SimSun" panose="02010600030101010101" pitchFamily="2" charset="-122"/>
                  <a:cs typeface="Times New Roman"/>
                </a:endParaRPr>
              </a:p>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Low </a:t>
                </a:r>
                <a:r>
                  <a:rPr lang="en-HK" altLang="zh-CN" sz="1600" dirty="0">
                    <a:solidFill>
                      <a:srgbClr val="C00000"/>
                    </a:solidFill>
                    <a:latin typeface="Times New Roman" panose="02020603050405020304" pitchFamily="18" charset="0"/>
                    <a:ea typeface="SimSun" panose="02010600030101010101" pitchFamily="2" charset="-122"/>
                    <a:cs typeface="Times New Roman"/>
                  </a:rPr>
                  <a:t>pressure</a:t>
                </a:r>
                <a:r>
                  <a:rPr lang="en-HK" altLang="zh-CN" sz="1600" dirty="0">
                    <a:latin typeface="Times New Roman" panose="02020603050405020304" pitchFamily="18" charset="0"/>
                    <a:ea typeface="SimSun" panose="02010600030101010101" pitchFamily="2" charset="-122"/>
                    <a:cs typeface="Times New Roman"/>
                  </a:rPr>
                  <a:t>: aperture  </a:t>
                </a:r>
                <a14:m>
                  <m:oMath xmlns:m="http://schemas.openxmlformats.org/officeDocument/2006/math">
                    <m:sSub>
                      <m:sSubPr>
                        <m:ctrlPr>
                          <a:rPr lang="en-HK" sz="1600" b="0" i="1" smtClean="0">
                            <a:latin typeface="Times New Roman" panose="02040503050406030204" pitchFamily="18" charset="0"/>
                            <a:ea typeface="SimSun"/>
                            <a:cs typeface="Times New Roman"/>
                          </a:rPr>
                        </m:ctrlPr>
                      </m:sSubPr>
                      <m:e>
                        <m:r>
                          <a:rPr lang="en-HK" sz="1600" b="0" i="1" smtClean="0">
                            <a:latin typeface="Times New Roman" panose="02040503050406030204" pitchFamily="18" charset="0"/>
                            <a:ea typeface="SimSun"/>
                            <a:cs typeface="Times New Roman"/>
                          </a:rPr>
                          <m:t> </m:t>
                        </m:r>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  </a:t>
                </a:r>
              </a:p>
              <a:p>
                <a:pPr marL="285750" indent="-28575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panose="02010600030101010101" pitchFamily="2" charset="-122"/>
                    <a:cs typeface="Times New Roman"/>
                  </a:rPr>
                  <a:t>H</a:t>
                </a:r>
                <a:r>
                  <a:rPr lang="en-US" altLang="zh-CN" sz="1600" dirty="0" err="1">
                    <a:latin typeface="Times New Roman" panose="02020603050405020304" pitchFamily="18" charset="0"/>
                    <a:ea typeface="SimSun" panose="02010600030101010101" pitchFamily="2" charset="-122"/>
                    <a:cs typeface="Times New Roman"/>
                  </a:rPr>
                  <a:t>igh</a:t>
                </a:r>
                <a:r>
                  <a:rPr lang="en-US" altLang="zh-CN" sz="1600" dirty="0">
                    <a:latin typeface="Times New Roman" panose="02020603050405020304" pitchFamily="18" charset="0"/>
                    <a:ea typeface="SimSun" panose="02010600030101010101" pitchFamily="2" charset="-122"/>
                    <a:cs typeface="Times New Roman"/>
                  </a:rPr>
                  <a:t> </a:t>
                </a:r>
                <a:r>
                  <a:rPr lang="en-US" altLang="zh-CN" sz="1600" dirty="0">
                    <a:solidFill>
                      <a:srgbClr val="C00000"/>
                    </a:solidFill>
                    <a:latin typeface="Times New Roman" panose="02020603050405020304" pitchFamily="18" charset="0"/>
                    <a:ea typeface="SimSun" panose="02010600030101010101" pitchFamily="2" charset="-122"/>
                    <a:cs typeface="Times New Roman"/>
                  </a:rPr>
                  <a:t>pressure</a:t>
                </a:r>
                <a:r>
                  <a:rPr lang="en-US" altLang="zh-CN" sz="1600" dirty="0">
                    <a:latin typeface="Times New Roman" panose="02020603050405020304" pitchFamily="18" charset="0"/>
                    <a:ea typeface="SimSun" panose="02010600030101010101" pitchFamily="2" charset="-122"/>
                    <a:cs typeface="Times New Roman"/>
                  </a:rPr>
                  <a:t>: </a:t>
                </a:r>
                <a:r>
                  <a:rPr lang="en-HK" altLang="zh-CN" sz="1600" dirty="0">
                    <a:latin typeface="Times New Roman" panose="02020603050405020304" pitchFamily="18" charset="0"/>
                    <a:ea typeface="SimSun" panose="02010600030101010101" pitchFamily="2" charset="-122"/>
                    <a:cs typeface="Times New Roman"/>
                  </a:rPr>
                  <a:t>aperture  </a:t>
                </a:r>
                <a14:m>
                  <m:oMath xmlns:m="http://schemas.openxmlformats.org/officeDocument/2006/math">
                    <m:sSub>
                      <m:sSubPr>
                        <m:ctrlPr>
                          <a:rPr lang="en-HK" sz="1600" i="1">
                            <a:latin typeface="Times New Roman" panose="02040503050406030204" pitchFamily="18" charset="0"/>
                            <a:ea typeface="SimSun"/>
                            <a:cs typeface="Times New Roman"/>
                          </a:rPr>
                        </m:ctrlPr>
                      </m:sSubPr>
                      <m:e>
                        <m:r>
                          <a:rPr lang="en-HK" sz="1600" i="1">
                            <a:latin typeface="Times New Roman" panose="02040503050406030204" pitchFamily="18" charset="0"/>
                            <a:ea typeface="SimSun"/>
                            <a:cs typeface="Times New Roman"/>
                          </a:rPr>
                          <m:t> </m:t>
                        </m:r>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oMath>
                </a14:m>
                <a:r>
                  <a:rPr lang="en-HK" altLang="zh-CN" sz="1600" dirty="0">
                    <a:latin typeface="Times New Roman" panose="02020603050405020304" pitchFamily="18" charset="0"/>
                    <a:ea typeface="SimSun" panose="02010600030101010101" pitchFamily="2" charset="-122"/>
                    <a:cs typeface="Times New Roman"/>
                  </a:rPr>
                  <a:t> </a:t>
                </a:r>
              </a:p>
              <a:p>
                <a:pPr marL="285750" indent="-285750" algn="just">
                  <a:lnSpc>
                    <a:spcPct val="150000"/>
                  </a:lnSpc>
                  <a:spcAft>
                    <a:spcPts val="600"/>
                  </a:spcAft>
                  <a:buFont typeface="Arial" panose="020B0604020202020204" pitchFamily="34" charset="0"/>
                  <a:buChar char="•"/>
                </a:pPr>
                <a:endParaRPr lang="en-HK" altLang="zh-CN" sz="1600" dirty="0">
                  <a:latin typeface="Times New Roman" panose="02020603050405020304" pitchFamily="18" charset="0"/>
                  <a:ea typeface="SimSun" panose="02010600030101010101" pitchFamily="2" charset="-122"/>
                  <a:cs typeface="Times New Roman"/>
                </a:endParaRPr>
              </a:p>
            </p:txBody>
          </p:sp>
        </mc:Choice>
        <mc:Fallback xmlns="">
          <p:sp>
            <p:nvSpPr>
              <p:cNvPr id="39" name="文本框 38">
                <a:extLst>
                  <a:ext uri="{FF2B5EF4-FFF2-40B4-BE49-F238E27FC236}">
                    <a16:creationId xmlns:a16="http://schemas.microsoft.com/office/drawing/2014/main" id="{04B8C3A7-E0B9-4663-BC11-FE2739F5EFF3}"/>
                  </a:ext>
                </a:extLst>
              </p:cNvPr>
              <p:cNvSpPr txBox="1">
                <a:spLocks noRot="1" noChangeAspect="1" noMove="1" noResize="1" noEditPoints="1" noAdjustHandles="1" noChangeArrowheads="1" noChangeShapeType="1" noTextEdit="1"/>
              </p:cNvSpPr>
              <p:nvPr/>
            </p:nvSpPr>
            <p:spPr>
              <a:xfrm>
                <a:off x="1307733" y="4724335"/>
                <a:ext cx="4804067" cy="2125582"/>
              </a:xfrm>
              <a:prstGeom prst="rect">
                <a:avLst/>
              </a:prstGeom>
              <a:blipFill>
                <a:blip r:embed="rId7"/>
                <a:stretch>
                  <a:fillRect l="-508" r="-635"/>
                </a:stretch>
              </a:blipFill>
            </p:spPr>
            <p:txBody>
              <a:bodyPr/>
              <a:lstStyle/>
              <a:p>
                <a:r>
                  <a:rPr lang="en-US">
                    <a:noFill/>
                    <a:latin typeface="Times New Roman"/>
                    <a:ea typeface="SimSun"/>
                    <a:cs typeface="Times New Roman"/>
                  </a:rPr>
                  <a:t> </a:t>
                </a:r>
              </a:p>
            </p:txBody>
          </p:sp>
        </mc:Fallback>
      </mc:AlternateContent>
      <p:grpSp>
        <p:nvGrpSpPr>
          <p:cNvPr id="40" name="Original English content (proportional layout)"/>
          <p:cNvGrpSpPr/>
          <p:nvPr/>
        </p:nvGrpSpPr>
        <p:grpSpPr>
          <a:xfrm>
            <a:off x="1097280" y="731520"/>
            <a:ext cx="9997440" cy="5023714"/>
            <a:chOff x="0" y="731520"/>
            <a:chExt cx="12192000" cy="6126480"/>
          </a:xfrm>
        </p:grpSpPr>
        <p:sp>
          <p:nvSpPr>
            <p:cNvPr id="5" name="矩形: 圆角 4">
              <a:extLst>
                <a:ext uri="{FF2B5EF4-FFF2-40B4-BE49-F238E27FC236}">
                  <a16:creationId xmlns:a16="http://schemas.microsoft.com/office/drawing/2014/main" id="{9C31EF2F-1855-48F7-A274-EE81D147E5A1}"/>
                </a:ext>
              </a:extLst>
            </p:cNvPr>
            <p:cNvSpPr/>
            <p:nvPr/>
          </p:nvSpPr>
          <p:spPr bwMode="auto">
            <a:xfrm>
              <a:off x="1192168" y="4611495"/>
              <a:ext cx="5127723" cy="2020197"/>
            </a:xfrm>
            <a:prstGeom prst="roundRect">
              <a:avLst/>
            </a:prstGeom>
            <a:noFill/>
            <a:ln w="19050" cap="flat" cmpd="sng" algn="ctr">
              <a:solidFill>
                <a:srgbClr val="AF1E3B"/>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5.4 </a:t>
              </a:r>
              <a:r>
                <a:rPr lang="en-HK" altLang="en-US" sz="1476" b="1" kern="0" dirty="0">
                  <a:latin typeface="Times New Roman" panose="02020603050405020304" pitchFamily="18" charset="0"/>
                  <a:ea typeface="SimSun"/>
                  <a:cs typeface="Times New Roman" panose="02020603050405020304" pitchFamily="18" charset="0"/>
                </a:rPr>
                <a:t>Results and discussions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4945154"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5.4.2 Combined effect of variations in two factors</a:t>
              </a:r>
            </a:p>
          </p:txBody>
        </p:sp>
        <p:sp>
          <p:nvSpPr>
            <p:cNvPr id="18" name="文本框 17">
              <a:extLst>
                <a:ext uri="{FF2B5EF4-FFF2-40B4-BE49-F238E27FC236}">
                  <a16:creationId xmlns:a16="http://schemas.microsoft.com/office/drawing/2014/main" id="{F40C4369-DFA1-4532-9CEB-61316E0CA766}"/>
                </a:ext>
              </a:extLst>
            </p:cNvPr>
            <p:cNvSpPr txBox="1"/>
            <p:nvPr/>
          </p:nvSpPr>
          <p:spPr>
            <a:xfrm>
              <a:off x="392303" y="1712549"/>
              <a:ext cx="2219391"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Spacing and pressure</a:t>
              </a:r>
              <a:endParaRPr lang="zh-CN" altLang="en-US" sz="1312" dirty="0">
                <a:latin typeface="Times New Roman"/>
                <a:ea typeface="SimSun"/>
                <a:cs typeface="Times New Roman"/>
              </a:endParaRPr>
            </a:p>
          </p:txBody>
        </p:sp>
        <p:pic>
          <p:nvPicPr>
            <p:cNvPr id="14" name="图片 13">
              <a:extLst>
                <a:ext uri="{FF2B5EF4-FFF2-40B4-BE49-F238E27FC236}">
                  <a16:creationId xmlns:a16="http://schemas.microsoft.com/office/drawing/2014/main" id="{DB624EFF-8ED2-4907-939C-14BAF5D79B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6138" y="2109640"/>
              <a:ext cx="3031927" cy="2160000"/>
            </a:xfrm>
            <a:prstGeom prst="rect">
              <a:avLst/>
            </a:prstGeom>
          </p:spPr>
        </p:pic>
        <p:pic>
          <p:nvPicPr>
            <p:cNvPr id="19" name="图片 18">
              <a:extLst>
                <a:ext uri="{FF2B5EF4-FFF2-40B4-BE49-F238E27FC236}">
                  <a16:creationId xmlns:a16="http://schemas.microsoft.com/office/drawing/2014/main" id="{B94CD3CA-1F56-4FD8-A05D-76B883319F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8689" y="2109640"/>
              <a:ext cx="2935929" cy="2160000"/>
            </a:xfrm>
            <a:prstGeom prst="rect">
              <a:avLst/>
            </a:prstGeom>
          </p:spPr>
        </p:pic>
        <p:sp>
          <p:nvSpPr>
            <p:cNvPr id="25" name="文本框 24">
              <a:extLst>
                <a:ext uri="{FF2B5EF4-FFF2-40B4-BE49-F238E27FC236}">
                  <a16:creationId xmlns:a16="http://schemas.microsoft.com/office/drawing/2014/main" id="{0E0C6A71-5910-45AE-AA36-4527C723483A}"/>
                </a:ext>
              </a:extLst>
            </p:cNvPr>
            <p:cNvSpPr txBox="1"/>
            <p:nvPr/>
          </p:nvSpPr>
          <p:spPr>
            <a:xfrm>
              <a:off x="3434964" y="1722138"/>
              <a:ext cx="2476566"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Aperture and pressure</a:t>
              </a:r>
              <a:endParaRPr lang="zh-CN" altLang="en-US" sz="1312" dirty="0">
                <a:latin typeface="Times New Roman"/>
                <a:ea typeface="SimSun"/>
                <a:cs typeface="Times New Roman"/>
              </a:endParaRPr>
            </a:p>
          </p:txBody>
        </p:sp>
        <p:cxnSp>
          <p:nvCxnSpPr>
            <p:cNvPr id="34" name="直接连接符 33">
              <a:extLst>
                <a:ext uri="{FF2B5EF4-FFF2-40B4-BE49-F238E27FC236}">
                  <a16:creationId xmlns:a16="http://schemas.microsoft.com/office/drawing/2014/main" id="{928D7627-E5B3-45C8-A69C-FAEB4BA114AF}"/>
                </a:ext>
              </a:extLst>
            </p:cNvPr>
            <p:cNvCxnSpPr>
              <a:cxnSpLocks/>
            </p:cNvCxnSpPr>
            <p:nvPr/>
          </p:nvCxnSpPr>
          <p:spPr bwMode="auto">
            <a:xfrm>
              <a:off x="7086600" y="1281316"/>
              <a:ext cx="0" cy="5576684"/>
            </a:xfrm>
            <a:prstGeom prst="line">
              <a:avLst/>
            </a:prstGeom>
            <a:ln w="19050">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5" name="文本框 34">
              <a:extLst>
                <a:ext uri="{FF2B5EF4-FFF2-40B4-BE49-F238E27FC236}">
                  <a16:creationId xmlns:a16="http://schemas.microsoft.com/office/drawing/2014/main" id="{D7FACD9B-841E-43E7-8A76-488CF4D8AD04}"/>
                </a:ext>
              </a:extLst>
            </p:cNvPr>
            <p:cNvSpPr txBox="1"/>
            <p:nvPr/>
          </p:nvSpPr>
          <p:spPr>
            <a:xfrm>
              <a:off x="7130448" y="1437635"/>
              <a:ext cx="4301553"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The importance of different design parameters</a:t>
              </a:r>
              <a:endParaRPr lang="zh-CN" altLang="en-US" sz="1312" dirty="0">
                <a:latin typeface="Times New Roman"/>
                <a:ea typeface="SimSun"/>
                <a:cs typeface="Times New Roman"/>
              </a:endParaRPr>
            </a:p>
          </p:txBody>
        </p:sp>
        <p:pic>
          <p:nvPicPr>
            <p:cNvPr id="36" name="图片 35">
              <a:extLst>
                <a:ext uri="{FF2B5EF4-FFF2-40B4-BE49-F238E27FC236}">
                  <a16:creationId xmlns:a16="http://schemas.microsoft.com/office/drawing/2014/main" id="{560F1C2B-8F45-41B7-A25E-A08FF4319A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30588" y="1790708"/>
              <a:ext cx="4233202" cy="2880000"/>
            </a:xfrm>
            <a:prstGeom prst="rect">
              <a:avLst/>
            </a:prstGeom>
          </p:spPr>
        </p:pic>
        <p:cxnSp>
          <p:nvCxnSpPr>
            <p:cNvPr id="37" name="直接连接符 36">
              <a:extLst>
                <a:ext uri="{FF2B5EF4-FFF2-40B4-BE49-F238E27FC236}">
                  <a16:creationId xmlns:a16="http://schemas.microsoft.com/office/drawing/2014/main" id="{38752550-5659-4DDE-9536-D32F28C15AAB}"/>
                </a:ext>
              </a:extLst>
            </p:cNvPr>
            <p:cNvCxnSpPr>
              <a:cxnSpLocks/>
            </p:cNvCxnSpPr>
            <p:nvPr/>
          </p:nvCxnSpPr>
          <p:spPr bwMode="auto">
            <a:xfrm>
              <a:off x="7086600" y="1281316"/>
              <a:ext cx="0" cy="5576684"/>
            </a:xfrm>
            <a:prstGeom prst="line">
              <a:avLst/>
            </a:prstGeom>
            <a:ln w="19050">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 name="直接箭头连接符 2">
              <a:extLst>
                <a:ext uri="{FF2B5EF4-FFF2-40B4-BE49-F238E27FC236}">
                  <a16:creationId xmlns:a16="http://schemas.microsoft.com/office/drawing/2014/main" id="{FF856D8F-0275-FB94-C872-CFCC7F1B3E98}"/>
                </a:ext>
              </a:extLst>
            </p:cNvPr>
            <p:cNvCxnSpPr>
              <a:cxnSpLocks/>
            </p:cNvCxnSpPr>
            <p:nvPr/>
          </p:nvCxnSpPr>
          <p:spPr bwMode="auto">
            <a:xfrm flipV="1">
              <a:off x="3648689" y="5585183"/>
              <a:ext cx="0" cy="290151"/>
            </a:xfrm>
            <a:prstGeom prst="straightConnector1">
              <a:avLst/>
            </a:prstGeom>
            <a:noFill/>
            <a:ln w="38100" cap="flat" cmpd="sng" algn="ctr">
              <a:solidFill>
                <a:srgbClr val="B96E87"/>
              </a:solidFill>
              <a:prstDash val="solid"/>
              <a:round/>
              <a:headEnd type="none" w="med" len="med"/>
              <a:tailEnd type="triangle"/>
            </a:ln>
            <a:effectLst/>
          </p:spPr>
        </p:cxnSp>
        <p:cxnSp>
          <p:nvCxnSpPr>
            <p:cNvPr id="4" name="直接箭头连接符 3">
              <a:extLst>
                <a:ext uri="{FF2B5EF4-FFF2-40B4-BE49-F238E27FC236}">
                  <a16:creationId xmlns:a16="http://schemas.microsoft.com/office/drawing/2014/main" id="{015E9621-5EA7-8830-497E-079F4E048EF8}"/>
                </a:ext>
              </a:extLst>
            </p:cNvPr>
            <p:cNvCxnSpPr>
              <a:cxnSpLocks/>
            </p:cNvCxnSpPr>
            <p:nvPr/>
          </p:nvCxnSpPr>
          <p:spPr bwMode="auto">
            <a:xfrm flipV="1">
              <a:off x="3657843" y="6039395"/>
              <a:ext cx="0" cy="290151"/>
            </a:xfrm>
            <a:prstGeom prst="straightConnector1">
              <a:avLst/>
            </a:prstGeom>
            <a:noFill/>
            <a:ln w="38100" cap="flat" cmpd="sng" algn="ctr">
              <a:solidFill>
                <a:srgbClr val="B96E87"/>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1B209BCA-4732-5F0D-A2D1-79AFE9E3CB6B}"/>
                </a:ext>
              </a:extLst>
            </p:cNvPr>
            <p:cNvCxnSpPr>
              <a:cxnSpLocks/>
            </p:cNvCxnSpPr>
            <p:nvPr/>
          </p:nvCxnSpPr>
          <p:spPr bwMode="auto">
            <a:xfrm>
              <a:off x="4127131" y="6039395"/>
              <a:ext cx="0" cy="310313"/>
            </a:xfrm>
            <a:prstGeom prst="straightConnector1">
              <a:avLst/>
            </a:prstGeom>
            <a:noFill/>
            <a:ln w="38100" cap="flat" cmpd="sng" algn="ctr">
              <a:solidFill>
                <a:srgbClr val="B96E87"/>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91AD7B73-9DD3-44EA-ABD8-7C88794E8EFC}"/>
                </a:ext>
              </a:extLst>
            </p:cNvPr>
            <p:cNvCxnSpPr>
              <a:cxnSpLocks/>
            </p:cNvCxnSpPr>
            <p:nvPr/>
          </p:nvCxnSpPr>
          <p:spPr bwMode="auto">
            <a:xfrm flipV="1">
              <a:off x="4127131" y="5585183"/>
              <a:ext cx="0" cy="290151"/>
            </a:xfrm>
            <a:prstGeom prst="straightConnector1">
              <a:avLst/>
            </a:prstGeom>
            <a:noFill/>
            <a:ln w="38100" cap="flat" cmpd="sng" algn="ctr">
              <a:solidFill>
                <a:srgbClr val="B96E87"/>
              </a:solidFill>
              <a:prstDash val="solid"/>
              <a:round/>
              <a:headEnd type="none" w="med" len="med"/>
              <a:tailEnd type="triangle"/>
            </a:ln>
            <a:effectLst/>
          </p:spPr>
        </p:cxnSp>
      </p:grpSp>
      <p:sp>
        <p:nvSpPr>
          <p:cNvPr id="41"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中文要点｜双因素耦合与参数重要性</a:t>
            </a:r>
          </a:p>
          <a:p>
            <a:pPr>
              <a:lnSpc>
                <a:spcPct val="108000"/>
              </a:lnSpc>
              <a:spcAft>
                <a:spcPts val="0"/>
              </a:spcAft>
            </a:pPr>
            <a:r>
              <a:rPr sz="1400" b="0">
                <a:solidFill>
                  <a:srgbClr val="282828"/>
                </a:solidFill>
                <a:latin typeface="Times New Roman"/>
                <a:ea typeface="SimSun"/>
                <a:cs typeface="Times New Roman"/>
              </a:rPr>
              <a:t>分析间距—压力、孔径—压力的耦合影响，并比较各设计参数对系统性能的重要性。</a:t>
            </a:r>
          </a:p>
        </p:txBody>
      </p:sp>
    </p:spTree>
    <p:extLst>
      <p:ext uri="{BB962C8B-B14F-4D97-AF65-F5344CB8AC3E}">
        <p14:creationId xmlns:p14="http://schemas.microsoft.com/office/powerpoint/2010/main" val="251995192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a:xfrm>
            <a:off x="9309100" y="6400801"/>
            <a:ext cx="2844800" cy="365125"/>
          </a:xfrm>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44</a:t>
            </a:fld>
            <a:endParaRPr lang="en-US" altLang="zh-CN" dirty="0">
              <a:latin typeface="Times New Roman"/>
              <a:ea typeface="SimSun"/>
              <a:cs typeface="Times New Roman"/>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E12DBFC-4A90-4CA1-94BE-0B48E124C0BC}"/>
                  </a:ext>
                </a:extLst>
              </p:cNvPr>
              <p:cNvSpPr/>
              <p:nvPr/>
            </p:nvSpPr>
            <p:spPr>
              <a:xfrm>
                <a:off x="1767507" y="5486520"/>
                <a:ext cx="3534109" cy="596510"/>
              </a:xfrm>
              <a:prstGeom prst="rect">
                <a:avLst/>
              </a:prstGeom>
            </p:spPr>
            <p:txBody>
              <a:bodyPr wrap="none">
                <a:spAutoFit/>
              </a:bodyPr>
              <a:lstStyle/>
              <a:p>
                <a:pPr/>
                <a14:m>
                  <m:oMathPara xmlns:m="http://schemas.openxmlformats.org/officeDocument/2006/math">
                    <m:oMath>
                      <m:r>
                        <m:rPr>
                          <m:sty m:val="p"/>
                        </m:rPr>
                        <a:rPr lang="en-US" sz="1600">
                          <a:latin typeface="Times New Roman" panose="02040503050406030204" pitchFamily="18" charset="0"/>
                          <a:ea typeface="SimSun"/>
                          <a:cs typeface="Times New Roman"/>
                        </a:rPr>
                        <m:t>J</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𝑃</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𝑠</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𝑑</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𝑛</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𝛤</m:t>
                      </m:r>
                      <m:r>
                        <a:rPr lang="en-US" sz="1600" i="0">
                          <a:latin typeface="Times New Roman" panose="02040503050406030204" pitchFamily="18" charset="0"/>
                          <a:ea typeface="SimSun"/>
                          <a:cs typeface="Times New Roman"/>
                        </a:rPr>
                        <m:t>,</m:t>
                      </m:r>
                      <m:r>
                        <a:rPr lang="en-US" sz="1600" i="1">
                          <a:latin typeface="Times New Roman" panose="02040503050406030204" pitchFamily="18" charset="0"/>
                          <a:ea typeface="SimSun"/>
                          <a:cs typeface="Times New Roman"/>
                        </a:rPr>
                        <m:t>𝑣</m:t>
                      </m:r>
                      <m:r>
                        <a:rPr lang="en-US" sz="1600" i="0">
                          <a:latin typeface="Times New Roman" panose="02040503050406030204" pitchFamily="18" charset="0"/>
                          <a:ea typeface="SimSun"/>
                          <a:cs typeface="Times New Roman"/>
                        </a:rPr>
                        <m:t>)=</m:t>
                      </m:r>
                      <m:sSub>
                        <m:sSubPr>
                          <m:ctrlPr>
                            <a:rPr lang="en-US" sz="1600" i="0">
                              <a:latin typeface="Times New Roman" panose="02040503050406030204" pitchFamily="18" charset="0"/>
                              <a:ea typeface="SimSun"/>
                              <a:cs typeface="Times New Roman"/>
                            </a:rPr>
                          </m:ctrlPr>
                        </m:sSubPr>
                        <m:e>
                          <m:r>
                            <m:rPr>
                              <m:sty m:val="p"/>
                            </m:rPr>
                            <a:rPr lang="en-US" sz="1600" i="0">
                              <a:latin typeface="Times New Roman" panose="02040503050406030204" pitchFamily="18" charset="0"/>
                              <a:ea typeface="SimSun"/>
                              <a:cs typeface="Times New Roman"/>
                            </a:rPr>
                            <m:t>W</m:t>
                          </m:r>
                        </m:e>
                        <m:sub>
                          <m:r>
                            <a:rPr lang="en-US" sz="1600" i="0">
                              <a:latin typeface="Times New Roman" panose="02040503050406030204" pitchFamily="18" charset="0"/>
                              <a:ea typeface="SimSun"/>
                              <a:cs typeface="Times New Roman"/>
                            </a:rPr>
                            <m:t>1</m:t>
                          </m:r>
                        </m:sub>
                      </m:sSub>
                      <m:f>
                        <m:fPr>
                          <m:ctrlPr>
                            <a:rPr lang="en-US" sz="1600" i="1">
                              <a:latin typeface="Times New Roman" panose="02040503050406030204" pitchFamily="18" charset="0"/>
                              <a:ea typeface="SimSun"/>
                              <a:cs typeface="Times New Roman"/>
                            </a:rPr>
                          </m:ctrlPr>
                        </m:fPr>
                        <m:num>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num>
                        <m:den>
                          <m:r>
                            <a:rPr lang="en-US" sz="1600" i="1">
                              <a:latin typeface="Times New Roman" panose="02040503050406030204" pitchFamily="18" charset="0"/>
                              <a:ea typeface="SimSun"/>
                              <a:cs typeface="Times New Roman"/>
                            </a:rPr>
                            <m:t>𝑅</m:t>
                          </m:r>
                          <m:sSub>
                            <m:sSubPr>
                              <m:ctrlPr>
                                <a:rPr lang="en-US" sz="1600" i="1">
                                  <a:latin typeface="Times New Roman" panose="02040503050406030204" pitchFamily="18" charset="0"/>
                                  <a:ea typeface="SimSun"/>
                                  <a:cs typeface="Times New Roman"/>
                                </a:rPr>
                              </m:ctrlPr>
                            </m:sSubPr>
                            <m:e>
                              <m:r>
                                <a:rPr lang="en-US" sz="1600" i="1">
                                  <a:latin typeface="Times New Roman" panose="02040503050406030204" pitchFamily="18" charset="0"/>
                                  <a:ea typeface="SimSun"/>
                                  <a:cs typeface="Times New Roman"/>
                                </a:rPr>
                                <m:t>𝜀</m:t>
                              </m:r>
                            </m:e>
                            <m:sub>
                              <m:r>
                                <a:rPr lang="en-US" sz="1600" i="1">
                                  <a:latin typeface="Times New Roman" panose="02040503050406030204" pitchFamily="18" charset="0"/>
                                  <a:ea typeface="SimSun"/>
                                  <a:cs typeface="Times New Roman"/>
                                </a:rPr>
                                <m:t>𝑤𝑏</m:t>
                              </m:r>
                            </m:sub>
                          </m:sSub>
                        </m:den>
                      </m:f>
                      <m:r>
                        <a:rPr lang="en-US" sz="1600" i="0">
                          <a:latin typeface="Times New Roman" panose="02040503050406030204" pitchFamily="18" charset="0"/>
                          <a:ea typeface="SimSun"/>
                          <a:cs typeface="Times New Roman"/>
                        </a:rPr>
                        <m:t>+</m:t>
                      </m:r>
                      <m:sSub>
                        <m:sSubPr>
                          <m:ctrlPr>
                            <a:rPr lang="en-US" sz="1600" i="0">
                              <a:latin typeface="Times New Roman" panose="02040503050406030204" pitchFamily="18" charset="0"/>
                              <a:ea typeface="SimSun"/>
                              <a:cs typeface="Times New Roman"/>
                            </a:rPr>
                          </m:ctrlPr>
                        </m:sSubPr>
                        <m:e>
                          <m:r>
                            <m:rPr>
                              <m:sty m:val="p"/>
                            </m:rPr>
                            <a:rPr lang="en-US" sz="1600" i="0">
                              <a:latin typeface="Times New Roman" panose="02040503050406030204" pitchFamily="18" charset="0"/>
                              <a:ea typeface="SimSun"/>
                              <a:cs typeface="Times New Roman"/>
                            </a:rPr>
                            <m:t>W</m:t>
                          </m:r>
                        </m:e>
                        <m:sub>
                          <m:r>
                            <a:rPr lang="en-US" sz="1600" i="0">
                              <a:latin typeface="Times New Roman" panose="02040503050406030204" pitchFamily="18" charset="0"/>
                              <a:ea typeface="SimSun"/>
                              <a:cs typeface="Times New Roman"/>
                            </a:rPr>
                            <m:t>2</m:t>
                          </m:r>
                        </m:sub>
                      </m:sSub>
                      <m:f>
                        <m:fPr>
                          <m:ctrlPr>
                            <a:rPr lang="en-US" sz="1600" i="1">
                              <a:latin typeface="Times New Roman" panose="02040503050406030204" pitchFamily="18" charset="0"/>
                              <a:ea typeface="SimSun"/>
                              <a:cs typeface="Times New Roman"/>
                            </a:rPr>
                          </m:ctrlPr>
                        </m:fPr>
                        <m:num>
                          <m:r>
                            <a:rPr lang="en-US" sz="1600" i="1">
                              <a:latin typeface="Times New Roman" panose="02040503050406030204" pitchFamily="18" charset="0"/>
                              <a:ea typeface="SimSun"/>
                              <a:cs typeface="Times New Roman"/>
                            </a:rPr>
                            <m:t>𝛥</m:t>
                          </m:r>
                          <m:r>
                            <a:rPr lang="en-US" sz="1600" i="1">
                              <a:latin typeface="Times New Roman" panose="02040503050406030204" pitchFamily="18" charset="0"/>
                              <a:ea typeface="SimSun"/>
                              <a:cs typeface="Times New Roman"/>
                            </a:rPr>
                            <m:t>𝑃</m:t>
                          </m:r>
                        </m:num>
                        <m:den>
                          <m:r>
                            <a:rPr lang="en-US" sz="1600" i="1">
                              <a:latin typeface="Times New Roman" panose="02040503050406030204" pitchFamily="18" charset="0"/>
                              <a:ea typeface="SimSun"/>
                              <a:cs typeface="Times New Roman"/>
                            </a:rPr>
                            <m:t>𝑅</m:t>
                          </m:r>
                          <m:r>
                            <a:rPr lang="en-US" sz="1600" i="1">
                              <a:latin typeface="Times New Roman" panose="02040503050406030204" pitchFamily="18" charset="0"/>
                              <a:ea typeface="SimSun"/>
                              <a:cs typeface="Times New Roman"/>
                            </a:rPr>
                            <m:t>𝛥</m:t>
                          </m:r>
                          <m:r>
                            <a:rPr lang="en-US" sz="1600" i="1">
                              <a:latin typeface="Times New Roman" panose="02040503050406030204" pitchFamily="18" charset="0"/>
                              <a:ea typeface="SimSun"/>
                              <a:cs typeface="Times New Roman"/>
                            </a:rPr>
                            <m:t>𝑃</m:t>
                          </m:r>
                        </m:den>
                      </m:f>
                    </m:oMath>
                  </m:oMathPara>
                </a14:m>
                <a:endParaRPr lang="en-US" sz="1600" dirty="0">
                  <a:latin typeface="Times New Roman" panose="02020603050405020304" pitchFamily="18" charset="0"/>
                  <a:ea typeface="SimSun"/>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E12DBFC-4A90-4CA1-94BE-0B48E124C0BC}"/>
                  </a:ext>
                </a:extLst>
              </p:cNvPr>
              <p:cNvSpPr>
                <a:spLocks noRot="1" noChangeAspect="1" noMove="1" noResize="1" noEditPoints="1" noAdjustHandles="1" noChangeArrowheads="1" noChangeShapeType="1" noTextEdit="1"/>
              </p:cNvSpPr>
              <p:nvPr/>
            </p:nvSpPr>
            <p:spPr>
              <a:xfrm>
                <a:off x="1767507" y="5486520"/>
                <a:ext cx="3534109" cy="596510"/>
              </a:xfrm>
              <a:prstGeom prst="rect">
                <a:avLst/>
              </a:prstGeom>
              <a:blipFill>
                <a:blip r:embed="rId4"/>
                <a:stretch>
                  <a:fillRect/>
                </a:stretch>
              </a:blipFill>
            </p:spPr>
            <p:txBody>
              <a:bodyPr/>
              <a:lstStyle/>
              <a:p>
                <a:r>
                  <a:rPr lang="en-US">
                    <a:noFill/>
                    <a:latin typeface="Times New Roman"/>
                    <a:ea typeface="SimSun"/>
                    <a:cs typeface="Times New Roman"/>
                  </a:rPr>
                  <a:t> </a:t>
                </a:r>
              </a:p>
            </p:txBody>
          </p:sp>
        </mc:Fallback>
      </mc:AlternateContent>
      <p:grpSp>
        <p:nvGrpSpPr>
          <p:cNvPr id="24" name="Original English content (proportional layout)"/>
          <p:cNvGrpSpPr/>
          <p:nvPr/>
        </p:nvGrpSpPr>
        <p:grpSpPr>
          <a:xfrm>
            <a:off x="1097280" y="731520"/>
            <a:ext cx="9997440" cy="5023714"/>
            <a:chOff x="0" y="731520"/>
            <a:chExt cx="12192000" cy="6126480"/>
          </a:xfrm>
        </p:grpSpPr>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5.4 </a:t>
              </a:r>
              <a:r>
                <a:rPr lang="en-HK" altLang="en-US" sz="1476" b="1" kern="0" dirty="0">
                  <a:latin typeface="Times New Roman" panose="02020603050405020304" pitchFamily="18" charset="0"/>
                  <a:ea typeface="SimSun"/>
                  <a:cs typeface="Times New Roman" panose="02020603050405020304" pitchFamily="18" charset="0"/>
                </a:rPr>
                <a:t>Results and discussions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6489906"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5.4.3 Optimization of IEC-ANN model based on Genetic algorithm </a:t>
              </a:r>
            </a:p>
          </p:txBody>
        </p:sp>
        <p:sp>
          <p:nvSpPr>
            <p:cNvPr id="23" name="文本框 22">
              <a:extLst>
                <a:ext uri="{FF2B5EF4-FFF2-40B4-BE49-F238E27FC236}">
                  <a16:creationId xmlns:a16="http://schemas.microsoft.com/office/drawing/2014/main" id="{45198741-7FC3-4859-BD74-79B3658E8721}"/>
                </a:ext>
              </a:extLst>
            </p:cNvPr>
            <p:cNvSpPr txBox="1"/>
            <p:nvPr/>
          </p:nvSpPr>
          <p:spPr>
            <a:xfrm>
              <a:off x="474572" y="1673521"/>
              <a:ext cx="1973354"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Genetic algorithm </a:t>
              </a:r>
              <a:endParaRPr lang="zh-CN" altLang="en-US" sz="1312" dirty="0">
                <a:latin typeface="Times New Roman"/>
                <a:ea typeface="SimSun"/>
                <a:cs typeface="Times New Roman"/>
              </a:endParaRPr>
            </a:p>
          </p:txBody>
        </p:sp>
        <p:pic>
          <p:nvPicPr>
            <p:cNvPr id="16" name="图片 15">
              <a:extLst>
                <a:ext uri="{FF2B5EF4-FFF2-40B4-BE49-F238E27FC236}">
                  <a16:creationId xmlns:a16="http://schemas.microsoft.com/office/drawing/2014/main" id="{1ADC7978-BE55-459A-94AE-C6AEA8B33D9C}"/>
                </a:ext>
              </a:extLst>
            </p:cNvPr>
            <p:cNvPicPr/>
            <p:nvPr/>
          </p:nvPicPr>
          <p:blipFill>
            <a:blip r:embed="rId3">
              <a:extLst>
                <a:ext uri="{28A0092B-C50C-407E-A947-70E740481C1C}">
                  <a14:useLocalDpi xmlns:a14="http://schemas.microsoft.com/office/drawing/2010/main" val="0"/>
                </a:ext>
              </a:extLst>
            </a:blip>
            <a:stretch>
              <a:fillRect/>
            </a:stretch>
          </p:blipFill>
          <p:spPr>
            <a:xfrm>
              <a:off x="6890385" y="1543368"/>
              <a:ext cx="4837430" cy="5039995"/>
            </a:xfrm>
            <a:prstGeom prst="rect">
              <a:avLst/>
            </a:prstGeom>
          </p:spPr>
        </p:pic>
        <p:sp>
          <p:nvSpPr>
            <p:cNvPr id="17" name="文本框 16">
              <a:extLst>
                <a:ext uri="{FF2B5EF4-FFF2-40B4-BE49-F238E27FC236}">
                  <a16:creationId xmlns:a16="http://schemas.microsoft.com/office/drawing/2014/main" id="{6AF4C4CC-D4DC-4AEB-AA94-6A000AE3FB51}"/>
                </a:ext>
              </a:extLst>
            </p:cNvPr>
            <p:cNvSpPr txBox="1"/>
            <p:nvPr/>
          </p:nvSpPr>
          <p:spPr>
            <a:xfrm>
              <a:off x="653677" y="2062425"/>
              <a:ext cx="5990024" cy="1156086"/>
            </a:xfrm>
            <a:prstGeom prst="rect">
              <a:avLst/>
            </a:prstGeom>
            <a:noFill/>
          </p:spPr>
          <p:txBody>
            <a:bodyPr wrap="square">
              <a:spAutoFit/>
            </a:bodyPr>
            <a:lstStyle/>
            <a:p>
              <a:pPr marL="285750" indent="-285750" algn="just">
                <a:lnSpc>
                  <a:spcPct val="150000"/>
                </a:lnSpc>
                <a:spcAft>
                  <a:spcPts val="0"/>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Four key aspects: determining the basic operating parameters, chromosome encoding and decoding, evaluating individual fitness, and implementing the three genetic operators.</a:t>
              </a:r>
            </a:p>
          </p:txBody>
        </p:sp>
        <p:sp>
          <p:nvSpPr>
            <p:cNvPr id="10" name="文本框 9">
              <a:extLst>
                <a:ext uri="{FF2B5EF4-FFF2-40B4-BE49-F238E27FC236}">
                  <a16:creationId xmlns:a16="http://schemas.microsoft.com/office/drawing/2014/main" id="{1521DE8B-51E7-4945-BE0F-B1DB4470CFDC}"/>
                </a:ext>
              </a:extLst>
            </p:cNvPr>
            <p:cNvSpPr txBox="1"/>
            <p:nvPr/>
          </p:nvSpPr>
          <p:spPr>
            <a:xfrm>
              <a:off x="474572" y="3429000"/>
              <a:ext cx="3296330"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Multi-objectives optimization</a:t>
              </a:r>
              <a:endParaRPr lang="zh-CN" altLang="en-US" sz="1312" dirty="0">
                <a:latin typeface="Times New Roman"/>
                <a:ea typeface="SimSun"/>
                <a:cs typeface="Times New Roman"/>
              </a:endParaRPr>
            </a:p>
          </p:txBody>
        </p:sp>
        <p:sp>
          <p:nvSpPr>
            <p:cNvPr id="11" name="文本框 10">
              <a:extLst>
                <a:ext uri="{FF2B5EF4-FFF2-40B4-BE49-F238E27FC236}">
                  <a16:creationId xmlns:a16="http://schemas.microsoft.com/office/drawing/2014/main" id="{E6F462EE-4B69-40DC-8FFD-09B919FEF25F}"/>
                </a:ext>
              </a:extLst>
            </p:cNvPr>
            <p:cNvSpPr txBox="1"/>
            <p:nvPr/>
          </p:nvSpPr>
          <p:spPr>
            <a:xfrm>
              <a:off x="653675" y="3807964"/>
              <a:ext cx="6489905" cy="1525418"/>
            </a:xfrm>
            <a:prstGeom prst="rect">
              <a:avLst/>
            </a:prstGeom>
            <a:noFill/>
          </p:spPr>
          <p:txBody>
            <a:bodyPr wrap="square">
              <a:spAutoFit/>
            </a:bodyPr>
            <a:lstStyle/>
            <a:p>
              <a:pPr marL="285750" indent="-285750">
                <a:lnSpc>
                  <a:spcPct val="150000"/>
                </a:lnSpc>
                <a:spcAft>
                  <a:spcPts val="0"/>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Optimization targets: wet-bulb efficiency   and pressure drop     </a:t>
              </a:r>
              <a:r>
                <a:rPr lang="en-HK" altLang="zh-CN" sz="1312" b="1" dirty="0">
                  <a:solidFill>
                    <a:srgbClr val="C00000"/>
                  </a:solidFill>
                  <a:latin typeface="Times New Roman" panose="02020603050405020304" pitchFamily="18" charset="0"/>
                  <a:ea typeface="SimSun" panose="02010600030101010101" pitchFamily="2" charset="-122"/>
                  <a:cs typeface="Times New Roman"/>
                </a:rPr>
                <a:t>Minimizing</a:t>
              </a:r>
              <a:r>
                <a:rPr lang="en-HK" altLang="zh-CN" sz="1312" dirty="0">
                  <a:latin typeface="Times New Roman" panose="02020603050405020304" pitchFamily="18" charset="0"/>
                  <a:ea typeface="SimSun" panose="02010600030101010101" pitchFamily="2" charset="-122"/>
                  <a:cs typeface="Times New Roman"/>
                </a:rPr>
                <a:t> power consumption &amp; </a:t>
              </a:r>
              <a:r>
                <a:rPr lang="en-HK" altLang="zh-CN" sz="1312" b="1" dirty="0">
                  <a:solidFill>
                    <a:srgbClr val="C00000"/>
                  </a:solidFill>
                  <a:latin typeface="Times New Roman" panose="02020603050405020304" pitchFamily="18" charset="0"/>
                  <a:ea typeface="SimSun" panose="02010600030101010101" pitchFamily="2" charset="-122"/>
                  <a:cs typeface="Times New Roman"/>
                </a:rPr>
                <a:t>Maximizing</a:t>
              </a:r>
              <a:r>
                <a:rPr lang="en-HK" altLang="zh-CN" sz="1312" dirty="0">
                  <a:latin typeface="Times New Roman" panose="02020603050405020304" pitchFamily="18" charset="0"/>
                  <a:ea typeface="SimSun" panose="02010600030101010101" pitchFamily="2" charset="-122"/>
                  <a:cs typeface="Times New Roman"/>
                </a:rPr>
                <a:t> cooling performance.</a:t>
              </a:r>
            </a:p>
            <a:p>
              <a:pPr marL="285750" indent="-285750">
                <a:lnSpc>
                  <a:spcPct val="150000"/>
                </a:lnSpc>
                <a:spcAft>
                  <a:spcPts val="0"/>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The optimization function comprises of both a fitness as well as a constraint function.</a:t>
              </a:r>
            </a:p>
          </p:txBody>
        </p:sp>
        <p:sp>
          <p:nvSpPr>
            <p:cNvPr id="19" name="矩形 18">
              <a:extLst>
                <a:ext uri="{FF2B5EF4-FFF2-40B4-BE49-F238E27FC236}">
                  <a16:creationId xmlns:a16="http://schemas.microsoft.com/office/drawing/2014/main" id="{5457C2C6-5FB7-4F83-AF77-1023F4F1D97F}"/>
                </a:ext>
              </a:extLst>
            </p:cNvPr>
            <p:cNvSpPr/>
            <p:nvPr/>
          </p:nvSpPr>
          <p:spPr>
            <a:xfrm>
              <a:off x="7735284" y="6581001"/>
              <a:ext cx="2996216"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Fig.5.4.3 </a:t>
              </a:r>
              <a:r>
                <a:rPr lang="en-HK" sz="984" dirty="0">
                  <a:solidFill>
                    <a:prstClr val="black"/>
                  </a:solidFill>
                  <a:latin typeface="Times New Roman" panose="02020603050405020304" pitchFamily="18" charset="0"/>
                  <a:ea typeface="SimSun"/>
                  <a:cs typeface="Times New Roman" panose="02020603050405020304" pitchFamily="18" charset="0"/>
                </a:rPr>
                <a:t>The flow of GA-ANN optimization</a:t>
              </a:r>
            </a:p>
          </p:txBody>
        </p:sp>
        <p:cxnSp>
          <p:nvCxnSpPr>
            <p:cNvPr id="20" name="直接箭头连接符 19">
              <a:extLst>
                <a:ext uri="{FF2B5EF4-FFF2-40B4-BE49-F238E27FC236}">
                  <a16:creationId xmlns:a16="http://schemas.microsoft.com/office/drawing/2014/main" id="{D30C4A18-44D9-4835-B3E7-786B4AAE7EBA}"/>
                </a:ext>
              </a:extLst>
            </p:cNvPr>
            <p:cNvCxnSpPr>
              <a:cxnSpLocks/>
            </p:cNvCxnSpPr>
            <p:nvPr/>
          </p:nvCxnSpPr>
          <p:spPr bwMode="auto">
            <a:xfrm flipV="1">
              <a:off x="4453094" y="3907061"/>
              <a:ext cx="0" cy="290151"/>
            </a:xfrm>
            <a:prstGeom prst="straightConnector1">
              <a:avLst/>
            </a:prstGeom>
            <a:noFill/>
            <a:ln w="38100" cap="flat" cmpd="sng" algn="ctr">
              <a:solidFill>
                <a:srgbClr val="AF1E3B"/>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5853C08C-8BF9-4EB7-9502-9572CAFB120A}"/>
                </a:ext>
              </a:extLst>
            </p:cNvPr>
            <p:cNvCxnSpPr>
              <a:cxnSpLocks/>
            </p:cNvCxnSpPr>
            <p:nvPr/>
          </p:nvCxnSpPr>
          <p:spPr bwMode="auto">
            <a:xfrm>
              <a:off x="6082226" y="3907061"/>
              <a:ext cx="0" cy="315817"/>
            </a:xfrm>
            <a:prstGeom prst="straightConnector1">
              <a:avLst/>
            </a:prstGeom>
            <a:noFill/>
            <a:ln w="38100" cap="flat" cmpd="sng" algn="ctr">
              <a:solidFill>
                <a:srgbClr val="AF1E3B"/>
              </a:solidFill>
              <a:prstDash val="solid"/>
              <a:round/>
              <a:headEnd type="none" w="med" len="med"/>
              <a:tailEnd type="triangle"/>
            </a:ln>
            <a:effectLst/>
          </p:spPr>
        </p:cxnSp>
      </p:grpSp>
      <p:sp>
        <p:nvSpPr>
          <p:cNvPr id="25"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中文要点｜遗传算法多目标优化</a:t>
            </a:r>
          </a:p>
          <a:p>
            <a:pPr>
              <a:lnSpc>
                <a:spcPct val="108000"/>
              </a:lnSpc>
              <a:spcAft>
                <a:spcPts val="0"/>
              </a:spcAft>
            </a:pPr>
            <a:r>
              <a:rPr sz="1400" b="0">
                <a:solidFill>
                  <a:srgbClr val="282828"/>
                </a:solidFill>
                <a:latin typeface="Times New Roman"/>
                <a:ea typeface="SimSun"/>
                <a:cs typeface="Times New Roman"/>
              </a:rPr>
              <a:t>以提高湿球效率、降低压降为目标，通过适应度评价及遗传操作，平衡制冷性能与运行能耗。</a:t>
            </a:r>
          </a:p>
        </p:txBody>
      </p:sp>
    </p:spTree>
    <p:extLst>
      <p:ext uri="{BB962C8B-B14F-4D97-AF65-F5344CB8AC3E}">
        <p14:creationId xmlns:p14="http://schemas.microsoft.com/office/powerpoint/2010/main" val="93724677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49996" y="-70184"/>
            <a:ext cx="10294254"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5. </a:t>
            </a:r>
            <a:r>
              <a:rPr lang="en-HK" altLang="zh-CN" b="1" dirty="0">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altLang="zh-CN" b="1" dirty="0" err="1">
                <a:latin typeface="Times New Roman" panose="02020603050405020304" pitchFamily="18" charset="0"/>
                <a:ea typeface="SimSun"/>
                <a:cs typeface="Times New Roman" panose="02020603050405020304" pitchFamily="18" charset="0"/>
              </a:rPr>
              <a:t>modeling</a:t>
            </a:r>
            <a:r>
              <a:rPr lang="en-HK" altLang="zh-CN" b="1" dirty="0">
                <a:latin typeface="Times New Roman" panose="02020603050405020304" pitchFamily="18" charset="0"/>
                <a:ea typeface="SimSun"/>
                <a:cs typeface="Times New Roman" panose="02020603050405020304" pitchFamily="18" charset="0"/>
              </a:rPr>
              <a:t> and GA</a:t>
            </a:r>
            <a:endParaRPr lang="en-US" altLang="zh-CN" b="1" dirty="0">
              <a:latin typeface="Times New Roman" panose="02020603050405020304" pitchFamily="18" charset="0"/>
              <a:ea typeface="SimSun" panose="020B0600070205080204" pitchFamily="34" charset="-128"/>
              <a:cs typeface="Times New Roman" panose="02020603050405020304" pitchFamily="18" charset="0"/>
            </a:endParaRPr>
          </a:p>
        </p:txBody>
      </p:sp>
      <p:sp>
        <p:nvSpPr>
          <p:cNvPr id="2" name="灯片编号占位符 1">
            <a:extLst>
              <a:ext uri="{FF2B5EF4-FFF2-40B4-BE49-F238E27FC236}">
                <a16:creationId xmlns:a16="http://schemas.microsoft.com/office/drawing/2014/main" id="{FC2FFE02-99F4-4FFD-8455-765DE6C7438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45</a:t>
            </a:fld>
            <a:endParaRPr lang="en-US" altLang="zh-CN" dirty="0">
              <a:latin typeface="Times New Roman"/>
              <a:ea typeface="SimSun"/>
              <a:cs typeface="Times New Roman"/>
            </a:endParaRPr>
          </a:p>
        </p:txBody>
      </p:sp>
      <p:grpSp>
        <p:nvGrpSpPr>
          <p:cNvPr id="24" name="Original English content (proportional layout)"/>
          <p:cNvGrpSpPr/>
          <p:nvPr/>
        </p:nvGrpSpPr>
        <p:grpSpPr>
          <a:xfrm>
            <a:off x="1097280" y="731520"/>
            <a:ext cx="9997440" cy="5023714"/>
            <a:chOff x="0" y="731520"/>
            <a:chExt cx="12192000" cy="6126480"/>
          </a:xfrm>
        </p:grpSpPr>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352359" y="902198"/>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5.4 </a:t>
              </a:r>
              <a:r>
                <a:rPr lang="en-HK" altLang="en-US" sz="1476" b="1" kern="0" dirty="0">
                  <a:latin typeface="Times New Roman" panose="02020603050405020304" pitchFamily="18" charset="0"/>
                  <a:ea typeface="SimSun"/>
                  <a:cs typeface="Times New Roman" panose="02020603050405020304" pitchFamily="18" charset="0"/>
                </a:rPr>
                <a:t>Results and discussions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5" name="文本框 14">
              <a:extLst>
                <a:ext uri="{FF2B5EF4-FFF2-40B4-BE49-F238E27FC236}">
                  <a16:creationId xmlns:a16="http://schemas.microsoft.com/office/drawing/2014/main" id="{1944DAF6-6F10-4B33-9C0C-3C82DC665CD3}"/>
                </a:ext>
              </a:extLst>
            </p:cNvPr>
            <p:cNvSpPr txBox="1"/>
            <p:nvPr/>
          </p:nvSpPr>
          <p:spPr>
            <a:xfrm>
              <a:off x="741271" y="1253839"/>
              <a:ext cx="6489906" cy="369332"/>
            </a:xfrm>
            <a:prstGeom prst="rect">
              <a:avLst/>
            </a:prstGeom>
            <a:noFill/>
          </p:spPr>
          <p:txBody>
            <a:bodyPr wrap="square" rtlCol="0">
              <a:spAutoFit/>
            </a:bodyPr>
            <a:lstStyle/>
            <a:p>
              <a:pPr defTabSz="457200" eaLnBrk="1" fontAlgn="auto" hangingPunct="1">
                <a:spcBef>
                  <a:spcPts val="0"/>
                </a:spcBef>
                <a:spcAft>
                  <a:spcPts val="0"/>
                </a:spcAft>
              </a:pPr>
              <a:r>
                <a:rPr lang="en-HK" sz="1476" dirty="0">
                  <a:solidFill>
                    <a:prstClr val="black"/>
                  </a:solidFill>
                  <a:latin typeface="Times New Roman" panose="02020603050405020304" pitchFamily="18" charset="0"/>
                  <a:ea typeface="SimSun"/>
                  <a:cs typeface="Times New Roman" panose="02020603050405020304" pitchFamily="18" charset="0"/>
                </a:rPr>
                <a:t>5.4.3 Optimization of IEC-ANN model based on Genetic algorithm </a:t>
              </a:r>
            </a:p>
          </p:txBody>
        </p:sp>
        <p:sp>
          <p:nvSpPr>
            <p:cNvPr id="23" name="文本框 22">
              <a:extLst>
                <a:ext uri="{FF2B5EF4-FFF2-40B4-BE49-F238E27FC236}">
                  <a16:creationId xmlns:a16="http://schemas.microsoft.com/office/drawing/2014/main" id="{45198741-7FC3-4859-BD74-79B3658E8721}"/>
                </a:ext>
              </a:extLst>
            </p:cNvPr>
            <p:cNvSpPr txBox="1"/>
            <p:nvPr/>
          </p:nvSpPr>
          <p:spPr>
            <a:xfrm>
              <a:off x="474572" y="1673521"/>
              <a:ext cx="3716428" cy="338554"/>
            </a:xfrm>
            <a:prstGeom prst="rect">
              <a:avLst/>
            </a:prstGeom>
            <a:noFill/>
          </p:spPr>
          <p:txBody>
            <a:bodyPr wrap="square">
              <a:spAutoFit/>
            </a:bodyPr>
            <a:lstStyle/>
            <a:p>
              <a:pPr marL="285750" indent="-285750">
                <a:buFont typeface="Wingdings" panose="05000000000000000000" pitchFamily="2" charset="2"/>
                <a:buChar char="Ø"/>
              </a:pPr>
              <a:r>
                <a:rPr lang="en-HK" altLang="zh-CN" sz="1312" dirty="0">
                  <a:latin typeface="Times New Roman" panose="02020603050405020304" pitchFamily="18" charset="0"/>
                  <a:ea typeface="SimSun" panose="02010600030101010101" pitchFamily="2" charset="-122"/>
                  <a:cs typeface="Times New Roman"/>
                </a:rPr>
                <a:t>Results derived from GA</a:t>
              </a:r>
              <a:endParaRPr lang="zh-CN" altLang="en-US" sz="1312" dirty="0">
                <a:latin typeface="Times New Roman"/>
                <a:ea typeface="SimSun"/>
                <a:cs typeface="Times New Roman"/>
              </a:endParaRPr>
            </a:p>
          </p:txBody>
        </p:sp>
        <p:pic>
          <p:nvPicPr>
            <p:cNvPr id="4" name="图片 3">
              <a:extLst>
                <a:ext uri="{FF2B5EF4-FFF2-40B4-BE49-F238E27FC236}">
                  <a16:creationId xmlns:a16="http://schemas.microsoft.com/office/drawing/2014/main" id="{7E56BBAF-0DA2-4115-968B-0B74F13609D6}"/>
                </a:ext>
              </a:extLst>
            </p:cNvPr>
            <p:cNvPicPr>
              <a:picLocks noChangeAspect="1"/>
            </p:cNvPicPr>
            <p:nvPr/>
          </p:nvPicPr>
          <p:blipFill>
            <a:blip r:embed="rId3"/>
            <a:stretch>
              <a:fillRect/>
            </a:stretch>
          </p:blipFill>
          <p:spPr>
            <a:xfrm>
              <a:off x="1743472" y="2062425"/>
              <a:ext cx="8705055" cy="2340000"/>
            </a:xfrm>
            <a:prstGeom prst="rect">
              <a:avLst/>
            </a:prstGeom>
          </p:spPr>
        </p:pic>
        <p:sp>
          <p:nvSpPr>
            <p:cNvPr id="11" name="文本框 10">
              <a:extLst>
                <a:ext uri="{FF2B5EF4-FFF2-40B4-BE49-F238E27FC236}">
                  <a16:creationId xmlns:a16="http://schemas.microsoft.com/office/drawing/2014/main" id="{1ACDB8AD-B3DD-4014-A855-8CF9DE015A24}"/>
                </a:ext>
              </a:extLst>
            </p:cNvPr>
            <p:cNvSpPr txBox="1"/>
            <p:nvPr/>
          </p:nvSpPr>
          <p:spPr>
            <a:xfrm>
              <a:off x="1279743" y="4737521"/>
              <a:ext cx="9632511" cy="1309974"/>
            </a:xfrm>
            <a:prstGeom prst="rect">
              <a:avLst/>
            </a:prstGeom>
            <a:noFill/>
          </p:spPr>
          <p:txBody>
            <a:bodyPr wrap="square">
              <a:spAutoFit/>
            </a:bodyPr>
            <a:lstStyle/>
            <a:p>
              <a:pPr marL="285750" indent="-285750" algn="just">
                <a:lnSpc>
                  <a:spcPct val="150000"/>
                </a:lnSpc>
                <a:spcBef>
                  <a:spcPts val="0"/>
                </a:spcBef>
                <a:spcAft>
                  <a:spcPts val="984"/>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An </a:t>
              </a:r>
              <a:r>
                <a:rPr lang="en-HK" altLang="zh-CN" sz="1312" b="1" dirty="0">
                  <a:solidFill>
                    <a:srgbClr val="C00000"/>
                  </a:solidFill>
                  <a:latin typeface="Times New Roman" panose="02020603050405020304" pitchFamily="18" charset="0"/>
                  <a:ea typeface="SimSun" panose="02010600030101010101" pitchFamily="2" charset="-122"/>
                  <a:cs typeface="Times New Roman"/>
                </a:rPr>
                <a:t>equal-weight distribution </a:t>
              </a:r>
              <a:r>
                <a:rPr lang="en-HK" altLang="zh-CN" sz="1312" dirty="0">
                  <a:latin typeface="Times New Roman" panose="02020603050405020304" pitchFamily="18" charset="0"/>
                  <a:ea typeface="SimSun" panose="02010600030101010101" pitchFamily="2" charset="-122"/>
                  <a:cs typeface="Times New Roman"/>
                </a:rPr>
                <a:t>yields the best conditions for optimization </a:t>
              </a:r>
              <a:r>
                <a:rPr lang="en-US" altLang="zh-CN" sz="1312" dirty="0">
                  <a:latin typeface="Times New Roman" panose="02020603050405020304" pitchFamily="18" charset="0"/>
                  <a:ea typeface="SimSun" panose="02010600030101010101" pitchFamily="2" charset="-122"/>
                  <a:cs typeface="Times New Roman"/>
                </a:rPr>
                <a:t>of</a:t>
              </a:r>
              <a:r>
                <a:rPr lang="en-HK" altLang="zh-CN" sz="1312" dirty="0">
                  <a:latin typeface="Times New Roman" panose="02020603050405020304" pitchFamily="18" charset="0"/>
                  <a:ea typeface="SimSun" panose="02010600030101010101" pitchFamily="2" charset="-122"/>
                  <a:cs typeface="Times New Roman"/>
                </a:rPr>
                <a:t> IEC performance.</a:t>
              </a:r>
            </a:p>
            <a:p>
              <a:pPr marL="285750" indent="-285750" algn="just">
                <a:lnSpc>
                  <a:spcPct val="150000"/>
                </a:lnSpc>
                <a:spcBef>
                  <a:spcPts val="0"/>
                </a:spcBef>
                <a:spcAft>
                  <a:spcPts val="984"/>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a:rPr>
                <a:t>Under this condition, the optimal operating parameters are fixed, which is an increase of </a:t>
              </a:r>
              <a:r>
                <a:rPr lang="en-HK" altLang="zh-CN" sz="1312" b="1" dirty="0">
                  <a:solidFill>
                    <a:srgbClr val="C00000"/>
                  </a:solidFill>
                  <a:latin typeface="Times New Roman" panose="02020603050405020304" pitchFamily="18" charset="0"/>
                  <a:ea typeface="SimSun" panose="02010600030101010101" pitchFamily="2" charset="-122"/>
                  <a:cs typeface="Times New Roman"/>
                </a:rPr>
                <a:t>23.2%</a:t>
              </a:r>
              <a:r>
                <a:rPr lang="en-HK" altLang="zh-CN" sz="1312" dirty="0">
                  <a:latin typeface="Times New Roman" panose="02020603050405020304" pitchFamily="18" charset="0"/>
                  <a:ea typeface="SimSun" panose="02010600030101010101" pitchFamily="2" charset="-122"/>
                  <a:cs typeface="Times New Roman"/>
                </a:rPr>
                <a:t> in comparison with the base system.</a:t>
              </a:r>
            </a:p>
          </p:txBody>
        </p:sp>
        <p:sp>
          <p:nvSpPr>
            <p:cNvPr id="3" name="矩形 2">
              <a:extLst>
                <a:ext uri="{FF2B5EF4-FFF2-40B4-BE49-F238E27FC236}">
                  <a16:creationId xmlns:a16="http://schemas.microsoft.com/office/drawing/2014/main" id="{0F41B2EE-A33A-4BFA-85C9-27179892DD50}"/>
                </a:ext>
              </a:extLst>
            </p:cNvPr>
            <p:cNvSpPr/>
            <p:nvPr/>
          </p:nvSpPr>
          <p:spPr bwMode="auto">
            <a:xfrm>
              <a:off x="1743472" y="3293616"/>
              <a:ext cx="8705055" cy="381739"/>
            </a:xfrm>
            <a:prstGeom prst="rect">
              <a:avLst/>
            </a:prstGeom>
            <a:noFill/>
            <a:ln w="28575" cap="flat" cmpd="sng" algn="ctr">
              <a:solidFill>
                <a:srgbClr val="AF1E3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pSp>
      <p:sp>
        <p:nvSpPr>
          <p:cNvPr id="25"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中文要点｜ANN–GA 优化结果</a:t>
            </a:r>
          </a:p>
          <a:p>
            <a:pPr>
              <a:lnSpc>
                <a:spcPct val="108000"/>
              </a:lnSpc>
              <a:spcAft>
                <a:spcPts val="0"/>
              </a:spcAft>
            </a:pPr>
            <a:r>
              <a:rPr sz="1400" b="0">
                <a:solidFill>
                  <a:srgbClr val="282828"/>
                </a:solidFill>
                <a:latin typeface="Times New Roman"/>
                <a:ea typeface="SimSun"/>
                <a:cs typeface="Times New Roman"/>
              </a:rPr>
              <a:t>等权重分配获得最佳综合优化效果；确定最优运行参数后，相比基准系统，性能提升 </a:t>
            </a:r>
            <a:r>
              <a:rPr sz="1400" b="1">
                <a:solidFill>
                  <a:srgbClr val="282828"/>
                </a:solidFill>
                <a:latin typeface="Times New Roman"/>
                <a:ea typeface="SimSun"/>
                <a:cs typeface="Times New Roman"/>
              </a:rPr>
              <a:t>23.2%</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15018247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46</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rgbClr val="C00000"/>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rgbClr val="C00000"/>
                  </a:solidFill>
                  <a:latin typeface="Times New Roman" panose="02020603050405020304" pitchFamily="18" charset="0"/>
                  <a:ea typeface="SimSun"/>
                  <a:cs typeface="Times New Roman" panose="02020603050405020304" pitchFamily="18" charset="0"/>
                </a:rPr>
                <a:t>centers</a:t>
              </a:r>
              <a:endParaRPr lang="en-HK" sz="1968" b="1" dirty="0">
                <a:solidFill>
                  <a:srgbClr val="C00000"/>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Conclusions </a:t>
              </a:r>
              <a:r>
                <a:rPr lang="en-HK" sz="1968" b="1" dirty="0">
                  <a:solidFill>
                    <a:schemeClr val="tx1"/>
                  </a:solidFill>
                  <a:latin typeface="Times New Roman" panose="02020603050405020304" pitchFamily="18" charset="0"/>
                  <a:ea typeface="SimSun"/>
                  <a:cs typeface="Times New Roman" panose="02020603050405020304" pitchFamily="18" charset="0"/>
                </a:rPr>
                <a:t>and</a:t>
              </a:r>
              <a:r>
                <a:rPr lang="zh-CN" altLang="en-US" sz="1968" b="1" dirty="0">
                  <a:solidFill>
                    <a:schemeClr val="tx1"/>
                  </a:solidFill>
                  <a:latin typeface="Times New Roman" panose="02020603050405020304" pitchFamily="18" charset="0"/>
                  <a:ea typeface="SimSun"/>
                  <a:cs typeface="Times New Roman" panose="02020603050405020304" pitchFamily="18" charset="0"/>
                </a:rPr>
                <a:t> </a:t>
              </a:r>
              <a:r>
                <a:rPr lang="en-HK" altLang="zh-CN" sz="1968" b="1" dirty="0">
                  <a:solidFill>
                    <a:schemeClr val="tx1"/>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中文要点｜第六部分：数据中心应用</a:t>
            </a:r>
          </a:p>
          <a:p>
            <a:pPr>
              <a:lnSpc>
                <a:spcPct val="108000"/>
              </a:lnSpc>
              <a:spcAft>
                <a:spcPts val="0"/>
              </a:spcAft>
            </a:pPr>
            <a:r>
              <a:rPr sz="1400" b="0">
                <a:solidFill>
                  <a:srgbClr val="282828"/>
                </a:solidFill>
                <a:latin typeface="Times New Roman"/>
                <a:ea typeface="SimSun"/>
                <a:cs typeface="Times New Roman"/>
              </a:rPr>
              <a:t>针对数据中心用菱形 IEC，研究喷嘴布置、板面强化措施及能量回收性能。</a:t>
            </a:r>
          </a:p>
        </p:txBody>
      </p:sp>
    </p:spTree>
    <p:extLst>
      <p:ext uri="{BB962C8B-B14F-4D97-AF65-F5344CB8AC3E}">
        <p14:creationId xmlns:p14="http://schemas.microsoft.com/office/powerpoint/2010/main" val="24974830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
            <a:extLst>
              <a:ext uri="{FF2B5EF4-FFF2-40B4-BE49-F238E27FC236}">
                <a16:creationId xmlns:a16="http://schemas.microsoft.com/office/drawing/2014/main" id="{87A96E31-5BCD-C2C1-5A07-AE546C43BF72}"/>
              </a:ext>
            </a:extLst>
          </p:cNvPr>
          <p:cNvSpPr>
            <a:spLocks noChangeArrowheads="1"/>
          </p:cNvSpPr>
          <p:nvPr/>
        </p:nvSpPr>
        <p:spPr bwMode="auto">
          <a:xfrm>
            <a:off x="885366" y="-57982"/>
            <a:ext cx="10786173"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sp>
        <p:nvSpPr>
          <p:cNvPr id="2" name="灯片编号占位符 1">
            <a:extLst>
              <a:ext uri="{FF2B5EF4-FFF2-40B4-BE49-F238E27FC236}">
                <a16:creationId xmlns:a16="http://schemas.microsoft.com/office/drawing/2014/main" id="{DEC737C3-B032-4FAB-88B7-96B6E45587B6}"/>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47</a:t>
            </a:fld>
            <a:endParaRPr lang="en-US" altLang="zh-CN">
              <a:latin typeface="Times New Roman"/>
              <a:ea typeface="SimSun"/>
              <a:cs typeface="Times New Roman"/>
            </a:endParaRPr>
          </a:p>
        </p:txBody>
      </p:sp>
      <p:grpSp>
        <p:nvGrpSpPr>
          <p:cNvPr id="18" name="Original English content (proportional layout)"/>
          <p:cNvGrpSpPr/>
          <p:nvPr/>
        </p:nvGrpSpPr>
        <p:grpSpPr>
          <a:xfrm>
            <a:off x="1097280" y="731520"/>
            <a:ext cx="9997440" cy="5023714"/>
            <a:chOff x="0" y="731520"/>
            <a:chExt cx="12192000" cy="6126480"/>
          </a:xfrm>
        </p:grpSpPr>
        <p:pic>
          <p:nvPicPr>
            <p:cNvPr id="8" name="图片 7">
              <a:extLst>
                <a:ext uri="{FF2B5EF4-FFF2-40B4-BE49-F238E27FC236}">
                  <a16:creationId xmlns:a16="http://schemas.microsoft.com/office/drawing/2014/main" id="{F0F5F6BD-6F55-DA11-D5DD-AE8D8D335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9780" y="3845845"/>
              <a:ext cx="5205095" cy="2519680"/>
            </a:xfrm>
            <a:prstGeom prst="rect">
              <a:avLst/>
            </a:prstGeom>
          </p:spPr>
        </p:pic>
        <p:sp>
          <p:nvSpPr>
            <p:cNvPr id="17" name="矩形 16">
              <a:extLst>
                <a:ext uri="{FF2B5EF4-FFF2-40B4-BE49-F238E27FC236}">
                  <a16:creationId xmlns:a16="http://schemas.microsoft.com/office/drawing/2014/main" id="{1BB2590E-3C33-462D-856F-620D5822B162}"/>
                </a:ext>
              </a:extLst>
            </p:cNvPr>
            <p:cNvSpPr/>
            <p:nvPr/>
          </p:nvSpPr>
          <p:spPr>
            <a:xfrm>
              <a:off x="2606800" y="3680920"/>
              <a:ext cx="3722980"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Fig.6.1.1 </a:t>
              </a:r>
              <a:r>
                <a:rPr lang="en-HK" sz="984" dirty="0">
                  <a:solidFill>
                    <a:prstClr val="black"/>
                  </a:solidFill>
                  <a:latin typeface="Times New Roman" panose="02020603050405020304" pitchFamily="18" charset="0"/>
                  <a:ea typeface="SimSun"/>
                  <a:cs typeface="Times New Roman" panose="02020603050405020304" pitchFamily="18" charset="0"/>
                </a:rPr>
                <a:t>A typical IEC air-conditioning system of DC </a:t>
              </a:r>
            </a:p>
          </p:txBody>
        </p:sp>
        <p:pic>
          <p:nvPicPr>
            <p:cNvPr id="3" name="图片 2">
              <a:extLst>
                <a:ext uri="{FF2B5EF4-FFF2-40B4-BE49-F238E27FC236}">
                  <a16:creationId xmlns:a16="http://schemas.microsoft.com/office/drawing/2014/main" id="{B93E4263-9CC6-F33B-3000-D32D73E7EE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788" y="1305932"/>
              <a:ext cx="5713736" cy="2407982"/>
            </a:xfrm>
            <a:prstGeom prst="rect">
              <a:avLst/>
            </a:prstGeom>
          </p:spPr>
        </p:pic>
        <p:sp>
          <p:nvSpPr>
            <p:cNvPr id="4" name="矩形 3">
              <a:extLst>
                <a:ext uri="{FF2B5EF4-FFF2-40B4-BE49-F238E27FC236}">
                  <a16:creationId xmlns:a16="http://schemas.microsoft.com/office/drawing/2014/main" id="{80E78822-42E2-AA63-4847-819ADD4701B7}"/>
                </a:ext>
              </a:extLst>
            </p:cNvPr>
            <p:cNvSpPr/>
            <p:nvPr/>
          </p:nvSpPr>
          <p:spPr>
            <a:xfrm>
              <a:off x="7146524" y="6422768"/>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6.1.2 </a:t>
              </a:r>
              <a:r>
                <a:rPr lang="en-HK" sz="984" dirty="0">
                  <a:solidFill>
                    <a:prstClr val="black"/>
                  </a:solidFill>
                  <a:latin typeface="Times New Roman" panose="02020603050405020304" pitchFamily="18" charset="0"/>
                  <a:ea typeface="SimSun"/>
                  <a:cs typeface="Times New Roman" panose="02020603050405020304" pitchFamily="18" charset="0"/>
                </a:rPr>
                <a:t>Two types of IEC models set up in work bench</a:t>
              </a:r>
            </a:p>
          </p:txBody>
        </p:sp>
        <p:sp>
          <p:nvSpPr>
            <p:cNvPr id="7" name="文本框 6">
              <a:extLst>
                <a:ext uri="{FF2B5EF4-FFF2-40B4-BE49-F238E27FC236}">
                  <a16:creationId xmlns:a16="http://schemas.microsoft.com/office/drawing/2014/main" id="{1CA9619B-1A2F-D4E9-8BE6-232966E07D46}"/>
                </a:ext>
              </a:extLst>
            </p:cNvPr>
            <p:cNvSpPr txBox="1"/>
            <p:nvPr/>
          </p:nvSpPr>
          <p:spPr>
            <a:xfrm>
              <a:off x="7819876" y="1801503"/>
              <a:ext cx="3628337" cy="1627497"/>
            </a:xfrm>
            <a:prstGeom prst="rect">
              <a:avLst/>
            </a:prstGeom>
            <a:noFill/>
          </p:spPr>
          <p:txBody>
            <a:bodyPr wrap="square">
              <a:spAutoFit/>
            </a:bodyPr>
            <a:lstStyle/>
            <a:p>
              <a:pPr marL="285750" indent="-285750" algn="just">
                <a:lnSpc>
                  <a:spcPct val="107000"/>
                </a:lnSpc>
                <a:spcAft>
                  <a:spcPts val="492"/>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Internal circulation</a:t>
              </a:r>
            </a:p>
            <a:p>
              <a:pPr marL="285750" indent="-285750" algn="just">
                <a:lnSpc>
                  <a:spcPct val="107000"/>
                </a:lnSpc>
                <a:spcAft>
                  <a:spcPts val="492"/>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Fresh air as the working air </a:t>
              </a:r>
            </a:p>
            <a:p>
              <a:pPr marL="285750" indent="-285750" algn="just">
                <a:lnSpc>
                  <a:spcPct val="107000"/>
                </a:lnSpc>
                <a:spcAft>
                  <a:spcPts val="492"/>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Indoor return air as supply air</a:t>
              </a:r>
            </a:p>
            <a:p>
              <a:pPr marL="285750" indent="-285750" algn="just">
                <a:lnSpc>
                  <a:spcPct val="107000"/>
                </a:lnSpc>
                <a:spcAft>
                  <a:spcPts val="492"/>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Separated channels avoid the cross-contamination.</a:t>
              </a:r>
              <a:endParaRPr lang="zh-CN" altLang="zh-CN" sz="1312"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0200EE70-2D6D-6085-98C4-D9B1EFFC1613}"/>
                </a:ext>
              </a:extLst>
            </p:cNvPr>
            <p:cNvSpPr txBox="1"/>
            <p:nvPr/>
          </p:nvSpPr>
          <p:spPr>
            <a:xfrm>
              <a:off x="1614148" y="4767171"/>
              <a:ext cx="3932638" cy="1077218"/>
            </a:xfrm>
            <a:prstGeom prst="rect">
              <a:avLst/>
            </a:prstGeom>
            <a:noFill/>
          </p:spPr>
          <p:txBody>
            <a:bodyPr wrap="square">
              <a:spAutoFit/>
            </a:bodyPr>
            <a:lstStyle/>
            <a:p>
              <a:pPr marL="285750" indent="-285750">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a:rPr>
                <a:t>Diamond shaped IEC: </a:t>
              </a:r>
              <a:r>
                <a:rPr lang="en-US" altLang="zh-CN" sz="1312" dirty="0">
                  <a:solidFill>
                    <a:srgbClr val="C00000"/>
                  </a:solidFill>
                  <a:latin typeface="Times New Roman" panose="02020603050405020304" pitchFamily="18" charset="0"/>
                  <a:ea typeface="SimSun" panose="02010600030101010101" pitchFamily="2" charset="-122"/>
                  <a:cs typeface="Times New Roman"/>
                </a:rPr>
                <a:t>compactness and flexible</a:t>
              </a:r>
              <a:r>
                <a:rPr lang="en-US" altLang="zh-CN" sz="1312" dirty="0">
                  <a:latin typeface="Times New Roman" panose="02020603050405020304" pitchFamily="18" charset="0"/>
                  <a:ea typeface="SimSun" panose="02010600030101010101" pitchFamily="2" charset="-122"/>
                  <a:cs typeface="Times New Roman"/>
                </a:rPr>
                <a:t> arrangement</a:t>
              </a:r>
            </a:p>
            <a:p>
              <a:pPr marL="285750" indent="-285750">
                <a:buFont typeface="Arial" panose="020B0604020202020204" pitchFamily="34" charset="0"/>
                <a:buChar char="•"/>
              </a:pPr>
              <a:endParaRPr lang="en-US" altLang="zh-CN" sz="1312" dirty="0">
                <a:latin typeface="Times New Roman" panose="02020603050405020304" pitchFamily="18" charset="0"/>
                <a:ea typeface="SimSun" panose="02010600030101010101" pitchFamily="2" charset="-122"/>
                <a:cs typeface="Times New Roman"/>
              </a:endParaRPr>
            </a:p>
            <a:p>
              <a:pPr marL="285750" indent="-285750">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a:rPr>
                <a:t>Space claim in </a:t>
              </a:r>
              <a:r>
                <a:rPr lang="en-US" altLang="zh-CN" sz="1312" b="1" dirty="0">
                  <a:solidFill>
                    <a:srgbClr val="C00000"/>
                  </a:solidFill>
                  <a:latin typeface="Times New Roman" panose="02020603050405020304" pitchFamily="18" charset="0"/>
                  <a:ea typeface="SimSun" panose="02010600030101010101" pitchFamily="2" charset="-122"/>
                  <a:cs typeface="Times New Roman"/>
                </a:rPr>
                <a:t>ANSYS</a:t>
              </a:r>
              <a:r>
                <a:rPr lang="en-US" altLang="zh-CN" sz="1312" dirty="0">
                  <a:latin typeface="Times New Roman" panose="02020603050405020304" pitchFamily="18" charset="0"/>
                  <a:ea typeface="SimSun" panose="02010600030101010101" pitchFamily="2" charset="-122"/>
                  <a:cs typeface="Times New Roman"/>
                </a:rPr>
                <a:t> work bench</a:t>
              </a:r>
              <a:endParaRPr lang="zh-CN" altLang="en-US" sz="1312" dirty="0">
                <a:latin typeface="Times New Roman"/>
                <a:ea typeface="SimSun"/>
                <a:cs typeface="Times New Roman"/>
              </a:endParaRPr>
            </a:p>
          </p:txBody>
        </p:sp>
        <p:sp>
          <p:nvSpPr>
            <p:cNvPr id="13" name="Content Placeholder 23">
              <a:extLst>
                <a:ext uri="{FF2B5EF4-FFF2-40B4-BE49-F238E27FC236}">
                  <a16:creationId xmlns:a16="http://schemas.microsoft.com/office/drawing/2014/main" id="{535BB520-318C-8F82-B67E-8F4206537697}"/>
                </a:ext>
              </a:extLst>
            </p:cNvPr>
            <p:cNvSpPr txBox="1">
              <a:spLocks/>
            </p:cNvSpPr>
            <p:nvPr/>
          </p:nvSpPr>
          <p:spPr bwMode="auto">
            <a:xfrm>
              <a:off x="479446" y="967070"/>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6.1 Model description</a:t>
              </a:r>
            </a:p>
          </p:txBody>
        </p:sp>
        <p:sp>
          <p:nvSpPr>
            <p:cNvPr id="14" name="矩形 13">
              <a:extLst>
                <a:ext uri="{FF2B5EF4-FFF2-40B4-BE49-F238E27FC236}">
                  <a16:creationId xmlns:a16="http://schemas.microsoft.com/office/drawing/2014/main" id="{C8984D22-AF77-4D00-B1D6-DEF1ECE79B35}"/>
                </a:ext>
              </a:extLst>
            </p:cNvPr>
            <p:cNvSpPr/>
            <p:nvPr/>
          </p:nvSpPr>
          <p:spPr bwMode="auto">
            <a:xfrm>
              <a:off x="1323325" y="4575610"/>
              <a:ext cx="4340627" cy="1460340"/>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15" name="矩形 14">
              <a:extLst>
                <a:ext uri="{FF2B5EF4-FFF2-40B4-BE49-F238E27FC236}">
                  <a16:creationId xmlns:a16="http://schemas.microsoft.com/office/drawing/2014/main" id="{5F04088B-4381-4B9B-8619-AC5ACC62EF64}"/>
                </a:ext>
              </a:extLst>
            </p:cNvPr>
            <p:cNvSpPr/>
            <p:nvPr/>
          </p:nvSpPr>
          <p:spPr bwMode="auto">
            <a:xfrm>
              <a:off x="7736617" y="1735344"/>
              <a:ext cx="3934921" cy="1806846"/>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pSp>
      <p:sp>
        <p:nvSpPr>
          <p:cNvPr id="19"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中文要点｜菱形 IEC 与内循环模式</a:t>
            </a:r>
          </a:p>
          <a:p>
            <a:pPr>
              <a:lnSpc>
                <a:spcPct val="108000"/>
              </a:lnSpc>
              <a:spcAft>
                <a:spcPts val="0"/>
              </a:spcAft>
            </a:pPr>
            <a:r>
              <a:rPr sz="1400" b="0">
                <a:solidFill>
                  <a:srgbClr val="282828"/>
                </a:solidFill>
                <a:latin typeface="Times New Roman"/>
                <a:ea typeface="SimSun"/>
                <a:cs typeface="Times New Roman"/>
              </a:rPr>
              <a:t>新风作为工作空气，室内回风作为送风；独立通道避免交叉污染，菱形结构兼具紧凑性与布置灵活性。</a:t>
            </a:r>
          </a:p>
        </p:txBody>
      </p:sp>
    </p:spTree>
    <p:extLst>
      <p:ext uri="{BB962C8B-B14F-4D97-AF65-F5344CB8AC3E}">
        <p14:creationId xmlns:p14="http://schemas.microsoft.com/office/powerpoint/2010/main" val="1685053172"/>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E1F9B08C-A429-4E32-9B16-5FF15056A025}"/>
                  </a:ext>
                </a:extLst>
              </p:cNvPr>
              <p:cNvSpPr/>
              <p:nvPr/>
            </p:nvSpPr>
            <p:spPr>
              <a:xfrm>
                <a:off x="9976679" y="6347408"/>
                <a:ext cx="425116" cy="369332"/>
              </a:xfrm>
              <a:prstGeom prst="rect">
                <a:avLst/>
              </a:prstGeom>
            </p:spPr>
            <p:txBody>
              <a:bodyPr wrap="none">
                <a:spAutoFit/>
              </a:bodyPr>
              <a:lstStyle/>
              <a:p>
                <a:pPr/>
                <a14:m>
                  <m:oMathPara xmlns:m="http://schemas.openxmlformats.org/officeDocument/2006/math">
                    <m:oMath>
                      <m:r>
                        <a:rPr lang="en-HK" sz="1800" b="1" i="1">
                          <a:solidFill>
                            <a:srgbClr val="C00000"/>
                          </a:solidFill>
                          <a:latin typeface="Times New Roman" panose="02040503050406030204" pitchFamily="18" charset="0"/>
                          <a:ea typeface="SimSun" panose="02040503050406030204" pitchFamily="18" charset="0"/>
                          <a:cs typeface="Times New Roman"/>
                        </a:rPr>
                        <m:t>≤</m:t>
                      </m:r>
                    </m:oMath>
                  </m:oMathPara>
                </a14:m>
                <a:endParaRPr lang="en-HK" sz="1800" b="1" i="1" dirty="0">
                  <a:solidFill>
                    <a:srgbClr val="C00000"/>
                  </a:solidFill>
                  <a:latin typeface="Times New Roman"/>
                  <a:ea typeface="SimSun"/>
                  <a:cs typeface="Times New Roman"/>
                </a:endParaRPr>
              </a:p>
            </p:txBody>
          </p:sp>
        </mc:Choice>
        <mc:Fallback xmlns="">
          <p:sp>
            <p:nvSpPr>
              <p:cNvPr id="17" name="矩形 16">
                <a:extLst>
                  <a:ext uri="{FF2B5EF4-FFF2-40B4-BE49-F238E27FC236}">
                    <a16:creationId xmlns:a16="http://schemas.microsoft.com/office/drawing/2014/main" id="{E1F9B08C-A429-4E32-9B16-5FF15056A025}"/>
                  </a:ext>
                </a:extLst>
              </p:cNvPr>
              <p:cNvSpPr>
                <a:spLocks noRot="1" noChangeAspect="1" noMove="1" noResize="1" noEditPoints="1" noAdjustHandles="1" noChangeArrowheads="1" noChangeShapeType="1" noTextEdit="1"/>
              </p:cNvSpPr>
              <p:nvPr/>
            </p:nvSpPr>
            <p:spPr>
              <a:xfrm>
                <a:off x="9976679" y="6347408"/>
                <a:ext cx="425116" cy="369332"/>
              </a:xfrm>
              <a:prstGeom prst="rect">
                <a:avLst/>
              </a:prstGeom>
              <a:blipFill>
                <a:blip r:embed="rId5"/>
                <a:stretch>
                  <a:fillRect/>
                </a:stretch>
              </a:blipFill>
            </p:spPr>
            <p:txBody>
              <a:bodyPr/>
              <a:lstStyle/>
              <a:p>
                <a:r>
                  <a:rPr lang="en-US">
                    <a:noFill/>
                    <a:latin typeface="Times New Roman"/>
                    <a:ea typeface="SimSun"/>
                    <a:cs typeface="Times New Roman"/>
                  </a:rPr>
                  <a:t> </a:t>
                </a:r>
              </a:p>
            </p:txBody>
          </p:sp>
        </mc:Fallback>
      </mc:AlternateContent>
      <p:sp>
        <p:nvSpPr>
          <p:cNvPr id="9" name="灯片编号占位符 8">
            <a:extLst>
              <a:ext uri="{FF2B5EF4-FFF2-40B4-BE49-F238E27FC236}">
                <a16:creationId xmlns:a16="http://schemas.microsoft.com/office/drawing/2014/main" id="{C2350BCB-A1AB-4007-A788-DC26265DFF6E}"/>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48</a:t>
            </a:fld>
            <a:endParaRPr lang="en-US" altLang="zh-CN" dirty="0">
              <a:latin typeface="Times New Roman"/>
              <a:ea typeface="SimSun"/>
              <a:cs typeface="Times New Roman"/>
            </a:endParaRPr>
          </a:p>
        </p:txBody>
      </p:sp>
      <p:sp>
        <p:nvSpPr>
          <p:cNvPr id="20" name="矩形 3">
            <a:extLst>
              <a:ext uri="{FF2B5EF4-FFF2-40B4-BE49-F238E27FC236}">
                <a16:creationId xmlns:a16="http://schemas.microsoft.com/office/drawing/2014/main" id="{A3CF0019-F099-4641-8652-71F2F0EF207C}"/>
              </a:ext>
            </a:extLst>
          </p:cNvPr>
          <p:cNvSpPr>
            <a:spLocks noChangeArrowheads="1"/>
          </p:cNvSpPr>
          <p:nvPr/>
        </p:nvSpPr>
        <p:spPr bwMode="auto">
          <a:xfrm>
            <a:off x="885366" y="-57982"/>
            <a:ext cx="10786173"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grpSp>
        <p:nvGrpSpPr>
          <p:cNvPr id="24" name="Original English content (proportional layout)"/>
          <p:cNvGrpSpPr/>
          <p:nvPr/>
        </p:nvGrpSpPr>
        <p:grpSpPr>
          <a:xfrm>
            <a:off x="1097280" y="731520"/>
            <a:ext cx="9997440" cy="5023714"/>
            <a:chOff x="0" y="731520"/>
            <a:chExt cx="12192000" cy="6126480"/>
          </a:xfrm>
        </p:grpSpPr>
        <p:pic>
          <p:nvPicPr>
            <p:cNvPr id="4" name="图片 3">
              <a:extLst>
                <a:ext uri="{FF2B5EF4-FFF2-40B4-BE49-F238E27FC236}">
                  <a16:creationId xmlns:a16="http://schemas.microsoft.com/office/drawing/2014/main" id="{325B5AD8-AB6B-D040-7290-C734B12E2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0738" y="1297218"/>
              <a:ext cx="5562600" cy="2411730"/>
            </a:xfrm>
            <a:prstGeom prst="rect">
              <a:avLst/>
            </a:prstGeom>
          </p:spPr>
        </p:pic>
        <p:sp>
          <p:nvSpPr>
            <p:cNvPr id="6" name="Rectangle 2">
              <a:extLst>
                <a:ext uri="{FF2B5EF4-FFF2-40B4-BE49-F238E27FC236}">
                  <a16:creationId xmlns:a16="http://schemas.microsoft.com/office/drawing/2014/main" id="{17B39C91-A46A-244A-105E-52982B7A7EB4}"/>
                </a:ext>
              </a:extLst>
            </p:cNvPr>
            <p:cNvSpPr>
              <a:spLocks noChangeArrowheads="1"/>
            </p:cNvSpPr>
            <p:nvPr/>
          </p:nvSpPr>
          <p:spPr bwMode="auto">
            <a:xfrm>
              <a:off x="3357131" y="353091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3" name="Rectangle 2">
              <a:extLst>
                <a:ext uri="{FF2B5EF4-FFF2-40B4-BE49-F238E27FC236}">
                  <a16:creationId xmlns:a16="http://schemas.microsoft.com/office/drawing/2014/main" id="{39BE77DA-9DC9-D907-4DE1-1D7939F23FB2}"/>
                </a:ext>
              </a:extLst>
            </p:cNvPr>
            <p:cNvSpPr>
              <a:spLocks noChangeArrowheads="1"/>
            </p:cNvSpPr>
            <p:nvPr/>
          </p:nvSpPr>
          <p:spPr bwMode="auto">
            <a:xfrm>
              <a:off x="4942243" y="361932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8" name="Rectangle 4">
              <a:extLst>
                <a:ext uri="{FF2B5EF4-FFF2-40B4-BE49-F238E27FC236}">
                  <a16:creationId xmlns:a16="http://schemas.microsoft.com/office/drawing/2014/main" id="{67B81B42-3F59-4AFE-2683-1078649D09AF}"/>
                </a:ext>
              </a:extLst>
            </p:cNvPr>
            <p:cNvSpPr>
              <a:spLocks noChangeArrowheads="1"/>
            </p:cNvSpPr>
            <p:nvPr/>
          </p:nvSpPr>
          <p:spPr bwMode="auto">
            <a:xfrm>
              <a:off x="5652843" y="3506701"/>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2" name="Content Placeholder 23">
              <a:extLst>
                <a:ext uri="{FF2B5EF4-FFF2-40B4-BE49-F238E27FC236}">
                  <a16:creationId xmlns:a16="http://schemas.microsoft.com/office/drawing/2014/main" id="{11FEC937-E0EF-0F88-1FAD-FF7ABF2FC41C}"/>
                </a:ext>
              </a:extLst>
            </p:cNvPr>
            <p:cNvSpPr txBox="1">
              <a:spLocks/>
            </p:cNvSpPr>
            <p:nvPr/>
          </p:nvSpPr>
          <p:spPr bwMode="auto">
            <a:xfrm>
              <a:off x="392362" y="958499"/>
              <a:ext cx="3296330"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6.2 Model details</a:t>
              </a:r>
            </a:p>
          </p:txBody>
        </p:sp>
        <p:sp>
          <p:nvSpPr>
            <p:cNvPr id="14" name="文本框 13">
              <a:extLst>
                <a:ext uri="{FF2B5EF4-FFF2-40B4-BE49-F238E27FC236}">
                  <a16:creationId xmlns:a16="http://schemas.microsoft.com/office/drawing/2014/main" id="{2D0332F8-D07C-37CC-DD75-C4A0E8EABC80}"/>
                </a:ext>
              </a:extLst>
            </p:cNvPr>
            <p:cNvSpPr txBox="1"/>
            <p:nvPr/>
          </p:nvSpPr>
          <p:spPr>
            <a:xfrm>
              <a:off x="1245184" y="1337617"/>
              <a:ext cx="2516226"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Boundary conditions</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15" name="文本框 14">
              <a:extLst>
                <a:ext uri="{FF2B5EF4-FFF2-40B4-BE49-F238E27FC236}">
                  <a16:creationId xmlns:a16="http://schemas.microsoft.com/office/drawing/2014/main" id="{0925ADA4-0B49-5937-F455-FABA97001F29}"/>
                </a:ext>
              </a:extLst>
            </p:cNvPr>
            <p:cNvSpPr txBox="1"/>
            <p:nvPr/>
          </p:nvSpPr>
          <p:spPr>
            <a:xfrm>
              <a:off x="5991380" y="3662349"/>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Model validation</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16" name="文本框 15">
              <a:extLst>
                <a:ext uri="{FF2B5EF4-FFF2-40B4-BE49-F238E27FC236}">
                  <a16:creationId xmlns:a16="http://schemas.microsoft.com/office/drawing/2014/main" id="{C72CFE9F-45D9-598D-4A1B-B8D5D2E89A99}"/>
                </a:ext>
              </a:extLst>
            </p:cNvPr>
            <p:cNvSpPr txBox="1"/>
            <p:nvPr/>
          </p:nvSpPr>
          <p:spPr>
            <a:xfrm>
              <a:off x="1684612" y="3631531"/>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Grid independence</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2" name="矩形 1">
              <a:extLst>
                <a:ext uri="{FF2B5EF4-FFF2-40B4-BE49-F238E27FC236}">
                  <a16:creationId xmlns:a16="http://schemas.microsoft.com/office/drawing/2014/main" id="{F874A747-0D24-4507-925A-4E820B64C7E4}"/>
                </a:ext>
              </a:extLst>
            </p:cNvPr>
            <p:cNvSpPr/>
            <p:nvPr/>
          </p:nvSpPr>
          <p:spPr bwMode="auto">
            <a:xfrm>
              <a:off x="3795866" y="3953240"/>
              <a:ext cx="401947" cy="247450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en-HK" sz="2624">
                <a:solidFill>
                  <a:schemeClr val="bg2"/>
                </a:solidFill>
                <a:latin typeface="Times New Roman" charset="0"/>
                <a:ea typeface="SimSun"/>
                <a:cs typeface="Times New Roman"/>
              </a:endParaRPr>
            </a:p>
          </p:txBody>
        </p:sp>
        <p:sp>
          <p:nvSpPr>
            <p:cNvPr id="5" name="矩形 4">
              <a:extLst>
                <a:ext uri="{FF2B5EF4-FFF2-40B4-BE49-F238E27FC236}">
                  <a16:creationId xmlns:a16="http://schemas.microsoft.com/office/drawing/2014/main" id="{748EB5D6-AF5B-4BC6-8369-7F09E7E389B8}"/>
                </a:ext>
              </a:extLst>
            </p:cNvPr>
            <p:cNvSpPr/>
            <p:nvPr/>
          </p:nvSpPr>
          <p:spPr>
            <a:xfrm>
              <a:off x="5027688" y="6368458"/>
              <a:ext cx="934871" cy="369332"/>
            </a:xfrm>
            <a:prstGeom prst="rect">
              <a:avLst/>
            </a:prstGeom>
          </p:spPr>
          <p:txBody>
            <a:bodyPr wrap="none">
              <a:spAutoFit/>
            </a:bodyPr>
            <a:lstStyle/>
            <a:p>
              <a:r>
                <a:rPr lang="en-US" sz="1476" b="1" i="1" dirty="0">
                  <a:solidFill>
                    <a:srgbClr val="C00000"/>
                  </a:solidFill>
                  <a:latin typeface="Times New Roman" panose="02020603050405020304" pitchFamily="18" charset="0"/>
                  <a:ea typeface="SimSun" panose="02010600030101010101" pitchFamily="2" charset="-122"/>
                  <a:cs typeface="Times New Roman"/>
                </a:rPr>
                <a:t>450,000</a:t>
              </a:r>
              <a:endParaRPr lang="en-HK" sz="1476" b="1" i="1" dirty="0">
                <a:solidFill>
                  <a:srgbClr val="C00000"/>
                </a:solidFill>
                <a:latin typeface="Times New Roman"/>
                <a:ea typeface="SimSun"/>
                <a:cs typeface="Times New Roman"/>
              </a:endParaRPr>
            </a:p>
          </p:txBody>
        </p:sp>
        <p:graphicFrame>
          <p:nvGraphicFramePr>
            <p:cNvPr id="18" name="对象 17">
              <a:extLst>
                <a:ext uri="{FF2B5EF4-FFF2-40B4-BE49-F238E27FC236}">
                  <a16:creationId xmlns:a16="http://schemas.microsoft.com/office/drawing/2014/main" id="{651A0531-672E-440F-99D4-6820BB4DF9EE}"/>
                </a:ext>
              </a:extLst>
            </p:cNvPr>
            <p:cNvGraphicFramePr>
              <a:graphicFrameLocks noChangeAspect="1"/>
            </p:cNvGraphicFramePr>
            <p:nvPr>
              <p:extLst>
                <p:ext uri="{D42A27DB-BD31-4B8C-83A1-F6EECF244321}">
                  <p14:modId xmlns:p14="http://schemas.microsoft.com/office/powerpoint/2010/main" val="1039372178"/>
                </p:ext>
              </p:extLst>
            </p:nvPr>
          </p:nvGraphicFramePr>
          <p:xfrm>
            <a:off x="1348601" y="3826539"/>
            <a:ext cx="3954931" cy="3031461"/>
          </p:xfrm>
          <a:graphic>
            <a:graphicData uri="http://schemas.openxmlformats.org/presentationml/2006/ole">
              <mc:AlternateContent xmlns:mc="http://schemas.openxmlformats.org/markup-compatibility/2006">
                <mc:Choice xmlns:v="urn:schemas-microsoft-com:vml" Requires="v">
                  <p:oleObj name="Graph" r:id="rId6" imgW="6884339" imgH="5282235" progId="Origin95.Graph">
                    <p:embed/>
                  </p:oleObj>
                </mc:Choice>
                <mc:Fallback>
                  <p:oleObj name="Graph" r:id="rId6" imgW="6884339" imgH="5282235" progId="Origin95.Graph">
                    <p:embed/>
                    <p:pic>
                      <p:nvPicPr>
                        <p:cNvPr id="0" name="Object 5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8601" y="3826539"/>
                          <a:ext cx="3954931" cy="3031461"/>
                        </a:xfrm>
                        <a:prstGeom prst="rect">
                          <a:avLst/>
                        </a:prstGeom>
                        <a:noFill/>
                      </p:spPr>
                    </p:pic>
                  </p:oleObj>
                </mc:Fallback>
              </mc:AlternateContent>
            </a:graphicData>
          </a:graphic>
        </p:graphicFrame>
        <p:sp>
          <p:nvSpPr>
            <p:cNvPr id="21" name="矩形 20">
              <a:extLst>
                <a:ext uri="{FF2B5EF4-FFF2-40B4-BE49-F238E27FC236}">
                  <a16:creationId xmlns:a16="http://schemas.microsoft.com/office/drawing/2014/main" id="{385C92E5-FEC9-4B15-8182-28FBECE803AE}"/>
                </a:ext>
              </a:extLst>
            </p:cNvPr>
            <p:cNvSpPr/>
            <p:nvPr/>
          </p:nvSpPr>
          <p:spPr>
            <a:xfrm>
              <a:off x="10235540" y="6345517"/>
              <a:ext cx="607859" cy="369332"/>
            </a:xfrm>
            <a:prstGeom prst="rect">
              <a:avLst/>
            </a:prstGeom>
          </p:spPr>
          <p:txBody>
            <a:bodyPr wrap="none">
              <a:spAutoFit/>
            </a:bodyPr>
            <a:lstStyle/>
            <a:p>
              <a:r>
                <a:rPr lang="en-US" sz="1476" b="1" i="1" dirty="0">
                  <a:solidFill>
                    <a:srgbClr val="C00000"/>
                  </a:solidFill>
                  <a:latin typeface="Times New Roman" panose="02020603050405020304" pitchFamily="18" charset="0"/>
                  <a:ea typeface="SimSun" panose="02010600030101010101" pitchFamily="2" charset="-122"/>
                  <a:cs typeface="Times New Roman"/>
                </a:rPr>
                <a:t>10%</a:t>
              </a:r>
              <a:endParaRPr lang="en-HK" sz="1476" b="1" i="1" dirty="0">
                <a:solidFill>
                  <a:srgbClr val="C00000"/>
                </a:solidFill>
                <a:latin typeface="Times New Roman"/>
                <a:ea typeface="SimSun"/>
                <a:cs typeface="Times New Roman"/>
              </a:endParaRPr>
            </a:p>
          </p:txBody>
        </p:sp>
        <p:graphicFrame>
          <p:nvGraphicFramePr>
            <p:cNvPr id="23" name="对象 22">
              <a:extLst>
                <a:ext uri="{FF2B5EF4-FFF2-40B4-BE49-F238E27FC236}">
                  <a16:creationId xmlns:a16="http://schemas.microsoft.com/office/drawing/2014/main" id="{309FD80B-887D-42D7-89E3-210D538D88B8}"/>
                </a:ext>
              </a:extLst>
            </p:cNvPr>
            <p:cNvGraphicFramePr>
              <a:graphicFrameLocks noChangeAspect="1"/>
            </p:cNvGraphicFramePr>
            <p:nvPr>
              <p:extLst>
                <p:ext uri="{D42A27DB-BD31-4B8C-83A1-F6EECF244321}">
                  <p14:modId xmlns:p14="http://schemas.microsoft.com/office/powerpoint/2010/main" val="3955678954"/>
                </p:ext>
              </p:extLst>
            </p:nvPr>
          </p:nvGraphicFramePr>
          <p:xfrm>
            <a:off x="6392860" y="3826539"/>
            <a:ext cx="3690224" cy="3058102"/>
          </p:xfrm>
          <a:graphic>
            <a:graphicData uri="http://schemas.openxmlformats.org/presentationml/2006/ole">
              <mc:AlternateContent xmlns:mc="http://schemas.openxmlformats.org/markup-compatibility/2006">
                <mc:Choice xmlns:v="urn:schemas-microsoft-com:vml" Requires="v">
                  <p:oleObj name="Graph" r:id="rId8" imgW="6384906" imgH="5171581" progId="Origin95.Graph">
                    <p:embed/>
                  </p:oleObj>
                </mc:Choice>
                <mc:Fallback>
                  <p:oleObj name="Graph" r:id="rId8" imgW="6384906" imgH="5171581" progId="Origin95.Graph">
                    <p:embed/>
                    <p:pic>
                      <p:nvPicPr>
                        <p:cNvPr id="0" name="Object 5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2860" y="3826539"/>
                          <a:ext cx="3690224" cy="3058102"/>
                        </a:xfrm>
                        <a:prstGeom prst="rect">
                          <a:avLst/>
                        </a:prstGeom>
                        <a:noFill/>
                      </p:spPr>
                    </p:pic>
                  </p:oleObj>
                </mc:Fallback>
              </mc:AlternateContent>
            </a:graphicData>
          </a:graphic>
        </p:graphicFrame>
      </p:grpSp>
      <p:sp>
        <p:nvSpPr>
          <p:cNvPr id="25"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中文要点｜模型边界与验证</a:t>
            </a:r>
          </a:p>
          <a:p>
            <a:pPr>
              <a:lnSpc>
                <a:spcPct val="108000"/>
              </a:lnSpc>
              <a:spcAft>
                <a:spcPts val="0"/>
              </a:spcAft>
            </a:pPr>
            <a:r>
              <a:rPr sz="1400" b="0">
                <a:solidFill>
                  <a:srgbClr val="282828"/>
                </a:solidFill>
                <a:latin typeface="Times New Roman"/>
                <a:ea typeface="SimSun"/>
                <a:cs typeface="Times New Roman"/>
              </a:rPr>
              <a:t>明确边界条件，并通过网格无关性和实验对比，检验菱形 IEC 模型的可靠性。</a:t>
            </a:r>
          </a:p>
        </p:txBody>
      </p:sp>
    </p:spTree>
    <p:extLst>
      <p:ext uri="{BB962C8B-B14F-4D97-AF65-F5344CB8AC3E}">
        <p14:creationId xmlns:p14="http://schemas.microsoft.com/office/powerpoint/2010/main" val="43140756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9" name="灯片编号占位符 8">
            <a:extLst>
              <a:ext uri="{FF2B5EF4-FFF2-40B4-BE49-F238E27FC236}">
                <a16:creationId xmlns:a16="http://schemas.microsoft.com/office/drawing/2014/main" id="{920A9CA6-BB2D-435A-A016-724DFB2EA357}"/>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49</a:t>
            </a:fld>
            <a:endParaRPr lang="en-US" altLang="zh-CN">
              <a:latin typeface="Times New Roman"/>
              <a:ea typeface="SimSun"/>
              <a:cs typeface="Times New Roman"/>
            </a:endParaRPr>
          </a:p>
        </p:txBody>
      </p:sp>
      <p:sp>
        <p:nvSpPr>
          <p:cNvPr id="19" name="矩形 3">
            <a:extLst>
              <a:ext uri="{FF2B5EF4-FFF2-40B4-BE49-F238E27FC236}">
                <a16:creationId xmlns:a16="http://schemas.microsoft.com/office/drawing/2014/main" id="{3763B665-A7F2-427E-8D6B-D83B68360C07}"/>
              </a:ext>
            </a:extLst>
          </p:cNvPr>
          <p:cNvSpPr>
            <a:spLocks noChangeArrowheads="1"/>
          </p:cNvSpPr>
          <p:nvPr/>
        </p:nvSpPr>
        <p:spPr bwMode="auto">
          <a:xfrm>
            <a:off x="885366" y="-57982"/>
            <a:ext cx="10786173"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grpSp>
        <p:nvGrpSpPr>
          <p:cNvPr id="9219" name="Original English content (proportional layout)"/>
          <p:cNvGrpSpPr/>
          <p:nvPr/>
        </p:nvGrpSpPr>
        <p:grpSpPr>
          <a:xfrm>
            <a:off x="1097280" y="731520"/>
            <a:ext cx="9997440" cy="5023714"/>
            <a:chOff x="0" y="731520"/>
            <a:chExt cx="12192000" cy="6126480"/>
          </a:xfrm>
        </p:grpSpPr>
        <p:pic>
          <p:nvPicPr>
            <p:cNvPr id="2" name="图片 20">
              <a:extLst>
                <a:ext uri="{FF2B5EF4-FFF2-40B4-BE49-F238E27FC236}">
                  <a16:creationId xmlns:a16="http://schemas.microsoft.com/office/drawing/2014/main" id="{240FE68F-CE47-056E-018A-E9F257D175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014"/>
            <a:stretch/>
          </p:blipFill>
          <p:spPr bwMode="auto">
            <a:xfrm>
              <a:off x="3143959" y="1797320"/>
              <a:ext cx="1765096"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218" name="图片 20">
              <a:extLst>
                <a:ext uri="{FF2B5EF4-FFF2-40B4-BE49-F238E27FC236}">
                  <a16:creationId xmlns:a16="http://schemas.microsoft.com/office/drawing/2014/main" id="{D0754689-0958-7707-14EC-913F547B22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9933"/>
            <a:stretch/>
          </p:blipFill>
          <p:spPr bwMode="auto">
            <a:xfrm>
              <a:off x="1025163" y="1750923"/>
              <a:ext cx="1861816" cy="1800000"/>
            </a:xfrm>
            <a:prstGeom prst="rect">
              <a:avLst/>
            </a:prstGeom>
            <a:noFill/>
            <a:extLst>
              <a:ext uri="{909E8E84-426E-40DD-AFC4-6F175D3DCCD1}">
                <a14:hiddenFill xmlns:a14="http://schemas.microsoft.com/office/drawing/2010/main">
                  <a:solidFill>
                    <a:srgbClr val="FFFFFF"/>
                  </a:solidFill>
                </a14:hiddenFill>
              </a:ext>
            </a:extLst>
          </p:spPr>
        </p:pic>
        <p:pic>
          <p:nvPicPr>
            <p:cNvPr id="9217" name="图片 22">
              <a:extLst>
                <a:ext uri="{FF2B5EF4-FFF2-40B4-BE49-F238E27FC236}">
                  <a16:creationId xmlns:a16="http://schemas.microsoft.com/office/drawing/2014/main" id="{08572188-F078-599B-6E53-911389A29AF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1581"/>
            <a:stretch/>
          </p:blipFill>
          <p:spPr bwMode="auto">
            <a:xfrm>
              <a:off x="1048256" y="4016484"/>
              <a:ext cx="1812830" cy="172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BF55B6F-295B-7DFA-9CB9-B98822123908}"/>
                </a:ext>
              </a:extLst>
            </p:cNvPr>
            <p:cNvSpPr>
              <a:spLocks noChangeArrowheads="1"/>
            </p:cNvSpPr>
            <p:nvPr/>
          </p:nvSpPr>
          <p:spPr bwMode="auto">
            <a:xfrm>
              <a:off x="956110" y="3444696"/>
              <a:ext cx="423404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altLang="zh-CN" sz="1148" dirty="0">
                  <a:latin typeface="Times New Roman" panose="02020603050405020304" pitchFamily="18" charset="0"/>
                  <a:ea typeface="SimSun" panose="02010600030101010101" pitchFamily="2" charset="-122"/>
                  <a:cs typeface="Times New Roman" panose="02020603050405020304" pitchFamily="18" charset="0"/>
                </a:rPr>
                <a:t>   (a) Top configuration          (b) Bottom configuration </a:t>
              </a:r>
              <a:endParaRPr lang="en-US" altLang="zh-CN" sz="1148" dirty="0">
                <a:latin typeface="Times New Roman"/>
                <a:ea typeface="SimSun"/>
                <a:cs typeface="Times New Roman"/>
              </a:endParaRPr>
            </a:p>
          </p:txBody>
        </p:sp>
        <p:sp>
          <p:nvSpPr>
            <p:cNvPr id="8" name="Rectangle 5">
              <a:extLst>
                <a:ext uri="{FF2B5EF4-FFF2-40B4-BE49-F238E27FC236}">
                  <a16:creationId xmlns:a16="http://schemas.microsoft.com/office/drawing/2014/main" id="{E1AE0C76-9A4B-8467-1D3F-AE147808B0C9}"/>
                </a:ext>
              </a:extLst>
            </p:cNvPr>
            <p:cNvSpPr>
              <a:spLocks noChangeArrowheads="1"/>
            </p:cNvSpPr>
            <p:nvPr/>
          </p:nvSpPr>
          <p:spPr bwMode="auto">
            <a:xfrm>
              <a:off x="875280" y="5741662"/>
              <a:ext cx="44903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82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1148" dirty="0">
                  <a:latin typeface="Times New Roman" panose="02020603050405020304" pitchFamily="18" charset="0"/>
                  <a:ea typeface="SimSun" panose="02010600030101010101" pitchFamily="2" charset="-122"/>
                  <a:cs typeface="Times New Roman" panose="02020603050405020304" pitchFamily="18" charset="0"/>
                </a:rPr>
                <a:t>(c) Upper side configuration  (d) Lower side configuration</a:t>
              </a:r>
              <a:endParaRPr lang="en-US" altLang="zh-CN" sz="1148" dirty="0">
                <a:latin typeface="Times New Roman" panose="020B0604020202020204" pitchFamily="34" charset="0"/>
                <a:ea typeface="SimSun"/>
                <a:cs typeface="Times New Roman"/>
              </a:endParaRPr>
            </a:p>
          </p:txBody>
        </p:sp>
        <p:pic>
          <p:nvPicPr>
            <p:cNvPr id="4" name="图片 22">
              <a:extLst>
                <a:ext uri="{FF2B5EF4-FFF2-40B4-BE49-F238E27FC236}">
                  <a16:creationId xmlns:a16="http://schemas.microsoft.com/office/drawing/2014/main" id="{5B9DB2D8-0FF5-E62E-4A66-AEBBA503C4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582"/>
            <a:stretch/>
          </p:blipFill>
          <p:spPr bwMode="auto">
            <a:xfrm>
              <a:off x="3096225" y="4059698"/>
              <a:ext cx="1812830" cy="17280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3">
              <a:extLst>
                <a:ext uri="{FF2B5EF4-FFF2-40B4-BE49-F238E27FC236}">
                  <a16:creationId xmlns:a16="http://schemas.microsoft.com/office/drawing/2014/main" id="{F068AD24-EE44-9DCE-ADB3-1A1C2841398B}"/>
                </a:ext>
              </a:extLst>
            </p:cNvPr>
            <p:cNvSpPr txBox="1">
              <a:spLocks/>
            </p:cNvSpPr>
            <p:nvPr/>
          </p:nvSpPr>
          <p:spPr bwMode="auto">
            <a:xfrm>
              <a:off x="177149" y="1085549"/>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6.3 Four schemes of nozzle configurations</a:t>
              </a:r>
            </a:p>
          </p:txBody>
        </p:sp>
        <p:cxnSp>
          <p:nvCxnSpPr>
            <p:cNvPr id="18" name="直接连接符 17">
              <a:extLst>
                <a:ext uri="{FF2B5EF4-FFF2-40B4-BE49-F238E27FC236}">
                  <a16:creationId xmlns:a16="http://schemas.microsoft.com/office/drawing/2014/main" id="{0D4BBCB4-FB40-154E-1C8E-D8AB432AE671}"/>
                </a:ext>
              </a:extLst>
            </p:cNvPr>
            <p:cNvCxnSpPr>
              <a:cxnSpLocks/>
            </p:cNvCxnSpPr>
            <p:nvPr/>
          </p:nvCxnSpPr>
          <p:spPr bwMode="auto">
            <a:xfrm>
              <a:off x="5968723" y="1112077"/>
              <a:ext cx="0" cy="5653849"/>
            </a:xfrm>
            <a:prstGeom prst="line">
              <a:avLst/>
            </a:prstGeom>
            <a:ln>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8" name="文本框 27">
              <a:extLst>
                <a:ext uri="{FF2B5EF4-FFF2-40B4-BE49-F238E27FC236}">
                  <a16:creationId xmlns:a16="http://schemas.microsoft.com/office/drawing/2014/main" id="{BD13ED3E-861F-8BB1-3E9B-A6F2ED18859A}"/>
                </a:ext>
              </a:extLst>
            </p:cNvPr>
            <p:cNvSpPr txBox="1"/>
            <p:nvPr/>
          </p:nvSpPr>
          <p:spPr>
            <a:xfrm>
              <a:off x="6398527" y="1127229"/>
              <a:ext cx="4626428" cy="369332"/>
            </a:xfrm>
            <a:prstGeom prst="rect">
              <a:avLst/>
            </a:prstGeom>
            <a:noFill/>
          </p:spPr>
          <p:txBody>
            <a:bodyPr wrap="square">
              <a:spAutoFit/>
            </a:bodyPr>
            <a:lstStyle/>
            <a:p>
              <a:pPr marL="285750" indent="-285750">
                <a:buFont typeface="Wingdings" panose="05000000000000000000" pitchFamily="2" charset="2"/>
                <a:buChar char="Ø"/>
              </a:pPr>
              <a:r>
                <a:rPr lang="en-US" altLang="zh-CN" sz="1476" dirty="0">
                  <a:latin typeface="Times New Roman" panose="02020603050405020304" pitchFamily="18" charset="0"/>
                  <a:ea typeface="SimSun" panose="02010600030101010101" pitchFamily="2" charset="-122"/>
                  <a:cs typeface="Times New Roman"/>
                </a:rPr>
                <a:t>Determination of the test water flow rate</a:t>
              </a:r>
              <a:endParaRPr lang="zh-CN" altLang="en-US" sz="1476" dirty="0">
                <a:latin typeface="Times New Roman"/>
                <a:ea typeface="SimSun"/>
                <a:cs typeface="Times New Roman"/>
              </a:endParaRPr>
            </a:p>
          </p:txBody>
        </p:sp>
        <p:sp>
          <p:nvSpPr>
            <p:cNvPr id="30" name="文本框 29">
              <a:extLst>
                <a:ext uri="{FF2B5EF4-FFF2-40B4-BE49-F238E27FC236}">
                  <a16:creationId xmlns:a16="http://schemas.microsoft.com/office/drawing/2014/main" id="{DAF76E3D-99D8-7F56-F0C2-B15FA2F69F96}"/>
                </a:ext>
              </a:extLst>
            </p:cNvPr>
            <p:cNvSpPr txBox="1"/>
            <p:nvPr/>
          </p:nvSpPr>
          <p:spPr>
            <a:xfrm>
              <a:off x="6731467" y="1674443"/>
              <a:ext cx="4302810" cy="1477328"/>
            </a:xfrm>
            <a:prstGeom prst="rect">
              <a:avLst/>
            </a:prstGeom>
            <a:noFill/>
          </p:spPr>
          <p:txBody>
            <a:bodyPr wrap="square">
              <a:spAutoFit/>
            </a:bodyPr>
            <a:lstStyle/>
            <a:p>
              <a:pPr marL="285750" indent="-285750">
                <a:spcAft>
                  <a:spcPts val="492"/>
                </a:spcAft>
                <a:buFont typeface="Arial" panose="020B0604020202020204" pitchFamily="34" charset="0"/>
                <a:buChar char="•"/>
              </a:pPr>
              <a:r>
                <a:rPr lang="en-US" altLang="zh-CN" sz="1312" dirty="0">
                  <a:latin typeface="Times New Roman" panose="02020603050405020304" pitchFamily="18" charset="0"/>
                  <a:ea typeface="SimSun"/>
                  <a:cs typeface="Times New Roman" panose="02020603050405020304" pitchFamily="18" charset="0"/>
                </a:rPr>
                <a:t>The </a:t>
              </a:r>
              <a:r>
                <a:rPr lang="en-US" altLang="zh-CN" sz="1312" b="1" dirty="0">
                  <a:solidFill>
                    <a:srgbClr val="C00000"/>
                  </a:solidFill>
                  <a:latin typeface="Times New Roman" panose="02020603050405020304" pitchFamily="18" charset="0"/>
                  <a:ea typeface="SimSun"/>
                  <a:cs typeface="Times New Roman" panose="02020603050405020304" pitchFamily="18" charset="0"/>
                </a:rPr>
                <a:t>wet-bulb efficiency </a:t>
              </a:r>
              <a:r>
                <a:rPr lang="en-US" altLang="zh-CN" sz="1312" dirty="0">
                  <a:latin typeface="Times New Roman" panose="02020603050405020304" pitchFamily="18" charset="0"/>
                  <a:ea typeface="SimSun"/>
                  <a:cs typeface="Times New Roman" panose="02020603050405020304" pitchFamily="18" charset="0"/>
                </a:rPr>
                <a:t>grows with the increase of </a:t>
              </a:r>
              <a:r>
                <a:rPr lang="en-US" altLang="zh-CN" sz="1312" b="1" dirty="0">
                  <a:solidFill>
                    <a:srgbClr val="C00000"/>
                  </a:solidFill>
                  <a:latin typeface="Times New Roman" panose="02020603050405020304" pitchFamily="18" charset="0"/>
                  <a:ea typeface="SimSun"/>
                  <a:cs typeface="Times New Roman" panose="02020603050405020304" pitchFamily="18" charset="0"/>
                </a:rPr>
                <a:t>water supply flow rate</a:t>
              </a:r>
              <a:r>
                <a:rPr lang="en-US" altLang="zh-CN" sz="1312" dirty="0">
                  <a:latin typeface="Times New Roman" panose="02020603050405020304" pitchFamily="18" charset="0"/>
                  <a:ea typeface="SimSun"/>
                  <a:cs typeface="Times New Roman" panose="02020603050405020304" pitchFamily="18" charset="0"/>
                </a:rPr>
                <a:t>.</a:t>
              </a:r>
            </a:p>
            <a:p>
              <a:pPr marL="285750" indent="-285750">
                <a:spcAft>
                  <a:spcPts val="492"/>
                </a:spcAft>
                <a:buFont typeface="Arial" panose="020B0604020202020204" pitchFamily="34" charset="0"/>
                <a:buChar char="•"/>
              </a:pPr>
              <a:endParaRPr lang="en-US" altLang="zh-CN" sz="1312" dirty="0">
                <a:latin typeface="Times New Roman" panose="02020603050405020304" pitchFamily="18" charset="0"/>
                <a:ea typeface="SimSun"/>
                <a:cs typeface="Times New Roman" panose="02020603050405020304" pitchFamily="18" charset="0"/>
              </a:endParaRPr>
            </a:p>
            <a:p>
              <a:pPr marL="285750" indent="-285750">
                <a:spcAft>
                  <a:spcPts val="492"/>
                </a:spcAft>
                <a:buFont typeface="Arial" panose="020B0604020202020204" pitchFamily="34" charset="0"/>
                <a:buChar char="•"/>
              </a:pPr>
              <a:r>
                <a:rPr lang="en-US" altLang="zh-CN" sz="1312" dirty="0">
                  <a:latin typeface="Times New Roman" panose="02020603050405020304" pitchFamily="18" charset="0"/>
                  <a:ea typeface="SimSun"/>
                  <a:cs typeface="Times New Roman" panose="02020603050405020304" pitchFamily="18" charset="0"/>
                </a:rPr>
                <a:t>and stabilizes at a maximum value when the flow rate arrives </a:t>
              </a:r>
              <a:r>
                <a:rPr lang="en-US" altLang="zh-CN" sz="1312" b="1" dirty="0">
                  <a:solidFill>
                    <a:srgbClr val="C00000"/>
                  </a:solidFill>
                  <a:latin typeface="Times New Roman" panose="02020603050405020304" pitchFamily="18" charset="0"/>
                  <a:ea typeface="SimSun"/>
                  <a:cs typeface="Times New Roman" panose="02020603050405020304" pitchFamily="18" charset="0"/>
                </a:rPr>
                <a:t>65 L/s.</a:t>
              </a:r>
              <a:endParaRPr lang="zh-CN" altLang="en-US" sz="1312" b="1" dirty="0">
                <a:solidFill>
                  <a:srgbClr val="C00000"/>
                </a:solidFill>
                <a:latin typeface="Times New Roman" panose="02020603050405020304" pitchFamily="18" charset="0"/>
                <a:ea typeface="SimSun"/>
                <a:cs typeface="Times New Roman" panose="02020603050405020304" pitchFamily="18" charset="0"/>
              </a:endParaRPr>
            </a:p>
          </p:txBody>
        </p:sp>
        <p:sp>
          <p:nvSpPr>
            <p:cNvPr id="16" name="矩形 15">
              <a:extLst>
                <a:ext uri="{FF2B5EF4-FFF2-40B4-BE49-F238E27FC236}">
                  <a16:creationId xmlns:a16="http://schemas.microsoft.com/office/drawing/2014/main" id="{A4DD048A-98AC-469E-9A69-DCA311B028CF}"/>
                </a:ext>
              </a:extLst>
            </p:cNvPr>
            <p:cNvSpPr/>
            <p:nvPr/>
          </p:nvSpPr>
          <p:spPr>
            <a:xfrm>
              <a:off x="7269967" y="6437786"/>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6.3.1 </a:t>
              </a:r>
              <a:r>
                <a:rPr lang="en-HK" sz="984" dirty="0">
                  <a:solidFill>
                    <a:prstClr val="black"/>
                  </a:solidFill>
                  <a:latin typeface="Times New Roman" panose="02020603050405020304" pitchFamily="18" charset="0"/>
                  <a:ea typeface="SimSun"/>
                  <a:cs typeface="Times New Roman" panose="02020603050405020304" pitchFamily="18" charset="0"/>
                </a:rPr>
                <a:t>The determination of test spray flow rate</a:t>
              </a:r>
            </a:p>
          </p:txBody>
        </p:sp>
        <p:sp>
          <p:nvSpPr>
            <p:cNvPr id="12" name="Rectangle 223">
              <a:extLst>
                <a:ext uri="{FF2B5EF4-FFF2-40B4-BE49-F238E27FC236}">
                  <a16:creationId xmlns:a16="http://schemas.microsoft.com/office/drawing/2014/main" id="{2DE7D3CA-B230-4034-93E8-AAD17A688F34}"/>
                </a:ext>
              </a:extLst>
            </p:cNvPr>
            <p:cNvSpPr>
              <a:spLocks noChangeArrowheads="1"/>
            </p:cNvSpPr>
            <p:nvPr/>
          </p:nvSpPr>
          <p:spPr bwMode="auto">
            <a:xfrm>
              <a:off x="6500248" y="33041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7905834A-609A-4F9C-B188-EACE69D81311}"/>
                </a:ext>
              </a:extLst>
            </p:cNvPr>
            <p:cNvGraphicFramePr>
              <a:graphicFrameLocks noChangeAspect="1"/>
            </p:cNvGraphicFramePr>
            <p:nvPr>
              <p:extLst>
                <p:ext uri="{D42A27DB-BD31-4B8C-83A1-F6EECF244321}">
                  <p14:modId xmlns:p14="http://schemas.microsoft.com/office/powerpoint/2010/main" val="498488436"/>
                </p:ext>
              </p:extLst>
            </p:nvPr>
          </p:nvGraphicFramePr>
          <p:xfrm>
            <a:off x="6849294" y="3304184"/>
            <a:ext cx="3903209" cy="3240433"/>
          </p:xfrm>
          <a:graphic>
            <a:graphicData uri="http://schemas.openxmlformats.org/presentationml/2006/ole">
              <mc:AlternateContent xmlns:mc="http://schemas.openxmlformats.org/markup-compatibility/2006">
                <mc:Choice xmlns:v="urn:schemas-microsoft-com:vml" Requires="v">
                  <p:oleObj name="Graph" r:id="rId5" imgW="6662246" imgH="5282235" progId="Origin95.Graph">
                    <p:embed/>
                  </p:oleObj>
                </mc:Choice>
                <mc:Fallback>
                  <p:oleObj name="Graph" r:id="rId5" imgW="6662246" imgH="5282235" progId="Origin95.Graph">
                    <p:embed/>
                    <p:pic>
                      <p:nvPicPr>
                        <p:cNvPr id="0" name="Object 2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9294" y="3304184"/>
                          <a:ext cx="3903209" cy="3240433"/>
                        </a:xfrm>
                        <a:prstGeom prst="rect">
                          <a:avLst/>
                        </a:prstGeom>
                        <a:noFill/>
                      </p:spPr>
                    </p:pic>
                  </p:oleObj>
                </mc:Fallback>
              </mc:AlternateContent>
            </a:graphicData>
          </a:graphic>
        </p:graphicFrame>
      </p:grpSp>
      <p:sp>
        <p:nvSpPr>
          <p:cNvPr id="922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中文要点｜四种喷嘴布置方案</a:t>
            </a:r>
          </a:p>
          <a:p>
            <a:pPr>
              <a:lnSpc>
                <a:spcPct val="108000"/>
              </a:lnSpc>
              <a:spcAft>
                <a:spcPts val="0"/>
              </a:spcAft>
            </a:pPr>
            <a:r>
              <a:rPr sz="1400" b="0">
                <a:solidFill>
                  <a:srgbClr val="282828"/>
                </a:solidFill>
                <a:latin typeface="Times New Roman"/>
                <a:ea typeface="SimSun"/>
                <a:cs typeface="Times New Roman"/>
              </a:rPr>
              <a:t>比较顶部、底部、上侧与下侧布置，并通过供水流量分析确定实验条件。流量数值及单位沿用原文。</a:t>
            </a:r>
          </a:p>
        </p:txBody>
      </p:sp>
    </p:spTree>
    <p:extLst>
      <p:ext uri="{BB962C8B-B14F-4D97-AF65-F5344CB8AC3E}">
        <p14:creationId xmlns:p14="http://schemas.microsoft.com/office/powerpoint/2010/main" val="3734549663"/>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D8CE52A0-D852-4BBC-AF1F-799FA7EBBD65}"/>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50</a:t>
            </a:fld>
            <a:endParaRPr lang="en-US" altLang="zh-CN">
              <a:latin typeface="Times New Roman"/>
              <a:ea typeface="SimSun"/>
              <a:cs typeface="Times New Roman"/>
            </a:endParaRPr>
          </a:p>
        </p:txBody>
      </p:sp>
      <p:sp>
        <p:nvSpPr>
          <p:cNvPr id="33" name="矩形 3">
            <a:extLst>
              <a:ext uri="{FF2B5EF4-FFF2-40B4-BE49-F238E27FC236}">
                <a16:creationId xmlns:a16="http://schemas.microsoft.com/office/drawing/2014/main" id="{875D63E9-A33C-4D92-A00E-6A727BA12AE5}"/>
              </a:ext>
            </a:extLst>
          </p:cNvPr>
          <p:cNvSpPr>
            <a:spLocks noChangeArrowheads="1"/>
          </p:cNvSpPr>
          <p:nvPr/>
        </p:nvSpPr>
        <p:spPr bwMode="auto">
          <a:xfrm>
            <a:off x="885366" y="-57982"/>
            <a:ext cx="10786173"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grpSp>
        <p:nvGrpSpPr>
          <p:cNvPr id="10256" name="Original English content (proportional layout)"/>
          <p:cNvGrpSpPr/>
          <p:nvPr/>
        </p:nvGrpSpPr>
        <p:grpSpPr>
          <a:xfrm>
            <a:off x="1097280" y="731520"/>
            <a:ext cx="9997440" cy="5023714"/>
            <a:chOff x="0" y="731520"/>
            <a:chExt cx="12192000" cy="6126480"/>
          </a:xfrm>
        </p:grpSpPr>
        <p:pic>
          <p:nvPicPr>
            <p:cNvPr id="10244" name="图片 21">
              <a:extLst>
                <a:ext uri="{FF2B5EF4-FFF2-40B4-BE49-F238E27FC236}">
                  <a16:creationId xmlns:a16="http://schemas.microsoft.com/office/drawing/2014/main" id="{69256179-B68B-F48F-7AE5-0F957AAFF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91" y="1683363"/>
              <a:ext cx="1985963"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3" name="图片 31">
              <a:extLst>
                <a:ext uri="{FF2B5EF4-FFF2-40B4-BE49-F238E27FC236}">
                  <a16:creationId xmlns:a16="http://schemas.microsoft.com/office/drawing/2014/main" id="{0B4169FB-E23F-17DF-4427-35408ACB0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776" t="10007" r="14946" b="15715"/>
            <a:stretch>
              <a:fillRect/>
            </a:stretch>
          </p:blipFill>
          <p:spPr bwMode="auto">
            <a:xfrm>
              <a:off x="3939947" y="1683363"/>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2" name="图片 23">
              <a:extLst>
                <a:ext uri="{FF2B5EF4-FFF2-40B4-BE49-F238E27FC236}">
                  <a16:creationId xmlns:a16="http://schemas.microsoft.com/office/drawing/2014/main" id="{231E7C05-5E0F-915A-7D30-6388DB7E6A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8215" y="1700461"/>
              <a:ext cx="19907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41" name="图片 26">
              <a:extLst>
                <a:ext uri="{FF2B5EF4-FFF2-40B4-BE49-F238E27FC236}">
                  <a16:creationId xmlns:a16="http://schemas.microsoft.com/office/drawing/2014/main" id="{A7FCC450-3BCE-99A0-132A-5066AC831E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2425" y="1688125"/>
              <a:ext cx="1985963" cy="197643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pic>
          <p:nvPicPr>
            <p:cNvPr id="10255" name="图片 3">
              <a:extLst>
                <a:ext uri="{FF2B5EF4-FFF2-40B4-BE49-F238E27FC236}">
                  <a16:creationId xmlns:a16="http://schemas.microsoft.com/office/drawing/2014/main" id="{9288BB41-D5C0-4C9D-36A2-6F057F40A4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8429" y="3977795"/>
              <a:ext cx="19907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4" name="图片 13">
              <a:extLst>
                <a:ext uri="{FF2B5EF4-FFF2-40B4-BE49-F238E27FC236}">
                  <a16:creationId xmlns:a16="http://schemas.microsoft.com/office/drawing/2014/main" id="{E76D5247-3812-D4C6-A356-954217AB71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5834" y="3967185"/>
              <a:ext cx="1995488"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3" name="图片 4">
              <a:extLst>
                <a:ext uri="{FF2B5EF4-FFF2-40B4-BE49-F238E27FC236}">
                  <a16:creationId xmlns:a16="http://schemas.microsoft.com/office/drawing/2014/main" id="{DE80AAC3-B12C-2C2D-94F7-D257D127A62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58388" y="3859600"/>
              <a:ext cx="709613" cy="2162175"/>
            </a:xfrm>
            <a:prstGeom prst="rect">
              <a:avLst/>
            </a:prstGeom>
            <a:noFill/>
            <a:extLst>
              <a:ext uri="{909E8E84-426E-40DD-AFC4-6F175D3DCCD1}">
                <a14:hiddenFill xmlns:a14="http://schemas.microsoft.com/office/drawing/2010/main">
                  <a:solidFill>
                    <a:srgbClr val="FFFFFF"/>
                  </a:solidFill>
                </a14:hiddenFill>
              </a:ext>
            </a:extLst>
          </p:spPr>
        </p:pic>
        <p:pic>
          <p:nvPicPr>
            <p:cNvPr id="10252" name="图片 15">
              <a:extLst>
                <a:ext uri="{FF2B5EF4-FFF2-40B4-BE49-F238E27FC236}">
                  <a16:creationId xmlns:a16="http://schemas.microsoft.com/office/drawing/2014/main" id="{CB597D4E-7570-E16D-C129-508E85E884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483" y="396718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51" name="图片 18">
              <a:extLst>
                <a:ext uri="{FF2B5EF4-FFF2-40B4-BE49-F238E27FC236}">
                  <a16:creationId xmlns:a16="http://schemas.microsoft.com/office/drawing/2014/main" id="{100BC387-F153-4454-F0FD-B1293720BA1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18256" y="3950087"/>
              <a:ext cx="1985963" cy="19812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582947" y="5574341"/>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3463" y="922144"/>
              <a:ext cx="6334578"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6.3 Four schemes of nozzle configurations (</a:t>
              </a:r>
              <a:r>
                <a:rPr lang="en-US" altLang="en-US" sz="1476" b="1" kern="0" dirty="0" err="1">
                  <a:latin typeface="Times New Roman" panose="02020603050405020304" pitchFamily="18" charset="0"/>
                  <a:ea typeface="SimSun"/>
                  <a:cs typeface="Times New Roman" panose="02020603050405020304" pitchFamily="18" charset="0"/>
                </a:rPr>
                <a:t>aluminium</a:t>
              </a:r>
              <a:r>
                <a:rPr lang="en-US" altLang="en-US" sz="1476" b="1" kern="0" dirty="0">
                  <a:latin typeface="Times New Roman" panose="02020603050405020304" pitchFamily="18" charset="0"/>
                  <a:ea typeface="SimSun"/>
                  <a:cs typeface="Times New Roman" panose="02020603050405020304" pitchFamily="18" charset="0"/>
                </a:rPr>
                <a:t>)</a:t>
              </a:r>
            </a:p>
          </p:txBody>
        </p:sp>
        <p:sp>
          <p:nvSpPr>
            <p:cNvPr id="25" name="文本框 24">
              <a:extLst>
                <a:ext uri="{FF2B5EF4-FFF2-40B4-BE49-F238E27FC236}">
                  <a16:creationId xmlns:a16="http://schemas.microsoft.com/office/drawing/2014/main" id="{9C8C7525-E425-4A9F-0957-4B99D5839A8D}"/>
                </a:ext>
              </a:extLst>
            </p:cNvPr>
            <p:cNvSpPr txBox="1"/>
            <p:nvPr/>
          </p:nvSpPr>
          <p:spPr>
            <a:xfrm>
              <a:off x="1186147" y="1334199"/>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Water film distribution</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26" name="文本框 25">
              <a:extLst>
                <a:ext uri="{FF2B5EF4-FFF2-40B4-BE49-F238E27FC236}">
                  <a16:creationId xmlns:a16="http://schemas.microsoft.com/office/drawing/2014/main" id="{F6E0FF28-998E-AB4F-A4C3-0EF35C84B52C}"/>
                </a:ext>
              </a:extLst>
            </p:cNvPr>
            <p:cNvSpPr txBox="1"/>
            <p:nvPr/>
          </p:nvSpPr>
          <p:spPr>
            <a:xfrm>
              <a:off x="1186147" y="3645605"/>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Temperature distribution</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27" name="矩形 26">
              <a:extLst>
                <a:ext uri="{FF2B5EF4-FFF2-40B4-BE49-F238E27FC236}">
                  <a16:creationId xmlns:a16="http://schemas.microsoft.com/office/drawing/2014/main" id="{6E3FACF8-7BCA-482F-EF5E-25C958B4E431}"/>
                </a:ext>
              </a:extLst>
            </p:cNvPr>
            <p:cNvSpPr/>
            <p:nvPr/>
          </p:nvSpPr>
          <p:spPr bwMode="auto">
            <a:xfrm>
              <a:off x="5952949" y="1487865"/>
              <a:ext cx="1963623" cy="5010207"/>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2624" dirty="0">
                <a:solidFill>
                  <a:schemeClr val="bg2"/>
                </a:solidFill>
                <a:latin typeface="Times New Roman" charset="0"/>
                <a:ea typeface="SimSun"/>
                <a:cs typeface="Times New Roman"/>
              </a:endParaRPr>
            </a:p>
          </p:txBody>
        </p:sp>
        <p:sp>
          <p:nvSpPr>
            <p:cNvPr id="28" name="Content Placeholder 23">
              <a:extLst>
                <a:ext uri="{FF2B5EF4-FFF2-40B4-BE49-F238E27FC236}">
                  <a16:creationId xmlns:a16="http://schemas.microsoft.com/office/drawing/2014/main" id="{612E446F-6937-E2D0-4115-6FD6EBCE5D96}"/>
                </a:ext>
              </a:extLst>
            </p:cNvPr>
            <p:cNvSpPr txBox="1">
              <a:spLocks/>
            </p:cNvSpPr>
            <p:nvPr/>
          </p:nvSpPr>
          <p:spPr bwMode="auto">
            <a:xfrm>
              <a:off x="2628629" y="6111298"/>
              <a:ext cx="683759"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kern="0" dirty="0">
                  <a:latin typeface="Times New Roman" panose="02020603050405020304" pitchFamily="18" charset="0"/>
                  <a:ea typeface="SimSun"/>
                  <a:cs typeface="Times New Roman" panose="02020603050405020304" pitchFamily="18" charset="0"/>
                </a:rPr>
                <a:t>TOP</a:t>
              </a:r>
            </a:p>
          </p:txBody>
        </p:sp>
        <p:sp>
          <p:nvSpPr>
            <p:cNvPr id="29" name="Content Placeholder 23">
              <a:extLst>
                <a:ext uri="{FF2B5EF4-FFF2-40B4-BE49-F238E27FC236}">
                  <a16:creationId xmlns:a16="http://schemas.microsoft.com/office/drawing/2014/main" id="{1674DC4D-36F8-B1AA-B3CF-69DDE620D1C7}"/>
                </a:ext>
              </a:extLst>
            </p:cNvPr>
            <p:cNvSpPr txBox="1">
              <a:spLocks/>
            </p:cNvSpPr>
            <p:nvPr/>
          </p:nvSpPr>
          <p:spPr bwMode="auto">
            <a:xfrm>
              <a:off x="4383536" y="6113443"/>
              <a:ext cx="1263653"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kern="0" dirty="0">
                  <a:latin typeface="Times New Roman" panose="02020603050405020304" pitchFamily="18" charset="0"/>
                  <a:ea typeface="SimSun"/>
                  <a:cs typeface="Times New Roman" panose="02020603050405020304" pitchFamily="18" charset="0"/>
                </a:rPr>
                <a:t>BOTTOM</a:t>
              </a:r>
            </a:p>
          </p:txBody>
        </p:sp>
        <p:sp>
          <p:nvSpPr>
            <p:cNvPr id="30" name="Content Placeholder 23">
              <a:extLst>
                <a:ext uri="{FF2B5EF4-FFF2-40B4-BE49-F238E27FC236}">
                  <a16:creationId xmlns:a16="http://schemas.microsoft.com/office/drawing/2014/main" id="{4DA368F3-1F37-F80D-410F-E8AB2040C96F}"/>
                </a:ext>
              </a:extLst>
            </p:cNvPr>
            <p:cNvSpPr txBox="1">
              <a:spLocks/>
            </p:cNvSpPr>
            <p:nvPr/>
          </p:nvSpPr>
          <p:spPr bwMode="auto">
            <a:xfrm>
              <a:off x="6275458" y="6118954"/>
              <a:ext cx="1408225"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kern="0" dirty="0">
                  <a:latin typeface="Times New Roman" panose="02020603050405020304" pitchFamily="18" charset="0"/>
                  <a:ea typeface="SimSun"/>
                  <a:cs typeface="Times New Roman" panose="02020603050405020304" pitchFamily="18" charset="0"/>
                </a:rPr>
                <a:t>Upper side</a:t>
              </a:r>
            </a:p>
          </p:txBody>
        </p:sp>
        <p:sp>
          <p:nvSpPr>
            <p:cNvPr id="31" name="Content Placeholder 23">
              <a:extLst>
                <a:ext uri="{FF2B5EF4-FFF2-40B4-BE49-F238E27FC236}">
                  <a16:creationId xmlns:a16="http://schemas.microsoft.com/office/drawing/2014/main" id="{6306B550-901E-B39E-A75C-214E6F829FE0}"/>
                </a:ext>
              </a:extLst>
            </p:cNvPr>
            <p:cNvSpPr txBox="1">
              <a:spLocks/>
            </p:cNvSpPr>
            <p:nvPr/>
          </p:nvSpPr>
          <p:spPr bwMode="auto">
            <a:xfrm>
              <a:off x="8223174" y="6118954"/>
              <a:ext cx="1408225"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kern="0" dirty="0">
                  <a:latin typeface="Times New Roman" panose="02020603050405020304" pitchFamily="18" charset="0"/>
                  <a:ea typeface="SimSun"/>
                  <a:cs typeface="Times New Roman" panose="02020603050405020304" pitchFamily="18" charset="0"/>
                </a:rPr>
                <a:t>Lower side</a:t>
              </a:r>
            </a:p>
          </p:txBody>
        </p:sp>
      </p:grpSp>
      <p:sp>
        <p:nvSpPr>
          <p:cNvPr id="10257"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8"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中文要点｜水膜与温度分布对比</a:t>
            </a:r>
          </a:p>
          <a:p>
            <a:pPr>
              <a:lnSpc>
                <a:spcPct val="108000"/>
              </a:lnSpc>
              <a:spcAft>
                <a:spcPts val="0"/>
              </a:spcAft>
            </a:pPr>
            <a:r>
              <a:rPr sz="1400" b="0">
                <a:solidFill>
                  <a:srgbClr val="282828"/>
                </a:solidFill>
                <a:latin typeface="Times New Roman"/>
                <a:ea typeface="SimSun"/>
                <a:cs typeface="Times New Roman"/>
              </a:rPr>
              <a:t>对比铝板 IEC 在四种喷嘴布置下的水膜及温度分布，分析布水位置对换热过程的影响。</a:t>
            </a:r>
          </a:p>
        </p:txBody>
      </p:sp>
    </p:spTree>
    <p:extLst>
      <p:ext uri="{BB962C8B-B14F-4D97-AF65-F5344CB8AC3E}">
        <p14:creationId xmlns:p14="http://schemas.microsoft.com/office/powerpoint/2010/main" val="96251355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D8CE52A0-D852-4BBC-AF1F-799FA7EBBD65}"/>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51</a:t>
            </a:fld>
            <a:endParaRPr lang="en-US" altLang="zh-CN">
              <a:latin typeface="Times New Roman"/>
              <a:ea typeface="SimSun"/>
              <a:cs typeface="Times New Roman"/>
            </a:endParaRPr>
          </a:p>
        </p:txBody>
      </p:sp>
      <p:sp>
        <p:nvSpPr>
          <p:cNvPr id="12" name="Rectangle 8">
            <a:extLst>
              <a:ext uri="{FF2B5EF4-FFF2-40B4-BE49-F238E27FC236}">
                <a16:creationId xmlns:a16="http://schemas.microsoft.com/office/drawing/2014/main" id="{FEC9938E-47B8-49A4-9150-8065A6E117E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sp>
        <p:nvSpPr>
          <p:cNvPr id="21" name="Rectangle 14">
            <a:extLst>
              <a:ext uri="{FF2B5EF4-FFF2-40B4-BE49-F238E27FC236}">
                <a16:creationId xmlns:a16="http://schemas.microsoft.com/office/drawing/2014/main" id="{B919B231-416D-46A9-A9D5-48B03CDB05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5400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Times New Roman" panose="020B0604020202020204" pitchFamily="34" charset="0"/>
                <a:ea typeface="SimSun"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Times New Roman" panose="020B0604020202020204" pitchFamily="34" charset="0"/>
              <a:ea typeface="SimSun"/>
              <a:cs typeface="Times New Roman"/>
            </a:endParaRPr>
          </a:p>
        </p:txBody>
      </p:sp>
      <p:sp>
        <p:nvSpPr>
          <p:cNvPr id="35" name="矩形 3">
            <a:extLst>
              <a:ext uri="{FF2B5EF4-FFF2-40B4-BE49-F238E27FC236}">
                <a16:creationId xmlns:a16="http://schemas.microsoft.com/office/drawing/2014/main" id="{1BFE6F6A-8988-45C0-89E7-B3CCAD0E03FC}"/>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32789"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582947" y="5574341"/>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3463" y="922144"/>
              <a:ext cx="5712537"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HK" altLang="en-US" sz="1476" b="1" kern="0" dirty="0">
                  <a:latin typeface="Times New Roman" panose="02020603050405020304" pitchFamily="18" charset="0"/>
                  <a:ea typeface="SimSun"/>
                  <a:cs typeface="Times New Roman" panose="02020603050405020304" pitchFamily="18" charset="0"/>
                </a:rPr>
                <a:t>Comparison of configurations of axial characteristics</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25" name="文本框 24">
              <a:extLst>
                <a:ext uri="{FF2B5EF4-FFF2-40B4-BE49-F238E27FC236}">
                  <a16:creationId xmlns:a16="http://schemas.microsoft.com/office/drawing/2014/main" id="{9C8C7525-E425-4A9F-0957-4B99D5839A8D}"/>
                </a:ext>
              </a:extLst>
            </p:cNvPr>
            <p:cNvSpPr txBox="1"/>
            <p:nvPr/>
          </p:nvSpPr>
          <p:spPr>
            <a:xfrm>
              <a:off x="683672" y="1292307"/>
              <a:ext cx="1865387"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Film formation</a:t>
              </a:r>
              <a:endParaRPr lang="zh-CN" altLang="en-US" sz="1312" b="1" dirty="0">
                <a:latin typeface="Times New Roman" panose="02020603050405020304" pitchFamily="18" charset="0"/>
                <a:ea typeface="SimSun"/>
                <a:cs typeface="Times New Roman" panose="02020603050405020304" pitchFamily="18" charset="0"/>
              </a:endParaRPr>
            </a:p>
          </p:txBody>
        </p:sp>
        <p:pic>
          <p:nvPicPr>
            <p:cNvPr id="32775" name="图片 3">
              <a:extLst>
                <a:ext uri="{FF2B5EF4-FFF2-40B4-BE49-F238E27FC236}">
                  <a16:creationId xmlns:a16="http://schemas.microsoft.com/office/drawing/2014/main" id="{4E1CEAB8-A03A-4C57-8E5F-F165DE46E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294" y="1854334"/>
              <a:ext cx="403225" cy="2460625"/>
            </a:xfrm>
            <a:prstGeom prst="rect">
              <a:avLst/>
            </a:prstGeom>
            <a:noFill/>
            <a:extLst>
              <a:ext uri="{909E8E84-426E-40DD-AFC4-6F175D3DCCD1}">
                <a14:hiddenFill xmlns:a14="http://schemas.microsoft.com/office/drawing/2010/main">
                  <a:solidFill>
                    <a:srgbClr val="FFFFFF"/>
                  </a:solidFill>
                </a14:hiddenFill>
              </a:ext>
            </a:extLst>
          </p:spPr>
        </p:pic>
        <p:pic>
          <p:nvPicPr>
            <p:cNvPr id="32774" name="图片 2">
              <a:extLst>
                <a:ext uri="{FF2B5EF4-FFF2-40B4-BE49-F238E27FC236}">
                  <a16:creationId xmlns:a16="http://schemas.microsoft.com/office/drawing/2014/main" id="{2577F1F6-D5A0-449F-8C41-CBC505DDC7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8309" y="1860684"/>
              <a:ext cx="403225" cy="245427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0">
              <a:extLst>
                <a:ext uri="{FF2B5EF4-FFF2-40B4-BE49-F238E27FC236}">
                  <a16:creationId xmlns:a16="http://schemas.microsoft.com/office/drawing/2014/main" id="{D3EADA22-C25F-4BD0-92BF-75F10BA68F50}"/>
                </a:ext>
              </a:extLst>
            </p:cNvPr>
            <p:cNvSpPr>
              <a:spLocks noChangeArrowheads="1"/>
            </p:cNvSpPr>
            <p:nvPr/>
          </p:nvSpPr>
          <p:spPr bwMode="auto">
            <a:xfrm>
              <a:off x="383463" y="4457439"/>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902"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656"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pic>
          <p:nvPicPr>
            <p:cNvPr id="32781" name="图片 1019128321">
              <a:extLst>
                <a:ext uri="{FF2B5EF4-FFF2-40B4-BE49-F238E27FC236}">
                  <a16:creationId xmlns:a16="http://schemas.microsoft.com/office/drawing/2014/main" id="{26D224AF-44E7-4E2A-956E-E3BEED4AC3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8752" t="1244" r="10335" b="1295"/>
            <a:stretch>
              <a:fillRect/>
            </a:stretch>
          </p:blipFill>
          <p:spPr bwMode="auto">
            <a:xfrm>
              <a:off x="5350631" y="1852746"/>
              <a:ext cx="388938" cy="2476500"/>
            </a:xfrm>
            <a:prstGeom prst="rect">
              <a:avLst/>
            </a:prstGeom>
            <a:noFill/>
            <a:extLst>
              <a:ext uri="{909E8E84-426E-40DD-AFC4-6F175D3DCCD1}">
                <a14:hiddenFill xmlns:a14="http://schemas.microsoft.com/office/drawing/2010/main">
                  <a:solidFill>
                    <a:srgbClr val="FFFFFF"/>
                  </a:solidFill>
                </a14:hiddenFill>
              </a:ext>
            </a:extLst>
          </p:spPr>
        </p:pic>
        <p:pic>
          <p:nvPicPr>
            <p:cNvPr id="32780" name="图片 1019128322">
              <a:extLst>
                <a:ext uri="{FF2B5EF4-FFF2-40B4-BE49-F238E27FC236}">
                  <a16:creationId xmlns:a16="http://schemas.microsoft.com/office/drawing/2014/main" id="{F34280D5-CFAB-4786-9623-25DC1F41FD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9283" t="1295" r="9802" b="1350"/>
            <a:stretch>
              <a:fillRect/>
            </a:stretch>
          </p:blipFill>
          <p:spPr bwMode="auto">
            <a:xfrm>
              <a:off x="5918966" y="1852746"/>
              <a:ext cx="388938" cy="2484438"/>
            </a:xfrm>
            <a:prstGeom prst="rect">
              <a:avLst/>
            </a:prstGeom>
            <a:noFill/>
            <a:extLst>
              <a:ext uri="{909E8E84-426E-40DD-AFC4-6F175D3DCCD1}">
                <a14:hiddenFill xmlns:a14="http://schemas.microsoft.com/office/drawing/2010/main">
                  <a:solidFill>
                    <a:srgbClr val="FFFFFF"/>
                  </a:solidFill>
                </a14:hiddenFill>
              </a:ext>
            </a:extLst>
          </p:spPr>
        </p:pic>
        <p:pic>
          <p:nvPicPr>
            <p:cNvPr id="32779" name="图片 1019128323">
              <a:extLst>
                <a:ext uri="{FF2B5EF4-FFF2-40B4-BE49-F238E27FC236}">
                  <a16:creationId xmlns:a16="http://schemas.microsoft.com/office/drawing/2014/main" id="{D1AF116C-A7AA-4941-9E4B-A790AF4D4D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7301" y="2049126"/>
              <a:ext cx="892175" cy="2255837"/>
            </a:xfrm>
            <a:prstGeom prst="rect">
              <a:avLst/>
            </a:prstGeom>
            <a:noFill/>
            <a:extLst>
              <a:ext uri="{909E8E84-426E-40DD-AFC4-6F175D3DCCD1}">
                <a14:hiddenFill xmlns:a14="http://schemas.microsoft.com/office/drawing/2010/main">
                  <a:solidFill>
                    <a:srgbClr val="FFFFFF"/>
                  </a:solidFill>
                </a14:hiddenFill>
              </a:ext>
            </a:extLst>
          </p:spPr>
        </p:pic>
        <p:pic>
          <p:nvPicPr>
            <p:cNvPr id="32788" name="图片 1019128324">
              <a:extLst>
                <a:ext uri="{FF2B5EF4-FFF2-40B4-BE49-F238E27FC236}">
                  <a16:creationId xmlns:a16="http://schemas.microsoft.com/office/drawing/2014/main" id="{00A43010-A7B9-4428-94A9-7F86D8B473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800000">
              <a:off x="8920162" y="1874971"/>
              <a:ext cx="388938" cy="2454275"/>
            </a:xfrm>
            <a:prstGeom prst="rect">
              <a:avLst/>
            </a:prstGeom>
            <a:noFill/>
            <a:extLst>
              <a:ext uri="{909E8E84-426E-40DD-AFC4-6F175D3DCCD1}">
                <a14:hiddenFill xmlns:a14="http://schemas.microsoft.com/office/drawing/2010/main">
                  <a:solidFill>
                    <a:srgbClr val="FFFFFF"/>
                  </a:solidFill>
                </a14:hiddenFill>
              </a:ext>
            </a:extLst>
          </p:spPr>
        </p:pic>
        <p:pic>
          <p:nvPicPr>
            <p:cNvPr id="32787" name="图片 1019128325">
              <a:extLst>
                <a:ext uri="{FF2B5EF4-FFF2-40B4-BE49-F238E27FC236}">
                  <a16:creationId xmlns:a16="http://schemas.microsoft.com/office/drawing/2014/main" id="{C7D73420-5F7F-4D04-B75D-B97B3F7079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0800000">
              <a:off x="9439334" y="1887523"/>
              <a:ext cx="388938" cy="2460625"/>
            </a:xfrm>
            <a:prstGeom prst="rect">
              <a:avLst/>
            </a:prstGeom>
            <a:noFill/>
            <a:extLst>
              <a:ext uri="{909E8E84-426E-40DD-AFC4-6F175D3DCCD1}">
                <a14:hiddenFill xmlns:a14="http://schemas.microsoft.com/office/drawing/2010/main">
                  <a:solidFill>
                    <a:srgbClr val="FFFFFF"/>
                  </a:solidFill>
                </a14:hiddenFill>
              </a:ext>
            </a:extLst>
          </p:spPr>
        </p:pic>
        <p:pic>
          <p:nvPicPr>
            <p:cNvPr id="32786" name="图片 1019128326">
              <a:extLst>
                <a:ext uri="{FF2B5EF4-FFF2-40B4-BE49-F238E27FC236}">
                  <a16:creationId xmlns:a16="http://schemas.microsoft.com/office/drawing/2014/main" id="{0A1392BF-0B62-4973-8737-7D9745D542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94365" y="2051594"/>
              <a:ext cx="823863" cy="2257200"/>
            </a:xfrm>
            <a:prstGeom prst="rect">
              <a:avLst/>
            </a:prstGeom>
            <a:noFill/>
            <a:extLst>
              <a:ext uri="{909E8E84-426E-40DD-AFC4-6F175D3DCCD1}">
                <a14:hiddenFill xmlns:a14="http://schemas.microsoft.com/office/drawing/2010/main">
                  <a:solidFill>
                    <a:srgbClr val="FFFFFF"/>
                  </a:solidFill>
                </a14:hiddenFill>
              </a:ext>
            </a:extLst>
          </p:spPr>
        </p:pic>
        <p:sp>
          <p:nvSpPr>
            <p:cNvPr id="65" name="矩形: 圆角 64">
              <a:extLst>
                <a:ext uri="{FF2B5EF4-FFF2-40B4-BE49-F238E27FC236}">
                  <a16:creationId xmlns:a16="http://schemas.microsoft.com/office/drawing/2014/main" id="{7EC147A9-217C-4376-BD2B-C2C4E205D393}"/>
                </a:ext>
              </a:extLst>
            </p:cNvPr>
            <p:cNvSpPr/>
            <p:nvPr/>
          </p:nvSpPr>
          <p:spPr bwMode="auto">
            <a:xfrm>
              <a:off x="1195907" y="1705352"/>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70" name="文本框 69">
              <a:extLst>
                <a:ext uri="{FF2B5EF4-FFF2-40B4-BE49-F238E27FC236}">
                  <a16:creationId xmlns:a16="http://schemas.microsoft.com/office/drawing/2014/main" id="{91539BC0-C797-4DCF-A041-2DAB55C73F8D}"/>
                </a:ext>
              </a:extLst>
            </p:cNvPr>
            <p:cNvSpPr txBox="1"/>
            <p:nvPr/>
          </p:nvSpPr>
          <p:spPr>
            <a:xfrm>
              <a:off x="4145640" y="1301262"/>
              <a:ext cx="3518653"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water vapor content distribution</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71" name="文本框 70">
              <a:extLst>
                <a:ext uri="{FF2B5EF4-FFF2-40B4-BE49-F238E27FC236}">
                  <a16:creationId xmlns:a16="http://schemas.microsoft.com/office/drawing/2014/main" id="{C8ED595B-2F95-422C-8683-2C4A0B9FA15F}"/>
                </a:ext>
              </a:extLst>
            </p:cNvPr>
            <p:cNvSpPr txBox="1"/>
            <p:nvPr/>
          </p:nvSpPr>
          <p:spPr>
            <a:xfrm>
              <a:off x="7614860" y="1298386"/>
              <a:ext cx="302151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Temperature distribution </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72" name="文本框 71">
              <a:extLst>
                <a:ext uri="{FF2B5EF4-FFF2-40B4-BE49-F238E27FC236}">
                  <a16:creationId xmlns:a16="http://schemas.microsoft.com/office/drawing/2014/main" id="{36D099DA-3C31-4C24-8C1F-9D03BA893B1A}"/>
                </a:ext>
              </a:extLst>
            </p:cNvPr>
            <p:cNvSpPr txBox="1"/>
            <p:nvPr/>
          </p:nvSpPr>
          <p:spPr>
            <a:xfrm>
              <a:off x="664564" y="5220429"/>
              <a:ext cx="3481076" cy="1494512"/>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More smooth and diffuse continuous water film.</a:t>
              </a:r>
            </a:p>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Incomplete water film coverage due to aggregation from </a:t>
              </a:r>
              <a:r>
                <a:rPr lang="en-HK"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uneven gravity distribution</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74" name="文本框 73">
              <a:extLst>
                <a:ext uri="{FF2B5EF4-FFF2-40B4-BE49-F238E27FC236}">
                  <a16:creationId xmlns:a16="http://schemas.microsoft.com/office/drawing/2014/main" id="{D7A5FF66-7C65-405F-B8AF-C00D5C43656D}"/>
                </a:ext>
              </a:extLst>
            </p:cNvPr>
            <p:cNvSpPr txBox="1"/>
            <p:nvPr/>
          </p:nvSpPr>
          <p:spPr>
            <a:xfrm>
              <a:off x="8146034" y="5220429"/>
              <a:ext cx="3364475" cy="1231043"/>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More temperature drop.</a:t>
              </a:r>
            </a:p>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The temperature drop follows the same trend as the increase in water vapour concentration.</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75" name="矩形: 圆角 74">
              <a:extLst>
                <a:ext uri="{FF2B5EF4-FFF2-40B4-BE49-F238E27FC236}">
                  <a16:creationId xmlns:a16="http://schemas.microsoft.com/office/drawing/2014/main" id="{C77DBACA-4A7F-4C7A-9404-C77D41B272CD}"/>
                </a:ext>
              </a:extLst>
            </p:cNvPr>
            <p:cNvSpPr/>
            <p:nvPr/>
          </p:nvSpPr>
          <p:spPr bwMode="auto">
            <a:xfrm>
              <a:off x="4683154" y="1705352"/>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76" name="Rectangle 10">
              <a:extLst>
                <a:ext uri="{FF2B5EF4-FFF2-40B4-BE49-F238E27FC236}">
                  <a16:creationId xmlns:a16="http://schemas.microsoft.com/office/drawing/2014/main" id="{66FFF9CA-BF16-443A-9901-26029A31E8E5}"/>
                </a:ext>
              </a:extLst>
            </p:cNvPr>
            <p:cNvSpPr>
              <a:spLocks noChangeArrowheads="1"/>
            </p:cNvSpPr>
            <p:nvPr/>
          </p:nvSpPr>
          <p:spPr bwMode="auto">
            <a:xfrm>
              <a:off x="3664579" y="4447443"/>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902"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656"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sp>
          <p:nvSpPr>
            <p:cNvPr id="77" name="矩形: 圆角 76">
              <a:extLst>
                <a:ext uri="{FF2B5EF4-FFF2-40B4-BE49-F238E27FC236}">
                  <a16:creationId xmlns:a16="http://schemas.microsoft.com/office/drawing/2014/main" id="{4A8C5921-FDC4-4B78-91E9-C32B4C77DA4F}"/>
                </a:ext>
              </a:extLst>
            </p:cNvPr>
            <p:cNvSpPr/>
            <p:nvPr/>
          </p:nvSpPr>
          <p:spPr bwMode="auto">
            <a:xfrm>
              <a:off x="8240174" y="1690094"/>
              <a:ext cx="2737738" cy="3265451"/>
            </a:xfrm>
            <a:prstGeom prst="roundRect">
              <a:avLst/>
            </a:prstGeom>
            <a:noFill/>
            <a:ln>
              <a:solidFill>
                <a:srgbClr val="AF1E3B">
                  <a:alpha val="50000"/>
                </a:srgbClr>
              </a:solidFill>
              <a:prstDash val="dash"/>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sp>
          <p:nvSpPr>
            <p:cNvPr id="78" name="Rectangle 10">
              <a:extLst>
                <a:ext uri="{FF2B5EF4-FFF2-40B4-BE49-F238E27FC236}">
                  <a16:creationId xmlns:a16="http://schemas.microsoft.com/office/drawing/2014/main" id="{ECE3E36B-9730-4908-B11D-232D823BF142}"/>
                </a:ext>
              </a:extLst>
            </p:cNvPr>
            <p:cNvSpPr>
              <a:spLocks noChangeArrowheads="1"/>
            </p:cNvSpPr>
            <p:nvPr/>
          </p:nvSpPr>
          <p:spPr bwMode="auto">
            <a:xfrm>
              <a:off x="7364344" y="4435650"/>
              <a:ext cx="414997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9400">
                <a:defRPr>
                  <a:solidFill>
                    <a:schemeClr val="tx1"/>
                  </a:solidFill>
                  <a:latin typeface="Times New Roman" panose="020B0604020202020204" pitchFamily="34" charset="0"/>
                  <a:ea typeface="SimSun"/>
                  <a:cs typeface="Times New Roman"/>
                </a:defRPr>
              </a:lvl1pPr>
              <a:lvl2pPr>
                <a:defRPr>
                  <a:solidFill>
                    <a:schemeClr val="tx1"/>
                  </a:solidFill>
                  <a:latin typeface="Times New Roman" panose="020B0604020202020204" pitchFamily="34" charset="0"/>
                  <a:ea typeface="SimSun"/>
                  <a:cs typeface="Times New Roman"/>
                </a:defRPr>
              </a:lvl2pPr>
              <a:lvl3pPr>
                <a:defRPr>
                  <a:solidFill>
                    <a:schemeClr val="tx1"/>
                  </a:solidFill>
                  <a:latin typeface="Times New Roman" panose="020B0604020202020204" pitchFamily="34" charset="0"/>
                  <a:ea typeface="SimSun"/>
                  <a:cs typeface="Times New Roman"/>
                </a:defRPr>
              </a:lvl3pPr>
              <a:lvl4pPr>
                <a:defRPr>
                  <a:solidFill>
                    <a:schemeClr val="tx1"/>
                  </a:solidFill>
                  <a:latin typeface="Times New Roman" panose="020B0604020202020204" pitchFamily="34" charset="0"/>
                  <a:ea typeface="SimSun"/>
                  <a:cs typeface="Times New Roman"/>
                </a:defRPr>
              </a:lvl4pPr>
              <a:lvl5pPr>
                <a:defRPr>
                  <a:solidFill>
                    <a:schemeClr val="tx1"/>
                  </a:solidFill>
                  <a:latin typeface="Times New Roman" panose="020B0604020202020204" pitchFamily="34" charset="0"/>
                  <a:ea typeface="SimSun"/>
                  <a:cs typeface="Times New Roman"/>
                </a:defRPr>
              </a:lvl5pPr>
              <a:lvl6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6pPr>
              <a:lvl7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7pPr>
              <a:lvl8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8pPr>
              <a:lvl9pPr eaLnBrk="0" fontAlgn="base" hangingPunct="0">
                <a:spcBef>
                  <a:spcPct val="0"/>
                </a:spcBef>
                <a:spcAft>
                  <a:spcPct val="0"/>
                </a:spcAft>
                <a:defRPr>
                  <a:solidFill>
                    <a:schemeClr val="tx1"/>
                  </a:solidFill>
                  <a:latin typeface="Times New Roman" panose="020B0604020202020204" pitchFamily="34" charset="0"/>
                  <a:ea typeface="SimSun"/>
                  <a:cs typeface="Times New Roman"/>
                </a:defRPr>
              </a:lvl9pPr>
            </a:lstStyle>
            <a:p>
              <a:pPr marL="0" marR="0" lvl="0" indent="279400" algn="ctr" defTabSz="914400" rtl="0" eaLnBrk="0" fontAlgn="base" latinLnBrk="0" hangingPunct="0">
                <a:lnSpc>
                  <a:spcPct val="100000"/>
                </a:lnSpc>
                <a:spcBef>
                  <a:spcPct val="0"/>
                </a:spcBef>
                <a:spcAft>
                  <a:spcPct val="0"/>
                </a:spcAft>
                <a:buClrTx/>
                <a:buSzTx/>
                <a:buFontTx/>
                <a:buNone/>
                <a:tabLst/>
              </a:pPr>
              <a:r>
                <a:rPr kumimoji="0" lang="en-US" altLang="en-US" sz="902"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(a) Upper side c  (b) Lower side</a:t>
              </a:r>
              <a:endParaRPr kumimoji="0" lang="en-US" altLang="en-US" sz="656" b="0" i="0" u="none" strike="noStrike" cap="none" normalizeH="0" baseline="0" dirty="0">
                <a:ln>
                  <a:noFill/>
                </a:ln>
                <a:solidFill>
                  <a:schemeClr val="tx1"/>
                </a:solidFill>
                <a:effectLst/>
                <a:latin typeface="Times New Roman" panose="02020603050405020304" pitchFamily="18" charset="0"/>
                <a:ea typeface="SimSun"/>
                <a:cs typeface="Times New Roman" panose="02020603050405020304" pitchFamily="18" charset="0"/>
              </a:endParaRPr>
            </a:p>
          </p:txBody>
        </p:sp>
        <p:sp>
          <p:nvSpPr>
            <p:cNvPr id="79" name="文本框 78">
              <a:extLst>
                <a:ext uri="{FF2B5EF4-FFF2-40B4-BE49-F238E27FC236}">
                  <a16:creationId xmlns:a16="http://schemas.microsoft.com/office/drawing/2014/main" id="{DDBB30D2-0C98-4E78-9C08-19036B22342E}"/>
                </a:ext>
              </a:extLst>
            </p:cNvPr>
            <p:cNvSpPr txBox="1"/>
            <p:nvPr/>
          </p:nvSpPr>
          <p:spPr>
            <a:xfrm>
              <a:off x="4424317" y="5208499"/>
              <a:ext cx="3296686" cy="1231043"/>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The water vapor concentration significantly </a:t>
              </a:r>
              <a:r>
                <a:rPr lang="en-HK"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higher</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The water membrane transfers more mass to the airflow.</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p:txBody>
        </p:sp>
      </p:grpSp>
      <p:sp>
        <p:nvSpPr>
          <p:cNvPr id="3279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9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中文要点｜轴向分布特征</a:t>
            </a:r>
          </a:p>
          <a:p>
            <a:pPr>
              <a:lnSpc>
                <a:spcPct val="108000"/>
              </a:lnSpc>
              <a:spcAft>
                <a:spcPts val="0"/>
              </a:spcAft>
            </a:pPr>
            <a:r>
              <a:rPr sz="1400" b="0">
                <a:solidFill>
                  <a:srgbClr val="282828"/>
                </a:solidFill>
                <a:latin typeface="Times New Roman"/>
                <a:ea typeface="SimSun"/>
                <a:cs typeface="Times New Roman"/>
              </a:rPr>
              <a:t>连续、均匀的水膜有利于传热传质；局部聚集与覆盖不足会限制水分向气流传递及降温效果。</a:t>
            </a:r>
          </a:p>
        </p:txBody>
      </p:sp>
    </p:spTree>
    <p:extLst>
      <p:ext uri="{BB962C8B-B14F-4D97-AF65-F5344CB8AC3E}">
        <p14:creationId xmlns:p14="http://schemas.microsoft.com/office/powerpoint/2010/main" val="397184887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52</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21"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spcBef>
                  <a:spcPts val="984"/>
                </a:spcBef>
                <a:spcAft>
                  <a:spcPts val="984"/>
                </a:spcAft>
                <a:buClrTx/>
                <a:buFont typeface="Wingdings" panose="05000000000000000000" pitchFamily="2" charset="2"/>
                <a:buChar char="Ø"/>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Specific gaps in the four configurations</a:t>
              </a:r>
            </a:p>
          </p:txBody>
        </p:sp>
        <p:sp>
          <p:nvSpPr>
            <p:cNvPr id="10" name="文本框 9">
              <a:extLst>
                <a:ext uri="{FF2B5EF4-FFF2-40B4-BE49-F238E27FC236}">
                  <a16:creationId xmlns:a16="http://schemas.microsoft.com/office/drawing/2014/main" id="{F6E5958E-E7A8-8206-F4C3-2DB88B2C8BC3}"/>
                </a:ext>
              </a:extLst>
            </p:cNvPr>
            <p:cNvSpPr txBox="1"/>
            <p:nvPr/>
          </p:nvSpPr>
          <p:spPr>
            <a:xfrm>
              <a:off x="3371682" y="5024765"/>
              <a:ext cx="4895850" cy="280270"/>
            </a:xfrm>
            <a:prstGeom prst="rect">
              <a:avLst/>
            </a:prstGeom>
            <a:noFill/>
          </p:spPr>
          <p:txBody>
            <a:bodyPr wrap="square">
              <a:spAutoFit/>
            </a:bodyPr>
            <a:lstStyle/>
            <a:p>
              <a:pPr algn="ctr">
                <a:lnSpc>
                  <a:spcPct val="107000"/>
                </a:lnSpc>
                <a:spcAft>
                  <a:spcPts val="656"/>
                </a:spcAft>
              </a:pPr>
              <a:r>
                <a:rPr lang="en-US" altLang="zh-CN" sz="984" b="1" dirty="0">
                  <a:latin typeface="Times New Roman" panose="02020603050405020304" pitchFamily="18" charset="0"/>
                  <a:ea typeface="SimSun" panose="02010600030101010101" pitchFamily="2" charset="-122"/>
                  <a:cs typeface="Times New Roman" panose="02020603050405020304" pitchFamily="18" charset="0"/>
                </a:rPr>
                <a:t>Fig. 8.5 </a:t>
              </a:r>
              <a:r>
                <a:rPr lang="en-US" altLang="zh-CN" sz="984" dirty="0">
                  <a:latin typeface="Times New Roman" panose="02020603050405020304" pitchFamily="18" charset="0"/>
                  <a:ea typeface="SimSun" panose="02010600030101010101" pitchFamily="2" charset="-122"/>
                  <a:cs typeface="Times New Roman" panose="02020603050405020304" pitchFamily="18" charset="0"/>
                </a:rPr>
                <a:t>The coverage ratio and outlet temperature of four configurations</a:t>
              </a:r>
              <a:endParaRPr lang="zh-CN" altLang="zh-CN" sz="984"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1891380" y="5437664"/>
              <a:ext cx="8754206" cy="967573"/>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temperature drop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follows the same trend as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the water film coverage coefficient</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The best results are achieved in 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upper side</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configuration, with a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59.2%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and</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 27.4%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improvement compared to the worst one. </a:t>
              </a: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A0558D33-4505-4D7C-801F-DDEC2DE4CC81}"/>
                </a:ext>
              </a:extLst>
            </p:cNvPr>
            <p:cNvGraphicFramePr>
              <a:graphicFrameLocks noChangeAspect="1"/>
            </p:cNvGraphicFramePr>
            <p:nvPr/>
          </p:nvGraphicFramePr>
          <p:xfrm>
            <a:off x="3212064" y="1485357"/>
            <a:ext cx="4895851" cy="3685641"/>
          </p:xfrm>
          <a:graphic>
            <a:graphicData uri="http://schemas.openxmlformats.org/presentationml/2006/ole">
              <mc:AlternateContent xmlns:mc="http://schemas.openxmlformats.org/markup-compatibility/2006">
                <mc:Choice xmlns:v="urn:schemas-microsoft-com:vml" Requires="v">
                  <p:oleObj name="Graph" r:id="rId3" imgW="6662246" imgH="5004486" progId="Origin95.Graph">
                    <p:embed/>
                  </p:oleObj>
                </mc:Choice>
                <mc:Fallback>
                  <p:oleObj name="Graph" r:id="rId3" imgW="6662246" imgH="5004486" progId="Origin95.Graph">
                    <p:embed/>
                    <p:pic>
                      <p:nvPicPr>
                        <p:cNvPr id="13" name="对象 12">
                          <a:extLst>
                            <a:ext uri="{FF2B5EF4-FFF2-40B4-BE49-F238E27FC236}">
                              <a16:creationId xmlns:a16="http://schemas.microsoft.com/office/drawing/2014/main" id="{A0558D33-4505-4D7C-801F-DDEC2DE4C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064" y="1485357"/>
                          <a:ext cx="4895851" cy="3685641"/>
                        </a:xfrm>
                        <a:prstGeom prst="rect">
                          <a:avLst/>
                        </a:prstGeom>
                        <a:noFill/>
                      </p:spPr>
                    </p:pic>
                  </p:oleObj>
                </mc:Fallback>
              </mc:AlternateContent>
            </a:graphicData>
          </a:graphic>
        </p:graphicFrame>
      </p:grpSp>
      <p:sp>
        <p:nvSpPr>
          <p:cNvPr id="2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中文要点｜四种布置的性能差异</a:t>
            </a:r>
          </a:p>
          <a:p>
            <a:pPr>
              <a:lnSpc>
                <a:spcPct val="108000"/>
              </a:lnSpc>
              <a:spcAft>
                <a:spcPts val="0"/>
              </a:spcAft>
            </a:pPr>
            <a:r>
              <a:rPr sz="1400" b="0">
                <a:solidFill>
                  <a:srgbClr val="282828"/>
                </a:solidFill>
                <a:latin typeface="Times New Roman"/>
                <a:ea typeface="SimSun"/>
                <a:cs typeface="Times New Roman"/>
              </a:rPr>
              <a:t>上侧布置效果最佳；原文两项指标相对最差方案分别提升 </a:t>
            </a:r>
            <a:r>
              <a:rPr sz="1400" b="1">
                <a:solidFill>
                  <a:srgbClr val="282828"/>
                </a:solidFill>
                <a:latin typeface="Times New Roman"/>
                <a:ea typeface="SimSun"/>
                <a:cs typeface="Times New Roman"/>
              </a:rPr>
              <a:t>59.2%</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27.4%</a:t>
            </a:r>
            <a:r>
              <a:rPr sz="1400" b="0">
                <a:solidFill>
                  <a:srgbClr val="282828"/>
                </a:solidFill>
                <a:latin typeface="Times New Roman"/>
                <a:ea typeface="SimSun"/>
                <a:cs typeface="Times New Roman"/>
              </a:rPr>
              <a:t>，温降与水膜覆盖呈同向变化。</a:t>
            </a:r>
          </a:p>
        </p:txBody>
      </p:sp>
    </p:spTree>
    <p:extLst>
      <p:ext uri="{BB962C8B-B14F-4D97-AF65-F5344CB8AC3E}">
        <p14:creationId xmlns:p14="http://schemas.microsoft.com/office/powerpoint/2010/main" val="320442060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dirty="0">
              <a:latin typeface="Times New Roman"/>
              <a:ea typeface="SimSun"/>
              <a:cs typeface="Times New Roman"/>
            </a:endParaRPr>
          </a:p>
        </p:txBody>
      </p:sp>
      <p:sp>
        <p:nvSpPr>
          <p:cNvPr id="24" name="Rectangle 14">
            <a:extLst>
              <a:ext uri="{FF2B5EF4-FFF2-40B4-BE49-F238E27FC236}">
                <a16:creationId xmlns:a16="http://schemas.microsoft.com/office/drawing/2014/main" id="{EBCCB8FA-719F-CE4B-F3AA-02975446B696}"/>
              </a:ext>
            </a:extLst>
          </p:cNvPr>
          <p:cNvSpPr>
            <a:spLocks noChangeArrowheads="1"/>
          </p:cNvSpPr>
          <p:nvPr/>
        </p:nvSpPr>
        <p:spPr bwMode="auto">
          <a:xfrm>
            <a:off x="5790583" y="242501"/>
            <a:ext cx="9156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1200">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a:latin typeface="Times New Roman" panose="020B0604020202020204" pitchFamily="34" charset="0"/>
              <a:ea typeface="SimSun"/>
              <a:cs typeface="Times New Roman"/>
            </a:endParaRPr>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2F6D8629-5047-366A-F737-676469A2D7C9}"/>
                  </a:ext>
                </a:extLst>
              </p:cNvPr>
              <p:cNvSpPr txBox="1"/>
              <p:nvPr/>
            </p:nvSpPr>
            <p:spPr>
              <a:xfrm>
                <a:off x="10442704" y="2146979"/>
                <a:ext cx="322203" cy="369332"/>
              </a:xfrm>
              <a:prstGeom prst="rect">
                <a:avLst/>
              </a:prstGeom>
              <a:noFill/>
            </p:spPr>
            <p:txBody>
              <a:bodyPr wrap="none" lIns="0" tIns="0" rIns="0" bIns="0" rtlCol="0">
                <a:spAutoFit/>
              </a:bodyPr>
              <a:lstStyle/>
              <a:p>
                <a:pPr/>
                <a14:m>
                  <m:oMathPara xmlns:m="http://schemas.openxmlformats.org/officeDocument/2006/math">
                    <m:oMath>
                      <m:r>
                        <a:rPr lang="zh-CN" altLang="en-US" i="1">
                          <a:latin typeface="Times New Roman" panose="02040503050406030204" pitchFamily="18" charset="0"/>
                          <a:ea typeface="SimSun"/>
                          <a:cs typeface="Times New Roman"/>
                        </a:rPr>
                        <m:t>≈</m:t>
                      </m:r>
                    </m:oMath>
                  </m:oMathPara>
                </a14:m>
                <a:endParaRPr lang="zh-CN" altLang="en-US" dirty="0">
                  <a:latin typeface="Times New Roman"/>
                  <a:ea typeface="SimSun"/>
                  <a:cs typeface="Times New Roman"/>
                </a:endParaRPr>
              </a:p>
            </p:txBody>
          </p:sp>
        </mc:Choice>
        <mc:Fallback xmlns="">
          <p:sp>
            <p:nvSpPr>
              <p:cNvPr id="42" name="文本框 41">
                <a:extLst>
                  <a:ext uri="{FF2B5EF4-FFF2-40B4-BE49-F238E27FC236}">
                    <a16:creationId xmlns:a16="http://schemas.microsoft.com/office/drawing/2014/main" id="{2F6D8629-5047-366A-F737-676469A2D7C9}"/>
                  </a:ext>
                </a:extLst>
              </p:cNvPr>
              <p:cNvSpPr txBox="1">
                <a:spLocks noRot="1" noChangeAspect="1" noMove="1" noResize="1" noEditPoints="1" noAdjustHandles="1" noChangeArrowheads="1" noChangeShapeType="1" noTextEdit="1"/>
              </p:cNvSpPr>
              <p:nvPr/>
            </p:nvSpPr>
            <p:spPr>
              <a:xfrm>
                <a:off x="10442704" y="2146979"/>
                <a:ext cx="322203" cy="369332"/>
              </a:xfrm>
              <a:prstGeom prst="rect">
                <a:avLst/>
              </a:prstGeom>
              <a:blipFill>
                <a:blip r:embed="rId9"/>
                <a:stretch>
                  <a:fillRect l="-5660" r="-7547"/>
                </a:stretch>
              </a:blipFill>
            </p:spPr>
            <p:txBody>
              <a:bodyPr/>
              <a:lstStyle/>
              <a:p>
                <a:r>
                  <a:rPr lang="en-US">
                    <a:noFill/>
                    <a:latin typeface="Times New Roman"/>
                    <a:ea typeface="SimSun"/>
                    <a:cs typeface="Times New Roman"/>
                  </a:rPr>
                  <a:t> </a:t>
                </a:r>
              </a:p>
            </p:txBody>
          </p:sp>
        </mc:Fallback>
      </mc:AlternateContent>
      <p:sp>
        <p:nvSpPr>
          <p:cNvPr id="2" name="灯片编号占位符 1">
            <a:extLst>
              <a:ext uri="{FF2B5EF4-FFF2-40B4-BE49-F238E27FC236}">
                <a16:creationId xmlns:a16="http://schemas.microsoft.com/office/drawing/2014/main" id="{D382A779-A490-47CF-8456-61598D498408}"/>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53</a:t>
            </a:fld>
            <a:endParaRPr lang="en-US" altLang="zh-CN">
              <a:latin typeface="Times New Roman"/>
              <a:ea typeface="SimSun"/>
              <a:cs typeface="Times New Roman"/>
            </a:endParaRPr>
          </a:p>
        </p:txBody>
      </p:sp>
      <p:sp>
        <p:nvSpPr>
          <p:cNvPr id="46" name="矩形 3">
            <a:extLst>
              <a:ext uri="{FF2B5EF4-FFF2-40B4-BE49-F238E27FC236}">
                <a16:creationId xmlns:a16="http://schemas.microsoft.com/office/drawing/2014/main" id="{44FA7186-E2A9-461D-8F58-50183D417095}"/>
              </a:ext>
            </a:extLst>
          </p:cNvPr>
          <p:cNvSpPr>
            <a:spLocks noChangeArrowheads="1"/>
          </p:cNvSpPr>
          <p:nvPr/>
        </p:nvSpPr>
        <p:spPr bwMode="auto">
          <a:xfrm>
            <a:off x="885366" y="-57982"/>
            <a:ext cx="10786173"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grpSp>
        <p:nvGrpSpPr>
          <p:cNvPr id="12302" name="Original English content (proportional layout)"/>
          <p:cNvGrpSpPr/>
          <p:nvPr/>
        </p:nvGrpSpPr>
        <p:grpSpPr>
          <a:xfrm>
            <a:off x="1097280" y="731520"/>
            <a:ext cx="9997440" cy="5023714"/>
            <a:chOff x="0" y="731520"/>
            <a:chExt cx="12192000" cy="6126480"/>
          </a:xfrm>
        </p:grpSpPr>
        <p:sp>
          <p:nvSpPr>
            <p:cNvPr id="10" name="Rectangle 7">
              <a:extLst>
                <a:ext uri="{FF2B5EF4-FFF2-40B4-BE49-F238E27FC236}">
                  <a16:creationId xmlns:a16="http://schemas.microsoft.com/office/drawing/2014/main" id="{4D3BD20E-6F9F-B7C8-61C3-26038124BDA9}"/>
                </a:ext>
              </a:extLst>
            </p:cNvPr>
            <p:cNvSpPr>
              <a:spLocks noChangeArrowheads="1"/>
            </p:cNvSpPr>
            <p:nvPr/>
          </p:nvSpPr>
          <p:spPr bwMode="auto">
            <a:xfrm>
              <a:off x="7031666" y="227926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Rectangle 6">
              <a:extLst>
                <a:ext uri="{FF2B5EF4-FFF2-40B4-BE49-F238E27FC236}">
                  <a16:creationId xmlns:a16="http://schemas.microsoft.com/office/drawing/2014/main" id="{D944ADA9-E4DB-BAC5-2E46-A5A8D1CB4638}"/>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4" name="Rectangle 17">
              <a:extLst>
                <a:ext uri="{FF2B5EF4-FFF2-40B4-BE49-F238E27FC236}">
                  <a16:creationId xmlns:a16="http://schemas.microsoft.com/office/drawing/2014/main" id="{B6814F37-8742-0A4B-35F4-435FCCA16CB7}"/>
                </a:ext>
              </a:extLst>
            </p:cNvPr>
            <p:cNvSpPr>
              <a:spLocks noChangeArrowheads="1"/>
            </p:cNvSpPr>
            <p:nvPr/>
          </p:nvSpPr>
          <p:spPr bwMode="auto">
            <a:xfrm>
              <a:off x="6779004" y="57672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pic>
          <p:nvPicPr>
            <p:cNvPr id="12294" name="图片 28">
              <a:extLst>
                <a:ext uri="{FF2B5EF4-FFF2-40B4-BE49-F238E27FC236}">
                  <a16:creationId xmlns:a16="http://schemas.microsoft.com/office/drawing/2014/main" id="{44D582F8-18F3-4DEC-0F26-A67449609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099" y="4679707"/>
              <a:ext cx="197167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2293" name="图片 19">
              <a:extLst>
                <a:ext uri="{FF2B5EF4-FFF2-40B4-BE49-F238E27FC236}">
                  <a16:creationId xmlns:a16="http://schemas.microsoft.com/office/drawing/2014/main" id="{55A18780-3657-33A9-3010-C344F3D9E6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5183" y="4699175"/>
              <a:ext cx="2005013" cy="19812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8">
              <a:extLst>
                <a:ext uri="{FF2B5EF4-FFF2-40B4-BE49-F238E27FC236}">
                  <a16:creationId xmlns:a16="http://schemas.microsoft.com/office/drawing/2014/main" id="{039425B3-1176-DAEB-7DA4-C7499804003B}"/>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pic>
          <p:nvPicPr>
            <p:cNvPr id="12301" name="图片 16">
              <a:extLst>
                <a:ext uri="{FF2B5EF4-FFF2-40B4-BE49-F238E27FC236}">
                  <a16:creationId xmlns:a16="http://schemas.microsoft.com/office/drawing/2014/main" id="{B787976E-0295-D959-6756-4C54785DD7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1240" y="4681814"/>
              <a:ext cx="1990725" cy="1976438"/>
            </a:xfrm>
            <a:prstGeom prst="rect">
              <a:avLst/>
            </a:prstGeom>
            <a:noFill/>
            <a:extLst>
              <a:ext uri="{909E8E84-426E-40DD-AFC4-6F175D3DCCD1}">
                <a14:hiddenFill xmlns:a14="http://schemas.microsoft.com/office/drawing/2010/main">
                  <a:solidFill>
                    <a:srgbClr val="FFFFFF"/>
                  </a:solidFill>
                </a14:hiddenFill>
              </a:ext>
            </a:extLst>
          </p:spPr>
        </p:pic>
        <p:pic>
          <p:nvPicPr>
            <p:cNvPr id="12300" name="图片 10">
              <a:extLst>
                <a:ext uri="{FF2B5EF4-FFF2-40B4-BE49-F238E27FC236}">
                  <a16:creationId xmlns:a16="http://schemas.microsoft.com/office/drawing/2014/main" id="{22E7B2F8-133F-7230-6BA2-4AC6104C30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7215" y="4699175"/>
              <a:ext cx="1995488" cy="1981200"/>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0">
              <a:extLst>
                <a:ext uri="{FF2B5EF4-FFF2-40B4-BE49-F238E27FC236}">
                  <a16:creationId xmlns:a16="http://schemas.microsoft.com/office/drawing/2014/main" id="{E25C9383-1457-16FB-D187-1745D52A2B69}"/>
                </a:ext>
              </a:extLst>
            </p:cNvPr>
            <p:cNvSpPr>
              <a:spLocks noChangeArrowheads="1"/>
            </p:cNvSpPr>
            <p:nvPr/>
          </p:nvSpPr>
          <p:spPr bwMode="auto">
            <a:xfrm>
              <a:off x="4729772" y="1074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pic>
          <p:nvPicPr>
            <p:cNvPr id="31" name="图片 30">
              <a:extLst>
                <a:ext uri="{FF2B5EF4-FFF2-40B4-BE49-F238E27FC236}">
                  <a16:creationId xmlns:a16="http://schemas.microsoft.com/office/drawing/2014/main" id="{1F590254-124A-054D-2EAD-9E3BDB1948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59937" y="1724473"/>
              <a:ext cx="1699717" cy="2880000"/>
            </a:xfrm>
            <a:prstGeom prst="rect">
              <a:avLst/>
            </a:prstGeom>
          </p:spPr>
        </p:pic>
        <p:sp>
          <p:nvSpPr>
            <p:cNvPr id="33" name="Content Placeholder 23">
              <a:extLst>
                <a:ext uri="{FF2B5EF4-FFF2-40B4-BE49-F238E27FC236}">
                  <a16:creationId xmlns:a16="http://schemas.microsoft.com/office/drawing/2014/main" id="{120A189C-F83B-24CC-1955-EEEA7ADF6B77}"/>
                </a:ext>
              </a:extLst>
            </p:cNvPr>
            <p:cNvSpPr txBox="1">
              <a:spLocks/>
            </p:cNvSpPr>
            <p:nvPr/>
          </p:nvSpPr>
          <p:spPr bwMode="auto">
            <a:xfrm>
              <a:off x="350383" y="906684"/>
              <a:ext cx="6568348"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6.4 Approaches for cooling performance enhancement</a:t>
              </a:r>
            </a:p>
          </p:txBody>
        </p:sp>
        <p:sp>
          <p:nvSpPr>
            <p:cNvPr id="34" name="文本框 33">
              <a:extLst>
                <a:ext uri="{FF2B5EF4-FFF2-40B4-BE49-F238E27FC236}">
                  <a16:creationId xmlns:a16="http://schemas.microsoft.com/office/drawing/2014/main" id="{6B54303A-CEA9-54E3-7C6C-6E4C19CB6349}"/>
                </a:ext>
              </a:extLst>
            </p:cNvPr>
            <p:cNvSpPr txBox="1"/>
            <p:nvPr/>
          </p:nvSpPr>
          <p:spPr>
            <a:xfrm>
              <a:off x="418910" y="1310895"/>
              <a:ext cx="5520637"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Hydrophilic coating (Epoxy coating-Hydrophilic lacquer)</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35" name="文本框 34">
              <a:extLst>
                <a:ext uri="{FF2B5EF4-FFF2-40B4-BE49-F238E27FC236}">
                  <a16:creationId xmlns:a16="http://schemas.microsoft.com/office/drawing/2014/main" id="{3B141EB2-BE23-5665-A1D8-CB4399D6F961}"/>
                </a:ext>
              </a:extLst>
            </p:cNvPr>
            <p:cNvSpPr txBox="1"/>
            <p:nvPr/>
          </p:nvSpPr>
          <p:spPr>
            <a:xfrm>
              <a:off x="6159499" y="1338301"/>
              <a:ext cx="4981245"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Fiber coating (</a:t>
              </a: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70% rayon + 30% polyester textile</a:t>
              </a: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a:t>
              </a:r>
              <a:endParaRPr lang="zh-CN" altLang="en-US" sz="1312" b="1" dirty="0">
                <a:latin typeface="Times New Roman" panose="02020603050405020304" pitchFamily="18" charset="0"/>
                <a:ea typeface="SimSun"/>
                <a:cs typeface="Times New Roman" panose="02020603050405020304" pitchFamily="18" charset="0"/>
              </a:endParaRPr>
            </a:p>
          </p:txBody>
        </p:sp>
        <p:pic>
          <p:nvPicPr>
            <p:cNvPr id="7" name="图片 6">
              <a:extLst>
                <a:ext uri="{FF2B5EF4-FFF2-40B4-BE49-F238E27FC236}">
                  <a16:creationId xmlns:a16="http://schemas.microsoft.com/office/drawing/2014/main" id="{AF6F6F8B-EB72-3852-61D0-0C80928DC14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16401" y="1767490"/>
              <a:ext cx="3658617" cy="2880000"/>
            </a:xfrm>
            <a:prstGeom prst="rect">
              <a:avLst/>
            </a:prstGeom>
          </p:spPr>
        </p:pic>
        <p:sp>
          <p:nvSpPr>
            <p:cNvPr id="37" name="文本框 36">
              <a:extLst>
                <a:ext uri="{FF2B5EF4-FFF2-40B4-BE49-F238E27FC236}">
                  <a16:creationId xmlns:a16="http://schemas.microsoft.com/office/drawing/2014/main" id="{7449E9A1-15F7-7570-0F4E-0C7E61E37CDE}"/>
                </a:ext>
              </a:extLst>
            </p:cNvPr>
            <p:cNvSpPr txBox="1"/>
            <p:nvPr/>
          </p:nvSpPr>
          <p:spPr>
            <a:xfrm>
              <a:off x="4394478" y="3383568"/>
              <a:ext cx="1174048" cy="400110"/>
            </a:xfrm>
            <a:prstGeom prst="rect">
              <a:avLst/>
            </a:prstGeom>
            <a:noFill/>
          </p:spPr>
          <p:txBody>
            <a:bodyPr wrap="square">
              <a:spAutoFit/>
            </a:bodyPr>
            <a:lstStyle/>
            <a:p>
              <a:r>
                <a:rPr lang="en-US" altLang="zh-CN" sz="1640" b="1" dirty="0">
                  <a:latin typeface="Times New Roman" panose="02020603050405020304" pitchFamily="18" charset="0"/>
                  <a:ea typeface="SimSun" panose="02010600030101010101" pitchFamily="2" charset="-122"/>
                  <a:cs typeface="Times New Roman" panose="02020603050405020304" pitchFamily="18" charset="0"/>
                </a:rPr>
                <a:t>57.8°</a:t>
              </a:r>
              <a:endParaRPr lang="zh-CN" altLang="en-US" sz="1640" dirty="0">
                <a:latin typeface="Times New Roman"/>
                <a:ea typeface="SimSun"/>
                <a:cs typeface="Times New Roman"/>
              </a:endParaRPr>
            </a:p>
          </p:txBody>
        </p:sp>
        <p:sp>
          <p:nvSpPr>
            <p:cNvPr id="38" name="文本框 37">
              <a:extLst>
                <a:ext uri="{FF2B5EF4-FFF2-40B4-BE49-F238E27FC236}">
                  <a16:creationId xmlns:a16="http://schemas.microsoft.com/office/drawing/2014/main" id="{B76911C3-9765-E347-726E-21D654A39527}"/>
                </a:ext>
              </a:extLst>
            </p:cNvPr>
            <p:cNvSpPr txBox="1"/>
            <p:nvPr/>
          </p:nvSpPr>
          <p:spPr>
            <a:xfrm>
              <a:off x="4393627" y="2413145"/>
              <a:ext cx="1174048" cy="400110"/>
            </a:xfrm>
            <a:prstGeom prst="rect">
              <a:avLst/>
            </a:prstGeom>
            <a:noFill/>
          </p:spPr>
          <p:txBody>
            <a:bodyPr wrap="square">
              <a:spAutoFit/>
            </a:bodyPr>
            <a:lstStyle/>
            <a:p>
              <a:r>
                <a:rPr lang="en-US" altLang="zh-CN" sz="1640" b="1" dirty="0">
                  <a:latin typeface="Times New Roman" panose="02020603050405020304" pitchFamily="18" charset="0"/>
                  <a:ea typeface="SimSun" panose="02010600030101010101" pitchFamily="2" charset="-122"/>
                  <a:cs typeface="Times New Roman" panose="02020603050405020304" pitchFamily="18" charset="0"/>
                </a:rPr>
                <a:t>77.8°</a:t>
              </a:r>
              <a:endParaRPr lang="zh-CN" altLang="en-US" sz="1640" dirty="0">
                <a:latin typeface="Times New Roman"/>
                <a:ea typeface="SimSun"/>
                <a:cs typeface="Times New Roman"/>
              </a:endParaRPr>
            </a:p>
          </p:txBody>
        </p:sp>
        <p:sp>
          <p:nvSpPr>
            <p:cNvPr id="39" name="箭头: 上 38">
              <a:extLst>
                <a:ext uri="{FF2B5EF4-FFF2-40B4-BE49-F238E27FC236}">
                  <a16:creationId xmlns:a16="http://schemas.microsoft.com/office/drawing/2014/main" id="{FD2E61FC-80EB-D29D-1E6D-E4A1B5127912}"/>
                </a:ext>
              </a:extLst>
            </p:cNvPr>
            <p:cNvSpPr/>
            <p:nvPr/>
          </p:nvSpPr>
          <p:spPr bwMode="auto">
            <a:xfrm rot="10800000">
              <a:off x="4640139" y="2813255"/>
              <a:ext cx="168800" cy="545219"/>
            </a:xfrm>
            <a:prstGeom prst="up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2624">
                <a:solidFill>
                  <a:schemeClr val="bg2"/>
                </a:solidFill>
                <a:latin typeface="Times New Roman" charset="0"/>
                <a:ea typeface="SimSun"/>
                <a:cs typeface="Times New Roman"/>
              </a:endParaRPr>
            </a:p>
          </p:txBody>
        </p:sp>
        <p:sp>
          <p:nvSpPr>
            <p:cNvPr id="40" name="文本框 39">
              <a:extLst>
                <a:ext uri="{FF2B5EF4-FFF2-40B4-BE49-F238E27FC236}">
                  <a16:creationId xmlns:a16="http://schemas.microsoft.com/office/drawing/2014/main" id="{F3C7B98F-7DCA-1477-5CAC-21E7AAAB40E1}"/>
                </a:ext>
              </a:extLst>
            </p:cNvPr>
            <p:cNvSpPr txBox="1"/>
            <p:nvPr/>
          </p:nvSpPr>
          <p:spPr>
            <a:xfrm>
              <a:off x="4041547" y="1820942"/>
              <a:ext cx="1622534" cy="369332"/>
            </a:xfrm>
            <a:prstGeom prst="rect">
              <a:avLst/>
            </a:prstGeom>
            <a:noFill/>
          </p:spPr>
          <p:txBody>
            <a:bodyPr wrap="square">
              <a:spAutoFit/>
            </a:bodyPr>
            <a:lstStyle/>
            <a:p>
              <a:r>
                <a:rPr lang="en-US" altLang="zh-CN" sz="1476" dirty="0">
                  <a:latin typeface="Times New Roman" panose="02020603050405020304" pitchFamily="18" charset="0"/>
                  <a:ea typeface="SimSun" panose="02010600030101010101" pitchFamily="2" charset="-122"/>
                  <a:cs typeface="Times New Roman" panose="02020603050405020304" pitchFamily="18" charset="0"/>
                </a:rPr>
                <a:t>Contact angle</a:t>
              </a:r>
              <a:endParaRPr lang="zh-CN" altLang="en-US" sz="1476" dirty="0">
                <a:latin typeface="Times New Roman"/>
                <a:ea typeface="SimSun"/>
                <a:cs typeface="Times New Roman"/>
              </a:endParaRPr>
            </a:p>
          </p:txBody>
        </p:sp>
        <p:sp>
          <p:nvSpPr>
            <p:cNvPr id="41" name="文本框 40">
              <a:extLst>
                <a:ext uri="{FF2B5EF4-FFF2-40B4-BE49-F238E27FC236}">
                  <a16:creationId xmlns:a16="http://schemas.microsoft.com/office/drawing/2014/main" id="{1F21BD32-7354-E7D0-3786-180D65BF865D}"/>
                </a:ext>
              </a:extLst>
            </p:cNvPr>
            <p:cNvSpPr txBox="1"/>
            <p:nvPr/>
          </p:nvSpPr>
          <p:spPr>
            <a:xfrm>
              <a:off x="10108631" y="1833227"/>
              <a:ext cx="1622534" cy="369332"/>
            </a:xfrm>
            <a:prstGeom prst="rect">
              <a:avLst/>
            </a:prstGeom>
            <a:noFill/>
          </p:spPr>
          <p:txBody>
            <a:bodyPr wrap="square">
              <a:spAutoFit/>
            </a:bodyPr>
            <a:lstStyle/>
            <a:p>
              <a:r>
                <a:rPr lang="en-US" altLang="zh-CN" sz="1476" dirty="0">
                  <a:latin typeface="Times New Roman" panose="02020603050405020304" pitchFamily="18" charset="0"/>
                  <a:ea typeface="SimSun" panose="02010600030101010101" pitchFamily="2" charset="-122"/>
                  <a:cs typeface="Times New Roman" panose="02020603050405020304" pitchFamily="18" charset="0"/>
                </a:rPr>
                <a:t>Contact angle</a:t>
              </a:r>
              <a:endParaRPr lang="zh-CN" altLang="en-US" sz="1476" dirty="0">
                <a:latin typeface="Times New Roman"/>
                <a:ea typeface="SimSun"/>
                <a:cs typeface="Times New Roman"/>
              </a:endParaRPr>
            </a:p>
          </p:txBody>
        </p:sp>
        <p:sp>
          <p:nvSpPr>
            <p:cNvPr id="44" name="文本框 43">
              <a:extLst>
                <a:ext uri="{FF2B5EF4-FFF2-40B4-BE49-F238E27FC236}">
                  <a16:creationId xmlns:a16="http://schemas.microsoft.com/office/drawing/2014/main" id="{C4BF3078-89FA-E744-2B24-A7E46432A287}"/>
                </a:ext>
              </a:extLst>
            </p:cNvPr>
            <p:cNvSpPr txBox="1"/>
            <p:nvPr/>
          </p:nvSpPr>
          <p:spPr>
            <a:xfrm>
              <a:off x="10780218" y="2129385"/>
              <a:ext cx="710170" cy="461665"/>
            </a:xfrm>
            <a:prstGeom prst="rect">
              <a:avLst/>
            </a:prstGeom>
            <a:noFill/>
          </p:spPr>
          <p:txBody>
            <a:bodyPr wrap="square">
              <a:spAutoFit/>
            </a:bodyPr>
            <a:lstStyle/>
            <a:p>
              <a:r>
                <a:rPr lang="en-US" altLang="zh-CN" b="1" dirty="0">
                  <a:latin typeface="Times New Roman" panose="02020603050405020304" pitchFamily="18" charset="0"/>
                  <a:ea typeface="SimSun" panose="02010600030101010101" pitchFamily="2" charset="-122"/>
                  <a:cs typeface="Times New Roman" panose="02020603050405020304" pitchFamily="18" charset="0"/>
                </a:rPr>
                <a:t>0°</a:t>
              </a:r>
              <a:endParaRPr lang="zh-CN" altLang="en-US" dirty="0">
                <a:latin typeface="Times New Roman"/>
                <a:ea typeface="SimSun"/>
                <a:cs typeface="Times New Roman"/>
              </a:endParaRPr>
            </a:p>
          </p:txBody>
        </p:sp>
        <p:cxnSp>
          <p:nvCxnSpPr>
            <p:cNvPr id="45" name="直接连接符 44">
              <a:extLst>
                <a:ext uri="{FF2B5EF4-FFF2-40B4-BE49-F238E27FC236}">
                  <a16:creationId xmlns:a16="http://schemas.microsoft.com/office/drawing/2014/main" id="{8CF17AC2-6B84-8E4A-5963-65BD2A58164F}"/>
                </a:ext>
              </a:extLst>
            </p:cNvPr>
            <p:cNvCxnSpPr>
              <a:cxnSpLocks/>
            </p:cNvCxnSpPr>
            <p:nvPr/>
          </p:nvCxnSpPr>
          <p:spPr bwMode="auto">
            <a:xfrm>
              <a:off x="5870855" y="1326028"/>
              <a:ext cx="0" cy="5341472"/>
            </a:xfrm>
            <a:prstGeom prst="line">
              <a:avLst/>
            </a:prstGeom>
            <a:ln>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0" name="文本框 49">
              <a:extLst>
                <a:ext uri="{FF2B5EF4-FFF2-40B4-BE49-F238E27FC236}">
                  <a16:creationId xmlns:a16="http://schemas.microsoft.com/office/drawing/2014/main" id="{1C365F99-A87E-A483-7595-A9C235F024AE}"/>
                </a:ext>
              </a:extLst>
            </p:cNvPr>
            <p:cNvSpPr txBox="1"/>
            <p:nvPr/>
          </p:nvSpPr>
          <p:spPr>
            <a:xfrm>
              <a:off x="1009056" y="6625523"/>
              <a:ext cx="4026032" cy="276999"/>
            </a:xfrm>
            <a:prstGeom prst="rect">
              <a:avLst/>
            </a:prstGeom>
            <a:noFill/>
          </p:spPr>
          <p:txBody>
            <a:bodyPr wrap="square">
              <a:spAutoFit/>
            </a:bodyPr>
            <a:lstStyle/>
            <a:p>
              <a:r>
                <a:rPr lang="en-US" altLang="zh-CN" sz="984" dirty="0">
                  <a:latin typeface="Times New Roman"/>
                  <a:ea typeface="SimSun"/>
                  <a:cs typeface="Times New Roman"/>
                </a:rPr>
                <a:t> </a:t>
              </a:r>
              <a:r>
                <a:rPr lang="en-US" altLang="zh-CN" sz="984" dirty="0">
                  <a:latin typeface="Times New Roman" panose="02020603050405020304" pitchFamily="18" charset="0"/>
                  <a:ea typeface="SimSun"/>
                  <a:cs typeface="Times New Roman" panose="02020603050405020304" pitchFamily="18" charset="0"/>
                </a:rPr>
                <a:t>(a) Water film distribution           (b) Temperature distribution</a:t>
              </a:r>
              <a:endParaRPr lang="zh-CN" altLang="en-US" sz="984" dirty="0">
                <a:latin typeface="Times New Roman" panose="02020603050405020304" pitchFamily="18" charset="0"/>
                <a:ea typeface="SimSun"/>
                <a:cs typeface="Times New Roman" panose="02020603050405020304" pitchFamily="18" charset="0"/>
              </a:endParaRPr>
            </a:p>
          </p:txBody>
        </p:sp>
        <p:sp>
          <p:nvSpPr>
            <p:cNvPr id="51" name="文本框 50">
              <a:extLst>
                <a:ext uri="{FF2B5EF4-FFF2-40B4-BE49-F238E27FC236}">
                  <a16:creationId xmlns:a16="http://schemas.microsoft.com/office/drawing/2014/main" id="{E8F10DAA-1B87-26D8-3295-90220589847F}"/>
                </a:ext>
              </a:extLst>
            </p:cNvPr>
            <p:cNvSpPr txBox="1"/>
            <p:nvPr/>
          </p:nvSpPr>
          <p:spPr>
            <a:xfrm>
              <a:off x="6287838" y="6630999"/>
              <a:ext cx="4026032" cy="276999"/>
            </a:xfrm>
            <a:prstGeom prst="rect">
              <a:avLst/>
            </a:prstGeom>
            <a:noFill/>
          </p:spPr>
          <p:txBody>
            <a:bodyPr wrap="square">
              <a:spAutoFit/>
            </a:bodyPr>
            <a:lstStyle/>
            <a:p>
              <a:r>
                <a:rPr lang="en-US" altLang="zh-CN" sz="984" dirty="0">
                  <a:latin typeface="Times New Roman"/>
                  <a:ea typeface="SimSun"/>
                  <a:cs typeface="Times New Roman"/>
                </a:rPr>
                <a:t> </a:t>
              </a:r>
              <a:r>
                <a:rPr lang="en-US" altLang="zh-CN" sz="984" dirty="0">
                  <a:latin typeface="Times New Roman" panose="02020603050405020304" pitchFamily="18" charset="0"/>
                  <a:ea typeface="SimSun"/>
                  <a:cs typeface="Times New Roman" panose="02020603050405020304" pitchFamily="18" charset="0"/>
                </a:rPr>
                <a:t>(a) Water film distribution            (b) Temperature distribution</a:t>
              </a:r>
              <a:endParaRPr lang="zh-CN" altLang="en-US" sz="984" dirty="0">
                <a:latin typeface="Times New Roman" panose="02020603050405020304" pitchFamily="18" charset="0"/>
                <a:ea typeface="SimSun"/>
                <a:cs typeface="Times New Roman" panose="02020603050405020304" pitchFamily="18" charset="0"/>
              </a:endParaRPr>
            </a:p>
          </p:txBody>
        </p:sp>
        <p:sp>
          <p:nvSpPr>
            <p:cNvPr id="36" name="文本框 35">
              <a:extLst>
                <a:ext uri="{FF2B5EF4-FFF2-40B4-BE49-F238E27FC236}">
                  <a16:creationId xmlns:a16="http://schemas.microsoft.com/office/drawing/2014/main" id="{010AF22C-C85B-4839-B91D-C8BECB1E531A}"/>
                </a:ext>
              </a:extLst>
            </p:cNvPr>
            <p:cNvSpPr txBox="1"/>
            <p:nvPr/>
          </p:nvSpPr>
          <p:spPr>
            <a:xfrm>
              <a:off x="10442703" y="2635685"/>
              <a:ext cx="1622534" cy="369332"/>
            </a:xfrm>
            <a:prstGeom prst="rect">
              <a:avLst/>
            </a:prstGeom>
            <a:noFill/>
          </p:spPr>
          <p:txBody>
            <a:bodyPr wrap="square">
              <a:spAutoFit/>
            </a:bodyPr>
            <a:lstStyle/>
            <a:p>
              <a:r>
                <a:rPr lang="en-US" altLang="zh-CN" sz="1476" dirty="0">
                  <a:latin typeface="Times New Roman" panose="02020603050405020304" pitchFamily="18" charset="0"/>
                  <a:ea typeface="SimSun" panose="02010600030101010101" pitchFamily="2" charset="-122"/>
                  <a:cs typeface="Times New Roman" panose="02020603050405020304" pitchFamily="18" charset="0"/>
                </a:rPr>
                <a:t>diffusion</a:t>
              </a:r>
              <a:endParaRPr lang="zh-CN" altLang="en-US" sz="1476" dirty="0">
                <a:latin typeface="Times New Roman"/>
                <a:ea typeface="SimSun"/>
                <a:cs typeface="Times New Roman"/>
              </a:endParaRPr>
            </a:p>
          </p:txBody>
        </p:sp>
      </p:grpSp>
      <p:sp>
        <p:nvSpPr>
          <p:cNvPr id="12303"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4"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中文要点｜板面强化措施</a:t>
            </a:r>
          </a:p>
          <a:p>
            <a:pPr>
              <a:lnSpc>
                <a:spcPct val="108000"/>
              </a:lnSpc>
              <a:spcAft>
                <a:spcPts val="0"/>
              </a:spcAft>
            </a:pPr>
            <a:r>
              <a:rPr sz="1400" b="0">
                <a:solidFill>
                  <a:srgbClr val="282828"/>
                </a:solidFill>
                <a:latin typeface="Times New Roman"/>
                <a:ea typeface="SimSun"/>
                <a:cs typeface="Times New Roman"/>
              </a:rPr>
              <a:t>比较亲水涂层与纤维涂层，通过降低接触角、促进水膜扩散，提高换热板的润湿性能。</a:t>
            </a:r>
          </a:p>
        </p:txBody>
      </p:sp>
    </p:spTree>
    <p:extLst>
      <p:ext uri="{BB962C8B-B14F-4D97-AF65-F5344CB8AC3E}">
        <p14:creationId xmlns:p14="http://schemas.microsoft.com/office/powerpoint/2010/main" val="511847194"/>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11" name="Rectangle 7">
            <a:extLst>
              <a:ext uri="{FF2B5EF4-FFF2-40B4-BE49-F238E27FC236}">
                <a16:creationId xmlns:a16="http://schemas.microsoft.com/office/drawing/2014/main" id="{046FEBD5-1092-2CC6-EEFD-A1D95DA62367}"/>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9" name="灯片编号占位符 8">
            <a:extLst>
              <a:ext uri="{FF2B5EF4-FFF2-40B4-BE49-F238E27FC236}">
                <a16:creationId xmlns:a16="http://schemas.microsoft.com/office/drawing/2014/main" id="{E7E9F06F-6E16-48F3-8603-287868FEF054}"/>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54</a:t>
            </a:fld>
            <a:endParaRPr lang="en-US" altLang="zh-CN">
              <a:latin typeface="Times New Roman"/>
              <a:ea typeface="SimSun"/>
              <a:cs typeface="Times New Roman"/>
            </a:endParaRPr>
          </a:p>
        </p:txBody>
      </p:sp>
      <p:sp>
        <p:nvSpPr>
          <p:cNvPr id="31" name="矩形 3">
            <a:extLst>
              <a:ext uri="{FF2B5EF4-FFF2-40B4-BE49-F238E27FC236}">
                <a16:creationId xmlns:a16="http://schemas.microsoft.com/office/drawing/2014/main" id="{5C3D3106-14F3-4FB8-9862-B7884610548A}"/>
              </a:ext>
            </a:extLst>
          </p:cNvPr>
          <p:cNvSpPr>
            <a:spLocks noChangeArrowheads="1"/>
          </p:cNvSpPr>
          <p:nvPr/>
        </p:nvSpPr>
        <p:spPr bwMode="auto">
          <a:xfrm>
            <a:off x="885366" y="-57982"/>
            <a:ext cx="10786173" cy="9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0">
              <a:lnSpc>
                <a:spcPct val="125000"/>
              </a:lnSpc>
              <a:spcBef>
                <a:spcPct val="20000"/>
              </a:spcBef>
              <a:defRPr>
                <a:latin typeface="Times New Roman"/>
                <a:ea typeface="SimSun"/>
                <a:cs typeface="Times New Roman"/>
              </a:defRPr>
            </a:pPr>
            <a:r>
              <a:rPr lang="en-US" altLang="zh-CN"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6. </a:t>
            </a:r>
            <a:r>
              <a:rPr lang="en-HK" altLang="zh-CN" b="1" dirty="0">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altLang="zh-CN" b="1" dirty="0" err="1">
                <a:latin typeface="Times New Roman" panose="02020603050405020304" pitchFamily="18" charset="0"/>
                <a:ea typeface="SimSun"/>
                <a:cs typeface="Times New Roman" panose="02020603050405020304" pitchFamily="18" charset="0"/>
              </a:rPr>
              <a:t>centers</a:t>
            </a:r>
            <a:endParaRPr lang="en-HK" altLang="zh-CN" b="1" dirty="0">
              <a:latin typeface="Times New Roman" panose="02020603050405020304" pitchFamily="18" charset="0"/>
              <a:ea typeface="SimSun"/>
              <a:cs typeface="Times New Roman" panose="02020603050405020304" pitchFamily="18" charset="0"/>
            </a:endParaRPr>
          </a:p>
        </p:txBody>
      </p:sp>
      <p:grpSp>
        <p:nvGrpSpPr>
          <p:cNvPr id="32" name="Original English content (proportional layout)"/>
          <p:cNvGrpSpPr/>
          <p:nvPr/>
        </p:nvGrpSpPr>
        <p:grpSpPr>
          <a:xfrm>
            <a:off x="1097280" y="731520"/>
            <a:ext cx="9997440" cy="5023714"/>
            <a:chOff x="0" y="731520"/>
            <a:chExt cx="12192000" cy="6126480"/>
          </a:xfrm>
        </p:grpSpPr>
        <p:sp>
          <p:nvSpPr>
            <p:cNvPr id="10" name="Rectangle 7">
              <a:extLst>
                <a:ext uri="{FF2B5EF4-FFF2-40B4-BE49-F238E27FC236}">
                  <a16:creationId xmlns:a16="http://schemas.microsoft.com/office/drawing/2014/main" id="{4D3BD20E-6F9F-B7C8-61C3-26038124BDA9}"/>
                </a:ext>
              </a:extLst>
            </p:cNvPr>
            <p:cNvSpPr>
              <a:spLocks noChangeArrowheads="1"/>
            </p:cNvSpPr>
            <p:nvPr/>
          </p:nvSpPr>
          <p:spPr bwMode="auto">
            <a:xfrm>
              <a:off x="7031666" y="227926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Rectangle 6">
              <a:extLst>
                <a:ext uri="{FF2B5EF4-FFF2-40B4-BE49-F238E27FC236}">
                  <a16:creationId xmlns:a16="http://schemas.microsoft.com/office/drawing/2014/main" id="{D944ADA9-E4DB-BAC5-2E46-A5A8D1CB4638}"/>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2" name="Rectangle 9">
              <a:extLst>
                <a:ext uri="{FF2B5EF4-FFF2-40B4-BE49-F238E27FC236}">
                  <a16:creationId xmlns:a16="http://schemas.microsoft.com/office/drawing/2014/main" id="{9A2CD8E0-562C-7D40-5D09-97609FC84490}"/>
                </a:ext>
              </a:extLst>
            </p:cNvPr>
            <p:cNvSpPr>
              <a:spLocks noChangeArrowheads="1"/>
            </p:cNvSpPr>
            <p:nvPr/>
          </p:nvSpPr>
          <p:spPr bwMode="auto">
            <a:xfrm>
              <a:off x="4178649" y="8862983"/>
              <a:ext cx="38347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(c) Upper side configuration                      (d) Lower side configuration</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Fig. 11. The water film distribution of the four nozzle configurations</a:t>
              </a:r>
              <a:endParaRPr lang="en-US" altLang="zh-CN" sz="1476">
                <a:latin typeface="Times New Roman" panose="020B0604020202020204" pitchFamily="34" charset="0"/>
                <a:ea typeface="SimSun"/>
                <a:cs typeface="Times New Roman"/>
              </a:endParaRPr>
            </a:p>
          </p:txBody>
        </p:sp>
        <p:sp>
          <p:nvSpPr>
            <p:cNvPr id="13" name="Rectangle 16">
              <a:extLst>
                <a:ext uri="{FF2B5EF4-FFF2-40B4-BE49-F238E27FC236}">
                  <a16:creationId xmlns:a16="http://schemas.microsoft.com/office/drawing/2014/main" id="{7079ADA1-6077-D0F4-96B2-9B52E3482C9B}"/>
                </a:ext>
              </a:extLst>
            </p:cNvPr>
            <p:cNvSpPr>
              <a:spLocks noChangeArrowheads="1"/>
            </p:cNvSpPr>
            <p:nvPr/>
          </p:nvSpPr>
          <p:spPr bwMode="auto">
            <a:xfrm>
              <a:off x="6285225" y="3544544"/>
              <a:ext cx="922047"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6" name="Rectangle 19">
              <a:extLst>
                <a:ext uri="{FF2B5EF4-FFF2-40B4-BE49-F238E27FC236}">
                  <a16:creationId xmlns:a16="http://schemas.microsoft.com/office/drawing/2014/main" id="{5E372CFD-AED2-99D9-953E-AC44B6632B41}"/>
                </a:ext>
              </a:extLst>
            </p:cNvPr>
            <p:cNvSpPr>
              <a:spLocks noChangeArrowheads="1"/>
            </p:cNvSpPr>
            <p:nvPr/>
          </p:nvSpPr>
          <p:spPr bwMode="auto">
            <a:xfrm>
              <a:off x="4909848" y="10277975"/>
              <a:ext cx="36728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(a) Top configuration                              (b) Bottom configuration</a:t>
              </a:r>
              <a:endParaRPr lang="en-US" altLang="zh-CN" sz="328">
                <a:latin typeface="Times New Roman"/>
                <a:ea typeface="SimSun"/>
                <a:cs typeface="Times New Roman"/>
              </a:endParaRPr>
            </a:p>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Rectangle 2">
              <a:extLst>
                <a:ext uri="{FF2B5EF4-FFF2-40B4-BE49-F238E27FC236}">
                  <a16:creationId xmlns:a16="http://schemas.microsoft.com/office/drawing/2014/main" id="{D3F246CD-5242-42C5-7BAF-F3BD7108C82B}"/>
                </a:ext>
              </a:extLst>
            </p:cNvPr>
            <p:cNvSpPr>
              <a:spLocks noChangeArrowheads="1"/>
            </p:cNvSpPr>
            <p:nvPr/>
          </p:nvSpPr>
          <p:spPr bwMode="auto">
            <a:xfrm>
              <a:off x="3177363" y="178847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1" name="Rectangle 8">
              <a:extLst>
                <a:ext uri="{FF2B5EF4-FFF2-40B4-BE49-F238E27FC236}">
                  <a16:creationId xmlns:a16="http://schemas.microsoft.com/office/drawing/2014/main" id="{039425B3-1176-DAEB-7DA4-C7499804003B}"/>
                </a:ext>
              </a:extLst>
            </p:cNvPr>
            <p:cNvSpPr>
              <a:spLocks noChangeArrowheads="1"/>
            </p:cNvSpPr>
            <p:nvPr/>
          </p:nvSpPr>
          <p:spPr bwMode="auto">
            <a:xfrm>
              <a:off x="5939547" y="2307595"/>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25" name="Rectangle 15">
              <a:extLst>
                <a:ext uri="{FF2B5EF4-FFF2-40B4-BE49-F238E27FC236}">
                  <a16:creationId xmlns:a16="http://schemas.microsoft.com/office/drawing/2014/main" id="{3C2848A0-313A-CE4D-13D5-B2C2451C03AF}"/>
                </a:ext>
              </a:extLst>
            </p:cNvPr>
            <p:cNvSpPr>
              <a:spLocks noChangeArrowheads="1"/>
            </p:cNvSpPr>
            <p:nvPr/>
          </p:nvSpPr>
          <p:spPr bwMode="auto">
            <a:xfrm>
              <a:off x="6091947" y="2455233"/>
              <a:ext cx="31290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30" name="Rectangle 20">
              <a:extLst>
                <a:ext uri="{FF2B5EF4-FFF2-40B4-BE49-F238E27FC236}">
                  <a16:creationId xmlns:a16="http://schemas.microsoft.com/office/drawing/2014/main" id="{E25C9383-1457-16FB-D187-1745D52A2B69}"/>
                </a:ext>
              </a:extLst>
            </p:cNvPr>
            <p:cNvSpPr>
              <a:spLocks noChangeArrowheads="1"/>
            </p:cNvSpPr>
            <p:nvPr/>
          </p:nvSpPr>
          <p:spPr bwMode="auto">
            <a:xfrm>
              <a:off x="4729772" y="10740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7" name="Content Placeholder 23">
              <a:extLst>
                <a:ext uri="{FF2B5EF4-FFF2-40B4-BE49-F238E27FC236}">
                  <a16:creationId xmlns:a16="http://schemas.microsoft.com/office/drawing/2014/main" id="{466B159F-0082-32B6-C383-D345196FE20F}"/>
                </a:ext>
              </a:extLst>
            </p:cNvPr>
            <p:cNvSpPr txBox="1">
              <a:spLocks/>
            </p:cNvSpPr>
            <p:nvPr/>
          </p:nvSpPr>
          <p:spPr bwMode="auto">
            <a:xfrm>
              <a:off x="320719" y="923375"/>
              <a:ext cx="5898017"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0" lvl="1" indent="0">
                <a:spcBef>
                  <a:spcPts val="984"/>
                </a:spcBef>
                <a:spcAft>
                  <a:spcPts val="984"/>
                </a:spcAft>
                <a:buClrTx/>
                <a:buNone/>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6.5 Assessment of the degree of enhancement</a:t>
              </a:r>
            </a:p>
          </p:txBody>
        </p:sp>
        <p:sp>
          <p:nvSpPr>
            <p:cNvPr id="8" name="文本框 7">
              <a:extLst>
                <a:ext uri="{FF2B5EF4-FFF2-40B4-BE49-F238E27FC236}">
                  <a16:creationId xmlns:a16="http://schemas.microsoft.com/office/drawing/2014/main" id="{F18CDE3D-6B05-B651-E8E8-5FA790D2CF83}"/>
                </a:ext>
              </a:extLst>
            </p:cNvPr>
            <p:cNvSpPr txBox="1"/>
            <p:nvPr/>
          </p:nvSpPr>
          <p:spPr>
            <a:xfrm>
              <a:off x="998525" y="1324026"/>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Effect on coverage ratio and contact angle</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22" name="文本框 21">
              <a:extLst>
                <a:ext uri="{FF2B5EF4-FFF2-40B4-BE49-F238E27FC236}">
                  <a16:creationId xmlns:a16="http://schemas.microsoft.com/office/drawing/2014/main" id="{105313E4-50FC-FB4C-44AC-873064AFEB0E}"/>
                </a:ext>
              </a:extLst>
            </p:cNvPr>
            <p:cNvSpPr txBox="1"/>
            <p:nvPr/>
          </p:nvSpPr>
          <p:spPr>
            <a:xfrm>
              <a:off x="5886406" y="1343997"/>
              <a:ext cx="4572000" cy="338554"/>
            </a:xfrm>
            <a:prstGeom prst="rect">
              <a:avLst/>
            </a:prstGeom>
            <a:noFill/>
          </p:spPr>
          <p:txBody>
            <a:bodyPr wrap="square">
              <a:spAutoFit/>
            </a:bodyPr>
            <a:lstStyle/>
            <a:p>
              <a:pPr marL="285750" indent="-285750">
                <a:spcBef>
                  <a:spcPts val="0"/>
                </a:spcBef>
                <a:buFont typeface="Wingdings" panose="05000000000000000000" pitchFamily="2" charset="2"/>
                <a:buChar char="Ø"/>
              </a:pPr>
              <a:r>
                <a:rPr lang="en-US" altLang="zh-CN" sz="1312" b="1" dirty="0">
                  <a:latin typeface="Times New Roman" panose="02020603050405020304" pitchFamily="18" charset="0"/>
                  <a:ea typeface="SimSun" panose="02010600030101010101" pitchFamily="2" charset="-122"/>
                  <a:cs typeface="Times New Roman" panose="02020603050405020304" pitchFamily="18" charset="0"/>
                </a:rPr>
                <a:t>Comparison of the three performance indexes</a:t>
              </a:r>
              <a:endParaRPr lang="zh-CN" altLang="en-US" sz="1312" b="1" dirty="0">
                <a:latin typeface="Times New Roman" panose="02020603050405020304" pitchFamily="18" charset="0"/>
                <a:ea typeface="SimSun"/>
                <a:cs typeface="Times New Roman" panose="02020603050405020304" pitchFamily="18" charset="0"/>
              </a:endParaRPr>
            </a:p>
          </p:txBody>
        </p:sp>
        <p:sp>
          <p:nvSpPr>
            <p:cNvPr id="26" name="文本框 25">
              <a:extLst>
                <a:ext uri="{FF2B5EF4-FFF2-40B4-BE49-F238E27FC236}">
                  <a16:creationId xmlns:a16="http://schemas.microsoft.com/office/drawing/2014/main" id="{AABEC4E5-8661-85F7-8E76-3E526B969F0B}"/>
                </a:ext>
              </a:extLst>
            </p:cNvPr>
            <p:cNvSpPr txBox="1"/>
            <p:nvPr/>
          </p:nvSpPr>
          <p:spPr>
            <a:xfrm>
              <a:off x="1364380" y="4741421"/>
              <a:ext cx="9455133" cy="1993879"/>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Both 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hydrophilic</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coating increase the wetting ratio by decreasing the contact angle</a:t>
              </a:r>
            </a:p>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Besides, 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coating also increases the diffusion rate of the water film compared to the hydrophilic one, thus achieving a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wetting ratio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close to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which is regarded as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complete wetting</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wet-bulb efficiency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of the IEC was optimized for both the increased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hydrophilic</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fiber</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coating on the plate surface, by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5.7%</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and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14.5%</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respectively.</a:t>
              </a:r>
            </a:p>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The energy saving by pump resulting in a further increase for fiber coating in 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COP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value of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16.1%.</a:t>
              </a:r>
            </a:p>
          </p:txBody>
        </p:sp>
        <p:sp>
          <p:nvSpPr>
            <p:cNvPr id="14" name="Rectangle 443">
              <a:extLst>
                <a:ext uri="{FF2B5EF4-FFF2-40B4-BE49-F238E27FC236}">
                  <a16:creationId xmlns:a16="http://schemas.microsoft.com/office/drawing/2014/main" id="{EA3FDF09-59A2-4EAD-8C3A-D15ACC545777}"/>
                </a:ext>
              </a:extLst>
            </p:cNvPr>
            <p:cNvSpPr>
              <a:spLocks noChangeArrowheads="1"/>
            </p:cNvSpPr>
            <p:nvPr/>
          </p:nvSpPr>
          <p:spPr bwMode="auto">
            <a:xfrm>
              <a:off x="1506104" y="169211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0" name="对象 19">
              <a:extLst>
                <a:ext uri="{FF2B5EF4-FFF2-40B4-BE49-F238E27FC236}">
                  <a16:creationId xmlns:a16="http://schemas.microsoft.com/office/drawing/2014/main" id="{75421DBD-6E01-4D05-A197-5DEE6CA9ED28}"/>
                </a:ext>
              </a:extLst>
            </p:cNvPr>
            <p:cNvGraphicFramePr>
              <a:graphicFrameLocks noChangeAspect="1"/>
            </p:cNvGraphicFramePr>
            <p:nvPr>
              <p:extLst>
                <p:ext uri="{D42A27DB-BD31-4B8C-83A1-F6EECF244321}">
                  <p14:modId xmlns:p14="http://schemas.microsoft.com/office/powerpoint/2010/main" val="3336905763"/>
                </p:ext>
              </p:extLst>
            </p:nvPr>
          </p:nvGraphicFramePr>
          <p:xfrm>
            <a:off x="1514058" y="1708062"/>
            <a:ext cx="4194558" cy="3032013"/>
          </p:xfrm>
          <a:graphic>
            <a:graphicData uri="http://schemas.openxmlformats.org/presentationml/2006/ole">
              <mc:AlternateContent xmlns:mc="http://schemas.openxmlformats.org/markup-compatibility/2006">
                <mc:Choice xmlns:v="urn:schemas-microsoft-com:vml" Requires="v">
                  <p:oleObj name="Graph" r:id="rId3" imgW="6940973" imgH="5004486" progId="Origin95.Graph">
                    <p:embed/>
                  </p:oleObj>
                </mc:Choice>
                <mc:Fallback>
                  <p:oleObj name="Graph" r:id="rId3" imgW="6940973" imgH="5004486" progId="Origin95.Graph">
                    <p:embed/>
                    <p:pic>
                      <p:nvPicPr>
                        <p:cNvPr id="0" name="Object 4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4058" y="1708062"/>
                          <a:ext cx="4194558" cy="3032013"/>
                        </a:xfrm>
                        <a:prstGeom prst="rect">
                          <a:avLst/>
                        </a:prstGeom>
                        <a:noFill/>
                      </p:spPr>
                    </p:pic>
                  </p:oleObj>
                </mc:Fallback>
              </mc:AlternateContent>
            </a:graphicData>
          </a:graphic>
        </p:graphicFrame>
        <p:sp>
          <p:nvSpPr>
            <p:cNvPr id="23" name="Rectangle 445">
              <a:extLst>
                <a:ext uri="{FF2B5EF4-FFF2-40B4-BE49-F238E27FC236}">
                  <a16:creationId xmlns:a16="http://schemas.microsoft.com/office/drawing/2014/main" id="{4DC83E49-3467-4F97-A462-DF65394B886E}"/>
                </a:ext>
              </a:extLst>
            </p:cNvPr>
            <p:cNvSpPr>
              <a:spLocks noChangeArrowheads="1"/>
            </p:cNvSpPr>
            <p:nvPr/>
          </p:nvSpPr>
          <p:spPr bwMode="auto">
            <a:xfrm>
              <a:off x="6483384" y="17884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24" name="对象 23">
              <a:extLst>
                <a:ext uri="{FF2B5EF4-FFF2-40B4-BE49-F238E27FC236}">
                  <a16:creationId xmlns:a16="http://schemas.microsoft.com/office/drawing/2014/main" id="{D9C79B53-37D9-4791-8735-1C77A46A907A}"/>
                </a:ext>
              </a:extLst>
            </p:cNvPr>
            <p:cNvGraphicFramePr>
              <a:graphicFrameLocks noChangeAspect="1"/>
            </p:cNvGraphicFramePr>
            <p:nvPr>
              <p:extLst>
                <p:ext uri="{D42A27DB-BD31-4B8C-83A1-F6EECF244321}">
                  <p14:modId xmlns:p14="http://schemas.microsoft.com/office/powerpoint/2010/main" val="2327258298"/>
                </p:ext>
              </p:extLst>
            </p:nvPr>
          </p:nvGraphicFramePr>
          <p:xfrm>
            <a:off x="6355250" y="1692111"/>
            <a:ext cx="4014154" cy="3018681"/>
          </p:xfrm>
          <a:graphic>
            <a:graphicData uri="http://schemas.openxmlformats.org/presentationml/2006/ole">
              <mc:AlternateContent xmlns:mc="http://schemas.openxmlformats.org/markup-compatibility/2006">
                <mc:Choice xmlns:v="urn:schemas-microsoft-com:vml" Requires="v">
                  <p:oleObj name="Graph" r:id="rId5" imgW="6662246" imgH="5004486" progId="Origin95.Graph">
                    <p:embed/>
                  </p:oleObj>
                </mc:Choice>
                <mc:Fallback>
                  <p:oleObj name="Graph" r:id="rId5" imgW="6662246" imgH="5004486" progId="Origin95.Graph">
                    <p:embed/>
                    <p:pic>
                      <p:nvPicPr>
                        <p:cNvPr id="0" name="Object 4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5250" y="1692111"/>
                          <a:ext cx="4014154" cy="3018681"/>
                        </a:xfrm>
                        <a:prstGeom prst="rect">
                          <a:avLst/>
                        </a:prstGeom>
                        <a:noFill/>
                      </p:spPr>
                    </p:pic>
                  </p:oleObj>
                </mc:Fallback>
              </mc:AlternateContent>
            </a:graphicData>
          </a:graphic>
        </p:graphicFrame>
      </p:grpSp>
      <p:sp>
        <p:nvSpPr>
          <p:cNvPr id="33"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中文要点｜强化效果评价</a:t>
            </a:r>
          </a:p>
          <a:p>
            <a:pPr>
              <a:lnSpc>
                <a:spcPct val="108000"/>
              </a:lnSpc>
              <a:spcAft>
                <a:spcPts val="0"/>
              </a:spcAft>
            </a:pPr>
            <a:r>
              <a:rPr sz="1400" b="0">
                <a:solidFill>
                  <a:srgbClr val="282828"/>
                </a:solidFill>
                <a:latin typeface="Times New Roman"/>
                <a:ea typeface="SimSun"/>
                <a:cs typeface="Times New Roman"/>
              </a:rPr>
              <a:t>亲水与纤维涂层分别使湿球效率提高 </a:t>
            </a:r>
            <a:r>
              <a:rPr sz="1400" b="1">
                <a:solidFill>
                  <a:srgbClr val="282828"/>
                </a:solidFill>
                <a:latin typeface="Times New Roman"/>
                <a:ea typeface="SimSun"/>
                <a:cs typeface="Times New Roman"/>
              </a:rPr>
              <a:t>5.7%</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14.5%</a:t>
            </a:r>
            <a:r>
              <a:rPr sz="1400" b="0">
                <a:solidFill>
                  <a:srgbClr val="282828"/>
                </a:solidFill>
                <a:latin typeface="Times New Roman"/>
                <a:ea typeface="SimSun"/>
                <a:cs typeface="Times New Roman"/>
              </a:rPr>
              <a:t>；纤维涂层还可节省泵耗，使 COP 提高 </a:t>
            </a:r>
            <a:r>
              <a:rPr sz="1400" b="1">
                <a:solidFill>
                  <a:srgbClr val="282828"/>
                </a:solidFill>
                <a:latin typeface="Times New Roman"/>
                <a:ea typeface="SimSun"/>
                <a:cs typeface="Times New Roman"/>
              </a:rPr>
              <a:t>16.1%</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9863508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57B5CD-351B-409C-8419-7945124A507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55</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D9741B7C-1F8F-4EC9-933F-469EF3EF7193}"/>
              </a:ext>
            </a:extLst>
          </p:cNvPr>
          <p:cNvSpPr>
            <a:spLocks noChangeArrowheads="1"/>
          </p:cNvSpPr>
          <p:nvPr/>
        </p:nvSpPr>
        <p:spPr bwMode="auto">
          <a:xfrm>
            <a:off x="990600" y="76201"/>
            <a:ext cx="2687638" cy="580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nSpc>
                <a:spcPct val="125000"/>
              </a:lnSpc>
              <a:spcBef>
                <a:spcPct val="20000"/>
              </a:spcBef>
            </a:pPr>
            <a:r>
              <a:rPr lang="en-US" altLang="zh-CN" sz="2800" b="1" dirty="0">
                <a:solidFill>
                  <a:srgbClr val="000000"/>
                </a:solidFill>
                <a:latin typeface="Times New Roman" panose="02020603050405020304" pitchFamily="18" charset="0"/>
                <a:ea typeface="SimSun" panose="020B0600070205080204" pitchFamily="34" charset="-128"/>
                <a:cs typeface="Times New Roman" panose="02020603050405020304" pitchFamily="18" charset="0"/>
              </a:rPr>
              <a:t>Outline</a:t>
            </a:r>
            <a:r>
              <a:rPr lang="en-US" altLang="zh-CN" sz="2800" dirty="0">
                <a:solidFill>
                  <a:srgbClr val="0000FF"/>
                </a:solidFill>
                <a:latin typeface="Times New Roman" panose="02020603050405020304" pitchFamily="18" charset="0"/>
                <a:ea typeface="SimSun" panose="020B0600070205080204" pitchFamily="34" charset="-128"/>
                <a:cs typeface="Times New Roman" panose="02020603050405020304" pitchFamily="18" charset="0"/>
              </a:rPr>
              <a:t> </a:t>
            </a:r>
          </a:p>
        </p:txBody>
      </p:sp>
      <p:grpSp>
        <p:nvGrpSpPr>
          <p:cNvPr id="9" name="Original English content (proportional layout)"/>
          <p:cNvGrpSpPr/>
          <p:nvPr/>
        </p:nvGrpSpPr>
        <p:grpSpPr>
          <a:xfrm>
            <a:off x="1097280" y="731520"/>
            <a:ext cx="9997440" cy="5023714"/>
            <a:chOff x="0" y="731520"/>
            <a:chExt cx="12192000" cy="6126480"/>
          </a:xfrm>
        </p:grpSpPr>
        <p:sp>
          <p:nvSpPr>
            <p:cNvPr id="7" name="Content Placeholder 2">
              <a:extLst>
                <a:ext uri="{FF2B5EF4-FFF2-40B4-BE49-F238E27FC236}">
                  <a16:creationId xmlns:a16="http://schemas.microsoft.com/office/drawing/2014/main" id="{4A9CC545-9F15-455E-BB97-2733665CD86C}"/>
                </a:ext>
              </a:extLst>
            </p:cNvPr>
            <p:cNvSpPr>
              <a:spLocks noGrp="1" noChangeArrowheads="1"/>
            </p:cNvSpPr>
            <p:nvPr>
              <p:ph idx="1"/>
            </p:nvPr>
          </p:nvSpPr>
          <p:spPr>
            <a:xfrm>
              <a:off x="833372" y="1058230"/>
              <a:ext cx="10777490" cy="5418675"/>
            </a:xfrm>
          </p:spPr>
          <p:txBody>
            <a:bodyPr/>
            <a:lstStyle/>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Research background and literature review</a:t>
              </a:r>
            </a:p>
            <a:p>
              <a:pPr marL="457200" indent="-457200">
                <a:lnSpc>
                  <a:spcPts val="2870"/>
                </a:lnSpc>
                <a:spcBef>
                  <a:spcPts val="492"/>
                </a:spcBef>
                <a:spcAft>
                  <a:spcPts val="656"/>
                </a:spcAft>
                <a:buAutoNum type="arabicPeriod"/>
              </a:pPr>
              <a:r>
                <a:rPr lang="en-US" sz="1968" b="1" dirty="0">
                  <a:solidFill>
                    <a:schemeClr val="tx1"/>
                  </a:solidFill>
                  <a:latin typeface="Times New Roman" panose="02020603050405020304" pitchFamily="18" charset="0"/>
                  <a:ea typeface="SimSun"/>
                  <a:cs typeface="Times New Roman" panose="02020603050405020304" pitchFamily="18" charset="0"/>
                </a:rPr>
                <a:t>Research gaps and objectives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FDM model for spray distribution optimization of IEC</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Development of CFD model for IEC considering water film formation with spray parameter analysis</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assessment and optimization of water spray strategy for IEC based on ANN </a:t>
              </a:r>
              <a:r>
                <a:rPr lang="en-HK" sz="1968" b="1" dirty="0" err="1">
                  <a:solidFill>
                    <a:schemeClr val="tx1"/>
                  </a:solidFill>
                  <a:latin typeface="Times New Roman" panose="02020603050405020304" pitchFamily="18" charset="0"/>
                  <a:ea typeface="SimSun"/>
                  <a:cs typeface="Times New Roman" panose="02020603050405020304" pitchFamily="18" charset="0"/>
                </a:rPr>
                <a:t>modeling</a:t>
              </a:r>
              <a:r>
                <a:rPr lang="en-HK" sz="1968" b="1" dirty="0">
                  <a:solidFill>
                    <a:schemeClr val="tx1"/>
                  </a:solidFill>
                  <a:latin typeface="Times New Roman" panose="02020603050405020304" pitchFamily="18" charset="0"/>
                  <a:ea typeface="SimSun"/>
                  <a:cs typeface="Times New Roman" panose="02020603050405020304" pitchFamily="18" charset="0"/>
                </a:rPr>
                <a:t> and GA</a:t>
              </a:r>
            </a:p>
            <a:p>
              <a:pPr marL="457200" indent="-457200">
                <a:lnSpc>
                  <a:spcPts val="2870"/>
                </a:lnSpc>
                <a:spcBef>
                  <a:spcPts val="492"/>
                </a:spcBef>
                <a:spcAft>
                  <a:spcPts val="656"/>
                </a:spcAft>
                <a:buAutoNum type="arabicPeriod"/>
              </a:pPr>
              <a:r>
                <a:rPr lang="en-HK" sz="1968" b="1" dirty="0">
                  <a:solidFill>
                    <a:schemeClr val="tx1"/>
                  </a:solidFill>
                  <a:latin typeface="Times New Roman" panose="02020603050405020304" pitchFamily="18" charset="0"/>
                  <a:ea typeface="SimSun"/>
                  <a:cs typeface="Times New Roman" panose="02020603050405020304" pitchFamily="18" charset="0"/>
                </a:rPr>
                <a:t>Performance analysis and nozzle setting optimization of IEC for energy recovery in data </a:t>
              </a:r>
              <a:r>
                <a:rPr lang="en-HK" sz="1968" b="1" dirty="0" err="1">
                  <a:solidFill>
                    <a:schemeClr val="tx1"/>
                  </a:solidFill>
                  <a:latin typeface="Times New Roman" panose="02020603050405020304" pitchFamily="18" charset="0"/>
                  <a:ea typeface="SimSun"/>
                  <a:cs typeface="Times New Roman" panose="02020603050405020304" pitchFamily="18" charset="0"/>
                </a:rPr>
                <a:t>centers</a:t>
              </a:r>
              <a:endParaRPr lang="en-HK" sz="1968" b="1" dirty="0">
                <a:solidFill>
                  <a:schemeClr val="tx1"/>
                </a:solidFill>
                <a:latin typeface="Times New Roman" panose="02020603050405020304" pitchFamily="18" charset="0"/>
                <a:ea typeface="SimSun"/>
                <a:cs typeface="Times New Roman" panose="02020603050405020304" pitchFamily="18" charset="0"/>
              </a:endParaRPr>
            </a:p>
            <a:p>
              <a:pPr marL="457200" indent="-457200">
                <a:lnSpc>
                  <a:spcPts val="2870"/>
                </a:lnSpc>
                <a:spcBef>
                  <a:spcPts val="492"/>
                </a:spcBef>
                <a:spcAft>
                  <a:spcPts val="656"/>
                </a:spcAft>
                <a:buAutoNum type="arabicPeriod"/>
              </a:pPr>
              <a:r>
                <a:rPr lang="en-US" sz="1968" b="1" dirty="0">
                  <a:solidFill>
                    <a:srgbClr val="C00000"/>
                  </a:solidFill>
                  <a:latin typeface="Times New Roman" panose="02020603050405020304" pitchFamily="18" charset="0"/>
                  <a:ea typeface="SimSun"/>
                  <a:cs typeface="Times New Roman" panose="02020603050405020304" pitchFamily="18" charset="0"/>
                </a:rPr>
                <a:t>Conclusions </a:t>
              </a:r>
              <a:r>
                <a:rPr lang="en-HK" sz="1968" b="1" dirty="0">
                  <a:solidFill>
                    <a:srgbClr val="C00000"/>
                  </a:solidFill>
                  <a:latin typeface="Times New Roman" panose="02020603050405020304" pitchFamily="18" charset="0"/>
                  <a:ea typeface="SimSun"/>
                  <a:cs typeface="Times New Roman" panose="02020603050405020304" pitchFamily="18" charset="0"/>
                </a:rPr>
                <a:t>and</a:t>
              </a:r>
              <a:r>
                <a:rPr lang="zh-CN" altLang="en-US" sz="1968" b="1" dirty="0">
                  <a:solidFill>
                    <a:srgbClr val="C00000"/>
                  </a:solidFill>
                  <a:latin typeface="Times New Roman" panose="02020603050405020304" pitchFamily="18" charset="0"/>
                  <a:ea typeface="SimSun"/>
                  <a:cs typeface="Times New Roman" panose="02020603050405020304" pitchFamily="18" charset="0"/>
                </a:rPr>
                <a:t> </a:t>
              </a:r>
              <a:r>
                <a:rPr lang="en-HK" altLang="zh-CN" sz="1968" b="1" dirty="0">
                  <a:solidFill>
                    <a:srgbClr val="C00000"/>
                  </a:solidFill>
                  <a:latin typeface="Times New Roman" panose="02020603050405020304" pitchFamily="18" charset="0"/>
                  <a:ea typeface="SimSun"/>
                  <a:cs typeface="Times New Roman" panose="02020603050405020304" pitchFamily="18" charset="0"/>
                </a:rPr>
                <a:t>recommendations for future work</a:t>
              </a:r>
              <a:endParaRPr lang="en-US" sz="1968" b="1" dirty="0">
                <a:solidFill>
                  <a:srgbClr val="C00000"/>
                </a:solidFill>
                <a:latin typeface="Times New Roman" panose="02020603050405020304" pitchFamily="18" charset="0"/>
                <a:ea typeface="SimSun"/>
                <a:cs typeface="Times New Roman" panose="02020603050405020304" pitchFamily="18" charset="0"/>
              </a:endParaRPr>
            </a:p>
            <a:p>
              <a:pPr marL="457200" indent="-457200">
                <a:spcBef>
                  <a:spcPts val="492"/>
                </a:spcBef>
                <a:spcAft>
                  <a:spcPts val="492"/>
                </a:spcAft>
                <a:buAutoNum type="arabicPeriod"/>
              </a:pPr>
              <a:endParaRPr lang="en-US" sz="1968" b="1" dirty="0">
                <a:solidFill>
                  <a:schemeClr val="tx1"/>
                </a:solidFill>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中文要点｜研究结论与未来展望</a:t>
            </a:r>
          </a:p>
          <a:p>
            <a:pPr>
              <a:lnSpc>
                <a:spcPct val="108000"/>
              </a:lnSpc>
              <a:spcAft>
                <a:spcPts val="0"/>
              </a:spcAft>
            </a:pPr>
            <a:r>
              <a:rPr sz="1400" b="0">
                <a:solidFill>
                  <a:srgbClr val="282828"/>
                </a:solidFill>
                <a:latin typeface="Times New Roman"/>
                <a:ea typeface="SimSun"/>
                <a:cs typeface="Times New Roman"/>
              </a:rPr>
              <a:t>总结 FDM、CFD 与智能优化研究结果，并讨论模型适用性、运行控制及跨气候条件分析的拓展方向。</a:t>
            </a:r>
          </a:p>
        </p:txBody>
      </p:sp>
    </p:spTree>
    <p:extLst>
      <p:ext uri="{BB962C8B-B14F-4D97-AF65-F5344CB8AC3E}">
        <p14:creationId xmlns:p14="http://schemas.microsoft.com/office/powerpoint/2010/main" val="29946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56</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090C9A14-1C02-4370-8D30-CCEB9934F0DD}"/>
              </a:ext>
            </a:extLst>
          </p:cNvPr>
          <p:cNvSpPr>
            <a:spLocks noChangeArrowheads="1"/>
          </p:cNvSpPr>
          <p:nvPr/>
        </p:nvSpPr>
        <p:spPr bwMode="auto">
          <a:xfrm>
            <a:off x="920319" y="210532"/>
            <a:ext cx="91913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7. </a:t>
            </a:r>
            <a:r>
              <a:rPr lang="en-HK" altLang="zh-CN" sz="2800" b="1" dirty="0">
                <a:latin typeface="Times New Roman" panose="02020603050405020304" pitchFamily="18" charset="0"/>
                <a:ea typeface="SimSun"/>
                <a:cs typeface="Times New Roman" panose="02020603050405020304" pitchFamily="18" charset="0"/>
              </a:rPr>
              <a:t>Conclusions and recommendations for future work</a:t>
            </a:r>
          </a:p>
        </p:txBody>
      </p:sp>
      <p:grpSp>
        <p:nvGrpSpPr>
          <p:cNvPr id="9" name="Original English content (proportional layout)"/>
          <p:cNvGrpSpPr/>
          <p:nvPr/>
        </p:nvGrpSpPr>
        <p:grpSpPr>
          <a:xfrm>
            <a:off x="1097280" y="731520"/>
            <a:ext cx="9997440" cy="5023714"/>
            <a:chOff x="0" y="731520"/>
            <a:chExt cx="12192000" cy="6126480"/>
          </a:xfrm>
        </p:grpSpPr>
        <p:sp>
          <p:nvSpPr>
            <p:cNvPr id="5"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320564"/>
              <a:ext cx="10115550" cy="508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just">
                <a:lnSpc>
                  <a:spcPct val="150000"/>
                </a:lnSpc>
                <a:spcAft>
                  <a:spcPts val="492"/>
                </a:spcAft>
              </a:pPr>
              <a:r>
                <a:rPr lang="en-HK" altLang="zh-CN" sz="1476" b="1" dirty="0">
                  <a:latin typeface="Times New Roman" panose="02020603050405020304" pitchFamily="18" charset="0"/>
                  <a:ea typeface="SimSun"/>
                  <a:cs typeface="Times New Roman" panose="02020603050405020304" pitchFamily="18" charset="0"/>
                </a:rPr>
                <a:t>1. We developed a </a:t>
              </a:r>
              <a:r>
                <a:rPr lang="en-HK" altLang="zh-CN" sz="1476" b="1" dirty="0">
                  <a:solidFill>
                    <a:srgbClr val="C00000"/>
                  </a:solidFill>
                  <a:latin typeface="Times New Roman" panose="02020603050405020304" pitchFamily="18" charset="0"/>
                  <a:ea typeface="SimSun"/>
                  <a:cs typeface="Times New Roman" panose="02020603050405020304" pitchFamily="18" charset="0"/>
                </a:rPr>
                <a:t>FDM model </a:t>
              </a:r>
              <a:r>
                <a:rPr lang="en-HK" altLang="zh-CN" sz="1476" b="1" dirty="0">
                  <a:latin typeface="Times New Roman" panose="02020603050405020304" pitchFamily="18" charset="0"/>
                  <a:ea typeface="SimSun"/>
                  <a:cs typeface="Times New Roman" panose="02020603050405020304" pitchFamily="18" charset="0"/>
                </a:rPr>
                <a:t>to simulate the spray distribution above heat exchanger.</a:t>
              </a:r>
            </a:p>
            <a:p>
              <a:pPr marL="360000" indent="360000" algn="just">
                <a:lnSpc>
                  <a:spcPct val="150000"/>
                </a:lnSpc>
                <a:spcAft>
                  <a:spcPts val="492"/>
                </a:spcAft>
                <a:buFont typeface="Arial" panose="020B0604020202020204" pitchFamily="34" charset="0"/>
                <a:buChar char="•"/>
              </a:pPr>
              <a:r>
                <a:rPr lang="en-HK" altLang="zh-CN" sz="1312" dirty="0">
                  <a:latin typeface="Times New Roman" panose="02020603050405020304" pitchFamily="18" charset="0"/>
                  <a:ea typeface="SimSun"/>
                  <a:cs typeface="Times New Roman" panose="02020603050405020304" pitchFamily="18" charset="0"/>
                </a:rPr>
                <a:t>For the IEC with 400 mm length and width, the optimal nozzle arrangement scheme is the scheme with four nozzles separated by 160 mm along the </a:t>
              </a:r>
              <a:r>
                <a:rPr lang="en-HK" altLang="zh-CN" sz="1312" dirty="0" err="1">
                  <a:latin typeface="Times New Roman" panose="02020603050405020304" pitchFamily="18" charset="0"/>
                  <a:ea typeface="SimSun"/>
                  <a:cs typeface="Times New Roman" panose="02020603050405020304" pitchFamily="18" charset="0"/>
                </a:rPr>
                <a:t>centerline</a:t>
              </a:r>
              <a:r>
                <a:rPr lang="en-HK" altLang="zh-CN" sz="1312" dirty="0">
                  <a:latin typeface="Times New Roman" panose="02020603050405020304" pitchFamily="18" charset="0"/>
                  <a:ea typeface="SimSun"/>
                  <a:cs typeface="Times New Roman" panose="02020603050405020304" pitchFamily="18" charset="0"/>
                </a:rPr>
                <a:t>.</a:t>
              </a:r>
            </a:p>
            <a:p>
              <a:pPr marL="360000" indent="360000" algn="just">
                <a:lnSpc>
                  <a:spcPct val="150000"/>
                </a:lnSpc>
                <a:spcAft>
                  <a:spcPts val="492"/>
                </a:spcAft>
                <a:buFont typeface="Arial" panose="020B0604020202020204" pitchFamily="34" charset="0"/>
                <a:buChar char="•"/>
              </a:pPr>
              <a:r>
                <a:rPr lang="en-HK" altLang="zh-CN" sz="1312" dirty="0">
                  <a:latin typeface="Times New Roman" panose="02020603050405020304" pitchFamily="18" charset="0"/>
                  <a:ea typeface="SimSun"/>
                  <a:cs typeface="Times New Roman" panose="02020603050405020304" pitchFamily="18" charset="0"/>
                </a:rPr>
                <a:t>With the same water flow rate supplied (220 L/h), the optimized </a:t>
              </a:r>
              <a:r>
                <a:rPr lang="en-HK" altLang="zh-CN" sz="1312" dirty="0" err="1">
                  <a:latin typeface="Times New Roman" panose="02020603050405020304" pitchFamily="18" charset="0"/>
                  <a:ea typeface="SimSun"/>
                  <a:cs typeface="Times New Roman" panose="02020603050405020304" pitchFamily="18" charset="0"/>
                </a:rPr>
                <a:t>centerline</a:t>
              </a:r>
              <a:r>
                <a:rPr lang="en-HK" altLang="zh-CN" sz="1312" dirty="0">
                  <a:latin typeface="Times New Roman" panose="02020603050405020304" pitchFamily="18" charset="0"/>
                  <a:ea typeface="SimSun"/>
                  <a:cs typeface="Times New Roman" panose="02020603050405020304" pitchFamily="18" charset="0"/>
                </a:rPr>
                <a:t> scheme could increase the wettability factor of the IEC plate surface from 0.48 to 0.89, and the COP is increased up to 16%.</a:t>
              </a:r>
              <a:endParaRPr lang="en-US" altLang="zh-CN" sz="1476" dirty="0">
                <a:latin typeface="Times New Roman" panose="02020603050405020304" pitchFamily="18" charset="0"/>
                <a:ea typeface="SimSun"/>
                <a:cs typeface="Times New Roman" panose="02020603050405020304" pitchFamily="18" charset="0"/>
              </a:endParaRPr>
            </a:p>
            <a:p>
              <a:pPr marL="0" indent="0" algn="just">
                <a:lnSpc>
                  <a:spcPct val="150000"/>
                </a:lnSpc>
                <a:spcBef>
                  <a:spcPts val="492"/>
                </a:spcBef>
                <a:spcAft>
                  <a:spcPts val="492"/>
                </a:spcAft>
              </a:pPr>
              <a:r>
                <a:rPr lang="en-HK" altLang="zh-CN" sz="1476" b="1" dirty="0">
                  <a:latin typeface="Times New Roman" panose="02020603050405020304" pitchFamily="18" charset="0"/>
                  <a:ea typeface="SimSun"/>
                  <a:cs typeface="Times New Roman" panose="02020603050405020304" pitchFamily="18" charset="0"/>
                </a:rPr>
                <a:t>2. We proposed a novel </a:t>
              </a:r>
              <a:r>
                <a:rPr lang="en-HK" altLang="zh-CN" sz="1476" b="1" dirty="0">
                  <a:solidFill>
                    <a:srgbClr val="C00000"/>
                  </a:solidFill>
                  <a:latin typeface="Times New Roman" panose="02020603050405020304" pitchFamily="18" charset="0"/>
                  <a:ea typeface="SimSun"/>
                  <a:cs typeface="Times New Roman" panose="02020603050405020304" pitchFamily="18" charset="0"/>
                </a:rPr>
                <a:t>3D CFD model </a:t>
              </a:r>
              <a:r>
                <a:rPr lang="en-HK" altLang="zh-CN" sz="1476" b="1" dirty="0">
                  <a:latin typeface="Times New Roman" panose="02020603050405020304" pitchFamily="18" charset="0"/>
                  <a:ea typeface="SimSun"/>
                  <a:cs typeface="Times New Roman" panose="02020603050405020304" pitchFamily="18" charset="0"/>
                </a:rPr>
                <a:t>to investigate the water film inside wet channels, and the cooling performance of the whole IEC system.</a:t>
              </a:r>
            </a:p>
            <a:p>
              <a:pPr marL="360000" indent="360000" algn="just">
                <a:lnSpc>
                  <a:spcPct val="150000"/>
                </a:lnSpc>
                <a:spcAft>
                  <a:spcPts val="492"/>
                </a:spcAft>
                <a:buFont typeface="Arial" panose="020B0604020202020204" pitchFamily="34" charset="0"/>
                <a:buChar char="•"/>
              </a:pPr>
              <a:r>
                <a:rPr lang="en-HK" altLang="zh-CN" sz="1312" dirty="0">
                  <a:latin typeface="Times New Roman" panose="02020603050405020304" pitchFamily="18" charset="0"/>
                  <a:ea typeface="SimSun"/>
                  <a:cs typeface="Times New Roman" panose="02020603050405020304" pitchFamily="18" charset="0"/>
                </a:rPr>
                <a:t>Optimal nozzle parameters for maximum coverage were determined to be a droplet diameter of </a:t>
              </a:r>
              <a:r>
                <a:rPr lang="en-HK" altLang="zh-CN" sz="1312" dirty="0">
                  <a:solidFill>
                    <a:srgbClr val="C00000"/>
                  </a:solidFill>
                  <a:latin typeface="Times New Roman" panose="02020603050405020304" pitchFamily="18" charset="0"/>
                  <a:ea typeface="SimSun"/>
                  <a:cs typeface="Times New Roman" panose="02020603050405020304" pitchFamily="18" charset="0"/>
                </a:rPr>
                <a:t>0.25 mm</a:t>
              </a:r>
              <a:r>
                <a:rPr lang="en-HK" altLang="zh-CN" sz="1312" dirty="0">
                  <a:latin typeface="Times New Roman" panose="02020603050405020304" pitchFamily="18" charset="0"/>
                  <a:ea typeface="SimSun"/>
                  <a:cs typeface="Times New Roman" panose="02020603050405020304" pitchFamily="18" charset="0"/>
                </a:rPr>
                <a:t>, a pressure of </a:t>
              </a:r>
              <a:r>
                <a:rPr lang="en-HK" altLang="zh-CN" sz="1312" dirty="0">
                  <a:solidFill>
                    <a:srgbClr val="C00000"/>
                  </a:solidFill>
                  <a:latin typeface="Times New Roman" panose="02020603050405020304" pitchFamily="18" charset="0"/>
                  <a:ea typeface="SimSun"/>
                  <a:cs typeface="Times New Roman" panose="02020603050405020304" pitchFamily="18" charset="0"/>
                </a:rPr>
                <a:t>1.5 bar</a:t>
              </a:r>
              <a:r>
                <a:rPr lang="en-HK" altLang="zh-CN" sz="1312" dirty="0">
                  <a:latin typeface="Times New Roman" panose="02020603050405020304" pitchFamily="18" charset="0"/>
                  <a:ea typeface="SimSun"/>
                  <a:cs typeface="Times New Roman" panose="02020603050405020304" pitchFamily="18" charset="0"/>
                </a:rPr>
                <a:t>, a flow rate of </a:t>
              </a:r>
              <a:r>
                <a:rPr lang="en-HK" altLang="zh-CN" sz="1312" dirty="0">
                  <a:solidFill>
                    <a:srgbClr val="C00000"/>
                  </a:solidFill>
                  <a:latin typeface="Times New Roman" panose="02020603050405020304" pitchFamily="18" charset="0"/>
                  <a:ea typeface="SimSun"/>
                  <a:cs typeface="Times New Roman" panose="02020603050405020304" pitchFamily="18" charset="0"/>
                </a:rPr>
                <a:t>5.4 L/min</a:t>
              </a:r>
              <a:r>
                <a:rPr lang="en-HK" altLang="zh-CN" sz="1312" dirty="0">
                  <a:latin typeface="Times New Roman" panose="02020603050405020304" pitchFamily="18" charset="0"/>
                  <a:ea typeface="SimSun"/>
                  <a:cs typeface="Times New Roman" panose="02020603050405020304" pitchFamily="18" charset="0"/>
                </a:rPr>
                <a:t>, and a spray cone angle of 68°</a:t>
              </a:r>
              <a:r>
                <a:rPr lang="en-US" altLang="zh-CN" sz="1312" dirty="0">
                  <a:latin typeface="Times New Roman" panose="02020603050405020304" pitchFamily="18" charset="0"/>
                  <a:ea typeface="SimSun"/>
                  <a:cs typeface="Times New Roman" panose="02020603050405020304" pitchFamily="18" charset="0"/>
                </a:rPr>
                <a:t>. </a:t>
              </a:r>
            </a:p>
            <a:p>
              <a:pPr marL="360000" indent="360000" algn="just">
                <a:lnSpc>
                  <a:spcPct val="150000"/>
                </a:lnSpc>
                <a:spcAft>
                  <a:spcPts val="492"/>
                </a:spcAft>
                <a:buFont typeface="Arial" panose="020B0604020202020204" pitchFamily="34" charset="0"/>
                <a:buChar char="•"/>
              </a:pPr>
              <a:r>
                <a:rPr lang="en-HK" altLang="zh-CN" sz="1312" dirty="0">
                  <a:latin typeface="Times New Roman" panose="02020603050405020304" pitchFamily="18" charset="0"/>
                  <a:ea typeface="SimSun"/>
                  <a:cs typeface="Times New Roman" panose="02020603050405020304" pitchFamily="18" charset="0"/>
                </a:rPr>
                <a:t>The refined IEC water distribution system employs a triangular nozzle arrangement based on distance analysis. This optimized configuration enhances water film coverage by </a:t>
              </a:r>
              <a:r>
                <a:rPr lang="en-HK" altLang="zh-CN" sz="1312" dirty="0">
                  <a:solidFill>
                    <a:srgbClr val="C00000"/>
                  </a:solidFill>
                  <a:latin typeface="Times New Roman" panose="02020603050405020304" pitchFamily="18" charset="0"/>
                  <a:ea typeface="SimSun"/>
                  <a:cs typeface="Times New Roman" panose="02020603050405020304" pitchFamily="18" charset="0"/>
                </a:rPr>
                <a:t>20.9%</a:t>
              </a:r>
              <a:r>
                <a:rPr lang="en-HK" altLang="zh-CN" sz="1312" dirty="0">
                  <a:latin typeface="Times New Roman" panose="02020603050405020304" pitchFamily="18" charset="0"/>
                  <a:ea typeface="SimSun"/>
                  <a:cs typeface="Times New Roman" panose="02020603050405020304" pitchFamily="18" charset="0"/>
                </a:rPr>
                <a:t> and significantly improves wet-bulb efficiency and COP by </a:t>
              </a:r>
              <a:r>
                <a:rPr lang="en-HK" altLang="zh-CN" sz="1312" dirty="0">
                  <a:solidFill>
                    <a:srgbClr val="C00000"/>
                  </a:solidFill>
                  <a:latin typeface="Times New Roman" panose="02020603050405020304" pitchFamily="18" charset="0"/>
                  <a:ea typeface="SimSun"/>
                  <a:cs typeface="Times New Roman" panose="02020603050405020304" pitchFamily="18" charset="0"/>
                </a:rPr>
                <a:t>15.1%</a:t>
              </a:r>
              <a:r>
                <a:rPr lang="en-HK" altLang="zh-CN" sz="1312" dirty="0">
                  <a:latin typeface="Times New Roman" panose="02020603050405020304" pitchFamily="18" charset="0"/>
                  <a:ea typeface="SimSun"/>
                  <a:cs typeface="Times New Roman" panose="02020603050405020304" pitchFamily="18" charset="0"/>
                </a:rPr>
                <a:t> and </a:t>
              </a:r>
              <a:r>
                <a:rPr lang="en-HK" altLang="zh-CN" sz="1312" dirty="0">
                  <a:solidFill>
                    <a:srgbClr val="C00000"/>
                  </a:solidFill>
                  <a:latin typeface="Times New Roman" panose="02020603050405020304" pitchFamily="18" charset="0"/>
                  <a:ea typeface="SimSun"/>
                  <a:cs typeface="Times New Roman" panose="02020603050405020304" pitchFamily="18" charset="0"/>
                </a:rPr>
                <a:t>17.6%</a:t>
              </a:r>
              <a:r>
                <a:rPr lang="en-HK" altLang="zh-CN" sz="1312" dirty="0">
                  <a:latin typeface="Times New Roman" panose="02020603050405020304" pitchFamily="18" charset="0"/>
                  <a:ea typeface="SimSun"/>
                  <a:cs typeface="Times New Roman" panose="02020603050405020304" pitchFamily="18" charset="0"/>
                </a:rPr>
                <a:t>, respectively.</a:t>
              </a:r>
              <a:endParaRPr lang="en-US" altLang="zh-CN" sz="1312" dirty="0">
                <a:latin typeface="Times New Roman" panose="02020603050405020304" pitchFamily="18" charset="0"/>
                <a:ea typeface="SimSun"/>
                <a:cs typeface="Times New Roman" panose="02020603050405020304" pitchFamily="18" charset="0"/>
              </a:endParaRPr>
            </a:p>
          </p:txBody>
        </p:sp>
        <p:sp>
          <p:nvSpPr>
            <p:cNvPr id="7" name="文本框 6">
              <a:extLst>
                <a:ext uri="{FF2B5EF4-FFF2-40B4-BE49-F238E27FC236}">
                  <a16:creationId xmlns:a16="http://schemas.microsoft.com/office/drawing/2014/main" id="{94DEA585-E01D-4650-ACEA-BB07EA359E0B}"/>
                </a:ext>
              </a:extLst>
            </p:cNvPr>
            <p:cNvSpPr txBox="1"/>
            <p:nvPr/>
          </p:nvSpPr>
          <p:spPr>
            <a:xfrm>
              <a:off x="343776" y="945440"/>
              <a:ext cx="6153666"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7.1 Conclusions</a:t>
              </a: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中文要点｜主要研究结论</a:t>
            </a:r>
          </a:p>
          <a:p>
            <a:pPr>
              <a:lnSpc>
                <a:spcPct val="108000"/>
              </a:lnSpc>
              <a:spcAft>
                <a:spcPts val="0"/>
              </a:spcAft>
            </a:pPr>
            <a:r>
              <a:rPr sz="1400" b="0">
                <a:solidFill>
                  <a:srgbClr val="282828"/>
                </a:solidFill>
                <a:latin typeface="Times New Roman"/>
                <a:ea typeface="SimSun"/>
                <a:cs typeface="Times New Roman"/>
              </a:rPr>
              <a:t>FDM 优化使润湿系数由 </a:t>
            </a:r>
            <a:r>
              <a:rPr sz="1400" b="1">
                <a:solidFill>
                  <a:srgbClr val="282828"/>
                </a:solidFill>
                <a:latin typeface="Times New Roman"/>
                <a:ea typeface="SimSun"/>
                <a:cs typeface="Times New Roman"/>
              </a:rPr>
              <a:t>0.48</a:t>
            </a:r>
            <a:r>
              <a:rPr sz="1400" b="0">
                <a:solidFill>
                  <a:srgbClr val="282828"/>
                </a:solidFill>
                <a:latin typeface="Times New Roman"/>
                <a:ea typeface="SimSun"/>
                <a:cs typeface="Times New Roman"/>
              </a:rPr>
              <a:t> 升至 </a:t>
            </a:r>
            <a:r>
              <a:rPr sz="1400" b="1">
                <a:solidFill>
                  <a:srgbClr val="282828"/>
                </a:solidFill>
                <a:latin typeface="Times New Roman"/>
                <a:ea typeface="SimSun"/>
                <a:cs typeface="Times New Roman"/>
              </a:rPr>
              <a:t>0.89</a:t>
            </a:r>
            <a:r>
              <a:rPr sz="1400" b="0">
                <a:solidFill>
                  <a:srgbClr val="282828"/>
                </a:solidFill>
                <a:latin typeface="Times New Roman"/>
                <a:ea typeface="SimSun"/>
                <a:cs typeface="Times New Roman"/>
              </a:rPr>
              <a:t>，COP 提高 </a:t>
            </a:r>
            <a:r>
              <a:rPr sz="1400" b="1">
                <a:solidFill>
                  <a:srgbClr val="282828"/>
                </a:solidFill>
                <a:latin typeface="Times New Roman"/>
                <a:ea typeface="SimSun"/>
                <a:cs typeface="Times New Roman"/>
              </a:rPr>
              <a:t>16%</a:t>
            </a:r>
            <a:r>
              <a:rPr sz="1400" b="0">
                <a:solidFill>
                  <a:srgbClr val="282828"/>
                </a:solidFill>
                <a:latin typeface="Times New Roman"/>
                <a:ea typeface="SimSun"/>
                <a:cs typeface="Times New Roman"/>
              </a:rPr>
              <a:t>；CFD 优化方案使湿球效率与 COP 提高 </a:t>
            </a:r>
            <a:r>
              <a:rPr sz="1400" b="1">
                <a:solidFill>
                  <a:srgbClr val="282828"/>
                </a:solidFill>
                <a:latin typeface="Times New Roman"/>
                <a:ea typeface="SimSun"/>
                <a:cs typeface="Times New Roman"/>
              </a:rPr>
              <a:t>15.1%</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17.6%</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2392556481"/>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57</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090C9A14-1C02-4370-8D30-CCEB9934F0DD}"/>
              </a:ext>
            </a:extLst>
          </p:cNvPr>
          <p:cNvSpPr>
            <a:spLocks noChangeArrowheads="1"/>
          </p:cNvSpPr>
          <p:nvPr/>
        </p:nvSpPr>
        <p:spPr bwMode="auto">
          <a:xfrm>
            <a:off x="920319" y="210532"/>
            <a:ext cx="91913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7. </a:t>
            </a:r>
            <a:r>
              <a:rPr lang="en-HK" altLang="zh-CN" sz="2800" b="1" dirty="0">
                <a:latin typeface="Times New Roman" panose="02020603050405020304" pitchFamily="18" charset="0"/>
                <a:ea typeface="SimSun"/>
                <a:cs typeface="Times New Roman" panose="02020603050405020304" pitchFamily="18" charset="0"/>
              </a:rPr>
              <a:t>Conclusions and recommendations for future work</a:t>
            </a:r>
          </a:p>
        </p:txBody>
      </p:sp>
      <mc:AlternateContent xmlns:mc="http://schemas.openxmlformats.org/markup-compatibility/2006" xmlns:a14="http://schemas.microsoft.com/office/drawing/2010/main">
        <mc:Choice Requires="a14">
          <p:sp>
            <p:nvSpPr>
              <p:cNvPr id="5" name="文本框 2">
                <a:extLst>
                  <a:ext uri="{FF2B5EF4-FFF2-40B4-BE49-F238E27FC236}">
                    <a16:creationId xmlns:a16="http://schemas.microsoft.com/office/drawing/2014/main" id="{DB108DF9-9E69-4AC5-B2CD-3C185FB1F8B1}"/>
                  </a:ext>
                </a:extLst>
              </p:cNvPr>
              <p:cNvSpPr txBox="1">
                <a:spLocks noChangeArrowheads="1"/>
              </p:cNvSpPr>
              <p:nvPr/>
            </p:nvSpPr>
            <p:spPr bwMode="auto">
              <a:xfrm>
                <a:off x="1038225" y="1320564"/>
                <a:ext cx="10115550" cy="51264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0" indent="0" algn="just">
                  <a:lnSpc>
                    <a:spcPct val="150000"/>
                  </a:lnSpc>
                  <a:spcAft>
                    <a:spcPts val="600"/>
                  </a:spcAft>
                </a:pPr>
                <a:r>
                  <a:rPr lang="en-HK" altLang="zh-CN" sz="1800" b="1" dirty="0">
                    <a:latin typeface="Times New Roman" panose="02020603050405020304" pitchFamily="18" charset="0"/>
                    <a:ea typeface="SimSun"/>
                    <a:cs typeface="Times New Roman" panose="02020603050405020304" pitchFamily="18" charset="0"/>
                  </a:rPr>
                  <a:t>3. We trained a ML-based prediction model to estimate the performance of the IEC system, and GA was applied to optimize the </a:t>
                </a:r>
                <a:r>
                  <a:rPr lang="en-HK" altLang="zh-CN" sz="1800" b="1" dirty="0">
                    <a:solidFill>
                      <a:srgbClr val="C00000"/>
                    </a:solidFill>
                    <a:latin typeface="Times New Roman" panose="02020603050405020304" pitchFamily="18" charset="0"/>
                    <a:ea typeface="SimSun"/>
                    <a:cs typeface="Times New Roman" panose="02020603050405020304" pitchFamily="18" charset="0"/>
                  </a:rPr>
                  <a:t>IEC-ANN model</a:t>
                </a:r>
                <a:r>
                  <a:rPr lang="en-HK" altLang="zh-CN" sz="1800" b="1" dirty="0">
                    <a:latin typeface="Times New Roman" panose="02020603050405020304" pitchFamily="18" charset="0"/>
                    <a:ea typeface="SimSun"/>
                    <a:cs typeface="Times New Roman" panose="02020603050405020304" pitchFamily="18" charset="0"/>
                  </a:rPr>
                  <a:t>.</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The optimal parameters were found to be: nozzle pressure of </a:t>
                </a:r>
                <a:r>
                  <a:rPr lang="en-HK" altLang="zh-CN" sz="1600" dirty="0">
                    <a:solidFill>
                      <a:srgbClr val="C00000"/>
                    </a:solidFill>
                    <a:latin typeface="Times New Roman" panose="02020603050405020304" pitchFamily="18" charset="0"/>
                    <a:ea typeface="SimSun"/>
                    <a:cs typeface="Times New Roman" panose="02020603050405020304" pitchFamily="18" charset="0"/>
                  </a:rPr>
                  <a:t>0.15 MPa</a:t>
                </a:r>
                <a:r>
                  <a:rPr lang="en-HK" altLang="zh-CN" sz="1600" dirty="0">
                    <a:latin typeface="Times New Roman" panose="02020603050405020304" pitchFamily="18" charset="0"/>
                    <a:ea typeface="SimSun"/>
                    <a:cs typeface="Times New Roman" panose="02020603050405020304" pitchFamily="18" charset="0"/>
                  </a:rPr>
                  <a:t>, spacing of 85 mm, aperture of 6 mm, count of 11, spray density of 0.85 kg/(s</a:t>
                </a:r>
                <a14:m>
                  <m:oMath xmlns:m="http://schemas.openxmlformats.org/officeDocument/2006/math">
                    <m:r>
                      <a:rPr lang="en-HK" altLang="zh-CN" sz="1600" i="1" smtClean="0">
                        <a:latin typeface="Times New Roman" panose="02040503050406030204" pitchFamily="18" charset="0"/>
                        <a:ea typeface="SimSun" panose="02040503050406030204" pitchFamily="18" charset="0"/>
                        <a:cs typeface="Times New Roman" panose="02020603050405020304" pitchFamily="18" charset="0"/>
                      </a:rPr>
                      <m:t>∙</m:t>
                    </m:r>
                  </m:oMath>
                </a14:m>
                <a:r>
                  <a:rPr lang="en-HK" altLang="zh-CN" sz="1600" dirty="0">
                    <a:latin typeface="Times New Roman" panose="02020603050405020304" pitchFamily="18" charset="0"/>
                    <a:ea typeface="SimSun"/>
                    <a:cs typeface="Times New Roman" panose="02020603050405020304" pitchFamily="18" charset="0"/>
                  </a:rPr>
                  <a:t>m2), and air velocity of 2 m/s.</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The wet-bulb efficiency is 0.85, the pressure drop is 210 Pa, and the COP is 12.4, which represents a </a:t>
                </a:r>
                <a:r>
                  <a:rPr lang="en-HK" altLang="zh-CN" sz="1600" dirty="0">
                    <a:solidFill>
                      <a:srgbClr val="C00000"/>
                    </a:solidFill>
                    <a:latin typeface="Times New Roman" panose="02020603050405020304" pitchFamily="18" charset="0"/>
                    <a:ea typeface="SimSun"/>
                    <a:cs typeface="Times New Roman" panose="02020603050405020304" pitchFamily="18" charset="0"/>
                  </a:rPr>
                  <a:t>23.2%</a:t>
                </a:r>
                <a:r>
                  <a:rPr lang="en-HK" altLang="zh-CN" sz="1600" dirty="0">
                    <a:latin typeface="Times New Roman" panose="02020603050405020304" pitchFamily="18" charset="0"/>
                    <a:ea typeface="SimSun"/>
                    <a:cs typeface="Times New Roman" panose="02020603050405020304" pitchFamily="18" charset="0"/>
                  </a:rPr>
                  <a:t> improvement over the baseline system.</a:t>
                </a:r>
                <a:endParaRPr lang="en-US" altLang="zh-CN" sz="1800" dirty="0">
                  <a:latin typeface="Times New Roman" panose="02020603050405020304" pitchFamily="18" charset="0"/>
                  <a:ea typeface="SimSun"/>
                  <a:cs typeface="Times New Roman" panose="02020603050405020304" pitchFamily="18" charset="0"/>
                </a:endParaRPr>
              </a:p>
              <a:p>
                <a:pPr marL="0" indent="0" algn="just">
                  <a:lnSpc>
                    <a:spcPct val="150000"/>
                  </a:lnSpc>
                  <a:spcBef>
                    <a:spcPts val="600"/>
                  </a:spcBef>
                  <a:spcAft>
                    <a:spcPts val="600"/>
                  </a:spcAft>
                </a:pPr>
                <a:r>
                  <a:rPr lang="en-HK" altLang="zh-CN" sz="1800" b="1" dirty="0">
                    <a:latin typeface="Times New Roman" panose="02020603050405020304" pitchFamily="18" charset="0"/>
                    <a:ea typeface="SimSun"/>
                    <a:cs typeface="Times New Roman" panose="02020603050405020304" pitchFamily="18" charset="0"/>
                  </a:rPr>
                  <a:t>4. We developed a CFD model based on the </a:t>
                </a:r>
                <a:r>
                  <a:rPr lang="en-HK" altLang="zh-CN" sz="1800" b="1" dirty="0">
                    <a:solidFill>
                      <a:srgbClr val="C00000"/>
                    </a:solidFill>
                    <a:latin typeface="Times New Roman" panose="02020603050405020304" pitchFamily="18" charset="0"/>
                    <a:ea typeface="SimSun"/>
                    <a:cs typeface="Times New Roman" panose="02020603050405020304" pitchFamily="18" charset="0"/>
                  </a:rPr>
                  <a:t>diamond-shaped IEC </a:t>
                </a:r>
                <a:r>
                  <a:rPr lang="en-HK" altLang="zh-CN" sz="1800" b="1" dirty="0">
                    <a:latin typeface="Times New Roman" panose="02020603050405020304" pitchFamily="18" charset="0"/>
                    <a:ea typeface="SimSun"/>
                    <a:cs typeface="Times New Roman" panose="02020603050405020304" pitchFamily="18" charset="0"/>
                  </a:rPr>
                  <a:t>to explore the air-water flow, heat transfer, and mass transfer capabilities of the IEC as a heat recovery unit in data </a:t>
                </a:r>
                <a:r>
                  <a:rPr lang="en-HK" altLang="zh-CN" sz="1800" b="1" dirty="0" err="1">
                    <a:latin typeface="Times New Roman" panose="02020603050405020304" pitchFamily="18" charset="0"/>
                    <a:ea typeface="SimSun"/>
                    <a:cs typeface="Times New Roman" panose="02020603050405020304" pitchFamily="18" charset="0"/>
                  </a:rPr>
                  <a:t>centers</a:t>
                </a:r>
                <a:r>
                  <a:rPr lang="en-HK" altLang="zh-CN" sz="1800" b="1" dirty="0">
                    <a:latin typeface="Times New Roman" panose="02020603050405020304" pitchFamily="18" charset="0"/>
                    <a:ea typeface="SimSun"/>
                    <a:cs typeface="Times New Roman" panose="02020603050405020304" pitchFamily="18" charset="0"/>
                  </a:rPr>
                  <a:t>.</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The nozzles are installed as upper side configuration when the water film distribution area in the wet channel is the largest and the temperature drop is the best, with </a:t>
                </a:r>
                <a:r>
                  <a:rPr lang="en-HK" altLang="zh-CN" sz="1600" dirty="0">
                    <a:solidFill>
                      <a:srgbClr val="C00000"/>
                    </a:solidFill>
                    <a:latin typeface="Times New Roman" panose="02020603050405020304" pitchFamily="18" charset="0"/>
                    <a:ea typeface="SimSun"/>
                    <a:cs typeface="Times New Roman" panose="02020603050405020304" pitchFamily="18" charset="0"/>
                  </a:rPr>
                  <a:t>59.2%</a:t>
                </a:r>
                <a:r>
                  <a:rPr lang="en-HK" altLang="zh-CN" sz="1600" dirty="0">
                    <a:latin typeface="Times New Roman" panose="02020603050405020304" pitchFamily="18" charset="0"/>
                    <a:ea typeface="SimSun"/>
                    <a:cs typeface="Times New Roman" panose="02020603050405020304" pitchFamily="18" charset="0"/>
                  </a:rPr>
                  <a:t> and </a:t>
                </a:r>
                <a:r>
                  <a:rPr lang="en-HK" altLang="zh-CN" sz="1600" dirty="0">
                    <a:solidFill>
                      <a:srgbClr val="C00000"/>
                    </a:solidFill>
                    <a:latin typeface="Times New Roman" panose="02020603050405020304" pitchFamily="18" charset="0"/>
                    <a:ea typeface="SimSun"/>
                    <a:cs typeface="Times New Roman" panose="02020603050405020304" pitchFamily="18" charset="0"/>
                  </a:rPr>
                  <a:t>27.4%</a:t>
                </a:r>
                <a:r>
                  <a:rPr lang="en-HK" altLang="zh-CN" sz="1600" dirty="0">
                    <a:latin typeface="Times New Roman" panose="02020603050405020304" pitchFamily="18" charset="0"/>
                    <a:ea typeface="SimSun"/>
                    <a:cs typeface="Times New Roman" panose="02020603050405020304" pitchFamily="18" charset="0"/>
                  </a:rPr>
                  <a:t> improvement over the worst case</a:t>
                </a:r>
                <a:r>
                  <a:rPr lang="en-US" altLang="zh-CN" sz="1600" dirty="0">
                    <a:latin typeface="Times New Roman" panose="02020603050405020304" pitchFamily="18" charset="0"/>
                    <a:ea typeface="SimSun"/>
                    <a:cs typeface="Times New Roman" panose="02020603050405020304" pitchFamily="18" charset="0"/>
                  </a:rPr>
                  <a:t>. </a:t>
                </a:r>
              </a:p>
              <a:p>
                <a:pPr marL="360000" indent="360000" algn="just">
                  <a:lnSpc>
                    <a:spcPct val="150000"/>
                  </a:lnSpc>
                  <a:spcAft>
                    <a:spcPts val="600"/>
                  </a:spcAft>
                  <a:buFont typeface="Arial" panose="020B0604020202020204" pitchFamily="34" charset="0"/>
                  <a:buChar char="•"/>
                </a:pPr>
                <a:r>
                  <a:rPr lang="en-HK" altLang="zh-CN" sz="1600" dirty="0">
                    <a:latin typeface="Times New Roman" panose="02020603050405020304" pitchFamily="18" charset="0"/>
                    <a:ea typeface="SimSun"/>
                    <a:cs typeface="Times New Roman" panose="02020603050405020304" pitchFamily="18" charset="0"/>
                  </a:rPr>
                  <a:t>Benefit from the addition of hydrophilic coatings and fibre coatings, the water film coverage </a:t>
                </a:r>
                <a:r>
                  <a:rPr lang="en-US" altLang="zh-CN" sz="1600" dirty="0">
                    <a:latin typeface="Times New Roman" panose="02020603050405020304" pitchFamily="18" charset="0"/>
                    <a:ea typeface="SimSun"/>
                    <a:cs typeface="Times New Roman" panose="02020603050405020304" pitchFamily="18" charset="0"/>
                  </a:rPr>
                  <a:t>and</a:t>
                </a:r>
                <a:r>
                  <a:rPr lang="en-HK" altLang="zh-CN" sz="1600" dirty="0">
                    <a:latin typeface="Times New Roman" panose="02020603050405020304" pitchFamily="18" charset="0"/>
                    <a:ea typeface="SimSun"/>
                    <a:cs typeface="Times New Roman" panose="02020603050405020304" pitchFamily="18" charset="0"/>
                  </a:rPr>
                  <a:t> COP are increased by </a:t>
                </a:r>
                <a:r>
                  <a:rPr lang="en-HK" altLang="zh-CN" sz="1600" dirty="0">
                    <a:solidFill>
                      <a:srgbClr val="C00000"/>
                    </a:solidFill>
                    <a:latin typeface="Times New Roman" panose="02020603050405020304" pitchFamily="18" charset="0"/>
                    <a:ea typeface="SimSun"/>
                    <a:cs typeface="Times New Roman" panose="02020603050405020304" pitchFamily="18" charset="0"/>
                  </a:rPr>
                  <a:t>7.4%</a:t>
                </a:r>
                <a:r>
                  <a:rPr lang="en-HK" altLang="zh-CN" sz="1600" dirty="0">
                    <a:latin typeface="Times New Roman" panose="02020603050405020304" pitchFamily="18" charset="0"/>
                    <a:ea typeface="SimSun"/>
                    <a:cs typeface="Times New Roman" panose="02020603050405020304" pitchFamily="18" charset="0"/>
                  </a:rPr>
                  <a:t> and </a:t>
                </a:r>
                <a:r>
                  <a:rPr lang="en-HK" altLang="zh-CN" sz="1600" dirty="0">
                    <a:solidFill>
                      <a:srgbClr val="C00000"/>
                    </a:solidFill>
                    <a:latin typeface="Times New Roman" panose="02020603050405020304" pitchFamily="18" charset="0"/>
                    <a:ea typeface="SimSun"/>
                    <a:cs typeface="Times New Roman" panose="02020603050405020304" pitchFamily="18" charset="0"/>
                  </a:rPr>
                  <a:t>16.1%</a:t>
                </a:r>
                <a:r>
                  <a:rPr lang="en-HK" altLang="zh-CN" sz="1600" dirty="0">
                    <a:latin typeface="Times New Roman" panose="02020603050405020304" pitchFamily="18" charset="0"/>
                    <a:ea typeface="SimSun"/>
                    <a:cs typeface="Times New Roman" panose="02020603050405020304" pitchFamily="18" charset="0"/>
                  </a:rPr>
                  <a:t>, respectively. </a:t>
                </a:r>
                <a:endParaRPr lang="en-US" altLang="zh-CN" sz="1600" dirty="0">
                  <a:latin typeface="Times New Roman" panose="02020603050405020304" pitchFamily="18" charset="0"/>
                  <a:ea typeface="SimSun"/>
                  <a:cs typeface="Times New Roman" panose="02020603050405020304" pitchFamily="18" charset="0"/>
                </a:endParaRPr>
              </a:p>
            </p:txBody>
          </p:sp>
        </mc:Choice>
        <mc:Fallback xmlns="">
          <p:sp>
            <p:nvSpPr>
              <p:cNvPr id="5" name="文本框 2">
                <a:extLst>
                  <a:ext uri="{FF2B5EF4-FFF2-40B4-BE49-F238E27FC236}">
                    <a16:creationId xmlns:a16="http://schemas.microsoft.com/office/drawing/2014/main" id="{DB108DF9-9E69-4AC5-B2CD-3C185FB1F8B1}"/>
                  </a:ext>
                </a:extLst>
              </p:cNvPr>
              <p:cNvSpPr txBox="1">
                <a:spLocks noRot="1" noChangeAspect="1" noMove="1" noResize="1" noEditPoints="1" noAdjustHandles="1" noChangeArrowheads="1" noChangeShapeType="1" noTextEdit="1"/>
              </p:cNvSpPr>
              <p:nvPr/>
            </p:nvSpPr>
            <p:spPr bwMode="auto">
              <a:xfrm>
                <a:off x="1038225" y="1320564"/>
                <a:ext cx="10115550" cy="5126403"/>
              </a:xfrm>
              <a:prstGeom prst="rect">
                <a:avLst/>
              </a:prstGeom>
              <a:blipFill>
                <a:blip r:embed="rId2"/>
                <a:stretch>
                  <a:fillRect l="-482" r="-482" b="-5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latin typeface="Times New Roman"/>
                    <a:ea typeface="SimSun"/>
                    <a:cs typeface="Times New Roman"/>
                  </a:rPr>
                  <a:t> </a:t>
                </a:r>
              </a:p>
            </p:txBody>
          </p:sp>
        </mc:Fallback>
      </mc:AlternateContent>
      <p:grpSp>
        <p:nvGrpSpPr>
          <p:cNvPr id="9" name="Original English content (proportional layout)"/>
          <p:cNvGrpSpPr/>
          <p:nvPr/>
        </p:nvGrpSpPr>
        <p:grpSpPr>
          <a:xfrm>
            <a:off x="1097280" y="731520"/>
            <a:ext cx="9997440" cy="5023714"/>
            <a:chOff x="0" y="731520"/>
            <a:chExt cx="12192000" cy="6126480"/>
          </a:xfrm>
        </p:grpSpPr>
        <p:sp>
          <p:nvSpPr>
            <p:cNvPr id="7" name="文本框 6">
              <a:extLst>
                <a:ext uri="{FF2B5EF4-FFF2-40B4-BE49-F238E27FC236}">
                  <a16:creationId xmlns:a16="http://schemas.microsoft.com/office/drawing/2014/main" id="{94DEA585-E01D-4650-ACEA-BB07EA359E0B}"/>
                </a:ext>
              </a:extLst>
            </p:cNvPr>
            <p:cNvSpPr txBox="1"/>
            <p:nvPr/>
          </p:nvSpPr>
          <p:spPr>
            <a:xfrm>
              <a:off x="343776" y="945440"/>
              <a:ext cx="6153666"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7.1 Conclusions</a:t>
              </a: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中文要点｜研究结论（续）</a:t>
            </a:r>
          </a:p>
          <a:p>
            <a:pPr>
              <a:lnSpc>
                <a:spcPct val="108000"/>
              </a:lnSpc>
              <a:spcAft>
                <a:spcPts val="0"/>
              </a:spcAft>
            </a:pPr>
            <a:r>
              <a:rPr sz="1400" b="0">
                <a:solidFill>
                  <a:srgbClr val="282828"/>
                </a:solidFill>
                <a:latin typeface="Times New Roman"/>
                <a:ea typeface="SimSun"/>
                <a:cs typeface="Times New Roman"/>
              </a:rPr>
              <a:t>ANN–GA 优化方案的性能提升为 </a:t>
            </a:r>
            <a:r>
              <a:rPr sz="1400" b="1">
                <a:solidFill>
                  <a:srgbClr val="282828"/>
                </a:solidFill>
                <a:latin typeface="Times New Roman"/>
                <a:ea typeface="SimSun"/>
                <a:cs typeface="Times New Roman"/>
              </a:rPr>
              <a:t>23.2%</a:t>
            </a:r>
            <a:r>
              <a:rPr sz="1400" b="0">
                <a:solidFill>
                  <a:srgbClr val="282828"/>
                </a:solidFill>
                <a:latin typeface="Times New Roman"/>
                <a:ea typeface="SimSun"/>
                <a:cs typeface="Times New Roman"/>
              </a:rPr>
              <a:t>；菱形 IEC 中，纤维涂层可改善润湿性并使 COP 提高 </a:t>
            </a:r>
            <a:r>
              <a:rPr sz="1400" b="1">
                <a:solidFill>
                  <a:srgbClr val="282828"/>
                </a:solidFill>
                <a:latin typeface="Times New Roman"/>
                <a:ea typeface="SimSun"/>
                <a:cs typeface="Times New Roman"/>
              </a:rPr>
              <a:t>16.1%</a:t>
            </a:r>
            <a:r>
              <a:rPr sz="1400" b="0">
                <a:solidFill>
                  <a:srgbClr val="282828"/>
                </a:solidFill>
                <a:latin typeface="Times New Roman"/>
                <a:ea typeface="SimSun"/>
                <a:cs typeface="Times New Roman"/>
              </a:rPr>
              <a:t>。</a:t>
            </a:r>
          </a:p>
        </p:txBody>
      </p:sp>
    </p:spTree>
    <p:extLst>
      <p:ext uri="{BB962C8B-B14F-4D97-AF65-F5344CB8AC3E}">
        <p14:creationId xmlns:p14="http://schemas.microsoft.com/office/powerpoint/2010/main" val="862976375"/>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6751DB-975A-4A6C-8913-57671365FA13}"/>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58</a:t>
            </a:fld>
            <a:endParaRPr lang="en-US" altLang="zh-CN">
              <a:latin typeface="Times New Roman"/>
              <a:ea typeface="SimSun"/>
              <a:cs typeface="Times New Roman"/>
            </a:endParaRPr>
          </a:p>
        </p:txBody>
      </p:sp>
      <p:sp>
        <p:nvSpPr>
          <p:cNvPr id="8" name="矩形 3">
            <a:extLst>
              <a:ext uri="{FF2B5EF4-FFF2-40B4-BE49-F238E27FC236}">
                <a16:creationId xmlns:a16="http://schemas.microsoft.com/office/drawing/2014/main" id="{090C9A14-1C02-4370-8D30-CCEB9934F0DD}"/>
              </a:ext>
            </a:extLst>
          </p:cNvPr>
          <p:cNvSpPr>
            <a:spLocks noChangeArrowheads="1"/>
          </p:cNvSpPr>
          <p:nvPr/>
        </p:nvSpPr>
        <p:spPr bwMode="auto">
          <a:xfrm>
            <a:off x="920319" y="210532"/>
            <a:ext cx="91913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7. </a:t>
            </a:r>
            <a:r>
              <a:rPr lang="en-HK" altLang="zh-CN" sz="2800" b="1" dirty="0">
                <a:latin typeface="Times New Roman" panose="02020603050405020304" pitchFamily="18" charset="0"/>
                <a:ea typeface="SimSun"/>
                <a:cs typeface="Times New Roman" panose="02020603050405020304" pitchFamily="18" charset="0"/>
              </a:rPr>
              <a:t>Conclusions and recommendations for future work</a:t>
            </a:r>
          </a:p>
        </p:txBody>
      </p:sp>
      <p:grpSp>
        <p:nvGrpSpPr>
          <p:cNvPr id="9" name="Original English content (proportional layout)"/>
          <p:cNvGrpSpPr/>
          <p:nvPr/>
        </p:nvGrpSpPr>
        <p:grpSpPr>
          <a:xfrm>
            <a:off x="1097280" y="731520"/>
            <a:ext cx="9997440" cy="5023714"/>
            <a:chOff x="0" y="731520"/>
            <a:chExt cx="12192000" cy="6126480"/>
          </a:xfrm>
        </p:grpSpPr>
        <p:sp>
          <p:nvSpPr>
            <p:cNvPr id="7" name="文本框 6">
              <a:extLst>
                <a:ext uri="{FF2B5EF4-FFF2-40B4-BE49-F238E27FC236}">
                  <a16:creationId xmlns:a16="http://schemas.microsoft.com/office/drawing/2014/main" id="{94DEA585-E01D-4650-ACEA-BB07EA359E0B}"/>
                </a:ext>
              </a:extLst>
            </p:cNvPr>
            <p:cNvSpPr txBox="1"/>
            <p:nvPr/>
          </p:nvSpPr>
          <p:spPr>
            <a:xfrm>
              <a:off x="343776" y="945440"/>
              <a:ext cx="6153666" cy="369332"/>
            </a:xfrm>
            <a:prstGeom prst="rect">
              <a:avLst/>
            </a:prstGeom>
            <a:noFill/>
          </p:spPr>
          <p:txBody>
            <a:bodyPr wrap="square" rtlCol="0">
              <a:spAutoFit/>
            </a:bodyPr>
            <a:lstStyle/>
            <a:p>
              <a:pPr defTabSz="457200" eaLnBrk="1" fontAlgn="auto" hangingPunct="1">
                <a:spcBef>
                  <a:spcPts val="0"/>
                </a:spcBef>
                <a:spcAft>
                  <a:spcPts val="0"/>
                </a:spcAft>
              </a:pPr>
              <a:r>
                <a:rPr lang="en-HK" sz="1476" b="1" dirty="0">
                  <a:solidFill>
                    <a:prstClr val="black"/>
                  </a:solidFill>
                  <a:latin typeface="Times New Roman" panose="02020603050405020304" pitchFamily="18" charset="0"/>
                  <a:ea typeface="SimSun"/>
                  <a:cs typeface="Times New Roman" panose="02020603050405020304" pitchFamily="18" charset="0"/>
                </a:rPr>
                <a:t>7.2 Future work</a:t>
              </a:r>
            </a:p>
          </p:txBody>
        </p:sp>
        <p:sp>
          <p:nvSpPr>
            <p:cNvPr id="6" name="文本框 2">
              <a:extLst>
                <a:ext uri="{FF2B5EF4-FFF2-40B4-BE49-F238E27FC236}">
                  <a16:creationId xmlns:a16="http://schemas.microsoft.com/office/drawing/2014/main" id="{63BAE8E9-9F5B-4EBD-8AFF-5264AC060110}"/>
                </a:ext>
              </a:extLst>
            </p:cNvPr>
            <p:cNvSpPr txBox="1">
              <a:spLocks noChangeArrowheads="1"/>
            </p:cNvSpPr>
            <p:nvPr/>
          </p:nvSpPr>
          <p:spPr bwMode="auto">
            <a:xfrm>
              <a:off x="920318" y="1579744"/>
              <a:ext cx="10380955" cy="465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742950" indent="-28575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1968">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marL="457200" indent="-457200" algn="just">
                <a:lnSpc>
                  <a:spcPct val="150000"/>
                </a:lnSpc>
                <a:spcBef>
                  <a:spcPts val="492"/>
                </a:spcBef>
                <a:spcAft>
                  <a:spcPts val="656"/>
                </a:spcAft>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The primary focus of this study is on the common cross-flow plate-type IEC, which may not be applicable to other specialized types, such as tubular IEC. Therefore, it is necessary to conduct extensive simulations and experimental research on </a:t>
              </a:r>
              <a:r>
                <a:rPr lang="en-US" altLang="zh-CN" sz="1476" b="1" dirty="0">
                  <a:solidFill>
                    <a:srgbClr val="AF1E3B"/>
                  </a:solidFill>
                  <a:latin typeface="Times New Roman" panose="02020603050405020304" pitchFamily="18" charset="0"/>
                  <a:ea typeface="SimSun"/>
                  <a:cs typeface="Times New Roman" panose="02020603050405020304" pitchFamily="18" charset="0"/>
                </a:rPr>
                <a:t>various types of IEC </a:t>
              </a:r>
              <a:r>
                <a:rPr lang="en-US" altLang="zh-CN" sz="1476" dirty="0">
                  <a:latin typeface="Times New Roman" panose="02020603050405020304" pitchFamily="18" charset="0"/>
                  <a:ea typeface="SimSun"/>
                  <a:cs typeface="Times New Roman" panose="02020603050405020304" pitchFamily="18" charset="0"/>
                </a:rPr>
                <a:t>in the future to generalize the findings</a:t>
              </a:r>
              <a:r>
                <a:rPr lang="en-HK" altLang="zh-CN" sz="1476" dirty="0">
                  <a:latin typeface="Times New Roman" panose="02020603050405020304" pitchFamily="18" charset="0"/>
                  <a:ea typeface="SimSun"/>
                  <a:cs typeface="Times New Roman" panose="02020603050405020304" pitchFamily="18" charset="0"/>
                </a:rPr>
                <a:t>.</a:t>
              </a:r>
              <a:endParaRPr lang="en-US" altLang="zh-CN" sz="1476" dirty="0">
                <a:latin typeface="Times New Roman" panose="02020603050405020304" pitchFamily="18" charset="0"/>
                <a:ea typeface="SimSun"/>
                <a:cs typeface="Times New Roman" panose="02020603050405020304" pitchFamily="18" charset="0"/>
              </a:endParaRPr>
            </a:p>
            <a:p>
              <a:pPr marL="457200" indent="-457200" algn="just">
                <a:lnSpc>
                  <a:spcPct val="150000"/>
                </a:lnSpc>
                <a:spcBef>
                  <a:spcPts val="492"/>
                </a:spcBef>
                <a:spcAft>
                  <a:spcPts val="656"/>
                </a:spcAft>
                <a:buFont typeface="+mj-lt"/>
                <a:buAutoNum type="arabicPeriod"/>
              </a:pPr>
              <a:r>
                <a:rPr lang="en-US" altLang="zh-CN" sz="1476" dirty="0">
                  <a:latin typeface="Times New Roman" panose="02020603050405020304" pitchFamily="18" charset="0"/>
                  <a:ea typeface="SimSun"/>
                  <a:cs typeface="Times New Roman" panose="02020603050405020304" pitchFamily="18" charset="0"/>
                </a:rPr>
                <a:t>For the </a:t>
              </a:r>
              <a:r>
                <a:rPr lang="en-US" altLang="zh-CN" sz="1476" b="1" dirty="0">
                  <a:solidFill>
                    <a:srgbClr val="AF1E3B"/>
                  </a:solidFill>
                  <a:latin typeface="Times New Roman" panose="02020603050405020304" pitchFamily="18" charset="0"/>
                  <a:ea typeface="SimSun"/>
                  <a:cs typeface="Times New Roman" panose="02020603050405020304" pitchFamily="18" charset="0"/>
                </a:rPr>
                <a:t>three operating modes </a:t>
              </a:r>
              <a:r>
                <a:rPr lang="en-US" altLang="zh-CN" sz="1476" dirty="0">
                  <a:latin typeface="Times New Roman" panose="02020603050405020304" pitchFamily="18" charset="0"/>
                  <a:ea typeface="SimSun"/>
                  <a:cs typeface="Times New Roman" panose="02020603050405020304" pitchFamily="18" charset="0"/>
                </a:rPr>
                <a:t>of the IEC system in data centers, it is crucial to regulate the start and stop cycles of the water spray system to meet indoor requirements while minimizing the energy consumption. Therefore, it is necessary to further control the activation states of the three modes based on climatic conditions.</a:t>
              </a:r>
            </a:p>
            <a:p>
              <a:pPr marL="457200" indent="-457200" algn="just">
                <a:lnSpc>
                  <a:spcPct val="150000"/>
                </a:lnSpc>
                <a:spcBef>
                  <a:spcPts val="492"/>
                </a:spcBef>
                <a:spcAft>
                  <a:spcPts val="656"/>
                </a:spcAft>
                <a:buFont typeface="+mj-lt"/>
                <a:buAutoNum type="arabicPeriod"/>
              </a:pPr>
              <a:r>
                <a:rPr lang="en-HK" altLang="zh-CN" sz="1476" dirty="0">
                  <a:latin typeface="Times New Roman" panose="02020603050405020304" pitchFamily="18" charset="0"/>
                  <a:ea typeface="SimSun"/>
                  <a:cs typeface="Times New Roman" panose="02020603050405020304" pitchFamily="18" charset="0"/>
                </a:rPr>
                <a:t>Future work will involve the development of ANN models for different spray parameters under </a:t>
              </a:r>
              <a:r>
                <a:rPr lang="en-HK" altLang="zh-CN" sz="1476" b="1" dirty="0">
                  <a:solidFill>
                    <a:srgbClr val="AF1E3B"/>
                  </a:solidFill>
                  <a:latin typeface="Times New Roman" panose="02020603050405020304" pitchFamily="18" charset="0"/>
                  <a:ea typeface="SimSun"/>
                  <a:cs typeface="Times New Roman" panose="02020603050405020304" pitchFamily="18" charset="0"/>
                </a:rPr>
                <a:t>various climatic conditions</a:t>
              </a:r>
              <a:r>
                <a:rPr lang="en-HK" altLang="zh-CN" sz="1476" dirty="0">
                  <a:solidFill>
                    <a:srgbClr val="AF1E3B"/>
                  </a:solidFill>
                  <a:latin typeface="Times New Roman" panose="02020603050405020304" pitchFamily="18" charset="0"/>
                  <a:ea typeface="SimSun"/>
                  <a:cs typeface="Times New Roman" panose="02020603050405020304" pitchFamily="18" charset="0"/>
                </a:rPr>
                <a:t> </a:t>
              </a:r>
              <a:r>
                <a:rPr lang="en-HK" altLang="zh-CN" sz="1476" dirty="0">
                  <a:latin typeface="Times New Roman" panose="02020603050405020304" pitchFamily="18" charset="0"/>
                  <a:ea typeface="SimSun"/>
                  <a:cs typeface="Times New Roman" panose="02020603050405020304" pitchFamily="18" charset="0"/>
                </a:rPr>
                <a:t>to achieve a more comprehensive analysis and optimization of the IEC system.</a:t>
              </a:r>
              <a:endParaRPr lang="en-US" altLang="zh-CN" sz="1476" dirty="0">
                <a:latin typeface="Times New Roman" panose="02020603050405020304" pitchFamily="18" charset="0"/>
                <a:ea typeface="SimSun"/>
                <a:cs typeface="Times New Roman" panose="02020603050405020304" pitchFamily="18" charset="0"/>
              </a:endParaRPr>
            </a:p>
            <a:p>
              <a:pPr marL="457200" indent="-457200" algn="just">
                <a:lnSpc>
                  <a:spcPct val="150000"/>
                </a:lnSpc>
                <a:spcAft>
                  <a:spcPts val="492"/>
                </a:spcAft>
                <a:buFont typeface="+mj-lt"/>
                <a:buAutoNum type="arabicPeriod"/>
              </a:pPr>
              <a:endParaRPr lang="en-US" altLang="zh-CN" sz="1476" dirty="0">
                <a:latin typeface="Times New Roman" panose="02020603050405020304" pitchFamily="18" charset="0"/>
                <a:ea typeface="SimSun"/>
                <a:cs typeface="Times New Roman" panose="02020603050405020304" pitchFamily="18" charset="0"/>
              </a:endParaRPr>
            </a:p>
          </p:txBody>
        </p:sp>
      </p:grpSp>
      <p:sp>
        <p:nvSpPr>
          <p:cNvPr id="10"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中文要点｜未来研究方向</a:t>
            </a:r>
          </a:p>
          <a:p>
            <a:pPr>
              <a:lnSpc>
                <a:spcPct val="108000"/>
              </a:lnSpc>
              <a:spcAft>
                <a:spcPts val="0"/>
              </a:spcAft>
            </a:pPr>
            <a:r>
              <a:rPr sz="1400" b="0">
                <a:solidFill>
                  <a:srgbClr val="282828"/>
                </a:solidFill>
                <a:latin typeface="Times New Roman"/>
                <a:ea typeface="SimSun"/>
                <a:cs typeface="Times New Roman"/>
              </a:rPr>
              <a:t>拓展至不同结构的 IEC；根据气候条件优化数据中心运行模式与喷淋启停；建立跨气候条件的 ANN 预测模型。</a:t>
            </a:r>
          </a:p>
        </p:txBody>
      </p:sp>
    </p:spTree>
    <p:extLst>
      <p:ext uri="{BB962C8B-B14F-4D97-AF65-F5344CB8AC3E}">
        <p14:creationId xmlns:p14="http://schemas.microsoft.com/office/powerpoint/2010/main" val="3747626483"/>
      </p:ext>
    </p:extLst>
  </p:cSld>
  <p:clrMapOvr>
    <a:masterClrMapping/>
  </p:clrMapOvr>
  <mc:AlternateContent xmlns:mc="http://schemas.openxmlformats.org/markup-compatibility/2006" xmlns:p14="http://schemas.microsoft.com/office/powerpoint/2010/main">
    <mc:Choice Requires="p14">
      <p:transition spd="slow" p14:dur="2000" advTm="56027"/>
    </mc:Choice>
    <mc:Fallback xmlns="">
      <p:transition spd="slow" advTm="56027"/>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1D70D177-0B28-4B6B-8630-603F2410E9D4}"/>
              </a:ext>
            </a:extLst>
          </p:cNvPr>
          <p:cNvSpPr>
            <a:spLocks noChangeArrowheads="1"/>
          </p:cNvSpPr>
          <p:nvPr/>
        </p:nvSpPr>
        <p:spPr bwMode="auto">
          <a:xfrm>
            <a:off x="911441" y="163095"/>
            <a:ext cx="393576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Academic contributions</a:t>
            </a:r>
          </a:p>
        </p:txBody>
      </p:sp>
      <p:sp>
        <p:nvSpPr>
          <p:cNvPr id="2" name="灯片编号占位符 1">
            <a:extLst>
              <a:ext uri="{FF2B5EF4-FFF2-40B4-BE49-F238E27FC236}">
                <a16:creationId xmlns:a16="http://schemas.microsoft.com/office/drawing/2014/main" id="{902CC68C-4AA8-48E0-9062-C9841BB473E9}"/>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59</a:t>
            </a:fld>
            <a:endParaRPr lang="en-US" altLang="zh-CN">
              <a:latin typeface="Times New Roman"/>
              <a:ea typeface="SimSun"/>
              <a:cs typeface="Times New Roman"/>
            </a:endParaRPr>
          </a:p>
        </p:txBody>
      </p:sp>
      <p:grpSp>
        <p:nvGrpSpPr>
          <p:cNvPr id="7" name="Original English content (proportional layout)"/>
          <p:cNvGrpSpPr/>
          <p:nvPr/>
        </p:nvGrpSpPr>
        <p:grpSpPr>
          <a:xfrm>
            <a:off x="1097280" y="731520"/>
            <a:ext cx="9997440" cy="5023714"/>
            <a:chOff x="0" y="731520"/>
            <a:chExt cx="12192000" cy="6126480"/>
          </a:xfrm>
        </p:grpSpPr>
        <p:sp>
          <p:nvSpPr>
            <p:cNvPr id="6" name="文本框 5">
              <a:extLst>
                <a:ext uri="{FF2B5EF4-FFF2-40B4-BE49-F238E27FC236}">
                  <a16:creationId xmlns:a16="http://schemas.microsoft.com/office/drawing/2014/main" id="{4299D7EE-06FF-4935-BCDC-2BDB7DF62424}"/>
                </a:ext>
              </a:extLst>
            </p:cNvPr>
            <p:cNvSpPr txBox="1"/>
            <p:nvPr/>
          </p:nvSpPr>
          <p:spPr>
            <a:xfrm>
              <a:off x="507521" y="1082832"/>
              <a:ext cx="11319294" cy="5683094"/>
            </a:xfrm>
            <a:prstGeom prst="rect">
              <a:avLst/>
            </a:prstGeom>
            <a:noFill/>
          </p:spPr>
          <p:txBody>
            <a:bodyPr wrap="square" rtlCol="0">
              <a:spAutoFit/>
            </a:bodyPr>
            <a:lstStyle/>
            <a:p>
              <a:pPr algn="just">
                <a:spcAft>
                  <a:spcPts val="656"/>
                </a:spcAft>
              </a:pPr>
              <a:r>
                <a:rPr lang="en-US" altLang="zh-CN" sz="1476" b="1" i="1" dirty="0">
                  <a:latin typeface="Times New Roman" panose="02020603050405020304" pitchFamily="18" charset="0"/>
                  <a:ea typeface="SimSun" panose="02010600030101010101" pitchFamily="2" charset="-122"/>
                  <a:cs typeface="Times New Roman" panose="02020603050405020304" pitchFamily="18" charset="0"/>
                </a:rPr>
                <a:t>Published papers:</a:t>
              </a:r>
            </a:p>
            <a:p>
              <a:pPr>
                <a:lnSpc>
                  <a:spcPct val="107000"/>
                </a:lnSpc>
                <a:spcAft>
                  <a:spcPts val="656"/>
                </a:spcAft>
              </a:pPr>
              <a:r>
                <a:rPr lang="en-HK" altLang="zh-CN" sz="1312" dirty="0">
                  <a:latin typeface="Times New Roman" panose="02020603050405020304" pitchFamily="18" charset="0"/>
                  <a:ea typeface="SimSun" panose="02010600030101010101" pitchFamily="2" charset="-122"/>
                  <a:cs typeface="Times New Roman"/>
                </a:rPr>
                <a:t>[1] X. Ma, W. Shi, and H. Yang, “Study on water spraying distribution to improve the energy recovery performance of indirect evaporative coolers with nozzle arrangement optimization,” Applied Energy, vol. 318, 2022.</a:t>
              </a:r>
            </a:p>
            <a:p>
              <a:pPr>
                <a:lnSpc>
                  <a:spcPct val="107000"/>
                </a:lnSpc>
                <a:spcAft>
                  <a:spcPts val="656"/>
                </a:spcAft>
              </a:pPr>
              <a:r>
                <a:rPr lang="en-HK" altLang="zh-CN" sz="1312" dirty="0">
                  <a:latin typeface="Times New Roman" panose="02020603050405020304" pitchFamily="18" charset="0"/>
                  <a:ea typeface="SimSun" panose="02010600030101010101" pitchFamily="2" charset="-122"/>
                  <a:cs typeface="Times New Roman"/>
                </a:rPr>
                <a:t>[2] X. Ma, W. Shi, and H. Yang, “Improving the performance of indirect evaporative cooler for energy recovery from the perspective of nozzle configuration: A CFD model analysis,” Journal of Building Engineering, vol. 76, p. 107195, 2023/10/01/ 2023.</a:t>
              </a:r>
            </a:p>
            <a:p>
              <a:pPr>
                <a:lnSpc>
                  <a:spcPct val="107000"/>
                </a:lnSpc>
                <a:spcAft>
                  <a:spcPts val="656"/>
                </a:spcAft>
              </a:pPr>
              <a:r>
                <a:rPr lang="en-HK" altLang="zh-CN" sz="1312" dirty="0">
                  <a:latin typeface="Times New Roman" panose="02020603050405020304" pitchFamily="18" charset="0"/>
                  <a:ea typeface="SimSun" panose="02010600030101010101" pitchFamily="2" charset="-122"/>
                  <a:cs typeface="Times New Roman"/>
                </a:rPr>
                <a:t>[3] X. Ma, W. Shi, and H. Yang, “Spray parameter analysis and performance optimization of indirect evaporative cooler considering surface wettability,” Journal of Building Engineering, vol. 82, p. 108175, 2024/04/01/ 2024.</a:t>
              </a:r>
            </a:p>
            <a:p>
              <a:pPr>
                <a:lnSpc>
                  <a:spcPct val="107000"/>
                </a:lnSpc>
                <a:spcAft>
                  <a:spcPts val="656"/>
                </a:spcAft>
              </a:pPr>
              <a:r>
                <a:rPr lang="en-HK" altLang="zh-CN" sz="1312" dirty="0">
                  <a:latin typeface="Times New Roman" panose="02020603050405020304" pitchFamily="18" charset="0"/>
                  <a:ea typeface="SimSun" panose="02010600030101010101" pitchFamily="2" charset="-122"/>
                  <a:cs typeface="Times New Roman"/>
                </a:rPr>
                <a:t>[4] X. Ma, W. Shi, Lin Lu and H. Yang, “Performance assessment and optimization of water spray strategy for indirect evaporative cooler based on artificial neural network </a:t>
              </a:r>
              <a:r>
                <a:rPr lang="en-HK" altLang="zh-CN" sz="1312" dirty="0" err="1">
                  <a:latin typeface="Times New Roman" panose="02020603050405020304" pitchFamily="18" charset="0"/>
                  <a:ea typeface="SimSun" panose="02010600030101010101" pitchFamily="2" charset="-122"/>
                  <a:cs typeface="Times New Roman"/>
                </a:rPr>
                <a:t>modeling</a:t>
              </a:r>
              <a:r>
                <a:rPr lang="en-HK" altLang="zh-CN" sz="1312" dirty="0">
                  <a:latin typeface="Times New Roman" panose="02020603050405020304" pitchFamily="18" charset="0"/>
                  <a:ea typeface="SimSun" panose="02010600030101010101" pitchFamily="2" charset="-122"/>
                  <a:cs typeface="Times New Roman"/>
                </a:rPr>
                <a:t> and genetic algorithm,” Applied Energy, vol. 318, 2024.</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a:p>
              <a:pPr algn="just">
                <a:spcBef>
                  <a:spcPts val="492"/>
                </a:spcBef>
                <a:spcAft>
                  <a:spcPts val="492"/>
                </a:spcAft>
              </a:pPr>
              <a:r>
                <a:rPr lang="en-US" altLang="zh-CN" sz="1476" b="1" i="1" dirty="0">
                  <a:latin typeface="Times New Roman" panose="02020603050405020304" pitchFamily="18" charset="0"/>
                  <a:ea typeface="SimSun" panose="02010600030101010101" pitchFamily="2" charset="-122"/>
                  <a:cs typeface="Times New Roman" panose="02020603050405020304" pitchFamily="18" charset="0"/>
                </a:rPr>
                <a:t>Conference papers:</a:t>
              </a:r>
            </a:p>
            <a:p>
              <a:pPr algn="just">
                <a:spcBef>
                  <a:spcPts val="492"/>
                </a:spcBef>
                <a:spcAft>
                  <a:spcPts val="492"/>
                </a:spcAft>
              </a:pPr>
              <a:r>
                <a:rPr lang="en-HK" altLang="zh-CN" sz="1312" dirty="0">
                  <a:latin typeface="Times New Roman" panose="02020603050405020304" pitchFamily="18" charset="0"/>
                  <a:ea typeface="SimSun" panose="02010600030101010101" pitchFamily="2" charset="-122"/>
                  <a:cs typeface="Times New Roman"/>
                </a:rPr>
                <a:t>[1] X. MA, W. Shi, and H. Yang. Study on water spraying distribution for improvement of indirect evaporative coolers with nozzle arrangement optimization. The 13th International Conference on Applied Energy (ICAE2021), virtual, 29 Nov - 2 Dec, 2021.</a:t>
              </a:r>
            </a:p>
            <a:p>
              <a:pPr algn="just">
                <a:spcBef>
                  <a:spcPts val="492"/>
                </a:spcBef>
                <a:spcAft>
                  <a:spcPts val="492"/>
                </a:spcAft>
              </a:pPr>
              <a:r>
                <a:rPr lang="en-HK" altLang="zh-CN" sz="1312" dirty="0">
                  <a:latin typeface="Times New Roman" panose="02020603050405020304" pitchFamily="18" charset="0"/>
                  <a:ea typeface="SimSun" panose="02010600030101010101" pitchFamily="2" charset="-122"/>
                  <a:cs typeface="Times New Roman"/>
                </a:rPr>
                <a:t>[2] X. MA, W. Shi, and H. Yang. Effect of spray nozzle parameters on surface wettability and performance improvement of indirect evaporative cooler. The 2022 MIT "A+B" Applied Energy Symposium (MITAB 2022), virtual, 5-8 July, 2022.</a:t>
              </a:r>
            </a:p>
            <a:p>
              <a:pPr algn="just">
                <a:spcBef>
                  <a:spcPts val="492"/>
                </a:spcBef>
                <a:spcAft>
                  <a:spcPts val="492"/>
                </a:spcAft>
              </a:pPr>
              <a:r>
                <a:rPr lang="en-HK" altLang="zh-CN" sz="1312" dirty="0">
                  <a:latin typeface="Times New Roman" panose="02020603050405020304" pitchFamily="18" charset="0"/>
                  <a:ea typeface="SimSun" panose="02010600030101010101" pitchFamily="2" charset="-122"/>
                  <a:cs typeface="Times New Roman"/>
                </a:rPr>
                <a:t>[3] X. MA, W. Shi, and H. Yang. Development of a wettability combined CFD model of indirect evaporative cooler with spray and water film optimization. The 14th International Conference on Applied Energy (ICAE2022), Bochum, Germany, 8-11 Aug, 2022.</a:t>
              </a:r>
            </a:p>
            <a:p>
              <a:pPr algn="just">
                <a:spcBef>
                  <a:spcPts val="492"/>
                </a:spcBef>
                <a:spcAft>
                  <a:spcPts val="492"/>
                </a:spcAft>
              </a:pPr>
              <a:endParaRPr lang="en-US" altLang="zh-CN" sz="1312" dirty="0">
                <a:latin typeface="Times New Roman" panose="02020603050405020304" pitchFamily="18" charset="0"/>
                <a:ea typeface="SimSun" panose="02010600030101010101" pitchFamily="2" charset="-122"/>
                <a:cs typeface="Times New Roman"/>
              </a:endParaRPr>
            </a:p>
          </p:txBody>
        </p:sp>
      </p:grpSp>
      <p:sp>
        <p:nvSpPr>
          <p:cNvPr id="8"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中文要点｜学术成果</a:t>
            </a:r>
          </a:p>
          <a:p>
            <a:pPr>
              <a:lnSpc>
                <a:spcPct val="108000"/>
              </a:lnSpc>
              <a:spcAft>
                <a:spcPts val="0"/>
              </a:spcAft>
            </a:pPr>
            <a:r>
              <a:rPr sz="1400" b="0">
                <a:solidFill>
                  <a:srgbClr val="282828"/>
                </a:solidFill>
                <a:latin typeface="Times New Roman"/>
                <a:ea typeface="SimSun"/>
                <a:cs typeface="Times New Roman"/>
              </a:rPr>
              <a:t>研究成果涵盖喷淋分布、喷嘴布置、水膜润湿性及 ANN–GA 优化，已形成期刊论文与会议论文。</a:t>
            </a:r>
          </a:p>
        </p:txBody>
      </p:sp>
    </p:spTree>
    <p:extLst>
      <p:ext uri="{BB962C8B-B14F-4D97-AF65-F5344CB8AC3E}">
        <p14:creationId xmlns:p14="http://schemas.microsoft.com/office/powerpoint/2010/main" val="4022355228"/>
      </p:ext>
    </p:extLst>
  </p:cSld>
  <p:clrMapOvr>
    <a:masterClrMapping/>
  </p:clrMapOvr>
  <mc:AlternateContent xmlns:mc="http://schemas.openxmlformats.org/markup-compatibility/2006" xmlns:p14="http://schemas.microsoft.com/office/powerpoint/2010/main">
    <mc:Choice Requires="p14">
      <p:transition spd="slow" p14:dur="2000" advTm="4687"/>
    </mc:Choice>
    <mc:Fallback xmlns="">
      <p:transition spd="slow" advTm="4687"/>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5"/>
          <p:cNvSpPr>
            <a:spLocks noChangeArrowheads="1"/>
          </p:cNvSpPr>
          <p:nvPr/>
        </p:nvSpPr>
        <p:spPr bwMode="auto">
          <a:xfrm>
            <a:off x="2192866" y="4419600"/>
            <a:ext cx="3124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bg2"/>
                </a:solidFill>
                <a:latin typeface="Times New Roman" panose="020B0604020202020204" pitchFamily="34" charset="0"/>
                <a:ea typeface="SimSun" panose="020B0600070205080204" pitchFamily="34" charset="-128"/>
                <a:cs typeface="Times New Roman"/>
              </a:defRPr>
            </a:lvl1pPr>
            <a:lvl2pPr marL="742950" indent="-28575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2pPr>
            <a:lvl3pPr marL="11430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3pPr>
            <a:lvl4pPr marL="1600200" indent="-228600">
              <a:spcBef>
                <a:spcPct val="20000"/>
              </a:spcBef>
              <a:buClr>
                <a:schemeClr val="tx1"/>
              </a:buClr>
              <a:buFont typeface="Wingdings" panose="05000000000000000000" pitchFamily="2" charset="2"/>
              <a:buChar char="§"/>
              <a:defRPr>
                <a:solidFill>
                  <a:schemeClr val="bg2"/>
                </a:solidFill>
                <a:latin typeface="Times New Roman" panose="020B0604020202020204" pitchFamily="34" charset="0"/>
                <a:ea typeface="SimSun" panose="020B0600070205080204" pitchFamily="34" charset="-128"/>
                <a:cs typeface="Times New Roman"/>
              </a:defRPr>
            </a:lvl4pPr>
            <a:lvl5pPr marL="2057400" indent="-228600">
              <a:spcBef>
                <a:spcPct val="20000"/>
              </a:spcBef>
              <a:buChar char="•"/>
              <a:defRPr>
                <a:solidFill>
                  <a:schemeClr val="bg2"/>
                </a:solidFill>
                <a:latin typeface="Times New Roman" panose="020B0604020202020204" pitchFamily="34" charset="0"/>
                <a:ea typeface="SimSun" panose="020B0600070205080204" pitchFamily="34" charset="-128"/>
                <a:cs typeface="Times New Roman"/>
              </a:defRPr>
            </a:lvl5pPr>
            <a:lvl6pPr marL="25146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6pPr>
            <a:lvl7pPr marL="29718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7pPr>
            <a:lvl8pPr marL="34290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8pPr>
            <a:lvl9pPr marL="3886200" indent="-228600" eaLnBrk="0" fontAlgn="base" hangingPunct="0">
              <a:spcBef>
                <a:spcPct val="20000"/>
              </a:spcBef>
              <a:spcAft>
                <a:spcPct val="0"/>
              </a:spcAft>
              <a:buChar char="•"/>
              <a:defRPr>
                <a:solidFill>
                  <a:schemeClr val="bg2"/>
                </a:solidFill>
                <a:latin typeface="Times New Roman" panose="020B0604020202020204" pitchFamily="34" charset="0"/>
                <a:ea typeface="SimSun" panose="020B0600070205080204" pitchFamily="34" charset="-128"/>
                <a:cs typeface="Times New Roman"/>
              </a:defRPr>
            </a:lvl9pPr>
          </a:lstStyle>
          <a:p>
            <a:pPr algn="ctr" eaLnBrk="1" hangingPunct="1">
              <a:buFontTx/>
              <a:buNone/>
            </a:pPr>
            <a:endParaRPr lang="zh-CN" altLang="zh-CN" sz="1600">
              <a:solidFill>
                <a:srgbClr val="000000"/>
              </a:solidFill>
              <a:latin typeface="Times New Roman"/>
              <a:ea typeface="SimSun" panose="020B0604020202020204" pitchFamily="34" charset="-128"/>
              <a:cs typeface="Times New Roman"/>
            </a:endParaRPr>
          </a:p>
        </p:txBody>
      </p:sp>
      <p:sp>
        <p:nvSpPr>
          <p:cNvPr id="19460" name="Rectangle 6"/>
          <p:cNvSpPr>
            <a:spLocks noGrp="1" noChangeArrowheads="1"/>
          </p:cNvSpPr>
          <p:nvPr>
            <p:ph type="ctrTitle" sz="quarter"/>
          </p:nvPr>
        </p:nvSpPr>
        <p:spPr>
          <a:xfrm>
            <a:off x="1638300" y="2438401"/>
            <a:ext cx="8915400" cy="1927225"/>
          </a:xfrm>
        </p:spPr>
        <p:txBody>
          <a:bodyPr/>
          <a:lstStyle/>
          <a:p>
            <a:pPr algn="ctr">
              <a:lnSpc>
                <a:spcPct val="150000"/>
              </a:lnSpc>
            </a:pPr>
            <a:r>
              <a:rPr lang="en-HK" altLang="zh-CN" sz="6000" i="1" dirty="0">
                <a:latin typeface="Times New Roman" panose="02020603050405020304" pitchFamily="18" charset="0"/>
                <a:ea typeface="SimSun" panose="02010600030101010101" pitchFamily="2" charset="-122"/>
                <a:cs typeface="Times New Roman" panose="02020603050405020304" pitchFamily="18" charset="0"/>
              </a:rPr>
              <a:t>T</a:t>
            </a:r>
            <a:r>
              <a:rPr lang="en-US" altLang="zh-CN" sz="6000" i="1" dirty="0">
                <a:latin typeface="Times New Roman" panose="02020603050405020304" pitchFamily="18" charset="0"/>
                <a:ea typeface="SimSun" panose="02010600030101010101" pitchFamily="2" charset="-122"/>
                <a:cs typeface="Times New Roman" panose="02020603050405020304" pitchFamily="18" charset="0"/>
              </a:rPr>
              <a:t>hank you!</a:t>
            </a:r>
            <a:br>
              <a:rPr lang="en-HK" altLang="zh-CN" sz="3200" dirty="0">
                <a:latin typeface="Times New Roman" panose="02020603050405020304" pitchFamily="18" charset="0"/>
                <a:ea typeface="SimSun" panose="02010600030101010101" pitchFamily="2" charset="-122"/>
                <a:cs typeface="Times New Roman" panose="02020603050405020304" pitchFamily="18" charset="0"/>
              </a:rPr>
            </a:br>
            <a:br>
              <a:rPr lang="en-HK" altLang="zh-CN" sz="3200" dirty="0">
                <a:latin typeface="Times New Roman" panose="02020603050405020304" pitchFamily="18" charset="0"/>
                <a:ea typeface="SimSun" panose="02010600030101010101" pitchFamily="2" charset="-122"/>
                <a:cs typeface="Times New Roman" panose="02020603050405020304" pitchFamily="18" charset="0"/>
              </a:rPr>
            </a:br>
            <a:endParaRPr lang="en-US" altLang="zh-CN" sz="32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67B468AD-3765-4211-97AE-355D9398DFA4}"/>
              </a:ext>
            </a:extLst>
          </p:cNvPr>
          <p:cNvSpPr/>
          <p:nvPr/>
        </p:nvSpPr>
        <p:spPr bwMode="auto">
          <a:xfrm>
            <a:off x="6875253" y="0"/>
            <a:ext cx="5316747" cy="120466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90000"/>
              </a:lnSpc>
              <a:spcBef>
                <a:spcPct val="20000"/>
              </a:spcBef>
            </a:pPr>
            <a:endParaRPr lang="zh-CN" altLang="en-US" sz="3200">
              <a:solidFill>
                <a:schemeClr val="bg2"/>
              </a:solidFill>
              <a:latin typeface="Times New Roman" charset="0"/>
              <a:ea typeface="SimSun"/>
              <a:cs typeface="Times New Roman"/>
            </a:endParaRPr>
          </a:p>
        </p:txBody>
      </p:sp>
      <p:sp>
        <p:nvSpPr>
          <p:cNvPr id="9" name="灯片编号占位符 3">
            <a:extLst>
              <a:ext uri="{FF2B5EF4-FFF2-40B4-BE49-F238E27FC236}">
                <a16:creationId xmlns:a16="http://schemas.microsoft.com/office/drawing/2014/main" id="{6536BF76-C0A7-4A5C-858D-470D1876950F}"/>
              </a:ext>
            </a:extLst>
          </p:cNvPr>
          <p:cNvSpPr txBox="1">
            <a:spLocks/>
          </p:cNvSpPr>
          <p:nvPr/>
        </p:nvSpPr>
        <p:spPr>
          <a:xfrm>
            <a:off x="10058400" y="6395053"/>
            <a:ext cx="2133600" cy="365125"/>
          </a:xfrm>
          <a:prstGeom prst="rect">
            <a:avLst/>
          </a:prstGeom>
        </p:spPr>
        <p:txBody>
          <a:bodyPr/>
          <a:lstStyle>
            <a:defPPr>
              <a:defRPr lang="en-US">
                <a:latin typeface="Times New Roman"/>
                <a:ea typeface="SimSun"/>
                <a:cs typeface="Times New Roman"/>
              </a:defRPr>
            </a:defPPr>
            <a:lvl1pPr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4572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9144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3716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1828800" algn="l" rtl="0" eaLnBrk="0" fontAlgn="base" hangingPunct="0">
              <a:spcBef>
                <a:spcPct val="0"/>
              </a:spcBef>
              <a:spcAft>
                <a:spcPct val="0"/>
              </a:spcAft>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2860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7432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2004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657600" algn="l" defTabSz="914400" rtl="0" eaLnBrk="1" latinLnBrk="0" hangingPunct="1">
              <a:defRPr sz="2400" kern="12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algn="r">
              <a:defRPr>
                <a:latin typeface="Times New Roman"/>
                <a:ea typeface="SimSun"/>
                <a:cs typeface="Times New Roman"/>
              </a:defRPr>
            </a:pPr>
            <a:fld id="{15884886-3D85-4AFD-9D94-33E4AF7428DD}" type="slidenum">
              <a:rPr lang="en-US" altLang="zh-CN" sz="1200">
                <a:solidFill>
                  <a:srgbClr val="898989"/>
                </a:solidFill>
                <a:latin typeface="Times New Roman"/>
                <a:ea typeface="SimSun"/>
                <a:cs typeface="Times New Roman"/>
              </a:rPr>
              <a:pPr algn="r">
                <a:defRPr>
                  <a:latin typeface="Times New Roman"/>
                  <a:ea typeface="SimSun"/>
                  <a:cs typeface="Times New Roman"/>
                </a:defRPr>
              </a:pPr>
              <a:t>60</a:t>
            </a:fld>
            <a:endParaRPr lang="en-US" altLang="zh-CN" sz="1200" dirty="0">
              <a:solidFill>
                <a:srgbClr val="898989"/>
              </a:solidFill>
              <a:latin typeface="Times New Roman"/>
              <a:ea typeface="SimSun"/>
              <a:cs typeface="Times New Roman"/>
            </a:endParaRPr>
          </a:p>
        </p:txBody>
      </p:sp>
      <p:sp>
        <p:nvSpPr>
          <p:cNvPr id="2" name="矩形 1">
            <a:extLst>
              <a:ext uri="{FF2B5EF4-FFF2-40B4-BE49-F238E27FC236}">
                <a16:creationId xmlns:a16="http://schemas.microsoft.com/office/drawing/2014/main" id="{8278B0D7-5E4A-4E2D-B1F8-C498ECFB25C3}"/>
              </a:ext>
            </a:extLst>
          </p:cNvPr>
          <p:cNvSpPr/>
          <p:nvPr/>
        </p:nvSpPr>
        <p:spPr bwMode="auto">
          <a:xfrm>
            <a:off x="10075653" y="146649"/>
            <a:ext cx="2346385" cy="1112593"/>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Times New Roman" charset="0"/>
              <a:ea typeface="SimSun"/>
              <a:cs typeface="Times New Roman"/>
            </a:endParaRPr>
          </a:p>
        </p:txBody>
      </p:sp>
      <p:sp>
        <p:nvSpPr>
          <p:cNvPr id="1946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中文要点｜致谢</a:t>
            </a:r>
          </a:p>
          <a:p>
            <a:pPr>
              <a:lnSpc>
                <a:spcPct val="108000"/>
              </a:lnSpc>
              <a:spcAft>
                <a:spcPts val="0"/>
              </a:spcAft>
            </a:pPr>
            <a:r>
              <a:rPr sz="1400" b="0">
                <a:solidFill>
                  <a:srgbClr val="282828"/>
                </a:solidFill>
                <a:latin typeface="Times New Roman"/>
                <a:ea typeface="SimSun"/>
                <a:cs typeface="Times New Roman"/>
              </a:rPr>
              <a:t>感谢聆听，敬请批评指正！</a:t>
            </a:r>
          </a:p>
        </p:txBody>
      </p:sp>
    </p:spTree>
    <p:extLst>
      <p:ext uri="{BB962C8B-B14F-4D97-AF65-F5344CB8AC3E}">
        <p14:creationId xmlns:p14="http://schemas.microsoft.com/office/powerpoint/2010/main" val="3499825183"/>
      </p:ext>
    </p:extLst>
  </p:cSld>
  <p:clrMapOvr>
    <a:masterClrMapping/>
  </p:clrMapOvr>
  <p:transition spd="slow" advTm="22901"/>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61</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25"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spcBef>
                  <a:spcPts val="984"/>
                </a:spcBef>
                <a:spcAft>
                  <a:spcPts val="984"/>
                </a:spcAft>
                <a:buClrTx/>
                <a:buFont typeface="Wingdings" panose="05000000000000000000" pitchFamily="2" charset="2"/>
                <a:buChar char="Ø"/>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W</a:t>
              </a:r>
              <a:r>
                <a:rPr lang="en-US" altLang="zh-CN" sz="1476" b="1" kern="0" dirty="0">
                  <a:latin typeface="Times New Roman" panose="02020603050405020304" pitchFamily="18" charset="0"/>
                  <a:ea typeface="SimSun"/>
                  <a:cs typeface="Times New Roman" panose="02020603050405020304" pitchFamily="18" charset="0"/>
                </a:rPr>
                <a:t>orking principle</a:t>
              </a:r>
              <a:endParaRPr lang="en-US" altLang="en-US" sz="1476" b="1" kern="0" dirty="0">
                <a:latin typeface="Times New Roman" panose="02020603050405020304" pitchFamily="18" charset="0"/>
                <a:ea typeface="SimSun"/>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5570146" y="2890109"/>
              <a:ext cx="5565133" cy="1494512"/>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Non-Uniform Edges</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 In reality, the edges of the spray area might not be perfectly straight or uniformly distributed.</a:t>
              </a:r>
            </a:p>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Complex Geometries</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 The actual spray might have a more complex geometry, such as an elliptical or fan-shaped distribution, which is oversimplified by a cone.</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pic>
          <p:nvPicPr>
            <p:cNvPr id="16" name="图片 15">
              <a:extLst>
                <a:ext uri="{FF2B5EF4-FFF2-40B4-BE49-F238E27FC236}">
                  <a16:creationId xmlns:a16="http://schemas.microsoft.com/office/drawing/2014/main" id="{EEE6AE59-936D-4886-9C6E-93468EC9E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721" y="1411964"/>
              <a:ext cx="3397479" cy="3036684"/>
            </a:xfrm>
            <a:prstGeom prst="rect">
              <a:avLst/>
            </a:prstGeom>
          </p:spPr>
        </p:pic>
        <p:sp>
          <p:nvSpPr>
            <p:cNvPr id="21" name="矩形 20">
              <a:extLst>
                <a:ext uri="{FF2B5EF4-FFF2-40B4-BE49-F238E27FC236}">
                  <a16:creationId xmlns:a16="http://schemas.microsoft.com/office/drawing/2014/main" id="{4C39DAEE-41EF-4805-9722-7800E5711F56}"/>
                </a:ext>
              </a:extLst>
            </p:cNvPr>
            <p:cNvSpPr/>
            <p:nvPr/>
          </p:nvSpPr>
          <p:spPr>
            <a:xfrm>
              <a:off x="911441" y="4535650"/>
              <a:ext cx="4792063"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 8.2 </a:t>
              </a:r>
              <a:r>
                <a:rPr lang="en-HK" sz="984" dirty="0">
                  <a:solidFill>
                    <a:prstClr val="black"/>
                  </a:solidFill>
                  <a:latin typeface="Times New Roman" panose="02020603050405020304" pitchFamily="18" charset="0"/>
                  <a:ea typeface="SimSun"/>
                  <a:cs typeface="Times New Roman" panose="02020603050405020304" pitchFamily="18" charset="0"/>
                </a:rPr>
                <a:t>Geometry used in volumetric flux distribution model</a:t>
              </a:r>
              <a:r>
                <a:rPr lang="en-US" sz="984" baseline="30000" dirty="0">
                  <a:solidFill>
                    <a:prstClr val="black"/>
                  </a:solidFill>
                  <a:latin typeface="Times New Roman" panose="02020603050405020304" pitchFamily="18" charset="0"/>
                  <a:ea typeface="SimSun"/>
                  <a:cs typeface="Times New Roman" panose="02020603050405020304" pitchFamily="18" charset="0"/>
                </a:rPr>
                <a:t> [1]</a:t>
              </a:r>
              <a:endParaRPr lang="en-HK" sz="984" dirty="0">
                <a:solidFill>
                  <a:prstClr val="black"/>
                </a:solidFill>
                <a:latin typeface="Times New Roman" panose="02020603050405020304" pitchFamily="18" charset="0"/>
                <a:ea typeface="SimSun"/>
                <a:cs typeface="Times New Roman" panose="02020603050405020304" pitchFamily="18" charset="0"/>
              </a:endParaRPr>
            </a:p>
          </p:txBody>
        </p:sp>
        <p:sp>
          <p:nvSpPr>
            <p:cNvPr id="22" name="矩形 21">
              <a:extLst>
                <a:ext uri="{FF2B5EF4-FFF2-40B4-BE49-F238E27FC236}">
                  <a16:creationId xmlns:a16="http://schemas.microsoft.com/office/drawing/2014/main" id="{22F085F9-31D7-47A5-AEDD-519917B26AE2}"/>
                </a:ext>
              </a:extLst>
            </p:cNvPr>
            <p:cNvSpPr/>
            <p:nvPr/>
          </p:nvSpPr>
          <p:spPr>
            <a:xfrm>
              <a:off x="5396696" y="1439745"/>
              <a:ext cx="5641418" cy="1156086"/>
            </a:xfrm>
            <a:prstGeom prst="rect">
              <a:avLst/>
            </a:prstGeom>
          </p:spPr>
          <p:txBody>
            <a:bodyPr wrap="square">
              <a:spAutoFit/>
            </a:bodyPr>
            <a:lstStyle/>
            <a:p>
              <a:pPr marL="285750" indent="-285750">
                <a:lnSpc>
                  <a:spcPct val="150000"/>
                </a:lnSpc>
                <a:buFont typeface="Wingdings" panose="05000000000000000000" pitchFamily="2" charset="2"/>
                <a:buChar char="v"/>
              </a:pPr>
              <a:r>
                <a:rPr lang="en-HK" sz="1312" b="1" dirty="0">
                  <a:latin typeface="Times New Roman" panose="02020603050405020304" pitchFamily="18" charset="0"/>
                  <a:ea typeface="SimSun"/>
                  <a:cs typeface="Times New Roman" panose="02020603050405020304" pitchFamily="18" charset="0"/>
                </a:rPr>
                <a:t>Assumption</a:t>
              </a:r>
              <a:r>
                <a:rPr lang="zh-CN" altLang="en-US" sz="1312" b="1" dirty="0">
                  <a:latin typeface="Times New Roman" panose="02020603050405020304" pitchFamily="18" charset="0"/>
                  <a:ea typeface="SimSun"/>
                  <a:cs typeface="Times New Roman" panose="02020603050405020304" pitchFamily="18" charset="0"/>
                </a:rPr>
                <a:t>：</a:t>
              </a:r>
              <a:endParaRPr lang="en-HK" altLang="zh-CN" sz="1312" b="1" dirty="0">
                <a:latin typeface="Times New Roman" panose="02020603050405020304" pitchFamily="18" charset="0"/>
                <a:ea typeface="SimSun"/>
                <a:cs typeface="Times New Roman" panose="02020603050405020304" pitchFamily="18" charset="0"/>
              </a:endParaRPr>
            </a:p>
            <a:p>
              <a:pPr>
                <a:lnSpc>
                  <a:spcPct val="150000"/>
                </a:lnSpc>
              </a:pPr>
              <a:r>
                <a:rPr lang="en-HK" sz="1312" dirty="0">
                  <a:latin typeface="Times New Roman" panose="02020603050405020304" pitchFamily="18" charset="0"/>
                  <a:ea typeface="SimSun"/>
                  <a:cs typeface="Times New Roman" panose="02020603050405020304" pitchFamily="18" charset="0"/>
                </a:rPr>
                <a:t>The total spray flow rate, Q, is uniformly distributed over any spherical surface </a:t>
              </a:r>
              <a:r>
                <a:rPr lang="en-HK" sz="1312" dirty="0" err="1">
                  <a:latin typeface="Times New Roman" panose="02020603050405020304" pitchFamily="18" charset="0"/>
                  <a:ea typeface="SimSun"/>
                  <a:cs typeface="Times New Roman" panose="02020603050405020304" pitchFamily="18" charset="0"/>
                </a:rPr>
                <a:t>centered</a:t>
              </a:r>
              <a:r>
                <a:rPr lang="en-HK" sz="1312" dirty="0">
                  <a:latin typeface="Times New Roman" panose="02020603050405020304" pitchFamily="18" charset="0"/>
                  <a:ea typeface="SimSun"/>
                  <a:cs typeface="Times New Roman" panose="02020603050405020304" pitchFamily="18" charset="0"/>
                </a:rPr>
                <a:t> at the spray orifice.</a:t>
              </a:r>
            </a:p>
          </p:txBody>
        </p:sp>
        <p:sp>
          <p:nvSpPr>
            <p:cNvPr id="23" name="文本框 22">
              <a:extLst>
                <a:ext uri="{FF2B5EF4-FFF2-40B4-BE49-F238E27FC236}">
                  <a16:creationId xmlns:a16="http://schemas.microsoft.com/office/drawing/2014/main" id="{3A92D006-AA92-4C25-A9DD-5947F2234E6F}"/>
                </a:ext>
              </a:extLst>
            </p:cNvPr>
            <p:cNvSpPr txBox="1"/>
            <p:nvPr/>
          </p:nvSpPr>
          <p:spPr>
            <a:xfrm>
              <a:off x="1219312" y="5138950"/>
              <a:ext cx="10098341" cy="1128450"/>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However, the results we obtain do not necessitate </a:t>
              </a:r>
              <a:r>
                <a:rPr lang="en-HK" altLang="zh-CN" sz="1312"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fine-grained precision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at every line and point, but rather within individual small grids. The </a:t>
              </a:r>
              <a:r>
                <a:rPr lang="en-HK" altLang="zh-CN" sz="1312"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foundational model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has already been validated, and the model we are using has also been successfully verified. To achieve more accurate analysis, we have employed the </a:t>
              </a:r>
              <a:r>
                <a:rPr lang="en-HK" altLang="zh-CN" sz="1312" dirty="0">
                  <a:solidFill>
                    <a:srgbClr val="AF1E3B"/>
                  </a:solidFill>
                  <a:latin typeface="Times New Roman" panose="02020603050405020304" pitchFamily="18" charset="0"/>
                  <a:ea typeface="SimSun" panose="02010600030101010101" pitchFamily="2" charset="-122"/>
                  <a:cs typeface="Times New Roman" panose="02020603050405020304" pitchFamily="18" charset="0"/>
                </a:rPr>
                <a:t>Discrete Phase Model (DPM)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in subsequent models to simulate the dispersion of spray droplets.</a:t>
              </a:r>
              <a:endParaRPr lang="en-US" altLang="zh-CN" sz="1312"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24" name="矩形 23">
              <a:extLst>
                <a:ext uri="{FF2B5EF4-FFF2-40B4-BE49-F238E27FC236}">
                  <a16:creationId xmlns:a16="http://schemas.microsoft.com/office/drawing/2014/main" id="{AC39DB47-7C7D-4D48-B6E0-93C6E5F05628}"/>
                </a:ext>
              </a:extLst>
            </p:cNvPr>
            <p:cNvSpPr/>
            <p:nvPr/>
          </p:nvSpPr>
          <p:spPr bwMode="auto">
            <a:xfrm>
              <a:off x="5207748" y="1439745"/>
              <a:ext cx="5830366" cy="1177086"/>
            </a:xfrm>
            <a:prstGeom prst="rect">
              <a:avLst/>
            </a:prstGeom>
            <a:noFill/>
            <a:ln w="19050" cap="flat" cmpd="sng" algn="ctr">
              <a:solidFill>
                <a:srgbClr val="C00000"/>
              </a:solidFill>
              <a:prstDash val="dash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2624" b="0" i="0" u="none" strike="noStrike" cap="none" normalizeH="0" baseline="0">
                <a:ln>
                  <a:noFill/>
                </a:ln>
                <a:solidFill>
                  <a:schemeClr val="bg2"/>
                </a:solidFill>
                <a:effectLst/>
                <a:latin typeface="Times New Roman" charset="0"/>
                <a:ea typeface="SimSun"/>
                <a:cs typeface="Times New Roman"/>
              </a:endParaRPr>
            </a:p>
          </p:txBody>
        </p:sp>
      </p:grpSp>
      <p:sp>
        <p:nvSpPr>
          <p:cNvPr id="26"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中文要点｜模型假设与适用性</a:t>
            </a:r>
          </a:p>
          <a:p>
            <a:pPr>
              <a:lnSpc>
                <a:spcPct val="108000"/>
              </a:lnSpc>
              <a:spcAft>
                <a:spcPts val="0"/>
              </a:spcAft>
            </a:pPr>
            <a:r>
              <a:rPr sz="1400" b="0">
                <a:solidFill>
                  <a:srgbClr val="282828"/>
                </a:solidFill>
                <a:latin typeface="Times New Roman"/>
                <a:ea typeface="SimSun"/>
                <a:cs typeface="Times New Roman"/>
              </a:rPr>
              <a:t>球面均匀喷淋假设用于网格平均分析；实际喷雾存在不规则边界，后续采用 DPM 更细致地描述液滴弥散。</a:t>
            </a:r>
          </a:p>
        </p:txBody>
      </p:sp>
    </p:spTree>
    <p:extLst>
      <p:ext uri="{BB962C8B-B14F-4D97-AF65-F5344CB8AC3E}">
        <p14:creationId xmlns:p14="http://schemas.microsoft.com/office/powerpoint/2010/main" val="23031893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62</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21"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spcBef>
                  <a:spcPts val="984"/>
                </a:spcBef>
                <a:spcAft>
                  <a:spcPts val="984"/>
                </a:spcAft>
                <a:buClrTx/>
                <a:buFont typeface="Wingdings" panose="05000000000000000000" pitchFamily="2" charset="2"/>
                <a:buChar char="Ø"/>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Specific gaps in the four configurations</a:t>
              </a:r>
            </a:p>
          </p:txBody>
        </p:sp>
        <p:sp>
          <p:nvSpPr>
            <p:cNvPr id="10" name="文本框 9">
              <a:extLst>
                <a:ext uri="{FF2B5EF4-FFF2-40B4-BE49-F238E27FC236}">
                  <a16:creationId xmlns:a16="http://schemas.microsoft.com/office/drawing/2014/main" id="{F6E5958E-E7A8-8206-F4C3-2DB88B2C8BC3}"/>
                </a:ext>
              </a:extLst>
            </p:cNvPr>
            <p:cNvSpPr txBox="1"/>
            <p:nvPr/>
          </p:nvSpPr>
          <p:spPr>
            <a:xfrm>
              <a:off x="3371682" y="5024765"/>
              <a:ext cx="4895850" cy="280270"/>
            </a:xfrm>
            <a:prstGeom prst="rect">
              <a:avLst/>
            </a:prstGeom>
            <a:noFill/>
          </p:spPr>
          <p:txBody>
            <a:bodyPr wrap="square">
              <a:spAutoFit/>
            </a:bodyPr>
            <a:lstStyle/>
            <a:p>
              <a:pPr algn="ctr">
                <a:lnSpc>
                  <a:spcPct val="107000"/>
                </a:lnSpc>
                <a:spcAft>
                  <a:spcPts val="656"/>
                </a:spcAft>
              </a:pPr>
              <a:r>
                <a:rPr lang="en-US" altLang="zh-CN" sz="984" b="1" dirty="0">
                  <a:latin typeface="Times New Roman" panose="02020603050405020304" pitchFamily="18" charset="0"/>
                  <a:ea typeface="SimSun" panose="02010600030101010101" pitchFamily="2" charset="-122"/>
                  <a:cs typeface="Times New Roman" panose="02020603050405020304" pitchFamily="18" charset="0"/>
                </a:rPr>
                <a:t>Fig. 8.5 </a:t>
              </a:r>
              <a:r>
                <a:rPr lang="en-US" altLang="zh-CN" sz="984" dirty="0">
                  <a:latin typeface="Times New Roman" panose="02020603050405020304" pitchFamily="18" charset="0"/>
                  <a:ea typeface="SimSun" panose="02010600030101010101" pitchFamily="2" charset="-122"/>
                  <a:cs typeface="Times New Roman" panose="02020603050405020304" pitchFamily="18" charset="0"/>
                </a:rPr>
                <a:t>The coverage ratio and outlet temperature of four configurations</a:t>
              </a:r>
              <a:endParaRPr lang="zh-CN" altLang="zh-CN" sz="984" dirty="0">
                <a:latin typeface="Times New Roman" panose="020F0502020204030204" pitchFamily="34" charset="0"/>
                <a:ea typeface="SimSun"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5A6E6B83-037F-337A-2F2C-BA728907C8FA}"/>
                </a:ext>
              </a:extLst>
            </p:cNvPr>
            <p:cNvSpPr txBox="1"/>
            <p:nvPr/>
          </p:nvSpPr>
          <p:spPr>
            <a:xfrm>
              <a:off x="1891380" y="5437664"/>
              <a:ext cx="8754206" cy="967573"/>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temperature drop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follows the same trend as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the water film coverage coefficient</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lgn="just">
                <a:lnSpc>
                  <a:spcPct val="107000"/>
                </a:lnSpc>
                <a:spcAft>
                  <a:spcPts val="656"/>
                </a:spcAft>
                <a:buFont typeface="Arial" panose="020B0604020202020204" pitchFamily="34" charset="0"/>
                <a:buChar char="•"/>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The best results are achieved in the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upper side</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 configuration, with a </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59.2%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and</a:t>
              </a:r>
              <a:r>
                <a:rPr lang="en-US" altLang="zh-CN" sz="1312"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 27.4% </a:t>
              </a: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improvement compared to the worst one. </a:t>
              </a: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13" name="对象 12">
              <a:extLst>
                <a:ext uri="{FF2B5EF4-FFF2-40B4-BE49-F238E27FC236}">
                  <a16:creationId xmlns:a16="http://schemas.microsoft.com/office/drawing/2014/main" id="{A0558D33-4505-4D7C-801F-DDEC2DE4CC81}"/>
                </a:ext>
              </a:extLst>
            </p:cNvPr>
            <p:cNvGraphicFramePr>
              <a:graphicFrameLocks noChangeAspect="1"/>
            </p:cNvGraphicFramePr>
            <p:nvPr/>
          </p:nvGraphicFramePr>
          <p:xfrm>
            <a:off x="3212064" y="1485357"/>
            <a:ext cx="4895851" cy="3685641"/>
          </p:xfrm>
          <a:graphic>
            <a:graphicData uri="http://schemas.openxmlformats.org/presentationml/2006/ole">
              <mc:AlternateContent xmlns:mc="http://schemas.openxmlformats.org/markup-compatibility/2006">
                <mc:Choice xmlns:v="urn:schemas-microsoft-com:vml" Requires="v">
                  <p:oleObj name="Graph" r:id="rId3" imgW="6662246" imgH="5004486" progId="Origin95.Graph">
                    <p:embed/>
                  </p:oleObj>
                </mc:Choice>
                <mc:Fallback>
                  <p:oleObj name="Graph" r:id="rId3" imgW="6662246" imgH="5004486" progId="Origin95.Graph">
                    <p:embed/>
                    <p:pic>
                      <p:nvPicPr>
                        <p:cNvPr id="13" name="对象 12">
                          <a:extLst>
                            <a:ext uri="{FF2B5EF4-FFF2-40B4-BE49-F238E27FC236}">
                              <a16:creationId xmlns:a16="http://schemas.microsoft.com/office/drawing/2014/main" id="{A0558D33-4505-4D7C-801F-DDEC2DE4C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064" y="1485357"/>
                          <a:ext cx="4895851" cy="3685641"/>
                        </a:xfrm>
                        <a:prstGeom prst="rect">
                          <a:avLst/>
                        </a:prstGeom>
                        <a:noFill/>
                      </p:spPr>
                    </p:pic>
                  </p:oleObj>
                </mc:Fallback>
              </mc:AlternateContent>
            </a:graphicData>
          </a:graphic>
        </p:graphicFrame>
      </p:grpSp>
      <p:sp>
        <p:nvSpPr>
          <p:cNvPr id="22"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中文要点｜四种布置的补充对比</a:t>
            </a:r>
          </a:p>
          <a:p>
            <a:pPr>
              <a:lnSpc>
                <a:spcPct val="108000"/>
              </a:lnSpc>
              <a:spcAft>
                <a:spcPts val="0"/>
              </a:spcAft>
            </a:pPr>
            <a:r>
              <a:rPr sz="1400" b="0">
                <a:solidFill>
                  <a:srgbClr val="282828"/>
                </a:solidFill>
                <a:latin typeface="Times New Roman"/>
                <a:ea typeface="SimSun"/>
                <a:cs typeface="Times New Roman"/>
              </a:rPr>
              <a:t>上侧布置表现最佳；两项指标相对最差方案分别提升 </a:t>
            </a:r>
            <a:r>
              <a:rPr sz="1400" b="1">
                <a:solidFill>
                  <a:srgbClr val="282828"/>
                </a:solidFill>
                <a:latin typeface="Times New Roman"/>
                <a:ea typeface="SimSun"/>
                <a:cs typeface="Times New Roman"/>
              </a:rPr>
              <a:t>59.2%</a:t>
            </a:r>
            <a:r>
              <a:rPr sz="1400" b="0">
                <a:solidFill>
                  <a:srgbClr val="282828"/>
                </a:solidFill>
                <a:latin typeface="Times New Roman"/>
                <a:ea typeface="SimSun"/>
                <a:cs typeface="Times New Roman"/>
              </a:rPr>
              <a:t> 和 </a:t>
            </a:r>
            <a:r>
              <a:rPr sz="1400" b="1">
                <a:solidFill>
                  <a:srgbClr val="282828"/>
                </a:solidFill>
                <a:latin typeface="Times New Roman"/>
                <a:ea typeface="SimSun"/>
                <a:cs typeface="Times New Roman"/>
              </a:rPr>
              <a:t>27.4%</a:t>
            </a:r>
            <a:r>
              <a:rPr sz="1400" b="0">
                <a:solidFill>
                  <a:srgbClr val="282828"/>
                </a:solidFill>
                <a:latin typeface="Times New Roman"/>
                <a:ea typeface="SimSun"/>
                <a:cs typeface="Times New Roman"/>
              </a:rPr>
              <a:t>，体现布水方式对性能的重要影响。</a:t>
            </a:r>
          </a:p>
        </p:txBody>
      </p:sp>
    </p:spTree>
    <p:extLst>
      <p:ext uri="{BB962C8B-B14F-4D97-AF65-F5344CB8AC3E}">
        <p14:creationId xmlns:p14="http://schemas.microsoft.com/office/powerpoint/2010/main" val="237114335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63</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p:grpSp>
        <p:nvGrpSpPr>
          <p:cNvPr id="27"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spcBef>
                  <a:spcPts val="984"/>
                </a:spcBef>
                <a:spcAft>
                  <a:spcPts val="984"/>
                </a:spcAft>
                <a:buClrTx/>
                <a:buFont typeface="Wingdings" panose="05000000000000000000" pitchFamily="2" charset="2"/>
                <a:buChar char="Ø"/>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IEC-ANN model</a:t>
              </a:r>
            </a:p>
          </p:txBody>
        </p:sp>
        <p:sp>
          <p:nvSpPr>
            <p:cNvPr id="12" name="文本框 11">
              <a:extLst>
                <a:ext uri="{FF2B5EF4-FFF2-40B4-BE49-F238E27FC236}">
                  <a16:creationId xmlns:a16="http://schemas.microsoft.com/office/drawing/2014/main" id="{5A6E6B83-037F-337A-2F2C-BA728907C8FA}"/>
                </a:ext>
              </a:extLst>
            </p:cNvPr>
            <p:cNvSpPr txBox="1"/>
            <p:nvPr/>
          </p:nvSpPr>
          <p:spPr>
            <a:xfrm>
              <a:off x="6268483" y="1660745"/>
              <a:ext cx="5222033" cy="4173515"/>
            </a:xfrm>
            <a:prstGeom prst="rect">
              <a:avLst/>
            </a:prstGeom>
            <a:noFill/>
          </p:spPr>
          <p:txBody>
            <a:bodyPr wrap="square">
              <a:spAutoFit/>
            </a:bodyPr>
            <a:lstStyle/>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Accurate measurements: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Use precise instruments to collect data. Regularly maintain equipment to ensure consistent accuracy.</a:t>
              </a:r>
            </a:p>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Replication and Validation</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 Conduct multiple trials and replicate experiments to validate results.</a:t>
              </a:r>
            </a:p>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Normalization and standardization</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 Normalize data to ensure that different features contribute equally to the model training process.</a:t>
              </a:r>
            </a:p>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Cross-Validation: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Use cross-validation techniques to assess the performance of the machine learning model. This helps in ensuring that the model generalizes well to unseen data.</a:t>
              </a:r>
            </a:p>
            <a:p>
              <a:pPr marL="285750" indent="-285750" algn="just">
                <a:lnSpc>
                  <a:spcPct val="107000"/>
                </a:lnSpc>
                <a:spcAft>
                  <a:spcPts val="656"/>
                </a:spcAft>
                <a:buFont typeface="Arial" panose="020B0604020202020204" pitchFamily="34" charset="0"/>
                <a:buChar char="•"/>
              </a:pPr>
              <a:r>
                <a:rPr lang="en-HK" altLang="zh-CN" sz="1312" b="1" dirty="0">
                  <a:latin typeface="Times New Roman" panose="02020603050405020304" pitchFamily="18" charset="0"/>
                  <a:ea typeface="SimSun" panose="02010600030101010101" pitchFamily="2" charset="-122"/>
                  <a:cs typeface="Times New Roman" panose="02020603050405020304" pitchFamily="18" charset="0"/>
                </a:rPr>
                <a:t>Evaluation metrics: </a:t>
              </a:r>
              <a:r>
                <a:rPr lang="en-HK" altLang="zh-CN" sz="1312" dirty="0">
                  <a:latin typeface="Times New Roman" panose="02020603050405020304" pitchFamily="18" charset="0"/>
                  <a:ea typeface="SimSun" panose="02010600030101010101" pitchFamily="2" charset="-122"/>
                  <a:cs typeface="Times New Roman" panose="02020603050405020304" pitchFamily="18" charset="0"/>
                </a:rPr>
                <a:t>The reliability of the model was verified with the evaluation parameters</a:t>
              </a:r>
            </a:p>
          </p:txBody>
        </p:sp>
        <p:pic>
          <p:nvPicPr>
            <p:cNvPr id="25" name="图片 24">
              <a:extLst>
                <a:ext uri="{FF2B5EF4-FFF2-40B4-BE49-F238E27FC236}">
                  <a16:creationId xmlns:a16="http://schemas.microsoft.com/office/drawing/2014/main" id="{94BC13B0-4A28-422E-A87C-E913D3996445}"/>
                </a:ext>
              </a:extLst>
            </p:cNvPr>
            <p:cNvPicPr/>
            <p:nvPr/>
          </p:nvPicPr>
          <p:blipFill>
            <a:blip r:embed="rId3">
              <a:extLst>
                <a:ext uri="{28A0092B-C50C-407E-A947-70E740481C1C}">
                  <a14:useLocalDpi xmlns:a14="http://schemas.microsoft.com/office/drawing/2010/main" val="0"/>
                </a:ext>
              </a:extLst>
            </a:blip>
            <a:stretch>
              <a:fillRect/>
            </a:stretch>
          </p:blipFill>
          <p:spPr>
            <a:xfrm>
              <a:off x="410447" y="1746191"/>
              <a:ext cx="5513070" cy="3779520"/>
            </a:xfrm>
            <a:prstGeom prst="rect">
              <a:avLst/>
            </a:prstGeom>
          </p:spPr>
        </p:pic>
        <p:sp>
          <p:nvSpPr>
            <p:cNvPr id="26" name="矩形 25">
              <a:extLst>
                <a:ext uri="{FF2B5EF4-FFF2-40B4-BE49-F238E27FC236}">
                  <a16:creationId xmlns:a16="http://schemas.microsoft.com/office/drawing/2014/main" id="{DF470D1D-9E7F-4D72-A435-F6956581D399}"/>
                </a:ext>
              </a:extLst>
            </p:cNvPr>
            <p:cNvSpPr/>
            <p:nvPr/>
          </p:nvSpPr>
          <p:spPr>
            <a:xfrm>
              <a:off x="1962612" y="5501922"/>
              <a:ext cx="3246851" cy="276999"/>
            </a:xfrm>
            <a:prstGeom prst="rect">
              <a:avLst/>
            </a:prstGeom>
          </p:spPr>
          <p:txBody>
            <a:bodyPr wrap="square">
              <a:spAutoFit/>
            </a:bodyPr>
            <a:lstStyle/>
            <a:p>
              <a:pPr defTabSz="457200" eaLnBrk="1" fontAlgn="auto" hangingPunct="1">
                <a:spcBef>
                  <a:spcPts val="0"/>
                </a:spcBef>
                <a:spcAft>
                  <a:spcPts val="0"/>
                </a:spcAft>
              </a:pPr>
              <a:r>
                <a:rPr lang="en-HK" sz="984" b="1" dirty="0">
                  <a:solidFill>
                    <a:prstClr val="black"/>
                  </a:solidFill>
                  <a:latin typeface="Times New Roman" panose="02020603050405020304" pitchFamily="18" charset="0"/>
                  <a:ea typeface="SimSun"/>
                  <a:cs typeface="Times New Roman" panose="02020603050405020304" pitchFamily="18" charset="0"/>
                </a:rPr>
                <a:t>Fig.8.6 </a:t>
              </a:r>
              <a:r>
                <a:rPr lang="en-HK" sz="984" dirty="0">
                  <a:solidFill>
                    <a:prstClr val="black"/>
                  </a:solidFill>
                  <a:latin typeface="Times New Roman" panose="02020603050405020304" pitchFamily="18" charset="0"/>
                  <a:ea typeface="SimSun"/>
                  <a:cs typeface="Times New Roman" panose="02020603050405020304" pitchFamily="18" charset="0"/>
                </a:rPr>
                <a:t>Structure of the IEC-ANN model</a:t>
              </a:r>
            </a:p>
          </p:txBody>
        </p:sp>
      </p:grpSp>
      <p:sp>
        <p:nvSpPr>
          <p:cNvPr id="28"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中文要点｜ANN 模型可靠性</a:t>
            </a:r>
          </a:p>
          <a:p>
            <a:pPr>
              <a:lnSpc>
                <a:spcPct val="108000"/>
              </a:lnSpc>
              <a:spcAft>
                <a:spcPts val="0"/>
              </a:spcAft>
            </a:pPr>
            <a:r>
              <a:rPr sz="1400" b="0">
                <a:solidFill>
                  <a:srgbClr val="282828"/>
                </a:solidFill>
                <a:latin typeface="Times New Roman"/>
                <a:ea typeface="SimSun"/>
                <a:cs typeface="Times New Roman"/>
              </a:rPr>
              <a:t>通过精确测量、重复实验、归一化处理、交叉验证与评价指标检验，提高模型预测的可靠性和泛化能力。</a:t>
            </a:r>
          </a:p>
        </p:txBody>
      </p:sp>
    </p:spTree>
    <p:extLst>
      <p:ext uri="{BB962C8B-B14F-4D97-AF65-F5344CB8AC3E}">
        <p14:creationId xmlns:p14="http://schemas.microsoft.com/office/powerpoint/2010/main" val="1530083978"/>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E47B88EA-F4F3-B3C2-BF2D-E7FF5F5462B2}"/>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2" name="Rectangle 5">
            <a:extLst>
              <a:ext uri="{FF2B5EF4-FFF2-40B4-BE49-F238E27FC236}">
                <a16:creationId xmlns:a16="http://schemas.microsoft.com/office/drawing/2014/main" id="{9591E8A8-4CAD-45AF-EB7D-DB21CF6852AC}"/>
              </a:ext>
            </a:extLst>
          </p:cNvPr>
          <p:cNvSpPr>
            <a:spLocks noChangeArrowheads="1"/>
          </p:cNvSpPr>
          <p:nvPr/>
        </p:nvSpPr>
        <p:spPr bwMode="auto">
          <a:xfrm>
            <a:off x="1524001" y="-22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a:ea typeface="SimSun"/>
              <a:cs typeface="Times New Roman"/>
            </a:endParaRPr>
          </a:p>
        </p:txBody>
      </p:sp>
      <p:sp>
        <p:nvSpPr>
          <p:cNvPr id="4" name="灯片编号占位符 3">
            <a:extLst>
              <a:ext uri="{FF2B5EF4-FFF2-40B4-BE49-F238E27FC236}">
                <a16:creationId xmlns:a16="http://schemas.microsoft.com/office/drawing/2014/main" id="{2CE9AB80-94C7-4782-9A17-1570D2B4D3CF}"/>
              </a:ext>
            </a:extLst>
          </p:cNvPr>
          <p:cNvSpPr>
            <a:spLocks noGrp="1"/>
          </p:cNvSpPr>
          <p:nvPr>
            <p:ph type="sldNum" sz="quarter" idx="12"/>
          </p:nvPr>
        </p:nvSpPr>
        <p:spPr/>
        <p:txBody>
          <a:bodyPr/>
          <a:lstStyle/>
          <a:p>
            <a:pPr>
              <a:defRPr>
                <a:latin typeface="Times New Roman"/>
                <a:ea typeface="SimSun"/>
                <a:cs typeface="Times New Roman"/>
              </a:defRPr>
            </a:pPr>
            <a:fld id="{15884886-3D85-4AFD-9D94-33E4AF7428DD}" type="slidenum">
              <a:rPr lang="en-US" altLang="zh-CN" smtClean="0">
                <a:latin typeface="Times New Roman"/>
                <a:ea typeface="SimSun"/>
                <a:cs typeface="Times New Roman"/>
              </a:rPr>
              <a:pPr>
                <a:defRPr>
                  <a:latin typeface="Times New Roman"/>
                  <a:ea typeface="SimSun"/>
                  <a:cs typeface="Times New Roman"/>
                </a:defRPr>
              </a:pPr>
              <a:t>64</a:t>
            </a:fld>
            <a:endParaRPr lang="en-US" altLang="zh-CN">
              <a:latin typeface="Times New Roman"/>
              <a:ea typeface="SimSun"/>
              <a:cs typeface="Times New Roman"/>
            </a:endParaRPr>
          </a:p>
        </p:txBody>
      </p:sp>
      <p:sp>
        <p:nvSpPr>
          <p:cNvPr id="20" name="矩形 3">
            <a:extLst>
              <a:ext uri="{FF2B5EF4-FFF2-40B4-BE49-F238E27FC236}">
                <a16:creationId xmlns:a16="http://schemas.microsoft.com/office/drawing/2014/main" id="{34CB1C1B-84EC-490A-8EAD-C1DF7537166A}"/>
              </a:ext>
            </a:extLst>
          </p:cNvPr>
          <p:cNvSpPr>
            <a:spLocks noChangeArrowheads="1"/>
          </p:cNvSpPr>
          <p:nvPr/>
        </p:nvSpPr>
        <p:spPr bwMode="auto">
          <a:xfrm>
            <a:off x="911441" y="163095"/>
            <a:ext cx="3935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1pPr>
            <a:lvl2pPr marL="323850" indent="-358775">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2pPr>
            <a:lvl3pPr marL="11430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3pPr>
            <a:lvl4pPr marL="16002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4pPr>
            <a:lvl5pPr marL="2057400" indent="-228600">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5pPr>
            <a:lvl6pPr marL="25146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6pPr>
            <a:lvl7pPr marL="29718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7pPr>
            <a:lvl8pPr marL="34290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8pPr>
            <a:lvl9pPr marL="3886200" indent="-228600" eaLnBrk="0" fontAlgn="base" hangingPunct="0">
              <a:spcBef>
                <a:spcPct val="0"/>
              </a:spcBef>
              <a:spcAft>
                <a:spcPct val="0"/>
              </a:spcAft>
              <a:defRPr sz="2400">
                <a:solidFill>
                  <a:schemeClr val="tx1"/>
                </a:solidFill>
                <a:latin typeface="Times New Roman" panose="020B0604030504040204" pitchFamily="34" charset="0"/>
                <a:ea typeface="SimSun" panose="020B0604020202020204" pitchFamily="34" charset="-128"/>
                <a:cs typeface="Times New Roman" panose="020B0604020202020204" pitchFamily="34" charset="-128"/>
              </a:defRPr>
            </a:lvl9pPr>
          </a:lstStyle>
          <a:p>
            <a:pPr lvl="1" algn="just" eaLnBrk="1" hangingPunct="1">
              <a:spcBef>
                <a:spcPts val="2400"/>
              </a:spcBef>
              <a:buClr>
                <a:srgbClr val="0099FF"/>
              </a:buClr>
            </a:pPr>
            <a:r>
              <a:rPr lang="en-US" altLang="zh-CN" sz="2800" b="1" dirty="0">
                <a:latin typeface="Times New Roman" panose="02020603050405020304" pitchFamily="18" charset="0"/>
                <a:ea typeface="SimSun"/>
                <a:cs typeface="Times New Roman" panose="02020603050405020304" pitchFamily="18" charset="0"/>
              </a:rPr>
              <a:t>Appendix</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A4FFE56-DB2D-4766-A2FF-992EBB70A6BE}"/>
                  </a:ext>
                </a:extLst>
              </p:cNvPr>
              <p:cNvSpPr txBox="1"/>
              <p:nvPr/>
            </p:nvSpPr>
            <p:spPr>
              <a:xfrm>
                <a:off x="9309100" y="5719307"/>
                <a:ext cx="2298065" cy="338041"/>
              </a:xfrm>
              <a:prstGeom prst="rect">
                <a:avLst/>
              </a:prstGeom>
              <a:noFill/>
            </p:spPr>
            <p:txBody>
              <a:bodyPr wrap="square">
                <a:spAutoFit/>
              </a:bodyPr>
              <a:lstStyle/>
              <a:p>
                <a:pPr algn="just">
                  <a:lnSpc>
                    <a:spcPct val="107000"/>
                  </a:lnSpc>
                  <a:spcAft>
                    <a:spcPts val="800"/>
                  </a:spcAft>
                </a:pPr>
                <a:r>
                  <a:rPr lang="en-US" altLang="zh-CN" sz="1600" i="1" dirty="0">
                    <a:latin typeface="Times New Roman" panose="02020603050405020304" pitchFamily="18" charset="0"/>
                    <a:ea typeface="SimSun" panose="02010600030101010101" pitchFamily="2" charset="-122"/>
                    <a:cs typeface="Times New Roman" panose="02020603050405020304" pitchFamily="18" charset="0"/>
                  </a:rPr>
                  <a:t>Less than </a:t>
                </a:r>
                <a14:m>
                  <m:oMath xmlns:m="http://schemas.openxmlformats.org/officeDocument/2006/math">
                    <m:r>
                      <a:rPr lang="en-US" altLang="zh-CN" sz="1600" i="1" smtClean="0">
                        <a:latin typeface="Times New Roman" panose="02040503050406030204" pitchFamily="18" charset="0"/>
                        <a:ea typeface="SimSun" panose="02040503050406030204" pitchFamily="18" charset="0"/>
                        <a:cs typeface="Times New Roman" panose="02020603050405020304" pitchFamily="18" charset="0"/>
                      </a:rPr>
                      <m:t>±</m:t>
                    </m:r>
                  </m:oMath>
                </a14:m>
                <a:r>
                  <a:rPr lang="en-US" altLang="zh-CN" sz="1600" i="1" dirty="0">
                    <a:latin typeface="Times New Roman" panose="02020603050405020304" pitchFamily="18" charset="0"/>
                    <a:ea typeface="SimSun" panose="02010600030101010101" pitchFamily="2" charset="-122"/>
                    <a:cs typeface="Times New Roman" panose="02020603050405020304" pitchFamily="18" charset="0"/>
                  </a:rPr>
                  <a:t>2.5%</a:t>
                </a:r>
              </a:p>
            </p:txBody>
          </p:sp>
        </mc:Choice>
        <mc:Fallback xmlns="">
          <p:sp>
            <p:nvSpPr>
              <p:cNvPr id="23" name="文本框 22">
                <a:extLst>
                  <a:ext uri="{FF2B5EF4-FFF2-40B4-BE49-F238E27FC236}">
                    <a16:creationId xmlns:a16="http://schemas.microsoft.com/office/drawing/2014/main" id="{9A4FFE56-DB2D-4766-A2FF-992EBB70A6BE}"/>
                  </a:ext>
                </a:extLst>
              </p:cNvPr>
              <p:cNvSpPr txBox="1">
                <a:spLocks noRot="1" noChangeAspect="1" noMove="1" noResize="1" noEditPoints="1" noAdjustHandles="1" noChangeArrowheads="1" noChangeShapeType="1" noTextEdit="1"/>
              </p:cNvSpPr>
              <p:nvPr/>
            </p:nvSpPr>
            <p:spPr>
              <a:xfrm>
                <a:off x="9309100" y="5719307"/>
                <a:ext cx="2298065" cy="338041"/>
              </a:xfrm>
              <a:prstGeom prst="rect">
                <a:avLst/>
              </a:prstGeom>
              <a:blipFill>
                <a:blip r:embed="rId8"/>
                <a:stretch>
                  <a:fillRect l="-1326" t="-5357" b="-21429"/>
                </a:stretch>
              </a:blipFill>
            </p:spPr>
            <p:txBody>
              <a:bodyPr/>
              <a:lstStyle/>
              <a:p>
                <a:r>
                  <a:rPr lang="en-US">
                    <a:noFill/>
                    <a:latin typeface="Times New Roman"/>
                    <a:ea typeface="SimSun"/>
                    <a:cs typeface="Times New Roman"/>
                  </a:rPr>
                  <a:t> </a:t>
                </a:r>
              </a:p>
            </p:txBody>
          </p:sp>
        </mc:Fallback>
      </mc:AlternateContent>
      <p:grpSp>
        <p:nvGrpSpPr>
          <p:cNvPr id="24" name="Original English content (proportional layout)"/>
          <p:cNvGrpSpPr/>
          <p:nvPr/>
        </p:nvGrpSpPr>
        <p:grpSpPr>
          <a:xfrm>
            <a:off x="1097280" y="731520"/>
            <a:ext cx="9997440" cy="5023714"/>
            <a:chOff x="0" y="731520"/>
            <a:chExt cx="12192000" cy="6126480"/>
          </a:xfrm>
        </p:grpSpPr>
        <p:sp>
          <p:nvSpPr>
            <p:cNvPr id="7" name="Rectangle 8">
              <a:extLst>
                <a:ext uri="{FF2B5EF4-FFF2-40B4-BE49-F238E27FC236}">
                  <a16:creationId xmlns:a16="http://schemas.microsoft.com/office/drawing/2014/main" id="{C8C92458-B04A-08B5-453C-ED3BC9E702AE}"/>
                </a:ext>
              </a:extLst>
            </p:cNvPr>
            <p:cNvSpPr>
              <a:spLocks noChangeArrowheads="1"/>
            </p:cNvSpPr>
            <p:nvPr/>
          </p:nvSpPr>
          <p:spPr bwMode="auto">
            <a:xfrm>
              <a:off x="5923517" y="6727195"/>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5" name="Rectangle 18">
              <a:extLst>
                <a:ext uri="{FF2B5EF4-FFF2-40B4-BE49-F238E27FC236}">
                  <a16:creationId xmlns:a16="http://schemas.microsoft.com/office/drawing/2014/main" id="{BC658CD1-871B-0AF6-8CB0-4FCB617027A6}"/>
                </a:ext>
              </a:extLst>
            </p:cNvPr>
            <p:cNvSpPr>
              <a:spLocks noChangeArrowheads="1"/>
            </p:cNvSpPr>
            <p:nvPr/>
          </p:nvSpPr>
          <p:spPr bwMode="auto">
            <a:xfrm>
              <a:off x="6621855" y="7964144"/>
              <a:ext cx="24878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7" name="Rectangle 20">
              <a:extLst>
                <a:ext uri="{FF2B5EF4-FFF2-40B4-BE49-F238E27FC236}">
                  <a16:creationId xmlns:a16="http://schemas.microsoft.com/office/drawing/2014/main" id="{2BFF3A44-E09A-9464-BFB0-878683DE361B}"/>
                </a:ext>
              </a:extLst>
            </p:cNvPr>
            <p:cNvSpPr>
              <a:spLocks noChangeArrowheads="1"/>
            </p:cNvSpPr>
            <p:nvPr/>
          </p:nvSpPr>
          <p:spPr bwMode="auto">
            <a:xfrm>
              <a:off x="6573765" y="12336119"/>
              <a:ext cx="34496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8" name="Rectangle 21">
              <a:extLst>
                <a:ext uri="{FF2B5EF4-FFF2-40B4-BE49-F238E27FC236}">
                  <a16:creationId xmlns:a16="http://schemas.microsoft.com/office/drawing/2014/main" id="{65FCB56F-B73E-952B-18B4-AE1D2ECC7849}"/>
                </a:ext>
              </a:extLst>
            </p:cNvPr>
            <p:cNvSpPr>
              <a:spLocks noChangeArrowheads="1"/>
            </p:cNvSpPr>
            <p:nvPr/>
          </p:nvSpPr>
          <p:spPr bwMode="auto">
            <a:xfrm>
              <a:off x="6557735" y="14317319"/>
              <a:ext cx="377026"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r>
                <a:rPr lang="en-US" altLang="zh-CN" sz="902" i="1">
                  <a:latin typeface="Times New Roman" panose="020F0502020204030204" pitchFamily="34" charset="0"/>
                  <a:ea typeface="SimSun" panose="02010600030101010101" pitchFamily="2" charset="-122"/>
                  <a:cs typeface="Times New Roman" panose="02020603050405020304" pitchFamily="18" charset="0"/>
                </a:rPr>
                <a:t> </a:t>
              </a:r>
              <a:endParaRPr lang="en-US" altLang="zh-CN" sz="1476">
                <a:latin typeface="Times New Roman" panose="020B0604020202020204" pitchFamily="34" charset="0"/>
                <a:ea typeface="SimSun"/>
                <a:cs typeface="Times New Roman"/>
              </a:endParaRPr>
            </a:p>
          </p:txBody>
        </p:sp>
        <p:sp>
          <p:nvSpPr>
            <p:cNvPr id="19" name="Rectangle 22">
              <a:extLst>
                <a:ext uri="{FF2B5EF4-FFF2-40B4-BE49-F238E27FC236}">
                  <a16:creationId xmlns:a16="http://schemas.microsoft.com/office/drawing/2014/main" id="{E8006BBB-C852-DF42-DD43-574C72BFC590}"/>
                </a:ext>
              </a:extLst>
            </p:cNvPr>
            <p:cNvSpPr>
              <a:spLocks noChangeArrowheads="1"/>
            </p:cNvSpPr>
            <p:nvPr/>
          </p:nvSpPr>
          <p:spPr bwMode="auto">
            <a:xfrm>
              <a:off x="4812867" y="16402550"/>
              <a:ext cx="386676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a:r>
                <a:rPr lang="en-US" altLang="zh-CN" sz="902">
                  <a:latin typeface="Times New Roman" panose="020F0502020204030204" pitchFamily="34" charset="0"/>
                  <a:ea typeface="SimSun" panose="02010600030101010101" pitchFamily="2" charset="-122"/>
                  <a:cs typeface="Times New Roman" panose="02020603050405020304" pitchFamily="18" charset="0"/>
                </a:rPr>
                <a:t> </a:t>
              </a:r>
              <a:endParaRPr lang="en-US" altLang="zh-CN" sz="328">
                <a:latin typeface="Times New Roman"/>
                <a:ea typeface="SimSun"/>
                <a:cs typeface="Times New Roman"/>
              </a:endParaRPr>
            </a:p>
            <a:p>
              <a:pPr algn="ctr"/>
              <a:r>
                <a:rPr lang="en-US" altLang="zh-CN" sz="820">
                  <a:latin typeface="Times New Roman" panose="02020603050405020304" pitchFamily="18" charset="0"/>
                  <a:ea typeface="SimSun" panose="02010600030101010101" pitchFamily="2" charset="-122"/>
                  <a:cs typeface="Times New Roman" panose="02020603050405020304" pitchFamily="18" charset="0"/>
                </a:rPr>
                <a:t> (c) Upper side configuration                      (d) Lower side configuration</a:t>
              </a:r>
              <a:endParaRPr lang="en-US" altLang="zh-CN" sz="1476">
                <a:latin typeface="Times New Roman" panose="020B0604020202020204" pitchFamily="34" charset="0"/>
                <a:ea typeface="SimSun"/>
                <a:cs typeface="Times New Roman"/>
              </a:endParaRPr>
            </a:p>
          </p:txBody>
        </p:sp>
        <p:sp>
          <p:nvSpPr>
            <p:cNvPr id="5" name="Content Placeholder 23">
              <a:extLst>
                <a:ext uri="{FF2B5EF4-FFF2-40B4-BE49-F238E27FC236}">
                  <a16:creationId xmlns:a16="http://schemas.microsoft.com/office/drawing/2014/main" id="{EEC3F662-50D0-19BB-E64A-65591AA5C574}"/>
                </a:ext>
              </a:extLst>
            </p:cNvPr>
            <p:cNvSpPr txBox="1">
              <a:spLocks/>
            </p:cNvSpPr>
            <p:nvPr/>
          </p:nvSpPr>
          <p:spPr bwMode="auto">
            <a:xfrm>
              <a:off x="388998" y="945844"/>
              <a:ext cx="4490331" cy="379118"/>
            </a:xfrm>
            <a:prstGeom prst="rect">
              <a:avLst/>
            </a:prstGeom>
            <a:noFill/>
            <a:ln>
              <a:noFill/>
            </a:ln>
          </p:spPr>
          <p:txBody>
            <a:bodyPr/>
            <a:lstStyle>
              <a:lvl1pPr marL="234950" indent="-234950" algn="l" rtl="0" eaLnBrk="0" fontAlgn="base" hangingPunct="0">
                <a:spcBef>
                  <a:spcPct val="20000"/>
                </a:spcBef>
                <a:spcAft>
                  <a:spcPct val="0"/>
                </a:spcAft>
                <a:buChar char="•"/>
                <a:defRPr sz="1640">
                  <a:solidFill>
                    <a:schemeClr val="bg2"/>
                  </a:solidFill>
                  <a:latin typeface="Times New Roman"/>
                  <a:ea typeface="SimSun" panose="020B0600070205080204" pitchFamily="34" charset="-128"/>
                  <a:cs typeface="Times New Roman"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2pPr>
              <a:lvl3pPr marL="866775"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Times New Roman"/>
                  <a:ea typeface="SimSun" panose="020B0600070205080204" pitchFamily="34" charset="-128"/>
                  <a:cs typeface="Times New Roman"/>
                </a:defRPr>
              </a:lvl4pPr>
              <a:lvl5pPr marL="1604963" indent="-176213" algn="l" rtl="0" eaLnBrk="0" fontAlgn="base" hangingPunct="0">
                <a:spcBef>
                  <a:spcPct val="20000"/>
                </a:spcBef>
                <a:spcAft>
                  <a:spcPct val="0"/>
                </a:spcAft>
                <a:buChar char="•"/>
                <a:defRPr>
                  <a:solidFill>
                    <a:schemeClr val="bg2"/>
                  </a:solidFill>
                  <a:latin typeface="Times New Roman"/>
                  <a:ea typeface="SimSun" panose="020B0600070205080204" pitchFamily="34" charset="-128"/>
                  <a:cs typeface="Times New Roman"/>
                </a:defRPr>
              </a:lvl5pPr>
              <a:lvl6pPr marL="2062163" indent="-176213" algn="l" rtl="0" fontAlgn="base">
                <a:spcBef>
                  <a:spcPct val="20000"/>
                </a:spcBef>
                <a:spcAft>
                  <a:spcPct val="0"/>
                </a:spcAft>
                <a:buChar char="•"/>
                <a:defRPr>
                  <a:solidFill>
                    <a:schemeClr val="bg2"/>
                  </a:solidFill>
                  <a:latin typeface="Times New Roman"/>
                  <a:ea typeface="SimSun" charset="-128"/>
                  <a:cs typeface="Times New Roman"/>
                </a:defRPr>
              </a:lvl6pPr>
              <a:lvl7pPr marL="2519363" indent="-176213" algn="l" rtl="0" fontAlgn="base">
                <a:spcBef>
                  <a:spcPct val="20000"/>
                </a:spcBef>
                <a:spcAft>
                  <a:spcPct val="0"/>
                </a:spcAft>
                <a:buChar char="•"/>
                <a:defRPr>
                  <a:solidFill>
                    <a:schemeClr val="bg2"/>
                  </a:solidFill>
                  <a:latin typeface="Times New Roman"/>
                  <a:ea typeface="SimSun" charset="-128"/>
                  <a:cs typeface="Times New Roman"/>
                </a:defRPr>
              </a:lvl7pPr>
              <a:lvl8pPr marL="2976563" indent="-176213" algn="l" rtl="0" fontAlgn="base">
                <a:spcBef>
                  <a:spcPct val="20000"/>
                </a:spcBef>
                <a:spcAft>
                  <a:spcPct val="0"/>
                </a:spcAft>
                <a:buChar char="•"/>
                <a:defRPr>
                  <a:solidFill>
                    <a:schemeClr val="bg2"/>
                  </a:solidFill>
                  <a:latin typeface="Times New Roman"/>
                  <a:ea typeface="SimSun" charset="-128"/>
                  <a:cs typeface="Times New Roman"/>
                </a:defRPr>
              </a:lvl8pPr>
              <a:lvl9pPr marL="3433763" indent="-176213" algn="l" rtl="0" fontAlgn="base">
                <a:spcBef>
                  <a:spcPct val="20000"/>
                </a:spcBef>
                <a:spcAft>
                  <a:spcPct val="0"/>
                </a:spcAft>
                <a:buChar char="•"/>
                <a:defRPr>
                  <a:solidFill>
                    <a:schemeClr val="bg2"/>
                  </a:solidFill>
                  <a:latin typeface="Times New Roman"/>
                  <a:ea typeface="SimSun" charset="-128"/>
                  <a:cs typeface="Times New Roman"/>
                </a:defRPr>
              </a:lvl9pPr>
            </a:lstStyle>
            <a:p>
              <a:pPr marL="285750" lvl="1" indent="-285750">
                <a:spcBef>
                  <a:spcPts val="984"/>
                </a:spcBef>
                <a:spcAft>
                  <a:spcPts val="984"/>
                </a:spcAft>
                <a:buClrTx/>
                <a:buFont typeface="Wingdings" panose="05000000000000000000" pitchFamily="2" charset="2"/>
                <a:buChar char="Ø"/>
                <a:defRPr>
                  <a:latin typeface="Times New Roman"/>
                  <a:ea typeface="SimSun"/>
                  <a:cs typeface="Times New Roman"/>
                </a:defRPr>
              </a:pPr>
              <a:r>
                <a:rPr lang="en-US" altLang="en-US" sz="1476" b="1" kern="0" dirty="0">
                  <a:latin typeface="Times New Roman" panose="02020603050405020304" pitchFamily="18" charset="0"/>
                  <a:ea typeface="SimSun"/>
                  <a:cs typeface="Times New Roman" panose="02020603050405020304" pitchFamily="18" charset="0"/>
                </a:rPr>
                <a:t>Validation of the film thickness</a:t>
              </a:r>
            </a:p>
          </p:txBody>
        </p:sp>
        <p:sp>
          <p:nvSpPr>
            <p:cNvPr id="11" name="Rectangle 223">
              <a:extLst>
                <a:ext uri="{FF2B5EF4-FFF2-40B4-BE49-F238E27FC236}">
                  <a16:creationId xmlns:a16="http://schemas.microsoft.com/office/drawing/2014/main" id="{00D7A72C-B310-4C20-AAD3-3A2C842E385B}"/>
                </a:ext>
              </a:extLst>
            </p:cNvPr>
            <p:cNvSpPr>
              <a:spLocks noChangeArrowheads="1"/>
            </p:cNvSpPr>
            <p:nvPr/>
          </p:nvSpPr>
          <p:spPr bwMode="auto">
            <a:xfrm>
              <a:off x="6621855" y="31293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a:ea typeface="SimSun"/>
                <a:cs typeface="Times New Roman"/>
              </a:endParaRPr>
            </a:p>
          </p:txBody>
        </p:sp>
        <p:graphicFrame>
          <p:nvGraphicFramePr>
            <p:cNvPr id="8" name="对象 7">
              <a:extLst>
                <a:ext uri="{FF2B5EF4-FFF2-40B4-BE49-F238E27FC236}">
                  <a16:creationId xmlns:a16="http://schemas.microsoft.com/office/drawing/2014/main" id="{D5119FC1-DE95-4D40-81E9-985D8969E4BF}"/>
                </a:ext>
              </a:extLst>
            </p:cNvPr>
            <p:cNvGraphicFramePr>
              <a:graphicFrameLocks noChangeAspect="1"/>
            </p:cNvGraphicFramePr>
            <p:nvPr>
              <p:extLst>
                <p:ext uri="{D42A27DB-BD31-4B8C-83A1-F6EECF244321}">
                  <p14:modId xmlns:p14="http://schemas.microsoft.com/office/powerpoint/2010/main" val="3488640969"/>
                </p:ext>
              </p:extLst>
            </p:nvPr>
          </p:nvGraphicFramePr>
          <p:xfrm>
            <a:off x="3914607" y="1340418"/>
            <a:ext cx="3810000" cy="3216275"/>
          </p:xfrm>
          <a:graphic>
            <a:graphicData uri="http://schemas.openxmlformats.org/presentationml/2006/ole">
              <mc:AlternateContent xmlns:mc="http://schemas.openxmlformats.org/markup-compatibility/2006">
                <mc:Choice xmlns:v="urn:schemas-microsoft-com:vml" Requires="v">
                  <p:oleObj name="Graph" r:id="rId3" imgW="6246376" imgH="5282235" progId="Origin95.Graph">
                    <p:embed/>
                  </p:oleObj>
                </mc:Choice>
                <mc:Fallback>
                  <p:oleObj name="Graph" r:id="rId3" imgW="6246376" imgH="5282235" progId="Origin95.Graph">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607" y="1340418"/>
                          <a:ext cx="3810000" cy="321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3">
              <a:extLst>
                <a:ext uri="{FF2B5EF4-FFF2-40B4-BE49-F238E27FC236}">
                  <a16:creationId xmlns:a16="http://schemas.microsoft.com/office/drawing/2014/main" id="{4E3D6147-4C76-42AA-B17D-C4B6E87525EC}"/>
                </a:ext>
              </a:extLst>
            </p:cNvPr>
            <p:cNvSpPr>
              <a:spLocks noChangeArrowheads="1"/>
            </p:cNvSpPr>
            <p:nvPr/>
          </p:nvSpPr>
          <p:spPr bwMode="auto">
            <a:xfrm>
              <a:off x="3116146" y="4460937"/>
              <a:ext cx="59597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984" b="1" dirty="0" bmk="_Toc168350228">
                  <a:latin typeface="Times New Roman" panose="02020603050405020304" pitchFamily="18" charset="0"/>
                  <a:ea typeface="SimSun" panose="02010600030101010101" pitchFamily="2" charset="-122"/>
                  <a:cs typeface="Times New Roman" panose="02020603050405020304" pitchFamily="18" charset="0"/>
                </a:rPr>
                <a:t>Fig. 8.7 </a:t>
              </a:r>
              <a:r>
                <a:rPr lang="en-US" altLang="en-US" sz="984" dirty="0" err="1" bmk="_Toc168350228">
                  <a:latin typeface="Times New Roman" panose="02020603050405020304" pitchFamily="18" charset="0"/>
                  <a:ea typeface="SimSun" panose="02010600030101010101" pitchFamily="2" charset="-122"/>
                  <a:cs typeface="Times New Roman" panose="02020603050405020304" pitchFamily="18" charset="0"/>
                </a:rPr>
                <a:t>Valdation</a:t>
              </a:r>
              <a:r>
                <a:rPr lang="en-US" altLang="en-US" sz="984" dirty="0" bmk="_Toc168350228">
                  <a:latin typeface="Times New Roman" panose="02020603050405020304" pitchFamily="18" charset="0"/>
                  <a:ea typeface="SimSun" panose="02010600030101010101" pitchFamily="2" charset="-122"/>
                  <a:cs typeface="Times New Roman" panose="02020603050405020304" pitchFamily="18" charset="0"/>
                </a:rPr>
                <a:t> of film thickness between simulation results and Nusselt empirical formula</a:t>
              </a:r>
              <a:endParaRPr lang="en-US" altLang="en-US" sz="984"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4" name="图片 13">
              <a:extLst>
                <a:ext uri="{FF2B5EF4-FFF2-40B4-BE49-F238E27FC236}">
                  <a16:creationId xmlns:a16="http://schemas.microsoft.com/office/drawing/2014/main" id="{5FD60F98-ACFF-41DC-B62B-D643BCE5C681}"/>
                </a:ext>
              </a:extLst>
            </p:cNvPr>
            <p:cNvPicPr>
              <a:picLocks noChangeAspect="1"/>
            </p:cNvPicPr>
            <p:nvPr/>
          </p:nvPicPr>
          <p:blipFill>
            <a:blip r:embed="rId5"/>
            <a:stretch>
              <a:fillRect/>
            </a:stretch>
          </p:blipFill>
          <p:spPr>
            <a:xfrm>
              <a:off x="1326804" y="2786825"/>
              <a:ext cx="2468359" cy="642175"/>
            </a:xfrm>
            <a:prstGeom prst="rect">
              <a:avLst/>
            </a:prstGeom>
          </p:spPr>
        </p:pic>
        <p:pic>
          <p:nvPicPr>
            <p:cNvPr id="21" name="图片 20">
              <a:extLst>
                <a:ext uri="{FF2B5EF4-FFF2-40B4-BE49-F238E27FC236}">
                  <a16:creationId xmlns:a16="http://schemas.microsoft.com/office/drawing/2014/main" id="{8B772533-C987-4453-BCC5-D5778C960FE7}"/>
                </a:ext>
              </a:extLst>
            </p:cNvPr>
            <p:cNvPicPr>
              <a:picLocks noChangeAspect="1"/>
            </p:cNvPicPr>
            <p:nvPr/>
          </p:nvPicPr>
          <p:blipFill>
            <a:blip r:embed="rId6"/>
            <a:stretch>
              <a:fillRect/>
            </a:stretch>
          </p:blipFill>
          <p:spPr>
            <a:xfrm>
              <a:off x="3635560" y="5434987"/>
              <a:ext cx="4847656" cy="906337"/>
            </a:xfrm>
            <a:prstGeom prst="rect">
              <a:avLst/>
            </a:prstGeom>
          </p:spPr>
        </p:pic>
        <p:sp>
          <p:nvSpPr>
            <p:cNvPr id="22" name="文本框 21">
              <a:extLst>
                <a:ext uri="{FF2B5EF4-FFF2-40B4-BE49-F238E27FC236}">
                  <a16:creationId xmlns:a16="http://schemas.microsoft.com/office/drawing/2014/main" id="{85402440-9961-409A-BC48-AA94924C7796}"/>
                </a:ext>
              </a:extLst>
            </p:cNvPr>
            <p:cNvSpPr txBox="1"/>
            <p:nvPr/>
          </p:nvSpPr>
          <p:spPr>
            <a:xfrm>
              <a:off x="976980" y="5348561"/>
              <a:ext cx="2298065" cy="338041"/>
            </a:xfrm>
            <a:prstGeom prst="rect">
              <a:avLst/>
            </a:prstGeom>
            <a:noFill/>
          </p:spPr>
          <p:txBody>
            <a:bodyPr wrap="square">
              <a:spAutoFit/>
            </a:bodyPr>
            <a:lstStyle/>
            <a:p>
              <a:pPr marL="285750" indent="-285750" algn="just">
                <a:lnSpc>
                  <a:spcPct val="107000"/>
                </a:lnSpc>
                <a:spcAft>
                  <a:spcPts val="656"/>
                </a:spcAft>
                <a:buFont typeface="Wingdings" panose="05000000000000000000" pitchFamily="2" charset="2"/>
                <a:buChar char="Ø"/>
              </a:pPr>
              <a:r>
                <a:rPr lang="en-US" altLang="zh-CN" sz="1312" dirty="0">
                  <a:latin typeface="Times New Roman" panose="02020603050405020304" pitchFamily="18" charset="0"/>
                  <a:ea typeface="SimSun" panose="02010600030101010101" pitchFamily="2" charset="-122"/>
                  <a:cs typeface="Times New Roman" panose="02020603050405020304" pitchFamily="18" charset="0"/>
                </a:rPr>
                <a:t>Uncertainty analysis:</a:t>
              </a:r>
            </a:p>
          </p:txBody>
        </p:sp>
      </p:grpSp>
      <p:sp>
        <p:nvSpPr>
          <p:cNvPr id="25" name="Rounded Rectangle 1"/>
          <p:cNvSpPr/>
          <p:nvPr/>
        </p:nvSpPr>
        <p:spPr>
          <a:xfrm>
            <a:off x="347472" y="5879592"/>
            <a:ext cx="11494008" cy="768096"/>
          </a:xfrm>
          <a:prstGeom prst="roundRect">
            <a:avLst/>
          </a:prstGeom>
          <a:solidFill>
            <a:srgbClr val="F9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
          <p:cNvSpPr txBox="1"/>
          <p:nvPr/>
        </p:nvSpPr>
        <p:spPr>
          <a:xfrm>
            <a:off x="530352" y="5952744"/>
            <a:ext cx="11109960" cy="630936"/>
          </a:xfrm>
          <a:prstGeom prst="rect">
            <a:avLst/>
          </a:prstGeom>
          <a:noFill/>
        </p:spPr>
        <p:txBody>
          <a:bodyPr wrap="square" lIns="0" rIns="0" tIns="0" bIns="0">
            <a:spAutoFit/>
          </a:bodyPr>
          <a:lstStyle/>
          <a:p>
            <a:pPr>
              <a:spcAft>
                <a:spcPts val="300"/>
              </a:spcAft>
            </a:pPr>
            <a:r>
              <a:rPr sz="1500" b="1">
                <a:solidFill>
                  <a:srgbClr val="8C0F1E"/>
                </a:solidFill>
                <a:latin typeface="Times New Roman"/>
                <a:ea typeface="SimSun"/>
                <a:cs typeface="Times New Roman"/>
              </a:rPr>
              <a:t>中文要点｜水膜厚度验证</a:t>
            </a:r>
          </a:p>
          <a:p>
            <a:pPr>
              <a:lnSpc>
                <a:spcPct val="108000"/>
              </a:lnSpc>
              <a:spcAft>
                <a:spcPts val="0"/>
              </a:spcAft>
            </a:pPr>
            <a:r>
              <a:rPr sz="1400" b="0">
                <a:solidFill>
                  <a:srgbClr val="282828"/>
                </a:solidFill>
                <a:latin typeface="Times New Roman"/>
                <a:ea typeface="SimSun"/>
                <a:cs typeface="Times New Roman"/>
              </a:rPr>
              <a:t>将数值模拟的水膜厚度与 Nusselt 经验公式对比，并开展不确定性分析。</a:t>
            </a:r>
          </a:p>
        </p:txBody>
      </p:sp>
    </p:spTree>
    <p:extLst>
      <p:ext uri="{BB962C8B-B14F-4D97-AF65-F5344CB8AC3E}">
        <p14:creationId xmlns:p14="http://schemas.microsoft.com/office/powerpoint/2010/main" val="395968786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theme/theme1.xml><?xml version="1.0" encoding="utf-8"?>
<a:theme xmlns:a="http://schemas.openxmlformats.org/drawingml/2006/main" name="EBPS Template">
  <a:themeElements>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fontScheme name="EBPS Template">
      <a:majorFont>
        <a:latin typeface="Times New Roman"/>
        <a:ea typeface="SimSun"/>
        <a:cs typeface="Times New Roman"/>
      </a:majorFont>
      <a:minorFont>
        <a:latin typeface="Times New Roman"/>
        <a:ea typeface="SimSu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Times New Roman" charset="0"/>
            <a:ea typeface="SimSun"/>
            <a:cs typeface="Times New Roman"/>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Times New Roman" charset="0"/>
            <a:ea typeface="SimSun"/>
            <a:cs typeface="Times New Roman"/>
          </a:defRPr>
        </a:defPPr>
      </a:lstStyle>
    </a:lnDef>
  </a:objectDefaults>
  <a:extraClrSchemeLst>
    <a:extraClrScheme>
      <a:clrScheme name="EBPS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BPS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BPS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BPS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BPS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BPS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BPS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EBPS Template 8">
        <a:dk1>
          <a:srgbClr val="000000"/>
        </a:dk1>
        <a:lt1>
          <a:srgbClr val="FFFFFF"/>
        </a:lt1>
        <a:dk2>
          <a:srgbClr val="000000"/>
        </a:dk2>
        <a:lt2>
          <a:srgbClr val="FFFFFF"/>
        </a:lt2>
        <a:accent1>
          <a:srgbClr val="5E8AC5"/>
        </a:accent1>
        <a:accent2>
          <a:srgbClr val="3333CC"/>
        </a:accent2>
        <a:accent3>
          <a:srgbClr val="AAAAAA"/>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9">
        <a:dk1>
          <a:srgbClr val="000000"/>
        </a:dk1>
        <a:lt1>
          <a:srgbClr val="FFFFFF"/>
        </a:lt1>
        <a:dk2>
          <a:srgbClr val="5F5F5F"/>
        </a:dk2>
        <a:lt2>
          <a:srgbClr val="FFFFFF"/>
        </a:lt2>
        <a:accent1>
          <a:srgbClr val="5E8AC5"/>
        </a:accent1>
        <a:accent2>
          <a:srgbClr val="3333CC"/>
        </a:accent2>
        <a:accent3>
          <a:srgbClr val="B6B6B6"/>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Times New Roman"/>
        <a:ea typeface="SimSun"/>
        <a:cs typeface="Times New Roman"/>
        <a:font script="Jpan" typeface="ＭＳ Ｐゴシック"/>
        <a:font script="Hang" typeface="맑은 고딕"/>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SimSun"/>
        <a:cs typeface="Times New Roman"/>
        <a:font script="Jpan" typeface="ＭＳ Ｐゴシック"/>
        <a:font script="Hang" typeface="맑은 고딕"/>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Times New Roman"/>
        <a:ea typeface="SimSun"/>
        <a:cs typeface="Times New Roman"/>
        <a:font script="Jpan" typeface="ＭＳ Ｐゴシック"/>
        <a:font script="Hang" typeface="맑은 고딕"/>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SimSun"/>
        <a:cs typeface="Times New Roman"/>
        <a:font script="Jpan" typeface="ＭＳ Ｐゴシック"/>
        <a:font script="Hang" typeface="맑은 고딕"/>
        <a:font script="Hans" typeface="SimSun"/>
        <a:font script="Hant" typeface="SimSun"/>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AE2D7EAEC63C4EB9A6CCE48167703A" ma:contentTypeVersion="11" ma:contentTypeDescription="Create a new document." ma:contentTypeScope="" ma:versionID="70f15698264e66e04027c1909e0eec60">
  <xsd:schema xmlns:xsd="http://www.w3.org/2001/XMLSchema" xmlns:xs="http://www.w3.org/2001/XMLSchema" xmlns:p="http://schemas.microsoft.com/office/2006/metadata/properties" xmlns:ns3="78d7862b-e3f7-4a3f-b8de-7e8da3dc00f5" targetNamespace="http://schemas.microsoft.com/office/2006/metadata/properties" ma:root="true" ma:fieldsID="0ee9222f9d4052335be8fc4654c5d93b" ns3:_="">
    <xsd:import namespace="78d7862b-e3f7-4a3f-b8de-7e8da3dc00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d7862b-e3f7-4a3f-b8de-7e8da3dc00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D513AF-6D58-416C-9136-CD82D9B364A5}">
  <ds:schemaRefs>
    <ds:schemaRef ds:uri="http://purl.org/dc/terms/"/>
    <ds:schemaRef ds:uri="http://schemas.microsoft.com/office/infopath/2007/PartnerControls"/>
    <ds:schemaRef ds:uri="http://purl.org/dc/dcmitype/"/>
    <ds:schemaRef ds:uri="http://schemas.microsoft.com/office/2006/documentManagement/types"/>
    <ds:schemaRef ds:uri="78d7862b-e3f7-4a3f-b8de-7e8da3dc00f5"/>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8D17963-6BF6-40F3-902C-7AE728A366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d7862b-e3f7-4a3f-b8de-7e8da3dc00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8F1482-78C7-4663-8EFF-B922E2EA20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Foundry</Template>
  <TotalTime>15686</TotalTime>
  <Words>6467</Words>
  <Application>Microsoft Office PowerPoint</Application>
  <PresentationFormat>宽屏</PresentationFormat>
  <Paragraphs>872</Paragraphs>
  <Slides>64</Slides>
  <Notes>61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7" baseType="lpstr">
      <vt:lpstr>Arial Unicode MS</vt:lpstr>
      <vt:lpstr>等线</vt:lpstr>
      <vt:lpstr>Arial</vt:lpstr>
      <vt:lpstr>Calibri</vt:lpstr>
      <vt:lpstr>Cambria Math</vt:lpstr>
      <vt:lpstr>Helvetica</vt:lpstr>
      <vt:lpstr>Tahoma</vt:lpstr>
      <vt:lpstr>Times</vt:lpstr>
      <vt:lpstr>Times New Roman</vt:lpstr>
      <vt:lpstr>Wingdings</vt:lpstr>
      <vt:lpstr>EBPS Template</vt:lpstr>
      <vt:lpstr>Visio</vt:lpstr>
      <vt:lpstr>Graph</vt:lpstr>
      <vt:lpstr>Development of new water spray strategies for improving the energy performance of indirect evaporative cooling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lpstr>PowerPoint 演示文稿</vt:lpstr>
      <vt:lpstr>PowerPoint 演示文稿</vt:lpstr>
      <vt:lpstr>PowerPoint 演示文稿</vt:lpstr>
      <vt:lpstr>PowerPoint 演示文稿</vt:lpstr>
    </vt:vector>
  </TitlesOfParts>
  <Company>Sharat Naik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Xiaochen MA</cp:lastModifiedBy>
  <cp:revision>380</cp:revision>
  <cp:lastPrinted>2020-11-02T12:22:48Z</cp:lastPrinted>
  <dcterms:created xsi:type="dcterms:W3CDTF">2000-03-11T19:50:14Z</dcterms:created>
  <dcterms:modified xsi:type="dcterms:W3CDTF">2026-10-26T00:20:06Z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0x010100DFAE2D7EAEC63C4EB9A6CCE48167703A</vt:lpwstr>
  </property>
</Properties>
</file>