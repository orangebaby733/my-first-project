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13">
  <p:sldMasterIdLst>
    <p:sldMasterId id="2147485796" r:id="rId4"/>
  </p:sldMasterIdLst>
  <p:notesMasterIdLst>
    <p:notesMasterId r:id="rId69"/>
  </p:notesMasterIdLst>
  <p:handoutMasterIdLst>
    <p:handoutMasterId r:id="rId70"/>
  </p:handoutMasterIdLst>
  <p:sldIdLst>
    <p:sldId id="407" r:id="rId5"/>
    <p:sldId id="863" r:id="rId6"/>
    <p:sldId id="864" r:id="rId7"/>
    <p:sldId id="427" r:id="rId8"/>
    <p:sldId id="428" r:id="rId9"/>
    <p:sldId id="873" r:id="rId10"/>
    <p:sldId id="429" r:id="rId11"/>
    <p:sldId id="430" r:id="rId12"/>
    <p:sldId id="453" r:id="rId13"/>
    <p:sldId id="480" r:id="rId14"/>
    <p:sldId id="840" r:id="rId15"/>
    <p:sldId id="432" r:id="rId16"/>
    <p:sldId id="793" r:id="rId17"/>
    <p:sldId id="857" r:id="rId18"/>
    <p:sldId id="865" r:id="rId19"/>
    <p:sldId id="435" r:id="rId20"/>
    <p:sldId id="436" r:id="rId21"/>
    <p:sldId id="439" r:id="rId22"/>
    <p:sldId id="438" r:id="rId23"/>
    <p:sldId id="440" r:id="rId24"/>
    <p:sldId id="870" r:id="rId25"/>
    <p:sldId id="476" r:id="rId26"/>
    <p:sldId id="477" r:id="rId27"/>
    <p:sldId id="478" r:id="rId28"/>
    <p:sldId id="866" r:id="rId29"/>
    <p:sldId id="455" r:id="rId30"/>
    <p:sldId id="462" r:id="rId31"/>
    <p:sldId id="463" r:id="rId32"/>
    <p:sldId id="466" r:id="rId33"/>
    <p:sldId id="858" r:id="rId34"/>
    <p:sldId id="469" r:id="rId35"/>
    <p:sldId id="468" r:id="rId36"/>
    <p:sldId id="470" r:id="rId37"/>
    <p:sldId id="472" r:id="rId38"/>
    <p:sldId id="473" r:id="rId39"/>
    <p:sldId id="867" r:id="rId40"/>
    <p:sldId id="838" r:id="rId41"/>
    <p:sldId id="848" r:id="rId42"/>
    <p:sldId id="849" r:id="rId43"/>
    <p:sldId id="850" r:id="rId44"/>
    <p:sldId id="851" r:id="rId45"/>
    <p:sldId id="852" r:id="rId46"/>
    <p:sldId id="853" r:id="rId47"/>
    <p:sldId id="856" r:id="rId48"/>
    <p:sldId id="855" r:id="rId49"/>
    <p:sldId id="868" r:id="rId50"/>
    <p:sldId id="485" r:id="rId51"/>
    <p:sldId id="486" r:id="rId52"/>
    <p:sldId id="487" r:id="rId53"/>
    <p:sldId id="488" r:id="rId54"/>
    <p:sldId id="859" r:id="rId55"/>
    <p:sldId id="876" r:id="rId56"/>
    <p:sldId id="489" r:id="rId57"/>
    <p:sldId id="824" r:id="rId58"/>
    <p:sldId id="869" r:id="rId59"/>
    <p:sldId id="860" r:id="rId60"/>
    <p:sldId id="861" r:id="rId61"/>
    <p:sldId id="862" r:id="rId62"/>
    <p:sldId id="786" r:id="rId63"/>
    <p:sldId id="452" r:id="rId64"/>
    <p:sldId id="874" r:id="rId65"/>
    <p:sldId id="871" r:id="rId66"/>
    <p:sldId id="875" r:id="rId67"/>
    <p:sldId id="872" r:id="rId68"/>
  </p:sldIdLst>
  <p:sldSz cx="12192000" cy="6858000"/>
  <p:notesSz cx="9928225" cy="6797675"/>
  <p:defaultTextStyle>
    <a:defPPr>
      <a:defRPr lang="en-US">
        <a:latin typeface="Times New Roman"/>
        <a:ea typeface="SimSun"/>
        <a:cs typeface="Times New Roman"/>
      </a:defRPr>
    </a:defPPr>
    <a:lvl1pPr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4572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9144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3716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18288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2860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7432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2004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6576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 wenchao511 [Student]" initials="Sw[" lastIdx="1" clrIdx="0">
    <p:extLst>
      <p:ext uri="{19B8F6BF-5375-455C-9EA6-DF929625EA0E}">
        <p15:presenceInfo xmlns:p15="http://schemas.microsoft.com/office/powerpoint/2012/main" userId="S::19109659r@connect.polyu.hk::e28bb6dc-d76d-4393-bdfd-a20e3f6f43cc" providerId="AD"/>
      </p:ext>
    </p:extLst>
  </p:cmAuthor>
  <p:cmAuthor id="2" name="SHI, wenchao511 [Student]" initials="Sw[ [2]" lastIdx="2" clrIdx="1">
    <p:extLst>
      <p:ext uri="{19B8F6BF-5375-455C-9EA6-DF929625EA0E}">
        <p15:presenceInfo xmlns:p15="http://schemas.microsoft.com/office/powerpoint/2012/main" userId="SHI, wenchao511 [Stud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1E3B"/>
    <a:srgbClr val="DFF1CB"/>
    <a:srgbClr val="C9E8A8"/>
    <a:srgbClr val="EFC4F0"/>
    <a:srgbClr val="E5C4E5"/>
    <a:srgbClr val="FFE080"/>
    <a:srgbClr val="B96E87"/>
    <a:srgbClr val="5B98E8"/>
    <a:srgbClr val="A3C5F2"/>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5256" autoAdjust="0"/>
  </p:normalViewPr>
  <p:slideViewPr>
    <p:cSldViewPr snapToGrid="0">
      <p:cViewPr varScale="1">
        <p:scale>
          <a:sx n="70" d="100"/>
          <a:sy n="70" d="100"/>
        </p:scale>
        <p:origin x="288" y="45"/>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970" y="58"/>
      </p:cViewPr>
      <p:guideLst>
        <p:guide orient="horz" pos="2141"/>
        <p:guide pos="312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bwMode="auto">
          <a:xfrm>
            <a:off x="0"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1" name="Rectangle 3"/>
          <p:cNvSpPr>
            <a:spLocks noGrp="1" noChangeArrowheads="1"/>
          </p:cNvSpPr>
          <p:nvPr>
            <p:ph type="dt" sz="quarter" idx="1"/>
          </p:nvPr>
        </p:nvSpPr>
        <p:spPr bwMode="auto">
          <a:xfrm>
            <a:off x="5623759"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algn="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2" name="Rectangle 4"/>
          <p:cNvSpPr>
            <a:spLocks noGrp="1" noChangeArrowheads="1"/>
          </p:cNvSpPr>
          <p:nvPr>
            <p:ph type="ftr" sz="quarter" idx="2"/>
          </p:nvPr>
        </p:nvSpPr>
        <p:spPr bwMode="auto">
          <a:xfrm>
            <a:off x="0" y="6454244"/>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3" name="Rectangle 5"/>
          <p:cNvSpPr>
            <a:spLocks noGrp="1" noChangeArrowheads="1"/>
          </p:cNvSpPr>
          <p:nvPr>
            <p:ph type="sldNum" sz="quarter" idx="3"/>
          </p:nvPr>
        </p:nvSpPr>
        <p:spPr bwMode="auto">
          <a:xfrm>
            <a:off x="5623759" y="6454244"/>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algn="r" defTabSz="913833" eaLnBrk="1" hangingPunct="1">
              <a:defRPr sz="1200" smtClean="0">
                <a:latin typeface="Times New Roman" panose="020B0604020202020204" pitchFamily="34" charset="0"/>
                <a:ea typeface="SimSun"/>
                <a:cs typeface="Times New Roman"/>
              </a:defRPr>
            </a:lvl1pPr>
          </a:lstStyle>
          <a:p>
            <a:pPr>
              <a:defRPr>
                <a:latin typeface="Times New Roman"/>
                <a:ea typeface="SimSun"/>
                <a:cs typeface="Times New Roman"/>
              </a:defRPr>
            </a:pPr>
            <a:fld id="{DD90D8D4-A28F-4BFE-8A9D-4445065CF981}" type="slidenum">
              <a:rPr lang="en-GB" altLang="zh-CN">
                <a:latin typeface="Times New Roman"/>
                <a:ea typeface="SimSun"/>
                <a:cs typeface="Times New Roman"/>
              </a:rPr>
              <a:pPr>
                <a:defRPr>
                  <a:latin typeface="Times New Roman"/>
                  <a:ea typeface="SimSun"/>
                  <a:cs typeface="Times New Roman"/>
                </a:defRPr>
              </a:pPr>
              <a:t>‹#›</a:t>
            </a:fld>
            <a:endParaRPr lang="en-GB" altLang="zh-CN">
              <a:latin typeface="Times New Roman"/>
              <a:ea typeface="SimSun"/>
              <a:cs typeface="Times New Roman"/>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36195" name="Rectangle 3"/>
          <p:cNvSpPr>
            <a:spLocks noGrp="1" noChangeArrowheads="1"/>
          </p:cNvSpPr>
          <p:nvPr>
            <p:ph type="dt" idx="1"/>
          </p:nvPr>
        </p:nvSpPr>
        <p:spPr bwMode="auto">
          <a:xfrm>
            <a:off x="5625356"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algn="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7412" name="Rectangle 4"/>
          <p:cNvSpPr>
            <a:spLocks noGrp="1" noRot="1" noChangeAspect="1" noChangeArrowheads="1" noTextEdit="1"/>
          </p:cNvSpPr>
          <p:nvPr>
            <p:ph type="sldImg" idx="2"/>
          </p:nvPr>
        </p:nvSpPr>
        <p:spPr bwMode="auto">
          <a:xfrm>
            <a:off x="2697163" y="509588"/>
            <a:ext cx="4537075" cy="2552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7" name="Rectangle 5"/>
          <p:cNvSpPr>
            <a:spLocks noGrp="1" noChangeArrowheads="1"/>
          </p:cNvSpPr>
          <p:nvPr>
            <p:ph type="body" sz="quarter" idx="3"/>
          </p:nvPr>
        </p:nvSpPr>
        <p:spPr bwMode="auto">
          <a:xfrm>
            <a:off x="1324084" y="3227929"/>
            <a:ext cx="7280059" cy="3060244"/>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p>
            <a:pPr lvl="0"/>
            <a:r>
              <a:rPr lang="en-US" altLang="zh-TW" noProof="0">
                <a:latin typeface="Times New Roman"/>
                <a:ea typeface="SimSun"/>
                <a:cs typeface="Times New Roman"/>
              </a:rPr>
              <a:t>Click to edit Master text styles</a:t>
            </a:r>
          </a:p>
          <a:p>
            <a:pPr lvl="1"/>
            <a:r>
              <a:rPr lang="en-US" altLang="zh-TW" noProof="0">
                <a:latin typeface="Times New Roman"/>
                <a:ea typeface="SimSun"/>
                <a:cs typeface="Times New Roman"/>
              </a:rPr>
              <a:t>Second level</a:t>
            </a:r>
          </a:p>
          <a:p>
            <a:pPr lvl="2"/>
            <a:r>
              <a:rPr lang="en-US" altLang="zh-TW" noProof="0">
                <a:latin typeface="Times New Roman"/>
                <a:ea typeface="SimSun"/>
                <a:cs typeface="Times New Roman"/>
              </a:rPr>
              <a:t>Third level</a:t>
            </a:r>
          </a:p>
          <a:p>
            <a:pPr lvl="3"/>
            <a:r>
              <a:rPr lang="en-US" altLang="zh-TW" noProof="0">
                <a:latin typeface="Times New Roman"/>
                <a:ea typeface="SimSun"/>
                <a:cs typeface="Times New Roman"/>
              </a:rPr>
              <a:t>Fourth level</a:t>
            </a:r>
          </a:p>
          <a:p>
            <a:pPr lvl="4"/>
            <a:r>
              <a:rPr lang="en-US" altLang="zh-TW" noProof="0">
                <a:latin typeface="Times New Roman"/>
                <a:ea typeface="SimSun"/>
                <a:cs typeface="Times New Roman"/>
              </a:rPr>
              <a:t>Fifth level</a:t>
            </a:r>
          </a:p>
        </p:txBody>
      </p:sp>
      <p:sp>
        <p:nvSpPr>
          <p:cNvPr id="136198" name="Rectangle 6"/>
          <p:cNvSpPr>
            <a:spLocks noGrp="1" noChangeArrowheads="1"/>
          </p:cNvSpPr>
          <p:nvPr>
            <p:ph type="ftr" sz="quarter" idx="4"/>
          </p:nvPr>
        </p:nvSpPr>
        <p:spPr bwMode="auto">
          <a:xfrm>
            <a:off x="0" y="6455856"/>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36199" name="Rectangle 7"/>
          <p:cNvSpPr>
            <a:spLocks noGrp="1" noChangeArrowheads="1"/>
          </p:cNvSpPr>
          <p:nvPr>
            <p:ph type="sldNum" sz="quarter" idx="5"/>
          </p:nvPr>
        </p:nvSpPr>
        <p:spPr bwMode="auto">
          <a:xfrm>
            <a:off x="5625356" y="6455856"/>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algn="r" defTabSz="912231" eaLnBrk="1" hangingPunct="1">
              <a:defRPr sz="1200" smtClean="0">
                <a:latin typeface="Times New Roman"/>
                <a:ea typeface="SimSun" pitchFamily="18" charset="-120"/>
                <a:cs typeface="Times New Roman"/>
              </a:defRPr>
            </a:lvl1pPr>
          </a:lstStyle>
          <a:p>
            <a:pPr>
              <a:defRPr>
                <a:latin typeface="Times New Roman"/>
                <a:ea typeface="SimSun"/>
                <a:cs typeface="Times New Roman"/>
              </a:defRPr>
            </a:pPr>
            <a:fld id="{E9539218-AF35-4C29-B7A1-DCC55E5102B9}" type="slidenum">
              <a:rPr lang="zh-TW" altLang="en-US">
                <a:latin typeface="Times New Roman"/>
                <a:ea typeface="SimSun"/>
                <a:cs typeface="Times New Roman"/>
              </a:rPr>
              <a:pPr>
                <a:defRPr>
                  <a:latin typeface="Times New Roman"/>
                  <a:ea typeface="SimSun"/>
                  <a:cs typeface="Times New Roman"/>
                </a:defRPr>
              </a:pPr>
              <a:t>‹#›</a:t>
            </a:fld>
            <a:endParaRPr lang="en-US" altLang="zh-TW">
              <a:latin typeface="Times New Roman"/>
              <a:ea typeface="SimSun"/>
              <a:cs typeface="Times New Roman"/>
            </a:endParaRP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1pPr>
    <a:lvl2pPr marL="4572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2pPr>
    <a:lvl3pPr marL="9144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3pPr>
    <a:lvl4pPr marL="13716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4pPr>
    <a:lvl5pPr marL="18288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5pPr>
    <a:lvl6pPr marL="2286000" algn="l" defTabSz="914400" rtl="0" eaLnBrk="1" latinLnBrk="0" hangingPunct="1">
      <a:defRPr sz="1200" kern="1200">
        <a:solidFill>
          <a:schemeClr val="tx1"/>
        </a:solidFill>
        <a:latin typeface="Times New Roman"/>
        <a:ea typeface="SimSun"/>
        <a:cs typeface="Times New Roman"/>
      </a:defRPr>
    </a:lvl6pPr>
    <a:lvl7pPr marL="2743200" algn="l" defTabSz="914400" rtl="0" eaLnBrk="1" latinLnBrk="0" hangingPunct="1">
      <a:defRPr sz="1200" kern="1200">
        <a:solidFill>
          <a:schemeClr val="tx1"/>
        </a:solidFill>
        <a:latin typeface="Times New Roman"/>
        <a:ea typeface="SimSun"/>
        <a:cs typeface="Times New Roman"/>
      </a:defRPr>
    </a:lvl7pPr>
    <a:lvl8pPr marL="3200400" algn="l" defTabSz="914400" rtl="0" eaLnBrk="1" latinLnBrk="0" hangingPunct="1">
      <a:defRPr sz="1200" kern="1200">
        <a:solidFill>
          <a:schemeClr val="tx1"/>
        </a:solidFill>
        <a:latin typeface="Times New Roman"/>
        <a:ea typeface="SimSun"/>
        <a:cs typeface="Times New Roman"/>
      </a:defRPr>
    </a:lvl8pPr>
    <a:lvl9pPr marL="3657600" algn="l" defTabSz="914400" rtl="0" eaLnBrk="1" latinLnBrk="0" hangingPunct="1">
      <a:defRPr sz="1200" kern="1200">
        <a:solidFill>
          <a:schemeClr val="tx1"/>
        </a:solidFill>
        <a:latin typeface="Times New Roman"/>
        <a:ea typeface="SimSun"/>
        <a:cs typeface="Times New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2697163" y="509588"/>
            <a:ext cx="4537075" cy="25527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D183629-4450-420A-874F-A414BC07E25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a:t>
            </a:fld>
            <a:endParaRPr lang="en-US" altLang="zh-TW">
              <a:latin typeface="Times New Roman"/>
              <a:ea typeface="SimSun"/>
              <a:cs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a:t>
            </a:fld>
            <a:endParaRPr lang="en-US" altLang="zh-TW">
              <a:latin typeface="Times New Roman"/>
              <a:ea typeface="SimSun"/>
              <a:cs typeface="Times New Roman"/>
            </a:endParaRPr>
          </a:p>
        </p:txBody>
      </p:sp>
    </p:spTree>
    <p:extLst>
      <p:ext uri="{BB962C8B-B14F-4D97-AF65-F5344CB8AC3E}">
        <p14:creationId xmlns:p14="http://schemas.microsoft.com/office/powerpoint/2010/main" val="3939062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a:t>
            </a:fld>
            <a:endParaRPr lang="en-US" altLang="zh-TW">
              <a:latin typeface="Times New Roman"/>
              <a:ea typeface="SimSun"/>
              <a:cs typeface="Times New Roman"/>
            </a:endParaRPr>
          </a:p>
        </p:txBody>
      </p:sp>
    </p:spTree>
    <p:extLst>
      <p:ext uri="{BB962C8B-B14F-4D97-AF65-F5344CB8AC3E}">
        <p14:creationId xmlns:p14="http://schemas.microsoft.com/office/powerpoint/2010/main" val="238092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E9194E2F-0629-48BC-9DB1-C6B062ACE9A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a:t>
            </a:fld>
            <a:endParaRPr lang="en-US" altLang="zh-TW">
              <a:latin typeface="Times New Roman"/>
              <a:ea typeface="SimSun"/>
              <a:cs typeface="Times New Roman"/>
            </a:endParaRPr>
          </a:p>
        </p:txBody>
      </p:sp>
    </p:spTree>
    <p:extLst>
      <p:ext uri="{BB962C8B-B14F-4D97-AF65-F5344CB8AC3E}">
        <p14:creationId xmlns:p14="http://schemas.microsoft.com/office/powerpoint/2010/main" val="106052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17E7CBE-4A32-468F-A9E0-471668CC128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a:t>
            </a:fld>
            <a:endParaRPr lang="en-US" altLang="zh-TW">
              <a:latin typeface="Times New Roman"/>
              <a:ea typeface="SimSun"/>
              <a:cs typeface="Times New Roman"/>
            </a:endParaRPr>
          </a:p>
        </p:txBody>
      </p:sp>
    </p:spTree>
    <p:extLst>
      <p:ext uri="{BB962C8B-B14F-4D97-AF65-F5344CB8AC3E}">
        <p14:creationId xmlns:p14="http://schemas.microsoft.com/office/powerpoint/2010/main" val="1086578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a:t>
            </a:fld>
            <a:endParaRPr lang="en-US" altLang="zh-TW">
              <a:latin typeface="Times New Roman"/>
              <a:ea typeface="SimSun"/>
              <a:cs typeface="Times New Roman"/>
            </a:endParaRPr>
          </a:p>
        </p:txBody>
      </p:sp>
    </p:spTree>
    <p:extLst>
      <p:ext uri="{BB962C8B-B14F-4D97-AF65-F5344CB8AC3E}">
        <p14:creationId xmlns:p14="http://schemas.microsoft.com/office/powerpoint/2010/main" val="3545261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53B03EF-6637-4470-9731-4452CD9946A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7</a:t>
            </a:fld>
            <a:endParaRPr lang="en-US" altLang="zh-TW">
              <a:latin typeface="Times New Roman"/>
              <a:ea typeface="SimSun"/>
              <a:cs typeface="Times New Roman"/>
            </a:endParaRPr>
          </a:p>
        </p:txBody>
      </p:sp>
    </p:spTree>
    <p:extLst>
      <p:ext uri="{BB962C8B-B14F-4D97-AF65-F5344CB8AC3E}">
        <p14:creationId xmlns:p14="http://schemas.microsoft.com/office/powerpoint/2010/main" val="4280419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50893CB9-CF87-40A4-8B4F-74D87A137085}"/>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8</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890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D902CAD-1E20-4C8B-9C2D-649EABBE31F1}"/>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9</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890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361B53A0-4448-48C2-AE73-953308D24AA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10</a:t>
            </a:fld>
            <a:endParaRPr lang="en-US" altLang="zh-TW">
              <a:latin typeface="Times New Roman"/>
              <a:ea typeface="SimSun"/>
              <a:cs typeface="Times New Roman"/>
            </a:endParaRPr>
          </a:p>
        </p:txBody>
      </p:sp>
    </p:spTree>
    <p:extLst>
      <p:ext uri="{BB962C8B-B14F-4D97-AF65-F5344CB8AC3E}">
        <p14:creationId xmlns:p14="http://schemas.microsoft.com/office/powerpoint/2010/main" val="327345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11</a:t>
            </a:fld>
            <a:endParaRPr lang="en-US" altLang="zh-TW">
              <a:latin typeface="Times New Roman"/>
              <a:ea typeface="SimSun"/>
              <a:cs typeface="Times New Roman"/>
            </a:endParaRPr>
          </a:p>
        </p:txBody>
      </p:sp>
    </p:spTree>
    <p:extLst>
      <p:ext uri="{BB962C8B-B14F-4D97-AF65-F5344CB8AC3E}">
        <p14:creationId xmlns:p14="http://schemas.microsoft.com/office/powerpoint/2010/main" val="1684739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4033C81-BCEA-4740-8588-86E6A68D77AF}"/>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12</a:t>
            </a:fld>
            <a:endParaRPr lang="en-US" altLang="zh-TW">
              <a:latin typeface="Times New Roman"/>
              <a:ea typeface="SimSun"/>
              <a:cs typeface="Times New Roman"/>
            </a:endParaRPr>
          </a:p>
        </p:txBody>
      </p:sp>
    </p:spTree>
    <p:extLst>
      <p:ext uri="{BB962C8B-B14F-4D97-AF65-F5344CB8AC3E}">
        <p14:creationId xmlns:p14="http://schemas.microsoft.com/office/powerpoint/2010/main" val="3410370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r>
              <a:rPr lang="en-US" altLang="zh-CN" dirty="0">
                <a:latin typeface="Times New Roman"/>
                <a:ea typeface="SimSun"/>
                <a:cs typeface="Times New Roman"/>
              </a:rPr>
              <a:t>PIEC model to do the parameter analysis as and determine the inter…</a:t>
            </a:r>
          </a:p>
          <a:p>
            <a:r>
              <a:rPr lang="en-US" altLang="zh-CN" dirty="0">
                <a:latin typeface="Times New Roman"/>
                <a:ea typeface="SimSun"/>
                <a:cs typeface="Times New Roman"/>
              </a:rPr>
              <a:t>Compare</a:t>
            </a:r>
            <a:endParaRPr lang="zh-CN" altLang="en-US" dirty="0">
              <a:latin typeface="Times New Roman"/>
              <a:ea typeface="SimSun"/>
              <a:cs typeface="Times New Roman"/>
            </a:endParaRPr>
          </a:p>
        </p:txBody>
      </p:sp>
      <p:sp>
        <p:nvSpPr>
          <p:cNvPr id="5" name="灯片编号占位符 4">
            <a:extLst>
              <a:ext uri="{FF2B5EF4-FFF2-40B4-BE49-F238E27FC236}">
                <a16:creationId xmlns:a16="http://schemas.microsoft.com/office/drawing/2014/main" id="{F5A47F21-FB41-4669-B2B0-2E94E560D82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13</a:t>
            </a:fld>
            <a:endParaRPr lang="en-US" altLang="zh-TW">
              <a:latin typeface="Times New Roman"/>
              <a:ea typeface="SimSun"/>
              <a:cs typeface="Times New Roman"/>
            </a:endParaRPr>
          </a:p>
        </p:txBody>
      </p:sp>
    </p:spTree>
    <p:extLst>
      <p:ext uri="{BB962C8B-B14F-4D97-AF65-F5344CB8AC3E}">
        <p14:creationId xmlns:p14="http://schemas.microsoft.com/office/powerpoint/2010/main" val="2536067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r>
              <a:rPr lang="en-US" altLang="zh-CN" dirty="0">
                <a:latin typeface="Times New Roman"/>
                <a:ea typeface="SimSun"/>
                <a:cs typeface="Times New Roman"/>
              </a:rPr>
              <a:t>PIEC model to do the parameter analysis as and determine the inter…</a:t>
            </a:r>
          </a:p>
          <a:p>
            <a:r>
              <a:rPr lang="en-US" altLang="zh-CN" dirty="0">
                <a:latin typeface="Times New Roman"/>
                <a:ea typeface="SimSun"/>
                <a:cs typeface="Times New Roman"/>
              </a:rPr>
              <a:t>Compare</a:t>
            </a:r>
            <a:endParaRPr lang="zh-CN" altLang="en-US" dirty="0">
              <a:latin typeface="Times New Roman"/>
              <a:ea typeface="SimSun"/>
              <a:cs typeface="Times New Roman"/>
            </a:endParaRPr>
          </a:p>
        </p:txBody>
      </p:sp>
      <p:sp>
        <p:nvSpPr>
          <p:cNvPr id="5" name="灯片编号占位符 4">
            <a:extLst>
              <a:ext uri="{FF2B5EF4-FFF2-40B4-BE49-F238E27FC236}">
                <a16:creationId xmlns:a16="http://schemas.microsoft.com/office/drawing/2014/main" id="{F5A47F21-FB41-4669-B2B0-2E94E560D82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14</a:t>
            </a:fld>
            <a:endParaRPr lang="en-US" altLang="zh-TW">
              <a:latin typeface="Times New Roman"/>
              <a:ea typeface="SimSun"/>
              <a:cs typeface="Times New Roman"/>
            </a:endParaRPr>
          </a:p>
        </p:txBody>
      </p:sp>
    </p:spTree>
    <p:extLst>
      <p:ext uri="{BB962C8B-B14F-4D97-AF65-F5344CB8AC3E}">
        <p14:creationId xmlns:p14="http://schemas.microsoft.com/office/powerpoint/2010/main" val="423748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15</a:t>
            </a:fld>
            <a:endParaRPr lang="en-US" altLang="zh-TW">
              <a:latin typeface="Times New Roman"/>
              <a:ea typeface="SimSun"/>
              <a:cs typeface="Times New Roman"/>
            </a:endParaRPr>
          </a:p>
        </p:txBody>
      </p:sp>
    </p:spTree>
    <p:extLst>
      <p:ext uri="{BB962C8B-B14F-4D97-AF65-F5344CB8AC3E}">
        <p14:creationId xmlns:p14="http://schemas.microsoft.com/office/powerpoint/2010/main" val="12850539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3FC6054D-4157-4F34-AEFF-180F948111A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16</a:t>
            </a:fld>
            <a:endParaRPr lang="en-US" altLang="zh-TW">
              <a:latin typeface="Times New Roman"/>
              <a:ea typeface="SimSun"/>
              <a:cs typeface="Times New Roman"/>
            </a:endParaRPr>
          </a:p>
        </p:txBody>
      </p:sp>
    </p:spTree>
    <p:extLst>
      <p:ext uri="{BB962C8B-B14F-4D97-AF65-F5344CB8AC3E}">
        <p14:creationId xmlns:p14="http://schemas.microsoft.com/office/powerpoint/2010/main" val="2761430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6667500-A233-453C-869A-044BCE9806C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17</a:t>
            </a:fld>
            <a:endParaRPr lang="en-US" altLang="zh-TW">
              <a:latin typeface="Times New Roman"/>
              <a:ea typeface="SimSun"/>
              <a:cs typeface="Times New Roman"/>
            </a:endParaRPr>
          </a:p>
        </p:txBody>
      </p:sp>
    </p:spTree>
    <p:extLst>
      <p:ext uri="{BB962C8B-B14F-4D97-AF65-F5344CB8AC3E}">
        <p14:creationId xmlns:p14="http://schemas.microsoft.com/office/powerpoint/2010/main" val="3913246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DE09066-3333-4E50-9686-EFB47E14E8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18</a:t>
            </a:fld>
            <a:endParaRPr lang="en-US" altLang="zh-TW">
              <a:latin typeface="Times New Roman"/>
              <a:ea typeface="SimSun"/>
              <a:cs typeface="Times New Roman"/>
            </a:endParaRPr>
          </a:p>
        </p:txBody>
      </p:sp>
    </p:spTree>
    <p:extLst>
      <p:ext uri="{BB962C8B-B14F-4D97-AF65-F5344CB8AC3E}">
        <p14:creationId xmlns:p14="http://schemas.microsoft.com/office/powerpoint/2010/main" val="2484482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2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50305" indent="-288579"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54316"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16042"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77768"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39495"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3001221"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62947"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924673"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fld id="{C4C20F0C-580E-42DF-9542-BF2972995143}" type="slidenum">
              <a:rPr lang="en-US" altLang="zh-CN" sz="1200">
                <a:solidFill>
                  <a:srgbClr val="000000"/>
                </a:solidFill>
                <a:latin typeface="Times New Roman" panose="020B0604020202020204" pitchFamily="34" charset="0"/>
                <a:ea typeface="SimSun" panose="020B0600070205080204" pitchFamily="34" charset="-128"/>
                <a:cs typeface="Times New Roman"/>
              </a:rPr>
              <a:pPr/>
              <a:t>19</a:t>
            </a:fld>
            <a:endParaRPr lang="en-US" altLang="zh-CN" sz="1200">
              <a:solidFill>
                <a:srgbClr val="000000"/>
              </a:solidFill>
              <a:latin typeface="Times New Roman" panose="020B0604020202020204" pitchFamily="34" charset="0"/>
              <a:ea typeface="SimSun" panose="020B0600070205080204" pitchFamily="34" charset="-128"/>
              <a:cs typeface="Times New Roman"/>
            </a:endParaRPr>
          </a:p>
        </p:txBody>
      </p:sp>
    </p:spTree>
    <p:extLst>
      <p:ext uri="{BB962C8B-B14F-4D97-AF65-F5344CB8AC3E}">
        <p14:creationId xmlns:p14="http://schemas.microsoft.com/office/powerpoint/2010/main" val="3541596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A131342-79FE-4B23-8C14-4E3EE10072E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20</a:t>
            </a:fld>
            <a:endParaRPr lang="en-US" altLang="zh-TW">
              <a:latin typeface="Times New Roman"/>
              <a:ea typeface="SimSun"/>
              <a:cs typeface="Times New Roman"/>
            </a:endParaRPr>
          </a:p>
        </p:txBody>
      </p:sp>
    </p:spTree>
    <p:extLst>
      <p:ext uri="{BB962C8B-B14F-4D97-AF65-F5344CB8AC3E}">
        <p14:creationId xmlns:p14="http://schemas.microsoft.com/office/powerpoint/2010/main" val="951924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BF7A27E-ADA4-4831-819F-84B7AC088F80}"/>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21</a:t>
            </a:fld>
            <a:endParaRPr lang="en-US" altLang="zh-TW">
              <a:latin typeface="Times New Roman"/>
              <a:ea typeface="SimSun"/>
              <a:cs typeface="Times New Roman"/>
            </a:endParaRPr>
          </a:p>
        </p:txBody>
      </p:sp>
    </p:spTree>
    <p:extLst>
      <p:ext uri="{BB962C8B-B14F-4D97-AF65-F5344CB8AC3E}">
        <p14:creationId xmlns:p14="http://schemas.microsoft.com/office/powerpoint/2010/main" val="1925810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F5D714F-7E49-48B2-81F6-CF4D5BF7FE3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22</a:t>
            </a:fld>
            <a:endParaRPr lang="en-US" altLang="zh-TW">
              <a:latin typeface="Times New Roman"/>
              <a:ea typeface="SimSun"/>
              <a:cs typeface="Times New Roman"/>
            </a:endParaRPr>
          </a:p>
        </p:txBody>
      </p:sp>
    </p:spTree>
    <p:extLst>
      <p:ext uri="{BB962C8B-B14F-4D97-AF65-F5344CB8AC3E}">
        <p14:creationId xmlns:p14="http://schemas.microsoft.com/office/powerpoint/2010/main" val="4188642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C9725D98-16E5-465F-A249-F39F9E34A67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23</a:t>
            </a:fld>
            <a:endParaRPr lang="en-US" altLang="zh-TW">
              <a:latin typeface="Times New Roman"/>
              <a:ea typeface="SimSun"/>
              <a:cs typeface="Times New Roman"/>
            </a:endParaRPr>
          </a:p>
        </p:txBody>
      </p:sp>
    </p:spTree>
    <p:extLst>
      <p:ext uri="{BB962C8B-B14F-4D97-AF65-F5344CB8AC3E}">
        <p14:creationId xmlns:p14="http://schemas.microsoft.com/office/powerpoint/2010/main" val="1401306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BE4ABEE-E535-4301-B188-1D17E971406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24</a:t>
            </a:fld>
            <a:endParaRPr lang="en-US" altLang="zh-TW">
              <a:latin typeface="Times New Roman"/>
              <a:ea typeface="SimSun"/>
              <a:cs typeface="Times New Roman"/>
            </a:endParaRPr>
          </a:p>
        </p:txBody>
      </p:sp>
    </p:spTree>
    <p:extLst>
      <p:ext uri="{BB962C8B-B14F-4D97-AF65-F5344CB8AC3E}">
        <p14:creationId xmlns:p14="http://schemas.microsoft.com/office/powerpoint/2010/main" val="2864158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25</a:t>
            </a:fld>
            <a:endParaRPr lang="en-US" altLang="zh-TW">
              <a:latin typeface="Times New Roman"/>
              <a:ea typeface="SimSun"/>
              <a:cs typeface="Times New Roman"/>
            </a:endParaRPr>
          </a:p>
        </p:txBody>
      </p:sp>
    </p:spTree>
    <p:extLst>
      <p:ext uri="{BB962C8B-B14F-4D97-AF65-F5344CB8AC3E}">
        <p14:creationId xmlns:p14="http://schemas.microsoft.com/office/powerpoint/2010/main" val="3131673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3503936-1935-40B5-8DD7-B64E67B9B6F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26</a:t>
            </a:fld>
            <a:endParaRPr lang="en-US" altLang="zh-TW">
              <a:latin typeface="Times New Roman"/>
              <a:ea typeface="SimSun"/>
              <a:cs typeface="Times New Roman"/>
            </a:endParaRPr>
          </a:p>
        </p:txBody>
      </p:sp>
    </p:spTree>
    <p:extLst>
      <p:ext uri="{BB962C8B-B14F-4D97-AF65-F5344CB8AC3E}">
        <p14:creationId xmlns:p14="http://schemas.microsoft.com/office/powerpoint/2010/main" val="907725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F4354850-8E40-409E-BC36-4237B1608B3D}"/>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27</a:t>
            </a:fld>
            <a:endParaRPr lang="en-US" altLang="zh-TW">
              <a:latin typeface="Times New Roman"/>
              <a:ea typeface="SimSun"/>
              <a:cs typeface="Times New Roman"/>
            </a:endParaRPr>
          </a:p>
        </p:txBody>
      </p:sp>
    </p:spTree>
    <p:extLst>
      <p:ext uri="{BB962C8B-B14F-4D97-AF65-F5344CB8AC3E}">
        <p14:creationId xmlns:p14="http://schemas.microsoft.com/office/powerpoint/2010/main" val="3913246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B8014DB-1BC7-405E-9940-73D11F68CB4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28</a:t>
            </a:fld>
            <a:endParaRPr lang="en-US" altLang="zh-TW">
              <a:latin typeface="Times New Roman"/>
              <a:ea typeface="SimSun"/>
              <a:cs typeface="Times New Roman"/>
            </a:endParaRPr>
          </a:p>
        </p:txBody>
      </p:sp>
    </p:spTree>
    <p:extLst>
      <p:ext uri="{BB962C8B-B14F-4D97-AF65-F5344CB8AC3E}">
        <p14:creationId xmlns:p14="http://schemas.microsoft.com/office/powerpoint/2010/main" val="23246404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E63FE4E-4BAA-4959-A197-7E9C54C6C02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29</a:t>
            </a:fld>
            <a:endParaRPr lang="en-US" altLang="zh-TW">
              <a:latin typeface="Times New Roman"/>
              <a:ea typeface="SimSun"/>
              <a:cs typeface="Times New Roman"/>
            </a:endParaRPr>
          </a:p>
        </p:txBody>
      </p:sp>
    </p:spTree>
    <p:extLst>
      <p:ext uri="{BB962C8B-B14F-4D97-AF65-F5344CB8AC3E}">
        <p14:creationId xmlns:p14="http://schemas.microsoft.com/office/powerpoint/2010/main" val="2484482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E63FE4E-4BAA-4959-A197-7E9C54C6C02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30</a:t>
            </a:fld>
            <a:endParaRPr lang="en-US" altLang="zh-TW">
              <a:latin typeface="Times New Roman"/>
              <a:ea typeface="SimSun"/>
              <a:cs typeface="Times New Roman"/>
            </a:endParaRPr>
          </a:p>
        </p:txBody>
      </p:sp>
    </p:spTree>
    <p:extLst>
      <p:ext uri="{BB962C8B-B14F-4D97-AF65-F5344CB8AC3E}">
        <p14:creationId xmlns:p14="http://schemas.microsoft.com/office/powerpoint/2010/main" val="3921723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ACDF66-476E-4AE4-9B23-EA436B49DDE9}"/>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31</a:t>
            </a:fld>
            <a:endParaRPr lang="en-US" altLang="zh-TW">
              <a:latin typeface="Times New Roman"/>
              <a:ea typeface="SimSun"/>
              <a:cs typeface="Times New Roman"/>
            </a:endParaRPr>
          </a:p>
        </p:txBody>
      </p:sp>
    </p:spTree>
    <p:extLst>
      <p:ext uri="{BB962C8B-B14F-4D97-AF65-F5344CB8AC3E}">
        <p14:creationId xmlns:p14="http://schemas.microsoft.com/office/powerpoint/2010/main" val="34573606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14EFEF5-6D8D-4118-BD5A-02D919F6891D}"/>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32</a:t>
            </a:fld>
            <a:endParaRPr lang="en-US" altLang="zh-TW">
              <a:latin typeface="Times New Roman"/>
              <a:ea typeface="SimSun"/>
              <a:cs typeface="Times New Roman"/>
            </a:endParaRPr>
          </a:p>
        </p:txBody>
      </p:sp>
    </p:spTree>
    <p:extLst>
      <p:ext uri="{BB962C8B-B14F-4D97-AF65-F5344CB8AC3E}">
        <p14:creationId xmlns:p14="http://schemas.microsoft.com/office/powerpoint/2010/main" val="7721055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F6B97D1-3E6B-4E7F-B21C-910F0053E46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33</a:t>
            </a:fld>
            <a:endParaRPr lang="en-US" altLang="zh-TW">
              <a:latin typeface="Times New Roman"/>
              <a:ea typeface="SimSun"/>
              <a:cs typeface="Times New Roman"/>
            </a:endParaRPr>
          </a:p>
        </p:txBody>
      </p:sp>
    </p:spTree>
    <p:extLst>
      <p:ext uri="{BB962C8B-B14F-4D97-AF65-F5344CB8AC3E}">
        <p14:creationId xmlns:p14="http://schemas.microsoft.com/office/powerpoint/2010/main" val="8738954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3DA9766-0269-4B09-9B70-5550489D81D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34</a:t>
            </a:fld>
            <a:endParaRPr lang="en-US" altLang="zh-TW">
              <a:latin typeface="Times New Roman"/>
              <a:ea typeface="SimSun"/>
              <a:cs typeface="Times New Roman"/>
            </a:endParaRPr>
          </a:p>
        </p:txBody>
      </p:sp>
    </p:spTree>
    <p:extLst>
      <p:ext uri="{BB962C8B-B14F-4D97-AF65-F5344CB8AC3E}">
        <p14:creationId xmlns:p14="http://schemas.microsoft.com/office/powerpoint/2010/main" val="1373143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E992F0C-E04C-4FDA-A244-FDC90C1AC88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35</a:t>
            </a:fld>
            <a:endParaRPr lang="en-US" altLang="zh-TW">
              <a:latin typeface="Times New Roman"/>
              <a:ea typeface="SimSun"/>
              <a:cs typeface="Times New Roman"/>
            </a:endParaRPr>
          </a:p>
        </p:txBody>
      </p:sp>
    </p:spTree>
    <p:extLst>
      <p:ext uri="{BB962C8B-B14F-4D97-AF65-F5344CB8AC3E}">
        <p14:creationId xmlns:p14="http://schemas.microsoft.com/office/powerpoint/2010/main" val="2864158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36</a:t>
            </a:fld>
            <a:endParaRPr lang="en-US" altLang="zh-TW">
              <a:latin typeface="Times New Roman"/>
              <a:ea typeface="SimSun"/>
              <a:cs typeface="Times New Roman"/>
            </a:endParaRPr>
          </a:p>
        </p:txBody>
      </p:sp>
    </p:spTree>
    <p:extLst>
      <p:ext uri="{BB962C8B-B14F-4D97-AF65-F5344CB8AC3E}">
        <p14:creationId xmlns:p14="http://schemas.microsoft.com/office/powerpoint/2010/main" val="11639534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CE4E0FD1-B8C2-4BD0-9DC8-3C61854374F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37</a:t>
            </a:fld>
            <a:endParaRPr lang="en-US" altLang="zh-TW">
              <a:latin typeface="Times New Roman"/>
              <a:ea typeface="SimSun"/>
              <a:cs typeface="Times New Roman"/>
            </a:endParaRPr>
          </a:p>
        </p:txBody>
      </p:sp>
    </p:spTree>
    <p:extLst>
      <p:ext uri="{BB962C8B-B14F-4D97-AF65-F5344CB8AC3E}">
        <p14:creationId xmlns:p14="http://schemas.microsoft.com/office/powerpoint/2010/main" val="6337299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1B8974FC-000C-4ED8-ABA9-BF0F90FAFA9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38</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2990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39</a:t>
            </a:fld>
            <a:endParaRPr lang="en-US" altLang="zh-TW">
              <a:latin typeface="Times New Roman"/>
              <a:ea typeface="SimSun"/>
              <a:cs typeface="Times New Roman"/>
            </a:endParaRPr>
          </a:p>
        </p:txBody>
      </p:sp>
    </p:spTree>
    <p:extLst>
      <p:ext uri="{BB962C8B-B14F-4D97-AF65-F5344CB8AC3E}">
        <p14:creationId xmlns:p14="http://schemas.microsoft.com/office/powerpoint/2010/main" val="42132405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40</a:t>
            </a:fld>
            <a:endParaRPr lang="en-US" altLang="zh-TW">
              <a:latin typeface="Times New Roman"/>
              <a:ea typeface="SimSun"/>
              <a:cs typeface="Times New Roman"/>
            </a:endParaRPr>
          </a:p>
        </p:txBody>
      </p:sp>
    </p:spTree>
    <p:extLst>
      <p:ext uri="{BB962C8B-B14F-4D97-AF65-F5344CB8AC3E}">
        <p14:creationId xmlns:p14="http://schemas.microsoft.com/office/powerpoint/2010/main" val="24667812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41</a:t>
            </a:fld>
            <a:endParaRPr lang="en-US" altLang="zh-TW">
              <a:latin typeface="Times New Roman"/>
              <a:ea typeface="SimSun"/>
              <a:cs typeface="Times New Roman"/>
            </a:endParaRPr>
          </a:p>
        </p:txBody>
      </p:sp>
    </p:spTree>
    <p:extLst>
      <p:ext uri="{BB962C8B-B14F-4D97-AF65-F5344CB8AC3E}">
        <p14:creationId xmlns:p14="http://schemas.microsoft.com/office/powerpoint/2010/main" val="37647169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42</a:t>
            </a:fld>
            <a:endParaRPr lang="en-US" altLang="zh-TW">
              <a:latin typeface="Times New Roman"/>
              <a:ea typeface="SimSun"/>
              <a:cs typeface="Times New Roman"/>
            </a:endParaRPr>
          </a:p>
        </p:txBody>
      </p:sp>
    </p:spTree>
    <p:extLst>
      <p:ext uri="{BB962C8B-B14F-4D97-AF65-F5344CB8AC3E}">
        <p14:creationId xmlns:p14="http://schemas.microsoft.com/office/powerpoint/2010/main" val="35374895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43</a:t>
            </a:fld>
            <a:endParaRPr lang="en-US" altLang="zh-TW">
              <a:latin typeface="Times New Roman"/>
              <a:ea typeface="SimSun"/>
              <a:cs typeface="Times New Roman"/>
            </a:endParaRPr>
          </a:p>
        </p:txBody>
      </p:sp>
    </p:spTree>
    <p:extLst>
      <p:ext uri="{BB962C8B-B14F-4D97-AF65-F5344CB8AC3E}">
        <p14:creationId xmlns:p14="http://schemas.microsoft.com/office/powerpoint/2010/main" val="38824509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44</a:t>
            </a:fld>
            <a:endParaRPr lang="en-US" altLang="zh-TW">
              <a:latin typeface="Times New Roman"/>
              <a:ea typeface="SimSun"/>
              <a:cs typeface="Times New Roman"/>
            </a:endParaRPr>
          </a:p>
        </p:txBody>
      </p:sp>
    </p:spTree>
    <p:extLst>
      <p:ext uri="{BB962C8B-B14F-4D97-AF65-F5344CB8AC3E}">
        <p14:creationId xmlns:p14="http://schemas.microsoft.com/office/powerpoint/2010/main" val="3884202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45</a:t>
            </a:fld>
            <a:endParaRPr lang="en-US" altLang="zh-TW">
              <a:latin typeface="Times New Roman"/>
              <a:ea typeface="SimSun"/>
              <a:cs typeface="Times New Roman"/>
            </a:endParaRPr>
          </a:p>
        </p:txBody>
      </p:sp>
    </p:spTree>
    <p:extLst>
      <p:ext uri="{BB962C8B-B14F-4D97-AF65-F5344CB8AC3E}">
        <p14:creationId xmlns:p14="http://schemas.microsoft.com/office/powerpoint/2010/main" val="2021144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46</a:t>
            </a:fld>
            <a:endParaRPr lang="en-US" altLang="zh-TW">
              <a:latin typeface="Times New Roman"/>
              <a:ea typeface="SimSun"/>
              <a:cs typeface="Times New Roman"/>
            </a:endParaRPr>
          </a:p>
        </p:txBody>
      </p:sp>
    </p:spTree>
    <p:extLst>
      <p:ext uri="{BB962C8B-B14F-4D97-AF65-F5344CB8AC3E}">
        <p14:creationId xmlns:p14="http://schemas.microsoft.com/office/powerpoint/2010/main" val="4166321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05A4EE8-2B30-44DE-B5E4-842990079C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47</a:t>
            </a:fld>
            <a:endParaRPr lang="en-US" altLang="zh-TW">
              <a:latin typeface="Times New Roman"/>
              <a:ea typeface="SimSun"/>
              <a:cs typeface="Times New Roman"/>
            </a:endParaRPr>
          </a:p>
        </p:txBody>
      </p:sp>
    </p:spTree>
    <p:extLst>
      <p:ext uri="{BB962C8B-B14F-4D97-AF65-F5344CB8AC3E}">
        <p14:creationId xmlns:p14="http://schemas.microsoft.com/office/powerpoint/2010/main" val="27980035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AC08C26-8868-4C8A-A123-F673C7BA2CD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48</a:t>
            </a:fld>
            <a:endParaRPr lang="en-US" altLang="zh-TW">
              <a:latin typeface="Times New Roman"/>
              <a:ea typeface="SimSun"/>
              <a:cs typeface="Times New Roman"/>
            </a:endParaRPr>
          </a:p>
        </p:txBody>
      </p:sp>
    </p:spTree>
    <p:extLst>
      <p:ext uri="{BB962C8B-B14F-4D97-AF65-F5344CB8AC3E}">
        <p14:creationId xmlns:p14="http://schemas.microsoft.com/office/powerpoint/2010/main" val="38829472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51AE4B6-F39C-4E87-93C7-37870B38C20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49</a:t>
            </a:fld>
            <a:endParaRPr lang="en-US" altLang="zh-TW">
              <a:latin typeface="Times New Roman"/>
              <a:ea typeface="SimSun"/>
              <a:cs typeface="Times New Roman"/>
            </a:endParaRPr>
          </a:p>
        </p:txBody>
      </p:sp>
    </p:spTree>
    <p:extLst>
      <p:ext uri="{BB962C8B-B14F-4D97-AF65-F5344CB8AC3E}">
        <p14:creationId xmlns:p14="http://schemas.microsoft.com/office/powerpoint/2010/main" val="41414579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26263736-D33E-4E4B-AD7C-9010CA7ECEB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50</a:t>
            </a:fld>
            <a:endParaRPr lang="en-US" altLang="zh-TW">
              <a:latin typeface="Times New Roman"/>
              <a:ea typeface="SimSun"/>
              <a:cs typeface="Times New Roman"/>
            </a:endParaRPr>
          </a:p>
        </p:txBody>
      </p:sp>
    </p:spTree>
    <p:extLst>
      <p:ext uri="{BB962C8B-B14F-4D97-AF65-F5344CB8AC3E}">
        <p14:creationId xmlns:p14="http://schemas.microsoft.com/office/powerpoint/2010/main" val="39477620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26263736-D33E-4E4B-AD7C-9010CA7ECEB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51</a:t>
            </a:fld>
            <a:endParaRPr lang="en-US" altLang="zh-TW">
              <a:latin typeface="Times New Roman"/>
              <a:ea typeface="SimSun"/>
              <a:cs typeface="Times New Roman"/>
            </a:endParaRPr>
          </a:p>
        </p:txBody>
      </p:sp>
    </p:spTree>
    <p:extLst>
      <p:ext uri="{BB962C8B-B14F-4D97-AF65-F5344CB8AC3E}">
        <p14:creationId xmlns:p14="http://schemas.microsoft.com/office/powerpoint/2010/main" val="1397508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52</a:t>
            </a:fld>
            <a:endParaRPr lang="en-US" altLang="zh-TW">
              <a:latin typeface="Times New Roman"/>
              <a:ea typeface="SimSun"/>
              <a:cs typeface="Times New Roman"/>
            </a:endParaRPr>
          </a:p>
        </p:txBody>
      </p:sp>
    </p:spTree>
    <p:extLst>
      <p:ext uri="{BB962C8B-B14F-4D97-AF65-F5344CB8AC3E}">
        <p14:creationId xmlns:p14="http://schemas.microsoft.com/office/powerpoint/2010/main" val="32520879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1A4DF25D-3FF5-43A0-9E4A-789601482A8F}"/>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53</a:t>
            </a:fld>
            <a:endParaRPr lang="en-US" altLang="zh-TW">
              <a:latin typeface="Times New Roman"/>
              <a:ea typeface="SimSun"/>
              <a:cs typeface="Times New Roman"/>
            </a:endParaRPr>
          </a:p>
        </p:txBody>
      </p:sp>
    </p:spTree>
    <p:extLst>
      <p:ext uri="{BB962C8B-B14F-4D97-AF65-F5344CB8AC3E}">
        <p14:creationId xmlns:p14="http://schemas.microsoft.com/office/powerpoint/2010/main" val="1828563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C7FD3AC-C2CF-4840-9228-0337133862C3}"/>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54</a:t>
            </a:fld>
            <a:endParaRPr lang="en-US" altLang="zh-TW">
              <a:latin typeface="Times New Roman"/>
              <a:ea typeface="SimSun"/>
              <a:cs typeface="Times New Roman"/>
            </a:endParaRPr>
          </a:p>
        </p:txBody>
      </p:sp>
    </p:spTree>
    <p:extLst>
      <p:ext uri="{BB962C8B-B14F-4D97-AF65-F5344CB8AC3E}">
        <p14:creationId xmlns:p14="http://schemas.microsoft.com/office/powerpoint/2010/main" val="37577499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55</a:t>
            </a:fld>
            <a:endParaRPr lang="en-US" altLang="zh-TW">
              <a:latin typeface="Times New Roman"/>
              <a:ea typeface="SimSun"/>
              <a:cs typeface="Times New Roman"/>
            </a:endParaRPr>
          </a:p>
        </p:txBody>
      </p:sp>
    </p:spTree>
    <p:extLst>
      <p:ext uri="{BB962C8B-B14F-4D97-AF65-F5344CB8AC3E}">
        <p14:creationId xmlns:p14="http://schemas.microsoft.com/office/powerpoint/2010/main" val="2595857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endParaRPr lang="zh-CN" altLang="en-US">
              <a:latin typeface="Times New Roman"/>
              <a:ea typeface="SimSun"/>
              <a:cs typeface="Times New Roman"/>
            </a:endParaRPr>
          </a:p>
        </p:txBody>
      </p:sp>
      <p:sp>
        <p:nvSpPr>
          <p:cNvPr id="5" name="灯片编号占位符 4">
            <a:extLst>
              <a:ext uri="{FF2B5EF4-FFF2-40B4-BE49-F238E27FC236}">
                <a16:creationId xmlns:a16="http://schemas.microsoft.com/office/drawing/2014/main" id="{68FC9E79-C983-4002-BE8C-8533DCFD7CA0}"/>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59</a:t>
            </a:fld>
            <a:endParaRPr lang="en-US" altLang="zh-TW">
              <a:latin typeface="Times New Roman"/>
              <a:ea typeface="SimSun"/>
              <a:cs typeface="Times New Roman"/>
            </a:endParaRPr>
          </a:p>
        </p:txBody>
      </p:sp>
    </p:spTree>
    <p:extLst>
      <p:ext uri="{BB962C8B-B14F-4D97-AF65-F5344CB8AC3E}">
        <p14:creationId xmlns:p14="http://schemas.microsoft.com/office/powerpoint/2010/main" val="13660568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2697163" y="509588"/>
            <a:ext cx="4537075" cy="25527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319CB7E-98B4-4AD0-ADE3-D778A181B50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60</a:t>
            </a:fld>
            <a:endParaRPr lang="en-US" altLang="zh-TW">
              <a:latin typeface="Times New Roman"/>
              <a:ea typeface="SimSun"/>
              <a:cs typeface="Times New Roman"/>
            </a:endParaRPr>
          </a:p>
        </p:txBody>
      </p:sp>
    </p:spTree>
    <p:extLst>
      <p:ext uri="{BB962C8B-B14F-4D97-AF65-F5344CB8AC3E}">
        <p14:creationId xmlns:p14="http://schemas.microsoft.com/office/powerpoint/2010/main" val="32946175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61</a:t>
            </a:fld>
            <a:endParaRPr lang="en-US" altLang="zh-TW">
              <a:latin typeface="Times New Roman"/>
              <a:ea typeface="SimSun"/>
              <a:cs typeface="Times New Roman"/>
            </a:endParaRPr>
          </a:p>
        </p:txBody>
      </p:sp>
    </p:spTree>
    <p:extLst>
      <p:ext uri="{BB962C8B-B14F-4D97-AF65-F5344CB8AC3E}">
        <p14:creationId xmlns:p14="http://schemas.microsoft.com/office/powerpoint/2010/main" val="11832758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62</a:t>
            </a:fld>
            <a:endParaRPr lang="en-US" altLang="zh-TW">
              <a:latin typeface="Times New Roman"/>
              <a:ea typeface="SimSun"/>
              <a:cs typeface="Times New Roman"/>
            </a:endParaRPr>
          </a:p>
        </p:txBody>
      </p:sp>
    </p:spTree>
    <p:extLst>
      <p:ext uri="{BB962C8B-B14F-4D97-AF65-F5344CB8AC3E}">
        <p14:creationId xmlns:p14="http://schemas.microsoft.com/office/powerpoint/2010/main" val="41043015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63</a:t>
            </a:fld>
            <a:endParaRPr lang="en-US" altLang="zh-TW">
              <a:latin typeface="Times New Roman"/>
              <a:ea typeface="SimSun"/>
              <a:cs typeface="Times New Roman"/>
            </a:endParaRPr>
          </a:p>
        </p:txBody>
      </p:sp>
    </p:spTree>
    <p:extLst>
      <p:ext uri="{BB962C8B-B14F-4D97-AF65-F5344CB8AC3E}">
        <p14:creationId xmlns:p14="http://schemas.microsoft.com/office/powerpoint/2010/main" val="13636292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64</a:t>
            </a:fld>
            <a:endParaRPr lang="en-US" altLang="zh-TW">
              <a:latin typeface="Times New Roman"/>
              <a:ea typeface="SimSun"/>
              <a:cs typeface="Times New Roman"/>
            </a:endParaRPr>
          </a:p>
        </p:txBody>
      </p:sp>
    </p:spTree>
    <p:extLst>
      <p:ext uri="{BB962C8B-B14F-4D97-AF65-F5344CB8AC3E}">
        <p14:creationId xmlns:p14="http://schemas.microsoft.com/office/powerpoint/2010/main" val="11853108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307139"/>
            <a:ext cx="12192000" cy="53975"/>
          </a:xfrm>
          <a:prstGeom prst="rect">
            <a:avLst/>
          </a:prstGeom>
          <a:solidFill>
            <a:srgbClr val="800000"/>
          </a:solidFill>
          <a:ln>
            <a:noFill/>
          </a:ln>
        </p:spPr>
        <p:txBody>
          <a:bodyPr wrap="none" anchor="ct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a:defRPr>
                <a:latin typeface="Times New Roman"/>
                <a:ea typeface="SimSun"/>
                <a:cs typeface="Times New Roman"/>
              </a:defRPr>
            </a:pPr>
            <a:endParaRPr lang="fr-FR" altLang="zh-CN" sz="2400">
              <a:solidFill>
                <a:schemeClr val="tx1"/>
              </a:solidFill>
              <a:latin typeface="Times New Roman" panose="02020603050405020304" pitchFamily="18" charset="0"/>
              <a:ea typeface="SimSun"/>
              <a:cs typeface="Times New Roman" panose="020B0604020202020204" pitchFamily="34" charset="-122"/>
            </a:endParaRPr>
          </a:p>
        </p:txBody>
      </p:sp>
      <p:sp>
        <p:nvSpPr>
          <p:cNvPr id="5" name="Rectangle 3"/>
          <p:cNvSpPr>
            <a:spLocks noChangeArrowheads="1"/>
          </p:cNvSpPr>
          <p:nvPr/>
        </p:nvSpPr>
        <p:spPr bwMode="auto">
          <a:xfrm>
            <a:off x="0" y="1685925"/>
            <a:ext cx="12192000" cy="2286000"/>
          </a:xfrm>
          <a:prstGeom prst="rect">
            <a:avLst/>
          </a:prstGeom>
          <a:solidFill>
            <a:srgbClr val="800000"/>
          </a:solidFill>
          <a:ln>
            <a:noFill/>
          </a:ln>
        </p:spPr>
        <p:txBody>
          <a:bodyPr wrap="none" anchor="ct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a:defRPr>
                <a:latin typeface="Times New Roman"/>
                <a:ea typeface="SimSun"/>
                <a:cs typeface="Times New Roman"/>
              </a:defRPr>
            </a:pPr>
            <a:endParaRPr lang="zh-CN" altLang="zh-CN" sz="1000">
              <a:solidFill>
                <a:schemeClr val="tx1"/>
              </a:solidFill>
              <a:latin typeface="Times New Roman" panose="020B0604020202020204" pitchFamily="34" charset="0"/>
              <a:ea typeface="SimSun"/>
              <a:cs typeface="Times New Roman" panose="020B0604020202020204" pitchFamily="34" charset="0"/>
            </a:endParaRPr>
          </a:p>
        </p:txBody>
      </p:sp>
      <p:pic>
        <p:nvPicPr>
          <p:cNvPr id="6"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4448174"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r="1828"/>
          <a:stretch>
            <a:fillRect/>
          </a:stretch>
        </p:blipFill>
        <p:spPr bwMode="auto">
          <a:xfrm>
            <a:off x="7019924" y="0"/>
            <a:ext cx="5172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5"/>
          <p:cNvSpPr>
            <a:spLocks noGrp="1" noChangeArrowheads="1"/>
          </p:cNvSpPr>
          <p:nvPr>
            <p:ph type="ctrTitle" sz="quarter"/>
          </p:nvPr>
        </p:nvSpPr>
        <p:spPr>
          <a:xfrm>
            <a:off x="605367" y="2032001"/>
            <a:ext cx="10363200" cy="1470025"/>
          </a:xfrm>
        </p:spPr>
        <p:txBody>
          <a:bodyPr/>
          <a:lstStyle>
            <a:lvl1pPr>
              <a:lnSpc>
                <a:spcPct val="100000"/>
              </a:lnSpc>
              <a:defRPr sz="2400" b="1">
                <a:solidFill>
                  <a:schemeClr val="bg1"/>
                </a:solidFill>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5126" name="Rectangle 6"/>
          <p:cNvSpPr>
            <a:spLocks noGrp="1" noChangeArrowheads="1"/>
          </p:cNvSpPr>
          <p:nvPr>
            <p:ph type="subTitle" sz="quarter" idx="1"/>
          </p:nvPr>
        </p:nvSpPr>
        <p:spPr>
          <a:xfrm>
            <a:off x="7226300" y="4310063"/>
            <a:ext cx="3776133" cy="1752600"/>
          </a:xfrm>
        </p:spPr>
        <p:txBody>
          <a:bodyPr/>
          <a:lstStyle>
            <a:lvl1pPr marL="0" indent="0" algn="ctr">
              <a:buFontTx/>
              <a:buNone/>
              <a:defRPr sz="1400">
                <a:latin typeface="Times New Roman"/>
                <a:ea typeface="SimSun"/>
                <a:cs typeface="Times New Roman"/>
              </a:defRPr>
            </a:lvl1pPr>
          </a:lstStyle>
          <a:p>
            <a:r>
              <a:rPr lang="en-US">
                <a:latin typeface="Times New Roman"/>
                <a:ea typeface="SimSun"/>
                <a:cs typeface="Times New Roman"/>
              </a:rPr>
              <a:t>Click to edit Master subtitle style</a:t>
            </a:r>
          </a:p>
        </p:txBody>
      </p:sp>
    </p:spTree>
    <p:extLst>
      <p:ext uri="{BB962C8B-B14F-4D97-AF65-F5344CB8AC3E}">
        <p14:creationId xmlns:p14="http://schemas.microsoft.com/office/powerpoint/2010/main" val="1984300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idx="1"/>
          </p:nvPr>
        </p:nvSpPr>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日期占位符 3"/>
          <p:cNvSpPr>
            <a:spLocks noGrp="1"/>
          </p:cNvSpPr>
          <p:nvPr>
            <p:ph type="dt" sz="half"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5" name="页脚占位符 4"/>
          <p:cNvSpPr>
            <a:spLocks noGrp="1"/>
          </p:cNvSpPr>
          <p:nvPr>
            <p:ph type="ftr"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5"/>
          <p:cNvSpPr>
            <a:spLocks noGrp="1"/>
          </p:cNvSpPr>
          <p:nvPr>
            <p:ph type="sldNum" sz="quarter" idx="12"/>
          </p:nvPr>
        </p:nvSpPr>
        <p:spPr>
          <a:xfrm>
            <a:off x="9309100" y="6400801"/>
            <a:ext cx="2844800" cy="365125"/>
          </a:xfrm>
        </p:spPr>
        <p:txBody>
          <a:bodyPr/>
          <a:lstStyle>
            <a:lvl1pPr>
              <a:defRPr b="1" smtClean="0">
                <a:solidFill>
                  <a:schemeClr val="tx1"/>
                </a:solidFill>
                <a:latin typeface="Times New Roman"/>
                <a:ea typeface="SimSun"/>
                <a:cs typeface="Times New Roman"/>
              </a:defRPr>
            </a:lvl1p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a:t>
            </a:fld>
            <a:endParaRPr lang="en-US" altLang="zh-CN" dirty="0">
              <a:latin typeface="Times New Roman"/>
              <a:ea typeface="SimSun"/>
              <a:cs typeface="Times New Roman"/>
            </a:endParaRPr>
          </a:p>
        </p:txBody>
      </p:sp>
    </p:spTree>
    <p:extLst>
      <p:ext uri="{BB962C8B-B14F-4D97-AF65-F5344CB8AC3E}">
        <p14:creationId xmlns:p14="http://schemas.microsoft.com/office/powerpoint/2010/main" val="3277080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a:ea typeface="SimSun"/>
                <a:cs typeface="Times New Roman"/>
              </a:defRPr>
            </a:lvl1pPr>
            <a:lvl2pPr marL="457200" indent="0">
              <a:buNone/>
              <a:defRPr sz="1800">
                <a:latin typeface="Times New Roman"/>
                <a:ea typeface="SimSun"/>
                <a:cs typeface="Times New Roman"/>
              </a:defRPr>
            </a:lvl2pPr>
            <a:lvl3pPr marL="914400" indent="0">
              <a:buNone/>
              <a:defRPr sz="1600">
                <a:latin typeface="Times New Roman"/>
                <a:ea typeface="SimSun"/>
                <a:cs typeface="Times New Roman"/>
              </a:defRPr>
            </a:lvl3pPr>
            <a:lvl4pPr marL="1371600" indent="0">
              <a:buNone/>
              <a:defRPr sz="1400">
                <a:latin typeface="Times New Roman"/>
                <a:ea typeface="SimSun"/>
                <a:cs typeface="Times New Roman"/>
              </a:defRPr>
            </a:lvl4pPr>
            <a:lvl5pPr marL="1828800" indent="0">
              <a:buNone/>
              <a:defRPr sz="1400">
                <a:latin typeface="Times New Roman"/>
                <a:ea typeface="SimSun"/>
                <a:cs typeface="Times New Roman"/>
              </a:defRPr>
            </a:lvl5pPr>
            <a:lvl6pPr marL="2286000" indent="0">
              <a:buNone/>
              <a:defRPr sz="1400">
                <a:latin typeface="Times New Roman"/>
                <a:ea typeface="SimSun"/>
                <a:cs typeface="Times New Roman"/>
              </a:defRPr>
            </a:lvl6pPr>
            <a:lvl7pPr marL="2743200" indent="0">
              <a:buNone/>
              <a:defRPr sz="1400">
                <a:latin typeface="Times New Roman"/>
                <a:ea typeface="SimSun"/>
                <a:cs typeface="Times New Roman"/>
              </a:defRPr>
            </a:lvl7pPr>
            <a:lvl8pPr marL="3200400" indent="0">
              <a:buNone/>
              <a:defRPr sz="1400">
                <a:latin typeface="Times New Roman"/>
                <a:ea typeface="SimSun"/>
                <a:cs typeface="Times New Roman"/>
              </a:defRPr>
            </a:lvl8pPr>
            <a:lvl9pPr marL="3657600" indent="0">
              <a:buNone/>
              <a:defRPr sz="1400">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4"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5"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4318643B-F044-403A-A26B-E19A2779F296}"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6"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233486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sz="half" idx="1"/>
          </p:nvPr>
        </p:nvSpPr>
        <p:spPr>
          <a:xfrm>
            <a:off x="685800" y="1266826"/>
            <a:ext cx="5513917" cy="4829175"/>
          </a:xfrm>
        </p:spPr>
        <p:txBody>
          <a:bodyPr/>
          <a:lstStyle>
            <a:lvl1pPr>
              <a:defRPr sz="2800">
                <a:latin typeface="Times New Roman"/>
                <a:ea typeface="SimSun"/>
                <a:cs typeface="Times New Roman"/>
              </a:defRPr>
            </a:lvl1pPr>
            <a:lvl2pPr>
              <a:defRPr sz="2400">
                <a:latin typeface="Times New Roman"/>
                <a:ea typeface="SimSun"/>
                <a:cs typeface="Times New Roman"/>
              </a:defRPr>
            </a:lvl2pPr>
            <a:lvl3pPr>
              <a:defRPr sz="2000">
                <a:latin typeface="Times New Roman"/>
                <a:ea typeface="SimSun"/>
                <a:cs typeface="Times New Roman"/>
              </a:defRPr>
            </a:lvl3pPr>
            <a:lvl4pPr>
              <a:defRPr sz="1800">
                <a:latin typeface="Times New Roman"/>
                <a:ea typeface="SimSun"/>
                <a:cs typeface="Times New Roman"/>
              </a:defRPr>
            </a:lvl4pPr>
            <a:lvl5pPr>
              <a:defRPr sz="1800">
                <a:latin typeface="Times New Roman"/>
                <a:ea typeface="SimSun"/>
                <a:cs typeface="Times New Roman"/>
              </a:defRPr>
            </a:lvl5pPr>
            <a:lvl6pPr>
              <a:defRPr sz="1800">
                <a:latin typeface="Times New Roman"/>
                <a:ea typeface="SimSun"/>
                <a:cs typeface="Times New Roman"/>
              </a:defRPr>
            </a:lvl6pPr>
            <a:lvl7pPr>
              <a:defRPr sz="1800">
                <a:latin typeface="Times New Roman"/>
                <a:ea typeface="SimSun"/>
                <a:cs typeface="Times New Roman"/>
              </a:defRPr>
            </a:lvl7pPr>
            <a:lvl8pPr>
              <a:defRPr sz="1800">
                <a:latin typeface="Times New Roman"/>
                <a:ea typeface="SimSun"/>
                <a:cs typeface="Times New Roman"/>
              </a:defRPr>
            </a:lvl8pPr>
            <a:lvl9pPr>
              <a:defRPr sz="18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Content Placeholder 3"/>
          <p:cNvSpPr>
            <a:spLocks noGrp="1"/>
          </p:cNvSpPr>
          <p:nvPr>
            <p:ph sz="half" idx="2"/>
          </p:nvPr>
        </p:nvSpPr>
        <p:spPr>
          <a:xfrm>
            <a:off x="6402918" y="1266826"/>
            <a:ext cx="5513916" cy="4829175"/>
          </a:xfrm>
        </p:spPr>
        <p:txBody>
          <a:bodyPr/>
          <a:lstStyle>
            <a:lvl1pPr>
              <a:defRPr sz="2800">
                <a:latin typeface="Times New Roman"/>
                <a:ea typeface="SimSun"/>
                <a:cs typeface="Times New Roman"/>
              </a:defRPr>
            </a:lvl1pPr>
            <a:lvl2pPr>
              <a:defRPr sz="2400">
                <a:latin typeface="Times New Roman"/>
                <a:ea typeface="SimSun"/>
                <a:cs typeface="Times New Roman"/>
              </a:defRPr>
            </a:lvl2pPr>
            <a:lvl3pPr>
              <a:defRPr sz="2000">
                <a:latin typeface="Times New Roman"/>
                <a:ea typeface="SimSun"/>
                <a:cs typeface="Times New Roman"/>
              </a:defRPr>
            </a:lvl3pPr>
            <a:lvl4pPr>
              <a:defRPr sz="1800">
                <a:latin typeface="Times New Roman"/>
                <a:ea typeface="SimSun"/>
                <a:cs typeface="Times New Roman"/>
              </a:defRPr>
            </a:lvl4pPr>
            <a:lvl5pPr>
              <a:defRPr sz="1800">
                <a:latin typeface="Times New Roman"/>
                <a:ea typeface="SimSun"/>
                <a:cs typeface="Times New Roman"/>
              </a:defRPr>
            </a:lvl5pPr>
            <a:lvl6pPr>
              <a:defRPr sz="1800">
                <a:latin typeface="Times New Roman"/>
                <a:ea typeface="SimSun"/>
                <a:cs typeface="Times New Roman"/>
              </a:defRPr>
            </a:lvl6pPr>
            <a:lvl7pPr>
              <a:defRPr sz="1800">
                <a:latin typeface="Times New Roman"/>
                <a:ea typeface="SimSun"/>
                <a:cs typeface="Times New Roman"/>
              </a:defRPr>
            </a:lvl7pPr>
            <a:lvl8pPr>
              <a:defRPr sz="1800">
                <a:latin typeface="Times New Roman"/>
                <a:ea typeface="SimSun"/>
                <a:cs typeface="Times New Roman"/>
              </a:defRPr>
            </a:lvl8pPr>
            <a:lvl9pPr>
              <a:defRPr sz="18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382F559E-D686-4501-B9B1-B66DF32CCD44}"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7"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3687366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a:ea typeface="SimSun"/>
                <a:cs typeface="Times New Roman"/>
              </a:defRPr>
            </a:lvl1pPr>
            <a:lvl2pPr marL="457200" indent="0">
              <a:buNone/>
              <a:defRPr sz="2000" b="1">
                <a:latin typeface="Times New Roman"/>
                <a:ea typeface="SimSun"/>
                <a:cs typeface="Times New Roman"/>
              </a:defRPr>
            </a:lvl2pPr>
            <a:lvl3pPr marL="914400" indent="0">
              <a:buNone/>
              <a:defRPr sz="1800" b="1">
                <a:latin typeface="Times New Roman"/>
                <a:ea typeface="SimSun"/>
                <a:cs typeface="Times New Roman"/>
              </a:defRPr>
            </a:lvl3pPr>
            <a:lvl4pPr marL="1371600" indent="0">
              <a:buNone/>
              <a:defRPr sz="1600" b="1">
                <a:latin typeface="Times New Roman"/>
                <a:ea typeface="SimSun"/>
                <a:cs typeface="Times New Roman"/>
              </a:defRPr>
            </a:lvl4pPr>
            <a:lvl5pPr marL="1828800" indent="0">
              <a:buNone/>
              <a:defRPr sz="1600" b="1">
                <a:latin typeface="Times New Roman"/>
                <a:ea typeface="SimSun"/>
                <a:cs typeface="Times New Roman"/>
              </a:defRPr>
            </a:lvl5pPr>
            <a:lvl6pPr marL="2286000" indent="0">
              <a:buNone/>
              <a:defRPr sz="1600" b="1">
                <a:latin typeface="Times New Roman"/>
                <a:ea typeface="SimSun"/>
                <a:cs typeface="Times New Roman"/>
              </a:defRPr>
            </a:lvl6pPr>
            <a:lvl7pPr marL="2743200" indent="0">
              <a:buNone/>
              <a:defRPr sz="1600" b="1">
                <a:latin typeface="Times New Roman"/>
                <a:ea typeface="SimSun"/>
                <a:cs typeface="Times New Roman"/>
              </a:defRPr>
            </a:lvl7pPr>
            <a:lvl8pPr marL="3200400" indent="0">
              <a:buNone/>
              <a:defRPr sz="1600" b="1">
                <a:latin typeface="Times New Roman"/>
                <a:ea typeface="SimSun"/>
                <a:cs typeface="Times New Roman"/>
              </a:defRPr>
            </a:lvl8pPr>
            <a:lvl9pPr marL="3657600" indent="0">
              <a:buNone/>
              <a:defRPr sz="1600" b="1">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a:ea typeface="SimSun"/>
                <a:cs typeface="Times New Roman"/>
              </a:defRPr>
            </a:lvl1pPr>
            <a:lvl2pPr>
              <a:defRPr sz="2000">
                <a:latin typeface="Times New Roman"/>
                <a:ea typeface="SimSun"/>
                <a:cs typeface="Times New Roman"/>
              </a:defRPr>
            </a:lvl2pPr>
            <a:lvl3pPr>
              <a:defRPr sz="1800">
                <a:latin typeface="Times New Roman"/>
                <a:ea typeface="SimSun"/>
                <a:cs typeface="Times New Roman"/>
              </a:defRPr>
            </a:lvl3pPr>
            <a:lvl4pPr>
              <a:defRPr sz="1600">
                <a:latin typeface="Times New Roman"/>
                <a:ea typeface="SimSun"/>
                <a:cs typeface="Times New Roman"/>
              </a:defRPr>
            </a:lvl4pPr>
            <a:lvl5pPr>
              <a:defRPr sz="1600">
                <a:latin typeface="Times New Roman"/>
                <a:ea typeface="SimSun"/>
                <a:cs typeface="Times New Roman"/>
              </a:defRPr>
            </a:lvl5pPr>
            <a:lvl6pPr>
              <a:defRPr sz="1600">
                <a:latin typeface="Times New Roman"/>
                <a:ea typeface="SimSun"/>
                <a:cs typeface="Times New Roman"/>
              </a:defRPr>
            </a:lvl6pPr>
            <a:lvl7pPr>
              <a:defRPr sz="1600">
                <a:latin typeface="Times New Roman"/>
                <a:ea typeface="SimSun"/>
                <a:cs typeface="Times New Roman"/>
              </a:defRPr>
            </a:lvl7pPr>
            <a:lvl8pPr>
              <a:defRPr sz="1600">
                <a:latin typeface="Times New Roman"/>
                <a:ea typeface="SimSun"/>
                <a:cs typeface="Times New Roman"/>
              </a:defRPr>
            </a:lvl8pPr>
            <a:lvl9pPr>
              <a:defRPr sz="16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Times New Roman"/>
                <a:ea typeface="SimSun"/>
                <a:cs typeface="Times New Roman"/>
              </a:defRPr>
            </a:lvl1pPr>
            <a:lvl2pPr marL="457200" indent="0">
              <a:buNone/>
              <a:defRPr sz="2000" b="1">
                <a:latin typeface="Times New Roman"/>
                <a:ea typeface="SimSun"/>
                <a:cs typeface="Times New Roman"/>
              </a:defRPr>
            </a:lvl2pPr>
            <a:lvl3pPr marL="914400" indent="0">
              <a:buNone/>
              <a:defRPr sz="1800" b="1">
                <a:latin typeface="Times New Roman"/>
                <a:ea typeface="SimSun"/>
                <a:cs typeface="Times New Roman"/>
              </a:defRPr>
            </a:lvl3pPr>
            <a:lvl4pPr marL="1371600" indent="0">
              <a:buNone/>
              <a:defRPr sz="1600" b="1">
                <a:latin typeface="Times New Roman"/>
                <a:ea typeface="SimSun"/>
                <a:cs typeface="Times New Roman"/>
              </a:defRPr>
            </a:lvl4pPr>
            <a:lvl5pPr marL="1828800" indent="0">
              <a:buNone/>
              <a:defRPr sz="1600" b="1">
                <a:latin typeface="Times New Roman"/>
                <a:ea typeface="SimSun"/>
                <a:cs typeface="Times New Roman"/>
              </a:defRPr>
            </a:lvl5pPr>
            <a:lvl6pPr marL="2286000" indent="0">
              <a:buNone/>
              <a:defRPr sz="1600" b="1">
                <a:latin typeface="Times New Roman"/>
                <a:ea typeface="SimSun"/>
                <a:cs typeface="Times New Roman"/>
              </a:defRPr>
            </a:lvl6pPr>
            <a:lvl7pPr marL="2743200" indent="0">
              <a:buNone/>
              <a:defRPr sz="1600" b="1">
                <a:latin typeface="Times New Roman"/>
                <a:ea typeface="SimSun"/>
                <a:cs typeface="Times New Roman"/>
              </a:defRPr>
            </a:lvl7pPr>
            <a:lvl8pPr marL="3200400" indent="0">
              <a:buNone/>
              <a:defRPr sz="1600" b="1">
                <a:latin typeface="Times New Roman"/>
                <a:ea typeface="SimSun"/>
                <a:cs typeface="Times New Roman"/>
              </a:defRPr>
            </a:lvl8pPr>
            <a:lvl9pPr marL="3657600" indent="0">
              <a:buNone/>
              <a:defRPr sz="1600" b="1">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Times New Roman"/>
                <a:ea typeface="SimSun"/>
                <a:cs typeface="Times New Roman"/>
              </a:defRPr>
            </a:lvl1pPr>
            <a:lvl2pPr>
              <a:defRPr sz="2000">
                <a:latin typeface="Times New Roman"/>
                <a:ea typeface="SimSun"/>
                <a:cs typeface="Times New Roman"/>
              </a:defRPr>
            </a:lvl2pPr>
            <a:lvl3pPr>
              <a:defRPr sz="1800">
                <a:latin typeface="Times New Roman"/>
                <a:ea typeface="SimSun"/>
                <a:cs typeface="Times New Roman"/>
              </a:defRPr>
            </a:lvl3pPr>
            <a:lvl4pPr>
              <a:defRPr sz="1600">
                <a:latin typeface="Times New Roman"/>
                <a:ea typeface="SimSun"/>
                <a:cs typeface="Times New Roman"/>
              </a:defRPr>
            </a:lvl4pPr>
            <a:lvl5pPr>
              <a:defRPr sz="1600">
                <a:latin typeface="Times New Roman"/>
                <a:ea typeface="SimSun"/>
                <a:cs typeface="Times New Roman"/>
              </a:defRPr>
            </a:lvl5pPr>
            <a:lvl6pPr>
              <a:defRPr sz="1600">
                <a:latin typeface="Times New Roman"/>
                <a:ea typeface="SimSun"/>
                <a:cs typeface="Times New Roman"/>
              </a:defRPr>
            </a:lvl6pPr>
            <a:lvl7pPr>
              <a:defRPr sz="1600">
                <a:latin typeface="Times New Roman"/>
                <a:ea typeface="SimSun"/>
                <a:cs typeface="Times New Roman"/>
              </a:defRPr>
            </a:lvl7pPr>
            <a:lvl8pPr>
              <a:defRPr sz="1600">
                <a:latin typeface="Times New Roman"/>
                <a:ea typeface="SimSun"/>
                <a:cs typeface="Times New Roman"/>
              </a:defRPr>
            </a:lvl8pPr>
            <a:lvl9pPr>
              <a:defRPr sz="16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7"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8"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2132E20B-2FAD-4EA5-8E1A-D35CF873D98B}"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9"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873076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E3BADF75-6C80-4FD4-8F49-963DFD143859}"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147140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3"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1EC92CF4-4B23-48B8-BC45-AC3B141B1498}"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4"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909721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atin typeface="Times New Roman"/>
                <a:ea typeface="SimSun"/>
                <a:cs typeface="Times New Roman"/>
              </a:defRPr>
            </a:lvl1pPr>
            <a:lvl2pPr>
              <a:defRPr sz="2800">
                <a:latin typeface="Times New Roman"/>
                <a:ea typeface="SimSun"/>
                <a:cs typeface="Times New Roman"/>
              </a:defRPr>
            </a:lvl2pPr>
            <a:lvl3pPr>
              <a:defRPr sz="2400">
                <a:latin typeface="Times New Roman"/>
                <a:ea typeface="SimSun"/>
                <a:cs typeface="Times New Roman"/>
              </a:defRPr>
            </a:lvl3pPr>
            <a:lvl4pPr>
              <a:defRPr sz="2000">
                <a:latin typeface="Times New Roman"/>
                <a:ea typeface="SimSun"/>
                <a:cs typeface="Times New Roman"/>
              </a:defRPr>
            </a:lvl4pPr>
            <a:lvl5pPr>
              <a:defRPr sz="2000">
                <a:latin typeface="Times New Roman"/>
                <a:ea typeface="SimSun"/>
                <a:cs typeface="Times New Roman"/>
              </a:defRPr>
            </a:lvl5pPr>
            <a:lvl6pPr>
              <a:defRPr sz="2000">
                <a:latin typeface="Times New Roman"/>
                <a:ea typeface="SimSun"/>
                <a:cs typeface="Times New Roman"/>
              </a:defRPr>
            </a:lvl6pPr>
            <a:lvl7pPr>
              <a:defRPr sz="2000">
                <a:latin typeface="Times New Roman"/>
                <a:ea typeface="SimSun"/>
                <a:cs typeface="Times New Roman"/>
              </a:defRPr>
            </a:lvl7pPr>
            <a:lvl8pPr>
              <a:defRPr sz="2000">
                <a:latin typeface="Times New Roman"/>
                <a:ea typeface="SimSun"/>
                <a:cs typeface="Times New Roman"/>
              </a:defRPr>
            </a:lvl8pPr>
            <a:lvl9pPr>
              <a:defRPr sz="20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Times New Roman"/>
                <a:ea typeface="SimSun"/>
                <a:cs typeface="Times New Roman"/>
              </a:defRPr>
            </a:lvl1pPr>
            <a:lvl2pPr marL="457200" indent="0">
              <a:buNone/>
              <a:defRPr sz="1200">
                <a:latin typeface="Times New Roman"/>
                <a:ea typeface="SimSun"/>
                <a:cs typeface="Times New Roman"/>
              </a:defRPr>
            </a:lvl2pPr>
            <a:lvl3pPr marL="914400" indent="0">
              <a:buNone/>
              <a:defRPr sz="1000">
                <a:latin typeface="Times New Roman"/>
                <a:ea typeface="SimSun"/>
                <a:cs typeface="Times New Roman"/>
              </a:defRPr>
            </a:lvl3pPr>
            <a:lvl4pPr marL="1371600" indent="0">
              <a:buNone/>
              <a:defRPr sz="900">
                <a:latin typeface="Times New Roman"/>
                <a:ea typeface="SimSun"/>
                <a:cs typeface="Times New Roman"/>
              </a:defRPr>
            </a:lvl4pPr>
            <a:lvl5pPr marL="1828800" indent="0">
              <a:buNone/>
              <a:defRPr sz="900">
                <a:latin typeface="Times New Roman"/>
                <a:ea typeface="SimSun"/>
                <a:cs typeface="Times New Roman"/>
              </a:defRPr>
            </a:lvl5pPr>
            <a:lvl6pPr marL="2286000" indent="0">
              <a:buNone/>
              <a:defRPr sz="900">
                <a:latin typeface="Times New Roman"/>
                <a:ea typeface="SimSun"/>
                <a:cs typeface="Times New Roman"/>
              </a:defRPr>
            </a:lvl6pPr>
            <a:lvl7pPr marL="2743200" indent="0">
              <a:buNone/>
              <a:defRPr sz="900">
                <a:latin typeface="Times New Roman"/>
                <a:ea typeface="SimSun"/>
                <a:cs typeface="Times New Roman"/>
              </a:defRPr>
            </a:lvl7pPr>
            <a:lvl8pPr marL="3200400" indent="0">
              <a:buNone/>
              <a:defRPr sz="900">
                <a:latin typeface="Times New Roman"/>
                <a:ea typeface="SimSun"/>
                <a:cs typeface="Times New Roman"/>
              </a:defRPr>
            </a:lvl8pPr>
            <a:lvl9pPr marL="3657600" indent="0">
              <a:buNone/>
              <a:defRPr sz="900">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5"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BD49AF38-BE50-4A44-A420-A5410B378050}"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7"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163434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813984" y="0"/>
            <a:ext cx="10261600" cy="838200"/>
          </a:xfrm>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sz="half" idx="1"/>
          </p:nvPr>
        </p:nvSpPr>
        <p:spPr>
          <a:xfrm>
            <a:off x="685800" y="1266826"/>
            <a:ext cx="5513917" cy="4829175"/>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Content Placeholder 3"/>
          <p:cNvSpPr>
            <a:spLocks noGrp="1"/>
          </p:cNvSpPr>
          <p:nvPr>
            <p:ph sz="quarter" idx="2"/>
          </p:nvPr>
        </p:nvSpPr>
        <p:spPr>
          <a:xfrm>
            <a:off x="6402918" y="1266825"/>
            <a:ext cx="5513916" cy="2338388"/>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Content Placeholder 4"/>
          <p:cNvSpPr>
            <a:spLocks noGrp="1"/>
          </p:cNvSpPr>
          <p:nvPr>
            <p:ph sz="quarter" idx="3"/>
          </p:nvPr>
        </p:nvSpPr>
        <p:spPr>
          <a:xfrm>
            <a:off x="6402918" y="3757614"/>
            <a:ext cx="5513916" cy="2338387"/>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6"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7"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263A3B1E-E2F6-4459-B9A7-7A059C28BC97}"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8"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2665704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0"/>
            <a:ext cx="11389784" cy="6096000"/>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3"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627A70D2-390B-4F3A-A683-629554200820}"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44262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813984" y="0"/>
            <a:ext cx="1026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latin typeface="Times New Roman"/>
                <a:ea typeface="SimSun"/>
                <a:cs typeface="Times New Roman"/>
              </a:rPr>
              <a:t>Click to edit Master title style</a:t>
            </a:r>
          </a:p>
        </p:txBody>
      </p:sp>
      <p:sp>
        <p:nvSpPr>
          <p:cNvPr id="2051" name="Rectangle 3"/>
          <p:cNvSpPr>
            <a:spLocks noGrp="1" noChangeArrowheads="1"/>
          </p:cNvSpPr>
          <p:nvPr>
            <p:ph type="body" idx="1"/>
          </p:nvPr>
        </p:nvSpPr>
        <p:spPr bwMode="auto">
          <a:xfrm>
            <a:off x="685801" y="1266826"/>
            <a:ext cx="11231033"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latin typeface="Times New Roman"/>
                <a:ea typeface="SimSun"/>
                <a:cs typeface="Times New Roman"/>
              </a:rPr>
              <a:t>Click to edit Master text styles</a:t>
            </a:r>
          </a:p>
          <a:p>
            <a:pPr lvl="1"/>
            <a:r>
              <a:rPr lang="en-US" altLang="zh-CN">
                <a:latin typeface="Times New Roman"/>
                <a:ea typeface="SimSun"/>
                <a:cs typeface="Times New Roman"/>
              </a:rPr>
              <a:t>Second level</a:t>
            </a:r>
          </a:p>
          <a:p>
            <a:pPr lvl="2"/>
            <a:r>
              <a:rPr lang="en-US" altLang="zh-CN">
                <a:latin typeface="Times New Roman"/>
                <a:ea typeface="SimSun"/>
                <a:cs typeface="Times New Roman"/>
              </a:rPr>
              <a:t>Third level</a:t>
            </a:r>
          </a:p>
          <a:p>
            <a:pPr lvl="3"/>
            <a:r>
              <a:rPr lang="en-US" altLang="zh-CN">
                <a:latin typeface="Times New Roman"/>
                <a:ea typeface="SimSun"/>
                <a:cs typeface="Times New Roman"/>
              </a:rPr>
              <a:t>Fourth level</a:t>
            </a:r>
          </a:p>
          <a:p>
            <a:pPr lvl="4"/>
            <a:r>
              <a:rPr lang="en-US" altLang="zh-CN">
                <a:latin typeface="Times New Roman"/>
                <a:ea typeface="SimSun"/>
                <a:cs typeface="Times New Roman"/>
              </a:rPr>
              <a:t>Fifth level</a:t>
            </a:r>
          </a:p>
        </p:txBody>
      </p:sp>
      <p:pic>
        <p:nvPicPr>
          <p:cNvPr id="2052" name="Picture 5" descr="polylogo"/>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 y="-15875"/>
            <a:ext cx="895349"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bwMode="auto">
          <a:xfrm>
            <a:off x="0" y="914400"/>
            <a:ext cx="203200" cy="5943600"/>
          </a:xfrm>
          <a:prstGeom prst="rect">
            <a:avLst/>
          </a:prstGeom>
          <a:gradFill>
            <a:gsLst>
              <a:gs pos="42000">
                <a:srgbClr val="A50021"/>
              </a:gs>
              <a:gs pos="0">
                <a:schemeClr val="accent1">
                  <a:lumMod val="5000"/>
                  <a:lumOff val="95000"/>
                </a:schemeClr>
              </a:gs>
              <a:gs pos="61000">
                <a:srgbClr val="A50021"/>
              </a:gs>
              <a:gs pos="100000">
                <a:schemeClr val="accent1">
                  <a:lumMod val="30000"/>
                  <a:lumOff val="7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eaLnBrk="1" hangingPunct="1">
              <a:lnSpc>
                <a:spcPct val="90000"/>
              </a:lnSpc>
              <a:spcBef>
                <a:spcPct val="20000"/>
              </a:spcBef>
              <a:defRPr>
                <a:latin typeface="Times New Roman"/>
                <a:ea typeface="SimSun"/>
                <a:cs typeface="Times New Roman"/>
              </a:defRPr>
            </a:pPr>
            <a:endParaRPr lang="zh-CN" altLang="en-US" sz="3200">
              <a:latin typeface="Times New Roman"/>
              <a:ea typeface="SimSun"/>
              <a:cs typeface="Times New Roman" panose="020B0604020202020204" pitchFamily="34" charset="-122"/>
            </a:endParaRPr>
          </a:p>
        </p:txBody>
      </p:sp>
      <p:sp>
        <p:nvSpPr>
          <p:cNvPr id="2" name="Rectangle 1"/>
          <p:cNvSpPr/>
          <p:nvPr userDrawn="1"/>
        </p:nvSpPr>
        <p:spPr bwMode="auto">
          <a:xfrm rot="5400000">
            <a:off x="6072982" y="-5204618"/>
            <a:ext cx="46037" cy="12192000"/>
          </a:xfrm>
          <a:prstGeom prst="rect">
            <a:avLst/>
          </a:prstGeom>
          <a:gradFill>
            <a:gsLst>
              <a:gs pos="0">
                <a:schemeClr val="accent1">
                  <a:lumMod val="5000"/>
                  <a:lumOff val="95000"/>
                </a:schemeClr>
              </a:gs>
              <a:gs pos="100000">
                <a:srgbClr val="A50021"/>
              </a:gs>
              <a:gs pos="100000">
                <a:schemeClr val="accent5">
                  <a:lumMod val="60000"/>
                  <a:lumOff val="4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eaLnBrk="1" hangingPunct="1">
              <a:lnSpc>
                <a:spcPct val="90000"/>
              </a:lnSpc>
              <a:spcBef>
                <a:spcPct val="20000"/>
              </a:spcBef>
              <a:defRPr>
                <a:latin typeface="Times New Roman"/>
                <a:ea typeface="SimSun"/>
                <a:cs typeface="Times New Roman"/>
              </a:defRPr>
            </a:pPr>
            <a:endParaRPr lang="zh-CN" altLang="en-US" sz="3200">
              <a:latin typeface="Times New Roman"/>
              <a:ea typeface="SimSun"/>
              <a:cs typeface="Times New Roman" panose="020B0604020202020204" pitchFamily="34" charset="-122"/>
            </a:endParaRPr>
          </a:p>
        </p:txBody>
      </p:sp>
      <p:sp>
        <p:nvSpPr>
          <p:cNvPr id="3" name="页脚占位符 2"/>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ea typeface="SimSun" panose="020B0604020202020204" pitchFamily="34" charset="-122"/>
                <a:cs typeface="Times New Roman" panose="020B0604020202020204" pitchFamily="34" charset="-122"/>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latin typeface="Times New Roman"/>
                <a:ea typeface="SimSun"/>
                <a:cs typeface="Times New Roman"/>
              </a:defRPr>
            </a:lvl1pPr>
          </a:lstStyle>
          <a:p>
            <a:pPr>
              <a:defRPr>
                <a:latin typeface="Times New Roman"/>
                <a:ea typeface="SimSun"/>
                <a:cs typeface="Times New Roman"/>
              </a:defRPr>
            </a:pPr>
            <a:fld id="{478E3191-473E-4F99-9695-3EEFEE2024C3}"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ea typeface="SimSun" panose="020B0604020202020204" pitchFamily="34" charset="-122"/>
                <a:cs typeface="Times New Roman" panose="020B0604020202020204" pitchFamily="34" charset="-122"/>
              </a:defRPr>
            </a:lvl1pPr>
          </a:lstStyle>
          <a:p>
            <a:pPr>
              <a:defRPr>
                <a:latin typeface="Times New Roman"/>
                <a:ea typeface="SimSun"/>
                <a:cs typeface="Times New Roman"/>
              </a:defRPr>
            </a:pPr>
            <a:endParaRPr lang="en-US">
              <a:latin typeface="Times New Roman"/>
              <a:ea typeface="SimSun"/>
              <a:cs typeface="Times New Roman"/>
            </a:endParaRPr>
          </a:p>
        </p:txBody>
      </p:sp>
    </p:spTree>
  </p:cSld>
  <p:clrMap bg1="lt1" tx1="dk1" bg2="lt2" tx2="dk2" accent1="accent1" accent2="accent2" accent3="accent3" accent4="accent4" accent5="accent5" accent6="accent6" hlink="hlink" folHlink="folHlink"/>
  <p:sldLayoutIdLst>
    <p:sldLayoutId id="2147486057" r:id="rId1"/>
    <p:sldLayoutId id="2147486058" r:id="rId2"/>
    <p:sldLayoutId id="2147486037" r:id="rId3"/>
    <p:sldLayoutId id="2147486038" r:id="rId4"/>
    <p:sldLayoutId id="2147486039" r:id="rId5"/>
    <p:sldLayoutId id="2147486040" r:id="rId6"/>
    <p:sldLayoutId id="2147486041" r:id="rId7"/>
    <p:sldLayoutId id="2147486042" r:id="rId8"/>
    <p:sldLayoutId id="2147486043" r:id="rId9"/>
    <p:sldLayoutId id="2147486044" r:id="rId10"/>
  </p:sldLayoutIdLst>
  <p:hf hdr="0" ftr="0" dt="0"/>
  <p:txStyles>
    <p:titleStyle>
      <a:lvl1pPr algn="l" rtl="0" eaLnBrk="0" fontAlgn="base" hangingPunct="0">
        <a:lnSpc>
          <a:spcPts val="2800"/>
        </a:lnSpc>
        <a:spcBef>
          <a:spcPct val="0"/>
        </a:spcBef>
        <a:spcAft>
          <a:spcPct val="0"/>
        </a:spcAft>
        <a:defRPr sz="3200">
          <a:solidFill>
            <a:schemeClr val="tx1"/>
          </a:solidFill>
          <a:latin typeface="Times New Roman"/>
          <a:ea typeface="SimSun" panose="020B0600070205080204" pitchFamily="34" charset="-128"/>
          <a:cs typeface="Times New Roman" pitchFamily="-111" charset="-128"/>
        </a:defRPr>
      </a:lvl1pPr>
      <a:lvl2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2pPr>
      <a:lvl3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3pPr>
      <a:lvl4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4pPr>
      <a:lvl5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5pPr>
      <a:lvl6pPr marL="457200" algn="l" rtl="0" fontAlgn="base">
        <a:lnSpc>
          <a:spcPts val="2800"/>
        </a:lnSpc>
        <a:spcBef>
          <a:spcPct val="0"/>
        </a:spcBef>
        <a:spcAft>
          <a:spcPct val="0"/>
        </a:spcAft>
        <a:defRPr sz="2600">
          <a:solidFill>
            <a:schemeClr val="tx1"/>
          </a:solidFill>
          <a:latin typeface="Times New Roman" charset="0"/>
          <a:ea typeface="SimSun"/>
          <a:cs typeface="Times New Roman"/>
        </a:defRPr>
      </a:lvl6pPr>
      <a:lvl7pPr marL="914400" algn="l" rtl="0" fontAlgn="base">
        <a:lnSpc>
          <a:spcPts val="2800"/>
        </a:lnSpc>
        <a:spcBef>
          <a:spcPct val="0"/>
        </a:spcBef>
        <a:spcAft>
          <a:spcPct val="0"/>
        </a:spcAft>
        <a:defRPr sz="2600">
          <a:solidFill>
            <a:schemeClr val="tx1"/>
          </a:solidFill>
          <a:latin typeface="Times New Roman" charset="0"/>
          <a:ea typeface="SimSun"/>
          <a:cs typeface="Times New Roman"/>
        </a:defRPr>
      </a:lvl7pPr>
      <a:lvl8pPr marL="1371600" algn="l" rtl="0" fontAlgn="base">
        <a:lnSpc>
          <a:spcPts val="2800"/>
        </a:lnSpc>
        <a:spcBef>
          <a:spcPct val="0"/>
        </a:spcBef>
        <a:spcAft>
          <a:spcPct val="0"/>
        </a:spcAft>
        <a:defRPr sz="2600">
          <a:solidFill>
            <a:schemeClr val="tx1"/>
          </a:solidFill>
          <a:latin typeface="Times New Roman" charset="0"/>
          <a:ea typeface="SimSun"/>
          <a:cs typeface="Times New Roman"/>
        </a:defRPr>
      </a:lvl8pPr>
      <a:lvl9pPr marL="1828800" algn="l" rtl="0" fontAlgn="base">
        <a:lnSpc>
          <a:spcPts val="2800"/>
        </a:lnSpc>
        <a:spcBef>
          <a:spcPct val="0"/>
        </a:spcBef>
        <a:spcAft>
          <a:spcPct val="0"/>
        </a:spcAft>
        <a:defRPr sz="2600">
          <a:solidFill>
            <a:schemeClr val="tx1"/>
          </a:solidFill>
          <a:latin typeface="Times New Roman" charset="0"/>
          <a:ea typeface="SimSun"/>
          <a:cs typeface="Times New Roman"/>
        </a:defRPr>
      </a:lvl9pPr>
    </p:titleStyle>
    <p:body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p:bodyStyle>
    <p:otherStyle>
      <a:defPPr>
        <a:defRPr lang="en-US">
          <a:latin typeface="Times New Roman"/>
          <a:ea typeface="SimSun"/>
          <a:cs typeface="Times New Roman"/>
        </a:defRPr>
      </a:defPPr>
      <a:lvl1pPr marL="0" algn="l" defTabSz="457200" rtl="0" eaLnBrk="1" latinLnBrk="0" hangingPunct="1">
        <a:defRPr sz="1800" kern="1200">
          <a:solidFill>
            <a:schemeClr val="tx1"/>
          </a:solidFill>
          <a:latin typeface="Times New Roman"/>
          <a:ea typeface="SimSun"/>
          <a:cs typeface="Times New Roman"/>
        </a:defRPr>
      </a:lvl1pPr>
      <a:lvl2pPr marL="457200" algn="l" defTabSz="457200" rtl="0" eaLnBrk="1" latinLnBrk="0" hangingPunct="1">
        <a:defRPr sz="1800" kern="1200">
          <a:solidFill>
            <a:schemeClr val="tx1"/>
          </a:solidFill>
          <a:latin typeface="Times New Roman"/>
          <a:ea typeface="SimSun"/>
          <a:cs typeface="Times New Roman"/>
        </a:defRPr>
      </a:lvl2pPr>
      <a:lvl3pPr marL="914400" algn="l" defTabSz="457200" rtl="0" eaLnBrk="1" latinLnBrk="0" hangingPunct="1">
        <a:defRPr sz="1800" kern="1200">
          <a:solidFill>
            <a:schemeClr val="tx1"/>
          </a:solidFill>
          <a:latin typeface="Times New Roman"/>
          <a:ea typeface="SimSun"/>
          <a:cs typeface="Times New Roman"/>
        </a:defRPr>
      </a:lvl3pPr>
      <a:lvl4pPr marL="1371600" algn="l" defTabSz="457200" rtl="0" eaLnBrk="1" latinLnBrk="0" hangingPunct="1">
        <a:defRPr sz="1800" kern="1200">
          <a:solidFill>
            <a:schemeClr val="tx1"/>
          </a:solidFill>
          <a:latin typeface="Times New Roman"/>
          <a:ea typeface="SimSun"/>
          <a:cs typeface="Times New Roman"/>
        </a:defRPr>
      </a:lvl4pPr>
      <a:lvl5pPr marL="1828800" algn="l" defTabSz="457200" rtl="0" eaLnBrk="1" latinLnBrk="0" hangingPunct="1">
        <a:defRPr sz="1800" kern="1200">
          <a:solidFill>
            <a:schemeClr val="tx1"/>
          </a:solidFill>
          <a:latin typeface="Times New Roman"/>
          <a:ea typeface="SimSun"/>
          <a:cs typeface="Times New Roman"/>
        </a:defRPr>
      </a:lvl5pPr>
      <a:lvl6pPr marL="2286000" algn="l" defTabSz="457200" rtl="0" eaLnBrk="1" latinLnBrk="0" hangingPunct="1">
        <a:defRPr sz="1800" kern="1200">
          <a:solidFill>
            <a:schemeClr val="tx1"/>
          </a:solidFill>
          <a:latin typeface="Times New Roman"/>
          <a:ea typeface="SimSun"/>
          <a:cs typeface="Times New Roman"/>
        </a:defRPr>
      </a:lvl6pPr>
      <a:lvl7pPr marL="2743200" algn="l" defTabSz="457200" rtl="0" eaLnBrk="1" latinLnBrk="0" hangingPunct="1">
        <a:defRPr sz="1800" kern="1200">
          <a:solidFill>
            <a:schemeClr val="tx1"/>
          </a:solidFill>
          <a:latin typeface="Times New Roman"/>
          <a:ea typeface="SimSun"/>
          <a:cs typeface="Times New Roman"/>
        </a:defRPr>
      </a:lvl7pPr>
      <a:lvl8pPr marL="3200400" algn="l" defTabSz="457200" rtl="0" eaLnBrk="1" latinLnBrk="0" hangingPunct="1">
        <a:defRPr sz="1800" kern="1200">
          <a:solidFill>
            <a:schemeClr val="tx1"/>
          </a:solidFill>
          <a:latin typeface="Times New Roman"/>
          <a:ea typeface="SimSun"/>
          <a:cs typeface="Times New Roman"/>
        </a:defRPr>
      </a:lvl8pPr>
      <a:lvl9pPr marL="3657600" algn="l" defTabSz="457200" rtl="0" eaLnBrk="1" latinLnBrk="0" hangingPunct="1">
        <a:defRPr sz="1800" kern="1200">
          <a:solidFill>
            <a:schemeClr val="tx1"/>
          </a:solidFill>
          <a:latin typeface="Times New Roman"/>
          <a:ea typeface="SimSun"/>
          <a:cs typeface="Times New Roma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jp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oleObject" Target="../embeddings/oleObject1.bin"/><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10" Type="http://schemas.openxmlformats.org/officeDocument/2006/relationships/image" Target="../media/image31.png"/><Relationship Id="rId4" Type="http://schemas.openxmlformats.org/officeDocument/2006/relationships/image" Target="../media/image27.emf"/><Relationship Id="rId9" Type="http://schemas.openxmlformats.org/officeDocument/2006/relationships/image" Target="../media/image30.png"/><Relationship Id="rId1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emf"/></Relationships>
</file>

<file path=ppt/slides/_rels/slide19.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2.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41.png"/><Relationship Id="rId5" Type="http://schemas.openxmlformats.org/officeDocument/2006/relationships/image" Target="../media/image46.png"/><Relationship Id="rId10" Type="http://schemas.openxmlformats.org/officeDocument/2006/relationships/image" Target="../media/image40.png"/><Relationship Id="rId4" Type="http://schemas.openxmlformats.org/officeDocument/2006/relationships/image" Target="../media/image45.png"/><Relationship Id="rId9" Type="http://schemas.openxmlformats.org/officeDocument/2006/relationships/image" Target="../media/image390.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bin"/><Relationship Id="rId7" Type="http://schemas.openxmlformats.org/officeDocument/2006/relationships/image" Target="../media/image44.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43.jpg"/><Relationship Id="rId4" Type="http://schemas.openxmlformats.org/officeDocument/2006/relationships/image" Target="../media/image54.png"/><Relationship Id="rId9" Type="http://schemas.openxmlformats.org/officeDocument/2006/relationships/image" Target="../media/image45.emf"/></Relationships>
</file>

<file path=ppt/slides/_rels/slide22.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image" Target="../media/image50.png"/><Relationship Id="rId7" Type="http://schemas.openxmlformats.org/officeDocument/2006/relationships/oleObject" Target="../embeddings/oleObject5.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4.png"/><Relationship Id="rId10" Type="http://schemas.openxmlformats.org/officeDocument/2006/relationships/image" Target="../media/image53.emf"/><Relationship Id="rId4" Type="http://schemas.openxmlformats.org/officeDocument/2006/relationships/image" Target="../media/image51.png"/><Relationship Id="rId9"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6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27.xml"/><Relationship Id="rId16"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67.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emf"/></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73.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76.emf"/><Relationship Id="rId4"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8" Type="http://schemas.openxmlformats.org/officeDocument/2006/relationships/hyperlink" Target="https://www.sciencedirect.com/science/article/pii/S0029549314001496#bib0005" TargetMode="External"/><Relationship Id="rId3" Type="http://schemas.openxmlformats.org/officeDocument/2006/relationships/oleObject" Target="../embeddings/oleObject10.bin"/><Relationship Id="rId7" Type="http://schemas.openxmlformats.org/officeDocument/2006/relationships/image" Target="../media/image99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980.png"/><Relationship Id="rId10" Type="http://schemas.openxmlformats.org/officeDocument/2006/relationships/image" Target="../media/image1010.png"/><Relationship Id="rId4" Type="http://schemas.openxmlformats.org/officeDocument/2006/relationships/image" Target="../media/image77.emf"/><Relationship Id="rId9" Type="http://schemas.openxmlformats.org/officeDocument/2006/relationships/image" Target="../media/image1000.png"/></Relationships>
</file>

<file path=ppt/slides/_rels/slide3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oleObject" Target="../embeddings/oleObject11.bin"/><Relationship Id="rId7"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8.png"/><Relationship Id="rId4" Type="http://schemas.openxmlformats.org/officeDocument/2006/relationships/image" Target="../media/image78.emf"/><Relationship Id="rId9" Type="http://schemas.openxmlformats.org/officeDocument/2006/relationships/image" Target="../media/image93.png"/></Relationships>
</file>

<file path=ppt/slides/_rels/slide3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oleObject" Target="../embeddings/oleObject12.bin"/><Relationship Id="rId7" Type="http://schemas.openxmlformats.org/officeDocument/2006/relationships/image" Target="../media/image9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1.png"/><Relationship Id="rId4" Type="http://schemas.openxmlformats.org/officeDocument/2006/relationships/image" Target="../media/image94.emf"/></Relationships>
</file>

<file path=ppt/slides/_rels/slide34.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image" Target="../media/image104.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59.jpg"/><Relationship Id="rId7" Type="http://schemas.openxmlformats.org/officeDocument/2006/relationships/image" Target="../media/image106.emf"/><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108.emf"/><Relationship Id="rId5" Type="http://schemas.openxmlformats.org/officeDocument/2006/relationships/image" Target="../media/image105.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07.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3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39.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12.png"/><Relationship Id="rId4" Type="http://schemas.openxmlformats.org/officeDocument/2006/relationships/image" Target="../media/image131.png"/></Relationships>
</file>

<file path=ppt/slides/_rels/slide40.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2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15.png"/><Relationship Id="rId4" Type="http://schemas.openxmlformats.org/officeDocument/2006/relationships/image" Target="../media/image114.png"/></Relationships>
</file>

<file path=ppt/slides/_rels/slide4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30.png"/></Relationships>
</file>

<file path=ppt/slides/_rels/slide42.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17.png"/><Relationship Id="rId7" Type="http://schemas.openxmlformats.org/officeDocument/2006/relationships/image" Target="../media/image12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19.png"/><Relationship Id="rId4" Type="http://schemas.openxmlformats.org/officeDocument/2006/relationships/image" Target="../media/image118.png"/></Relationships>
</file>

<file path=ppt/slides/_rels/slide43.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3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23.png"/><Relationship Id="rId4" Type="http://schemas.openxmlformats.org/officeDocument/2006/relationships/image" Target="../media/image122.png"/></Relationships>
</file>

<file path=ppt/slides/_rels/slide4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4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132.png"/><Relationship Id="rId7" Type="http://schemas.openxmlformats.org/officeDocument/2006/relationships/image" Target="../media/image133.em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153.png"/><Relationship Id="rId9" Type="http://schemas.openxmlformats.org/officeDocument/2006/relationships/image" Target="../media/image134.emf"/></Relationships>
</file>

<file path=ppt/slides/_rels/slide4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40.emf"/><Relationship Id="rId5" Type="http://schemas.openxmlformats.org/officeDocument/2006/relationships/oleObject" Target="../embeddings/oleObject19.bin"/><Relationship Id="rId4" Type="http://schemas.openxmlformats.org/officeDocument/2006/relationships/image" Target="../media/image139.png"/></Relationships>
</file>

<file path=ppt/slides/_rels/slide50.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41.png"/><Relationship Id="rId7" Type="http://schemas.openxmlformats.org/officeDocument/2006/relationships/image" Target="../media/image146.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45.png"/><Relationship Id="rId11" Type="http://schemas.openxmlformats.org/officeDocument/2006/relationships/image" Target="../media/image149.png"/><Relationship Id="rId5" Type="http://schemas.openxmlformats.org/officeDocument/2006/relationships/image" Target="../media/image144.png"/><Relationship Id="rId10" Type="http://schemas.openxmlformats.org/officeDocument/2006/relationships/image" Target="../media/image148.png"/><Relationship Id="rId4" Type="http://schemas.openxmlformats.org/officeDocument/2006/relationships/image" Target="../media/image142.jpeg"/><Relationship Id="rId9" Type="http://schemas.openxmlformats.org/officeDocument/2006/relationships/image" Target="../media/image103.png"/></Relationships>
</file>

<file path=ppt/slides/_rels/slide51.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0.png"/><Relationship Id="rId7" Type="http://schemas.openxmlformats.org/officeDocument/2006/relationships/image" Target="../media/image15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2.png"/><Relationship Id="rId10" Type="http://schemas.openxmlformats.org/officeDocument/2006/relationships/image" Target="../media/image159.png"/><Relationship Id="rId4" Type="http://schemas.openxmlformats.org/officeDocument/2006/relationships/image" Target="../media/image151.png"/><Relationship Id="rId9" Type="http://schemas.openxmlformats.org/officeDocument/2006/relationships/image" Target="../media/image158.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60.emf"/></Relationships>
</file>

<file path=ppt/slides/_rels/slide53.xml.rels><?xml version="1.0" encoding="UTF-8" standalone="yes"?>
<Relationships xmlns="http://schemas.openxmlformats.org/package/2006/relationships"><Relationship Id="rId8" Type="http://schemas.openxmlformats.org/officeDocument/2006/relationships/image" Target="../media/image166.jpg"/><Relationship Id="rId3" Type="http://schemas.openxmlformats.org/officeDocument/2006/relationships/image" Target="../media/image161.png"/><Relationship Id="rId7" Type="http://schemas.openxmlformats.org/officeDocument/2006/relationships/image" Target="../media/image165.jp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 Id="rId9" Type="http://schemas.openxmlformats.org/officeDocument/2006/relationships/image" Target="../media/image191.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68.emf"/><Relationship Id="rId5" Type="http://schemas.openxmlformats.org/officeDocument/2006/relationships/oleObject" Target="../embeddings/oleObject22.bin"/><Relationship Id="rId4" Type="http://schemas.openxmlformats.org/officeDocument/2006/relationships/image" Target="../media/image167.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60.emf"/></Relationships>
</file>

<file path=ppt/slides/_rels/slide6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oleObject" Target="../embeddings/oleObject23.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ubTitle" sz="quarter" idx="1"/>
          </p:nvPr>
        </p:nvSpPr>
        <p:spPr>
          <a:xfrm>
            <a:off x="3352800" y="4038600"/>
            <a:ext cx="5334000" cy="1981200"/>
          </a:xfrm>
        </p:spPr>
        <p:txBody>
          <a:bodyPr/>
          <a:lstStyle/>
          <a:p>
            <a:pPr>
              <a:lnSpc>
                <a:spcPct val="90000"/>
              </a:lnSpc>
            </a:pPr>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Presenter: MA </a:t>
            </a:r>
            <a:r>
              <a:rPr lang="en-US" altLang="zh-CN" sz="2000" b="1" dirty="0" err="1">
                <a:latin typeface="Times New Roman" panose="02020603050405020304" pitchFamily="18" charset="0"/>
                <a:ea typeface="SimSun" panose="02010600030101010101" pitchFamily="2" charset="-122"/>
                <a:cs typeface="Times New Roman" panose="02020603050405020304" pitchFamily="18" charset="0"/>
              </a:rPr>
              <a:t>Xiaochen</a:t>
            </a:r>
            <a:endParaRPr lang="en-US" altLang="zh-CN" sz="20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22 July 2024</a:t>
            </a:r>
          </a:p>
        </p:txBody>
      </p:sp>
      <p:sp>
        <p:nvSpPr>
          <p:cNvPr id="19459" name="Rectangle 5"/>
          <p:cNvSpPr>
            <a:spLocks noChangeArrowheads="1"/>
          </p:cNvSpPr>
          <p:nvPr/>
        </p:nvSpPr>
        <p:spPr bwMode="auto">
          <a:xfrm>
            <a:off x="2057400" y="4343400"/>
            <a:ext cx="3124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9pPr>
          </a:lstStyle>
          <a:p>
            <a:pPr algn="ctr" eaLnBrk="1" hangingPunct="1">
              <a:buFontTx/>
              <a:buNone/>
            </a:pPr>
            <a:endParaRPr lang="zh-CN" altLang="zh-CN" sz="1600">
              <a:solidFill>
                <a:srgbClr val="000000"/>
              </a:solidFill>
              <a:latin typeface="Times New Roman"/>
              <a:ea typeface="SimSun" panose="020B0604020202020204" pitchFamily="34" charset="-128"/>
              <a:cs typeface="Times New Roman"/>
            </a:endParaRPr>
          </a:p>
        </p:txBody>
      </p:sp>
      <p:sp>
        <p:nvSpPr>
          <p:cNvPr id="19460" name="Rectangle 6"/>
          <p:cNvSpPr>
            <a:spLocks noGrp="1" noChangeArrowheads="1"/>
          </p:cNvSpPr>
          <p:nvPr>
            <p:ph type="ctrTitle" sz="quarter"/>
          </p:nvPr>
        </p:nvSpPr>
        <p:spPr>
          <a:xfrm>
            <a:off x="429623" y="2043100"/>
            <a:ext cx="11332753" cy="1469803"/>
          </a:xfrm>
        </p:spPr>
        <p:txBody>
          <a:bodyPr wrap="square" tIns="0" bIns="0">
            <a:noAutofit/>
          </a:bodyPr>
          <a:lstStyle/>
          <a:p>
            <a:pPr algn="l">
              <a:lnSpc>
                <a:spcPct val="108000"/>
              </a:lnSpc>
              <a:spcAft>
                <a:spcPts val="300"/>
              </a:spcAft>
            </a:pPr>
            <a:r>
              <a:rPr lang="en-US" altLang="zh-CN" sz="2600" dirty="0">
                <a:latin typeface="Times New Roman" panose="02020603050405020304" pitchFamily="18" charset="0"/>
                <a:ea typeface="SimSun" panose="02010600030101010101" pitchFamily="2" charset="-122"/>
                <a:cs typeface="Times New Roman" panose="02020603050405020304" pitchFamily="18" charset="0"/>
              </a:rPr>
              <a:t>Development of new water spray strategies for improving the energy performance of indirect evaporative cooling systems</a:t>
            </a:r>
            <a:br/>
            <a:r>
              <a:rPr sz="2132" lang="zh-CN">
                <a:solidFill>
                  <a:srgbClr val="FFFFFF"/>
                </a:solidFill>
                <a:latin typeface="Times New Roman"/>
                <a:ea typeface="SimSun"/>
                <a:cs typeface="Times New Roman"/>
              </a:rPr>
              <a:t>新型喷淋策略开发及其对间接蒸发冷却系统能效的提升</a:t>
            </a:r>
          </a:p>
        </p:txBody>
      </p:sp>
      <p:sp>
        <p:nvSpPr>
          <p:cNvPr id="7" name="矩形 6">
            <a:extLst>
              <a:ext uri="{FF2B5EF4-FFF2-40B4-BE49-F238E27FC236}">
                <a16:creationId xmlns:a16="http://schemas.microsoft.com/office/drawing/2014/main" id="{67B468AD-3765-4211-97AE-355D9398DFA4}"/>
              </a:ext>
            </a:extLst>
          </p:cNvPr>
          <p:cNvSpPr/>
          <p:nvPr/>
        </p:nvSpPr>
        <p:spPr bwMode="auto">
          <a:xfrm>
            <a:off x="5943600" y="1"/>
            <a:ext cx="4724400" cy="111259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pic>
        <p:nvPicPr>
          <p:cNvPr id="4" name="图片 3">
            <a:extLst>
              <a:ext uri="{FF2B5EF4-FFF2-40B4-BE49-F238E27FC236}">
                <a16:creationId xmlns:a16="http://schemas.microsoft.com/office/drawing/2014/main" id="{019CDA59-C27E-4F69-8FD6-A3C0FE27BCCA}"/>
              </a:ext>
            </a:extLst>
          </p:cNvPr>
          <p:cNvPicPr>
            <a:picLocks noChangeAspect="1"/>
          </p:cNvPicPr>
          <p:nvPr/>
        </p:nvPicPr>
        <p:blipFill>
          <a:blip r:embed="rId3"/>
          <a:stretch>
            <a:fillRect/>
          </a:stretch>
        </p:blipFill>
        <p:spPr>
          <a:xfrm>
            <a:off x="6864165" y="87822"/>
            <a:ext cx="5327835" cy="878576"/>
          </a:xfrm>
          <a:prstGeom prst="rect">
            <a:avLst/>
          </a:prstGeom>
        </p:spPr>
      </p:pic>
    </p:spTree>
  </p:cSld>
  <p:clrMapOvr>
    <a:masterClrMapping/>
  </p:clrMapOvr>
  <p:transition spd="slow" advTm="2290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374697866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rgbClr val="C00000"/>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259339703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A062160-D6C2-4E46-9E7A-5FDC78CED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2770" y="2617405"/>
            <a:ext cx="2585179" cy="2786400"/>
          </a:xfrm>
          <a:prstGeom prst="rect">
            <a:avLst/>
          </a:prstGeom>
        </p:spPr>
      </p:pic>
      <p:sp>
        <p:nvSpPr>
          <p:cNvPr id="35" name="Title 8">
            <a:extLst>
              <a:ext uri="{FF2B5EF4-FFF2-40B4-BE49-F238E27FC236}">
                <a16:creationId xmlns:a16="http://schemas.microsoft.com/office/drawing/2014/main" id="{8B8F9D25-5CF0-4920-BA0C-E821D0317FC4}"/>
              </a:ext>
            </a:extLst>
          </p:cNvPr>
          <p:cNvSpPr txBox="1">
            <a:spLocks/>
          </p:cNvSpPr>
          <p:nvPr/>
        </p:nvSpPr>
        <p:spPr bwMode="auto">
          <a:xfrm>
            <a:off x="960120" y="91440"/>
            <a:ext cx="7360920" cy="566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tIns="0" bIns="0"/>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lnSpc>
                <a:spcPct val="100000"/>
              </a:lnSpc>
            </a:pPr>
            <a:r>
              <a:rPr lang="en-US" b="1" dirty="0" sz="200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lnSpc>
                <a:spcPct val="100000"/>
              </a:lnSpc>
            </a:pPr>
            <a:endParaRPr lang="en-US" sz="2000" b="1" dirty="0">
              <a:solidFill>
                <a:srgbClr val="000000"/>
              </a:solidFill>
              <a:latin typeface="Times New Roman"/>
              <a:ea typeface="SimSun"/>
              <a:cs typeface="Times New Roman" charset="0"/>
            </a:endParaRPr>
          </a:p>
        </p:txBody>
      </p:sp>
      <p:sp>
        <p:nvSpPr>
          <p:cNvPr id="36" name="文本框 35">
            <a:extLst>
              <a:ext uri="{FF2B5EF4-FFF2-40B4-BE49-F238E27FC236}">
                <a16:creationId xmlns:a16="http://schemas.microsoft.com/office/drawing/2014/main" id="{B62FDF9E-6657-4935-883E-4D42C3A7364F}"/>
              </a:ext>
            </a:extLst>
          </p:cNvPr>
          <p:cNvSpPr txBox="1"/>
          <p:nvPr/>
        </p:nvSpPr>
        <p:spPr>
          <a:xfrm>
            <a:off x="404072" y="956954"/>
            <a:ext cx="11216428"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1.1 Cooling energy use in buildings</a:t>
            </a:r>
            <a:r>
              <a:rPr sz="1230" lang="zh-CN">
                <a:solidFill>
                  <a:srgbClr val="24425A"/>
                </a:solidFill>
                <a:latin typeface="Times New Roman"/>
                <a:ea typeface="SimSun"/>
                <a:cs typeface="Times New Roman"/>
              </a:rPr>
              <a:t>  建筑制冷能耗</a:t>
            </a:r>
          </a:p>
        </p:txBody>
      </p:sp>
      <p:sp>
        <p:nvSpPr>
          <p:cNvPr id="37" name="文本框 36">
            <a:extLst>
              <a:ext uri="{FF2B5EF4-FFF2-40B4-BE49-F238E27FC236}">
                <a16:creationId xmlns:a16="http://schemas.microsoft.com/office/drawing/2014/main" id="{3551DB90-1D98-4950-83C0-04E9F6A855D4}"/>
              </a:ext>
            </a:extLst>
          </p:cNvPr>
          <p:cNvSpPr txBox="1"/>
          <p:nvPr/>
        </p:nvSpPr>
        <p:spPr>
          <a:xfrm>
            <a:off x="1196477" y="1333909"/>
            <a:ext cx="9318199" cy="1446550"/>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China: </a:t>
            </a:r>
            <a:r>
              <a:rPr lang="en-HK" sz="1500" dirty="0">
                <a:solidFill>
                  <a:prstClr val="black"/>
                </a:solidFill>
                <a:latin typeface="Times New Roman" panose="02020603050405020304" pitchFamily="18" charset="0"/>
                <a:ea typeface="SimSun"/>
                <a:cs typeface="Times New Roman" panose="02020603050405020304" pitchFamily="18" charset="0"/>
              </a:rPr>
              <a:t>cooling energy use has been growing fast in </a:t>
            </a:r>
            <a:r>
              <a:rPr lang="en-US" altLang="zh-CN" sz="1500" dirty="0">
                <a:solidFill>
                  <a:prstClr val="black"/>
                </a:solidFill>
                <a:latin typeface="Times New Roman" panose="02020603050405020304" pitchFamily="18" charset="0"/>
                <a:ea typeface="SimSun"/>
                <a:cs typeface="Times New Roman" panose="02020603050405020304" pitchFamily="18" charset="0"/>
              </a:rPr>
              <a:t>past 10 years</a:t>
            </a:r>
            <a:r>
              <a:rPr lang="en-HK" sz="1500" dirty="0">
                <a:solidFill>
                  <a:prstClr val="black"/>
                </a:solidFill>
                <a:latin typeface="Times New Roman" panose="02020603050405020304" pitchFamily="18" charset="0"/>
                <a:ea typeface="SimSun"/>
                <a:cs typeface="Times New Roman" panose="02020603050405020304" pitchFamily="18" charset="0"/>
              </a:rPr>
              <a:t>, accounting for </a:t>
            </a:r>
            <a:r>
              <a:rPr lang="en-HK" sz="1500" dirty="0">
                <a:solidFill>
                  <a:srgbClr val="C00000"/>
                </a:solidFill>
                <a:latin typeface="Times New Roman" panose="02020603050405020304" pitchFamily="18" charset="0"/>
                <a:ea typeface="SimSun"/>
                <a:cs typeface="Times New Roman" panose="02020603050405020304" pitchFamily="18" charset="0"/>
              </a:rPr>
              <a:t>1/5</a:t>
            </a:r>
            <a:r>
              <a:rPr lang="en-HK" sz="1500" dirty="0">
                <a:solidFill>
                  <a:prstClr val="black"/>
                </a:solidFill>
                <a:latin typeface="Times New Roman" panose="02020603050405020304" pitchFamily="18" charset="0"/>
                <a:ea typeface="SimSun"/>
                <a:cs typeface="Times New Roman" panose="02020603050405020304" pitchFamily="18" charset="0"/>
              </a:rPr>
              <a:t> of global cooling energy use.</a:t>
            </a:r>
            <a:br/>
            <a:r>
              <a:rPr sz="1230" lang="zh-CN">
                <a:solidFill>
                  <a:srgbClr val="24425A"/>
                </a:solidFill>
                <a:latin typeface="Times New Roman"/>
                <a:ea typeface="SimSun"/>
                <a:cs typeface="Times New Roman"/>
              </a:rPr>
              <a:t>中国：过去十年，制冷能耗快速增长，约占全球制冷能耗的五分之一。</a:t>
            </a:r>
          </a:p>
          <a:p>
            <a:pPr marL="285750" indent="-285750" defTabSz="457200" eaLnBrk="1" fontAlgn="auto" hangingPunct="1" algn="l">
              <a:buFont typeface="Arial" panose="020B0604020202020204" pitchFamily="34" charset="0"/>
              <a:buChar char="•"/>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Hong Kong: </a:t>
            </a:r>
            <a:r>
              <a:rPr lang="en-HK" sz="1500" dirty="0">
                <a:solidFill>
                  <a:prstClr val="black"/>
                </a:solidFill>
                <a:latin typeface="Times New Roman" panose="02020603050405020304" pitchFamily="18" charset="0"/>
                <a:ea typeface="SimSun"/>
                <a:cs typeface="Times New Roman" panose="02020603050405020304" pitchFamily="18" charset="0"/>
              </a:rPr>
              <a:t>the electricity end use for A/C increased by </a:t>
            </a:r>
            <a:r>
              <a:rPr lang="en-HK" sz="1500" dirty="0">
                <a:solidFill>
                  <a:srgbClr val="C00000"/>
                </a:solidFill>
                <a:latin typeface="Times New Roman" panose="02020603050405020304" pitchFamily="18" charset="0"/>
                <a:ea typeface="SimSun"/>
                <a:cs typeface="Times New Roman" panose="02020603050405020304" pitchFamily="18" charset="0"/>
              </a:rPr>
              <a:t>29% </a:t>
            </a:r>
            <a:r>
              <a:rPr lang="en-HK" sz="1500" dirty="0">
                <a:solidFill>
                  <a:prstClr val="black"/>
                </a:solidFill>
                <a:latin typeface="Times New Roman" panose="02020603050405020304" pitchFamily="18" charset="0"/>
                <a:ea typeface="SimSun"/>
                <a:cs typeface="Times New Roman" panose="02020603050405020304" pitchFamily="18" charset="0"/>
              </a:rPr>
              <a:t>in past 10 years and is about </a:t>
            </a:r>
            <a:r>
              <a:rPr lang="en-HK" sz="1500" dirty="0">
                <a:solidFill>
                  <a:srgbClr val="C00000"/>
                </a:solidFill>
                <a:latin typeface="Times New Roman" panose="02020603050405020304" pitchFamily="18" charset="0"/>
                <a:ea typeface="SimSun"/>
                <a:cs typeface="Times New Roman" panose="02020603050405020304" pitchFamily="18" charset="0"/>
              </a:rPr>
              <a:t>30%</a:t>
            </a:r>
            <a:r>
              <a:rPr lang="en-HK" sz="1500" dirty="0">
                <a:solidFill>
                  <a:prstClr val="black"/>
                </a:solidFill>
                <a:latin typeface="Times New Roman" panose="02020603050405020304" pitchFamily="18" charset="0"/>
                <a:ea typeface="SimSun"/>
                <a:cs typeface="Times New Roman" panose="02020603050405020304" pitchFamily="18" charset="0"/>
              </a:rPr>
              <a:t> of the total electricity use in building sector.</a:t>
            </a:r>
            <a:br/>
            <a:r>
              <a:rPr sz="1230" lang="zh-CN">
                <a:solidFill>
                  <a:srgbClr val="24425A"/>
                </a:solidFill>
                <a:latin typeface="Times New Roman"/>
                <a:ea typeface="SimSun"/>
                <a:cs typeface="Times New Roman"/>
              </a:rPr>
              <a:t>香港：过去十年，空调用电量增长了 29%，约占建筑部门总用电量的 30%。</a:t>
            </a:r>
          </a:p>
        </p:txBody>
      </p:sp>
      <p:pic>
        <p:nvPicPr>
          <p:cNvPr id="38" name="图片 37">
            <a:extLst>
              <a:ext uri="{FF2B5EF4-FFF2-40B4-BE49-F238E27FC236}">
                <a16:creationId xmlns:a16="http://schemas.microsoft.com/office/drawing/2014/main" id="{A6DEFF5E-18E8-4D1C-A209-C5CEBAA93C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5635" y="2824134"/>
            <a:ext cx="4377809" cy="2344857"/>
          </a:xfrm>
          <a:prstGeom prst="rect">
            <a:avLst/>
          </a:prstGeom>
        </p:spPr>
      </p:pic>
      <p:sp>
        <p:nvSpPr>
          <p:cNvPr id="40" name="文本框 39">
            <a:extLst>
              <a:ext uri="{FF2B5EF4-FFF2-40B4-BE49-F238E27FC236}">
                <a16:creationId xmlns:a16="http://schemas.microsoft.com/office/drawing/2014/main" id="{F73C51D1-DEE3-4BAE-A79D-C4452E0CB51E}"/>
              </a:ext>
            </a:extLst>
          </p:cNvPr>
          <p:cNvSpPr txBox="1"/>
          <p:nvPr/>
        </p:nvSpPr>
        <p:spPr>
          <a:xfrm>
            <a:off x="2491224" y="3035550"/>
            <a:ext cx="662474"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Times New Roman" panose="020B0604020202020204" pitchFamily="34" charset="0"/>
                <a:ea typeface="SimSun"/>
                <a:cs typeface="Times New Roman" panose="020B0604020202020204" pitchFamily="34" charset="0"/>
              </a:rPr>
              <a:t>US</a:t>
            </a:r>
          </a:p>
        </p:txBody>
      </p:sp>
      <p:sp>
        <p:nvSpPr>
          <p:cNvPr id="41" name="文本框 40">
            <a:extLst>
              <a:ext uri="{FF2B5EF4-FFF2-40B4-BE49-F238E27FC236}">
                <a16:creationId xmlns:a16="http://schemas.microsoft.com/office/drawing/2014/main" id="{2BD2EA56-3D70-4313-A15A-57E24D0A4D2B}"/>
              </a:ext>
            </a:extLst>
          </p:cNvPr>
          <p:cNvSpPr txBox="1"/>
          <p:nvPr/>
        </p:nvSpPr>
        <p:spPr>
          <a:xfrm>
            <a:off x="2220338" y="3956743"/>
            <a:ext cx="1090126"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Times New Roman" panose="020B0604020202020204" pitchFamily="34" charset="0"/>
                <a:ea typeface="SimSun"/>
                <a:cs typeface="Times New Roman" panose="020B0604020202020204" pitchFamily="34" charset="0"/>
              </a:rPr>
              <a:t>World</a:t>
            </a:r>
          </a:p>
        </p:txBody>
      </p:sp>
      <p:sp>
        <p:nvSpPr>
          <p:cNvPr id="42" name="文本框 41">
            <a:extLst>
              <a:ext uri="{FF2B5EF4-FFF2-40B4-BE49-F238E27FC236}">
                <a16:creationId xmlns:a16="http://schemas.microsoft.com/office/drawing/2014/main" id="{F34C4778-A79B-4411-A787-0C9210E1434A}"/>
              </a:ext>
            </a:extLst>
          </p:cNvPr>
          <p:cNvSpPr txBox="1"/>
          <p:nvPr/>
        </p:nvSpPr>
        <p:spPr>
          <a:xfrm>
            <a:off x="3153479" y="4362902"/>
            <a:ext cx="979065"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Times New Roman" panose="020B0604020202020204" pitchFamily="34" charset="0"/>
                <a:ea typeface="SimSun"/>
                <a:cs typeface="Times New Roman" panose="020B0604020202020204" pitchFamily="34" charset="0"/>
              </a:rPr>
              <a:t>China</a:t>
            </a:r>
          </a:p>
        </p:txBody>
      </p:sp>
      <p:cxnSp>
        <p:nvCxnSpPr>
          <p:cNvPr id="43" name="直接箭头连接符 42">
            <a:extLst>
              <a:ext uri="{FF2B5EF4-FFF2-40B4-BE49-F238E27FC236}">
                <a16:creationId xmlns:a16="http://schemas.microsoft.com/office/drawing/2014/main" id="{4E1A74DE-2A9D-4489-A6E9-6C2581FECEDE}"/>
              </a:ext>
            </a:extLst>
          </p:cNvPr>
          <p:cNvCxnSpPr/>
          <p:nvPr/>
        </p:nvCxnSpPr>
        <p:spPr>
          <a:xfrm>
            <a:off x="2902845" y="3193137"/>
            <a:ext cx="466530" cy="0"/>
          </a:xfrm>
          <a:prstGeom prst="straightConnector1">
            <a:avLst/>
          </a:prstGeom>
          <a:noFill/>
          <a:ln w="22225" cap="flat" cmpd="sng" algn="ctr">
            <a:solidFill>
              <a:srgbClr val="DA7E3E"/>
            </a:solidFill>
            <a:prstDash val="solid"/>
            <a:miter lim="800000"/>
            <a:tailEnd type="triangle"/>
          </a:ln>
          <a:effectLst/>
        </p:spPr>
      </p:cxnSp>
      <p:cxnSp>
        <p:nvCxnSpPr>
          <p:cNvPr id="44" name="直接箭头连接符 43">
            <a:extLst>
              <a:ext uri="{FF2B5EF4-FFF2-40B4-BE49-F238E27FC236}">
                <a16:creationId xmlns:a16="http://schemas.microsoft.com/office/drawing/2014/main" id="{4F260449-8138-4D88-BDAA-502C48094806}"/>
              </a:ext>
            </a:extLst>
          </p:cNvPr>
          <p:cNvCxnSpPr>
            <a:cxnSpLocks/>
          </p:cNvCxnSpPr>
          <p:nvPr/>
        </p:nvCxnSpPr>
        <p:spPr>
          <a:xfrm flipV="1">
            <a:off x="3742839" y="4272458"/>
            <a:ext cx="493290" cy="124280"/>
          </a:xfrm>
          <a:prstGeom prst="straightConnector1">
            <a:avLst/>
          </a:prstGeom>
          <a:noFill/>
          <a:ln w="22225" cap="flat" cmpd="sng" algn="ctr">
            <a:solidFill>
              <a:srgbClr val="B2030B"/>
            </a:solidFill>
            <a:prstDash val="solid"/>
            <a:miter lim="800000"/>
            <a:tailEnd type="triangle"/>
          </a:ln>
          <a:effectLst/>
        </p:spPr>
      </p:cxnSp>
      <p:cxnSp>
        <p:nvCxnSpPr>
          <p:cNvPr id="45" name="直接箭头连接符 44">
            <a:extLst>
              <a:ext uri="{FF2B5EF4-FFF2-40B4-BE49-F238E27FC236}">
                <a16:creationId xmlns:a16="http://schemas.microsoft.com/office/drawing/2014/main" id="{D5D89A26-E711-4EBB-8A5F-C35610160EED}"/>
              </a:ext>
            </a:extLst>
          </p:cNvPr>
          <p:cNvCxnSpPr>
            <a:cxnSpLocks/>
          </p:cNvCxnSpPr>
          <p:nvPr/>
        </p:nvCxnSpPr>
        <p:spPr>
          <a:xfrm flipV="1">
            <a:off x="2910410" y="4077935"/>
            <a:ext cx="593013" cy="69871"/>
          </a:xfrm>
          <a:prstGeom prst="straightConnector1">
            <a:avLst/>
          </a:prstGeom>
          <a:noFill/>
          <a:ln w="22225" cap="flat" cmpd="sng" algn="ctr">
            <a:solidFill>
              <a:srgbClr val="2A899B"/>
            </a:solidFill>
            <a:prstDash val="solid"/>
            <a:miter lim="800000"/>
            <a:tailEnd type="triangle"/>
          </a:ln>
          <a:effectLst/>
        </p:spPr>
      </p:cxnSp>
      <p:sp>
        <p:nvSpPr>
          <p:cNvPr id="46" name="矩形 4">
            <a:extLst>
              <a:ext uri="{FF2B5EF4-FFF2-40B4-BE49-F238E27FC236}">
                <a16:creationId xmlns:a16="http://schemas.microsoft.com/office/drawing/2014/main" id="{F07FE167-2C4A-4929-B2CE-A58C30E33794}"/>
              </a:ext>
            </a:extLst>
          </p:cNvPr>
          <p:cNvSpPr>
            <a:spLocks noChangeArrowheads="1"/>
          </p:cNvSpPr>
          <p:nvPr/>
        </p:nvSpPr>
        <p:spPr bwMode="auto">
          <a:xfrm>
            <a:off x="1141120" y="5487152"/>
            <a:ext cx="46307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defTabSz="457200" eaLnBrk="1" fontAlgn="auto" hangingPunct="1">
              <a:spcBef>
                <a:spcPts val="0"/>
              </a:spcBef>
              <a:spcAft>
                <a:spcPts val="0"/>
              </a:spcAft>
            </a:pPr>
            <a:r>
              <a:rPr lang="en-GB" altLang="zh-CN" sz="1400" b="1" dirty="0">
                <a:solidFill>
                  <a:srgbClr val="C00000"/>
                </a:solidFill>
                <a:latin typeface="Times New Roman" panose="02020603050405020304" pitchFamily="18" charset="0"/>
                <a:ea typeface="SimSun" panose="02010600030101010101" pitchFamily="2" charset="-122"/>
                <a:cs typeface="Times New Roman"/>
              </a:rPr>
              <a:t>Electricity use for space cooling, 2000-2017</a:t>
            </a:r>
            <a:endParaRPr lang="zh-CN" altLang="en-US" sz="1400" b="1" dirty="0">
              <a:solidFill>
                <a:srgbClr val="C00000"/>
              </a:solidFill>
              <a:latin typeface="Times New Roman" panose="020F0502020204030204" pitchFamily="34" charset="0"/>
              <a:ea typeface="SimSun" panose="02010600030101010101" pitchFamily="2" charset="-122"/>
              <a:cs typeface="Times New Roman"/>
            </a:endParaRPr>
          </a:p>
        </p:txBody>
      </p:sp>
      <p:pic>
        <p:nvPicPr>
          <p:cNvPr id="47" name="图片 46">
            <a:extLst>
              <a:ext uri="{FF2B5EF4-FFF2-40B4-BE49-F238E27FC236}">
                <a16:creationId xmlns:a16="http://schemas.microsoft.com/office/drawing/2014/main" id="{C2AC8092-6D8C-456C-B4BA-665797B5FADE}"/>
              </a:ext>
            </a:extLst>
          </p:cNvPr>
          <p:cNvPicPr>
            <a:picLocks noChangeAspect="1"/>
          </p:cNvPicPr>
          <p:nvPr/>
        </p:nvPicPr>
        <p:blipFill rotWithShape="1">
          <a:blip r:embed="rId5">
            <a:extLst>
              <a:ext uri="{28A0092B-C50C-407E-A947-70E740481C1C}">
                <a14:useLocalDpi xmlns:a14="http://schemas.microsoft.com/office/drawing/2010/main" val="0"/>
              </a:ext>
            </a:extLst>
          </a:blip>
          <a:srcRect b="88606"/>
          <a:stretch/>
        </p:blipFill>
        <p:spPr>
          <a:xfrm>
            <a:off x="1435634" y="5309309"/>
            <a:ext cx="1249680" cy="223139"/>
          </a:xfrm>
          <a:prstGeom prst="rect">
            <a:avLst/>
          </a:prstGeom>
        </p:spPr>
      </p:pic>
      <p:pic>
        <p:nvPicPr>
          <p:cNvPr id="48" name="图片 47">
            <a:extLst>
              <a:ext uri="{FF2B5EF4-FFF2-40B4-BE49-F238E27FC236}">
                <a16:creationId xmlns:a16="http://schemas.microsoft.com/office/drawing/2014/main" id="{F7F8BA0D-1129-45CC-88BE-B276830696E4}"/>
              </a:ext>
            </a:extLst>
          </p:cNvPr>
          <p:cNvPicPr>
            <a:picLocks noChangeAspect="1"/>
          </p:cNvPicPr>
          <p:nvPr/>
        </p:nvPicPr>
        <p:blipFill rotWithShape="1">
          <a:blip r:embed="rId5">
            <a:extLst>
              <a:ext uri="{28A0092B-C50C-407E-A947-70E740481C1C}">
                <a14:useLocalDpi xmlns:a14="http://schemas.microsoft.com/office/drawing/2010/main" val="0"/>
              </a:ext>
            </a:extLst>
          </a:blip>
          <a:srcRect t="31724" b="56398"/>
          <a:stretch/>
        </p:blipFill>
        <p:spPr>
          <a:xfrm>
            <a:off x="2404623" y="5350768"/>
            <a:ext cx="1249680" cy="232618"/>
          </a:xfrm>
          <a:prstGeom prst="rect">
            <a:avLst/>
          </a:prstGeom>
        </p:spPr>
      </p:pic>
      <p:pic>
        <p:nvPicPr>
          <p:cNvPr id="49" name="图片 48">
            <a:extLst>
              <a:ext uri="{FF2B5EF4-FFF2-40B4-BE49-F238E27FC236}">
                <a16:creationId xmlns:a16="http://schemas.microsoft.com/office/drawing/2014/main" id="{47E3AAB7-59A1-4076-856A-240922A37C7E}"/>
              </a:ext>
            </a:extLst>
          </p:cNvPr>
          <p:cNvPicPr>
            <a:picLocks noChangeAspect="1"/>
          </p:cNvPicPr>
          <p:nvPr/>
        </p:nvPicPr>
        <p:blipFill rotWithShape="1">
          <a:blip r:embed="rId5">
            <a:extLst>
              <a:ext uri="{28A0092B-C50C-407E-A947-70E740481C1C}">
                <a14:useLocalDpi xmlns:a14="http://schemas.microsoft.com/office/drawing/2010/main" val="0"/>
              </a:ext>
            </a:extLst>
          </a:blip>
          <a:srcRect t="61234" b="29834"/>
          <a:stretch/>
        </p:blipFill>
        <p:spPr>
          <a:xfrm>
            <a:off x="3531722" y="5333421"/>
            <a:ext cx="1249680" cy="174912"/>
          </a:xfrm>
          <a:prstGeom prst="rect">
            <a:avLst/>
          </a:prstGeom>
        </p:spPr>
      </p:pic>
      <p:pic>
        <p:nvPicPr>
          <p:cNvPr id="50" name="图片 49">
            <a:extLst>
              <a:ext uri="{FF2B5EF4-FFF2-40B4-BE49-F238E27FC236}">
                <a16:creationId xmlns:a16="http://schemas.microsoft.com/office/drawing/2014/main" id="{65296F2D-8698-4025-8BC8-B1B69B56387E}"/>
              </a:ext>
            </a:extLst>
          </p:cNvPr>
          <p:cNvPicPr>
            <a:picLocks noChangeAspect="1"/>
          </p:cNvPicPr>
          <p:nvPr/>
        </p:nvPicPr>
        <p:blipFill rotWithShape="1">
          <a:blip r:embed="rId5">
            <a:extLst>
              <a:ext uri="{28A0092B-C50C-407E-A947-70E740481C1C}">
                <a14:useLocalDpi xmlns:a14="http://schemas.microsoft.com/office/drawing/2010/main" val="0"/>
              </a:ext>
            </a:extLst>
          </a:blip>
          <a:srcRect t="89805"/>
          <a:stretch/>
        </p:blipFill>
        <p:spPr>
          <a:xfrm>
            <a:off x="4658821" y="5296345"/>
            <a:ext cx="1249680" cy="199649"/>
          </a:xfrm>
          <a:prstGeom prst="rect">
            <a:avLst/>
          </a:prstGeom>
        </p:spPr>
      </p:pic>
      <p:sp>
        <p:nvSpPr>
          <p:cNvPr id="51" name="矩形 50">
            <a:extLst>
              <a:ext uri="{FF2B5EF4-FFF2-40B4-BE49-F238E27FC236}">
                <a16:creationId xmlns:a16="http://schemas.microsoft.com/office/drawing/2014/main" id="{9B162169-8957-4488-A548-B25E28DBB077}"/>
              </a:ext>
            </a:extLst>
          </p:cNvPr>
          <p:cNvSpPr/>
          <p:nvPr/>
        </p:nvSpPr>
        <p:spPr>
          <a:xfrm>
            <a:off x="6762313" y="5471452"/>
            <a:ext cx="4345805" cy="307777"/>
          </a:xfrm>
          <a:prstGeom prst="rect">
            <a:avLst/>
          </a:prstGeom>
        </p:spPr>
        <p:txBody>
          <a:bodyPr wrap="none">
            <a:spAutoFit/>
          </a:bodyPr>
          <a:lstStyle/>
          <a:p>
            <a:pPr defTabSz="457200" eaLnBrk="1" fontAlgn="auto" hangingPunct="1">
              <a:spcBef>
                <a:spcPts val="0"/>
              </a:spcBef>
              <a:spcAft>
                <a:spcPts val="0"/>
              </a:spcAft>
            </a:pPr>
            <a:r>
              <a:rPr lang="en-HK" sz="1400" b="1" dirty="0">
                <a:solidFill>
                  <a:srgbClr val="C00000"/>
                </a:solidFill>
                <a:latin typeface="Times New Roman" panose="02020603050405020304" pitchFamily="18" charset="0"/>
                <a:ea typeface="SimSun" panose="02010600030101010101" pitchFamily="2" charset="-122"/>
                <a:cs typeface="Times New Roman"/>
              </a:rPr>
              <a:t>Electricity Consumption by End-use in HK, 2011-2021</a:t>
            </a:r>
          </a:p>
        </p:txBody>
      </p:sp>
      <p:sp>
        <p:nvSpPr>
          <p:cNvPr id="52" name="椭圆 51">
            <a:extLst>
              <a:ext uri="{FF2B5EF4-FFF2-40B4-BE49-F238E27FC236}">
                <a16:creationId xmlns:a16="http://schemas.microsoft.com/office/drawing/2014/main" id="{5A13769F-3A53-4F54-A265-70ABFBF13E9D}"/>
              </a:ext>
            </a:extLst>
          </p:cNvPr>
          <p:cNvSpPr/>
          <p:nvPr/>
        </p:nvSpPr>
        <p:spPr>
          <a:xfrm>
            <a:off x="9264545" y="3387565"/>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dirty="0">
              <a:solidFill>
                <a:prstClr val="white"/>
              </a:solidFill>
              <a:latin typeface="Times New Roman" panose="020F0502020204030204"/>
              <a:ea typeface="SimSun"/>
              <a:cs typeface="Times New Roman"/>
            </a:endParaRPr>
          </a:p>
        </p:txBody>
      </p:sp>
      <p:sp>
        <p:nvSpPr>
          <p:cNvPr id="53" name="椭圆 52">
            <a:extLst>
              <a:ext uri="{FF2B5EF4-FFF2-40B4-BE49-F238E27FC236}">
                <a16:creationId xmlns:a16="http://schemas.microsoft.com/office/drawing/2014/main" id="{D9503317-0037-46EA-8238-6E263CF3BE6A}"/>
              </a:ext>
            </a:extLst>
          </p:cNvPr>
          <p:cNvSpPr/>
          <p:nvPr/>
        </p:nvSpPr>
        <p:spPr>
          <a:xfrm>
            <a:off x="9587048" y="3104655"/>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dirty="0">
              <a:solidFill>
                <a:prstClr val="white"/>
              </a:solidFill>
              <a:latin typeface="Times New Roman" panose="020F0502020204030204"/>
              <a:ea typeface="SimSun"/>
              <a:cs typeface="Times New Roman"/>
            </a:endParaRPr>
          </a:p>
        </p:txBody>
      </p:sp>
      <p:cxnSp>
        <p:nvCxnSpPr>
          <p:cNvPr id="54" name="直接箭头连接符 53">
            <a:extLst>
              <a:ext uri="{FF2B5EF4-FFF2-40B4-BE49-F238E27FC236}">
                <a16:creationId xmlns:a16="http://schemas.microsoft.com/office/drawing/2014/main" id="{599F89E1-666E-4BB7-A690-12313EE46B14}"/>
              </a:ext>
            </a:extLst>
          </p:cNvPr>
          <p:cNvCxnSpPr>
            <a:cxnSpLocks/>
            <a:endCxn id="56" idx="0"/>
          </p:cNvCxnSpPr>
          <p:nvPr/>
        </p:nvCxnSpPr>
        <p:spPr>
          <a:xfrm>
            <a:off x="9579527" y="3706477"/>
            <a:ext cx="124506" cy="188411"/>
          </a:xfrm>
          <a:prstGeom prst="straightConnector1">
            <a:avLst/>
          </a:prstGeom>
          <a:noFill/>
          <a:ln w="19050" cap="flat" cmpd="sng" algn="ctr">
            <a:solidFill>
              <a:srgbClr val="C00000"/>
            </a:solidFill>
            <a:prstDash val="solid"/>
            <a:miter lim="800000"/>
            <a:tailEnd type="triangle"/>
          </a:ln>
          <a:effectLst/>
        </p:spPr>
      </p:cxnSp>
      <p:sp>
        <p:nvSpPr>
          <p:cNvPr id="55" name="矩形 54">
            <a:extLst>
              <a:ext uri="{FF2B5EF4-FFF2-40B4-BE49-F238E27FC236}">
                <a16:creationId xmlns:a16="http://schemas.microsoft.com/office/drawing/2014/main" id="{22B5F679-ED50-4DA4-AF20-4969400B3586}"/>
              </a:ext>
            </a:extLst>
          </p:cNvPr>
          <p:cNvSpPr/>
          <p:nvPr/>
        </p:nvSpPr>
        <p:spPr>
          <a:xfrm>
            <a:off x="9324064" y="3910605"/>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a:solidFill>
                <a:prstClr val="white"/>
              </a:solidFill>
              <a:latin typeface="Times New Roman" panose="020F0502020204030204"/>
              <a:ea typeface="SimSun"/>
              <a:cs typeface="Times New Roman"/>
            </a:endParaRPr>
          </a:p>
        </p:txBody>
      </p:sp>
      <p:sp>
        <p:nvSpPr>
          <p:cNvPr id="56" name="文本框 55">
            <a:extLst>
              <a:ext uri="{FF2B5EF4-FFF2-40B4-BE49-F238E27FC236}">
                <a16:creationId xmlns:a16="http://schemas.microsoft.com/office/drawing/2014/main" id="{CBCA25D8-979F-4E66-9F25-6F5E1000D302}"/>
              </a:ext>
            </a:extLst>
          </p:cNvPr>
          <p:cNvSpPr txBox="1"/>
          <p:nvPr/>
        </p:nvSpPr>
        <p:spPr>
          <a:xfrm>
            <a:off x="9256973" y="3894888"/>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1200" b="1" dirty="0">
                <a:solidFill>
                  <a:prstClr val="black"/>
                </a:solidFill>
                <a:latin typeface="Times New Roman" panose="020F0502020204030204"/>
                <a:ea typeface="SimSun"/>
                <a:cs typeface="Times New Roman"/>
              </a:rPr>
              <a:t>1.30GWh</a:t>
            </a:r>
          </a:p>
        </p:txBody>
      </p:sp>
      <p:cxnSp>
        <p:nvCxnSpPr>
          <p:cNvPr id="57" name="直接箭头连接符 56">
            <a:extLst>
              <a:ext uri="{FF2B5EF4-FFF2-40B4-BE49-F238E27FC236}">
                <a16:creationId xmlns:a16="http://schemas.microsoft.com/office/drawing/2014/main" id="{B82E30C0-E92B-4DA0-92C7-EB150BEB3353}"/>
              </a:ext>
            </a:extLst>
          </p:cNvPr>
          <p:cNvCxnSpPr>
            <a:cxnSpLocks/>
          </p:cNvCxnSpPr>
          <p:nvPr/>
        </p:nvCxnSpPr>
        <p:spPr>
          <a:xfrm flipV="1">
            <a:off x="9741656" y="2951483"/>
            <a:ext cx="183494" cy="166567"/>
          </a:xfrm>
          <a:prstGeom prst="straightConnector1">
            <a:avLst/>
          </a:prstGeom>
          <a:noFill/>
          <a:ln w="19050" cap="flat" cmpd="sng" algn="ctr">
            <a:solidFill>
              <a:srgbClr val="C00000"/>
            </a:solidFill>
            <a:prstDash val="solid"/>
            <a:miter lim="800000"/>
            <a:tailEnd type="triangle"/>
          </a:ln>
          <a:effectLst/>
        </p:spPr>
      </p:cxnSp>
      <p:sp>
        <p:nvSpPr>
          <p:cNvPr id="58" name="文本框 57">
            <a:extLst>
              <a:ext uri="{FF2B5EF4-FFF2-40B4-BE49-F238E27FC236}">
                <a16:creationId xmlns:a16="http://schemas.microsoft.com/office/drawing/2014/main" id="{8B8B4ADA-D2B5-400E-9AF2-27A934395748}"/>
              </a:ext>
            </a:extLst>
          </p:cNvPr>
          <p:cNvSpPr txBox="1"/>
          <p:nvPr/>
        </p:nvSpPr>
        <p:spPr>
          <a:xfrm>
            <a:off x="9769937" y="2680612"/>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1200" b="1" dirty="0">
                <a:solidFill>
                  <a:prstClr val="black"/>
                </a:solidFill>
                <a:latin typeface="Times New Roman" panose="020F0502020204030204"/>
                <a:ea typeface="SimSun"/>
                <a:cs typeface="Times New Roman"/>
              </a:rPr>
              <a:t>1.46GWh</a:t>
            </a:r>
          </a:p>
        </p:txBody>
      </p:sp>
      <p:sp>
        <p:nvSpPr>
          <p:cNvPr id="59" name="矩形 58">
            <a:extLst>
              <a:ext uri="{FF2B5EF4-FFF2-40B4-BE49-F238E27FC236}">
                <a16:creationId xmlns:a16="http://schemas.microsoft.com/office/drawing/2014/main" id="{E1C98E01-18AB-475C-A476-9474CA24C796}"/>
              </a:ext>
            </a:extLst>
          </p:cNvPr>
          <p:cNvSpPr/>
          <p:nvPr/>
        </p:nvSpPr>
        <p:spPr>
          <a:xfrm>
            <a:off x="9824620" y="2699632"/>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a:solidFill>
                <a:prstClr val="white"/>
              </a:solidFill>
              <a:latin typeface="Times New Roman" panose="020F0502020204030204"/>
              <a:ea typeface="SimSun"/>
              <a:cs typeface="Times New Roman"/>
            </a:endParaRPr>
          </a:p>
        </p:txBody>
      </p:sp>
      <p:sp>
        <p:nvSpPr>
          <p:cNvPr id="60" name="矩形 59">
            <a:extLst>
              <a:ext uri="{FF2B5EF4-FFF2-40B4-BE49-F238E27FC236}">
                <a16:creationId xmlns:a16="http://schemas.microsoft.com/office/drawing/2014/main" id="{6D526305-CC20-4C59-96C4-DB8AA9D455F6}"/>
              </a:ext>
            </a:extLst>
          </p:cNvPr>
          <p:cNvSpPr/>
          <p:nvPr/>
        </p:nvSpPr>
        <p:spPr>
          <a:xfrm>
            <a:off x="595011" y="5811524"/>
            <a:ext cx="6096000" cy="246221"/>
          </a:xfrm>
          <a:prstGeom prst="rect">
            <a:avLst/>
          </a:prstGeom>
        </p:spPr>
        <p:txBody>
          <a:bodyPr>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International Energy Agency (IEA). The Future of Cooling in China. 2019</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62" name="矩形 61">
            <a:extLst>
              <a:ext uri="{FF2B5EF4-FFF2-40B4-BE49-F238E27FC236}">
                <a16:creationId xmlns:a16="http://schemas.microsoft.com/office/drawing/2014/main" id="{A179BD5E-94DC-4FE0-BFC3-B493299A2E24}"/>
              </a:ext>
            </a:extLst>
          </p:cNvPr>
          <p:cNvSpPr/>
          <p:nvPr/>
        </p:nvSpPr>
        <p:spPr>
          <a:xfrm>
            <a:off x="5582562" y="5795824"/>
            <a:ext cx="6096000" cy="246221"/>
          </a:xfrm>
          <a:prstGeom prst="rect">
            <a:avLst/>
          </a:prstGeom>
        </p:spPr>
        <p:txBody>
          <a:bodyPr>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EMSD. Hong Kong Energy End-use Data. 2023</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30" name="Rectangle 18">
            <a:extLst>
              <a:ext uri="{FF2B5EF4-FFF2-40B4-BE49-F238E27FC236}">
                <a16:creationId xmlns:a16="http://schemas.microsoft.com/office/drawing/2014/main" id="{42A46E62-DD70-4B57-AEA1-D6CF1A17DDD1}"/>
              </a:ext>
            </a:extLst>
          </p:cNvPr>
          <p:cNvSpPr/>
          <p:nvPr/>
        </p:nvSpPr>
        <p:spPr>
          <a:xfrm>
            <a:off x="3033996" y="6243421"/>
            <a:ext cx="6444397" cy="369332"/>
          </a:xfrm>
          <a:prstGeom prst="rect">
            <a:avLst/>
          </a:prstGeom>
        </p:spPr>
        <p:txBody>
          <a:bodyPr wrap="square" tIns="0" bIns="0">
            <a:noAutofit/>
          </a:bodyPr>
          <a:lstStyle>
            <a:defPPr>
              <a:defRPr lang="zh-CN">
                <a:latin typeface="Times New Roman"/>
                <a:ea typeface="SimSun"/>
                <a:cs typeface="Times New Roman"/>
              </a:defRPr>
            </a:defPPr>
            <a:lvl1pPr marL="0" algn="l" defTabSz="914400" rtl="0" eaLnBrk="1" latinLnBrk="0" hangingPunct="1">
              <a:defRPr sz="1800" kern="1200">
                <a:solidFill>
                  <a:schemeClr val="tx1"/>
                </a:solidFill>
                <a:latin typeface="Times New Roman"/>
                <a:ea typeface="SimSun"/>
                <a:cs typeface="Times New Roman"/>
              </a:defRPr>
            </a:lvl1pPr>
            <a:lvl2pPr marL="457200" algn="l" defTabSz="914400" rtl="0" eaLnBrk="1" latinLnBrk="0" hangingPunct="1">
              <a:defRPr sz="1800" kern="1200">
                <a:solidFill>
                  <a:schemeClr val="tx1"/>
                </a:solidFill>
                <a:latin typeface="Times New Roman"/>
                <a:ea typeface="SimSun"/>
                <a:cs typeface="Times New Roman"/>
              </a:defRPr>
            </a:lvl2pPr>
            <a:lvl3pPr marL="914400" algn="l" defTabSz="914400" rtl="0" eaLnBrk="1" latinLnBrk="0" hangingPunct="1">
              <a:defRPr sz="1800" kern="1200">
                <a:solidFill>
                  <a:schemeClr val="tx1"/>
                </a:solidFill>
                <a:latin typeface="Times New Roman"/>
                <a:ea typeface="SimSun"/>
                <a:cs typeface="Times New Roman"/>
              </a:defRPr>
            </a:lvl3pPr>
            <a:lvl4pPr marL="1371600" algn="l" defTabSz="914400" rtl="0" eaLnBrk="1" latinLnBrk="0" hangingPunct="1">
              <a:defRPr sz="1800" kern="1200">
                <a:solidFill>
                  <a:schemeClr val="tx1"/>
                </a:solidFill>
                <a:latin typeface="Times New Roman"/>
                <a:ea typeface="SimSun"/>
                <a:cs typeface="Times New Roman"/>
              </a:defRPr>
            </a:lvl4pPr>
            <a:lvl5pPr marL="1828800" algn="l" defTabSz="914400" rtl="0" eaLnBrk="1" latinLnBrk="0" hangingPunct="1">
              <a:defRPr sz="1800" kern="1200">
                <a:solidFill>
                  <a:schemeClr val="tx1"/>
                </a:solidFill>
                <a:latin typeface="Times New Roman"/>
                <a:ea typeface="SimSun"/>
                <a:cs typeface="Times New Roman"/>
              </a:defRPr>
            </a:lvl5pPr>
            <a:lvl6pPr marL="2286000" algn="l" defTabSz="914400" rtl="0" eaLnBrk="1" latinLnBrk="0" hangingPunct="1">
              <a:defRPr sz="1800" kern="1200">
                <a:solidFill>
                  <a:schemeClr val="tx1"/>
                </a:solidFill>
                <a:latin typeface="Times New Roman"/>
                <a:ea typeface="SimSun"/>
                <a:cs typeface="Times New Roman"/>
              </a:defRPr>
            </a:lvl6pPr>
            <a:lvl7pPr marL="2743200" algn="l" defTabSz="914400" rtl="0" eaLnBrk="1" latinLnBrk="0" hangingPunct="1">
              <a:defRPr sz="1800" kern="1200">
                <a:solidFill>
                  <a:schemeClr val="tx1"/>
                </a:solidFill>
                <a:latin typeface="Times New Roman"/>
                <a:ea typeface="SimSun"/>
                <a:cs typeface="Times New Roman"/>
              </a:defRPr>
            </a:lvl7pPr>
            <a:lvl8pPr marL="3200400" algn="l" defTabSz="914400" rtl="0" eaLnBrk="1" latinLnBrk="0" hangingPunct="1">
              <a:defRPr sz="1800" kern="1200">
                <a:solidFill>
                  <a:schemeClr val="tx1"/>
                </a:solidFill>
                <a:latin typeface="Times New Roman"/>
                <a:ea typeface="SimSun"/>
                <a:cs typeface="Times New Roman"/>
              </a:defRPr>
            </a:lvl8pPr>
            <a:lvl9pPr marL="3657600" algn="l" defTabSz="914400" rtl="0" eaLnBrk="1" latinLnBrk="0" hangingPunct="1">
              <a:defRPr sz="1800" kern="1200">
                <a:solidFill>
                  <a:schemeClr val="tx1"/>
                </a:solidFill>
                <a:latin typeface="Times New Roman"/>
                <a:ea typeface="SimSun"/>
                <a:cs typeface="Times New Roman"/>
              </a:defRPr>
            </a:lvl9pPr>
          </a:lstStyle>
          <a:p>
            <a:pPr algn="l" fontAlgn="auto">
              <a:lnSpc>
                <a:spcPct val="108000"/>
              </a:lnSpc>
              <a:spcAft>
                <a:spcPts val="300"/>
              </a:spcAft>
            </a:pPr>
            <a:r>
              <a:rPr lang="en-US" b="1" dirty="0" sz="1250">
                <a:solidFill>
                  <a:prstClr val="black"/>
                </a:solidFill>
                <a:latin typeface="Times New Roman" panose="02020603050405020304" pitchFamily="18" charset="0"/>
                <a:ea typeface="SimSun"/>
                <a:cs typeface="Times New Roman" panose="02020603050405020304" pitchFamily="18" charset="0"/>
              </a:rPr>
              <a:t>Seek </a:t>
            </a:r>
            <a:r>
              <a:rPr lang="en-US" b="1" dirty="0" sz="1250">
                <a:latin typeface="Times New Roman" panose="02020603050405020304" pitchFamily="18" charset="0"/>
                <a:ea typeface="SimSun"/>
                <a:cs typeface="Times New Roman" panose="02020603050405020304" pitchFamily="18" charset="0"/>
              </a:rPr>
              <a:t>for environmental friendly technology </a:t>
            </a:r>
            <a:r>
              <a:rPr lang="en-US" b="1" dirty="0" sz="1250">
                <a:solidFill>
                  <a:prstClr val="black"/>
                </a:solidFill>
                <a:latin typeface="Times New Roman" panose="02020603050405020304" pitchFamily="18" charset="0"/>
                <a:ea typeface="SimSun"/>
                <a:cs typeface="Times New Roman" panose="02020603050405020304" pitchFamily="18" charset="0"/>
              </a:rPr>
              <a:t>for </a:t>
            </a:r>
            <a:r>
              <a:rPr lang="en-US" b="1" dirty="0" sz="1250">
                <a:solidFill>
                  <a:srgbClr val="C00000"/>
                </a:solidFill>
                <a:latin typeface="Times New Roman" panose="02020603050405020304" pitchFamily="18" charset="0"/>
                <a:ea typeface="SimSun"/>
                <a:cs typeface="Times New Roman" panose="02020603050405020304" pitchFamily="18" charset="0"/>
              </a:rPr>
              <a:t>cooling</a:t>
            </a:r>
            <a:r>
              <a:rPr sz="1025" lang="zh-CN">
                <a:solidFill>
                  <a:srgbClr val="24425A"/>
                </a:solidFill>
                <a:latin typeface="Times New Roman"/>
                <a:ea typeface="SimSun"/>
                <a:cs typeface="Times New Roman"/>
              </a:rPr>
              <a:t>  发展环境友好型制冷技术，降低建筑制冷能耗</a:t>
            </a:r>
          </a:p>
        </p:txBody>
      </p:sp>
      <p:sp>
        <p:nvSpPr>
          <p:cNvPr id="31" name="圆角矩形 44">
            <a:extLst>
              <a:ext uri="{FF2B5EF4-FFF2-40B4-BE49-F238E27FC236}">
                <a16:creationId xmlns:a16="http://schemas.microsoft.com/office/drawing/2014/main" id="{F21C7A4B-900A-4EC1-9FAD-679EE6457F62}"/>
              </a:ext>
            </a:extLst>
          </p:cNvPr>
          <p:cNvSpPr/>
          <p:nvPr/>
        </p:nvSpPr>
        <p:spPr>
          <a:xfrm>
            <a:off x="3189624" y="6138939"/>
            <a:ext cx="6240945" cy="615497"/>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800" kern="0">
              <a:solidFill>
                <a:prstClr val="white"/>
              </a:solidFill>
              <a:latin typeface="Times New Roman"/>
              <a:ea typeface="SimSun"/>
              <a:cs typeface="Times New Roman"/>
            </a:endParaRPr>
          </a:p>
        </p:txBody>
      </p:sp>
      <p:sp>
        <p:nvSpPr>
          <p:cNvPr id="2" name="灯片编号占位符 1">
            <a:extLst>
              <a:ext uri="{FF2B5EF4-FFF2-40B4-BE49-F238E27FC236}">
                <a16:creationId xmlns:a16="http://schemas.microsoft.com/office/drawing/2014/main" id="{8962393A-D9AD-4A23-9C19-5ADAE49EB84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a:t>
            </a:fld>
            <a:endParaRPr lang="en-US" altLang="zh-CN">
              <a:latin typeface="Times New Roman"/>
              <a:ea typeface="SimSun"/>
              <a:cs typeface="Times New Roman"/>
            </a:endParaRPr>
          </a:p>
        </p:txBody>
      </p:sp>
      <p:sp>
        <p:nvSpPr>
          <p:cNvPr id="63"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研究背景与文献综述</a:t>
            </a:r>
          </a:p>
        </p:txBody>
      </p:sp>
    </p:spTree>
    <p:extLst>
      <p:ext uri="{BB962C8B-B14F-4D97-AF65-F5344CB8AC3E}">
        <p14:creationId xmlns:p14="http://schemas.microsoft.com/office/powerpoint/2010/main" val="166296069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arn(inVertical)">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A60AB70-41C4-4C00-8D30-E49B8D960DA7}"/>
              </a:ext>
            </a:extLst>
          </p:cNvPr>
          <p:cNvSpPr txBox="1"/>
          <p:nvPr/>
        </p:nvSpPr>
        <p:spPr>
          <a:xfrm>
            <a:off x="386754" y="935893"/>
            <a:ext cx="11233746"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1.2 Development of indirect evaporative cooling (IEC)</a:t>
            </a:r>
            <a:r>
              <a:rPr sz="1230" lang="zh-CN">
                <a:solidFill>
                  <a:srgbClr val="24425A"/>
                </a:solidFill>
                <a:latin typeface="Times New Roman"/>
                <a:ea typeface="SimSun"/>
                <a:cs typeface="Times New Roman"/>
              </a:rPr>
              <a:t>  间接蒸发冷却（IEC）技术的发展</a:t>
            </a:r>
          </a:p>
        </p:txBody>
      </p:sp>
      <p:sp>
        <p:nvSpPr>
          <p:cNvPr id="8" name="文本框 7">
            <a:extLst>
              <a:ext uri="{FF2B5EF4-FFF2-40B4-BE49-F238E27FC236}">
                <a16:creationId xmlns:a16="http://schemas.microsoft.com/office/drawing/2014/main" id="{57946878-A9AF-49F9-845B-00C79F50A193}"/>
              </a:ext>
            </a:extLst>
          </p:cNvPr>
          <p:cNvSpPr txBox="1"/>
          <p:nvPr/>
        </p:nvSpPr>
        <p:spPr>
          <a:xfrm>
            <a:off x="978030" y="2059893"/>
            <a:ext cx="6102652" cy="646331"/>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700" b="1" dirty="0">
                <a:solidFill>
                  <a:prstClr val="black"/>
                </a:solidFill>
                <a:latin typeface="Times New Roman" panose="02020603050405020304" pitchFamily="18" charset="0"/>
                <a:ea typeface="SimSun"/>
                <a:cs typeface="Times New Roman" panose="02020603050405020304" pitchFamily="18" charset="0"/>
              </a:rPr>
              <a:t>Conventional IEC: </a:t>
            </a:r>
            <a:r>
              <a:rPr lang="en-HK" sz="1700" dirty="0">
                <a:solidFill>
                  <a:prstClr val="black"/>
                </a:solidFill>
                <a:latin typeface="Times New Roman" panose="02020603050405020304" pitchFamily="18" charset="0"/>
                <a:ea typeface="SimSun"/>
                <a:cs typeface="Times New Roman" panose="02020603050405020304" pitchFamily="18" charset="0"/>
              </a:rPr>
              <a:t>for sensible cooling-dominant buildings under </a:t>
            </a:r>
            <a:r>
              <a:rPr lang="en-HK" sz="1700" dirty="0">
                <a:solidFill>
                  <a:srgbClr val="C00000"/>
                </a:solidFill>
                <a:latin typeface="Times New Roman" panose="02020603050405020304" pitchFamily="18" charset="0"/>
                <a:ea typeface="SimSun"/>
                <a:cs typeface="Times New Roman" panose="02020603050405020304" pitchFamily="18" charset="0"/>
              </a:rPr>
              <a:t>dry climates.</a:t>
            </a:r>
            <a:r>
              <a:rPr sz="1394" lang="zh-CN">
                <a:solidFill>
                  <a:srgbClr val="24425A"/>
                </a:solidFill>
                <a:latin typeface="Times New Roman"/>
                <a:ea typeface="SimSun"/>
                <a:cs typeface="Times New Roman"/>
              </a:rPr>
              <a:t>  传统 IEC：适用于干燥气候下以显热负荷为主的建筑。</a:t>
            </a:r>
          </a:p>
        </p:txBody>
      </p:sp>
      <p:pic>
        <p:nvPicPr>
          <p:cNvPr id="9" name="图片 8">
            <a:extLst>
              <a:ext uri="{FF2B5EF4-FFF2-40B4-BE49-F238E27FC236}">
                <a16:creationId xmlns:a16="http://schemas.microsoft.com/office/drawing/2014/main" id="{1C454FAB-55F7-4E97-9EC7-976100049800}"/>
              </a:ext>
            </a:extLst>
          </p:cNvPr>
          <p:cNvPicPr>
            <a:picLocks noChangeAspect="1"/>
          </p:cNvPicPr>
          <p:nvPr/>
        </p:nvPicPr>
        <p:blipFill>
          <a:blip r:embed="rId3"/>
          <a:stretch>
            <a:fillRect/>
          </a:stretch>
        </p:blipFill>
        <p:spPr>
          <a:xfrm>
            <a:off x="7579339" y="1020824"/>
            <a:ext cx="3459521" cy="2393092"/>
          </a:xfrm>
          <a:prstGeom prst="rect">
            <a:avLst/>
          </a:prstGeom>
        </p:spPr>
      </p:pic>
      <p:sp>
        <p:nvSpPr>
          <p:cNvPr id="10" name="文本框 9">
            <a:extLst>
              <a:ext uri="{FF2B5EF4-FFF2-40B4-BE49-F238E27FC236}">
                <a16:creationId xmlns:a16="http://schemas.microsoft.com/office/drawing/2014/main" id="{139F39C9-1B87-4875-9CAD-E40F11DAA6E0}"/>
              </a:ext>
            </a:extLst>
          </p:cNvPr>
          <p:cNvSpPr txBox="1"/>
          <p:nvPr/>
        </p:nvSpPr>
        <p:spPr>
          <a:xfrm>
            <a:off x="978030" y="2877074"/>
            <a:ext cx="6116890" cy="551180"/>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Updated IEC: </a:t>
            </a:r>
            <a:r>
              <a:rPr lang="en-HK" sz="1500" dirty="0">
                <a:solidFill>
                  <a:prstClr val="black"/>
                </a:solidFill>
                <a:latin typeface="Times New Roman" panose="02020603050405020304" pitchFamily="18" charset="0"/>
                <a:ea typeface="SimSun"/>
                <a:cs typeface="Times New Roman" panose="02020603050405020304" pitchFamily="18" charset="0"/>
              </a:rPr>
              <a:t>for energy recovery in </a:t>
            </a:r>
            <a:r>
              <a:rPr lang="en-HK" sz="1500" dirty="0">
                <a:solidFill>
                  <a:srgbClr val="C00000"/>
                </a:solidFill>
                <a:latin typeface="Times New Roman" panose="02020603050405020304" pitchFamily="18" charset="0"/>
                <a:ea typeface="SimSun"/>
                <a:cs typeface="Times New Roman" panose="02020603050405020304" pitchFamily="18" charset="0"/>
              </a:rPr>
              <a:t>hot and humid regions.</a:t>
            </a:r>
            <a:r>
              <a:rPr sz="1230" lang="zh-CN">
                <a:solidFill>
                  <a:srgbClr val="24425A"/>
                </a:solidFill>
                <a:latin typeface="Times New Roman"/>
                <a:ea typeface="SimSun"/>
                <a:cs typeface="Times New Roman"/>
              </a:rPr>
              <a:t>  拓展应用：用于湿热地区的能量回收。</a:t>
            </a:r>
          </a:p>
        </p:txBody>
      </p:sp>
      <p:pic>
        <p:nvPicPr>
          <p:cNvPr id="11" name="图片 10">
            <a:extLst>
              <a:ext uri="{FF2B5EF4-FFF2-40B4-BE49-F238E27FC236}">
                <a16:creationId xmlns:a16="http://schemas.microsoft.com/office/drawing/2014/main" id="{6C167412-4EB0-46B9-9050-AE92F86F961B}"/>
              </a:ext>
            </a:extLst>
          </p:cNvPr>
          <p:cNvPicPr>
            <a:picLocks noChangeAspect="1"/>
          </p:cNvPicPr>
          <p:nvPr/>
        </p:nvPicPr>
        <p:blipFill>
          <a:blip r:embed="rId4"/>
          <a:stretch>
            <a:fillRect/>
          </a:stretch>
        </p:blipFill>
        <p:spPr>
          <a:xfrm>
            <a:off x="1164472" y="3719757"/>
            <a:ext cx="5708644" cy="1980000"/>
          </a:xfrm>
          <a:prstGeom prst="rect">
            <a:avLst/>
          </a:prstGeom>
        </p:spPr>
      </p:pic>
      <p:sp>
        <p:nvSpPr>
          <p:cNvPr id="12" name="矩形 11">
            <a:extLst>
              <a:ext uri="{FF2B5EF4-FFF2-40B4-BE49-F238E27FC236}">
                <a16:creationId xmlns:a16="http://schemas.microsoft.com/office/drawing/2014/main" id="{3BFBECD2-63D3-4D41-B32B-6D1470A4DA26}"/>
              </a:ext>
            </a:extLst>
          </p:cNvPr>
          <p:cNvSpPr/>
          <p:nvPr/>
        </p:nvSpPr>
        <p:spPr>
          <a:xfrm>
            <a:off x="822338" y="1292040"/>
            <a:ext cx="6502840" cy="721363"/>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450" dirty="0">
                <a:solidFill>
                  <a:prstClr val="black"/>
                </a:solidFill>
                <a:latin typeface="Times New Roman" panose="02020603050405020304" pitchFamily="18" charset="0"/>
                <a:ea typeface="SimSun"/>
                <a:cs typeface="Times New Roman" panose="02020603050405020304" pitchFamily="18" charset="0"/>
              </a:rPr>
              <a:t>The IEC technology is a green and energy-saving technology that uses </a:t>
            </a:r>
            <a:r>
              <a:rPr lang="en-HK" sz="1450" dirty="0">
                <a:solidFill>
                  <a:srgbClr val="C00000"/>
                </a:solidFill>
                <a:latin typeface="Times New Roman" panose="02020603050405020304" pitchFamily="18" charset="0"/>
                <a:ea typeface="SimSun"/>
                <a:cs typeface="Times New Roman" panose="02020603050405020304" pitchFamily="18" charset="0"/>
              </a:rPr>
              <a:t>water</a:t>
            </a:r>
            <a:r>
              <a:rPr lang="en-HK" sz="1450" dirty="0">
                <a:solidFill>
                  <a:prstClr val="black"/>
                </a:solidFill>
                <a:latin typeface="Times New Roman" panose="02020603050405020304" pitchFamily="18" charset="0"/>
                <a:ea typeface="SimSun"/>
                <a:cs typeface="Times New Roman" panose="02020603050405020304" pitchFamily="18" charset="0"/>
              </a:rPr>
              <a:t> to </a:t>
            </a:r>
            <a:r>
              <a:rPr lang="en-HK" sz="1450" dirty="0">
                <a:solidFill>
                  <a:srgbClr val="C00000"/>
                </a:solidFill>
                <a:latin typeface="Times New Roman" panose="02020603050405020304" pitchFamily="18" charset="0"/>
                <a:ea typeface="SimSun"/>
                <a:cs typeface="Times New Roman" panose="02020603050405020304" pitchFamily="18" charset="0"/>
              </a:rPr>
              <a:t>evaporate</a:t>
            </a:r>
            <a:r>
              <a:rPr lang="en-HK" sz="1450" dirty="0">
                <a:solidFill>
                  <a:prstClr val="black"/>
                </a:solidFill>
                <a:latin typeface="Times New Roman" panose="02020603050405020304" pitchFamily="18" charset="0"/>
                <a:ea typeface="SimSun"/>
                <a:cs typeface="Times New Roman" panose="02020603050405020304" pitchFamily="18" charset="0"/>
              </a:rPr>
              <a:t> and absorb heat for cooling.</a:t>
            </a:r>
            <a:br/>
            <a:r>
              <a:rPr sz="1189" lang="zh-CN">
                <a:solidFill>
                  <a:srgbClr val="24425A"/>
                </a:solidFill>
                <a:latin typeface="Times New Roman"/>
                <a:ea typeface="SimSun"/>
                <a:cs typeface="Times New Roman"/>
              </a:rPr>
              <a:t>间接蒸发冷却（IEC）利用水蒸发吸热实现降温，是一种绿色节能技术。</a:t>
            </a:r>
          </a:p>
        </p:txBody>
      </p:sp>
      <p:sp>
        <p:nvSpPr>
          <p:cNvPr id="13" name="矩形 12">
            <a:extLst>
              <a:ext uri="{FF2B5EF4-FFF2-40B4-BE49-F238E27FC236}">
                <a16:creationId xmlns:a16="http://schemas.microsoft.com/office/drawing/2014/main" id="{CD0DF357-23A7-4ED1-9E7C-FF2280E96EFC}"/>
              </a:ext>
            </a:extLst>
          </p:cNvPr>
          <p:cNvSpPr/>
          <p:nvPr/>
        </p:nvSpPr>
        <p:spPr>
          <a:xfrm>
            <a:off x="7690096" y="4114392"/>
            <a:ext cx="3214535" cy="820928"/>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600" b="1" dirty="0">
                <a:solidFill>
                  <a:prstClr val="black"/>
                </a:solidFill>
                <a:latin typeface="Times New Roman" panose="02020603050405020304" pitchFamily="18" charset="0"/>
                <a:ea typeface="SimSun"/>
                <a:cs typeface="Times New Roman" panose="02020603050405020304" pitchFamily="18" charset="0"/>
              </a:rPr>
              <a:t>Key point: </a:t>
            </a:r>
            <a:r>
              <a:rPr lang="en-HK" sz="1600" dirty="0">
                <a:solidFill>
                  <a:prstClr val="black"/>
                </a:solidFill>
                <a:latin typeface="Times New Roman" panose="02020603050405020304" pitchFamily="18" charset="0"/>
                <a:ea typeface="SimSun"/>
                <a:cs typeface="Times New Roman" panose="02020603050405020304" pitchFamily="18" charset="0"/>
              </a:rPr>
              <a:t>the </a:t>
            </a:r>
            <a:r>
              <a:rPr lang="en-US" altLang="zh-CN" sz="1600" dirty="0">
                <a:solidFill>
                  <a:prstClr val="black"/>
                </a:solidFill>
                <a:latin typeface="Times New Roman" panose="02020603050405020304" pitchFamily="18" charset="0"/>
                <a:ea typeface="SimSun"/>
                <a:cs typeface="Times New Roman" panose="02020603050405020304" pitchFamily="18" charset="0"/>
              </a:rPr>
              <a:t>process of </a:t>
            </a:r>
            <a:r>
              <a:rPr lang="en-HK" sz="1600" dirty="0">
                <a:solidFill>
                  <a:prstClr val="black"/>
                </a:solidFill>
                <a:latin typeface="Times New Roman" panose="02020603050405020304" pitchFamily="18" charset="0"/>
                <a:ea typeface="SimSun"/>
                <a:cs typeface="Times New Roman" panose="02020603050405020304" pitchFamily="18" charset="0"/>
              </a:rPr>
              <a:t>evaporation of water into air.  </a:t>
            </a:r>
            <a:r>
              <a:rPr sz="1312" lang="zh-CN">
                <a:solidFill>
                  <a:srgbClr val="24425A"/>
                </a:solidFill>
                <a:latin typeface="Times New Roman"/>
                <a:ea typeface="SimSun"/>
                <a:cs typeface="Times New Roman"/>
              </a:rPr>
              <a:t>  核心过程：水向空气中蒸发，并进行传热传质。</a:t>
            </a:r>
          </a:p>
        </p:txBody>
      </p:sp>
      <p:sp>
        <p:nvSpPr>
          <p:cNvPr id="14" name="矩形 13">
            <a:extLst>
              <a:ext uri="{FF2B5EF4-FFF2-40B4-BE49-F238E27FC236}">
                <a16:creationId xmlns:a16="http://schemas.microsoft.com/office/drawing/2014/main" id="{B42C4010-8AF0-4BD0-A3CC-94D27DF8E5FB}"/>
              </a:ext>
            </a:extLst>
          </p:cNvPr>
          <p:cNvSpPr/>
          <p:nvPr/>
        </p:nvSpPr>
        <p:spPr>
          <a:xfrm>
            <a:off x="1828869" y="6455109"/>
            <a:ext cx="8534263" cy="246221"/>
          </a:xfrm>
          <a:prstGeom prst="rect">
            <a:avLst/>
          </a:prstGeom>
        </p:spPr>
        <p:txBody>
          <a:bodyPr wrap="square">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A statistical </a:t>
            </a:r>
            <a:r>
              <a:rPr lang="en-HK"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modeling</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approach on the performance prediction of indirect evaporative cooling energy recovery systems. 2019 </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16" name="矩形 15">
            <a:extLst>
              <a:ext uri="{FF2B5EF4-FFF2-40B4-BE49-F238E27FC236}">
                <a16:creationId xmlns:a16="http://schemas.microsoft.com/office/drawing/2014/main" id="{22ABFBB9-871B-4085-A46D-679911E48F7B}"/>
              </a:ext>
            </a:extLst>
          </p:cNvPr>
          <p:cNvSpPr/>
          <p:nvPr/>
        </p:nvSpPr>
        <p:spPr>
          <a:xfrm>
            <a:off x="7949152" y="3430356"/>
            <a:ext cx="3209533"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Fig.1.2.1 </a:t>
            </a:r>
            <a:r>
              <a:rPr lang="en-HK" sz="1200" dirty="0">
                <a:solidFill>
                  <a:prstClr val="black"/>
                </a:solidFill>
                <a:latin typeface="Times New Roman" panose="02020603050405020304" pitchFamily="18" charset="0"/>
                <a:ea typeface="SimSun"/>
                <a:cs typeface="Times New Roman" panose="02020603050405020304" pitchFamily="18" charset="0"/>
              </a:rPr>
              <a:t>Schematic diagram of a traditional IEC</a:t>
            </a:r>
          </a:p>
          <a:p>
            <a:pPr defTabSz="457200" eaLnBrk="1" fontAlgn="auto" hangingPunct="1">
              <a:spcBef>
                <a:spcPts val="0"/>
              </a:spcBef>
              <a:spcAft>
                <a:spcPts val="0"/>
              </a:spcAft>
            </a:pPr>
            <a:endParaRPr lang="en-HK" sz="1400" dirty="0">
              <a:solidFill>
                <a:prstClr val="black"/>
              </a:solidFill>
              <a:latin typeface="Times New Roman" panose="020B0604020202020204" pitchFamily="34" charset="0"/>
              <a:ea typeface="SimSun"/>
              <a:cs typeface="Times New Roman" panose="020B0604020202020204" pitchFamily="34" charset="0"/>
            </a:endParaRPr>
          </a:p>
        </p:txBody>
      </p:sp>
      <p:sp>
        <p:nvSpPr>
          <p:cNvPr id="17" name="矩形 16">
            <a:extLst>
              <a:ext uri="{FF2B5EF4-FFF2-40B4-BE49-F238E27FC236}">
                <a16:creationId xmlns:a16="http://schemas.microsoft.com/office/drawing/2014/main" id="{4CE88D99-8FF1-4BB2-80F5-5D2C72231F59}"/>
              </a:ext>
            </a:extLst>
          </p:cNvPr>
          <p:cNvSpPr/>
          <p:nvPr/>
        </p:nvSpPr>
        <p:spPr>
          <a:xfrm>
            <a:off x="2192731" y="5754065"/>
            <a:ext cx="3673250"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Fig.1.2.2 </a:t>
            </a:r>
            <a:r>
              <a:rPr lang="en-HK" sz="1200" dirty="0">
                <a:solidFill>
                  <a:prstClr val="black"/>
                </a:solidFill>
                <a:latin typeface="Times New Roman" panose="02020603050405020304" pitchFamily="18" charset="0"/>
                <a:ea typeface="SimSun"/>
                <a:cs typeface="Times New Roman" panose="02020603050405020304" pitchFamily="18" charset="0"/>
              </a:rPr>
              <a:t>System diagram of an IEC for energy recovery</a:t>
            </a:r>
          </a:p>
          <a:p>
            <a:pPr defTabSz="457200" eaLnBrk="1" fontAlgn="auto" hangingPunct="1">
              <a:spcBef>
                <a:spcPts val="0"/>
              </a:spcBef>
              <a:spcAft>
                <a:spcPts val="0"/>
              </a:spcAft>
            </a:pPr>
            <a:endParaRPr lang="en-HK" sz="1400" dirty="0">
              <a:solidFill>
                <a:prstClr val="black"/>
              </a:solidFill>
              <a:latin typeface="Times New Roman" panose="020B0604020202020204" pitchFamily="34" charset="0"/>
              <a:ea typeface="SimSun"/>
              <a:cs typeface="Times New Roman" panose="020B0604020202020204" pitchFamily="34" charset="0"/>
            </a:endParaRPr>
          </a:p>
        </p:txBody>
      </p:sp>
      <p:sp>
        <p:nvSpPr>
          <p:cNvPr id="19" name="圆角矩形 44">
            <a:extLst>
              <a:ext uri="{FF2B5EF4-FFF2-40B4-BE49-F238E27FC236}">
                <a16:creationId xmlns:a16="http://schemas.microsoft.com/office/drawing/2014/main" id="{40DE1E30-75F0-43E9-BAA7-7AE86F43BB84}"/>
              </a:ext>
            </a:extLst>
          </p:cNvPr>
          <p:cNvSpPr/>
          <p:nvPr/>
        </p:nvSpPr>
        <p:spPr>
          <a:xfrm>
            <a:off x="7704333" y="4047766"/>
            <a:ext cx="3209533" cy="852578"/>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800" kern="0">
              <a:solidFill>
                <a:prstClr val="white"/>
              </a:solidFill>
              <a:latin typeface="Times New Roman"/>
              <a:ea typeface="SimSun"/>
              <a:cs typeface="Times New Roman"/>
            </a:endParaRPr>
          </a:p>
        </p:txBody>
      </p:sp>
      <p:sp>
        <p:nvSpPr>
          <p:cNvPr id="2" name="文本框 1">
            <a:extLst>
              <a:ext uri="{FF2B5EF4-FFF2-40B4-BE49-F238E27FC236}">
                <a16:creationId xmlns:a16="http://schemas.microsoft.com/office/drawing/2014/main" id="{5206DD3F-AB6C-4127-9134-1BFC5812D031}"/>
              </a:ext>
            </a:extLst>
          </p:cNvPr>
          <p:cNvSpPr txBox="1"/>
          <p:nvPr/>
        </p:nvSpPr>
        <p:spPr>
          <a:xfrm>
            <a:off x="8675260" y="5419740"/>
            <a:ext cx="1854978" cy="611124"/>
          </a:xfrm>
          <a:prstGeom prst="rect">
            <a:avLst/>
          </a:prstGeom>
          <a:noFill/>
        </p:spPr>
        <p:txBody>
          <a:bodyPr wrap="square" rtlCol="0" tIns="0" bIns="0">
            <a:noAutofit/>
          </a:bodyPr>
          <a:lstStyle/>
          <a:p>
            <a:pPr algn="l">
              <a:lnSpc>
                <a:spcPct val="108000"/>
              </a:lnSpc>
              <a:spcAft>
                <a:spcPts val="300"/>
              </a:spcAft>
            </a:pPr>
            <a:r>
              <a:rPr lang="en-HK" b="1" i="1" dirty="0" sz="1700">
                <a:solidFill>
                  <a:srgbClr val="C00000"/>
                </a:solidFill>
                <a:latin typeface="Times New Roman" panose="02020603050405020304" pitchFamily="18" charset="0"/>
                <a:ea typeface="SimSun"/>
                <a:cs typeface="Times New Roman" panose="02020603050405020304" pitchFamily="18" charset="0"/>
              </a:rPr>
              <a:t>Enhanced!</a:t>
            </a:r>
            <a:r>
              <a:rPr sz="1394" lang="zh-CN">
                <a:solidFill>
                  <a:srgbClr val="24425A"/>
                </a:solidFill>
                <a:latin typeface="Times New Roman"/>
                <a:ea typeface="SimSun"/>
                <a:cs typeface="Times New Roman"/>
              </a:rPr>
              <a:t>  强化换热！</a:t>
            </a:r>
          </a:p>
        </p:txBody>
      </p:sp>
      <p:sp>
        <p:nvSpPr>
          <p:cNvPr id="3" name="箭头: 下 2">
            <a:extLst>
              <a:ext uri="{FF2B5EF4-FFF2-40B4-BE49-F238E27FC236}">
                <a16:creationId xmlns:a16="http://schemas.microsoft.com/office/drawing/2014/main" id="{25EAB784-FFDA-4CA2-A466-A53200F0FCFE}"/>
              </a:ext>
            </a:extLst>
          </p:cNvPr>
          <p:cNvSpPr/>
          <p:nvPr/>
        </p:nvSpPr>
        <p:spPr bwMode="auto">
          <a:xfrm>
            <a:off x="9273141" y="5003051"/>
            <a:ext cx="184826" cy="400249"/>
          </a:xfrm>
          <a:prstGeom prst="down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4" name="灯片编号占位符 3">
            <a:extLst>
              <a:ext uri="{FF2B5EF4-FFF2-40B4-BE49-F238E27FC236}">
                <a16:creationId xmlns:a16="http://schemas.microsoft.com/office/drawing/2014/main" id="{4E66AE7F-39D1-46F6-9803-1881DC508F2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a:t>
            </a:fld>
            <a:endParaRPr lang="en-US" altLang="zh-CN">
              <a:latin typeface="Times New Roman"/>
              <a:ea typeface="SimSun"/>
              <a:cs typeface="Times New Roman"/>
            </a:endParaRPr>
          </a:p>
        </p:txBody>
      </p:sp>
      <p:sp>
        <p:nvSpPr>
          <p:cNvPr id="21" name="Title 8">
            <a:extLst>
              <a:ext uri="{FF2B5EF4-FFF2-40B4-BE49-F238E27FC236}">
                <a16:creationId xmlns:a16="http://schemas.microsoft.com/office/drawing/2014/main" id="{62444E56-741C-49A3-896F-6AB341798218}"/>
              </a:ext>
            </a:extLst>
          </p:cNvPr>
          <p:cNvSpPr txBox="1">
            <a:spLocks/>
          </p:cNvSpPr>
          <p:nvPr/>
        </p:nvSpPr>
        <p:spPr bwMode="auto">
          <a:xfrm>
            <a:off x="960120" y="91440"/>
            <a:ext cx="7360920" cy="566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tIns="0" bIns="0"/>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lnSpc>
                <a:spcPct val="100000"/>
              </a:lnSpc>
            </a:pPr>
            <a:r>
              <a:rPr lang="en-US" b="1" dirty="0" sz="200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lnSpc>
                <a:spcPct val="100000"/>
              </a:lnSpc>
            </a:pPr>
            <a:endParaRPr lang="en-US" sz="2000" b="1" dirty="0">
              <a:solidFill>
                <a:srgbClr val="000000"/>
              </a:solidFill>
              <a:latin typeface="Times New Roman"/>
              <a:ea typeface="SimSun"/>
              <a:cs typeface="Times New Roman" charset="0"/>
            </a:endParaRPr>
          </a:p>
        </p:txBody>
      </p:sp>
      <p:sp>
        <p:nvSpPr>
          <p:cNvPr id="22"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研究背景与文献综述</a:t>
            </a:r>
          </a:p>
        </p:txBody>
      </p:sp>
    </p:spTree>
    <p:extLst>
      <p:ext uri="{BB962C8B-B14F-4D97-AF65-F5344CB8AC3E}">
        <p14:creationId xmlns:p14="http://schemas.microsoft.com/office/powerpoint/2010/main" val="329859860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lgn="l">
              <a:buClrTx/>
              <a:buFont typeface="Wingdings" panose="05000000000000000000" pitchFamily="2" charset="2"/>
              <a:buChar char="Ø"/>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W</a:t>
            </a:r>
            <a:r>
              <a:rPr lang="en-US" altLang="zh-CN" sz="1500" b="1" kern="0" dirty="0">
                <a:latin typeface="Times New Roman" panose="02020603050405020304" pitchFamily="18" charset="0"/>
                <a:ea typeface="SimSun"/>
                <a:cs typeface="Times New Roman" panose="02020603050405020304" pitchFamily="18" charset="0"/>
              </a:rPr>
              <a:t>orking principle</a:t>
            </a:r>
            <a:r>
              <a:rPr sz="1230" lang="zh-CN">
                <a:solidFill>
                  <a:srgbClr val="24425A"/>
                </a:solidFill>
                <a:latin typeface="Times New Roman"/>
                <a:ea typeface="SimSun"/>
                <a:cs typeface="Times New Roman"/>
              </a:rPr>
              <a:t>  工作原理</a:t>
            </a:r>
          </a:p>
        </p:txBody>
      </p:sp>
      <p:sp>
        <p:nvSpPr>
          <p:cNvPr id="10" name="文本框 9">
            <a:extLst>
              <a:ext uri="{FF2B5EF4-FFF2-40B4-BE49-F238E27FC236}">
                <a16:creationId xmlns:a16="http://schemas.microsoft.com/office/drawing/2014/main" id="{F6E5958E-E7A8-8206-F4C3-2DB88B2C8BC3}"/>
              </a:ext>
            </a:extLst>
          </p:cNvPr>
          <p:cNvSpPr txBox="1"/>
          <p:nvPr/>
        </p:nvSpPr>
        <p:spPr>
          <a:xfrm>
            <a:off x="3475592" y="4042391"/>
            <a:ext cx="4895850" cy="280270"/>
          </a:xfrm>
          <a:prstGeom prst="rect">
            <a:avLst/>
          </a:prstGeom>
          <a:noFill/>
        </p:spPr>
        <p:txBody>
          <a:bodyPr wrap="square">
            <a:spAutoFit/>
          </a:bodyPr>
          <a:lstStyle/>
          <a:p>
            <a:pPr algn="ctr">
              <a:lnSpc>
                <a:spcPct val="107000"/>
              </a:lnSpc>
              <a:spcAft>
                <a:spcPts val="8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Fig. 8.1 </a:t>
            </a:r>
            <a:r>
              <a:rPr lang="en-HK" altLang="zh-CN" sz="1200" dirty="0">
                <a:latin typeface="Times New Roman" panose="02020603050405020304" pitchFamily="18" charset="0"/>
                <a:ea typeface="SimSun" panose="02010600030101010101" pitchFamily="2" charset="-122"/>
                <a:cs typeface="Times New Roman" panose="02020603050405020304" pitchFamily="18" charset="0"/>
              </a:rPr>
              <a:t>(a) schematics and (b) psychrometric process of traditional IEC</a:t>
            </a:r>
            <a:endParaRPr lang="zh-CN" altLang="zh-CN" sz="12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1718897" y="4936200"/>
            <a:ext cx="8754206" cy="1209081"/>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When IEC is applied in hot and humid areas, the </a:t>
            </a:r>
            <a:r>
              <a:rPr lang="en-HK" altLang="zh-CN" sz="1600" b="1"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primary air </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humidity is high and the wet-bulb temperature of the </a:t>
            </a:r>
            <a:r>
              <a:rPr lang="en-HK" altLang="zh-CN" sz="1600" b="1"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secondary air (exhaust air)</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 in the air-conditioned space is low, resulting in condensation where the temperature of the plate surface is lower than the dew-point temperature of the primary air.</a:t>
            </a:r>
            <a:br/>
            <a:r>
              <a:rPr sz="1312" lang="zh-CN">
                <a:solidFill>
                  <a:srgbClr val="24425A"/>
                </a:solidFill>
                <a:latin typeface="Times New Roman"/>
                <a:ea typeface="SimSun"/>
                <a:cs typeface="Times New Roman"/>
              </a:rPr>
              <a:t>在湿热地区，一次空气湿度较高，而空调空间排风作为二次空气时，其湿球温度较低。当换热板表面温度低于一次空气露点温度时，一次空气侧会发生冷凝。</a:t>
            </a: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pic>
        <p:nvPicPr>
          <p:cNvPr id="13" name="图片 12">
            <a:extLst>
              <a:ext uri="{FF2B5EF4-FFF2-40B4-BE49-F238E27FC236}">
                <a16:creationId xmlns:a16="http://schemas.microsoft.com/office/drawing/2014/main" id="{52554368-D56A-48DB-BCF5-F219E06A7B6C}"/>
              </a:ext>
            </a:extLst>
          </p:cNvPr>
          <p:cNvPicPr>
            <a:picLocks noChangeAspect="1"/>
          </p:cNvPicPr>
          <p:nvPr/>
        </p:nvPicPr>
        <p:blipFill>
          <a:blip r:embed="rId3"/>
          <a:stretch>
            <a:fillRect/>
          </a:stretch>
        </p:blipFill>
        <p:spPr>
          <a:xfrm>
            <a:off x="1993119" y="1451399"/>
            <a:ext cx="8024576" cy="2549304"/>
          </a:xfrm>
          <a:prstGeom prst="rect">
            <a:avLst/>
          </a:prstGeom>
        </p:spPr>
      </p:pic>
    </p:spTree>
    <p:extLst>
      <p:ext uri="{BB962C8B-B14F-4D97-AF65-F5344CB8AC3E}">
        <p14:creationId xmlns:p14="http://schemas.microsoft.com/office/powerpoint/2010/main" val="40861036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23D1FCB-F41A-4EF6-BB9A-E5E2546B0349}"/>
              </a:ext>
            </a:extLst>
          </p:cNvPr>
          <p:cNvSpPr txBox="1"/>
          <p:nvPr/>
        </p:nvSpPr>
        <p:spPr>
          <a:xfrm>
            <a:off x="478152" y="959032"/>
            <a:ext cx="11142348"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1.3 Research on wettability of secondary air channel </a:t>
            </a:r>
            <a:r>
              <a:rPr sz="1230" lang="zh-CN">
                <a:solidFill>
                  <a:srgbClr val="24425A"/>
                </a:solidFill>
                <a:latin typeface="Times New Roman"/>
                <a:ea typeface="SimSun"/>
                <a:cs typeface="Times New Roman"/>
              </a:rPr>
              <a:t>  二次空气通道的润湿性研究</a:t>
            </a:r>
          </a:p>
        </p:txBody>
      </p:sp>
      <p:sp>
        <p:nvSpPr>
          <p:cNvPr id="7" name="文本框 6">
            <a:extLst>
              <a:ext uri="{FF2B5EF4-FFF2-40B4-BE49-F238E27FC236}">
                <a16:creationId xmlns:a16="http://schemas.microsoft.com/office/drawing/2014/main" id="{F13C73EA-AFF4-4314-A19B-943ED48BE4C5}"/>
              </a:ext>
            </a:extLst>
          </p:cNvPr>
          <p:cNvSpPr txBox="1"/>
          <p:nvPr/>
        </p:nvSpPr>
        <p:spPr>
          <a:xfrm>
            <a:off x="1520346" y="1729825"/>
            <a:ext cx="8824492" cy="1096244"/>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700" dirty="0">
                <a:solidFill>
                  <a:prstClr val="black"/>
                </a:solidFill>
                <a:latin typeface="Times New Roman" panose="02020603050405020304" pitchFamily="18" charset="0"/>
                <a:ea typeface="SimSun"/>
                <a:cs typeface="Times New Roman" panose="02020603050405020304" pitchFamily="18" charset="0"/>
              </a:rPr>
              <a:t>Low water supply               Low wettability and heat &amp; mass transfer</a:t>
            </a:r>
            <a:br/>
            <a:r>
              <a:rPr sz="1394" lang="zh-CN">
                <a:solidFill>
                  <a:srgbClr val="24425A"/>
                </a:solidFill>
                <a:latin typeface="Times New Roman"/>
                <a:ea typeface="SimSun"/>
                <a:cs typeface="Times New Roman"/>
              </a:rPr>
              <a:t>供水量过低 → 润湿不足，传热传质性能下降</a:t>
            </a:r>
          </a:p>
          <a:p>
            <a:pPr marL="285750" indent="-285750" defTabSz="457200" eaLnBrk="1" fontAlgn="auto" hangingPunct="1" algn="l">
              <a:buFont typeface="Arial" panose="020B0604020202020204" pitchFamily="34" charset="0"/>
              <a:buChar char="•"/>
              <a:lnSpc>
                <a:spcPct val="108000"/>
              </a:lnSpc>
              <a:spcAft>
                <a:spcPts val="300"/>
              </a:spcAft>
            </a:pPr>
            <a:r>
              <a:rPr lang="en-HK" sz="1700" dirty="0">
                <a:solidFill>
                  <a:prstClr val="black"/>
                </a:solidFill>
                <a:latin typeface="Times New Roman" panose="02020603050405020304" pitchFamily="18" charset="0"/>
                <a:ea typeface="SimSun"/>
                <a:cs typeface="Times New Roman" panose="02020603050405020304" pitchFamily="18" charset="0"/>
              </a:rPr>
              <a:t>High water supply              Higher film thickness and thermal resistance </a:t>
            </a:r>
            <a:br/>
            <a:r>
              <a:rPr sz="1394" lang="zh-CN">
                <a:solidFill>
                  <a:srgbClr val="24425A"/>
                </a:solidFill>
                <a:latin typeface="Times New Roman"/>
                <a:ea typeface="SimSun"/>
                <a:cs typeface="Times New Roman"/>
              </a:rPr>
              <a:t>供水量过高 → 水膜增厚，传热热阻增大</a:t>
            </a:r>
          </a:p>
        </p:txBody>
      </p:sp>
      <p:sp>
        <p:nvSpPr>
          <p:cNvPr id="9" name="箭头: 右 8">
            <a:extLst>
              <a:ext uri="{FF2B5EF4-FFF2-40B4-BE49-F238E27FC236}">
                <a16:creationId xmlns:a16="http://schemas.microsoft.com/office/drawing/2014/main" id="{5C3AF333-D36D-439E-9EC5-9E2C6211B517}"/>
              </a:ext>
            </a:extLst>
          </p:cNvPr>
          <p:cNvSpPr/>
          <p:nvPr/>
        </p:nvSpPr>
        <p:spPr>
          <a:xfrm>
            <a:off x="3811517" y="1865649"/>
            <a:ext cx="706438" cy="180000"/>
          </a:xfrm>
          <a:prstGeom prst="rightArrow">
            <a:avLst/>
          </a:prstGeom>
          <a:solidFill>
            <a:srgbClr val="C00000"/>
          </a:solidFill>
          <a:ln w="12700" cap="flat" cmpd="sng" algn="ctr">
            <a:solidFill>
              <a:srgbClr val="C00000"/>
            </a:solidFill>
            <a:prstDash val="solid"/>
            <a:miter lim="800000"/>
          </a:ln>
          <a:effectLst/>
        </p:spPr>
        <p:txBody>
          <a:bodyPr wrap="square" anchor="ctr">
            <a:spAutoFit/>
          </a:bodyPr>
          <a:lstStyle>
            <a:lvl1pPr marL="342900" indent="-342900">
              <a:spcBef>
                <a:spcPct val="20000"/>
              </a:spcBef>
              <a:buClr>
                <a:schemeClr val="folHlink"/>
              </a:buClr>
              <a:buSzPct val="90000"/>
              <a:buFont typeface="Wingdings" panose="05000000000000000000" pitchFamily="2" charset="2"/>
              <a:buBlip>
                <a:blip r:embed="rId3"/>
              </a:buBlip>
              <a:defRPr sz="3600" b="1">
                <a:solidFill>
                  <a:schemeClr val="tx1"/>
                </a:solidFill>
                <a:latin typeface="Times New Roman"/>
                <a:ea typeface="SimSun" pitchFamily="34" charset="-122"/>
                <a:cs typeface="Times New Roman"/>
              </a:defRPr>
            </a:lvl1pPr>
            <a:lvl2pPr marL="742950" indent="-285750">
              <a:spcBef>
                <a:spcPct val="20000"/>
              </a:spcBef>
              <a:buClr>
                <a:schemeClr val="hlink"/>
              </a:buClr>
              <a:buSzPct val="90000"/>
              <a:buFont typeface="Wingdings" panose="05000000000000000000" pitchFamily="2" charset="2"/>
              <a:buBlip>
                <a:blip r:embed="rId4"/>
              </a:buBlip>
              <a:defRPr sz="2800">
                <a:solidFill>
                  <a:schemeClr val="tx1"/>
                </a:solidFill>
                <a:latin typeface="Times New Roman"/>
                <a:ea typeface="SimSun" pitchFamily="34" charset="-122"/>
                <a:cs typeface="Times New Roman"/>
              </a:defRPr>
            </a:lvl2pPr>
            <a:lvl3pPr marL="1143000" indent="-228600">
              <a:spcBef>
                <a:spcPct val="20000"/>
              </a:spcBef>
              <a:buClr>
                <a:schemeClr val="folHlink"/>
              </a:buClr>
              <a:buSzPct val="90000"/>
              <a:buFont typeface="Wingdings" panose="05000000000000000000" pitchFamily="2" charset="2"/>
              <a:buBlip>
                <a:blip r:embed="rId5"/>
              </a:buBlip>
              <a:defRPr sz="2400">
                <a:solidFill>
                  <a:schemeClr val="tx1"/>
                </a:solidFill>
                <a:latin typeface="Times New Roman"/>
                <a:ea typeface="SimSun" pitchFamily="34" charset="-122"/>
                <a:cs typeface="Times New Roman"/>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a:ea typeface="SimSun" pitchFamily="34" charset="-122"/>
                <a:cs typeface="Times New Roman"/>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9pPr>
          </a:lstStyle>
          <a:p>
            <a:pPr algn="ctr" defTabSz="457200" eaLnBrk="1" fontAlgn="auto" hangingPunct="1">
              <a:spcBef>
                <a:spcPct val="0"/>
              </a:spcBef>
              <a:spcAft>
                <a:spcPts val="0"/>
              </a:spcAft>
              <a:buClrTx/>
              <a:buSzTx/>
              <a:buFont typeface="Wingdings" panose="05000000000000000000" pitchFamily="2" charset="2"/>
              <a:buChar char="Ø"/>
              <a:defRPr>
                <a:latin typeface="Times New Roman"/>
                <a:ea typeface="SimSun"/>
                <a:cs typeface="Times New Roman"/>
              </a:defRPr>
            </a:pPr>
            <a:endParaRPr lang="en-HK" altLang="en-US" sz="2400" b="0" i="1" kern="0" dirty="0">
              <a:solidFill>
                <a:srgbClr val="000000"/>
              </a:solidFill>
              <a:latin typeface="Times New Roman" panose="02020603050405020304" pitchFamily="18" charset="0"/>
              <a:ea typeface="SimSun" panose="02010600030101010101" pitchFamily="2" charset="-122"/>
              <a:cs typeface="Times New Roman"/>
            </a:endParaRPr>
          </a:p>
        </p:txBody>
      </p:sp>
      <p:pic>
        <p:nvPicPr>
          <p:cNvPr id="10" name="图片 9">
            <a:extLst>
              <a:ext uri="{FF2B5EF4-FFF2-40B4-BE49-F238E27FC236}">
                <a16:creationId xmlns:a16="http://schemas.microsoft.com/office/drawing/2014/main" id="{145283EF-9DC4-4754-A67B-07468085ABBF}"/>
              </a:ext>
            </a:extLst>
          </p:cNvPr>
          <p:cNvPicPr>
            <a:picLocks noChangeAspect="1"/>
          </p:cNvPicPr>
          <p:nvPr/>
        </p:nvPicPr>
        <p:blipFill rotWithShape="1">
          <a:blip r:embed="rId6">
            <a:extLst>
              <a:ext uri="{28A0092B-C50C-407E-A947-70E740481C1C}">
                <a14:useLocalDpi xmlns:a14="http://schemas.microsoft.com/office/drawing/2010/main" val="0"/>
              </a:ext>
            </a:extLst>
          </a:blip>
          <a:srcRect r="39584"/>
          <a:stretch/>
        </p:blipFill>
        <p:spPr>
          <a:xfrm>
            <a:off x="1744725" y="3119572"/>
            <a:ext cx="3505958" cy="1402933"/>
          </a:xfrm>
          <a:prstGeom prst="rect">
            <a:avLst/>
          </a:prstGeom>
        </p:spPr>
      </p:pic>
      <p:sp>
        <p:nvSpPr>
          <p:cNvPr id="11" name="矩形 10">
            <a:extLst>
              <a:ext uri="{FF2B5EF4-FFF2-40B4-BE49-F238E27FC236}">
                <a16:creationId xmlns:a16="http://schemas.microsoft.com/office/drawing/2014/main" id="{CAA5E4BC-7257-4E7D-B55A-5E7F7A558561}"/>
              </a:ext>
            </a:extLst>
          </p:cNvPr>
          <p:cNvSpPr/>
          <p:nvPr/>
        </p:nvSpPr>
        <p:spPr>
          <a:xfrm>
            <a:off x="6259409" y="2665506"/>
            <a:ext cx="2321469" cy="521208"/>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400" dirty="0">
                <a:solidFill>
                  <a:prstClr val="black"/>
                </a:solidFill>
                <a:latin typeface="Times New Roman" panose="02020603050405020304" pitchFamily="18" charset="0"/>
                <a:ea typeface="SimSun"/>
                <a:cs typeface="Times New Roman" panose="02020603050405020304" pitchFamily="18" charset="0"/>
              </a:rPr>
              <a:t>Air flow direction</a:t>
            </a:r>
            <a:r>
              <a:rPr sz="1148" lang="zh-CN">
                <a:solidFill>
                  <a:srgbClr val="24425A"/>
                </a:solidFill>
                <a:latin typeface="Times New Roman"/>
                <a:ea typeface="SimSun"/>
                <a:cs typeface="Times New Roman"/>
              </a:rPr>
              <a:t>  气流方向</a:t>
            </a:r>
          </a:p>
        </p:txBody>
      </p:sp>
      <p:pic>
        <p:nvPicPr>
          <p:cNvPr id="12" name="图片 11">
            <a:extLst>
              <a:ext uri="{FF2B5EF4-FFF2-40B4-BE49-F238E27FC236}">
                <a16:creationId xmlns:a16="http://schemas.microsoft.com/office/drawing/2014/main" id="{53D0933D-9024-4FB6-9D0B-438AE4E2C6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70773" y="3234971"/>
            <a:ext cx="5293392" cy="2493211"/>
          </a:xfrm>
          <a:prstGeom prst="rect">
            <a:avLst/>
          </a:prstGeom>
        </p:spPr>
      </p:pic>
      <p:pic>
        <p:nvPicPr>
          <p:cNvPr id="13" name="图片 12">
            <a:extLst>
              <a:ext uri="{FF2B5EF4-FFF2-40B4-BE49-F238E27FC236}">
                <a16:creationId xmlns:a16="http://schemas.microsoft.com/office/drawing/2014/main" id="{F8E1EDF5-DB63-43BD-9B4E-4ECD2AB65D20}"/>
              </a:ext>
            </a:extLst>
          </p:cNvPr>
          <p:cNvPicPr>
            <a:picLocks noChangeAspect="1"/>
          </p:cNvPicPr>
          <p:nvPr/>
        </p:nvPicPr>
        <p:blipFill rotWithShape="1">
          <a:blip r:embed="rId6">
            <a:extLst>
              <a:ext uri="{28A0092B-C50C-407E-A947-70E740481C1C}">
                <a14:useLocalDpi xmlns:a14="http://schemas.microsoft.com/office/drawing/2010/main" val="0"/>
              </a:ext>
            </a:extLst>
          </a:blip>
          <a:srcRect l="60117"/>
          <a:stretch/>
        </p:blipFill>
        <p:spPr>
          <a:xfrm>
            <a:off x="2203521" y="4481577"/>
            <a:ext cx="2314434" cy="1402933"/>
          </a:xfrm>
          <a:prstGeom prst="rect">
            <a:avLst/>
          </a:prstGeom>
        </p:spPr>
      </p:pic>
      <p:sp>
        <p:nvSpPr>
          <p:cNvPr id="14" name="矩形 13">
            <a:extLst>
              <a:ext uri="{FF2B5EF4-FFF2-40B4-BE49-F238E27FC236}">
                <a16:creationId xmlns:a16="http://schemas.microsoft.com/office/drawing/2014/main" id="{1660984A-5705-45EB-800B-BE30FF291B07}"/>
              </a:ext>
            </a:extLst>
          </p:cNvPr>
          <p:cNvSpPr/>
          <p:nvPr/>
        </p:nvSpPr>
        <p:spPr>
          <a:xfrm>
            <a:off x="1291291" y="5909414"/>
            <a:ext cx="3782254"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Fig.1.3.1 </a:t>
            </a:r>
            <a:r>
              <a:rPr lang="en-HK" sz="1200" dirty="0">
                <a:solidFill>
                  <a:prstClr val="black"/>
                </a:solidFill>
                <a:latin typeface="Times New Roman" panose="02020603050405020304" pitchFamily="18" charset="0"/>
                <a:ea typeface="SimSun"/>
                <a:cs typeface="Times New Roman" panose="02020603050405020304" pitchFamily="18" charset="0"/>
              </a:rPr>
              <a:t>Plate with different pitch or protrusion geometry</a:t>
            </a:r>
          </a:p>
        </p:txBody>
      </p:sp>
      <p:sp>
        <p:nvSpPr>
          <p:cNvPr id="15" name="矩形 14">
            <a:extLst>
              <a:ext uri="{FF2B5EF4-FFF2-40B4-BE49-F238E27FC236}">
                <a16:creationId xmlns:a16="http://schemas.microsoft.com/office/drawing/2014/main" id="{FC5F9486-09F4-4DE1-A107-43036D5C7A83}"/>
              </a:ext>
            </a:extLst>
          </p:cNvPr>
          <p:cNvSpPr/>
          <p:nvPr/>
        </p:nvSpPr>
        <p:spPr>
          <a:xfrm>
            <a:off x="6827975" y="5909414"/>
            <a:ext cx="3157531"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Fig.1.3.2 </a:t>
            </a:r>
            <a:r>
              <a:rPr lang="en-HK" sz="1200" dirty="0">
                <a:solidFill>
                  <a:prstClr val="black"/>
                </a:solidFill>
                <a:latin typeface="Times New Roman" panose="02020603050405020304" pitchFamily="18" charset="0"/>
                <a:ea typeface="SimSun"/>
                <a:cs typeface="Times New Roman" panose="02020603050405020304" pitchFamily="18" charset="0"/>
              </a:rPr>
              <a:t>Scheme of Top and Side configuration</a:t>
            </a:r>
          </a:p>
        </p:txBody>
      </p:sp>
      <p:sp>
        <p:nvSpPr>
          <p:cNvPr id="20" name="矩形 19">
            <a:extLst>
              <a:ext uri="{FF2B5EF4-FFF2-40B4-BE49-F238E27FC236}">
                <a16:creationId xmlns:a16="http://schemas.microsoft.com/office/drawing/2014/main" id="{C32FA8AC-8E88-4DAB-A20C-C129DA0584AD}"/>
              </a:ext>
            </a:extLst>
          </p:cNvPr>
          <p:cNvSpPr/>
          <p:nvPr/>
        </p:nvSpPr>
        <p:spPr>
          <a:xfrm>
            <a:off x="1959006" y="6259757"/>
            <a:ext cx="8534263" cy="400110"/>
          </a:xfrm>
          <a:prstGeom prst="rect">
            <a:avLst/>
          </a:prstGeom>
        </p:spPr>
        <p:txBody>
          <a:bodyPr wrap="square">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Effect of plates coating on performance of an indirect evaporative cooling system. 2019;</a:t>
            </a:r>
          </a:p>
          <a:p>
            <a:pPr algn="ctr" defTabSz="457200" eaLnBrk="1" fontAlgn="auto" hangingPunct="1">
              <a:spcAft>
                <a:spcPts val="0"/>
              </a:spcAft>
            </a:pP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Effect of heat exchanger plates geometry on performance of an indirect evaporative cooling system, 2020</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18" name="矩形 17">
            <a:extLst>
              <a:ext uri="{FF2B5EF4-FFF2-40B4-BE49-F238E27FC236}">
                <a16:creationId xmlns:a16="http://schemas.microsoft.com/office/drawing/2014/main" id="{8A51D581-844B-4922-B4E6-85A9AAF4D125}"/>
              </a:ext>
            </a:extLst>
          </p:cNvPr>
          <p:cNvSpPr/>
          <p:nvPr/>
        </p:nvSpPr>
        <p:spPr>
          <a:xfrm>
            <a:off x="1170411" y="2666384"/>
            <a:ext cx="1943161" cy="40011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050" dirty="0">
                <a:solidFill>
                  <a:prstClr val="black"/>
                </a:solidFill>
                <a:latin typeface="Times New Roman" panose="02020603050405020304" pitchFamily="18" charset="0"/>
                <a:ea typeface="SimSun"/>
                <a:cs typeface="Times New Roman" panose="02020603050405020304" pitchFamily="18" charset="0"/>
              </a:rPr>
              <a:t>Plate structure</a:t>
            </a:r>
            <a:r>
              <a:rPr sz="861" lang="zh-CN">
                <a:solidFill>
                  <a:srgbClr val="24425A"/>
                </a:solidFill>
                <a:latin typeface="Times New Roman"/>
                <a:ea typeface="SimSun"/>
                <a:cs typeface="Times New Roman"/>
              </a:rPr>
              <a:t>  换热板结构</a:t>
            </a:r>
          </a:p>
        </p:txBody>
      </p:sp>
      <p:sp>
        <p:nvSpPr>
          <p:cNvPr id="21" name="矩形 20">
            <a:extLst>
              <a:ext uri="{FF2B5EF4-FFF2-40B4-BE49-F238E27FC236}">
                <a16:creationId xmlns:a16="http://schemas.microsoft.com/office/drawing/2014/main" id="{78281F5F-93D5-4DAE-A76D-59CFFE3A72BB}"/>
              </a:ext>
            </a:extLst>
          </p:cNvPr>
          <p:cNvSpPr/>
          <p:nvPr/>
        </p:nvSpPr>
        <p:spPr>
          <a:xfrm>
            <a:off x="1170411" y="1321706"/>
            <a:ext cx="1824859" cy="40011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100" dirty="0">
                <a:solidFill>
                  <a:prstClr val="black"/>
                </a:solidFill>
                <a:latin typeface="Times New Roman" panose="02020603050405020304" pitchFamily="18" charset="0"/>
                <a:ea typeface="SimSun"/>
                <a:cs typeface="Times New Roman" panose="02020603050405020304" pitchFamily="18" charset="0"/>
              </a:rPr>
              <a:t>Water supply</a:t>
            </a:r>
            <a:r>
              <a:rPr sz="902" lang="zh-CN">
                <a:solidFill>
                  <a:srgbClr val="24425A"/>
                </a:solidFill>
                <a:latin typeface="Times New Roman"/>
                <a:ea typeface="SimSun"/>
                <a:cs typeface="Times New Roman"/>
              </a:rPr>
              <a:t>  供水方式</a:t>
            </a:r>
          </a:p>
        </p:txBody>
      </p:sp>
      <p:sp>
        <p:nvSpPr>
          <p:cNvPr id="2" name="灯片编号占位符 1">
            <a:extLst>
              <a:ext uri="{FF2B5EF4-FFF2-40B4-BE49-F238E27FC236}">
                <a16:creationId xmlns:a16="http://schemas.microsoft.com/office/drawing/2014/main" id="{C4D37DC7-6603-45E5-9710-38C89138650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7</a:t>
            </a:fld>
            <a:endParaRPr lang="en-US" altLang="zh-CN" dirty="0">
              <a:latin typeface="Times New Roman"/>
              <a:ea typeface="SimSun"/>
              <a:cs typeface="Times New Roman"/>
            </a:endParaRPr>
          </a:p>
        </p:txBody>
      </p:sp>
      <p:sp>
        <p:nvSpPr>
          <p:cNvPr id="19" name="Title 8">
            <a:extLst>
              <a:ext uri="{FF2B5EF4-FFF2-40B4-BE49-F238E27FC236}">
                <a16:creationId xmlns:a16="http://schemas.microsoft.com/office/drawing/2014/main" id="{14AC1D15-B791-4138-A6A6-DE4BF26CBA81}"/>
              </a:ext>
            </a:extLst>
          </p:cNvPr>
          <p:cNvSpPr txBox="1">
            <a:spLocks/>
          </p:cNvSpPr>
          <p:nvPr/>
        </p:nvSpPr>
        <p:spPr bwMode="auto">
          <a:xfrm>
            <a:off x="960120" y="91440"/>
            <a:ext cx="7360920" cy="566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tIns="0" bIns="0"/>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lnSpc>
                <a:spcPct val="100000"/>
              </a:lnSpc>
            </a:pPr>
            <a:r>
              <a:rPr lang="en-US" b="1" dirty="0" sz="200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lnSpc>
                <a:spcPct val="100000"/>
              </a:lnSpc>
            </a:pPr>
            <a:endParaRPr lang="en-US" sz="2000" b="1" dirty="0">
              <a:solidFill>
                <a:srgbClr val="000000"/>
              </a:solidFill>
              <a:latin typeface="Times New Roman"/>
              <a:ea typeface="SimSun"/>
              <a:cs typeface="Times New Roman" charset="0"/>
            </a:endParaRPr>
          </a:p>
        </p:txBody>
      </p:sp>
      <p:sp>
        <p:nvSpPr>
          <p:cNvPr id="22" name="箭头: 右 21">
            <a:extLst>
              <a:ext uri="{FF2B5EF4-FFF2-40B4-BE49-F238E27FC236}">
                <a16:creationId xmlns:a16="http://schemas.microsoft.com/office/drawing/2014/main" id="{08250E77-0F66-4150-93A9-601564A34DE7}"/>
              </a:ext>
            </a:extLst>
          </p:cNvPr>
          <p:cNvSpPr/>
          <p:nvPr/>
        </p:nvSpPr>
        <p:spPr>
          <a:xfrm>
            <a:off x="3811517" y="2161942"/>
            <a:ext cx="706438" cy="180000"/>
          </a:xfrm>
          <a:prstGeom prst="rightArrow">
            <a:avLst/>
          </a:prstGeom>
          <a:solidFill>
            <a:srgbClr val="C00000"/>
          </a:solidFill>
          <a:ln w="12700" cap="flat" cmpd="sng" algn="ctr">
            <a:solidFill>
              <a:srgbClr val="C00000"/>
            </a:solidFill>
            <a:prstDash val="solid"/>
            <a:miter lim="800000"/>
          </a:ln>
          <a:effectLst/>
        </p:spPr>
        <p:txBody>
          <a:bodyPr wrap="square" anchor="ctr">
            <a:spAutoFit/>
          </a:bodyPr>
          <a:lstStyle>
            <a:lvl1pPr marL="342900" indent="-342900">
              <a:spcBef>
                <a:spcPct val="20000"/>
              </a:spcBef>
              <a:buClr>
                <a:schemeClr val="folHlink"/>
              </a:buClr>
              <a:buSzPct val="90000"/>
              <a:buFont typeface="Wingdings" panose="05000000000000000000" pitchFamily="2" charset="2"/>
              <a:buBlip>
                <a:blip r:embed="rId3"/>
              </a:buBlip>
              <a:defRPr sz="3600" b="1">
                <a:solidFill>
                  <a:schemeClr val="tx1"/>
                </a:solidFill>
                <a:latin typeface="Times New Roman"/>
                <a:ea typeface="SimSun" pitchFamily="34" charset="-122"/>
                <a:cs typeface="Times New Roman"/>
              </a:defRPr>
            </a:lvl1pPr>
            <a:lvl2pPr marL="742950" indent="-285750">
              <a:spcBef>
                <a:spcPct val="20000"/>
              </a:spcBef>
              <a:buClr>
                <a:schemeClr val="hlink"/>
              </a:buClr>
              <a:buSzPct val="90000"/>
              <a:buFont typeface="Wingdings" panose="05000000000000000000" pitchFamily="2" charset="2"/>
              <a:buBlip>
                <a:blip r:embed="rId4"/>
              </a:buBlip>
              <a:defRPr sz="2800">
                <a:solidFill>
                  <a:schemeClr val="tx1"/>
                </a:solidFill>
                <a:latin typeface="Times New Roman"/>
                <a:ea typeface="SimSun" pitchFamily="34" charset="-122"/>
                <a:cs typeface="Times New Roman"/>
              </a:defRPr>
            </a:lvl2pPr>
            <a:lvl3pPr marL="1143000" indent="-228600">
              <a:spcBef>
                <a:spcPct val="20000"/>
              </a:spcBef>
              <a:buClr>
                <a:schemeClr val="folHlink"/>
              </a:buClr>
              <a:buSzPct val="90000"/>
              <a:buFont typeface="Wingdings" panose="05000000000000000000" pitchFamily="2" charset="2"/>
              <a:buBlip>
                <a:blip r:embed="rId5"/>
              </a:buBlip>
              <a:defRPr sz="2400">
                <a:solidFill>
                  <a:schemeClr val="tx1"/>
                </a:solidFill>
                <a:latin typeface="Times New Roman"/>
                <a:ea typeface="SimSun" pitchFamily="34" charset="-122"/>
                <a:cs typeface="Times New Roman"/>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a:ea typeface="SimSun" pitchFamily="34" charset="-122"/>
                <a:cs typeface="Times New Roman"/>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9pPr>
          </a:lstStyle>
          <a:p>
            <a:pPr algn="ctr" defTabSz="457200" eaLnBrk="1" fontAlgn="auto" hangingPunct="1">
              <a:spcBef>
                <a:spcPct val="0"/>
              </a:spcBef>
              <a:spcAft>
                <a:spcPts val="0"/>
              </a:spcAft>
              <a:buClrTx/>
              <a:buSzTx/>
              <a:buFont typeface="Wingdings" panose="05000000000000000000" pitchFamily="2" charset="2"/>
              <a:buChar char="Ø"/>
              <a:defRPr>
                <a:latin typeface="Times New Roman"/>
                <a:ea typeface="SimSun"/>
                <a:cs typeface="Times New Roman"/>
              </a:defRPr>
            </a:pPr>
            <a:endParaRPr lang="en-HK" altLang="en-US" sz="2400" b="0" i="1" kern="0" dirty="0">
              <a:solidFill>
                <a:srgbClr val="000000"/>
              </a:solidFill>
              <a:latin typeface="Times New Roman" panose="02020603050405020304" pitchFamily="18" charset="0"/>
              <a:ea typeface="SimSun" panose="02010600030101010101" pitchFamily="2" charset="-122"/>
              <a:cs typeface="Times New Roman"/>
            </a:endParaRPr>
          </a:p>
        </p:txBody>
      </p:sp>
      <p:sp>
        <p:nvSpPr>
          <p:cNvPr id="23"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研究背景与文献综述</a:t>
            </a:r>
          </a:p>
        </p:txBody>
      </p:sp>
    </p:spTree>
    <p:extLst>
      <p:ext uri="{BB962C8B-B14F-4D97-AF65-F5344CB8AC3E}">
        <p14:creationId xmlns:p14="http://schemas.microsoft.com/office/powerpoint/2010/main" val="43298232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564FF9B8-0D28-4CAC-A562-6424332E77C7}"/>
              </a:ext>
            </a:extLst>
          </p:cNvPr>
          <p:cNvPicPr>
            <a:picLocks noChangeAspect="1"/>
          </p:cNvPicPr>
          <p:nvPr/>
        </p:nvPicPr>
        <p:blipFill>
          <a:blip r:embed="rId3"/>
          <a:stretch>
            <a:fillRect/>
          </a:stretch>
        </p:blipFill>
        <p:spPr>
          <a:xfrm>
            <a:off x="6362621" y="1721279"/>
            <a:ext cx="4919082" cy="4222913"/>
          </a:xfrm>
          <a:prstGeom prst="rect">
            <a:avLst/>
          </a:prstGeom>
        </p:spPr>
      </p:pic>
      <p:sp>
        <p:nvSpPr>
          <p:cNvPr id="6" name="文本框 5">
            <a:extLst>
              <a:ext uri="{FF2B5EF4-FFF2-40B4-BE49-F238E27FC236}">
                <a16:creationId xmlns:a16="http://schemas.microsoft.com/office/drawing/2014/main" id="{372D5F79-9D0A-411C-A040-152CF80DB7FC}"/>
              </a:ext>
            </a:extLst>
          </p:cNvPr>
          <p:cNvSpPr txBox="1"/>
          <p:nvPr/>
        </p:nvSpPr>
        <p:spPr>
          <a:xfrm>
            <a:off x="775066" y="930300"/>
            <a:ext cx="7893439" cy="400110"/>
          </a:xfrm>
          <a:prstGeom prst="rect">
            <a:avLst/>
          </a:prstGeom>
          <a:noFill/>
        </p:spPr>
        <p:txBody>
          <a:bodyPr wrap="square" rtlCol="0"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700" dirty="0">
                <a:solidFill>
                  <a:prstClr val="black"/>
                </a:solidFill>
                <a:latin typeface="Times New Roman" panose="02020603050405020304" pitchFamily="18" charset="0"/>
                <a:ea typeface="SimSun"/>
                <a:cs typeface="Times New Roman" panose="02020603050405020304" pitchFamily="18" charset="0"/>
              </a:rPr>
              <a:t>Water spray nozzle</a:t>
            </a:r>
            <a:r>
              <a:rPr sz="1394" lang="zh-CN">
                <a:solidFill>
                  <a:srgbClr val="24425A"/>
                </a:solidFill>
                <a:latin typeface="Times New Roman"/>
                <a:ea typeface="SimSun"/>
                <a:cs typeface="Times New Roman"/>
              </a:rPr>
              <a:t>  喷淋喷嘴</a:t>
            </a:r>
          </a:p>
        </p:txBody>
      </p:sp>
      <p:pic>
        <p:nvPicPr>
          <p:cNvPr id="7" name="图片 6">
            <a:extLst>
              <a:ext uri="{FF2B5EF4-FFF2-40B4-BE49-F238E27FC236}">
                <a16:creationId xmlns:a16="http://schemas.microsoft.com/office/drawing/2014/main" id="{B35B12EB-A562-42F7-84F4-D83D5AC6A9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8961" y="1660828"/>
            <a:ext cx="2895890" cy="1476822"/>
          </a:xfrm>
          <a:prstGeom prst="rect">
            <a:avLst/>
          </a:prstGeom>
        </p:spPr>
      </p:pic>
      <p:sp>
        <p:nvSpPr>
          <p:cNvPr id="8" name="文本框 7">
            <a:extLst>
              <a:ext uri="{FF2B5EF4-FFF2-40B4-BE49-F238E27FC236}">
                <a16:creationId xmlns:a16="http://schemas.microsoft.com/office/drawing/2014/main" id="{CFEA6F62-D93B-4DE6-B8E2-1D5C6626D810}"/>
              </a:ext>
            </a:extLst>
          </p:cNvPr>
          <p:cNvSpPr txBox="1"/>
          <p:nvPr/>
        </p:nvSpPr>
        <p:spPr>
          <a:xfrm>
            <a:off x="906767" y="1260718"/>
            <a:ext cx="1931684" cy="400110"/>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Arrangement</a:t>
            </a:r>
            <a:r>
              <a:rPr sz="984" lang="zh-CN">
                <a:solidFill>
                  <a:srgbClr val="24425A"/>
                </a:solidFill>
                <a:latin typeface="Times New Roman"/>
                <a:ea typeface="SimSun"/>
                <a:cs typeface="Times New Roman"/>
              </a:rPr>
              <a:t>  布置方式</a:t>
            </a:r>
          </a:p>
        </p:txBody>
      </p:sp>
      <p:sp>
        <p:nvSpPr>
          <p:cNvPr id="9" name="文本框 8">
            <a:extLst>
              <a:ext uri="{FF2B5EF4-FFF2-40B4-BE49-F238E27FC236}">
                <a16:creationId xmlns:a16="http://schemas.microsoft.com/office/drawing/2014/main" id="{9E4AB835-1458-4B7E-86C3-561D053D893C}"/>
              </a:ext>
            </a:extLst>
          </p:cNvPr>
          <p:cNvSpPr txBox="1"/>
          <p:nvPr/>
        </p:nvSpPr>
        <p:spPr>
          <a:xfrm>
            <a:off x="910297" y="3343277"/>
            <a:ext cx="1223046" cy="611124"/>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700" dirty="0">
                <a:solidFill>
                  <a:prstClr val="black"/>
                </a:solidFill>
                <a:latin typeface="Times New Roman" panose="02020603050405020304" pitchFamily="18" charset="0"/>
                <a:ea typeface="SimSun"/>
                <a:cs typeface="Times New Roman" panose="02020603050405020304" pitchFamily="18" charset="0"/>
              </a:rPr>
              <a:t>T</a:t>
            </a:r>
            <a:r>
              <a:rPr lang="en-US" altLang="zh-CN" sz="1700" dirty="0" err="1">
                <a:solidFill>
                  <a:prstClr val="black"/>
                </a:solidFill>
                <a:latin typeface="Times New Roman" panose="02020603050405020304" pitchFamily="18" charset="0"/>
                <a:ea typeface="SimSun"/>
                <a:cs typeface="Times New Roman" panose="02020603050405020304" pitchFamily="18" charset="0"/>
              </a:rPr>
              <a:t>ypes</a:t>
            </a:r>
            <a:r>
              <a:rPr sz="1394" lang="zh-CN">
                <a:solidFill>
                  <a:srgbClr val="24425A"/>
                </a:solidFill>
                <a:latin typeface="Times New Roman"/>
                <a:ea typeface="SimSun"/>
                <a:cs typeface="Times New Roman"/>
              </a:rPr>
              <a:t>  喷嘴类型</a:t>
            </a:r>
          </a:p>
        </p:txBody>
      </p:sp>
      <p:pic>
        <p:nvPicPr>
          <p:cNvPr id="10" name="图片 9">
            <a:extLst>
              <a:ext uri="{FF2B5EF4-FFF2-40B4-BE49-F238E27FC236}">
                <a16:creationId xmlns:a16="http://schemas.microsoft.com/office/drawing/2014/main" id="{DBD39E2F-B5DF-4E80-A0FD-4E702CDC2B66}"/>
              </a:ext>
            </a:extLst>
          </p:cNvPr>
          <p:cNvPicPr>
            <a:picLocks noChangeAspect="1"/>
          </p:cNvPicPr>
          <p:nvPr/>
        </p:nvPicPr>
        <p:blipFill rotWithShape="1">
          <a:blip r:embed="rId5">
            <a:extLst>
              <a:ext uri="{28A0092B-C50C-407E-A947-70E740481C1C}">
                <a14:useLocalDpi xmlns:a14="http://schemas.microsoft.com/office/drawing/2010/main" val="0"/>
              </a:ext>
            </a:extLst>
          </a:blip>
          <a:srcRect r="41511"/>
          <a:stretch/>
        </p:blipFill>
        <p:spPr>
          <a:xfrm>
            <a:off x="1652249" y="3700825"/>
            <a:ext cx="2947537" cy="1259872"/>
          </a:xfrm>
          <a:prstGeom prst="rect">
            <a:avLst/>
          </a:prstGeom>
        </p:spPr>
      </p:pic>
      <p:pic>
        <p:nvPicPr>
          <p:cNvPr id="11" name="图片 10">
            <a:extLst>
              <a:ext uri="{FF2B5EF4-FFF2-40B4-BE49-F238E27FC236}">
                <a16:creationId xmlns:a16="http://schemas.microsoft.com/office/drawing/2014/main" id="{A6BE8FC5-02EE-4E51-ACCA-994E65E01EFB}"/>
              </a:ext>
            </a:extLst>
          </p:cNvPr>
          <p:cNvPicPr>
            <a:picLocks noChangeAspect="1"/>
          </p:cNvPicPr>
          <p:nvPr/>
        </p:nvPicPr>
        <p:blipFill rotWithShape="1">
          <a:blip r:embed="rId5">
            <a:extLst>
              <a:ext uri="{28A0092B-C50C-407E-A947-70E740481C1C}">
                <a14:useLocalDpi xmlns:a14="http://schemas.microsoft.com/office/drawing/2010/main" val="0"/>
              </a:ext>
            </a:extLst>
          </a:blip>
          <a:srcRect l="58833"/>
          <a:stretch/>
        </p:blipFill>
        <p:spPr>
          <a:xfrm>
            <a:off x="2014867" y="5030651"/>
            <a:ext cx="1995091" cy="1211580"/>
          </a:xfrm>
          <a:prstGeom prst="rect">
            <a:avLst/>
          </a:prstGeom>
        </p:spPr>
      </p:pic>
      <p:sp>
        <p:nvSpPr>
          <p:cNvPr id="12" name="矩形 11">
            <a:extLst>
              <a:ext uri="{FF2B5EF4-FFF2-40B4-BE49-F238E27FC236}">
                <a16:creationId xmlns:a16="http://schemas.microsoft.com/office/drawing/2014/main" id="{75E41081-C36A-4D1C-AECE-41C93056FDE2}"/>
              </a:ext>
            </a:extLst>
          </p:cNvPr>
          <p:cNvSpPr/>
          <p:nvPr/>
        </p:nvSpPr>
        <p:spPr>
          <a:xfrm>
            <a:off x="1372956" y="3126651"/>
            <a:ext cx="3278911" cy="461665"/>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Fig.1.3.3 </a:t>
            </a:r>
            <a:r>
              <a:rPr lang="en-HK" sz="1200" dirty="0">
                <a:solidFill>
                  <a:prstClr val="black"/>
                </a:solidFill>
                <a:latin typeface="Times New Roman" panose="02020603050405020304" pitchFamily="18" charset="0"/>
                <a:ea typeface="SimSun"/>
                <a:cs typeface="Times New Roman" panose="02020603050405020304" pitchFamily="18" charset="0"/>
              </a:rPr>
              <a:t>The photos of water distribution effect</a:t>
            </a:r>
            <a:r>
              <a:rPr lang="en-US" sz="1200" baseline="30000" dirty="0">
                <a:solidFill>
                  <a:prstClr val="black"/>
                </a:solidFill>
                <a:latin typeface="Times New Roman" panose="02020603050405020304" pitchFamily="18" charset="0"/>
                <a:ea typeface="SimSun"/>
                <a:cs typeface="Times New Roman" panose="02020603050405020304" pitchFamily="18" charset="0"/>
              </a:rPr>
              <a:t>[1]</a:t>
            </a:r>
            <a:endParaRPr lang="en-HK" sz="1200"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13" name="矩形 12">
            <a:extLst>
              <a:ext uri="{FF2B5EF4-FFF2-40B4-BE49-F238E27FC236}">
                <a16:creationId xmlns:a16="http://schemas.microsoft.com/office/drawing/2014/main" id="{8E7CFE02-F62C-43D5-B3A7-84E54DB6610B}"/>
              </a:ext>
            </a:extLst>
          </p:cNvPr>
          <p:cNvSpPr/>
          <p:nvPr/>
        </p:nvSpPr>
        <p:spPr>
          <a:xfrm>
            <a:off x="1460500" y="6210354"/>
            <a:ext cx="3541354" cy="461665"/>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Fig.1.3.4 </a:t>
            </a:r>
            <a:r>
              <a:rPr lang="en-HK" sz="1200" dirty="0">
                <a:solidFill>
                  <a:prstClr val="black"/>
                </a:solidFill>
                <a:latin typeface="Times New Roman" panose="02020603050405020304" pitchFamily="18" charset="0"/>
                <a:ea typeface="SimSun"/>
                <a:cs typeface="Times New Roman" panose="02020603050405020304" pitchFamily="18" charset="0"/>
              </a:rPr>
              <a:t>Five types of commonly used spray nozzle</a:t>
            </a:r>
            <a:r>
              <a:rPr lang="en-US" sz="1200" baseline="30000" dirty="0">
                <a:solidFill>
                  <a:prstClr val="black"/>
                </a:solidFill>
                <a:latin typeface="Times New Roman" panose="02020603050405020304" pitchFamily="18" charset="0"/>
                <a:ea typeface="SimSun"/>
                <a:cs typeface="Times New Roman" panose="02020603050405020304" pitchFamily="18" charset="0"/>
              </a:rPr>
              <a:t>[1]</a:t>
            </a:r>
            <a:endParaRPr lang="en-HK" sz="1200"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14" name="矩形 13">
            <a:extLst>
              <a:ext uri="{FF2B5EF4-FFF2-40B4-BE49-F238E27FC236}">
                <a16:creationId xmlns:a16="http://schemas.microsoft.com/office/drawing/2014/main" id="{C8350991-79F4-40F0-BD4B-2486795F9C6A}"/>
              </a:ext>
            </a:extLst>
          </p:cNvPr>
          <p:cNvSpPr/>
          <p:nvPr/>
        </p:nvSpPr>
        <p:spPr>
          <a:xfrm>
            <a:off x="6637653" y="5935438"/>
            <a:ext cx="4369017"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Fig.1.3.5 </a:t>
            </a:r>
            <a:r>
              <a:rPr lang="en-HK" sz="1200" dirty="0">
                <a:solidFill>
                  <a:prstClr val="black"/>
                </a:solidFill>
                <a:latin typeface="Times New Roman" panose="02020603050405020304" pitchFamily="18" charset="0"/>
                <a:ea typeface="SimSun"/>
                <a:cs typeface="Times New Roman" panose="02020603050405020304" pitchFamily="18" charset="0"/>
              </a:rPr>
              <a:t>Water distribution volume of spraying nozzles(220 L/h)</a:t>
            </a:r>
            <a:r>
              <a:rPr lang="en-US" sz="1200" baseline="30000" dirty="0">
                <a:solidFill>
                  <a:prstClr val="black"/>
                </a:solidFill>
                <a:latin typeface="Times New Roman" panose="02020603050405020304" pitchFamily="18" charset="0"/>
                <a:ea typeface="SimSun"/>
                <a:cs typeface="Times New Roman" panose="02020603050405020304" pitchFamily="18" charset="0"/>
              </a:rPr>
              <a:t> [1</a:t>
            </a:r>
            <a:r>
              <a:rPr lang="en-US" sz="1200" baseline="30000" dirty="0">
                <a:solidFill>
                  <a:prstClr val="black"/>
                </a:solidFill>
                <a:latin typeface="Times New Roman" panose="020F0502020204030204"/>
                <a:ea typeface="SimSun"/>
                <a:cs typeface="Times New Roman"/>
              </a:rPr>
              <a:t>]</a:t>
            </a:r>
            <a:endParaRPr lang="en-HK" sz="1200" baseline="30000" dirty="0">
              <a:solidFill>
                <a:prstClr val="black"/>
              </a:solidFill>
              <a:latin typeface="Times New Roman" panose="020F0502020204030204"/>
              <a:ea typeface="SimSun"/>
              <a:cs typeface="Times New Roman"/>
            </a:endParaRPr>
          </a:p>
        </p:txBody>
      </p:sp>
      <p:sp>
        <p:nvSpPr>
          <p:cNvPr id="19" name="矩形 18">
            <a:extLst>
              <a:ext uri="{FF2B5EF4-FFF2-40B4-BE49-F238E27FC236}">
                <a16:creationId xmlns:a16="http://schemas.microsoft.com/office/drawing/2014/main" id="{D91E4C07-B92B-4844-BBED-212125B89E9F}"/>
              </a:ext>
            </a:extLst>
          </p:cNvPr>
          <p:cNvSpPr/>
          <p:nvPr/>
        </p:nvSpPr>
        <p:spPr>
          <a:xfrm>
            <a:off x="906766" y="6480683"/>
            <a:ext cx="9662662" cy="261290"/>
          </a:xfrm>
          <a:prstGeom prst="rect">
            <a:avLst/>
          </a:prstGeom>
        </p:spPr>
        <p:txBody>
          <a:bodyPr wrap="square">
            <a:spAutoFit/>
          </a:bodyPr>
          <a:lstStyle/>
          <a:p>
            <a:pPr marL="406400" indent="-406400" defTabSz="457200" eaLnBrk="1" fontAlgn="auto" hangingPunct="1">
              <a:lnSpc>
                <a:spcPct val="107000"/>
              </a:lnSpc>
              <a:spcBef>
                <a:spcPts val="0"/>
              </a:spcBef>
              <a:spcAft>
                <a:spcPts val="0"/>
              </a:spcAft>
            </a:pPr>
            <a:r>
              <a:rPr lang="en-US" sz="11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[1] Sun T, Huang X, Chen Y, Zhang H. Experimental investigation of water spraying in an indirect evaporative cooler from nozzle type and spray strategy perspectives. </a:t>
            </a:r>
            <a:endParaRPr lang="en-HK" sz="11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B482234-D86D-4C48-BC4C-1674A8712D21}"/>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8</a:t>
            </a:fld>
            <a:endParaRPr lang="en-US" altLang="zh-CN">
              <a:latin typeface="Times New Roman"/>
              <a:ea typeface="SimSun"/>
              <a:cs typeface="Times New Roman"/>
            </a:endParaRPr>
          </a:p>
        </p:txBody>
      </p:sp>
      <p:sp>
        <p:nvSpPr>
          <p:cNvPr id="17" name="文本框 16">
            <a:extLst>
              <a:ext uri="{FF2B5EF4-FFF2-40B4-BE49-F238E27FC236}">
                <a16:creationId xmlns:a16="http://schemas.microsoft.com/office/drawing/2014/main" id="{A36BCB2F-72AD-4008-B678-9A07005B8EA9}"/>
              </a:ext>
            </a:extLst>
          </p:cNvPr>
          <p:cNvSpPr txBox="1"/>
          <p:nvPr/>
        </p:nvSpPr>
        <p:spPr>
          <a:xfrm>
            <a:off x="6162675" y="1258391"/>
            <a:ext cx="1931684" cy="400110"/>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D</a:t>
            </a:r>
            <a:r>
              <a:rPr lang="en-US" altLang="zh-CN" sz="1200" dirty="0" err="1">
                <a:solidFill>
                  <a:prstClr val="black"/>
                </a:solidFill>
                <a:latin typeface="Times New Roman" panose="02020603050405020304" pitchFamily="18" charset="0"/>
                <a:ea typeface="SimSun"/>
                <a:cs typeface="Times New Roman" panose="02020603050405020304" pitchFamily="18" charset="0"/>
              </a:rPr>
              <a:t>istributions</a:t>
            </a:r>
            <a:r>
              <a:rPr sz="984" lang="zh-CN">
                <a:solidFill>
                  <a:srgbClr val="24425A"/>
                </a:solidFill>
                <a:latin typeface="Times New Roman"/>
                <a:ea typeface="SimSun"/>
                <a:cs typeface="Times New Roman"/>
              </a:rPr>
              <a:t>  喷淋分布</a:t>
            </a:r>
          </a:p>
        </p:txBody>
      </p:sp>
      <p:sp>
        <p:nvSpPr>
          <p:cNvPr id="20" name="Title 8">
            <a:extLst>
              <a:ext uri="{FF2B5EF4-FFF2-40B4-BE49-F238E27FC236}">
                <a16:creationId xmlns:a16="http://schemas.microsoft.com/office/drawing/2014/main" id="{099B9800-76A0-4C9E-9283-74EBD0592B1E}"/>
              </a:ext>
            </a:extLst>
          </p:cNvPr>
          <p:cNvSpPr txBox="1">
            <a:spLocks/>
          </p:cNvSpPr>
          <p:nvPr/>
        </p:nvSpPr>
        <p:spPr bwMode="auto">
          <a:xfrm>
            <a:off x="960120" y="91440"/>
            <a:ext cx="7360920" cy="566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tIns="0" bIns="0"/>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lnSpc>
                <a:spcPct val="100000"/>
              </a:lnSpc>
            </a:pPr>
            <a:r>
              <a:rPr lang="en-US" b="1" dirty="0" sz="200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lnSpc>
                <a:spcPct val="100000"/>
              </a:lnSpc>
            </a:pPr>
            <a:endParaRPr lang="en-US" sz="2000" b="1" dirty="0">
              <a:solidFill>
                <a:srgbClr val="000000"/>
              </a:solidFill>
              <a:latin typeface="Times New Roman"/>
              <a:ea typeface="SimSun"/>
              <a:cs typeface="Times New Roman" charset="0"/>
            </a:endParaRPr>
          </a:p>
        </p:txBody>
      </p:sp>
      <p:sp>
        <p:nvSpPr>
          <p:cNvPr id="21"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研究背景与文献综述</a:t>
            </a:r>
          </a:p>
        </p:txBody>
      </p:sp>
    </p:spTree>
    <p:extLst>
      <p:ext uri="{BB962C8B-B14F-4D97-AF65-F5344CB8AC3E}">
        <p14:creationId xmlns:p14="http://schemas.microsoft.com/office/powerpoint/2010/main" val="284817558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5CBF3B0-E901-4873-A723-7AA928F89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9347" y="1378030"/>
            <a:ext cx="7148037" cy="4184569"/>
          </a:xfrm>
          <a:prstGeom prst="rect">
            <a:avLst/>
          </a:prstGeom>
        </p:spPr>
      </p:pic>
      <p:sp>
        <p:nvSpPr>
          <p:cNvPr id="13" name="矩形 12">
            <a:extLst>
              <a:ext uri="{FF2B5EF4-FFF2-40B4-BE49-F238E27FC236}">
                <a16:creationId xmlns:a16="http://schemas.microsoft.com/office/drawing/2014/main" id="{8E7CFE02-F62C-43D5-B3A7-84E54DB6610B}"/>
              </a:ext>
            </a:extLst>
          </p:cNvPr>
          <p:cNvSpPr/>
          <p:nvPr/>
        </p:nvSpPr>
        <p:spPr>
          <a:xfrm>
            <a:off x="4888438" y="5562599"/>
            <a:ext cx="2428870" cy="461665"/>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Fig.1.3.5 </a:t>
            </a:r>
            <a:r>
              <a:rPr lang="en-HK" sz="1200" dirty="0">
                <a:solidFill>
                  <a:prstClr val="black"/>
                </a:solidFill>
                <a:latin typeface="Times New Roman" panose="02020603050405020304" pitchFamily="18" charset="0"/>
                <a:ea typeface="SimSun"/>
                <a:cs typeface="Times New Roman" panose="02020603050405020304" pitchFamily="18" charset="0"/>
              </a:rPr>
              <a:t>Previous model of the IEC</a:t>
            </a:r>
            <a:endParaRPr lang="en-HK" sz="1200"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5" name="椭圆 4">
            <a:extLst>
              <a:ext uri="{FF2B5EF4-FFF2-40B4-BE49-F238E27FC236}">
                <a16:creationId xmlns:a16="http://schemas.microsoft.com/office/drawing/2014/main" id="{3D378700-1184-42B0-BC78-8BC8371E099F}"/>
              </a:ext>
            </a:extLst>
          </p:cNvPr>
          <p:cNvSpPr/>
          <p:nvPr/>
        </p:nvSpPr>
        <p:spPr bwMode="auto">
          <a:xfrm>
            <a:off x="3409651" y="1791989"/>
            <a:ext cx="290049" cy="2751071"/>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chemeClr val="bg2"/>
              </a:solidFill>
              <a:latin typeface="Times New Roman" charset="0"/>
              <a:ea typeface="SimSun"/>
              <a:cs typeface="Times New Roman"/>
            </a:endParaRPr>
          </a:p>
        </p:txBody>
      </p:sp>
      <p:sp>
        <p:nvSpPr>
          <p:cNvPr id="20" name="椭圆 19">
            <a:extLst>
              <a:ext uri="{FF2B5EF4-FFF2-40B4-BE49-F238E27FC236}">
                <a16:creationId xmlns:a16="http://schemas.microsoft.com/office/drawing/2014/main" id="{E3DEC194-6E28-4884-990E-FFC1823815C8}"/>
              </a:ext>
            </a:extLst>
          </p:cNvPr>
          <p:cNvSpPr/>
          <p:nvPr/>
        </p:nvSpPr>
        <p:spPr bwMode="auto">
          <a:xfrm>
            <a:off x="6122388" y="1723413"/>
            <a:ext cx="290049" cy="2835108"/>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chemeClr val="bg2"/>
              </a:solidFill>
              <a:latin typeface="Times New Roman" charset="0"/>
              <a:ea typeface="SimSun"/>
              <a:cs typeface="Times New Roman"/>
            </a:endParaRPr>
          </a:p>
        </p:txBody>
      </p:sp>
      <p:sp>
        <p:nvSpPr>
          <p:cNvPr id="21" name="椭圆 20">
            <a:extLst>
              <a:ext uri="{FF2B5EF4-FFF2-40B4-BE49-F238E27FC236}">
                <a16:creationId xmlns:a16="http://schemas.microsoft.com/office/drawing/2014/main" id="{F029131F-E6FC-4848-92C8-DA8DDA95290A}"/>
              </a:ext>
            </a:extLst>
          </p:cNvPr>
          <p:cNvSpPr/>
          <p:nvPr/>
        </p:nvSpPr>
        <p:spPr bwMode="auto">
          <a:xfrm>
            <a:off x="8610981" y="1802399"/>
            <a:ext cx="290049" cy="2710543"/>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chemeClr val="bg2"/>
              </a:solidFill>
              <a:latin typeface="Times New Roman" charset="0"/>
              <a:ea typeface="SimSun"/>
              <a:cs typeface="Times New Roman"/>
            </a:endParaRPr>
          </a:p>
        </p:txBody>
      </p:sp>
      <p:cxnSp>
        <p:nvCxnSpPr>
          <p:cNvPr id="17" name="直接箭头连接符 16">
            <a:extLst>
              <a:ext uri="{FF2B5EF4-FFF2-40B4-BE49-F238E27FC236}">
                <a16:creationId xmlns:a16="http://schemas.microsoft.com/office/drawing/2014/main" id="{A2AD6BAD-522A-4E0D-92A7-68563455EA24}"/>
              </a:ext>
            </a:extLst>
          </p:cNvPr>
          <p:cNvCxnSpPr>
            <a:cxnSpLocks/>
            <a:stCxn id="5" idx="4"/>
          </p:cNvCxnSpPr>
          <p:nvPr/>
        </p:nvCxnSpPr>
        <p:spPr bwMode="auto">
          <a:xfrm>
            <a:off x="3554676" y="4543060"/>
            <a:ext cx="1927751" cy="1377303"/>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42E955AA-A101-4E43-A9B9-F5FF16A3C183}"/>
              </a:ext>
            </a:extLst>
          </p:cNvPr>
          <p:cNvCxnSpPr>
            <a:cxnSpLocks/>
            <a:stCxn id="20" idx="4"/>
          </p:cNvCxnSpPr>
          <p:nvPr/>
        </p:nvCxnSpPr>
        <p:spPr bwMode="auto">
          <a:xfrm>
            <a:off x="6267413" y="4558521"/>
            <a:ext cx="0" cy="1345541"/>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2C0854CB-3A56-4522-BCA5-2E5F1FDAFB38}"/>
              </a:ext>
            </a:extLst>
          </p:cNvPr>
          <p:cNvCxnSpPr>
            <a:cxnSpLocks/>
          </p:cNvCxnSpPr>
          <p:nvPr/>
        </p:nvCxnSpPr>
        <p:spPr bwMode="auto">
          <a:xfrm flipH="1">
            <a:off x="6709720" y="4490009"/>
            <a:ext cx="2057921" cy="1454844"/>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sp>
        <p:nvSpPr>
          <p:cNvPr id="27" name="文本框 26">
            <a:extLst>
              <a:ext uri="{FF2B5EF4-FFF2-40B4-BE49-F238E27FC236}">
                <a16:creationId xmlns:a16="http://schemas.microsoft.com/office/drawing/2014/main" id="{503B77FD-B937-426C-8785-AAC4A219E9AD}"/>
              </a:ext>
            </a:extLst>
          </p:cNvPr>
          <p:cNvSpPr txBox="1"/>
          <p:nvPr/>
        </p:nvSpPr>
        <p:spPr>
          <a:xfrm>
            <a:off x="1556127" y="5904062"/>
            <a:ext cx="9313860" cy="369332"/>
          </a:xfrm>
          <a:prstGeom prst="rect">
            <a:avLst/>
          </a:prstGeom>
          <a:noFill/>
        </p:spPr>
        <p:txBody>
          <a:bodyPr wrap="square" rtlCol="0"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350" b="1" dirty="0">
                <a:solidFill>
                  <a:prstClr val="black"/>
                </a:solidFill>
                <a:latin typeface="Times New Roman" panose="02020603050405020304" pitchFamily="18" charset="0"/>
                <a:ea typeface="SimSun"/>
                <a:cs typeface="Times New Roman" panose="02020603050405020304" pitchFamily="18" charset="0"/>
              </a:rPr>
              <a:t>Assumption: </a:t>
            </a:r>
            <a:r>
              <a:rPr lang="en-HK" sz="1350" dirty="0">
                <a:solidFill>
                  <a:prstClr val="black"/>
                </a:solidFill>
                <a:latin typeface="Times New Roman" panose="02020603050405020304" pitchFamily="18" charset="0"/>
                <a:ea typeface="SimSun"/>
                <a:cs typeface="Times New Roman" panose="02020603050405020304" pitchFamily="18" charset="0"/>
              </a:rPr>
              <a:t>the thin water film </a:t>
            </a:r>
            <a:r>
              <a:rPr lang="en-HK" sz="1350" dirty="0">
                <a:solidFill>
                  <a:srgbClr val="A60626"/>
                </a:solidFill>
                <a:latin typeface="Times New Roman" panose="02020603050405020304" pitchFamily="18" charset="0"/>
                <a:ea typeface="SimSun"/>
                <a:cs typeface="Times New Roman" panose="02020603050405020304" pitchFamily="18" charset="0"/>
              </a:rPr>
              <a:t>entirely and evenly </a:t>
            </a:r>
            <a:r>
              <a:rPr lang="en-HK" sz="1350" dirty="0">
                <a:solidFill>
                  <a:prstClr val="black"/>
                </a:solidFill>
                <a:latin typeface="Times New Roman" panose="02020603050405020304" pitchFamily="18" charset="0"/>
                <a:ea typeface="SimSun"/>
                <a:cs typeface="Times New Roman" panose="02020603050405020304" pitchFamily="18" charset="0"/>
              </a:rPr>
              <a:t>covered the surface of the wet channel</a:t>
            </a:r>
            <a:r>
              <a:rPr lang="en-HK" sz="1350" dirty="0">
                <a:solidFill>
                  <a:prstClr val="black"/>
                </a:solidFill>
                <a:latin typeface="Times New Roman" panose="02020603050405020304" pitchFamily="18" charset="0"/>
                <a:ea typeface="SimSun"/>
                <a:cs typeface="Times New Roman" panose="02020603050405020304" pitchFamily="18" charset="0"/>
              </a:rPr>
              <a:t>.</a:t>
            </a:r>
            <a:r>
              <a:rPr sz="1107" lang="zh-CN">
                <a:solidFill>
                  <a:srgbClr val="24425A"/>
                </a:solidFill>
                <a:latin typeface="Times New Roman"/>
                <a:ea typeface="SimSun"/>
                <a:cs typeface="Times New Roman"/>
              </a:rPr>
              <a:t>  假设：水膜完整、均匀覆盖湿通道。</a:t>
            </a:r>
          </a:p>
        </p:txBody>
      </p:sp>
      <p:sp>
        <p:nvSpPr>
          <p:cNvPr id="28" name="矩形 27">
            <a:extLst>
              <a:ext uri="{FF2B5EF4-FFF2-40B4-BE49-F238E27FC236}">
                <a16:creationId xmlns:a16="http://schemas.microsoft.com/office/drawing/2014/main" id="{71FD4503-2693-4DBE-B8D8-827EE31A8078}"/>
              </a:ext>
            </a:extLst>
          </p:cNvPr>
          <p:cNvSpPr/>
          <p:nvPr/>
        </p:nvSpPr>
        <p:spPr>
          <a:xfrm>
            <a:off x="5408670" y="6273394"/>
            <a:ext cx="1080745" cy="523220"/>
          </a:xfrm>
          <a:prstGeom prst="rect">
            <a:avLst/>
          </a:prstGeom>
        </p:spPr>
        <p:txBody>
          <a:bodyPr wrap="square" tIns="0" bIns="0">
            <a:noAutofit/>
          </a:bodyPr>
          <a:lstStyle/>
          <a:p>
            <a:pPr algn="l">
              <a:lnSpc>
                <a:spcPct val="108000"/>
              </a:lnSpc>
              <a:spcAft>
                <a:spcPts val="300"/>
              </a:spcAft>
            </a:pPr>
            <a:r>
              <a:rPr lang="en-US" sz="1250" b="1" i="1" dirty="0">
                <a:solidFill>
                  <a:srgbClr val="A60626"/>
                </a:solidFill>
                <a:latin typeface="Times New Roman" panose="02020603050405020304" pitchFamily="18" charset="0"/>
                <a:ea typeface="SimSun"/>
                <a:cs typeface="Times New Roman" panose="02020603050405020304" pitchFamily="18" charset="0"/>
              </a:rPr>
              <a:t>Ideal!</a:t>
            </a:r>
            <a:r>
              <a:rPr sz="1025" lang="zh-CN">
                <a:solidFill>
                  <a:srgbClr val="24425A"/>
                </a:solidFill>
                <a:latin typeface="Times New Roman"/>
                <a:ea typeface="SimSun"/>
                <a:cs typeface="Times New Roman"/>
              </a:rPr>
              <a:t>  理想！</a:t>
            </a:r>
          </a:p>
        </p:txBody>
      </p:sp>
      <p:sp>
        <p:nvSpPr>
          <p:cNvPr id="16" name="文本框 15">
            <a:extLst>
              <a:ext uri="{FF2B5EF4-FFF2-40B4-BE49-F238E27FC236}">
                <a16:creationId xmlns:a16="http://schemas.microsoft.com/office/drawing/2014/main" id="{0BB6A41B-B989-4BB1-93D3-8B7041E8C517}"/>
              </a:ext>
            </a:extLst>
          </p:cNvPr>
          <p:cNvSpPr txBox="1"/>
          <p:nvPr/>
        </p:nvSpPr>
        <p:spPr>
          <a:xfrm>
            <a:off x="535303" y="937637"/>
            <a:ext cx="11085197"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1.</a:t>
            </a:r>
            <a:r>
              <a:rPr lang="en-US" altLang="zh-CN" sz="1500" b="1" dirty="0">
                <a:solidFill>
                  <a:prstClr val="black"/>
                </a:solidFill>
                <a:latin typeface="Times New Roman" panose="02020603050405020304" pitchFamily="18" charset="0"/>
                <a:ea typeface="SimSun"/>
                <a:cs typeface="Times New Roman" panose="02020603050405020304" pitchFamily="18" charset="0"/>
              </a:rPr>
              <a:t>4</a:t>
            </a:r>
            <a:r>
              <a:rPr lang="en-HK" sz="1500" b="1" dirty="0">
                <a:solidFill>
                  <a:prstClr val="black"/>
                </a:solidFill>
                <a:latin typeface="Times New Roman" panose="02020603050405020304" pitchFamily="18" charset="0"/>
                <a:ea typeface="SimSun"/>
                <a:cs typeface="Times New Roman" panose="02020603050405020304" pitchFamily="18" charset="0"/>
              </a:rPr>
              <a:t> Research on </a:t>
            </a:r>
            <a:r>
              <a:rPr lang="en-US" altLang="zh-CN" sz="1500" b="1" dirty="0">
                <a:solidFill>
                  <a:prstClr val="black"/>
                </a:solidFill>
                <a:latin typeface="Times New Roman" panose="02020603050405020304" pitchFamily="18" charset="0"/>
                <a:ea typeface="SimSun"/>
                <a:cs typeface="Times New Roman" panose="02020603050405020304" pitchFamily="18" charset="0"/>
              </a:rPr>
              <a:t>previous model</a:t>
            </a:r>
            <a:r>
              <a:rPr sz="1230" lang="zh-CN">
                <a:solidFill>
                  <a:srgbClr val="24425A"/>
                </a:solidFill>
                <a:latin typeface="Times New Roman"/>
                <a:ea typeface="SimSun"/>
                <a:cs typeface="Times New Roman"/>
              </a:rPr>
              <a:t>  现有 IEC 模型研究</a:t>
            </a:r>
          </a:p>
        </p:txBody>
      </p:sp>
      <p:sp>
        <p:nvSpPr>
          <p:cNvPr id="2" name="灯片编号占位符 1">
            <a:extLst>
              <a:ext uri="{FF2B5EF4-FFF2-40B4-BE49-F238E27FC236}">
                <a16:creationId xmlns:a16="http://schemas.microsoft.com/office/drawing/2014/main" id="{25AA2B23-CD6E-49B1-AE8D-2AC5B4516E1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9</a:t>
            </a:fld>
            <a:endParaRPr lang="en-US" altLang="zh-CN">
              <a:latin typeface="Times New Roman"/>
              <a:ea typeface="SimSun"/>
              <a:cs typeface="Times New Roman"/>
            </a:endParaRPr>
          </a:p>
        </p:txBody>
      </p:sp>
      <p:sp>
        <p:nvSpPr>
          <p:cNvPr id="18" name="Title 8">
            <a:extLst>
              <a:ext uri="{FF2B5EF4-FFF2-40B4-BE49-F238E27FC236}">
                <a16:creationId xmlns:a16="http://schemas.microsoft.com/office/drawing/2014/main" id="{31252C30-804E-4227-9AE8-D551D1A10476}"/>
              </a:ext>
            </a:extLst>
          </p:cNvPr>
          <p:cNvSpPr txBox="1">
            <a:spLocks/>
          </p:cNvSpPr>
          <p:nvPr/>
        </p:nvSpPr>
        <p:spPr bwMode="auto">
          <a:xfrm>
            <a:off x="960120" y="91440"/>
            <a:ext cx="7360920" cy="566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tIns="0" bIns="0"/>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lnSpc>
                <a:spcPct val="100000"/>
              </a:lnSpc>
            </a:pPr>
            <a:r>
              <a:rPr lang="en-US" b="1" dirty="0" sz="200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lnSpc>
                <a:spcPct val="100000"/>
              </a:lnSpc>
            </a:pPr>
            <a:endParaRPr lang="en-US" sz="2000" b="1" dirty="0">
              <a:solidFill>
                <a:srgbClr val="000000"/>
              </a:solidFill>
              <a:latin typeface="Times New Roman"/>
              <a:ea typeface="SimSun"/>
              <a:cs typeface="Times New Roman" charset="0"/>
            </a:endParaRPr>
          </a:p>
        </p:txBody>
      </p:sp>
      <p:sp>
        <p:nvSpPr>
          <p:cNvPr id="2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研究背景与文献综述</a:t>
            </a:r>
          </a:p>
        </p:txBody>
      </p:sp>
    </p:spTree>
    <p:extLst>
      <p:ext uri="{BB962C8B-B14F-4D97-AF65-F5344CB8AC3E}">
        <p14:creationId xmlns:p14="http://schemas.microsoft.com/office/powerpoint/2010/main" val="56860269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23D1FCB-F41A-4EF6-BB9A-E5E2546B0349}"/>
              </a:ext>
            </a:extLst>
          </p:cNvPr>
          <p:cNvSpPr txBox="1"/>
          <p:nvPr/>
        </p:nvSpPr>
        <p:spPr>
          <a:xfrm>
            <a:off x="478152" y="948355"/>
            <a:ext cx="11142348" cy="400110"/>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700" b="1" dirty="0">
                <a:solidFill>
                  <a:prstClr val="black"/>
                </a:solidFill>
                <a:latin typeface="Times New Roman" panose="02020603050405020304" pitchFamily="18" charset="0"/>
                <a:ea typeface="SimSun"/>
                <a:cs typeface="Times New Roman" panose="02020603050405020304" pitchFamily="18" charset="0"/>
              </a:rPr>
              <a:t>1.5 IEC as the recovery unit</a:t>
            </a:r>
            <a:r>
              <a:rPr sz="1394" lang="zh-CN">
                <a:solidFill>
                  <a:srgbClr val="24425A"/>
                </a:solidFill>
                <a:latin typeface="Times New Roman"/>
                <a:ea typeface="SimSun"/>
                <a:cs typeface="Times New Roman"/>
              </a:rPr>
              <a:t>  IEC 作为能量回收单元</a:t>
            </a:r>
          </a:p>
        </p:txBody>
      </p:sp>
      <p:sp>
        <p:nvSpPr>
          <p:cNvPr id="14" name="矩形 13">
            <a:extLst>
              <a:ext uri="{FF2B5EF4-FFF2-40B4-BE49-F238E27FC236}">
                <a16:creationId xmlns:a16="http://schemas.microsoft.com/office/drawing/2014/main" id="{1660984A-5705-45EB-800B-BE30FF291B07}"/>
              </a:ext>
            </a:extLst>
          </p:cNvPr>
          <p:cNvSpPr/>
          <p:nvPr/>
        </p:nvSpPr>
        <p:spPr>
          <a:xfrm>
            <a:off x="4102185" y="3300147"/>
            <a:ext cx="3627468"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Fig.1.5.1 </a:t>
            </a:r>
            <a:r>
              <a:rPr lang="en-US" sz="1200" dirty="0">
                <a:solidFill>
                  <a:prstClr val="black"/>
                </a:solidFill>
                <a:latin typeface="Times New Roman" panose="02020603050405020304" pitchFamily="18" charset="0"/>
                <a:ea typeface="SimSun"/>
                <a:cs typeface="Times New Roman" panose="02020603050405020304" pitchFamily="18" charset="0"/>
              </a:rPr>
              <a:t>Schematics diagram of IEC followed by AHU</a:t>
            </a:r>
            <a:endParaRPr lang="en-HK" sz="1200" dirty="0">
              <a:solidFill>
                <a:prstClr val="black"/>
              </a:solidFill>
              <a:latin typeface="Times New Roman" panose="02020603050405020304" pitchFamily="18" charset="0"/>
              <a:ea typeface="SimSun"/>
              <a:cs typeface="Times New Roman" panose="02020603050405020304" pitchFamily="18" charset="0"/>
            </a:endParaRPr>
          </a:p>
        </p:txBody>
      </p:sp>
      <p:pic>
        <p:nvPicPr>
          <p:cNvPr id="2" name="图片 1">
            <a:extLst>
              <a:ext uri="{FF2B5EF4-FFF2-40B4-BE49-F238E27FC236}">
                <a16:creationId xmlns:a16="http://schemas.microsoft.com/office/drawing/2014/main" id="{BB091CBB-CBBD-6E24-920D-550D736160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8495" y="1348465"/>
            <a:ext cx="6195010" cy="1980000"/>
          </a:xfrm>
          <a:prstGeom prst="rect">
            <a:avLst/>
          </a:prstGeom>
        </p:spPr>
      </p:pic>
      <p:sp>
        <p:nvSpPr>
          <p:cNvPr id="4" name="文本框 3">
            <a:extLst>
              <a:ext uri="{FF2B5EF4-FFF2-40B4-BE49-F238E27FC236}">
                <a16:creationId xmlns:a16="http://schemas.microsoft.com/office/drawing/2014/main" id="{CF835B20-1FE2-5AD4-5C0C-9C88D6FC8312}"/>
              </a:ext>
            </a:extLst>
          </p:cNvPr>
          <p:cNvSpPr txBox="1"/>
          <p:nvPr/>
        </p:nvSpPr>
        <p:spPr>
          <a:xfrm>
            <a:off x="2274773" y="6178467"/>
            <a:ext cx="8278662" cy="400110"/>
          </a:xfrm>
          <a:prstGeom prst="rect">
            <a:avLst/>
          </a:prstGeom>
          <a:noFill/>
        </p:spPr>
        <p:txBody>
          <a:bodyPr wrap="square" tIns="0" bIns="0">
            <a:noAutofit/>
          </a:bodyPr>
          <a:lstStyle/>
          <a:p>
            <a:pPr algn="l">
              <a:lnSpc>
                <a:spcPct val="108000"/>
              </a:lnSpc>
              <a:spcAft>
                <a:spcPts val="300"/>
              </a:spcAft>
            </a:pPr>
            <a:r>
              <a:rPr lang="zh-CN" altLang="en-US" sz="1450" dirty="0">
                <a:solidFill>
                  <a:prstClr val="black"/>
                </a:solidFill>
                <a:latin typeface="Times New Roman" panose="02020603050405020304" pitchFamily="18" charset="0"/>
                <a:ea typeface="SimSun"/>
                <a:cs typeface="Times New Roman" panose="02020603050405020304" pitchFamily="18" charset="0"/>
              </a:rPr>
              <a:t>A more </a:t>
            </a:r>
            <a:r>
              <a:rPr lang="zh-CN" altLang="en-US" sz="1450" b="1" i="1" dirty="0">
                <a:solidFill>
                  <a:srgbClr val="C00000"/>
                </a:solidFill>
                <a:latin typeface="Times New Roman" panose="02020603050405020304" pitchFamily="18" charset="0"/>
                <a:ea typeface="SimSun"/>
                <a:cs typeface="Times New Roman" panose="02020603050405020304" pitchFamily="18" charset="0"/>
              </a:rPr>
              <a:t>standardized nozzle arrangement guideline </a:t>
            </a:r>
            <a:r>
              <a:rPr lang="zh-CN" altLang="en-US" sz="1450" dirty="0">
                <a:solidFill>
                  <a:prstClr val="black"/>
                </a:solidFill>
                <a:latin typeface="Times New Roman" panose="02020603050405020304" pitchFamily="18" charset="0"/>
                <a:ea typeface="SimSun"/>
                <a:cs typeface="Times New Roman" panose="02020603050405020304" pitchFamily="18" charset="0"/>
              </a:rPr>
              <a:t>has not yet emerged</a:t>
            </a:r>
            <a:r>
              <a:rPr lang="en-US" altLang="zh-CN" sz="1450" dirty="0">
                <a:solidFill>
                  <a:prstClr val="black"/>
                </a:solidFill>
                <a:latin typeface="Times New Roman" panose="02020603050405020304" pitchFamily="18" charset="0"/>
                <a:ea typeface="SimSun"/>
                <a:cs typeface="Times New Roman" panose="02020603050405020304" pitchFamily="18" charset="0"/>
              </a:rPr>
              <a:t>.</a:t>
            </a:r>
            <a:r>
              <a:rPr sz="1189" lang="zh-CN">
                <a:solidFill>
                  <a:srgbClr val="24425A"/>
                </a:solidFill>
                <a:latin typeface="Times New Roman"/>
                <a:ea typeface="SimSun"/>
                <a:cs typeface="Times New Roman"/>
              </a:rPr>
              <a:t>  尚缺乏标准化的喷嘴布置指导方法。</a:t>
            </a:r>
          </a:p>
        </p:txBody>
      </p:sp>
      <p:pic>
        <p:nvPicPr>
          <p:cNvPr id="5" name="图片 4">
            <a:extLst>
              <a:ext uri="{FF2B5EF4-FFF2-40B4-BE49-F238E27FC236}">
                <a16:creationId xmlns:a16="http://schemas.microsoft.com/office/drawing/2014/main" id="{BB35BE47-F0F4-4F1C-98DE-F2162EE38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5695" y="3965897"/>
            <a:ext cx="3805759" cy="1980000"/>
          </a:xfrm>
          <a:prstGeom prst="rect">
            <a:avLst/>
          </a:prstGeom>
        </p:spPr>
      </p:pic>
      <p:pic>
        <p:nvPicPr>
          <p:cNvPr id="8" name="图片 7">
            <a:extLst>
              <a:ext uri="{FF2B5EF4-FFF2-40B4-BE49-F238E27FC236}">
                <a16:creationId xmlns:a16="http://schemas.microsoft.com/office/drawing/2014/main" id="{7B9C0565-9603-4709-98FF-1206B8A58E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1453" y="3973457"/>
            <a:ext cx="2996400" cy="1980000"/>
          </a:xfrm>
          <a:prstGeom prst="rect">
            <a:avLst/>
          </a:prstGeom>
        </p:spPr>
      </p:pic>
      <p:sp>
        <p:nvSpPr>
          <p:cNvPr id="18" name="矩形 17">
            <a:extLst>
              <a:ext uri="{FF2B5EF4-FFF2-40B4-BE49-F238E27FC236}">
                <a16:creationId xmlns:a16="http://schemas.microsoft.com/office/drawing/2014/main" id="{C43E418A-A63E-41B4-ACD9-BD1EECBBCE6B}"/>
              </a:ext>
            </a:extLst>
          </p:cNvPr>
          <p:cNvSpPr/>
          <p:nvPr/>
        </p:nvSpPr>
        <p:spPr>
          <a:xfrm>
            <a:off x="900996" y="3586237"/>
            <a:ext cx="5430141" cy="40011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250" dirty="0">
                <a:solidFill>
                  <a:prstClr val="black"/>
                </a:solidFill>
                <a:latin typeface="Times New Roman" panose="02020603050405020304" pitchFamily="18" charset="0"/>
                <a:ea typeface="SimSun"/>
                <a:cs typeface="Times New Roman" panose="02020603050405020304" pitchFamily="18" charset="0"/>
              </a:rPr>
              <a:t>Various nozzle settings for diamond-shaped IEC</a:t>
            </a:r>
            <a:r>
              <a:rPr sz="1025" lang="zh-CN">
                <a:solidFill>
                  <a:srgbClr val="24425A"/>
                </a:solidFill>
                <a:latin typeface="Times New Roman"/>
                <a:ea typeface="SimSun"/>
                <a:cs typeface="Times New Roman"/>
              </a:rPr>
              <a:t>  菱形 IEC 的不同喷嘴布置方式</a:t>
            </a:r>
          </a:p>
        </p:txBody>
      </p:sp>
      <p:sp>
        <p:nvSpPr>
          <p:cNvPr id="19" name="圆角矩形 44">
            <a:extLst>
              <a:ext uri="{FF2B5EF4-FFF2-40B4-BE49-F238E27FC236}">
                <a16:creationId xmlns:a16="http://schemas.microsoft.com/office/drawing/2014/main" id="{EFA8BA0F-3A53-4119-8208-58CDB0207DAD}"/>
              </a:ext>
            </a:extLst>
          </p:cNvPr>
          <p:cNvSpPr/>
          <p:nvPr/>
        </p:nvSpPr>
        <p:spPr>
          <a:xfrm>
            <a:off x="2123476" y="6178468"/>
            <a:ext cx="7793751" cy="512075"/>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800" kern="0">
              <a:solidFill>
                <a:prstClr val="white"/>
              </a:solidFill>
              <a:latin typeface="Times New Roman"/>
              <a:ea typeface="SimSun"/>
              <a:cs typeface="Times New Roman"/>
            </a:endParaRPr>
          </a:p>
        </p:txBody>
      </p:sp>
      <p:sp>
        <p:nvSpPr>
          <p:cNvPr id="3" name="灯片编号占位符 2">
            <a:extLst>
              <a:ext uri="{FF2B5EF4-FFF2-40B4-BE49-F238E27FC236}">
                <a16:creationId xmlns:a16="http://schemas.microsoft.com/office/drawing/2014/main" id="{B2548687-009F-4747-894B-0D4F64FF02E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10</a:t>
            </a:fld>
            <a:endParaRPr lang="en-US" altLang="zh-CN">
              <a:latin typeface="Times New Roman"/>
              <a:ea typeface="SimSun"/>
              <a:cs typeface="Times New Roman"/>
            </a:endParaRPr>
          </a:p>
        </p:txBody>
      </p:sp>
      <p:sp>
        <p:nvSpPr>
          <p:cNvPr id="13" name="Title 8">
            <a:extLst>
              <a:ext uri="{FF2B5EF4-FFF2-40B4-BE49-F238E27FC236}">
                <a16:creationId xmlns:a16="http://schemas.microsoft.com/office/drawing/2014/main" id="{BD1A0AA3-C312-48E2-9FC2-006C72C0AA13}"/>
              </a:ext>
            </a:extLst>
          </p:cNvPr>
          <p:cNvSpPr txBox="1">
            <a:spLocks/>
          </p:cNvSpPr>
          <p:nvPr/>
        </p:nvSpPr>
        <p:spPr bwMode="auto">
          <a:xfrm>
            <a:off x="960120" y="91440"/>
            <a:ext cx="7360920" cy="5669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tIns="0" bIns="0"/>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lnSpc>
                <a:spcPct val="100000"/>
              </a:lnSpc>
            </a:pPr>
            <a:r>
              <a:rPr lang="en-US" b="1" dirty="0" sz="200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lnSpc>
                <a:spcPct val="100000"/>
              </a:lnSpc>
            </a:pPr>
            <a:endParaRPr lang="en-US" sz="2000" b="1" dirty="0">
              <a:solidFill>
                <a:srgbClr val="000000"/>
              </a:solidFill>
              <a:latin typeface="Times New Roman"/>
              <a:ea typeface="SimSun"/>
              <a:cs typeface="Times New Roman" charset="0"/>
            </a:endParaRPr>
          </a:p>
        </p:txBody>
      </p:sp>
      <p:sp>
        <p:nvSpPr>
          <p:cNvPr id="20"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研究背景与文献综述</a:t>
            </a:r>
          </a:p>
        </p:txBody>
      </p:sp>
    </p:spTree>
    <p:extLst>
      <p:ext uri="{BB962C8B-B14F-4D97-AF65-F5344CB8AC3E}">
        <p14:creationId xmlns:p14="http://schemas.microsoft.com/office/powerpoint/2010/main" val="239886700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11</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rgbClr val="C00000"/>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37589162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1301847"/>
            <a:ext cx="10115550" cy="549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Most of the existing analysis about water spray of IEC are based on experimental data, and few mathematical models can </a:t>
            </a:r>
            <a:r>
              <a:rPr lang="en-HK" altLang="zh-CN" sz="1700" b="1" dirty="0">
                <a:solidFill>
                  <a:srgbClr val="AF1E3B"/>
                </a:solidFill>
                <a:latin typeface="Times New Roman" panose="02020603050405020304" pitchFamily="18" charset="0"/>
                <a:ea typeface="SimSun"/>
                <a:cs typeface="Times New Roman" panose="02020603050405020304" pitchFamily="18" charset="0"/>
              </a:rPr>
              <a:t>quantitatively simulate </a:t>
            </a:r>
            <a:r>
              <a:rPr lang="en-HK" altLang="zh-CN" sz="1700" dirty="0">
                <a:latin typeface="Times New Roman" panose="02020603050405020304" pitchFamily="18" charset="0"/>
                <a:ea typeface="SimSun"/>
                <a:cs typeface="Times New Roman" panose="02020603050405020304" pitchFamily="18" charset="0"/>
              </a:rPr>
              <a:t>the various parameters.</a:t>
            </a:r>
            <a:br/>
            <a:r>
              <a:rPr sz="1394" lang="zh-CN">
                <a:solidFill>
                  <a:srgbClr val="24425A"/>
                </a:solidFill>
                <a:latin typeface="Times New Roman"/>
                <a:ea typeface="SimSun"/>
                <a:cs typeface="Times New Roman"/>
              </a:rPr>
              <a:t>现有 IEC 喷淋分析多依赖实验数据，能够定量模拟各项参数的数学模型较少。</a:t>
            </a:r>
          </a:p>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The existing heat and mass transfer model of IEC has not fully discussed on the </a:t>
            </a:r>
            <a:r>
              <a:rPr lang="en-HK" altLang="zh-CN" sz="1700" b="1" dirty="0">
                <a:solidFill>
                  <a:srgbClr val="AF1E3B"/>
                </a:solidFill>
                <a:latin typeface="Times New Roman" panose="02020603050405020304" pitchFamily="18" charset="0"/>
                <a:ea typeface="SimSun"/>
                <a:cs typeface="Times New Roman" panose="02020603050405020304" pitchFamily="18" charset="0"/>
              </a:rPr>
              <a:t>wetting ratio</a:t>
            </a:r>
            <a:r>
              <a:rPr lang="en-HK" altLang="zh-CN" sz="1700" dirty="0">
                <a:latin typeface="Times New Roman" panose="02020603050405020304" pitchFamily="18" charset="0"/>
                <a:ea typeface="SimSun"/>
                <a:cs typeface="Times New Roman" panose="02020603050405020304" pitchFamily="18" charset="0"/>
              </a:rPr>
              <a:t>, and the ideal assumption needs to be corrected</a:t>
            </a:r>
            <a:r>
              <a:rPr lang="en-US" altLang="zh-CN" sz="1700" dirty="0">
                <a:latin typeface="Times New Roman" panose="02020603050405020304" pitchFamily="18" charset="0"/>
                <a:ea typeface="SimSun"/>
                <a:cs typeface="Times New Roman" panose="02020603050405020304" pitchFamily="18" charset="0"/>
              </a:rPr>
              <a:t>. </a:t>
            </a:r>
            <a:br/>
            <a:r>
              <a:rPr sz="1394" lang="zh-CN">
                <a:solidFill>
                  <a:srgbClr val="24425A"/>
                </a:solidFill>
                <a:latin typeface="Times New Roman"/>
                <a:ea typeface="SimSun"/>
                <a:cs typeface="Times New Roman"/>
              </a:rPr>
              <a:t>现有传热传质模型对润湿率的讨论不足，需修正完全润湿的理想假设。</a:t>
            </a:r>
          </a:p>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The current 2D model is not enough to accurately simulate the state of the </a:t>
            </a:r>
            <a:r>
              <a:rPr lang="en-HK" altLang="zh-CN" sz="1700" b="1" dirty="0">
                <a:solidFill>
                  <a:srgbClr val="AF1E3B"/>
                </a:solidFill>
                <a:latin typeface="Times New Roman" panose="02020603050405020304" pitchFamily="18" charset="0"/>
                <a:ea typeface="SimSun"/>
                <a:cs typeface="Times New Roman" panose="02020603050405020304" pitchFamily="18" charset="0"/>
              </a:rPr>
              <a:t>water film distribution</a:t>
            </a:r>
            <a:r>
              <a:rPr lang="en-HK" altLang="zh-CN" sz="1700" dirty="0">
                <a:latin typeface="Times New Roman" panose="02020603050405020304" pitchFamily="18" charset="0"/>
                <a:ea typeface="SimSun"/>
                <a:cs typeface="Times New Roman" panose="02020603050405020304" pitchFamily="18" charset="0"/>
              </a:rPr>
              <a:t>, and to deal with more complex hydraulic and thermal properties</a:t>
            </a:r>
            <a:r>
              <a:rPr lang="en-US" altLang="zh-CN" sz="1700" dirty="0">
                <a:latin typeface="Times New Roman" panose="02020603050405020304" pitchFamily="18" charset="0"/>
                <a:ea typeface="SimSun"/>
                <a:cs typeface="Times New Roman" panose="02020603050405020304" pitchFamily="18" charset="0"/>
              </a:rPr>
              <a:t>.</a:t>
            </a:r>
            <a:br/>
            <a:r>
              <a:rPr sz="1394" lang="zh-CN">
                <a:solidFill>
                  <a:srgbClr val="24425A"/>
                </a:solidFill>
                <a:latin typeface="Times New Roman"/>
                <a:ea typeface="SimSun"/>
                <a:cs typeface="Times New Roman"/>
              </a:rPr>
              <a:t>二维模型难以准确描述水膜分布，也难以处理复杂的水力与热力特性。</a:t>
            </a:r>
          </a:p>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The </a:t>
            </a:r>
            <a:r>
              <a:rPr lang="en-US" altLang="zh-CN" sz="1700" b="1" dirty="0">
                <a:solidFill>
                  <a:srgbClr val="AF1E3B"/>
                </a:solidFill>
                <a:latin typeface="Times New Roman" panose="02020603050405020304" pitchFamily="18" charset="0"/>
                <a:ea typeface="SimSun"/>
                <a:cs typeface="Times New Roman" panose="02020603050405020304" pitchFamily="18" charset="0"/>
              </a:rPr>
              <a:t>optimal nozzle arrangement </a:t>
            </a:r>
            <a:r>
              <a:rPr lang="en-US" altLang="zh-CN" sz="1700" dirty="0">
                <a:latin typeface="Times New Roman" panose="02020603050405020304" pitchFamily="18" charset="0"/>
                <a:ea typeface="SimSun"/>
                <a:cs typeface="Times New Roman" panose="02020603050405020304" pitchFamily="18" charset="0"/>
              </a:rPr>
              <a:t>and</a:t>
            </a:r>
            <a:r>
              <a:rPr lang="en-US" altLang="zh-CN" sz="1700" b="1" dirty="0">
                <a:solidFill>
                  <a:srgbClr val="AF1E3B"/>
                </a:solidFill>
                <a:latin typeface="Times New Roman" panose="02020603050405020304" pitchFamily="18" charset="0"/>
                <a:ea typeface="SimSun"/>
                <a:cs typeface="Times New Roman" panose="02020603050405020304" pitchFamily="18" charset="0"/>
              </a:rPr>
              <a:t> parameter setting </a:t>
            </a:r>
            <a:r>
              <a:rPr lang="en-US" altLang="zh-CN" sz="1700" dirty="0">
                <a:latin typeface="Times New Roman" panose="02020603050405020304" pitchFamily="18" charset="0"/>
                <a:ea typeface="SimSun"/>
                <a:cs typeface="Times New Roman" panose="02020603050405020304" pitchFamily="18" charset="0"/>
              </a:rPr>
              <a:t>to maintain the best wetted situation of the IEC wet channel have not been identified.</a:t>
            </a:r>
            <a:br/>
            <a:r>
              <a:rPr sz="1394" lang="zh-CN">
                <a:solidFill>
                  <a:srgbClr val="24425A"/>
                </a:solidFill>
                <a:latin typeface="Times New Roman"/>
                <a:ea typeface="SimSun"/>
                <a:cs typeface="Times New Roman"/>
              </a:rPr>
              <a:t>湿通道达到最佳润湿状态所需的喷嘴布置与参数尚不明确。</a:t>
            </a:r>
          </a:p>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There is a need for </a:t>
            </a:r>
            <a:r>
              <a:rPr lang="en-US" altLang="zh-CN" sz="1700" b="1" dirty="0">
                <a:solidFill>
                  <a:srgbClr val="AF1E3B"/>
                </a:solidFill>
                <a:latin typeface="Times New Roman" panose="02020603050405020304" pitchFamily="18" charset="0"/>
                <a:ea typeface="SimSun"/>
                <a:cs typeface="Times New Roman" panose="02020603050405020304" pitchFamily="18" charset="0"/>
              </a:rPr>
              <a:t>straightforward</a:t>
            </a:r>
            <a:r>
              <a:rPr lang="en-HK" altLang="zh-CN" sz="1700" b="1" dirty="0">
                <a:solidFill>
                  <a:srgbClr val="AF1E3B"/>
                </a:solidFill>
                <a:latin typeface="Times New Roman" panose="02020603050405020304" pitchFamily="18" charset="0"/>
                <a:ea typeface="SimSun"/>
                <a:cs typeface="Times New Roman" panose="02020603050405020304" pitchFamily="18" charset="0"/>
              </a:rPr>
              <a:t> method </a:t>
            </a:r>
            <a:r>
              <a:rPr lang="en-HK" altLang="zh-CN" sz="1700" dirty="0">
                <a:latin typeface="Times New Roman" panose="02020603050405020304" pitchFamily="18" charset="0"/>
                <a:ea typeface="SimSun"/>
                <a:cs typeface="Times New Roman" panose="02020603050405020304" pitchFamily="18" charset="0"/>
              </a:rPr>
              <a:t>to predict the IEC performance </a:t>
            </a:r>
            <a:r>
              <a:rPr lang="en-US" altLang="zh-CN" sz="1700" dirty="0">
                <a:latin typeface="Times New Roman" panose="02020603050405020304" pitchFamily="18" charset="0"/>
                <a:ea typeface="SimSun"/>
                <a:cs typeface="Times New Roman" panose="02020603050405020304" pitchFamily="18" charset="0"/>
              </a:rPr>
              <a:t>for use in reality </a:t>
            </a:r>
            <a:r>
              <a:rPr lang="en-HK" altLang="zh-CN" sz="1700" dirty="0">
                <a:latin typeface="Times New Roman" panose="02020603050405020304" pitchFamily="18" charset="0"/>
                <a:ea typeface="SimSun"/>
                <a:cs typeface="Times New Roman" panose="02020603050405020304" pitchFamily="18" charset="0"/>
              </a:rPr>
              <a:t>and optimize spray design parameters </a:t>
            </a:r>
            <a:r>
              <a:rPr lang="en-US" altLang="zh-CN" sz="1700" dirty="0">
                <a:latin typeface="Times New Roman" panose="02020603050405020304" pitchFamily="18" charset="0"/>
                <a:ea typeface="SimSun"/>
                <a:cs typeface="Times New Roman" panose="02020603050405020304" pitchFamily="18" charset="0"/>
              </a:rPr>
              <a:t>in large scale projects</a:t>
            </a:r>
            <a:r>
              <a:rPr lang="en-HK" altLang="zh-CN" sz="1700" dirty="0">
                <a:latin typeface="Times New Roman" panose="02020603050405020304" pitchFamily="18" charset="0"/>
                <a:ea typeface="SimSun"/>
                <a:cs typeface="Times New Roman" panose="02020603050405020304" pitchFamily="18" charset="0"/>
              </a:rPr>
              <a:t>.</a:t>
            </a:r>
            <a:br/>
            <a:r>
              <a:rPr sz="1394" lang="zh-CN">
                <a:solidFill>
                  <a:srgbClr val="24425A"/>
                </a:solidFill>
                <a:latin typeface="Times New Roman"/>
                <a:ea typeface="SimSun"/>
                <a:cs typeface="Times New Roman"/>
              </a:rPr>
              <a:t>大型工程需要简便、高效的 IEC 性能预测与喷淋参数优化方法。</a:t>
            </a:r>
          </a:p>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The </a:t>
            </a:r>
            <a:r>
              <a:rPr lang="en-HK" altLang="zh-CN" sz="1700" b="1" dirty="0">
                <a:solidFill>
                  <a:srgbClr val="AF1E3B"/>
                </a:solidFill>
                <a:latin typeface="Times New Roman" panose="02020603050405020304" pitchFamily="18" charset="0"/>
                <a:ea typeface="SimSun"/>
                <a:cs typeface="Times New Roman" panose="02020603050405020304" pitchFamily="18" charset="0"/>
              </a:rPr>
              <a:t>diamond-shaped IEC </a:t>
            </a:r>
            <a:r>
              <a:rPr lang="en-HK" altLang="zh-CN" sz="1700" dirty="0">
                <a:latin typeface="Times New Roman" panose="02020603050405020304" pitchFamily="18" charset="0"/>
                <a:ea typeface="SimSun"/>
                <a:cs typeface="Times New Roman" panose="02020603050405020304" pitchFamily="18" charset="0"/>
              </a:rPr>
              <a:t>used as heat recovery units combined with AHU in DCs require targeted water spray system settings.</a:t>
            </a:r>
            <a:br/>
            <a:r>
              <a:rPr sz="1394" lang="zh-CN">
                <a:solidFill>
                  <a:srgbClr val="24425A"/>
                </a:solidFill>
                <a:latin typeface="Times New Roman"/>
                <a:ea typeface="SimSun"/>
                <a:cs typeface="Times New Roman"/>
              </a:rPr>
              <a:t>数据中心采用的菱形 IEC 与空气处理机组（AHU）耦合时，需要有针对性的喷淋设计。</a:t>
            </a:r>
          </a:p>
        </p:txBody>
      </p:sp>
      <p:sp>
        <p:nvSpPr>
          <p:cNvPr id="5" name="Content Placeholder 23">
            <a:extLst>
              <a:ext uri="{FF2B5EF4-FFF2-40B4-BE49-F238E27FC236}">
                <a16:creationId xmlns:a16="http://schemas.microsoft.com/office/drawing/2014/main" id="{F5B213E1-BA12-4FA4-8700-DF6FD91B2CA8}"/>
              </a:ext>
            </a:extLst>
          </p:cNvPr>
          <p:cNvSpPr txBox="1">
            <a:spLocks/>
          </p:cNvSpPr>
          <p:nvPr/>
        </p:nvSpPr>
        <p:spPr bwMode="auto">
          <a:xfrm>
            <a:off x="364331" y="885825"/>
            <a:ext cx="11256169" cy="539750"/>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700" b="1" kern="0" dirty="0">
                <a:latin typeface="Times New Roman" panose="02020603050405020304" pitchFamily="18" charset="0"/>
                <a:ea typeface="SimSun"/>
                <a:cs typeface="Times New Roman" panose="02020603050405020304" pitchFamily="18" charset="0"/>
              </a:rPr>
              <a:t>2.1 Research gap</a:t>
            </a:r>
            <a:r>
              <a:rPr lang="en-US" altLang="zh-CN" sz="1700" b="1" kern="0" dirty="0">
                <a:latin typeface="Times New Roman" panose="02020603050405020304" pitchFamily="18" charset="0"/>
                <a:ea typeface="SimSun"/>
                <a:cs typeface="Times New Roman" panose="02020603050405020304" pitchFamily="18" charset="0"/>
              </a:rPr>
              <a:t>s</a:t>
            </a:r>
            <a:r>
              <a:rPr sz="1394" lang="zh-CN">
                <a:solidFill>
                  <a:srgbClr val="24425A"/>
                </a:solidFill>
                <a:latin typeface="Times New Roman"/>
                <a:ea typeface="SimSun"/>
                <a:cs typeface="Times New Roman"/>
              </a:rPr>
              <a:t>  研究不足</a:t>
            </a:r>
          </a:p>
        </p:txBody>
      </p:sp>
      <p:sp>
        <p:nvSpPr>
          <p:cNvPr id="7" name="矩形 3">
            <a:extLst>
              <a:ext uri="{FF2B5EF4-FFF2-40B4-BE49-F238E27FC236}">
                <a16:creationId xmlns:a16="http://schemas.microsoft.com/office/drawing/2014/main" id="{B117BA7A-DC86-46C3-A64F-CB32A5B876F9}"/>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2000">
                <a:latin typeface="Times New Roman" panose="02020603050405020304" pitchFamily="18" charset="0"/>
                <a:ea typeface="SimSun" panose="020B0600070205080204" pitchFamily="34" charset="-128"/>
                <a:cs typeface="Times New Roman" panose="02020603050405020304" pitchFamily="18" charset="0"/>
              </a:rPr>
              <a:t>2. Research gaps and objectives</a:t>
            </a:r>
          </a:p>
        </p:txBody>
      </p:sp>
      <p:sp>
        <p:nvSpPr>
          <p:cNvPr id="3" name="灯片编号占位符 2">
            <a:extLst>
              <a:ext uri="{FF2B5EF4-FFF2-40B4-BE49-F238E27FC236}">
                <a16:creationId xmlns:a16="http://schemas.microsoft.com/office/drawing/2014/main" id="{CC26C1E1-6E4F-47BE-9F5A-82EE8FEB8C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12</a:t>
            </a:fld>
            <a:endParaRPr lang="en-US" altLang="zh-CN">
              <a:latin typeface="Times New Roman"/>
              <a:ea typeface="SimSun"/>
              <a:cs typeface="Times New Roman"/>
            </a:endParaRPr>
          </a:p>
        </p:txBody>
      </p:sp>
      <p:sp>
        <p:nvSpPr>
          <p:cNvPr id="8"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研究不足与目标</a:t>
            </a:r>
          </a:p>
        </p:txBody>
      </p:sp>
    </p:spTree>
    <p:extLst>
      <p:ext uri="{BB962C8B-B14F-4D97-AF65-F5344CB8AC3E}">
        <p14:creationId xmlns:p14="http://schemas.microsoft.com/office/powerpoint/2010/main" val="171575927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3"/>
          <p:cNvSpPr txBox="1">
            <a:spLocks/>
          </p:cNvSpPr>
          <p:nvPr/>
        </p:nvSpPr>
        <p:spPr bwMode="auto">
          <a:xfrm>
            <a:off x="623889" y="942975"/>
            <a:ext cx="10996611" cy="539750"/>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700" b="1" kern="0" dirty="0">
                <a:latin typeface="Times New Roman" panose="02020603050405020304" pitchFamily="18" charset="0"/>
                <a:ea typeface="SimSun"/>
                <a:cs typeface="Times New Roman" panose="02020603050405020304" pitchFamily="18" charset="0"/>
              </a:rPr>
              <a:t>2.2 Research objectives</a:t>
            </a:r>
            <a:r>
              <a:rPr sz="1394" lang="zh-CN">
                <a:solidFill>
                  <a:srgbClr val="24425A"/>
                </a:solidFill>
                <a:latin typeface="Times New Roman"/>
                <a:ea typeface="SimSun"/>
                <a:cs typeface="Times New Roman"/>
              </a:rPr>
              <a:t>  研究目标</a:t>
            </a:r>
          </a:p>
        </p:txBody>
      </p:sp>
      <p:sp>
        <p:nvSpPr>
          <p:cNvPr id="8"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1336348"/>
            <a:ext cx="10201274" cy="499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To</a:t>
            </a:r>
            <a:r>
              <a:rPr lang="zh-CN" altLang="en-US" sz="1700" dirty="0">
                <a:latin typeface="Times New Roman" panose="02020603050405020304" pitchFamily="18" charset="0"/>
                <a:ea typeface="SimSun"/>
                <a:cs typeface="Times New Roman" panose="02020603050405020304" pitchFamily="18" charset="0"/>
              </a:rPr>
              <a:t> </a:t>
            </a:r>
            <a:r>
              <a:rPr lang="en-US" altLang="zh-CN" sz="1700" dirty="0">
                <a:latin typeface="Times New Roman" panose="02020603050405020304" pitchFamily="18" charset="0"/>
                <a:ea typeface="SimSun"/>
                <a:cs typeface="Times New Roman" panose="02020603050405020304" pitchFamily="18" charset="0"/>
              </a:rPr>
              <a:t>propose a </a:t>
            </a:r>
            <a:r>
              <a:rPr lang="en-US" altLang="zh-CN" sz="1700" b="1" dirty="0">
                <a:solidFill>
                  <a:srgbClr val="AF1E3B"/>
                </a:solidFill>
                <a:latin typeface="Times New Roman" panose="02020603050405020304" pitchFamily="18" charset="0"/>
                <a:ea typeface="SimSun"/>
                <a:cs typeface="Times New Roman" panose="02020603050405020304" pitchFamily="18" charset="0"/>
              </a:rPr>
              <a:t>FDM model </a:t>
            </a:r>
            <a:r>
              <a:rPr lang="en-US" altLang="zh-CN" sz="1700" dirty="0">
                <a:latin typeface="Times New Roman" panose="02020603050405020304" pitchFamily="18" charset="0"/>
                <a:ea typeface="SimSun"/>
                <a:cs typeface="Times New Roman" panose="02020603050405020304" pitchFamily="18" charset="0"/>
              </a:rPr>
              <a:t>for predicting the </a:t>
            </a:r>
            <a:r>
              <a:rPr lang="en-US" altLang="zh-CN" sz="1700" b="1" dirty="0">
                <a:solidFill>
                  <a:srgbClr val="AF1E3B"/>
                </a:solidFill>
                <a:latin typeface="Times New Roman" panose="02020603050405020304" pitchFamily="18" charset="0"/>
                <a:ea typeface="SimSun"/>
                <a:cs typeface="Times New Roman" panose="02020603050405020304" pitchFamily="18" charset="0"/>
              </a:rPr>
              <a:t>water spray distribution </a:t>
            </a:r>
            <a:r>
              <a:rPr lang="en-US" altLang="zh-CN" sz="1700" dirty="0">
                <a:latin typeface="Times New Roman" panose="02020603050405020304" pitchFamily="18" charset="0"/>
                <a:ea typeface="SimSun"/>
                <a:cs typeface="Times New Roman" panose="02020603050405020304" pitchFamily="18" charset="0"/>
              </a:rPr>
              <a:t>of the nozzles in IEC.</a:t>
            </a:r>
            <a:br/>
            <a:r>
              <a:rPr sz="1394" lang="zh-CN">
                <a:solidFill>
                  <a:srgbClr val="24425A"/>
                </a:solidFill>
                <a:latin typeface="Times New Roman"/>
                <a:ea typeface="SimSun"/>
                <a:cs typeface="Times New Roman"/>
              </a:rPr>
              <a:t>建立有限差分（FDM）模型，预测 IEC 喷嘴的喷淋分布。</a:t>
            </a:r>
          </a:p>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To establish a </a:t>
            </a:r>
            <a:r>
              <a:rPr lang="en-US" altLang="zh-CN" sz="1700" b="1" dirty="0">
                <a:solidFill>
                  <a:srgbClr val="AF1E3B"/>
                </a:solidFill>
                <a:latin typeface="Times New Roman" panose="02020603050405020304" pitchFamily="18" charset="0"/>
                <a:ea typeface="SimSun"/>
                <a:cs typeface="Times New Roman" panose="02020603050405020304" pitchFamily="18" charset="0"/>
              </a:rPr>
              <a:t>3D CFD model </a:t>
            </a:r>
            <a:r>
              <a:rPr lang="en-US" altLang="zh-CN" sz="1700" dirty="0">
                <a:latin typeface="Times New Roman" panose="02020603050405020304" pitchFamily="18" charset="0"/>
                <a:ea typeface="SimSun"/>
                <a:cs typeface="Times New Roman" panose="02020603050405020304" pitchFamily="18" charset="0"/>
              </a:rPr>
              <a:t>to identify the formation and flow state of the water membrane covering the plate surface.</a:t>
            </a:r>
            <a:br/>
            <a:r>
              <a:rPr sz="1394" lang="zh-CN">
                <a:solidFill>
                  <a:srgbClr val="24425A"/>
                </a:solidFill>
                <a:latin typeface="Times New Roman"/>
                <a:ea typeface="SimSun"/>
                <a:cs typeface="Times New Roman"/>
              </a:rPr>
              <a:t>建立三维 CFD 模型，研究换热板表面水膜的形成与流动状态。</a:t>
            </a:r>
          </a:p>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To set up the</a:t>
            </a:r>
            <a:r>
              <a:rPr lang="en-US" altLang="zh-CN" sz="1700" b="1" dirty="0">
                <a:solidFill>
                  <a:srgbClr val="C00000"/>
                </a:solidFill>
                <a:latin typeface="Times New Roman" panose="02020603050405020304" pitchFamily="18" charset="0"/>
                <a:ea typeface="SimSun"/>
                <a:cs typeface="Times New Roman" panose="02020603050405020304" pitchFamily="18" charset="0"/>
              </a:rPr>
              <a:t> </a:t>
            </a:r>
            <a:r>
              <a:rPr lang="en-US" altLang="zh-CN" sz="1700" b="1" dirty="0">
                <a:solidFill>
                  <a:srgbClr val="AF1E3B"/>
                </a:solidFill>
                <a:latin typeface="Times New Roman" panose="02020603050405020304" pitchFamily="18" charset="0"/>
                <a:ea typeface="SimSun"/>
                <a:cs typeface="Times New Roman" panose="02020603050405020304" pitchFamily="18" charset="0"/>
              </a:rPr>
              <a:t>test bench </a:t>
            </a:r>
            <a:r>
              <a:rPr lang="en-US" altLang="zh-CN" sz="1700" dirty="0">
                <a:latin typeface="Times New Roman" panose="02020603050405020304" pitchFamily="18" charset="0"/>
                <a:ea typeface="SimSun"/>
                <a:cs typeface="Times New Roman" panose="02020603050405020304" pitchFamily="18" charset="0"/>
              </a:rPr>
              <a:t>with the complete IEC system that can investigate the </a:t>
            </a:r>
            <a:r>
              <a:rPr lang="en-US" altLang="zh-CN" sz="1700" b="1" dirty="0">
                <a:solidFill>
                  <a:srgbClr val="AF1E3B"/>
                </a:solidFill>
                <a:latin typeface="Times New Roman" panose="02020603050405020304" pitchFamily="18" charset="0"/>
                <a:ea typeface="SimSun"/>
                <a:cs typeface="Times New Roman" panose="02020603050405020304" pitchFamily="18" charset="0"/>
              </a:rPr>
              <a:t>practical wetted sections </a:t>
            </a:r>
            <a:r>
              <a:rPr lang="en-US" altLang="zh-CN" sz="1700" dirty="0">
                <a:latin typeface="Times New Roman" panose="02020603050405020304" pitchFamily="18" charset="0"/>
                <a:ea typeface="SimSun"/>
                <a:cs typeface="Times New Roman" panose="02020603050405020304" pitchFamily="18" charset="0"/>
              </a:rPr>
              <a:t>in single channel pair for model verification.</a:t>
            </a:r>
            <a:br/>
            <a:r>
              <a:rPr sz="1394" lang="zh-CN">
                <a:solidFill>
                  <a:srgbClr val="24425A"/>
                </a:solidFill>
                <a:latin typeface="Times New Roman"/>
                <a:ea typeface="SimSun"/>
                <a:cs typeface="Times New Roman"/>
              </a:rPr>
              <a:t>搭建完整 IEC 实验台，测量单对通道的实际润湿区域并验证模型。</a:t>
            </a:r>
          </a:p>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To conduct the </a:t>
            </a:r>
            <a:r>
              <a:rPr lang="en-US" altLang="zh-CN" sz="1700" b="1" dirty="0">
                <a:solidFill>
                  <a:srgbClr val="AF1E3B"/>
                </a:solidFill>
                <a:latin typeface="Times New Roman" panose="02020603050405020304" pitchFamily="18" charset="0"/>
                <a:ea typeface="SimSun"/>
                <a:cs typeface="Times New Roman" panose="02020603050405020304" pitchFamily="18" charset="0"/>
              </a:rPr>
              <a:t>parametric analysis</a:t>
            </a:r>
            <a:r>
              <a:rPr lang="en-US" altLang="zh-CN" sz="1700" dirty="0">
                <a:solidFill>
                  <a:srgbClr val="AF1E3B"/>
                </a:solidFill>
                <a:latin typeface="Times New Roman" panose="02020603050405020304" pitchFamily="18" charset="0"/>
                <a:ea typeface="SimSun"/>
                <a:cs typeface="Times New Roman" panose="02020603050405020304" pitchFamily="18" charset="0"/>
              </a:rPr>
              <a:t> </a:t>
            </a:r>
            <a:r>
              <a:rPr lang="en-US" altLang="zh-CN" sz="1700" dirty="0">
                <a:latin typeface="Times New Roman" panose="02020603050405020304" pitchFamily="18" charset="0"/>
                <a:ea typeface="SimSun"/>
                <a:cs typeface="Times New Roman" panose="02020603050405020304" pitchFamily="18" charset="0"/>
              </a:rPr>
              <a:t>and determine the</a:t>
            </a:r>
            <a:r>
              <a:rPr lang="en-US" altLang="zh-CN" sz="1700" b="1" dirty="0">
                <a:latin typeface="Times New Roman" panose="02020603050405020304" pitchFamily="18" charset="0"/>
                <a:ea typeface="SimSun"/>
                <a:cs typeface="Times New Roman" panose="02020603050405020304" pitchFamily="18" charset="0"/>
              </a:rPr>
              <a:t> </a:t>
            </a:r>
            <a:r>
              <a:rPr lang="en-US" altLang="zh-CN" sz="1700" b="1" dirty="0">
                <a:solidFill>
                  <a:srgbClr val="AF1E3B"/>
                </a:solidFill>
                <a:latin typeface="Times New Roman" panose="02020603050405020304" pitchFamily="18" charset="0"/>
                <a:ea typeface="SimSun"/>
                <a:cs typeface="Times New Roman" panose="02020603050405020304" pitchFamily="18" charset="0"/>
              </a:rPr>
              <a:t>optimal water spraying strategies</a:t>
            </a:r>
            <a:r>
              <a:rPr lang="en-US" altLang="zh-CN" sz="1700" b="1" dirty="0">
                <a:solidFill>
                  <a:srgbClr val="C00000"/>
                </a:solidFill>
                <a:latin typeface="Times New Roman" panose="02020603050405020304" pitchFamily="18" charset="0"/>
                <a:ea typeface="SimSun"/>
                <a:cs typeface="Times New Roman" panose="02020603050405020304" pitchFamily="18" charset="0"/>
              </a:rPr>
              <a:t> </a:t>
            </a:r>
            <a:r>
              <a:rPr lang="en-US" altLang="zh-CN" sz="1700" dirty="0">
                <a:latin typeface="Times New Roman" panose="02020603050405020304" pitchFamily="18" charset="0"/>
                <a:ea typeface="SimSun"/>
                <a:cs typeface="Times New Roman" panose="02020603050405020304" pitchFamily="18" charset="0"/>
              </a:rPr>
              <a:t>for IEC system.</a:t>
            </a:r>
            <a:br/>
            <a:r>
              <a:rPr sz="1394" lang="zh-CN">
                <a:solidFill>
                  <a:srgbClr val="24425A"/>
                </a:solidFill>
                <a:latin typeface="Times New Roman"/>
                <a:ea typeface="SimSun"/>
                <a:cs typeface="Times New Roman"/>
              </a:rPr>
              <a:t>开展参数分析，确定 IEC 系统的最优喷淋策略。</a:t>
            </a:r>
          </a:p>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To develop high-efficiency prediction model based on </a:t>
            </a:r>
            <a:r>
              <a:rPr lang="en-HK" altLang="zh-CN" sz="1700" b="1" dirty="0">
                <a:solidFill>
                  <a:srgbClr val="AF1E3B"/>
                </a:solidFill>
                <a:latin typeface="Times New Roman" panose="02020603050405020304" pitchFamily="18" charset="0"/>
                <a:ea typeface="SimSun"/>
                <a:cs typeface="Times New Roman" panose="02020603050405020304" pitchFamily="18" charset="0"/>
              </a:rPr>
              <a:t>ML</a:t>
            </a:r>
            <a:r>
              <a:rPr lang="en-HK" altLang="zh-CN" sz="1700" dirty="0">
                <a:latin typeface="Times New Roman" panose="02020603050405020304" pitchFamily="18" charset="0"/>
                <a:ea typeface="SimSun"/>
                <a:cs typeface="Times New Roman" panose="02020603050405020304" pitchFamily="18" charset="0"/>
              </a:rPr>
              <a:t> to accurately predict the performance of IEC system combined with </a:t>
            </a:r>
            <a:r>
              <a:rPr lang="en-HK" altLang="zh-CN" sz="1700" b="1" dirty="0">
                <a:solidFill>
                  <a:srgbClr val="AF1E3B"/>
                </a:solidFill>
                <a:latin typeface="Times New Roman" panose="02020603050405020304" pitchFamily="18" charset="0"/>
                <a:ea typeface="SimSun"/>
                <a:cs typeface="Times New Roman" panose="02020603050405020304" pitchFamily="18" charset="0"/>
              </a:rPr>
              <a:t>genetic algorithm </a:t>
            </a:r>
            <a:r>
              <a:rPr lang="en-HK" altLang="zh-CN" sz="1700" dirty="0">
                <a:latin typeface="Times New Roman" panose="02020603050405020304" pitchFamily="18" charset="0"/>
                <a:ea typeface="SimSun"/>
                <a:cs typeface="Times New Roman" panose="02020603050405020304" pitchFamily="18" charset="0"/>
              </a:rPr>
              <a:t>for multi-objective </a:t>
            </a:r>
            <a:r>
              <a:rPr lang="en-HK" altLang="zh-CN" sz="1700" b="1" dirty="0">
                <a:solidFill>
                  <a:srgbClr val="AF1E3B"/>
                </a:solidFill>
                <a:latin typeface="Times New Roman" panose="02020603050405020304" pitchFamily="18" charset="0"/>
                <a:ea typeface="SimSun"/>
                <a:cs typeface="Times New Roman" panose="02020603050405020304" pitchFamily="18" charset="0"/>
              </a:rPr>
              <a:t>optimization</a:t>
            </a:r>
            <a:r>
              <a:rPr lang="en-HK" altLang="zh-CN" sz="1700" dirty="0">
                <a:latin typeface="Times New Roman" panose="02020603050405020304" pitchFamily="18" charset="0"/>
                <a:ea typeface="SimSun"/>
                <a:cs typeface="Times New Roman" panose="02020603050405020304" pitchFamily="18" charset="0"/>
              </a:rPr>
              <a:t>.</a:t>
            </a:r>
            <a:br/>
            <a:r>
              <a:rPr sz="1394" lang="zh-CN">
                <a:solidFill>
                  <a:srgbClr val="24425A"/>
                </a:solidFill>
                <a:latin typeface="Times New Roman"/>
                <a:ea typeface="SimSun"/>
                <a:cs typeface="Times New Roman"/>
              </a:rPr>
              <a:t>建立高效的机器学习预测模型，结合遗传算法开展多目标优化。</a:t>
            </a:r>
          </a:p>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To establish and verified a</a:t>
            </a:r>
            <a:r>
              <a:rPr lang="en-US" altLang="zh-CN" sz="1700" b="1" dirty="0">
                <a:solidFill>
                  <a:srgbClr val="C00000"/>
                </a:solidFill>
                <a:latin typeface="Times New Roman" panose="02020603050405020304" pitchFamily="18" charset="0"/>
                <a:ea typeface="SimSun"/>
                <a:cs typeface="Times New Roman" panose="02020603050405020304" pitchFamily="18" charset="0"/>
              </a:rPr>
              <a:t> </a:t>
            </a:r>
            <a:r>
              <a:rPr lang="en-HK" altLang="zh-CN" sz="1700" b="1" dirty="0">
                <a:solidFill>
                  <a:srgbClr val="AF1E3B"/>
                </a:solidFill>
                <a:latin typeface="Times New Roman" panose="02020603050405020304" pitchFamily="18" charset="0"/>
                <a:ea typeface="SimSun"/>
                <a:cs typeface="Times New Roman" panose="02020603050405020304" pitchFamily="18" charset="0"/>
              </a:rPr>
              <a:t>CFD model</a:t>
            </a:r>
            <a:r>
              <a:rPr lang="en-HK" altLang="zh-CN" sz="1700" dirty="0">
                <a:solidFill>
                  <a:srgbClr val="AF1E3B"/>
                </a:solidFill>
                <a:latin typeface="Times New Roman" panose="02020603050405020304" pitchFamily="18" charset="0"/>
                <a:ea typeface="SimSun"/>
                <a:cs typeface="Times New Roman" panose="02020603050405020304" pitchFamily="18" charset="0"/>
              </a:rPr>
              <a:t> </a:t>
            </a:r>
            <a:r>
              <a:rPr lang="en-HK" altLang="zh-CN" sz="1700" dirty="0">
                <a:latin typeface="Times New Roman" panose="02020603050405020304" pitchFamily="18" charset="0"/>
                <a:ea typeface="SimSun"/>
                <a:cs typeface="Times New Roman" panose="02020603050405020304" pitchFamily="18" charset="0"/>
              </a:rPr>
              <a:t>based on the </a:t>
            </a:r>
            <a:r>
              <a:rPr lang="en-HK" altLang="zh-CN" sz="1700" b="1" dirty="0">
                <a:solidFill>
                  <a:srgbClr val="AF1E3B"/>
                </a:solidFill>
                <a:latin typeface="Times New Roman" panose="02020603050405020304" pitchFamily="18" charset="0"/>
                <a:ea typeface="SimSun"/>
                <a:cs typeface="Times New Roman" panose="02020603050405020304" pitchFamily="18" charset="0"/>
              </a:rPr>
              <a:t>diamond-shaped IEC </a:t>
            </a:r>
            <a:r>
              <a:rPr lang="en-HK" altLang="zh-CN" sz="1700" dirty="0">
                <a:latin typeface="Times New Roman" panose="02020603050405020304" pitchFamily="18" charset="0"/>
                <a:ea typeface="SimSun"/>
                <a:cs typeface="Times New Roman" panose="02020603050405020304" pitchFamily="18" charset="0"/>
              </a:rPr>
              <a:t>to explore the optimal nozzle configurations and performances, as well as the </a:t>
            </a:r>
            <a:r>
              <a:rPr lang="en-HK" altLang="zh-CN" sz="1700" dirty="0">
                <a:solidFill>
                  <a:schemeClr val="bg2"/>
                </a:solidFill>
                <a:latin typeface="Times New Roman" panose="02020603050405020304" pitchFamily="18" charset="0"/>
                <a:ea typeface="SimSun"/>
                <a:cs typeface="Times New Roman" panose="02020603050405020304" pitchFamily="18" charset="0"/>
              </a:rPr>
              <a:t>enhancement strategies </a:t>
            </a:r>
            <a:r>
              <a:rPr lang="en-HK" altLang="zh-CN" sz="1700" dirty="0">
                <a:latin typeface="Times New Roman" panose="02020603050405020304" pitchFamily="18" charset="0"/>
                <a:ea typeface="SimSun"/>
                <a:cs typeface="Times New Roman" panose="02020603050405020304" pitchFamily="18" charset="0"/>
              </a:rPr>
              <a:t>for IEC in DCs</a:t>
            </a:r>
            <a:br/>
            <a:r>
              <a:rPr sz="1394" lang="zh-CN">
                <a:solidFill>
                  <a:srgbClr val="24425A"/>
                </a:solidFill>
                <a:latin typeface="Times New Roman"/>
                <a:ea typeface="SimSun"/>
                <a:cs typeface="Times New Roman"/>
              </a:rPr>
              <a:t>建立并验证菱形 IEC 的 CFD 模型，优化喷嘴布置并研究数据中心应用中的性能强化策略。</a:t>
            </a:r>
          </a:p>
        </p:txBody>
      </p:sp>
      <p:sp>
        <p:nvSpPr>
          <p:cNvPr id="3" name="灯片编号占位符 2">
            <a:extLst>
              <a:ext uri="{FF2B5EF4-FFF2-40B4-BE49-F238E27FC236}">
                <a16:creationId xmlns:a16="http://schemas.microsoft.com/office/drawing/2014/main" id="{A853DE87-8E23-4C3B-844F-56A0FFBFD1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13</a:t>
            </a:fld>
            <a:endParaRPr lang="en-US" altLang="zh-CN">
              <a:latin typeface="Times New Roman"/>
              <a:ea typeface="SimSun"/>
              <a:cs typeface="Times New Roman"/>
            </a:endParaRPr>
          </a:p>
        </p:txBody>
      </p:sp>
      <p:sp>
        <p:nvSpPr>
          <p:cNvPr id="7" name="矩形 3">
            <a:extLst>
              <a:ext uri="{FF2B5EF4-FFF2-40B4-BE49-F238E27FC236}">
                <a16:creationId xmlns:a16="http://schemas.microsoft.com/office/drawing/2014/main" id="{76A06385-B35A-4EB9-86C0-5166E3E123A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2000">
                <a:latin typeface="Times New Roman" panose="02020603050405020304" pitchFamily="18" charset="0"/>
                <a:ea typeface="SimSun" panose="020B0600070205080204" pitchFamily="34" charset="-128"/>
                <a:cs typeface="Times New Roman" panose="02020603050405020304" pitchFamily="18" charset="0"/>
              </a:rPr>
              <a:t>2. Research gaps and objectives</a:t>
            </a:r>
          </a:p>
        </p:txBody>
      </p:sp>
      <p:sp>
        <p:nvSpPr>
          <p:cNvPr id="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研究不足与目标</a:t>
            </a:r>
          </a:p>
        </p:txBody>
      </p:sp>
    </p:spTree>
    <p:extLst>
      <p:ext uri="{BB962C8B-B14F-4D97-AF65-F5344CB8AC3E}">
        <p14:creationId xmlns:p14="http://schemas.microsoft.com/office/powerpoint/2010/main" val="1626659428"/>
      </p:ext>
    </p:extLst>
  </p:cSld>
  <p:clrMapOvr>
    <a:masterClrMapping/>
  </p:clrMapOvr>
  <mc:AlternateContent xmlns:mc="http://schemas.openxmlformats.org/markup-compatibility/2006" xmlns:p14="http://schemas.microsoft.com/office/powerpoint/2010/main">
    <mc:Choice Requires="p14">
      <p:transition spd="slow" p14:dur="2000" advTm="47774"/>
    </mc:Choice>
    <mc:Fallback xmlns="">
      <p:transition spd="slow" advTm="47774"/>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853DE87-8E23-4C3B-844F-56A0FFBFD1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14</a:t>
            </a:fld>
            <a:endParaRPr lang="en-US" altLang="zh-CN">
              <a:latin typeface="Times New Roman"/>
              <a:ea typeface="SimSun"/>
              <a:cs typeface="Times New Roman"/>
            </a:endParaRPr>
          </a:p>
        </p:txBody>
      </p:sp>
      <p:sp>
        <p:nvSpPr>
          <p:cNvPr id="4" name="Rectangle 2">
            <a:extLst>
              <a:ext uri="{FF2B5EF4-FFF2-40B4-BE49-F238E27FC236}">
                <a16:creationId xmlns:a16="http://schemas.microsoft.com/office/drawing/2014/main" id="{70A53435-5E66-4FD2-B6E6-769376465AC2}"/>
              </a:ext>
            </a:extLst>
          </p:cNvPr>
          <p:cNvSpPr>
            <a:spLocks noChangeArrowheads="1"/>
          </p:cNvSpPr>
          <p:nvPr/>
        </p:nvSpPr>
        <p:spPr bwMode="auto">
          <a:xfrm>
            <a:off x="962025" y="323639"/>
            <a:ext cx="1432188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5" name="对象 4">
            <a:extLst>
              <a:ext uri="{FF2B5EF4-FFF2-40B4-BE49-F238E27FC236}">
                <a16:creationId xmlns:a16="http://schemas.microsoft.com/office/drawing/2014/main" id="{8024DDC6-D731-4D53-AF6A-1F4C29FC01F4}"/>
              </a:ext>
            </a:extLst>
          </p:cNvPr>
          <p:cNvGraphicFramePr>
            <a:graphicFrameLocks noChangeAspect="1"/>
          </p:cNvGraphicFramePr>
          <p:nvPr>
            <p:extLst>
              <p:ext uri="{D42A27DB-BD31-4B8C-83A1-F6EECF244321}">
                <p14:modId xmlns:p14="http://schemas.microsoft.com/office/powerpoint/2010/main" val="3166520294"/>
              </p:ext>
            </p:extLst>
          </p:nvPr>
        </p:nvGraphicFramePr>
        <p:xfrm>
          <a:off x="1162050" y="231565"/>
          <a:ext cx="10258425" cy="6534361"/>
        </p:xfrm>
        <a:graphic>
          <a:graphicData uri="http://schemas.openxmlformats.org/presentationml/2006/ole">
            <mc:AlternateContent xmlns:mc="http://schemas.openxmlformats.org/markup-compatibility/2006">
              <mc:Choice xmlns:v="urn:schemas-microsoft-com:vml" Requires="v">
                <p:oleObj name="Visio" r:id="rId3" imgW="12420571" imgH="7917098" progId="Visio.Drawing.15">
                  <p:embed/>
                </p:oleObj>
              </mc:Choice>
              <mc:Fallback>
                <p:oleObj name="Visio" r:id="rId3" imgW="12420571" imgH="791709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231565"/>
                        <a:ext cx="10258425" cy="6534361"/>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1258FFE4-CC42-9598-ED29-2045DC52D9E2}"/>
              </a:ext>
            </a:extLst>
          </p:cNvPr>
          <p:cNvSpPr/>
          <p:nvPr/>
        </p:nvSpPr>
        <p:spPr bwMode="auto">
          <a:xfrm>
            <a:off x="1339566" y="309473"/>
            <a:ext cx="9328434" cy="516027"/>
          </a:xfrm>
          <a:prstGeom prst="rect">
            <a:avLst/>
          </a:prstGeom>
          <a:solidFill>
            <a:srgbClr val="FFE080"/>
          </a:solidFill>
          <a:ln w="9525" cap="flat" cmpd="sng" algn="ctr">
            <a:noFill/>
            <a:prstDash val="solid"/>
            <a:round/>
            <a:headEnd type="none" w="med" len="med"/>
            <a:tailEnd type="none" w="med" len="med"/>
          </a:ln>
          <a:effectLst/>
        </p:spPr>
        <p:txBody>
          <a:bodyPr vert="horz" wrap="square" lIns="91440" tIns="0" rIns="91440" bIns="0" numCol="1" rtlCol="0" anchor="t" anchorCtr="0" compatLnSpc="1">
            <a:prstTxWarp prst="textNoShape">
              <a:avLst/>
            </a:prstTxWarp>
            <a:noAutofit/>
          </a:bodyPr>
          <a:lstStyle/>
          <a:p>
            <a:pPr marL="0" marR="0" indent="0" algn="l" defTabSz="914400" rtl="0" eaLnBrk="1" fontAlgn="base" latinLnBrk="0" hangingPunct="1">
              <a:buClrTx/>
              <a:buSzTx/>
              <a:buFontTx/>
              <a:buNone/>
              <a:tabLst/>
              <a:lnSpc>
                <a:spcPct val="108000"/>
              </a:lnSpc>
              <a:spcAft>
                <a:spcPts val="300"/>
              </a:spcAft>
            </a:pPr>
            <a:r>
              <a:rPr kumimoji="0" lang="en-US" altLang="zh-CN" sz="95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3</a:t>
            </a:r>
            <a:br/>
            <a:r>
              <a:rPr sz="779" lang="zh-CN" b="1">
                <a:solidFill>
                  <a:srgbClr val="24425A"/>
                </a:solidFill>
                <a:latin typeface="Times New Roman"/>
                <a:ea typeface="SimSun"/>
                <a:cs typeface="Times New Roman"/>
              </a:rPr>
              <a:t>第3部分</a:t>
            </a:r>
          </a:p>
          <a:p>
            <a:pPr marL="0" marR="0" indent="0" algn="l" defTabSz="914400" rtl="0" eaLnBrk="1" fontAlgn="base" latinLnBrk="0" hangingPunct="1">
              <a:buClrTx/>
              <a:buSzTx/>
              <a:buFontTx/>
              <a:buNone/>
              <a:tabLst/>
              <a:lnSpc>
                <a:spcPct val="108000"/>
              </a:lnSpc>
              <a:spcAft>
                <a:spcPts val="300"/>
              </a:spcAft>
            </a:pPr>
            <a:r>
              <a:rPr lang="en-US" altLang="zh-CN" sz="950" dirty="0">
                <a:solidFill>
                  <a:schemeClr val="bg2"/>
                </a:solidFill>
                <a:latin typeface="Times New Roman" panose="02020603050405020304" pitchFamily="18" charset="0"/>
                <a:ea typeface="SimSun"/>
                <a:cs typeface="Times New Roman" panose="02020603050405020304" pitchFamily="18" charset="0"/>
              </a:rPr>
              <a:t>FDM model</a:t>
            </a:r>
            <a:br/>
            <a:r>
              <a:rPr sz="779" lang="zh-CN" b="1">
                <a:solidFill>
                  <a:srgbClr val="24425A"/>
                </a:solidFill>
                <a:latin typeface="Times New Roman"/>
                <a:ea typeface="SimSun"/>
                <a:cs typeface="Times New Roman"/>
              </a:rPr>
              <a:t>FDM 模型</a:t>
            </a:r>
          </a:p>
        </p:txBody>
      </p:sp>
      <p:sp>
        <p:nvSpPr>
          <p:cNvPr id="7" name="矩形 6">
            <a:extLst>
              <a:ext uri="{FF2B5EF4-FFF2-40B4-BE49-F238E27FC236}">
                <a16:creationId xmlns:a16="http://schemas.microsoft.com/office/drawing/2014/main" id="{67269DCB-2C8E-C839-90D8-3233BED13225}"/>
              </a:ext>
            </a:extLst>
          </p:cNvPr>
          <p:cNvSpPr/>
          <p:nvPr/>
        </p:nvSpPr>
        <p:spPr bwMode="auto">
          <a:xfrm>
            <a:off x="4324688" y="3070835"/>
            <a:ext cx="1113394" cy="829848"/>
          </a:xfrm>
          <a:prstGeom prst="rect">
            <a:avLst/>
          </a:prstGeom>
          <a:solidFill>
            <a:srgbClr val="EFC4F0"/>
          </a:solidFill>
          <a:ln w="9525" cap="flat" cmpd="sng" algn="ctr">
            <a:noFill/>
            <a:prstDash val="solid"/>
            <a:round/>
            <a:headEnd type="none" w="med" len="med"/>
            <a:tailEnd type="none" w="med" len="med"/>
          </a:ln>
          <a:effectLst/>
        </p:spPr>
        <p:txBody>
          <a:bodyPr vert="horz" wrap="square" lIns="91440" tIns="0" rIns="91440" bIns="0" numCol="1" rtlCol="0" anchor="t" anchorCtr="0" compatLnSpc="1">
            <a:prstTxWarp prst="textNoShape">
              <a:avLst/>
            </a:prstTxWarp>
            <a:noAutofit/>
          </a:bodyPr>
          <a:lstStyle/>
          <a:p>
            <a:pPr marL="0" marR="0" indent="0" algn="l" defTabSz="914400" rtl="0" eaLnBrk="1" fontAlgn="base" latinLnBrk="0" hangingPunct="1">
              <a:buClrTx/>
              <a:buSzTx/>
              <a:buFontTx/>
              <a:buNone/>
              <a:tabLst/>
              <a:lnSpc>
                <a:spcPct val="108000"/>
              </a:lnSpc>
              <a:spcAft>
                <a:spcPts val="300"/>
              </a:spcAft>
            </a:pPr>
            <a:r>
              <a:rPr kumimoji="0" lang="en-US" altLang="zh-CN" sz="12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5</a:t>
            </a:r>
            <a:br/>
            <a:r>
              <a:rPr sz="984" lang="zh-CN">
                <a:solidFill>
                  <a:srgbClr val="24425A"/>
                </a:solidFill>
                <a:latin typeface="Times New Roman"/>
                <a:ea typeface="SimSun"/>
                <a:cs typeface="Times New Roman"/>
              </a:rPr>
              <a:t>第5部分</a:t>
            </a:r>
          </a:p>
          <a:p>
            <a:pPr marL="0" marR="0" indent="0" algn="l" defTabSz="914400" rtl="0" eaLnBrk="1" fontAlgn="base" latinLnBrk="0" hangingPunct="1">
              <a:buClrTx/>
              <a:buSzTx/>
              <a:buFontTx/>
              <a:buNone/>
              <a:tabLst/>
              <a:lnSpc>
                <a:spcPct val="108000"/>
              </a:lnSpc>
              <a:spcAft>
                <a:spcPts val="300"/>
              </a:spcAft>
            </a:pPr>
            <a:r>
              <a:rPr lang="en-US" altLang="zh-CN" sz="1200" dirty="0">
                <a:solidFill>
                  <a:schemeClr val="bg2"/>
                </a:solidFill>
                <a:latin typeface="Times New Roman" panose="02020603050405020304" pitchFamily="18" charset="0"/>
                <a:ea typeface="SimSun"/>
                <a:cs typeface="Times New Roman" panose="02020603050405020304" pitchFamily="18" charset="0"/>
              </a:rPr>
              <a:t>ANN model</a:t>
            </a:r>
            <a:br/>
            <a:r>
              <a:rPr sz="984" lang="zh-CN">
                <a:solidFill>
                  <a:srgbClr val="24425A"/>
                </a:solidFill>
                <a:latin typeface="Times New Roman"/>
                <a:ea typeface="SimSun"/>
                <a:cs typeface="Times New Roman"/>
              </a:rPr>
              <a:t>ANN 模型</a:t>
            </a:r>
          </a:p>
        </p:txBody>
      </p:sp>
      <p:sp>
        <p:nvSpPr>
          <p:cNvPr id="8" name="矩形 7">
            <a:extLst>
              <a:ext uri="{FF2B5EF4-FFF2-40B4-BE49-F238E27FC236}">
                <a16:creationId xmlns:a16="http://schemas.microsoft.com/office/drawing/2014/main" id="{C3D91274-9D7B-8228-FB25-8D25A4EADA54}"/>
              </a:ext>
            </a:extLst>
          </p:cNvPr>
          <p:cNvSpPr/>
          <p:nvPr/>
        </p:nvSpPr>
        <p:spPr bwMode="auto">
          <a:xfrm>
            <a:off x="6444033" y="1155659"/>
            <a:ext cx="1043765" cy="968245"/>
          </a:xfrm>
          <a:prstGeom prst="rect">
            <a:avLst/>
          </a:prstGeom>
          <a:solidFill>
            <a:srgbClr val="C9E8A8"/>
          </a:solidFill>
          <a:ln w="9525" cap="flat" cmpd="sng" algn="ctr">
            <a:noFill/>
            <a:prstDash val="solid"/>
            <a:round/>
            <a:headEnd type="none" w="med" len="med"/>
            <a:tailEnd type="none" w="med" len="med"/>
          </a:ln>
          <a:effectLst/>
        </p:spPr>
        <p:txBody>
          <a:bodyPr vert="horz" wrap="square" lIns="91440" tIns="0" rIns="91440" bIns="0" numCol="1" rtlCol="0" anchor="t" anchorCtr="0" compatLnSpc="1">
            <a:prstTxWarp prst="textNoShape">
              <a:avLst/>
            </a:prstTxWarp>
            <a:noAutofit/>
          </a:bodyPr>
          <a:lstStyle/>
          <a:p>
            <a:pPr marL="0" marR="0" indent="0" algn="l" defTabSz="914400" rtl="0" eaLnBrk="1" fontAlgn="base" latinLnBrk="0" hangingPunct="1">
              <a:buClrTx/>
              <a:buSzTx/>
              <a:buFontTx/>
              <a:buNone/>
              <a:tabLst/>
              <a:lnSpc>
                <a:spcPct val="108000"/>
              </a:lnSpc>
              <a:spcAft>
                <a:spcPts val="300"/>
              </a:spcAft>
            </a:pPr>
            <a:r>
              <a:rPr kumimoji="0" lang="en-US" altLang="zh-CN" sz="115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4</a:t>
            </a:r>
            <a:br/>
            <a:r>
              <a:rPr sz="943" lang="zh-CN">
                <a:solidFill>
                  <a:srgbClr val="24425A"/>
                </a:solidFill>
                <a:latin typeface="Times New Roman"/>
                <a:ea typeface="SimSun"/>
                <a:cs typeface="Times New Roman"/>
              </a:rPr>
              <a:t>第4部分</a:t>
            </a:r>
          </a:p>
          <a:p>
            <a:pPr marL="0" marR="0" indent="0" algn="l" defTabSz="914400" rtl="0" eaLnBrk="1" fontAlgn="base" latinLnBrk="0" hangingPunct="1">
              <a:buClrTx/>
              <a:buSzTx/>
              <a:buFontTx/>
              <a:buNone/>
              <a:tabLst/>
              <a:lnSpc>
                <a:spcPct val="108000"/>
              </a:lnSpc>
              <a:spcAft>
                <a:spcPts val="300"/>
              </a:spcAft>
            </a:pPr>
            <a:r>
              <a:rPr lang="en-US" altLang="zh-CN" sz="1150" dirty="0">
                <a:solidFill>
                  <a:schemeClr val="bg2"/>
                </a:solidFill>
                <a:latin typeface="Times New Roman" panose="02020603050405020304" pitchFamily="18" charset="0"/>
                <a:ea typeface="SimSun"/>
                <a:cs typeface="Times New Roman" panose="02020603050405020304" pitchFamily="18" charset="0"/>
              </a:rPr>
              <a:t>Common cross-flow type IEC</a:t>
            </a:r>
            <a:br/>
            <a:r>
              <a:rPr sz="943" lang="zh-CN">
                <a:solidFill>
                  <a:srgbClr val="24425A"/>
                </a:solidFill>
                <a:latin typeface="Times New Roman"/>
                <a:ea typeface="SimSun"/>
                <a:cs typeface="Times New Roman"/>
              </a:rPr>
              <a:t>常规叉流式 IEC</a:t>
            </a:r>
          </a:p>
        </p:txBody>
      </p:sp>
      <p:sp>
        <p:nvSpPr>
          <p:cNvPr id="9" name="矩形 8">
            <a:extLst>
              <a:ext uri="{FF2B5EF4-FFF2-40B4-BE49-F238E27FC236}">
                <a16:creationId xmlns:a16="http://schemas.microsoft.com/office/drawing/2014/main" id="{425BEDB0-1A94-E868-8308-2B33529EE459}"/>
              </a:ext>
            </a:extLst>
          </p:cNvPr>
          <p:cNvSpPr/>
          <p:nvPr/>
        </p:nvSpPr>
        <p:spPr bwMode="auto">
          <a:xfrm>
            <a:off x="7753039" y="1155659"/>
            <a:ext cx="908443" cy="934430"/>
          </a:xfrm>
          <a:prstGeom prst="rect">
            <a:avLst/>
          </a:prstGeom>
          <a:solidFill>
            <a:srgbClr val="DFF1CB"/>
          </a:solidFill>
          <a:ln w="9525" cap="flat" cmpd="sng" algn="ctr">
            <a:noFill/>
            <a:prstDash val="solid"/>
            <a:round/>
            <a:headEnd type="none" w="med" len="med"/>
            <a:tailEnd type="none" w="med" len="med"/>
          </a:ln>
          <a:effectLst/>
        </p:spPr>
        <p:txBody>
          <a:bodyPr vert="horz" wrap="square" lIns="91440" tIns="0" rIns="91440" bIns="0" numCol="1" rtlCol="0" anchor="t" anchorCtr="0" compatLnSpc="1">
            <a:prstTxWarp prst="textNoShape">
              <a:avLst/>
            </a:prstTxWarp>
            <a:noAutofit/>
          </a:bodyPr>
          <a:lstStyle/>
          <a:p>
            <a:pPr marL="0" marR="0" indent="0" algn="l" defTabSz="914400" rtl="0" eaLnBrk="1" fontAlgn="base" latinLnBrk="0" hangingPunct="1">
              <a:buClrTx/>
              <a:buSzTx/>
              <a:buFontTx/>
              <a:buNone/>
              <a:tabLst/>
              <a:lnSpc>
                <a:spcPct val="108000"/>
              </a:lnSpc>
              <a:spcAft>
                <a:spcPts val="300"/>
              </a:spcAft>
            </a:pPr>
            <a:r>
              <a:rPr kumimoji="0" lang="en-US" altLang="zh-CN" sz="11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6</a:t>
            </a:r>
            <a:br/>
            <a:r>
              <a:rPr sz="902" lang="zh-CN">
                <a:solidFill>
                  <a:srgbClr val="24425A"/>
                </a:solidFill>
                <a:latin typeface="Times New Roman"/>
                <a:ea typeface="SimSun"/>
                <a:cs typeface="Times New Roman"/>
              </a:rPr>
              <a:t>第6部分</a:t>
            </a:r>
          </a:p>
          <a:p>
            <a:pPr marL="0" marR="0" indent="0" algn="l" defTabSz="914400" rtl="0" eaLnBrk="1" fontAlgn="base" latinLnBrk="0" hangingPunct="1">
              <a:buClrTx/>
              <a:buSzTx/>
              <a:buFontTx/>
              <a:buNone/>
              <a:tabLst/>
              <a:lnSpc>
                <a:spcPct val="108000"/>
              </a:lnSpc>
              <a:spcAft>
                <a:spcPts val="300"/>
              </a:spcAft>
            </a:pPr>
            <a:r>
              <a:rPr lang="en-US" altLang="zh-CN" sz="1100" dirty="0">
                <a:solidFill>
                  <a:schemeClr val="bg2"/>
                </a:solidFill>
                <a:latin typeface="Times New Roman" panose="02020603050405020304" pitchFamily="18" charset="0"/>
                <a:ea typeface="SimSun"/>
                <a:cs typeface="Times New Roman" panose="02020603050405020304" pitchFamily="18" charset="0"/>
              </a:rPr>
              <a:t>Diamond-shaped IEC</a:t>
            </a:r>
            <a:br/>
            <a:r>
              <a:rPr sz="902" lang="zh-CN">
                <a:solidFill>
                  <a:srgbClr val="24425A"/>
                </a:solidFill>
                <a:latin typeface="Times New Roman"/>
                <a:ea typeface="SimSun"/>
                <a:cs typeface="Times New Roman"/>
              </a:rPr>
              <a:t>菱形 IEC</a:t>
            </a:r>
          </a:p>
        </p:txBody>
      </p:sp>
    </p:spTree>
    <p:extLst>
      <p:ext uri="{BB962C8B-B14F-4D97-AF65-F5344CB8AC3E}">
        <p14:creationId xmlns:p14="http://schemas.microsoft.com/office/powerpoint/2010/main" val="3914939096"/>
      </p:ext>
    </p:extLst>
  </p:cSld>
  <p:clrMapOvr>
    <a:masterClrMapping/>
  </p:clrMapOvr>
  <mc:AlternateContent xmlns:mc="http://schemas.openxmlformats.org/markup-compatibility/2006" xmlns:p14="http://schemas.microsoft.com/office/powerpoint/2010/main">
    <mc:Choice Requires="p14">
      <p:transition spd="slow" p14:dur="2000" advTm="47774"/>
    </mc:Choice>
    <mc:Fallback xmlns="">
      <p:transition spd="slow" advTm="4777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15</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rgbClr val="C00000"/>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10044434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36EF977-B5E6-4612-B4E0-760D482E886E}"/>
              </a:ext>
            </a:extLst>
          </p:cNvPr>
          <p:cNvPicPr>
            <a:picLocks noChangeAspect="1"/>
          </p:cNvPicPr>
          <p:nvPr/>
        </p:nvPicPr>
        <p:blipFill>
          <a:blip r:embed="rId3"/>
          <a:stretch>
            <a:fillRect/>
          </a:stretch>
        </p:blipFill>
        <p:spPr>
          <a:xfrm>
            <a:off x="6608996" y="4282820"/>
            <a:ext cx="4584112" cy="1952100"/>
          </a:xfrm>
          <a:prstGeom prst="rect">
            <a:avLst/>
          </a:prstGeom>
        </p:spPr>
      </p:pic>
      <p:pic>
        <p:nvPicPr>
          <p:cNvPr id="7" name="图片 6">
            <a:extLst>
              <a:ext uri="{FF2B5EF4-FFF2-40B4-BE49-F238E27FC236}">
                <a16:creationId xmlns:a16="http://schemas.microsoft.com/office/drawing/2014/main" id="{B8BE0C2B-0B3E-4C2D-9420-4C3ECFCE5D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382" y="1035157"/>
            <a:ext cx="3397479" cy="3036684"/>
          </a:xfrm>
          <a:prstGeom prst="rect">
            <a:avLst/>
          </a:prstGeom>
        </p:spPr>
      </p:pic>
      <p:pic>
        <p:nvPicPr>
          <p:cNvPr id="10" name="图片 9">
            <a:extLst>
              <a:ext uri="{FF2B5EF4-FFF2-40B4-BE49-F238E27FC236}">
                <a16:creationId xmlns:a16="http://schemas.microsoft.com/office/drawing/2014/main" id="{997745E3-102C-45DA-8D4E-780E6123C0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908" y="1520194"/>
            <a:ext cx="5087333" cy="3240000"/>
          </a:xfrm>
          <a:prstGeom prst="rect">
            <a:avLst/>
          </a:prstGeom>
        </p:spPr>
      </p:pic>
      <p:sp>
        <p:nvSpPr>
          <p:cNvPr id="11" name="椭圆 10">
            <a:extLst>
              <a:ext uri="{FF2B5EF4-FFF2-40B4-BE49-F238E27FC236}">
                <a16:creationId xmlns:a16="http://schemas.microsoft.com/office/drawing/2014/main" id="{79F29C5C-DF92-4F2A-8E3C-E689D058AF2E}"/>
              </a:ext>
            </a:extLst>
          </p:cNvPr>
          <p:cNvSpPr/>
          <p:nvPr/>
        </p:nvSpPr>
        <p:spPr>
          <a:xfrm>
            <a:off x="1755844" y="1569937"/>
            <a:ext cx="1573452" cy="828259"/>
          </a:xfrm>
          <a:prstGeom prst="ellipse">
            <a:avLst/>
          </a:prstGeom>
          <a:noFill/>
          <a:ln w="127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dirty="0">
              <a:solidFill>
                <a:prstClr val="white"/>
              </a:solidFill>
              <a:latin typeface="Times New Roman" panose="020F0502020204030204"/>
              <a:ea typeface="SimSun"/>
              <a:cs typeface="Times New Roman"/>
            </a:endParaRPr>
          </a:p>
        </p:txBody>
      </p:sp>
      <p:cxnSp>
        <p:nvCxnSpPr>
          <p:cNvPr id="12" name="直接箭头连接符 11">
            <a:extLst>
              <a:ext uri="{FF2B5EF4-FFF2-40B4-BE49-F238E27FC236}">
                <a16:creationId xmlns:a16="http://schemas.microsoft.com/office/drawing/2014/main" id="{1F4553F9-4CD6-40EF-8B1C-5D11EEAD4DA7}"/>
              </a:ext>
            </a:extLst>
          </p:cNvPr>
          <p:cNvCxnSpPr>
            <a:cxnSpLocks/>
          </p:cNvCxnSpPr>
          <p:nvPr/>
        </p:nvCxnSpPr>
        <p:spPr>
          <a:xfrm flipV="1">
            <a:off x="3329296" y="1618728"/>
            <a:ext cx="4185929" cy="290034"/>
          </a:xfrm>
          <a:prstGeom prst="straightConnector1">
            <a:avLst/>
          </a:prstGeom>
          <a:noFill/>
          <a:ln w="6350" cap="flat" cmpd="sng" algn="ctr">
            <a:solidFill>
              <a:srgbClr val="C00000"/>
            </a:solidFill>
            <a:prstDash val="solid"/>
            <a:miter lim="800000"/>
            <a:tailEnd type="triangle"/>
          </a:ln>
          <a:effectLst/>
        </p:spPr>
      </p:cxnSp>
      <p:sp>
        <p:nvSpPr>
          <p:cNvPr id="17" name="矩形 16">
            <a:extLst>
              <a:ext uri="{FF2B5EF4-FFF2-40B4-BE49-F238E27FC236}">
                <a16:creationId xmlns:a16="http://schemas.microsoft.com/office/drawing/2014/main" id="{1BB2590E-3C33-462D-856F-620D5822B162}"/>
              </a:ext>
            </a:extLst>
          </p:cNvPr>
          <p:cNvSpPr/>
          <p:nvPr/>
        </p:nvSpPr>
        <p:spPr>
          <a:xfrm>
            <a:off x="1402676" y="4947054"/>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3.1.1 </a:t>
            </a:r>
            <a:r>
              <a:rPr lang="en-HK" sz="1200" dirty="0">
                <a:solidFill>
                  <a:prstClr val="black"/>
                </a:solidFill>
                <a:latin typeface="Times New Roman" panose="02020603050405020304" pitchFamily="18" charset="0"/>
                <a:ea typeface="SimSun"/>
                <a:cs typeface="Times New Roman" panose="02020603050405020304" pitchFamily="18" charset="0"/>
              </a:rPr>
              <a:t>Configuration of an IEC system</a:t>
            </a:r>
          </a:p>
        </p:txBody>
      </p:sp>
      <p:sp>
        <p:nvSpPr>
          <p:cNvPr id="23" name="矩形 22">
            <a:extLst>
              <a:ext uri="{FF2B5EF4-FFF2-40B4-BE49-F238E27FC236}">
                <a16:creationId xmlns:a16="http://schemas.microsoft.com/office/drawing/2014/main" id="{E3C7E495-B22F-4CB1-BAC0-69116BBB6588}"/>
              </a:ext>
            </a:extLst>
          </p:cNvPr>
          <p:cNvSpPr/>
          <p:nvPr/>
        </p:nvSpPr>
        <p:spPr>
          <a:xfrm>
            <a:off x="6740410" y="4071841"/>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3.1.2 </a:t>
            </a:r>
            <a:r>
              <a:rPr lang="en-HK" sz="1200" dirty="0">
                <a:solidFill>
                  <a:prstClr val="black"/>
                </a:solidFill>
                <a:latin typeface="Times New Roman" panose="02020603050405020304" pitchFamily="18" charset="0"/>
                <a:ea typeface="SimSun"/>
                <a:cs typeface="Times New Roman" panose="02020603050405020304" pitchFamily="18" charset="0"/>
              </a:rPr>
              <a:t>Geometry used in volumetric flux distribution model</a:t>
            </a:r>
            <a:r>
              <a:rPr lang="en-US" sz="1200" baseline="30000" dirty="0">
                <a:solidFill>
                  <a:prstClr val="black"/>
                </a:solidFill>
                <a:latin typeface="Times New Roman" panose="02020603050405020304" pitchFamily="18" charset="0"/>
                <a:ea typeface="SimSun"/>
                <a:cs typeface="Times New Roman" panose="02020603050405020304" pitchFamily="18" charset="0"/>
              </a:rPr>
              <a:t> [1]</a:t>
            </a:r>
            <a:endParaRPr lang="en-HK" sz="1200" dirty="0">
              <a:solidFill>
                <a:prstClr val="black"/>
              </a:solidFill>
              <a:latin typeface="Times New Roman" panose="02020603050405020304" pitchFamily="18" charset="0"/>
              <a:ea typeface="SimSun"/>
              <a:cs typeface="Times New Roman" panose="02020603050405020304" pitchFamily="18" charset="0"/>
            </a:endParaRPr>
          </a:p>
        </p:txBody>
      </p:sp>
      <p:sp>
        <p:nvSpPr>
          <p:cNvPr id="24" name="矩形 23">
            <a:extLst>
              <a:ext uri="{FF2B5EF4-FFF2-40B4-BE49-F238E27FC236}">
                <a16:creationId xmlns:a16="http://schemas.microsoft.com/office/drawing/2014/main" id="{E2930FF6-07BE-4486-A5C5-CEA70EC2414A}"/>
              </a:ext>
            </a:extLst>
          </p:cNvPr>
          <p:cNvSpPr/>
          <p:nvPr/>
        </p:nvSpPr>
        <p:spPr>
          <a:xfrm>
            <a:off x="7515225" y="6164188"/>
            <a:ext cx="4792063"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3.1.3 </a:t>
            </a:r>
            <a:r>
              <a:rPr lang="en-HK" sz="1200" dirty="0">
                <a:solidFill>
                  <a:prstClr val="black"/>
                </a:solidFill>
                <a:latin typeface="Times New Roman" panose="02020603050405020304" pitchFamily="18" charset="0"/>
                <a:ea typeface="SimSun"/>
                <a:cs typeface="Times New Roman" panose="02020603050405020304" pitchFamily="18" charset="0"/>
              </a:rPr>
              <a:t>Three scenarios of spray impact area</a:t>
            </a: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25" name="矩形 24">
            <a:extLst>
              <a:ext uri="{FF2B5EF4-FFF2-40B4-BE49-F238E27FC236}">
                <a16:creationId xmlns:a16="http://schemas.microsoft.com/office/drawing/2014/main" id="{7DB86AE5-5915-4DED-8B6C-85D34F70AFB5}"/>
              </a:ext>
            </a:extLst>
          </p:cNvPr>
          <p:cNvSpPr/>
          <p:nvPr/>
        </p:nvSpPr>
        <p:spPr>
          <a:xfrm>
            <a:off x="1552576" y="6611780"/>
            <a:ext cx="9979897" cy="246221"/>
          </a:xfrm>
          <a:prstGeom prst="rect">
            <a:avLst/>
          </a:prstGeom>
        </p:spPr>
        <p:txBody>
          <a:bodyPr wrap="square">
            <a:spAutoFit/>
          </a:bodyPr>
          <a:lstStyle/>
          <a:p>
            <a:pPr defTabSz="457200" eaLnBrk="1" fontAlgn="auto" hangingPunct="1">
              <a:spcBef>
                <a:spcPts val="0"/>
              </a:spcBef>
              <a:spcAft>
                <a:spcPts val="0"/>
              </a:spcAft>
            </a:pPr>
            <a:r>
              <a:rPr lang="en-US" sz="10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[1] </a:t>
            </a:r>
            <a:r>
              <a:rPr lang="en-US" sz="1000"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Mudawar</a:t>
            </a:r>
            <a:r>
              <a:rPr lang="en-US" sz="10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I, Estes KA. Optimizing and predicting CHF in spray cooling of a square surface. J Heat Transfer 1996;118:672–9. https://doi.org/10.1115/1.2822685.</a:t>
            </a:r>
            <a:endParaRPr lang="en-HK" sz="1000" dirty="0">
              <a:solidFill>
                <a:prstClr val="black"/>
              </a:solidFill>
              <a:latin typeface="Times New Roman" panose="02020603050405020304" pitchFamily="18" charset="0"/>
              <a:ea typeface="SimSun"/>
              <a:cs typeface="Times New Roman" panose="02020603050405020304" pitchFamily="18" charset="0"/>
            </a:endParaRPr>
          </a:p>
        </p:txBody>
      </p:sp>
      <p:sp>
        <p:nvSpPr>
          <p:cNvPr id="2" name="矩形 1">
            <a:extLst>
              <a:ext uri="{FF2B5EF4-FFF2-40B4-BE49-F238E27FC236}">
                <a16:creationId xmlns:a16="http://schemas.microsoft.com/office/drawing/2014/main" id="{BFC2E9D6-DD4B-40D6-8701-5917191F2CDA}"/>
              </a:ext>
            </a:extLst>
          </p:cNvPr>
          <p:cNvSpPr/>
          <p:nvPr/>
        </p:nvSpPr>
        <p:spPr>
          <a:xfrm>
            <a:off x="998892" y="5199053"/>
            <a:ext cx="4792063" cy="1306396"/>
          </a:xfrm>
          <a:prstGeom prst="rect">
            <a:avLst/>
          </a:prstGeom>
        </p:spPr>
        <p:txBody>
          <a:bodyPr wrap="square" tIns="0" bIns="0">
            <a:noAutofit/>
          </a:bodyPr>
          <a:lstStyle/>
          <a:p>
            <a:pPr algn="l">
              <a:lnSpc>
                <a:spcPct val="108000"/>
              </a:lnSpc>
              <a:spcAft>
                <a:spcPts val="300"/>
              </a:spcAft>
            </a:pPr>
            <a:r>
              <a:rPr lang="en-HK" sz="1650" b="1" dirty="0">
                <a:latin typeface="Times New Roman" panose="02020603050405020304" pitchFamily="18" charset="0"/>
                <a:ea typeface="SimSun"/>
                <a:cs typeface="Times New Roman" panose="02020603050405020304" pitchFamily="18" charset="0"/>
              </a:rPr>
              <a:t>Assumption</a:t>
            </a:r>
            <a:r>
              <a:rPr lang="zh-CN" altLang="en-US" sz="1650" b="1" dirty="0">
                <a:latin typeface="Times New Roman" panose="02020603050405020304" pitchFamily="18" charset="0"/>
                <a:ea typeface="SimSun"/>
                <a:cs typeface="Times New Roman" panose="02020603050405020304" pitchFamily="18" charset="0"/>
              </a:rPr>
              <a:t>：</a:t>
            </a:r>
            <a:br/>
            <a:r>
              <a:rPr sz="1353" lang="zh-CN">
                <a:solidFill>
                  <a:srgbClr val="24425A"/>
                </a:solidFill>
                <a:latin typeface="Times New Roman"/>
                <a:ea typeface="SimSun"/>
                <a:cs typeface="Times New Roman"/>
              </a:rPr>
              <a:t>模型假设：</a:t>
            </a:r>
          </a:p>
          <a:p>
            <a:pPr algn="l">
              <a:lnSpc>
                <a:spcPct val="108000"/>
              </a:lnSpc>
              <a:spcAft>
                <a:spcPts val="300"/>
              </a:spcAft>
            </a:pPr>
            <a:r>
              <a:rPr lang="en-HK" sz="1650" dirty="0">
                <a:latin typeface="Times New Roman" panose="02020603050405020304" pitchFamily="18" charset="0"/>
                <a:ea typeface="SimSun"/>
                <a:cs typeface="Times New Roman" panose="02020603050405020304" pitchFamily="18" charset="0"/>
              </a:rPr>
              <a:t>The total spray flow rate, Q, is uniformly distributed over any spherical surface </a:t>
            </a:r>
            <a:r>
              <a:rPr lang="en-HK" sz="1650" dirty="0" err="1">
                <a:latin typeface="Times New Roman" panose="02020603050405020304" pitchFamily="18" charset="0"/>
                <a:ea typeface="SimSun"/>
                <a:cs typeface="Times New Roman" panose="02020603050405020304" pitchFamily="18" charset="0"/>
              </a:rPr>
              <a:t>centered</a:t>
            </a:r>
            <a:r>
              <a:rPr lang="en-HK" sz="1650" dirty="0">
                <a:latin typeface="Times New Roman" panose="02020603050405020304" pitchFamily="18" charset="0"/>
                <a:ea typeface="SimSun"/>
                <a:cs typeface="Times New Roman" panose="02020603050405020304" pitchFamily="18" charset="0"/>
              </a:rPr>
              <a:t> at the spray orifice.</a:t>
            </a:r>
            <a:br/>
            <a:r>
              <a:rPr sz="1353" lang="zh-CN">
                <a:solidFill>
                  <a:srgbClr val="24425A"/>
                </a:solidFill>
                <a:latin typeface="Times New Roman"/>
                <a:ea typeface="SimSun"/>
                <a:cs typeface="Times New Roman"/>
              </a:rPr>
              <a:t>总喷淋流量 Q 在以喷口为球心的任一球面上均匀分布。</a:t>
            </a:r>
          </a:p>
        </p:txBody>
      </p:sp>
      <p:sp>
        <p:nvSpPr>
          <p:cNvPr id="14" name="矩形 3">
            <a:extLst>
              <a:ext uri="{FF2B5EF4-FFF2-40B4-BE49-F238E27FC236}">
                <a16:creationId xmlns:a16="http://schemas.microsoft.com/office/drawing/2014/main" id="{ACE7F072-BF5C-4B0C-A972-CAEBCE53071A}"/>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20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2000">
                <a:latin typeface="Times New Roman" panose="02020603050405020304" pitchFamily="18" charset="0"/>
                <a:ea typeface="SimSun" panose="020B0600070205080204" pitchFamily="34" charset="-128"/>
                <a:cs typeface="Times New Roman" panose="02020603050405020304" pitchFamily="18" charset="0"/>
              </a:rPr>
              <a:t>Development of FDM model for nozzle optimization of IEC</a:t>
            </a:r>
          </a:p>
        </p:txBody>
      </p:sp>
      <p:sp>
        <p:nvSpPr>
          <p:cNvPr id="15" name="Content Placeholder 23">
            <a:extLst>
              <a:ext uri="{FF2B5EF4-FFF2-40B4-BE49-F238E27FC236}">
                <a16:creationId xmlns:a16="http://schemas.microsoft.com/office/drawing/2014/main" id="{1D69A371-8A3F-4C13-B12D-633F6189A6DE}"/>
              </a:ext>
            </a:extLst>
          </p:cNvPr>
          <p:cNvSpPr txBox="1">
            <a:spLocks/>
          </p:cNvSpPr>
          <p:nvPr/>
        </p:nvSpPr>
        <p:spPr bwMode="auto">
          <a:xfrm>
            <a:off x="542065" y="1012054"/>
            <a:ext cx="11078435" cy="539750"/>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700" b="1" kern="0" dirty="0">
                <a:latin typeface="Times New Roman" panose="02020603050405020304" pitchFamily="18" charset="0"/>
                <a:ea typeface="SimSun"/>
                <a:cs typeface="Times New Roman" panose="02020603050405020304" pitchFamily="18" charset="0"/>
              </a:rPr>
              <a:t>3.1 Mathematical model</a:t>
            </a:r>
            <a:r>
              <a:rPr sz="1394" lang="zh-CN">
                <a:solidFill>
                  <a:srgbClr val="24425A"/>
                </a:solidFill>
                <a:latin typeface="Times New Roman"/>
                <a:ea typeface="SimSun"/>
                <a:cs typeface="Times New Roman"/>
              </a:rPr>
              <a:t>  数学模型</a:t>
            </a:r>
          </a:p>
        </p:txBody>
      </p:sp>
      <p:sp>
        <p:nvSpPr>
          <p:cNvPr id="3" name="灯片编号占位符 2">
            <a:extLst>
              <a:ext uri="{FF2B5EF4-FFF2-40B4-BE49-F238E27FC236}">
                <a16:creationId xmlns:a16="http://schemas.microsoft.com/office/drawing/2014/main" id="{B5045246-EE37-4BB8-A189-B23A691781C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16</a:t>
            </a:fld>
            <a:endParaRPr lang="en-US" altLang="zh-CN" dirty="0">
              <a:latin typeface="Times New Roman"/>
              <a:ea typeface="SimSun"/>
              <a:cs typeface="Times New Roman"/>
            </a:endParaRPr>
          </a:p>
        </p:txBody>
      </p:sp>
      <p:sp>
        <p:nvSpPr>
          <p:cNvPr id="26"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155050902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对象 26">
            <a:extLst>
              <a:ext uri="{FF2B5EF4-FFF2-40B4-BE49-F238E27FC236}">
                <a16:creationId xmlns:a16="http://schemas.microsoft.com/office/drawing/2014/main" id="{721F317A-D05B-4100-A9B4-D94F506BE036}"/>
              </a:ext>
            </a:extLst>
          </p:cNvPr>
          <p:cNvGraphicFramePr>
            <a:graphicFrameLocks noChangeAspect="1"/>
          </p:cNvGraphicFramePr>
          <p:nvPr>
            <p:extLst>
              <p:ext uri="{D42A27DB-BD31-4B8C-83A1-F6EECF244321}">
                <p14:modId xmlns:p14="http://schemas.microsoft.com/office/powerpoint/2010/main" val="2614438092"/>
              </p:ext>
            </p:extLst>
          </p:nvPr>
        </p:nvGraphicFramePr>
        <p:xfrm>
          <a:off x="4147664" y="3694666"/>
          <a:ext cx="3862129" cy="3015754"/>
        </p:xfrm>
        <a:graphic>
          <a:graphicData uri="http://schemas.openxmlformats.org/presentationml/2006/ole">
            <mc:AlternateContent xmlns:mc="http://schemas.openxmlformats.org/markup-compatibility/2006">
              <mc:Choice xmlns:v="urn:schemas-microsoft-com:vml" Requires="v">
                <p:oleObj name="Graph" r:id="rId3" imgW="6940973" imgH="5420971" progId="Origin50.Graph">
                  <p:embed/>
                </p:oleObj>
              </mc:Choice>
              <mc:Fallback>
                <p:oleObj name="Graph" r:id="rId3" imgW="6940973" imgH="5420971" progId="Origin50.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7664" y="3694666"/>
                        <a:ext cx="3862129" cy="301575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F1180BE-ECF2-4826-AE0C-151653CEE077}"/>
                  </a:ext>
                </a:extLst>
              </p:cNvPr>
              <p:cNvSpPr/>
              <p:nvPr/>
            </p:nvSpPr>
            <p:spPr>
              <a:xfrm>
                <a:off x="386739" y="1325869"/>
                <a:ext cx="3702307" cy="1328120"/>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sz="1800" dirty="0">
                    <a:solidFill>
                      <a:prstClr val="black"/>
                    </a:solidFill>
                    <a:latin typeface="Times New Roman" panose="02020603050405020304" pitchFamily="18" charset="0"/>
                    <a:ea typeface="SimSun"/>
                    <a:cs typeface="Times New Roman" panose="02020603050405020304" pitchFamily="18" charset="0"/>
                  </a:rPr>
                  <a:t>Boundary </a:t>
                </a:r>
                <a:r>
                  <a:rPr lang="en-US" altLang="zh-CN" sz="18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condition</a:t>
                </a:r>
                <a:r>
                  <a:rPr lang="en-HK" altLang="zh-CN" sz="18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a:p>
                <a:pPr defTabSz="457200" eaLnBrk="1" fontAlgn="auto">
                  <a:spcBef>
                    <a:spcPts val="0"/>
                  </a:spcBef>
                  <a:spcAft>
                    <a:spcPts val="0"/>
                  </a:spcAft>
                </a:pPr>
                <a14:m>
                  <m:oMathPara xmlns:m="http://schemas.openxmlformats.org/officeDocument/2006/math">
                    <m:oMath>
                      <m:eqArr>
                        <m:eqArrPr>
                          <m:ctrlPr>
                            <a:rPr lang="en-HK" sz="1400" i="1">
                              <a:solidFill>
                                <a:prstClr val="black"/>
                              </a:solidFill>
                              <a:latin typeface="Times New Roman" panose="02040503050406030204" pitchFamily="18" charset="0"/>
                              <a:ea typeface="SimSun"/>
                              <a:cs typeface="Times New Roman"/>
                            </a:rPr>
                          </m:ctrlPr>
                        </m:eqArrPr>
                        <m:e>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𝑥</m:t>
                              </m:r>
                            </m:e>
                            <m:sup>
                              <m:r>
                                <a:rPr lang="en-US" sz="1400">
                                  <a:solidFill>
                                    <a:prstClr val="black"/>
                                  </a:solidFill>
                                  <a:latin typeface="Times New Roman" panose="02040503050406030204" pitchFamily="18" charset="0"/>
                                  <a:ea typeface="SimSun"/>
                                  <a:cs typeface="Times New Roman"/>
                                </a:rPr>
                                <m:t>2</m:t>
                              </m:r>
                            </m:sup>
                          </m:sSup>
                          <m:r>
                            <a:rPr lang="en-US" sz="1400">
                              <a:solidFill>
                                <a:prstClr val="black"/>
                              </a:solidFill>
                              <a:latin typeface="Times New Roman" panose="02040503050406030204" pitchFamily="18" charset="0"/>
                              <a:ea typeface="SimSun"/>
                              <a:cs typeface="Times New Roman"/>
                            </a:rPr>
                            <m:t>+</m:t>
                          </m:r>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𝑦</m:t>
                              </m:r>
                            </m:e>
                            <m:sup>
                              <m:r>
                                <a:rPr lang="en-US" sz="1400">
                                  <a:solidFill>
                                    <a:prstClr val="black"/>
                                  </a:solidFill>
                                  <a:latin typeface="Times New Roman" panose="02040503050406030204" pitchFamily="18" charset="0"/>
                                  <a:ea typeface="SimSun"/>
                                  <a:cs typeface="Times New Roman"/>
                                </a:rPr>
                                <m:t>2</m:t>
                              </m:r>
                            </m:sup>
                          </m:sSup>
                          <m:r>
                            <a:rPr lang="en-US"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𝐻</m:t>
                                  </m:r>
                                  <m:r>
                                    <a:rPr lang="en-US" sz="1400" i="1">
                                      <a:solidFill>
                                        <a:prstClr val="black"/>
                                      </a:solidFill>
                                      <a:latin typeface="Times New Roman" panose="02040503050406030204" pitchFamily="18" charset="0"/>
                                      <a:ea typeface="SimSun"/>
                                      <a:cs typeface="Times New Roman"/>
                                    </a:rPr>
                                    <m:t>×</m:t>
                                  </m:r>
                                  <m:func>
                                    <m:funcPr>
                                      <m:ctrlPr>
                                        <a:rPr lang="en-US" sz="1400">
                                          <a:solidFill>
                                            <a:prstClr val="black"/>
                                          </a:solidFill>
                                          <a:latin typeface="Times New Roman" panose="02040503050406030204" pitchFamily="18" charset="0"/>
                                          <a:ea typeface="SimSun"/>
                                          <a:cs typeface="Times New Roman"/>
                                        </a:rPr>
                                      </m:ctrlPr>
                                    </m:funcPr>
                                    <m:fName>
                                      <m:r>
                                        <m:rPr>
                                          <m:sty m:val="p"/>
                                        </m:rPr>
                                        <a:rPr lang="en-US" sz="1400">
                                          <a:solidFill>
                                            <a:prstClr val="black"/>
                                          </a:solidFill>
                                          <a:latin typeface="Times New Roman" panose="02040503050406030204" pitchFamily="18" charset="0"/>
                                          <a:ea typeface="SimSun"/>
                                          <a:cs typeface="Times New Roman"/>
                                        </a:rPr>
                                        <m:t>tan</m:t>
                                      </m:r>
                                    </m:fName>
                                    <m:e>
                                      <m:f>
                                        <m:fPr>
                                          <m:ctrlPr>
                                            <a:rPr lang="en-US" sz="1400" i="1">
                                              <a:solidFill>
                                                <a:prstClr val="black"/>
                                              </a:solidFill>
                                              <a:latin typeface="Times New Roman" panose="02040503050406030204" pitchFamily="18" charset="0"/>
                                              <a:ea typeface="SimSun"/>
                                              <a:cs typeface="Times New Roman"/>
                                            </a:rPr>
                                          </m:ctrlPr>
                                        </m:fPr>
                                        <m:num>
                                          <m:r>
                                            <a:rPr lang="en-US" sz="1400" i="1">
                                              <a:solidFill>
                                                <a:prstClr val="black"/>
                                              </a:solidFill>
                                              <a:latin typeface="Times New Roman" panose="02040503050406030204" pitchFamily="18" charset="0"/>
                                              <a:ea typeface="SimSun"/>
                                              <a:cs typeface="Times New Roman"/>
                                            </a:rPr>
                                            <m:t>𝜃</m:t>
                                          </m:r>
                                        </m:num>
                                        <m:den>
                                          <m:r>
                                            <a:rPr lang="en-US" sz="1400">
                                              <a:solidFill>
                                                <a:prstClr val="black"/>
                                              </a:solidFill>
                                              <a:latin typeface="Times New Roman" panose="02040503050406030204" pitchFamily="18" charset="0"/>
                                              <a:ea typeface="SimSun"/>
                                              <a:cs typeface="Times New Roman"/>
                                            </a:rPr>
                                            <m:t>2</m:t>
                                          </m:r>
                                        </m:den>
                                      </m:f>
                                    </m:e>
                                  </m:func>
                                </m:e>
                              </m:d>
                            </m:e>
                            <m:sup>
                              <m:r>
                                <a:rPr lang="en-US" sz="1400">
                                  <a:solidFill>
                                    <a:prstClr val="black"/>
                                  </a:solidFill>
                                  <a:latin typeface="Times New Roman" panose="02040503050406030204" pitchFamily="18" charset="0"/>
                                  <a:ea typeface="SimSun"/>
                                  <a:cs typeface="Times New Roman"/>
                                </a:rPr>
                                <m:t>2</m:t>
                              </m:r>
                            </m:sup>
                          </m:sSup>
                        </m:e>
                      </m:eqArr>
                    </m:oMath>
                  </m:oMathPara>
                </a14:m>
                <a:endParaRPr lang="en-HK" sz="1400" dirty="0">
                  <a:solidFill>
                    <a:prstClr val="black"/>
                  </a:solidFill>
                  <a:latin typeface="Times New Roman" panose="020F0502020204030204"/>
                  <a:ea typeface="SimSun"/>
                  <a:cs typeface="Times New Roman"/>
                </a:endParaRPr>
              </a:p>
              <a:p>
                <a:pPr defTabSz="457200" eaLnBrk="1" fontAlgn="auto" hangingPunct="1">
                  <a:spcBef>
                    <a:spcPts val="0"/>
                  </a:spcBef>
                  <a:spcAft>
                    <a:spcPts val="0"/>
                  </a:spcAft>
                </a:pPr>
                <a14:m>
                  <m:oMathPara xmlns:m="http://schemas.openxmlformats.org/officeDocument/2006/math">
                    <m:oMath>
                      <m:eqArr>
                        <m:eqArrPr>
                          <m:ctrlPr>
                            <a:rPr lang="en-HK" sz="1400" i="1">
                              <a:solidFill>
                                <a:prstClr val="black"/>
                              </a:solidFill>
                              <a:latin typeface="Times New Roman" panose="02040503050406030204" pitchFamily="18" charset="0"/>
                              <a:ea typeface="SimSun"/>
                              <a:cs typeface="Times New Roman"/>
                            </a:rPr>
                          </m:ctrlPr>
                        </m:eqArrPr>
                        <m:e>
                          <m:f>
                            <m:fPr>
                              <m:ctrlPr>
                                <a:rPr lang="en-HK" sz="1400" i="1">
                                  <a:solidFill>
                                    <a:prstClr val="black"/>
                                  </a:solidFill>
                                  <a:latin typeface="Times New Roman" panose="02040503050406030204" pitchFamily="18" charset="0"/>
                                  <a:ea typeface="SimSun"/>
                                  <a:cs typeface="Times New Roman"/>
                                </a:rPr>
                              </m:ctrlPr>
                            </m:fPr>
                            <m:num>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𝑥</m:t>
                                      </m:r>
                                      <m:r>
                                        <a:rPr lang="en-US" sz="1400" i="1">
                                          <a:solidFill>
                                            <a:prstClr val="black"/>
                                          </a:solidFill>
                                          <a:latin typeface="Times New Roman" panose="02040503050406030204" pitchFamily="18" charset="0"/>
                                          <a:ea typeface="SimSun"/>
                                          <a:cs typeface="Times New Roman"/>
                                        </a:rPr>
                                        <m:t>−</m:t>
                                      </m:r>
                                      <m:sSub>
                                        <m:sSubPr>
                                          <m:ctrlPr>
                                            <a:rPr lang="en-US" sz="1400" i="1">
                                              <a:solidFill>
                                                <a:prstClr val="black"/>
                                              </a:solidFill>
                                              <a:latin typeface="Times New Roman" panose="02040503050406030204" pitchFamily="18" charset="0"/>
                                              <a:ea typeface="SimSun"/>
                                              <a:cs typeface="Times New Roman"/>
                                            </a:rPr>
                                          </m:ctrlPr>
                                        </m:sSubPr>
                                        <m:e>
                                          <m:r>
                                            <a:rPr lang="en-US" sz="1400" i="1">
                                              <a:solidFill>
                                                <a:prstClr val="black"/>
                                              </a:solidFill>
                                              <a:latin typeface="Times New Roman" panose="02040503050406030204" pitchFamily="18" charset="0"/>
                                              <a:ea typeface="SimSun"/>
                                              <a:cs typeface="Times New Roman"/>
                                            </a:rPr>
                                            <m:t>𝑥</m:t>
                                          </m:r>
                                        </m:e>
                                        <m:sub>
                                          <m:r>
                                            <a:rPr lang="en-US" sz="1400" i="1">
                                              <a:solidFill>
                                                <a:prstClr val="black"/>
                                              </a:solidFill>
                                              <a:latin typeface="Times New Roman" panose="02040503050406030204" pitchFamily="18" charset="0"/>
                                              <a:ea typeface="SimSun"/>
                                              <a:cs typeface="Times New Roman"/>
                                            </a:rPr>
                                            <m:t>0</m:t>
                                          </m:r>
                                        </m:sub>
                                      </m:sSub>
                                    </m:e>
                                  </m:d>
                                </m:e>
                                <m:sup>
                                  <m:r>
                                    <a:rPr lang="en-US" sz="1400" i="1">
                                      <a:solidFill>
                                        <a:prstClr val="black"/>
                                      </a:solidFill>
                                      <a:latin typeface="Times New Roman" panose="02040503050406030204" pitchFamily="18" charset="0"/>
                                      <a:ea typeface="SimSun"/>
                                      <a:cs typeface="Times New Roman"/>
                                    </a:rPr>
                                    <m:t>2</m:t>
                                  </m:r>
                                </m:sup>
                              </m:sSup>
                            </m:num>
                            <m:den>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𝑎</m:t>
                                  </m:r>
                                </m:e>
                                <m:sup>
                                  <m:r>
                                    <a:rPr lang="en-US" sz="1400" i="1">
                                      <a:solidFill>
                                        <a:prstClr val="black"/>
                                      </a:solidFill>
                                      <a:latin typeface="Times New Roman" panose="02040503050406030204" pitchFamily="18" charset="0"/>
                                      <a:ea typeface="SimSun"/>
                                      <a:cs typeface="Times New Roman"/>
                                    </a:rPr>
                                    <m:t>2</m:t>
                                  </m:r>
                                </m:sup>
                              </m:sSup>
                            </m:den>
                          </m:f>
                          <m:r>
                            <a:rPr lang="en-US" sz="1400" i="1">
                              <a:solidFill>
                                <a:prstClr val="black"/>
                              </a:solidFill>
                              <a:latin typeface="Times New Roman" panose="02040503050406030204" pitchFamily="18" charset="0"/>
                              <a:ea typeface="SimSun"/>
                              <a:cs typeface="Times New Roman"/>
                            </a:rPr>
                            <m:t>+</m:t>
                          </m:r>
                          <m:f>
                            <m:fPr>
                              <m:ctrlPr>
                                <a:rPr lang="en-HK" sz="1400" i="1">
                                  <a:solidFill>
                                    <a:prstClr val="black"/>
                                  </a:solidFill>
                                  <a:latin typeface="Times New Roman" panose="02040503050406030204" pitchFamily="18" charset="0"/>
                                  <a:ea typeface="SimSun"/>
                                  <a:cs typeface="Times New Roman"/>
                                </a:rPr>
                              </m:ctrlPr>
                            </m:fPr>
                            <m:num>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𝑦</m:t>
                                      </m:r>
                                      <m:r>
                                        <a:rPr lang="en-US" sz="1400" i="1">
                                          <a:solidFill>
                                            <a:prstClr val="black"/>
                                          </a:solidFill>
                                          <a:latin typeface="Times New Roman" panose="02040503050406030204" pitchFamily="18" charset="0"/>
                                          <a:ea typeface="SimSun"/>
                                          <a:cs typeface="Times New Roman"/>
                                        </a:rPr>
                                        <m:t>−</m:t>
                                      </m:r>
                                      <m:sSub>
                                        <m:sSubPr>
                                          <m:ctrlPr>
                                            <a:rPr lang="en-US" sz="1400" i="1">
                                              <a:solidFill>
                                                <a:prstClr val="black"/>
                                              </a:solidFill>
                                              <a:latin typeface="Times New Roman" panose="02040503050406030204" pitchFamily="18" charset="0"/>
                                              <a:ea typeface="SimSun"/>
                                              <a:cs typeface="Times New Roman"/>
                                            </a:rPr>
                                          </m:ctrlPr>
                                        </m:sSubPr>
                                        <m:e>
                                          <m:r>
                                            <a:rPr lang="en-US" sz="1400" i="1">
                                              <a:solidFill>
                                                <a:prstClr val="black"/>
                                              </a:solidFill>
                                              <a:latin typeface="Times New Roman" panose="02040503050406030204" pitchFamily="18" charset="0"/>
                                              <a:ea typeface="SimSun"/>
                                              <a:cs typeface="Times New Roman"/>
                                            </a:rPr>
                                            <m:t>𝑦</m:t>
                                          </m:r>
                                        </m:e>
                                        <m:sub>
                                          <m:r>
                                            <a:rPr lang="en-US" sz="1400" i="1">
                                              <a:solidFill>
                                                <a:prstClr val="black"/>
                                              </a:solidFill>
                                              <a:latin typeface="Times New Roman" panose="02040503050406030204" pitchFamily="18" charset="0"/>
                                              <a:ea typeface="SimSun"/>
                                              <a:cs typeface="Times New Roman"/>
                                            </a:rPr>
                                            <m:t>0</m:t>
                                          </m:r>
                                        </m:sub>
                                      </m:sSub>
                                    </m:e>
                                  </m:d>
                                </m:e>
                                <m:sup>
                                  <m:r>
                                    <a:rPr lang="en-US" sz="1400" i="1">
                                      <a:solidFill>
                                        <a:prstClr val="black"/>
                                      </a:solidFill>
                                      <a:latin typeface="Times New Roman" panose="02040503050406030204" pitchFamily="18" charset="0"/>
                                      <a:ea typeface="SimSun"/>
                                      <a:cs typeface="Times New Roman"/>
                                    </a:rPr>
                                    <m:t>2</m:t>
                                  </m:r>
                                </m:sup>
                              </m:sSup>
                            </m:num>
                            <m:den>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𝑏</m:t>
                                  </m:r>
                                </m:e>
                                <m:sup>
                                  <m:r>
                                    <a:rPr lang="en-US" sz="1400" i="1">
                                      <a:solidFill>
                                        <a:prstClr val="black"/>
                                      </a:solidFill>
                                      <a:latin typeface="Times New Roman" panose="02040503050406030204" pitchFamily="18" charset="0"/>
                                      <a:ea typeface="SimSun"/>
                                      <a:cs typeface="Times New Roman"/>
                                    </a:rPr>
                                    <m:t>2</m:t>
                                  </m:r>
                                </m:sup>
                              </m:sSup>
                            </m:den>
                          </m:f>
                          <m:r>
                            <a:rPr lang="en-US" sz="1400" i="1">
                              <a:solidFill>
                                <a:prstClr val="black"/>
                              </a:solidFill>
                              <a:latin typeface="Times New Roman" panose="02040503050406030204" pitchFamily="18" charset="0"/>
                              <a:ea typeface="SimSun"/>
                              <a:cs typeface="Times New Roman"/>
                            </a:rPr>
                            <m:t>=1</m:t>
                          </m:r>
                        </m:e>
                      </m:eqArr>
                    </m:oMath>
                  </m:oMathPara>
                </a14:m>
                <a:endParaRPr lang="en-HK" altLang="zh-CN" sz="1400" dirty="0">
                  <a:solidFill>
                    <a:prstClr val="black"/>
                  </a:solidFill>
                  <a:latin typeface="Times New Roman" panose="020B0604020202020204" pitchFamily="34" charset="0"/>
                  <a:ea typeface="SimSun" panose="02010600030101010101" pitchFamily="2" charset="-122"/>
                  <a:cs typeface="Times New Roman" panose="020B0604020202020204" pitchFamily="34" charset="0"/>
                </a:endParaRPr>
              </a:p>
            </p:txBody>
          </p:sp>
        </mc:Choice>
        <mc:Fallback xmlns="">
          <p:sp>
            <p:nvSpPr>
              <p:cNvPr id="2" name="矩形 1">
                <a:extLst>
                  <a:ext uri="{FF2B5EF4-FFF2-40B4-BE49-F238E27FC236}">
                    <a16:creationId xmlns:a16="http://schemas.microsoft.com/office/drawing/2014/main" id="{3F1180BE-ECF2-4826-AE0C-151653CEE077}"/>
                  </a:ext>
                </a:extLst>
              </p:cNvPr>
              <p:cNvSpPr>
                <a:spLocks noRot="1" noChangeAspect="1" noMove="1" noResize="1" noEditPoints="1" noAdjustHandles="1" noChangeArrowheads="1" noChangeShapeType="1" noTextEdit="1"/>
              </p:cNvSpPr>
              <p:nvPr/>
            </p:nvSpPr>
            <p:spPr>
              <a:xfrm>
                <a:off x="386739" y="1325869"/>
                <a:ext cx="3702307" cy="1328120"/>
              </a:xfrm>
              <a:prstGeom prst="rect">
                <a:avLst/>
              </a:prstGeom>
              <a:blipFill>
                <a:blip r:embed="rId6"/>
                <a:stretch>
                  <a:fillRect l="-658" t="-2294"/>
                </a:stretch>
              </a:blipFill>
            </p:spPr>
            <p:txBody>
              <a:bodyPr/>
              <a:lstStyle/>
              <a:p>
                <a:r>
                  <a:rPr lang="en-US">
                    <a:noFill/>
                    <a:latin typeface="Times New Roman"/>
                    <a:ea typeface="SimSun"/>
                    <a:cs typeface="Times New Roman"/>
                  </a:rPr>
                  <a:t> </a:t>
                </a:r>
              </a:p>
            </p:txBody>
          </p:sp>
        </mc:Fallback>
      </mc:AlternateContent>
      <p:sp>
        <p:nvSpPr>
          <p:cNvPr id="3" name="矩形 2">
            <a:extLst>
              <a:ext uri="{FF2B5EF4-FFF2-40B4-BE49-F238E27FC236}">
                <a16:creationId xmlns:a16="http://schemas.microsoft.com/office/drawing/2014/main" id="{75BA3A70-0BD7-421C-A684-35C6EABF3E1B}"/>
              </a:ext>
            </a:extLst>
          </p:cNvPr>
          <p:cNvSpPr/>
          <p:nvPr/>
        </p:nvSpPr>
        <p:spPr>
          <a:xfrm>
            <a:off x="386739" y="4979133"/>
            <a:ext cx="3655873"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Volume flux of spray surface area:</a:t>
            </a:r>
            <a:r>
              <a:rPr sz="1230" lang="zh-CN">
                <a:solidFill>
                  <a:srgbClr val="24425A"/>
                </a:solidFill>
                <a:latin typeface="Times New Roman"/>
                <a:ea typeface="SimSun"/>
                <a:cs typeface="Times New Roman"/>
              </a:rPr>
              <a:t>  喷淋表面的体积通量：</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8E42BD7-6979-4C2C-A4DC-8263F33608C9}"/>
                  </a:ext>
                </a:extLst>
              </p:cNvPr>
              <p:cNvSpPr/>
              <p:nvPr/>
            </p:nvSpPr>
            <p:spPr>
              <a:xfrm>
                <a:off x="1199044" y="5331534"/>
                <a:ext cx="2520562" cy="621773"/>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eqArr>
                        <m:eqArrPr>
                          <m:ctrlPr>
                            <a:rPr lang="en-HK" sz="1200" i="1">
                              <a:solidFill>
                                <a:prstClr val="black"/>
                              </a:solidFill>
                              <a:latin typeface="Times New Roman" panose="02040503050406030204" pitchFamily="18" charset="0"/>
                              <a:ea typeface="SimSun"/>
                              <a:cs typeface="Times New Roman"/>
                            </a:rPr>
                          </m:ctrlPr>
                        </m:eqArrPr>
                        <m:e>
                          <m:r>
                            <a:rPr lang="en-HK" sz="1200">
                              <a:solidFill>
                                <a:prstClr val="black"/>
                              </a:solidFill>
                              <a:latin typeface="Times New Roman" panose="02040503050406030204" pitchFamily="18" charset="0"/>
                              <a:ea typeface="SimSun"/>
                              <a:cs typeface="Times New Roman"/>
                            </a:rPr>
                            <m:t>&amp;</m:t>
                          </m:r>
                          <m:sSup>
                            <m:sSupPr>
                              <m:ctrlPr>
                                <a:rPr lang="en-HK" sz="1200" i="1">
                                  <a:solidFill>
                                    <a:prstClr val="black"/>
                                  </a:solidFill>
                                  <a:latin typeface="Times New Roman" panose="02040503050406030204" pitchFamily="18" charset="0"/>
                                  <a:ea typeface="SimSun"/>
                                  <a:cs typeface="Times New Roman"/>
                                </a:rPr>
                              </m:ctrlPr>
                            </m:sSupPr>
                            <m:e>
                              <m:r>
                                <a:rPr lang="en-HK" sz="1200" i="1">
                                  <a:solidFill>
                                    <a:prstClr val="black"/>
                                  </a:solidFill>
                                  <a:latin typeface="Times New Roman" panose="02040503050406030204" pitchFamily="18" charset="0"/>
                                  <a:ea typeface="SimSun"/>
                                  <a:cs typeface="Times New Roman"/>
                                </a:rPr>
                                <m:t>𝑄</m:t>
                              </m:r>
                            </m:e>
                            <m:sup>
                              <m:r>
                                <a:rPr lang="en-HK" sz="1200">
                                  <a:solidFill>
                                    <a:prstClr val="black"/>
                                  </a:solidFill>
                                  <a:latin typeface="Times New Roman" panose="02040503050406030204" pitchFamily="18" charset="0"/>
                                  <a:ea typeface="SimSun"/>
                                  <a:cs typeface="Times New Roman"/>
                                </a:rPr>
                                <m:t>′′</m:t>
                              </m:r>
                            </m:sup>
                          </m:sSup>
                          <m:r>
                            <a:rPr lang="en-HK" sz="1200">
                              <a:solidFill>
                                <a:prstClr val="black"/>
                              </a:solidFill>
                              <a:latin typeface="Times New Roman" panose="02040503050406030204" pitchFamily="18" charset="0"/>
                              <a:ea typeface="SimSun"/>
                              <a:cs typeface="Times New Roman"/>
                            </a:rPr>
                            <m:t>=</m:t>
                          </m:r>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𝑄</m:t>
                              </m:r>
                            </m:num>
                            <m:den>
                              <m:sSup>
                                <m:sSupPr>
                                  <m:ctrlPr>
                                    <a:rPr lang="en-HK" sz="1200">
                                      <a:solidFill>
                                        <a:prstClr val="black"/>
                                      </a:solidFill>
                                      <a:latin typeface="Times New Roman" panose="02040503050406030204" pitchFamily="18" charset="0"/>
                                      <a:ea typeface="SimSun"/>
                                      <a:cs typeface="Times New Roman"/>
                                    </a:rPr>
                                  </m:ctrlPr>
                                </m:sSupPr>
                                <m:e>
                                  <m:r>
                                    <a:rPr lang="en-HK" sz="1200">
                                      <a:solidFill>
                                        <a:prstClr val="black"/>
                                      </a:solidFill>
                                      <a:latin typeface="Times New Roman" panose="02040503050406030204" pitchFamily="18" charset="0"/>
                                      <a:ea typeface="SimSun"/>
                                      <a:cs typeface="Times New Roman"/>
                                    </a:rPr>
                                    <m:t>2</m:t>
                                  </m:r>
                                  <m:r>
                                    <a:rPr lang="en-HK" sz="1200" i="1">
                                      <a:solidFill>
                                        <a:prstClr val="black"/>
                                      </a:solidFill>
                                      <a:latin typeface="Times New Roman" panose="02040503050406030204" pitchFamily="18" charset="0"/>
                                      <a:ea typeface="SimSun"/>
                                      <a:cs typeface="Times New Roman"/>
                                    </a:rPr>
                                    <m:t>𝜋</m:t>
                                  </m:r>
                                  <m:r>
                                    <a:rPr lang="en-HK" sz="1200" i="1">
                                      <a:solidFill>
                                        <a:prstClr val="black"/>
                                      </a:solidFill>
                                      <a:latin typeface="Times New Roman" panose="02040503050406030204" pitchFamily="18" charset="0"/>
                                      <a:ea typeface="SimSun"/>
                                      <a:cs typeface="Times New Roman"/>
                                    </a:rPr>
                                    <m:t>𝑅</m:t>
                                  </m:r>
                                </m:e>
                                <m:sup>
                                  <m:r>
                                    <a:rPr lang="en-HK" sz="1200">
                                      <a:solidFill>
                                        <a:prstClr val="black"/>
                                      </a:solidFill>
                                      <a:latin typeface="Times New Roman" panose="02040503050406030204" pitchFamily="18" charset="0"/>
                                      <a:ea typeface="SimSun"/>
                                      <a:cs typeface="Times New Roman"/>
                                    </a:rPr>
                                    <m:t>2</m:t>
                                  </m:r>
                                </m:sup>
                              </m:sSup>
                              <m:r>
                                <a:rPr lang="en-HK" sz="1200">
                                  <a:solidFill>
                                    <a:prstClr val="black"/>
                                  </a:solidFill>
                                  <a:latin typeface="Times New Roman" panose="02040503050406030204" pitchFamily="18" charset="0"/>
                                  <a:ea typeface="SimSun"/>
                                  <a:cs typeface="Times New Roman"/>
                                </a:rPr>
                                <m:t>×</m:t>
                              </m:r>
                              <m:d>
                                <m:dPr>
                                  <m:begChr m:val="["/>
                                  <m:endChr m:val="]"/>
                                  <m:ctrlPr>
                                    <a:rPr lang="en-HK" sz="1200">
                                      <a:solidFill>
                                        <a:prstClr val="black"/>
                                      </a:solidFill>
                                      <a:latin typeface="Times New Roman" panose="02040503050406030204" pitchFamily="18" charset="0"/>
                                      <a:ea typeface="SimSun"/>
                                      <a:cs typeface="Times New Roman"/>
                                    </a:rPr>
                                  </m:ctrlPr>
                                </m:dPr>
                                <m:e>
                                  <m:r>
                                    <a:rPr lang="en-HK" sz="1200">
                                      <a:solidFill>
                                        <a:prstClr val="black"/>
                                      </a:solidFill>
                                      <a:latin typeface="Times New Roman" panose="02040503050406030204" pitchFamily="18" charset="0"/>
                                      <a:ea typeface="SimSun"/>
                                      <a:cs typeface="Times New Roman"/>
                                    </a:rPr>
                                    <m:t>1−</m:t>
                                  </m:r>
                                  <m:func>
                                    <m:funcPr>
                                      <m:ctrlPr>
                                        <a:rPr lang="en-HK" sz="1200">
                                          <a:solidFill>
                                            <a:prstClr val="black"/>
                                          </a:solidFill>
                                          <a:latin typeface="Times New Roman" panose="02040503050406030204" pitchFamily="18" charset="0"/>
                                          <a:ea typeface="SimSun"/>
                                          <a:cs typeface="Times New Roman"/>
                                        </a:rPr>
                                      </m:ctrlPr>
                                    </m:funcPr>
                                    <m:fName>
                                      <m:r>
                                        <m:rPr>
                                          <m:sty m:val="p"/>
                                        </m:rPr>
                                        <a:rPr lang="en-HK" sz="1200">
                                          <a:solidFill>
                                            <a:prstClr val="black"/>
                                          </a:solidFill>
                                          <a:latin typeface="Times New Roman" panose="02040503050406030204" pitchFamily="18" charset="0"/>
                                          <a:ea typeface="SimSun"/>
                                          <a:cs typeface="Times New Roman"/>
                                        </a:rPr>
                                        <m:t>cos</m:t>
                                      </m:r>
                                    </m:fName>
                                    <m:e>
                                      <m:d>
                                        <m:dPr>
                                          <m:ctrlPr>
                                            <a:rPr lang="en-HK" sz="1200" i="1">
                                              <a:solidFill>
                                                <a:prstClr val="black"/>
                                              </a:solidFill>
                                              <a:latin typeface="Times New Roman" panose="02040503050406030204" pitchFamily="18" charset="0"/>
                                              <a:ea typeface="SimSun"/>
                                              <a:cs typeface="Times New Roman"/>
                                            </a:rPr>
                                          </m:ctrlPr>
                                        </m:dPr>
                                        <m:e>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𝜃</m:t>
                                              </m:r>
                                            </m:num>
                                            <m:den>
                                              <m:r>
                                                <a:rPr lang="en-HK" sz="1200">
                                                  <a:solidFill>
                                                    <a:prstClr val="black"/>
                                                  </a:solidFill>
                                                  <a:latin typeface="Times New Roman" panose="02040503050406030204" pitchFamily="18" charset="0"/>
                                                  <a:ea typeface="SimSun"/>
                                                  <a:cs typeface="Times New Roman"/>
                                                </a:rPr>
                                                <m:t>2</m:t>
                                              </m:r>
                                            </m:den>
                                          </m:f>
                                        </m:e>
                                      </m:d>
                                    </m:e>
                                  </m:func>
                                </m:e>
                              </m:d>
                            </m:den>
                          </m:f>
                          <m:r>
                            <a:rPr lang="en-HK" sz="1200">
                              <a:solidFill>
                                <a:prstClr val="black"/>
                              </a:solidFill>
                              <a:latin typeface="Times New Roman" panose="02040503050406030204" pitchFamily="18" charset="0"/>
                              <a:ea typeface="SimSun"/>
                              <a:cs typeface="Times New Roman"/>
                            </a:rPr>
                            <m:t>×</m:t>
                          </m:r>
                          <m:r>
                            <a:rPr lang="en-HK" sz="1200" i="1">
                              <a:solidFill>
                                <a:prstClr val="black"/>
                              </a:solidFill>
                              <a:latin typeface="Times New Roman" panose="02040503050406030204" pitchFamily="18" charset="0"/>
                              <a:ea typeface="SimSun"/>
                              <a:cs typeface="Times New Roman"/>
                            </a:rPr>
                            <m:t>𝑐𝑜𝑠</m:t>
                          </m:r>
                          <m:r>
                            <a:rPr lang="en-HK" sz="1200" i="1">
                              <a:solidFill>
                                <a:prstClr val="black"/>
                              </a:solidFill>
                              <a:latin typeface="Times New Roman" panose="02040503050406030204" pitchFamily="18" charset="0"/>
                              <a:ea typeface="SimSun"/>
                              <a:cs typeface="Times New Roman"/>
                            </a:rPr>
                            <m:t>𝛼</m:t>
                          </m:r>
                          <m:r>
                            <a:rPr lang="en-HK" sz="1200">
                              <a:solidFill>
                                <a:prstClr val="black"/>
                              </a:solidFill>
                              <a:latin typeface="Times New Roman" panose="02040503050406030204" pitchFamily="18" charset="0"/>
                              <a:ea typeface="SimSun"/>
                              <a:cs typeface="Times New Roman"/>
                            </a:rPr>
                            <m:t>#</m:t>
                          </m:r>
                        </m:e>
                      </m:eqArr>
                    </m:oMath>
                  </m:oMathPara>
                </a14:m>
                <a:endParaRPr lang="en-HK" sz="1200" dirty="0">
                  <a:solidFill>
                    <a:prstClr val="black"/>
                  </a:solidFill>
                  <a:latin typeface="Times New Roman" panose="020F0502020204030204"/>
                  <a:ea typeface="SimSun"/>
                  <a:cs typeface="Times New Roman"/>
                </a:endParaRPr>
              </a:p>
            </p:txBody>
          </p:sp>
        </mc:Choice>
        <mc:Fallback xmlns="">
          <p:sp>
            <p:nvSpPr>
              <p:cNvPr id="4" name="矩形 3">
                <a:extLst>
                  <a:ext uri="{FF2B5EF4-FFF2-40B4-BE49-F238E27FC236}">
                    <a16:creationId xmlns:a16="http://schemas.microsoft.com/office/drawing/2014/main" id="{28E42BD7-6979-4C2C-A4DC-8263F33608C9}"/>
                  </a:ext>
                </a:extLst>
              </p:cNvPr>
              <p:cNvSpPr>
                <a:spLocks noRot="1" noChangeAspect="1" noMove="1" noResize="1" noEditPoints="1" noAdjustHandles="1" noChangeArrowheads="1" noChangeShapeType="1" noTextEdit="1"/>
              </p:cNvSpPr>
              <p:nvPr/>
            </p:nvSpPr>
            <p:spPr>
              <a:xfrm>
                <a:off x="1199044" y="5331534"/>
                <a:ext cx="2520562" cy="621773"/>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BB0DF55-EC34-4F6B-86C1-EF2AF1F7BCB1}"/>
                  </a:ext>
                </a:extLst>
              </p:cNvPr>
              <p:cNvSpPr/>
              <p:nvPr/>
            </p:nvSpPr>
            <p:spPr>
              <a:xfrm>
                <a:off x="962499" y="5995519"/>
                <a:ext cx="3147144" cy="621773"/>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a:rPr lang="en-HK" sz="1200" i="1">
                          <a:solidFill>
                            <a:prstClr val="black"/>
                          </a:solidFill>
                          <a:latin typeface="Times New Roman" panose="02040503050406030204" pitchFamily="18" charset="0"/>
                          <a:ea typeface="SimSun"/>
                          <a:cs typeface="Times New Roman"/>
                        </a:rPr>
                        <m:t>𝑑𝑄</m:t>
                      </m:r>
                      <m:r>
                        <a:rPr lang="en-HK" sz="1200">
                          <a:solidFill>
                            <a:prstClr val="black"/>
                          </a:solidFill>
                          <a:latin typeface="Times New Roman" panose="02040503050406030204" pitchFamily="18" charset="0"/>
                          <a:ea typeface="SimSun"/>
                          <a:cs typeface="Times New Roman"/>
                        </a:rPr>
                        <m:t>=</m:t>
                      </m:r>
                      <m:sSup>
                        <m:sSupPr>
                          <m:ctrlPr>
                            <a:rPr lang="en-HK" sz="1200" i="1">
                              <a:solidFill>
                                <a:prstClr val="black"/>
                              </a:solidFill>
                              <a:latin typeface="Times New Roman" panose="02040503050406030204" pitchFamily="18" charset="0"/>
                              <a:ea typeface="SimSun"/>
                              <a:cs typeface="Times New Roman"/>
                            </a:rPr>
                          </m:ctrlPr>
                        </m:sSupPr>
                        <m:e>
                          <m:r>
                            <a:rPr lang="en-HK" sz="1200" i="1">
                              <a:solidFill>
                                <a:prstClr val="black"/>
                              </a:solidFill>
                              <a:latin typeface="Times New Roman" panose="02040503050406030204" pitchFamily="18" charset="0"/>
                              <a:ea typeface="SimSun"/>
                              <a:cs typeface="Times New Roman"/>
                            </a:rPr>
                            <m:t>𝑄</m:t>
                          </m:r>
                        </m:e>
                        <m:sup>
                          <m:r>
                            <a:rPr lang="en-HK" sz="1200">
                              <a:solidFill>
                                <a:prstClr val="black"/>
                              </a:solidFill>
                              <a:latin typeface="Times New Roman" panose="02040503050406030204" pitchFamily="18" charset="0"/>
                              <a:ea typeface="SimSun"/>
                              <a:cs typeface="Times New Roman"/>
                            </a:rPr>
                            <m:t>′′</m:t>
                          </m:r>
                        </m:sup>
                      </m:sSup>
                      <m:r>
                        <a:rPr lang="en-HK" sz="1200" i="1">
                          <a:solidFill>
                            <a:prstClr val="black"/>
                          </a:solidFill>
                          <a:latin typeface="Times New Roman" panose="02040503050406030204" pitchFamily="18" charset="0"/>
                          <a:ea typeface="SimSun"/>
                          <a:cs typeface="Times New Roman"/>
                        </a:rPr>
                        <m:t>𝑑𝑥𝑑𝑦</m:t>
                      </m:r>
                      <m:r>
                        <a:rPr lang="en-HK" sz="1200">
                          <a:solidFill>
                            <a:prstClr val="black"/>
                          </a:solidFill>
                          <a:latin typeface="Times New Roman" panose="02040503050406030204" pitchFamily="18" charset="0"/>
                          <a:ea typeface="SimSun"/>
                          <a:cs typeface="Times New Roman"/>
                        </a:rPr>
                        <m:t>=</m:t>
                      </m:r>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𝑄</m:t>
                          </m:r>
                          <m:r>
                            <a:rPr lang="en-HK" sz="1200">
                              <a:solidFill>
                                <a:prstClr val="black"/>
                              </a:solidFill>
                              <a:latin typeface="Times New Roman" panose="02040503050406030204" pitchFamily="18" charset="0"/>
                              <a:ea typeface="SimSun"/>
                              <a:cs typeface="Times New Roman"/>
                            </a:rPr>
                            <m:t>×</m:t>
                          </m:r>
                          <m:r>
                            <a:rPr lang="en-HK" sz="1200" i="1">
                              <a:solidFill>
                                <a:prstClr val="black"/>
                              </a:solidFill>
                              <a:latin typeface="Times New Roman" panose="02040503050406030204" pitchFamily="18" charset="0"/>
                              <a:ea typeface="SimSun"/>
                              <a:cs typeface="Times New Roman"/>
                            </a:rPr>
                            <m:t>𝐻</m:t>
                          </m:r>
                        </m:num>
                        <m:den>
                          <m:sSup>
                            <m:sSupPr>
                              <m:ctrlPr>
                                <a:rPr lang="en-HK" sz="1200">
                                  <a:solidFill>
                                    <a:prstClr val="black"/>
                                  </a:solidFill>
                                  <a:latin typeface="Times New Roman" panose="02040503050406030204" pitchFamily="18" charset="0"/>
                                  <a:ea typeface="SimSun"/>
                                  <a:cs typeface="Times New Roman"/>
                                </a:rPr>
                              </m:ctrlPr>
                            </m:sSupPr>
                            <m:e>
                              <m:r>
                                <a:rPr lang="en-HK" sz="1200">
                                  <a:solidFill>
                                    <a:prstClr val="black"/>
                                  </a:solidFill>
                                  <a:latin typeface="Times New Roman" panose="02040503050406030204" pitchFamily="18" charset="0"/>
                                  <a:ea typeface="SimSun"/>
                                  <a:cs typeface="Times New Roman"/>
                                </a:rPr>
                                <m:t>2</m:t>
                              </m:r>
                              <m:r>
                                <a:rPr lang="en-HK" sz="1200" i="1">
                                  <a:solidFill>
                                    <a:prstClr val="black"/>
                                  </a:solidFill>
                                  <a:latin typeface="Times New Roman" panose="02040503050406030204" pitchFamily="18" charset="0"/>
                                  <a:ea typeface="SimSun"/>
                                  <a:cs typeface="Times New Roman"/>
                                </a:rPr>
                                <m:t>𝜋</m:t>
                              </m:r>
                              <m:r>
                                <a:rPr lang="en-HK" sz="1200" i="1">
                                  <a:solidFill>
                                    <a:prstClr val="black"/>
                                  </a:solidFill>
                                  <a:latin typeface="Times New Roman" panose="02040503050406030204" pitchFamily="18" charset="0"/>
                                  <a:ea typeface="SimSun"/>
                                  <a:cs typeface="Times New Roman"/>
                                </a:rPr>
                                <m:t>𝑅</m:t>
                              </m:r>
                            </m:e>
                            <m:sup>
                              <m:r>
                                <a:rPr lang="en-HK" sz="1200">
                                  <a:solidFill>
                                    <a:prstClr val="black"/>
                                  </a:solidFill>
                                  <a:latin typeface="Times New Roman" panose="02040503050406030204" pitchFamily="18" charset="0"/>
                                  <a:ea typeface="SimSun"/>
                                  <a:cs typeface="Times New Roman"/>
                                </a:rPr>
                                <m:t>3</m:t>
                              </m:r>
                            </m:sup>
                          </m:sSup>
                          <m:r>
                            <a:rPr lang="en-HK" sz="1200">
                              <a:solidFill>
                                <a:prstClr val="black"/>
                              </a:solidFill>
                              <a:latin typeface="Times New Roman" panose="02040503050406030204" pitchFamily="18" charset="0"/>
                              <a:ea typeface="SimSun"/>
                              <a:cs typeface="Times New Roman"/>
                            </a:rPr>
                            <m:t>×</m:t>
                          </m:r>
                          <m:d>
                            <m:dPr>
                              <m:begChr m:val="["/>
                              <m:endChr m:val="]"/>
                              <m:ctrlPr>
                                <a:rPr lang="en-HK" sz="1200">
                                  <a:solidFill>
                                    <a:prstClr val="black"/>
                                  </a:solidFill>
                                  <a:latin typeface="Times New Roman" panose="02040503050406030204" pitchFamily="18" charset="0"/>
                                  <a:ea typeface="SimSun"/>
                                  <a:cs typeface="Times New Roman"/>
                                </a:rPr>
                              </m:ctrlPr>
                            </m:dPr>
                            <m:e>
                              <m:r>
                                <a:rPr lang="en-HK" sz="1200">
                                  <a:solidFill>
                                    <a:prstClr val="black"/>
                                  </a:solidFill>
                                  <a:latin typeface="Times New Roman" panose="02040503050406030204" pitchFamily="18" charset="0"/>
                                  <a:ea typeface="SimSun"/>
                                  <a:cs typeface="Times New Roman"/>
                                </a:rPr>
                                <m:t>1−</m:t>
                              </m:r>
                              <m:func>
                                <m:funcPr>
                                  <m:ctrlPr>
                                    <a:rPr lang="en-HK" sz="1200">
                                      <a:solidFill>
                                        <a:prstClr val="black"/>
                                      </a:solidFill>
                                      <a:latin typeface="Times New Roman" panose="02040503050406030204" pitchFamily="18" charset="0"/>
                                      <a:ea typeface="SimSun"/>
                                      <a:cs typeface="Times New Roman"/>
                                    </a:rPr>
                                  </m:ctrlPr>
                                </m:funcPr>
                                <m:fName>
                                  <m:r>
                                    <m:rPr>
                                      <m:sty m:val="p"/>
                                    </m:rPr>
                                    <a:rPr lang="en-HK" sz="1200">
                                      <a:solidFill>
                                        <a:prstClr val="black"/>
                                      </a:solidFill>
                                      <a:latin typeface="Times New Roman" panose="02040503050406030204" pitchFamily="18" charset="0"/>
                                      <a:ea typeface="SimSun"/>
                                      <a:cs typeface="Times New Roman"/>
                                    </a:rPr>
                                    <m:t>cos</m:t>
                                  </m:r>
                                </m:fName>
                                <m:e>
                                  <m:d>
                                    <m:dPr>
                                      <m:ctrlPr>
                                        <a:rPr lang="en-HK" sz="1200" i="1">
                                          <a:solidFill>
                                            <a:prstClr val="black"/>
                                          </a:solidFill>
                                          <a:latin typeface="Times New Roman" panose="02040503050406030204" pitchFamily="18" charset="0"/>
                                          <a:ea typeface="SimSun"/>
                                          <a:cs typeface="Times New Roman"/>
                                        </a:rPr>
                                      </m:ctrlPr>
                                    </m:dPr>
                                    <m:e>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𝜃</m:t>
                                          </m:r>
                                        </m:num>
                                        <m:den>
                                          <m:r>
                                            <a:rPr lang="en-HK" sz="1200">
                                              <a:solidFill>
                                                <a:prstClr val="black"/>
                                              </a:solidFill>
                                              <a:latin typeface="Times New Roman" panose="02040503050406030204" pitchFamily="18" charset="0"/>
                                              <a:ea typeface="SimSun"/>
                                              <a:cs typeface="Times New Roman"/>
                                            </a:rPr>
                                            <m:t>2</m:t>
                                          </m:r>
                                        </m:den>
                                      </m:f>
                                    </m:e>
                                  </m:d>
                                </m:e>
                              </m:func>
                            </m:e>
                          </m:d>
                        </m:den>
                      </m:f>
                      <m:r>
                        <a:rPr lang="en-HK" sz="1200" i="1">
                          <a:solidFill>
                            <a:prstClr val="black"/>
                          </a:solidFill>
                          <a:latin typeface="Times New Roman" panose="02040503050406030204" pitchFamily="18" charset="0"/>
                          <a:ea typeface="SimSun"/>
                          <a:cs typeface="Times New Roman"/>
                        </a:rPr>
                        <m:t>𝑑𝑥𝑑𝑦</m:t>
                      </m:r>
                    </m:oMath>
                  </m:oMathPara>
                </a14:m>
                <a:endParaRPr lang="en-HK" sz="1200" dirty="0">
                  <a:solidFill>
                    <a:prstClr val="black"/>
                  </a:solidFill>
                  <a:latin typeface="Times New Roman" panose="020F0502020204030204"/>
                  <a:ea typeface="SimSun"/>
                  <a:cs typeface="Times New Roman"/>
                </a:endParaRPr>
              </a:p>
            </p:txBody>
          </p:sp>
        </mc:Choice>
        <mc:Fallback xmlns="">
          <p:sp>
            <p:nvSpPr>
              <p:cNvPr id="5" name="矩形 4">
                <a:extLst>
                  <a:ext uri="{FF2B5EF4-FFF2-40B4-BE49-F238E27FC236}">
                    <a16:creationId xmlns:a16="http://schemas.microsoft.com/office/drawing/2014/main" id="{BBB0DF55-EC34-4F6B-86C1-EF2AF1F7BCB1}"/>
                  </a:ext>
                </a:extLst>
              </p:cNvPr>
              <p:cNvSpPr>
                <a:spLocks noRot="1" noChangeAspect="1" noMove="1" noResize="1" noEditPoints="1" noAdjustHandles="1" noChangeArrowheads="1" noChangeShapeType="1" noTextEdit="1"/>
              </p:cNvSpPr>
              <p:nvPr/>
            </p:nvSpPr>
            <p:spPr>
              <a:xfrm>
                <a:off x="962499" y="5995519"/>
                <a:ext cx="3147144" cy="621773"/>
              </a:xfrm>
              <a:prstGeom prst="rect">
                <a:avLst/>
              </a:prstGeom>
              <a:blipFill>
                <a:blip r:embed="rId8"/>
                <a:stretch>
                  <a:fillRect/>
                </a:stretch>
              </a:blipFill>
            </p:spPr>
            <p:txBody>
              <a:bodyPr/>
              <a:lstStyle/>
              <a:p>
                <a:r>
                  <a:rPr lang="en-US">
                    <a:noFill/>
                    <a:latin typeface="Times New Roman"/>
                    <a:ea typeface="SimSun"/>
                    <a:cs typeface="Times New Roman"/>
                  </a:rPr>
                  <a:t> </a:t>
                </a:r>
              </a:p>
            </p:txBody>
          </p:sp>
        </mc:Fallback>
      </mc:AlternateContent>
      <p:sp>
        <p:nvSpPr>
          <p:cNvPr id="6" name="矩形 5">
            <a:extLst>
              <a:ext uri="{FF2B5EF4-FFF2-40B4-BE49-F238E27FC236}">
                <a16:creationId xmlns:a16="http://schemas.microsoft.com/office/drawing/2014/main" id="{D81325FD-6598-416B-A911-A27A5BFE0A26}"/>
              </a:ext>
            </a:extLst>
          </p:cNvPr>
          <p:cNvSpPr/>
          <p:nvPr/>
        </p:nvSpPr>
        <p:spPr>
          <a:xfrm>
            <a:off x="388929" y="2694872"/>
            <a:ext cx="3095719"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Imaginary spherical surface</a:t>
            </a:r>
            <a:r>
              <a:rPr lang="en-HK" sz="1500" dirty="0">
                <a:solidFill>
                  <a:prstClr val="black"/>
                </a:solidFill>
                <a:latin typeface="Times New Roman" panose="02020603050405020304" pitchFamily="18" charset="0"/>
                <a:ea typeface="SimSun"/>
                <a:cs typeface="Times New Roman" panose="02020603050405020304" pitchFamily="18" charset="0"/>
              </a:rPr>
              <a:t>:</a:t>
            </a:r>
            <a:r>
              <a:rPr sz="1230" lang="zh-CN">
                <a:solidFill>
                  <a:srgbClr val="24425A"/>
                </a:solidFill>
                <a:latin typeface="Times New Roman"/>
                <a:ea typeface="SimSun"/>
                <a:cs typeface="Times New Roman"/>
              </a:rPr>
              <a:t>  假想球面：</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ACE45A-EBFE-4DE9-B77A-056DA9265416}"/>
                  </a:ext>
                </a:extLst>
              </p:cNvPr>
              <p:cNvSpPr/>
              <p:nvPr/>
            </p:nvSpPr>
            <p:spPr>
              <a:xfrm>
                <a:off x="1199044" y="3059368"/>
                <a:ext cx="1750800" cy="353238"/>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a:rPr lang="en-HK" sz="1400" i="1">
                          <a:solidFill>
                            <a:prstClr val="black"/>
                          </a:solidFill>
                          <a:latin typeface="Times New Roman" panose="02040503050406030204" pitchFamily="18" charset="0"/>
                          <a:ea typeface="SimSun"/>
                          <a:cs typeface="Times New Roman"/>
                        </a:rPr>
                        <m:t>𝑅</m:t>
                      </m:r>
                      <m:r>
                        <a:rPr lang="en-HK" sz="1400">
                          <a:solidFill>
                            <a:prstClr val="black"/>
                          </a:solidFill>
                          <a:latin typeface="Times New Roman" panose="02040503050406030204" pitchFamily="18" charset="0"/>
                          <a:ea typeface="SimSun"/>
                          <a:cs typeface="Times New Roman"/>
                        </a:rPr>
                        <m:t>=</m:t>
                      </m:r>
                      <m:rad>
                        <m:radPr>
                          <m:degHide m:val="on"/>
                          <m:ctrlPr>
                            <a:rPr lang="en-HK" sz="1400" i="1">
                              <a:solidFill>
                                <a:prstClr val="black"/>
                              </a:solidFill>
                              <a:latin typeface="Times New Roman" panose="02040503050406030204" pitchFamily="18" charset="0"/>
                              <a:ea typeface="SimSun"/>
                              <a:cs typeface="Times New Roman"/>
                            </a:rPr>
                          </m:ctrlPr>
                        </m:radPr>
                        <m:deg/>
                        <m:e>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𝑥</m:t>
                              </m:r>
                            </m:e>
                            <m:sup>
                              <m:r>
                                <a:rPr lang="en-HK" sz="1400">
                                  <a:solidFill>
                                    <a:prstClr val="black"/>
                                  </a:solidFill>
                                  <a:latin typeface="Times New Roman" panose="02040503050406030204" pitchFamily="18" charset="0"/>
                                  <a:ea typeface="SimSun"/>
                                  <a:cs typeface="Times New Roman"/>
                                </a:rPr>
                                <m:t>2</m:t>
                              </m:r>
                            </m:sup>
                          </m:sSup>
                          <m:r>
                            <a:rPr lang="en-HK"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𝑦</m:t>
                              </m:r>
                            </m:e>
                            <m:sup>
                              <m:r>
                                <a:rPr lang="en-HK" sz="1400">
                                  <a:solidFill>
                                    <a:prstClr val="black"/>
                                  </a:solidFill>
                                  <a:latin typeface="Times New Roman" panose="02040503050406030204" pitchFamily="18" charset="0"/>
                                  <a:ea typeface="SimSun"/>
                                  <a:cs typeface="Times New Roman"/>
                                </a:rPr>
                                <m:t>2</m:t>
                              </m:r>
                            </m:sup>
                          </m:sSup>
                          <m:r>
                            <a:rPr lang="en-HK"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𝐻</m:t>
                              </m:r>
                            </m:e>
                            <m:sup>
                              <m:r>
                                <a:rPr lang="en-HK" sz="1400">
                                  <a:solidFill>
                                    <a:prstClr val="black"/>
                                  </a:solidFill>
                                  <a:latin typeface="Times New Roman" panose="02040503050406030204" pitchFamily="18" charset="0"/>
                                  <a:ea typeface="SimSun"/>
                                  <a:cs typeface="Times New Roman"/>
                                </a:rPr>
                                <m:t>2</m:t>
                              </m:r>
                            </m:sup>
                          </m:sSup>
                        </m:e>
                      </m:rad>
                    </m:oMath>
                  </m:oMathPara>
                </a14:m>
                <a:endParaRPr lang="en-HK" sz="1400" dirty="0">
                  <a:solidFill>
                    <a:prstClr val="black"/>
                  </a:solidFill>
                  <a:latin typeface="Times New Roman" panose="020F0502020204030204"/>
                  <a:ea typeface="SimSun"/>
                  <a:cs typeface="Times New Roman"/>
                </a:endParaRPr>
              </a:p>
            </p:txBody>
          </p:sp>
        </mc:Choice>
        <mc:Fallback xmlns="">
          <p:sp>
            <p:nvSpPr>
              <p:cNvPr id="7" name="矩形 6">
                <a:extLst>
                  <a:ext uri="{FF2B5EF4-FFF2-40B4-BE49-F238E27FC236}">
                    <a16:creationId xmlns:a16="http://schemas.microsoft.com/office/drawing/2014/main" id="{EFACE45A-EBFE-4DE9-B77A-056DA9265416}"/>
                  </a:ext>
                </a:extLst>
              </p:cNvPr>
              <p:cNvSpPr>
                <a:spLocks noRot="1" noChangeAspect="1" noMove="1" noResize="1" noEditPoints="1" noAdjustHandles="1" noChangeArrowheads="1" noChangeShapeType="1" noTextEdit="1"/>
              </p:cNvSpPr>
              <p:nvPr/>
            </p:nvSpPr>
            <p:spPr>
              <a:xfrm>
                <a:off x="1199044" y="3059368"/>
                <a:ext cx="1750800" cy="353238"/>
              </a:xfrm>
              <a:prstGeom prst="rect">
                <a:avLst/>
              </a:prstGeom>
              <a:blipFill>
                <a:blip r:embed="rId9"/>
                <a:stretch>
                  <a:fillRect b="-1724"/>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5313A41-88CC-4CA8-A22A-534DE7410CD8}"/>
                  </a:ext>
                </a:extLst>
              </p:cNvPr>
              <p:cNvSpPr/>
              <p:nvPr/>
            </p:nvSpPr>
            <p:spPr>
              <a:xfrm>
                <a:off x="-865966" y="3375394"/>
                <a:ext cx="6096000" cy="1481046"/>
              </a:xfrm>
              <a:prstGeom prst="rect">
                <a:avLst/>
              </a:prstGeom>
            </p:spPr>
            <p:txBody>
              <a:bodyPr>
                <a:spAutoFit/>
              </a:bodyPr>
              <a:lstStyle/>
              <a:p>
                <a:pPr algn="ctr">
                  <a:spcAft>
                    <a:spcPts val="0"/>
                  </a:spcAft>
                </a:pPr>
                <a14:m>
                  <m:oMathPara xmlns:m="http://schemas.openxmlformats.org/officeDocument/2006/math">
                    <m:oMath>
                      <m:r>
                        <a:rPr lang="en-US" sz="1400" i="1">
                          <a:latin typeface="Times New Roman" panose="02040503050406030204" pitchFamily="18" charset="0"/>
                          <a:ea typeface="SimSun" panose="02010600030101010101" pitchFamily="2" charset="-122"/>
                          <a:cs typeface="Times New Roman" panose="02020603050405020304" pitchFamily="18" charset="0"/>
                        </a:rPr>
                        <m:t> </m:t>
                      </m:r>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r>
                        <a:rPr lang="en-US" sz="1400">
                          <a:latin typeface="Times New Roman" panose="02040503050406030204" pitchFamily="18" charset="0"/>
                          <a:ea typeface="SimSun" panose="02010600030101010101" pitchFamily="2" charset="-122"/>
                          <a:cs typeface="Times New Roman" panose="02020603050405020304" pitchFamily="18" charset="0"/>
                        </a:rPr>
                        <m:t>=</m:t>
                      </m:r>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𝐻</m:t>
                          </m:r>
                        </m:num>
                        <m:den>
                          <m:r>
                            <a:rPr lang="en-US" sz="1400" i="1">
                              <a:latin typeface="Times New Roman" panose="02040503050406030204" pitchFamily="18" charset="0"/>
                              <a:ea typeface="SimSun" panose="02010600030101010101" pitchFamily="2" charset="-122"/>
                              <a:cs typeface="Times New Roman" panose="02020603050405020304" pitchFamily="18" charset="0"/>
                            </a:rPr>
                            <m:t>𝑅</m:t>
                          </m:r>
                        </m:den>
                      </m:f>
                      <m:r>
                        <a:rPr lang="en-US" sz="1400" i="1">
                          <a:latin typeface="Times New Roman" panose="02040503050406030204" pitchFamily="18" charset="0"/>
                          <a:ea typeface="SimSun" panose="02010600030101010101" pitchFamily="2" charset="-122"/>
                          <a:cs typeface="Times New Roman" panose="02020603050405020304" pitchFamily="18" charset="0"/>
                        </a:rPr>
                        <m:t>  </m:t>
                      </m:r>
                    </m:oMath>
                  </m:oMathPara>
                </a14:m>
                <a:endParaRPr lang="en-HK" sz="1400" i="1" dirty="0">
                  <a:latin typeface="Times New Roman" panose="02040503050406030204" pitchFamily="18" charset="0"/>
                  <a:ea typeface="SimSun" panose="02010600030101010101" pitchFamily="2" charset="-122"/>
                  <a:cs typeface="Times New Roman" panose="02020603050405020304" pitchFamily="18" charset="0"/>
                </a:endParaRPr>
              </a:p>
              <a:p>
                <a:pPr algn="ctr">
                  <a:spcAft>
                    <a:spcPts val="0"/>
                  </a:spcAft>
                </a:pPr>
                <a14:m>
                  <m:oMathPara xmlns:m="http://schemas.openxmlformats.org/officeDocument/2006/math">
                    <m:oMath>
                      <m:eqArr>
                        <m:eqArrPr>
                          <m:ctrlPr>
                            <a:rPr lang="en-HK" sz="1400" i="1">
                              <a:latin typeface="Times New Roman" panose="02040503050406030204" pitchFamily="18" charset="0"/>
                              <a:ea typeface="SimSun" panose="02010600030101010101" pitchFamily="2" charset="-122"/>
                              <a:cs typeface="Times New Roman" panose="02020603050405020304" pitchFamily="18" charset="0"/>
                            </a:rPr>
                          </m:ctrlPr>
                        </m:eqArrPr>
                        <m:e>
                          <m:r>
                            <a:rPr lang="en-US" sz="1400" i="1">
                              <a:latin typeface="Times New Roman" panose="02040503050406030204" pitchFamily="18" charset="0"/>
                              <a:ea typeface="SimSun" panose="02010600030101010101" pitchFamily="2" charset="-122"/>
                              <a:cs typeface="Times New Roman" panose="02020603050405020304" pitchFamily="18" charset="0"/>
                            </a:rPr>
                            <m:t>𝑑𝐴</m:t>
                          </m:r>
                          <m:r>
                            <a:rPr lang="en-US" sz="1400">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400">
                                  <a:latin typeface="Times New Roman" panose="02040503050406030204" pitchFamily="18" charset="0"/>
                                  <a:ea typeface="SimSun" panose="02010600030101010101" pitchFamily="2" charset="-122"/>
                                  <a:cs typeface="Times New Roman" panose="02020603050405020304" pitchFamily="18" charset="0"/>
                                </a:rPr>
                              </m:ctrlPr>
                            </m:sSupPr>
                            <m:e>
                              <m:r>
                                <a:rPr lang="en-US" sz="1400">
                                  <a:latin typeface="Times New Roman" panose="02040503050406030204" pitchFamily="18" charset="0"/>
                                  <a:ea typeface="SimSun" panose="02010600030101010101" pitchFamily="2" charset="-122"/>
                                  <a:cs typeface="Times New Roman" panose="02020603050405020304" pitchFamily="18" charset="0"/>
                                </a:rPr>
                                <m:t>2</m:t>
                              </m:r>
                              <m:r>
                                <a:rPr lang="en-US" sz="1400" i="1">
                                  <a:latin typeface="Times New Roman" panose="02040503050406030204" pitchFamily="18" charset="0"/>
                                  <a:ea typeface="SimSun" panose="02010600030101010101" pitchFamily="2" charset="-122"/>
                                  <a:cs typeface="Times New Roman" panose="02020603050405020304" pitchFamily="18" charset="0"/>
                                </a:rPr>
                                <m:t>𝜋</m:t>
                              </m:r>
                              <m:r>
                                <a:rPr lang="en-US" sz="1400" i="1">
                                  <a:latin typeface="Times New Roman" panose="02040503050406030204" pitchFamily="18" charset="0"/>
                                  <a:ea typeface="SimSun" panose="02010600030101010101" pitchFamily="2" charset="-122"/>
                                  <a:cs typeface="Times New Roman" panose="02020603050405020304" pitchFamily="18" charset="0"/>
                                </a:rPr>
                                <m:t>𝑅</m:t>
                              </m:r>
                            </m:e>
                            <m:sup>
                              <m:r>
                                <a:rPr lang="en-US" sz="1400">
                                  <a:latin typeface="Times New Roman" panose="02040503050406030204" pitchFamily="18" charset="0"/>
                                  <a:ea typeface="SimSun" panose="02010600030101010101" pitchFamily="2" charset="-122"/>
                                  <a:cs typeface="Times New Roman" panose="02020603050405020304" pitchFamily="18" charset="0"/>
                                </a:rPr>
                                <m:t>2</m:t>
                              </m:r>
                            </m:sup>
                          </m:sSup>
                          <m:r>
                            <a:rPr lang="en-US" sz="1400" i="1">
                              <a:latin typeface="Times New Roman" panose="02040503050406030204" pitchFamily="18" charset="0"/>
                              <a:ea typeface="SimSun" panose="02010600030101010101" pitchFamily="2" charset="-122"/>
                              <a:cs typeface="Times New Roman" panose="02020603050405020304" pitchFamily="18" charset="0"/>
                            </a:rPr>
                            <m:t>×</m:t>
                          </m:r>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𝑠𝑖𝑛</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num>
                            <m:den>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den>
                          </m:f>
                          <m:r>
                            <a:rPr lang="en-US" sz="1400" i="1">
                              <a:latin typeface="Times New Roman" panose="02040503050406030204" pitchFamily="18" charset="0"/>
                              <a:ea typeface="SimSun" panose="02010600030101010101" pitchFamily="2" charset="-122"/>
                              <a:cs typeface="Times New Roman" panose="02020603050405020304" pitchFamily="18" charset="0"/>
                            </a:rPr>
                            <m:t>𝑑</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r>
                            <a:rPr lang="en-US" sz="1400" i="1">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400" dirty="0">
                  <a:latin typeface="Times New Roman" panose="02020603050405020304" pitchFamily="18" charset="0"/>
                  <a:ea typeface="SimSun" panose="02010600030101010101" pitchFamily="2" charset="-122"/>
                  <a:cs typeface="Times New Roman" panose="02020603050405020304" pitchFamily="18" charset="0"/>
                </a:endParaRPr>
              </a:p>
              <a:p>
                <a:pPr algn="just">
                  <a:spcAft>
                    <a:spcPts val="0"/>
                  </a:spcAft>
                </a:pPr>
                <a14:m>
                  <m:oMathPara xmlns:m="http://schemas.openxmlformats.org/officeDocument/2006/math">
                    <m:oMath>
                      <m:eqArr>
                        <m:eqArrPr>
                          <m:ctrlPr>
                            <a:rPr lang="en-HK" sz="1400" i="1">
                              <a:latin typeface="Times New Roman" panose="02040503050406030204" pitchFamily="18" charset="0"/>
                              <a:ea typeface="SimSun" panose="02010600030101010101" pitchFamily="2" charset="-122"/>
                              <a:cs typeface="Times New Roman" panose="02020603050405020304" pitchFamily="18" charset="0"/>
                            </a:rPr>
                          </m:ctrlPr>
                        </m:eqArrPr>
                        <m:e>
                          <m:r>
                            <a:rPr lang="en-US" sz="1400" i="1">
                              <a:latin typeface="Times New Roman" panose="02040503050406030204" pitchFamily="18" charset="0"/>
                              <a:ea typeface="SimSun" panose="02010600030101010101" pitchFamily="2" charset="-122"/>
                              <a:cs typeface="Times New Roman" panose="02020603050405020304" pitchFamily="18" charset="0"/>
                            </a:rPr>
                            <m:t>𝐴</m:t>
                          </m:r>
                          <m:r>
                            <a:rPr lang="en-US" sz="1400">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400">
                                  <a:latin typeface="Times New Roman" panose="02040503050406030204" pitchFamily="18" charset="0"/>
                                  <a:ea typeface="SimSun" panose="02010600030101010101" pitchFamily="2" charset="-122"/>
                                  <a:cs typeface="Times New Roman" panose="02020603050405020304" pitchFamily="18" charset="0"/>
                                </a:rPr>
                              </m:ctrlPr>
                            </m:sSupPr>
                            <m:e>
                              <m:r>
                                <a:rPr lang="en-US" sz="1400">
                                  <a:latin typeface="Times New Roman" panose="02040503050406030204" pitchFamily="18" charset="0"/>
                                  <a:ea typeface="SimSun" panose="02010600030101010101" pitchFamily="2" charset="-122"/>
                                  <a:cs typeface="Times New Roman" panose="02020603050405020304" pitchFamily="18" charset="0"/>
                                </a:rPr>
                                <m:t>2</m:t>
                              </m:r>
                              <m:r>
                                <a:rPr lang="en-US" sz="1400" i="1">
                                  <a:latin typeface="Times New Roman" panose="02040503050406030204" pitchFamily="18" charset="0"/>
                                  <a:ea typeface="SimSun" panose="02010600030101010101" pitchFamily="2" charset="-122"/>
                                  <a:cs typeface="Times New Roman" panose="02020603050405020304" pitchFamily="18" charset="0"/>
                                </a:rPr>
                                <m:t>𝜋</m:t>
                              </m:r>
                              <m:r>
                                <a:rPr lang="en-US" sz="1400" i="1">
                                  <a:latin typeface="Times New Roman" panose="02040503050406030204" pitchFamily="18" charset="0"/>
                                  <a:ea typeface="SimSun" panose="02010600030101010101" pitchFamily="2" charset="-122"/>
                                  <a:cs typeface="Times New Roman" panose="02020603050405020304" pitchFamily="18" charset="0"/>
                                </a:rPr>
                                <m:t>𝑅</m:t>
                              </m:r>
                            </m:e>
                            <m:sup>
                              <m:r>
                                <a:rPr lang="en-US" sz="1400">
                                  <a:latin typeface="Times New Roman" panose="02040503050406030204" pitchFamily="18" charset="0"/>
                                  <a:ea typeface="SimSun" panose="02010600030101010101" pitchFamily="2" charset="-122"/>
                                  <a:cs typeface="Times New Roman" panose="02020603050405020304" pitchFamily="18" charset="0"/>
                                </a:rPr>
                                <m:t>2</m:t>
                              </m:r>
                            </m:sup>
                          </m:sSup>
                          <m:r>
                            <a:rPr lang="en-US" sz="1400" i="1">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latin typeface="Times New Roman" panose="02040503050406030204" pitchFamily="18" charset="0"/>
                                  <a:ea typeface="SimSun" panose="02010600030101010101" pitchFamily="2" charset="-122"/>
                                  <a:cs typeface="Times New Roman" panose="02020603050405020304" pitchFamily="18" charset="0"/>
                                </a:rPr>
                              </m:ctrlPr>
                            </m:fPr>
                            <m:num>
                              <m:d>
                                <m:dPr>
                                  <m:begChr m:val="["/>
                                  <m:endChr m:val="]"/>
                                  <m:ctrlPr>
                                    <a:rPr lang="en-US" sz="1400">
                                      <a:latin typeface="Times New Roman" panose="02040503050406030204" pitchFamily="18" charset="0"/>
                                      <a:ea typeface="SimSun" panose="02010600030101010101" pitchFamily="2" charset="-122"/>
                                      <a:cs typeface="Times New Roman" panose="02020603050405020304" pitchFamily="18" charset="0"/>
                                    </a:rPr>
                                  </m:ctrlPr>
                                </m:dPr>
                                <m:e>
                                  <m:r>
                                    <a:rPr lang="en-US" sz="1400">
                                      <a:latin typeface="Times New Roman" panose="02040503050406030204" pitchFamily="18" charset="0"/>
                                      <a:ea typeface="SimSun" panose="02010600030101010101" pitchFamily="2" charset="-122"/>
                                      <a:cs typeface="Times New Roman" panose="02020603050405020304" pitchFamily="18" charset="0"/>
                                    </a:rPr>
                                    <m:t>1</m:t>
                                  </m:r>
                                  <m:r>
                                    <a:rPr lang="en-US" sz="1400" i="1">
                                      <a:latin typeface="Times New Roman" panose="02040503050406030204" pitchFamily="18" charset="0"/>
                                      <a:ea typeface="SimSun" panose="02010600030101010101" pitchFamily="2" charset="-122"/>
                                      <a:cs typeface="Times New Roman" panose="02020603050405020304" pitchFamily="18" charset="0"/>
                                    </a:rPr>
                                    <m:t>−</m:t>
                                  </m:r>
                                  <m:func>
                                    <m:funcPr>
                                      <m:ctrlPr>
                                        <a:rPr lang="en-US" sz="1400">
                                          <a:latin typeface="Times New Roman" panose="02040503050406030204" pitchFamily="18" charset="0"/>
                                          <a:ea typeface="SimSun" panose="02010600030101010101" pitchFamily="2" charset="-122"/>
                                          <a:cs typeface="Times New Roman" panose="02020603050405020304" pitchFamily="18" charset="0"/>
                                        </a:rPr>
                                      </m:ctrlPr>
                                    </m:funcPr>
                                    <m:fName>
                                      <m:r>
                                        <m:rPr>
                                          <m:sty m:val="p"/>
                                        </m:rPr>
                                        <a:rPr lang="en-US" sz="1400">
                                          <a:latin typeface="Times New Roman" panose="02040503050406030204" pitchFamily="18" charset="0"/>
                                          <a:ea typeface="SimSun" panose="02010600030101010101" pitchFamily="2" charset="-122"/>
                                          <a:cs typeface="Times New Roman" panose="02020603050405020304" pitchFamily="18" charset="0"/>
                                        </a:rPr>
                                        <m:t>cos</m:t>
                                      </m:r>
                                    </m:fName>
                                    <m:e>
                                      <m:d>
                                        <m:dPr>
                                          <m:ctrlPr>
                                            <a:rPr lang="en-HK" sz="1400" i="1">
                                              <a:latin typeface="Times New Roman" panose="02040503050406030204" pitchFamily="18" charset="0"/>
                                              <a:ea typeface="SimSun" panose="02010600030101010101" pitchFamily="2" charset="-122"/>
                                              <a:cs typeface="Times New Roman" panose="02020603050405020304" pitchFamily="18" charset="0"/>
                                            </a:rPr>
                                          </m:ctrlPr>
                                        </m:dPr>
                                        <m:e>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𝜃</m:t>
                                              </m:r>
                                            </m:num>
                                            <m:den>
                                              <m:r>
                                                <a:rPr lang="en-US" sz="1400">
                                                  <a:latin typeface="Times New Roman" panose="02040503050406030204" pitchFamily="18" charset="0"/>
                                                  <a:ea typeface="SimSun" panose="02010600030101010101" pitchFamily="2" charset="-122"/>
                                                  <a:cs typeface="Times New Roman" panose="02020603050405020304" pitchFamily="18" charset="0"/>
                                                </a:rPr>
                                                <m:t>2</m:t>
                                              </m:r>
                                            </m:den>
                                          </m:f>
                                        </m:e>
                                      </m:d>
                                    </m:e>
                                  </m:func>
                                </m:e>
                              </m:d>
                            </m:num>
                            <m:den>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den>
                          </m:f>
                          <m:r>
                            <a:rPr lang="en-US" sz="1400" i="1">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400" dirty="0">
                  <a:latin typeface="Times New Roman"/>
                  <a:ea typeface="SimSun"/>
                  <a:cs typeface="Times New Roman"/>
                </a:endParaRPr>
              </a:p>
            </p:txBody>
          </p:sp>
        </mc:Choice>
        <mc:Fallback xmlns="">
          <p:sp>
            <p:nvSpPr>
              <p:cNvPr id="8" name="矩形 7">
                <a:extLst>
                  <a:ext uri="{FF2B5EF4-FFF2-40B4-BE49-F238E27FC236}">
                    <a16:creationId xmlns:a16="http://schemas.microsoft.com/office/drawing/2014/main" id="{85313A41-88CC-4CA8-A22A-534DE7410CD8}"/>
                  </a:ext>
                </a:extLst>
              </p:cNvPr>
              <p:cNvSpPr>
                <a:spLocks noRot="1" noChangeAspect="1" noMove="1" noResize="1" noEditPoints="1" noAdjustHandles="1" noChangeArrowheads="1" noChangeShapeType="1" noTextEdit="1"/>
              </p:cNvSpPr>
              <p:nvPr/>
            </p:nvSpPr>
            <p:spPr>
              <a:xfrm>
                <a:off x="-865966" y="3375394"/>
                <a:ext cx="6096000" cy="1481046"/>
              </a:xfrm>
              <a:prstGeom prst="rect">
                <a:avLst/>
              </a:prstGeom>
              <a:blipFill>
                <a:blip r:embed="rId10"/>
                <a:stretch>
                  <a:fillRect/>
                </a:stretch>
              </a:blipFill>
            </p:spPr>
            <p:txBody>
              <a:bodyPr/>
              <a:lstStyle/>
              <a:p>
                <a:r>
                  <a:rPr lang="en-US">
                    <a:noFill/>
                    <a:latin typeface="Times New Roman"/>
                    <a:ea typeface="SimSun"/>
                    <a:cs typeface="Times New Roman"/>
                  </a:rPr>
                  <a:t> </a:t>
                </a:r>
              </a:p>
            </p:txBody>
          </p:sp>
        </mc:Fallback>
      </mc:AlternateContent>
      <p:sp>
        <p:nvSpPr>
          <p:cNvPr id="10" name="矩形 9">
            <a:extLst>
              <a:ext uri="{FF2B5EF4-FFF2-40B4-BE49-F238E27FC236}">
                <a16:creationId xmlns:a16="http://schemas.microsoft.com/office/drawing/2014/main" id="{67F9244A-EAB9-4A7B-8F26-6F4AB0F29C64}"/>
              </a:ext>
            </a:extLst>
          </p:cNvPr>
          <p:cNvSpPr/>
          <p:nvPr/>
        </p:nvSpPr>
        <p:spPr>
          <a:xfrm>
            <a:off x="4086518" y="3492981"/>
            <a:ext cx="2345514"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500" dirty="0">
                <a:solidFill>
                  <a:prstClr val="black"/>
                </a:solidFill>
                <a:latin typeface="Times New Roman" panose="02020603050405020304" pitchFamily="18" charset="0"/>
                <a:ea typeface="SimSun"/>
                <a:cs typeface="Times New Roman" panose="02020603050405020304" pitchFamily="18" charset="0"/>
              </a:rPr>
              <a:t>Grid independence: </a:t>
            </a:r>
            <a:r>
              <a:rPr sz="1230" lang="zh-CN">
                <a:solidFill>
                  <a:srgbClr val="24425A"/>
                </a:solidFill>
                <a:latin typeface="Times New Roman"/>
                <a:ea typeface="SimSun"/>
                <a:cs typeface="Times New Roman"/>
              </a:rPr>
              <a:t>  网格无关性：</a:t>
            </a:r>
          </a:p>
        </p:txBody>
      </p:sp>
      <p:sp>
        <p:nvSpPr>
          <p:cNvPr id="11" name="矩形 10">
            <a:extLst>
              <a:ext uri="{FF2B5EF4-FFF2-40B4-BE49-F238E27FC236}">
                <a16:creationId xmlns:a16="http://schemas.microsoft.com/office/drawing/2014/main" id="{8CA7E5A9-851F-479C-BBB2-B769415132CD}"/>
              </a:ext>
            </a:extLst>
          </p:cNvPr>
          <p:cNvSpPr/>
          <p:nvPr/>
        </p:nvSpPr>
        <p:spPr>
          <a:xfrm>
            <a:off x="4078136" y="1078708"/>
            <a:ext cx="3258264"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500" dirty="0">
                <a:solidFill>
                  <a:prstClr val="black"/>
                </a:solidFill>
                <a:latin typeface="Times New Roman" panose="02020603050405020304" pitchFamily="18" charset="0"/>
                <a:ea typeface="SimSun"/>
                <a:cs typeface="Times New Roman" panose="02020603050405020304" pitchFamily="18" charset="0"/>
              </a:rPr>
              <a:t>Differential element division: </a:t>
            </a:r>
            <a:r>
              <a:rPr sz="1230" lang="zh-CN">
                <a:solidFill>
                  <a:srgbClr val="24425A"/>
                </a:solidFill>
                <a:latin typeface="Times New Roman"/>
                <a:ea typeface="SimSun"/>
                <a:cs typeface="Times New Roman"/>
              </a:rPr>
              <a:t>  微元划分：</a:t>
            </a:r>
          </a:p>
        </p:txBody>
      </p:sp>
      <p:pic>
        <p:nvPicPr>
          <p:cNvPr id="12" name="图片 11">
            <a:extLst>
              <a:ext uri="{FF2B5EF4-FFF2-40B4-BE49-F238E27FC236}">
                <a16:creationId xmlns:a16="http://schemas.microsoft.com/office/drawing/2014/main" id="{4BE7B695-C333-499B-BAF4-1000334E1CE5}"/>
              </a:ext>
            </a:extLst>
          </p:cNvPr>
          <p:cNvPicPr/>
          <p:nvPr/>
        </p:nvPicPr>
        <p:blipFill>
          <a:blip r:embed="rId11">
            <a:extLst>
              <a:ext uri="{28A0092B-C50C-407E-A947-70E740481C1C}">
                <a14:useLocalDpi xmlns:a14="http://schemas.microsoft.com/office/drawing/2010/main" val="0"/>
              </a:ext>
            </a:extLst>
          </a:blip>
          <a:stretch>
            <a:fillRect/>
          </a:stretch>
        </p:blipFill>
        <p:spPr>
          <a:xfrm>
            <a:off x="5506114" y="1350283"/>
            <a:ext cx="2484273" cy="1319282"/>
          </a:xfrm>
          <a:prstGeom prst="rect">
            <a:avLst/>
          </a:prstGeom>
        </p:spPr>
      </p:pic>
      <p:pic>
        <p:nvPicPr>
          <p:cNvPr id="13" name="图片 12">
            <a:extLst>
              <a:ext uri="{FF2B5EF4-FFF2-40B4-BE49-F238E27FC236}">
                <a16:creationId xmlns:a16="http://schemas.microsoft.com/office/drawing/2014/main" id="{D7C7AB55-A93B-47FB-96A7-966DC1534839}"/>
              </a:ext>
            </a:extLst>
          </p:cNvPr>
          <p:cNvPicPr/>
          <p:nvPr/>
        </p:nvPicPr>
        <p:blipFill>
          <a:blip r:embed="rId12">
            <a:extLst>
              <a:ext uri="{28A0092B-C50C-407E-A947-70E740481C1C}">
                <a14:useLocalDpi xmlns:a14="http://schemas.microsoft.com/office/drawing/2010/main" val="0"/>
              </a:ext>
            </a:extLst>
          </a:blip>
          <a:stretch>
            <a:fillRect/>
          </a:stretch>
        </p:blipFill>
        <p:spPr>
          <a:xfrm>
            <a:off x="4268032" y="1681647"/>
            <a:ext cx="1238082" cy="1002334"/>
          </a:xfrm>
          <a:prstGeom prst="rect">
            <a:avLst/>
          </a:prstGeom>
        </p:spPr>
      </p:pic>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0A8CD6AA-A02A-4168-AD8E-381AA197D84E}"/>
                  </a:ext>
                </a:extLst>
              </p:cNvPr>
              <p:cNvSpPr/>
              <p:nvPr/>
            </p:nvSpPr>
            <p:spPr>
              <a:xfrm>
                <a:off x="2992149" y="2789469"/>
                <a:ext cx="6096000" cy="642805"/>
              </a:xfrm>
              <a:prstGeom prst="rect">
                <a:avLst/>
              </a:prstGeom>
            </p:spPr>
            <p:txBody>
              <a:bodyPr>
                <a:spAutoFit/>
              </a:bodyPr>
              <a:lstStyle/>
              <a:p>
                <a:pPr algn="just" defTabSz="457200" eaLnBrk="1" fontAlgn="auto">
                  <a:spcBef>
                    <a:spcPts val="0"/>
                  </a:spcBef>
                  <a:spcAft>
                    <a:spcPts val="0"/>
                  </a:spcAft>
                </a:pPr>
                <a14:m>
                  <m:oMathPara xmlns:m="http://schemas.openxmlformats.org/officeDocument/2006/math">
                    <m:oMath>
                      <m:eqArr>
                        <m:eqArr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eqArrPr>
                        <m:e>
                          <m:sSub>
                            <m:sSub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𝑄</m:t>
                              </m:r>
                            </m:e>
                            <m:sub>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𝑗</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ub>
                          </m:sSub>
                          <m:r>
                            <m:rPr>
                              <m:brk/>
                            </m:r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nary>
                            <m:naryPr>
                              <m:limLoc m:val="subSup"/>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naryPr>
                            <m:sub>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sub>
                              </m:sSub>
                            </m:sub>
                            <m:sup>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sub>
                              </m:sSub>
                            </m:sup>
                            <m:e>
                              <m:nary>
                                <m:naryPr>
                                  <m:limLoc m:val="subSup"/>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naryPr>
                                <m:sub>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sub>
                                  </m:sSub>
                                </m:sub>
                                <m:sup>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sub>
                                  </m:sSub>
                                </m:sup>
                                <m:e>
                                  <m:f>
                                    <m:f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𝑄</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𝐻</m:t>
                                      </m:r>
                                    </m:num>
                                    <m:den>
                                      <m:sSup>
                                        <m:sSupPr>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𝜋</m:t>
                                          </m:r>
                                          <m:d>
                                            <m:d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ad>
                                                <m:radPr>
                                                  <m:degHide m:val="on"/>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radPr>
                                                <m:deg/>
                                                <m:e>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𝐻</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e>
                                              </m:rad>
                                            </m:e>
                                          </m:d>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d>
                                        <m:dPr>
                                          <m:begChr m:val="["/>
                                          <m:endChr m:val="]"/>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unc>
                                            <m:funcPr>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uncPr>
                                            <m:fName>
                                              <m:r>
                                                <m:rPr>
                                                  <m:sty m:val="p"/>
                                                </m:r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cos</m:t>
                                              </m:r>
                                            </m:fName>
                                            <m:e>
                                              <m:d>
                                                <m:d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f>
                                                    <m:f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𝜃</m:t>
                                                      </m:r>
                                                    </m:num>
                                                    <m:den>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den>
                                                  </m:f>
                                                </m:e>
                                              </m:d>
                                            </m:e>
                                          </m:func>
                                        </m:e>
                                      </m:d>
                                    </m:den>
                                  </m:f>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𝑑𝑥𝑑𝑦</m:t>
                                  </m:r>
                                </m:e>
                              </m:nary>
                            </m:e>
                          </m:nary>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0A8CD6AA-A02A-4168-AD8E-381AA197D84E}"/>
                  </a:ext>
                </a:extLst>
              </p:cNvPr>
              <p:cNvSpPr>
                <a:spLocks noRot="1" noChangeAspect="1" noMove="1" noResize="1" noEditPoints="1" noAdjustHandles="1" noChangeArrowheads="1" noChangeShapeType="1" noTextEdit="1"/>
              </p:cNvSpPr>
              <p:nvPr/>
            </p:nvSpPr>
            <p:spPr>
              <a:xfrm>
                <a:off x="2992149" y="2789469"/>
                <a:ext cx="6096000" cy="642805"/>
              </a:xfrm>
              <a:prstGeom prst="rect">
                <a:avLst/>
              </a:prstGeom>
              <a:blipFill>
                <a:blip r:embed="rId13"/>
                <a:stretch>
                  <a:fillRect/>
                </a:stretch>
              </a:blipFill>
            </p:spPr>
            <p:txBody>
              <a:bodyPr/>
              <a:lstStyle/>
              <a:p>
                <a:r>
                  <a:rPr lang="en-US">
                    <a:noFill/>
                    <a:latin typeface="Times New Roman"/>
                    <a:ea typeface="SimSun"/>
                    <a:cs typeface="Times New Roman"/>
                  </a:rPr>
                  <a:t> </a:t>
                </a:r>
              </a:p>
            </p:txBody>
          </p:sp>
        </mc:Fallback>
      </mc:AlternateContent>
      <p:sp>
        <p:nvSpPr>
          <p:cNvPr id="15" name="矩形 14">
            <a:extLst>
              <a:ext uri="{FF2B5EF4-FFF2-40B4-BE49-F238E27FC236}">
                <a16:creationId xmlns:a16="http://schemas.microsoft.com/office/drawing/2014/main" id="{B3DAD248-BB63-410B-93D2-EEE45B7FED29}"/>
              </a:ext>
            </a:extLst>
          </p:cNvPr>
          <p:cNvSpPr/>
          <p:nvPr/>
        </p:nvSpPr>
        <p:spPr>
          <a:xfrm>
            <a:off x="4772172" y="6558683"/>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Fig.3.2.1 </a:t>
            </a:r>
            <a:r>
              <a:rPr lang="en-HK" sz="1200" dirty="0">
                <a:latin typeface="Times New Roman" panose="02020603050405020304" pitchFamily="18" charset="0"/>
                <a:ea typeface="SimSun"/>
                <a:cs typeface="Times New Roman" panose="02020603050405020304" pitchFamily="18" charset="0"/>
              </a:rPr>
              <a:t>Proof of grid independence</a:t>
            </a:r>
          </a:p>
        </p:txBody>
      </p:sp>
      <p:sp>
        <p:nvSpPr>
          <p:cNvPr id="16" name="灯片编号占位符 15">
            <a:extLst>
              <a:ext uri="{FF2B5EF4-FFF2-40B4-BE49-F238E27FC236}">
                <a16:creationId xmlns:a16="http://schemas.microsoft.com/office/drawing/2014/main" id="{7C0267CB-089B-4557-984A-DB1AE2D8570C}"/>
              </a:ext>
            </a:extLst>
          </p:cNvPr>
          <p:cNvSpPr>
            <a:spLocks noGrp="1"/>
          </p:cNvSpPr>
          <p:nvPr>
            <p:ph type="sldNum" sz="quarter" idx="12"/>
          </p:nvPr>
        </p:nvSpPr>
        <p:spPr>
          <a:xfrm>
            <a:off x="9264711" y="6487542"/>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17</a:t>
            </a:fld>
            <a:endParaRPr lang="en-US" altLang="zh-CN">
              <a:latin typeface="Times New Roman"/>
              <a:ea typeface="SimSun"/>
              <a:cs typeface="Times New Roman"/>
            </a:endParaRPr>
          </a:p>
        </p:txBody>
      </p:sp>
      <p:pic>
        <p:nvPicPr>
          <p:cNvPr id="20" name="图片 19">
            <a:extLst>
              <a:ext uri="{FF2B5EF4-FFF2-40B4-BE49-F238E27FC236}">
                <a16:creationId xmlns:a16="http://schemas.microsoft.com/office/drawing/2014/main" id="{C3A47AC5-2B11-4EBD-B925-F22AAE0E552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384469" y="1688619"/>
            <a:ext cx="3342867" cy="4046213"/>
          </a:xfrm>
          <a:prstGeom prst="rect">
            <a:avLst/>
          </a:prstGeom>
        </p:spPr>
      </p:pic>
      <p:sp>
        <p:nvSpPr>
          <p:cNvPr id="22" name="矩形 21">
            <a:extLst>
              <a:ext uri="{FF2B5EF4-FFF2-40B4-BE49-F238E27FC236}">
                <a16:creationId xmlns:a16="http://schemas.microsoft.com/office/drawing/2014/main" id="{B78B787F-784D-4CAD-8D60-2CE3AA6748E4}"/>
              </a:ext>
            </a:extLst>
          </p:cNvPr>
          <p:cNvSpPr/>
          <p:nvPr/>
        </p:nvSpPr>
        <p:spPr>
          <a:xfrm>
            <a:off x="8113865" y="1201401"/>
            <a:ext cx="3518977" cy="446278"/>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150" dirty="0">
                <a:solidFill>
                  <a:prstClr val="black"/>
                </a:solidFill>
                <a:latin typeface="Times New Roman" panose="02020603050405020304" pitchFamily="18" charset="0"/>
                <a:ea typeface="SimSun"/>
                <a:cs typeface="Times New Roman" panose="02020603050405020304" pitchFamily="18" charset="0"/>
              </a:rPr>
              <a:t>Simulation process (MATLAB) </a:t>
            </a:r>
            <a:r>
              <a:rPr sz="943" lang="zh-CN">
                <a:solidFill>
                  <a:srgbClr val="24425A"/>
                </a:solidFill>
                <a:latin typeface="Times New Roman"/>
                <a:ea typeface="SimSun"/>
                <a:cs typeface="Times New Roman"/>
              </a:rPr>
              <a:t>  模拟流程（MATLAB）</a:t>
            </a:r>
          </a:p>
        </p:txBody>
      </p:sp>
      <p:sp>
        <p:nvSpPr>
          <p:cNvPr id="23" name="矩形 22">
            <a:extLst>
              <a:ext uri="{FF2B5EF4-FFF2-40B4-BE49-F238E27FC236}">
                <a16:creationId xmlns:a16="http://schemas.microsoft.com/office/drawing/2014/main" id="{D37DC1B0-6F53-4232-A698-3439F87647A9}"/>
              </a:ext>
            </a:extLst>
          </p:cNvPr>
          <p:cNvSpPr/>
          <p:nvPr/>
        </p:nvSpPr>
        <p:spPr>
          <a:xfrm>
            <a:off x="8528343" y="5796757"/>
            <a:ext cx="3055118" cy="461665"/>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3.2.2 </a:t>
            </a:r>
            <a:r>
              <a:rPr lang="en-HK" sz="1200" dirty="0">
                <a:latin typeface="Times New Roman" panose="02020603050405020304" pitchFamily="18" charset="0"/>
                <a:ea typeface="SimSun"/>
                <a:cs typeface="Times New Roman" panose="02020603050405020304" pitchFamily="18" charset="0"/>
              </a:rPr>
              <a:t>Flow chart of simulation procedure</a:t>
            </a:r>
          </a:p>
          <a:p>
            <a:endParaRPr lang="en-HK" sz="1200" dirty="0">
              <a:latin typeface="Times New Roman" panose="020B0604020202020204" pitchFamily="34" charset="0"/>
              <a:ea typeface="SimSun"/>
              <a:cs typeface="Times New Roman" panose="020B0604020202020204" pitchFamily="34" charset="0"/>
            </a:endParaRPr>
          </a:p>
        </p:txBody>
      </p:sp>
      <p:sp>
        <p:nvSpPr>
          <p:cNvPr id="28" name="矩形 3">
            <a:extLst>
              <a:ext uri="{FF2B5EF4-FFF2-40B4-BE49-F238E27FC236}">
                <a16:creationId xmlns:a16="http://schemas.microsoft.com/office/drawing/2014/main" id="{1DBEC96F-257C-4757-8CD3-B2F8DF6A8808}"/>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20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20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a:t>
            </a:r>
          </a:p>
        </p:txBody>
      </p:sp>
      <p:sp>
        <p:nvSpPr>
          <p:cNvPr id="21" name="矩形 20">
            <a:extLst>
              <a:ext uri="{FF2B5EF4-FFF2-40B4-BE49-F238E27FC236}">
                <a16:creationId xmlns:a16="http://schemas.microsoft.com/office/drawing/2014/main" id="{D8379A05-B185-4BD6-A5EF-39C79A675BDD}"/>
              </a:ext>
            </a:extLst>
          </p:cNvPr>
          <p:cNvSpPr/>
          <p:nvPr/>
        </p:nvSpPr>
        <p:spPr>
          <a:xfrm>
            <a:off x="293347" y="970929"/>
            <a:ext cx="11327153" cy="369332"/>
          </a:xfrm>
          <a:prstGeom prst="rect">
            <a:avLst/>
          </a:prstGeom>
        </p:spPr>
        <p:txBody>
          <a:bodyPr wrap="square"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3.2 Model equations</a:t>
            </a:r>
            <a:r>
              <a:rPr sz="1230" lang="zh-CN">
                <a:solidFill>
                  <a:srgbClr val="24425A"/>
                </a:solidFill>
                <a:latin typeface="Times New Roman"/>
                <a:ea typeface="SimSun"/>
                <a:cs typeface="Times New Roman"/>
              </a:rPr>
              <a:t>  模型方程</a:t>
            </a:r>
          </a:p>
        </p:txBody>
      </p:sp>
      <p:sp>
        <p:nvSpPr>
          <p:cNvPr id="2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5354287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对象 15">
            <a:extLst>
              <a:ext uri="{FF2B5EF4-FFF2-40B4-BE49-F238E27FC236}">
                <a16:creationId xmlns:a16="http://schemas.microsoft.com/office/drawing/2014/main" id="{E385AD6F-9D60-417F-AB5C-D745CFB401EA}"/>
              </a:ext>
            </a:extLst>
          </p:cNvPr>
          <p:cNvGraphicFramePr>
            <a:graphicFrameLocks noChangeAspect="1"/>
          </p:cNvGraphicFramePr>
          <p:nvPr>
            <p:extLst>
              <p:ext uri="{D42A27DB-BD31-4B8C-83A1-F6EECF244321}">
                <p14:modId xmlns:p14="http://schemas.microsoft.com/office/powerpoint/2010/main" val="3567545382"/>
              </p:ext>
            </p:extLst>
          </p:nvPr>
        </p:nvGraphicFramePr>
        <p:xfrm>
          <a:off x="6885594" y="1474689"/>
          <a:ext cx="4178001" cy="3457538"/>
        </p:xfrm>
        <a:graphic>
          <a:graphicData uri="http://schemas.openxmlformats.org/presentationml/2006/ole">
            <mc:AlternateContent xmlns:mc="http://schemas.openxmlformats.org/markup-compatibility/2006">
              <mc:Choice xmlns:v="urn:schemas-microsoft-com:vml" Requires="v">
                <p:oleObj name="Graph" r:id="rId3" imgW="6384906" imgH="5282235" progId="Origin50.Graph">
                  <p:embed/>
                </p:oleObj>
              </mc:Choice>
              <mc:Fallback>
                <p:oleObj name="Graph" r:id="rId3" imgW="6384906" imgH="5282235" progId="Origin50.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5594" y="1474689"/>
                        <a:ext cx="4178001" cy="3457538"/>
                      </a:xfrm>
                      <a:prstGeom prst="rect">
                        <a:avLst/>
                      </a:prstGeom>
                      <a:noFill/>
                    </p:spPr>
                  </p:pic>
                </p:oleObj>
              </mc:Fallback>
            </mc:AlternateContent>
          </a:graphicData>
        </a:graphic>
      </p:graphicFrame>
      <p:pic>
        <p:nvPicPr>
          <p:cNvPr id="3" name="图片 2">
            <a:extLst>
              <a:ext uri="{FF2B5EF4-FFF2-40B4-BE49-F238E27FC236}">
                <a16:creationId xmlns:a16="http://schemas.microsoft.com/office/drawing/2014/main" id="{31066FB5-E48A-4263-927E-D4B5E2AEDF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0640" y="3839344"/>
            <a:ext cx="4739982" cy="2520000"/>
          </a:xfrm>
          <a:prstGeom prst="rect">
            <a:avLst/>
          </a:prstGeom>
        </p:spPr>
      </p:pic>
      <p:sp>
        <p:nvSpPr>
          <p:cNvPr id="5" name="矩形 4">
            <a:extLst>
              <a:ext uri="{FF2B5EF4-FFF2-40B4-BE49-F238E27FC236}">
                <a16:creationId xmlns:a16="http://schemas.microsoft.com/office/drawing/2014/main" id="{CAF00261-34FA-4ECD-A573-3967B1E4F44B}"/>
              </a:ext>
            </a:extLst>
          </p:cNvPr>
          <p:cNvSpPr/>
          <p:nvPr/>
        </p:nvSpPr>
        <p:spPr>
          <a:xfrm>
            <a:off x="956177" y="1488750"/>
            <a:ext cx="1576072"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500" dirty="0">
                <a:solidFill>
                  <a:prstClr val="black"/>
                </a:solidFill>
                <a:latin typeface="Times New Roman" panose="02020603050405020304" pitchFamily="18" charset="0"/>
                <a:ea typeface="SimSun"/>
                <a:cs typeface="Times New Roman" panose="02020603050405020304" pitchFamily="18" charset="0"/>
              </a:rPr>
              <a:t>Condition: </a:t>
            </a:r>
            <a:r>
              <a:rPr sz="1230" lang="zh-CN">
                <a:solidFill>
                  <a:srgbClr val="24425A"/>
                </a:solidFill>
                <a:latin typeface="Times New Roman"/>
                <a:ea typeface="SimSun"/>
                <a:cs typeface="Times New Roman"/>
              </a:rPr>
              <a:t>  实验条件：</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76E1F98-FD43-4050-A1E8-D860DABC40CF}"/>
                  </a:ext>
                </a:extLst>
              </p:cNvPr>
              <p:cNvSpPr/>
              <p:nvPr/>
            </p:nvSpPr>
            <p:spPr>
              <a:xfrm>
                <a:off x="1288203" y="1842686"/>
                <a:ext cx="5826584" cy="1785104"/>
              </a:xfrm>
              <a:prstGeom prst="rect">
                <a:avLst/>
              </a:prstGeom>
            </p:spPr>
            <p:txBody>
              <a:bodyPr wrap="square">
                <a:spAutoFit/>
              </a:bodyPr>
              <a:lstStyle/>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Q=220 L/h,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Spray cone angle 45°,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Nozzle height 330 mm without inclined angle,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Grid number is 10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10,</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Grid size is 50 mm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50 mm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60mm.</a:t>
                </a:r>
              </a:p>
            </p:txBody>
          </p:sp>
        </mc:Choice>
        <mc:Fallback xmlns="">
          <p:sp>
            <p:nvSpPr>
              <p:cNvPr id="6" name="矩形 5">
                <a:extLst>
                  <a:ext uri="{FF2B5EF4-FFF2-40B4-BE49-F238E27FC236}">
                    <a16:creationId xmlns:a16="http://schemas.microsoft.com/office/drawing/2014/main" id="{176E1F98-FD43-4050-A1E8-D860DABC40CF}"/>
                  </a:ext>
                </a:extLst>
              </p:cNvPr>
              <p:cNvSpPr>
                <a:spLocks noRot="1" noChangeAspect="1" noMove="1" noResize="1" noEditPoints="1" noAdjustHandles="1" noChangeArrowheads="1" noChangeShapeType="1" noTextEdit="1"/>
              </p:cNvSpPr>
              <p:nvPr/>
            </p:nvSpPr>
            <p:spPr>
              <a:xfrm>
                <a:off x="1288203" y="1842686"/>
                <a:ext cx="5826584" cy="1785104"/>
              </a:xfrm>
              <a:prstGeom prst="rect">
                <a:avLst/>
              </a:prstGeom>
              <a:blipFill>
                <a:blip r:embed="rId7"/>
                <a:stretch>
                  <a:fillRect l="-837" t="-1706" b="-4437"/>
                </a:stretch>
              </a:blipFill>
            </p:spPr>
            <p:txBody>
              <a:bodyPr/>
              <a:lstStyle/>
              <a:p>
                <a:r>
                  <a:rPr lang="en-US">
                    <a:noFill/>
                    <a:latin typeface="Times New Roman"/>
                    <a:ea typeface="SimSun"/>
                    <a:cs typeface="Times New Roman"/>
                  </a:rPr>
                  <a:t> </a:t>
                </a:r>
              </a:p>
            </p:txBody>
          </p:sp>
        </mc:Fallback>
      </mc:AlternateContent>
      <p:sp>
        <p:nvSpPr>
          <p:cNvPr id="7" name="矩形 6">
            <a:extLst>
              <a:ext uri="{FF2B5EF4-FFF2-40B4-BE49-F238E27FC236}">
                <a16:creationId xmlns:a16="http://schemas.microsoft.com/office/drawing/2014/main" id="{1D6E575A-1BAA-495C-9A4F-C625BE84BAF2}"/>
              </a:ext>
            </a:extLst>
          </p:cNvPr>
          <p:cNvSpPr/>
          <p:nvPr/>
        </p:nvSpPr>
        <p:spPr>
          <a:xfrm>
            <a:off x="6764988" y="1191432"/>
            <a:ext cx="2114746"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500" dirty="0">
                <a:solidFill>
                  <a:prstClr val="black"/>
                </a:solidFill>
                <a:latin typeface="Times New Roman" panose="02020603050405020304" pitchFamily="18" charset="0"/>
                <a:ea typeface="SimSun"/>
                <a:cs typeface="Times New Roman" panose="02020603050405020304" pitchFamily="18" charset="0"/>
              </a:rPr>
              <a:t>Validation result: </a:t>
            </a:r>
            <a:r>
              <a:rPr sz="1230" lang="zh-CN">
                <a:solidFill>
                  <a:srgbClr val="24425A"/>
                </a:solidFill>
                <a:latin typeface="Times New Roman"/>
                <a:ea typeface="SimSun"/>
                <a:cs typeface="Times New Roman"/>
              </a:rPr>
              <a:t>  验证结果：</a:t>
            </a:r>
          </a:p>
        </p:txBody>
      </p:sp>
      <p:sp>
        <p:nvSpPr>
          <p:cNvPr id="8" name="矩形 7">
            <a:extLst>
              <a:ext uri="{FF2B5EF4-FFF2-40B4-BE49-F238E27FC236}">
                <a16:creationId xmlns:a16="http://schemas.microsoft.com/office/drawing/2014/main" id="{F39F54A4-73F9-47DE-8A44-242E65CFCB32}"/>
              </a:ext>
            </a:extLst>
          </p:cNvPr>
          <p:cNvSpPr/>
          <p:nvPr/>
        </p:nvSpPr>
        <p:spPr>
          <a:xfrm>
            <a:off x="7005145" y="5391940"/>
            <a:ext cx="4607910" cy="611124"/>
          </a:xfrm>
          <a:prstGeom prst="rect">
            <a:avLst/>
          </a:prstGeom>
        </p:spPr>
        <p:txBody>
          <a:bodyPr wrap="square" tIns="0" bIns="0">
            <a:noAutofit/>
          </a:bodyPr>
          <a:lstStyle/>
          <a:p>
            <a:pPr defTabSz="457200" eaLnBrk="1" fontAlgn="auto" hangingPunct="1" algn="l">
              <a:lnSpc>
                <a:spcPct val="108000"/>
              </a:lnSpc>
              <a:spcAft>
                <a:spcPts val="300"/>
              </a:spcAft>
            </a:pPr>
            <a:r>
              <a:rPr lang="en-US" sz="1700" b="1"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altLang="zh-CN" sz="1700" b="1" i="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a</a:t>
            </a:r>
            <a:r>
              <a:rPr lang="en-US" sz="1700" b="1" i="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cceptable.</a:t>
            </a:r>
            <a:r>
              <a:rPr lang="en-US" sz="1700" b="1"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r>
              <a:rPr sz="1394" lang="zh-CN">
                <a:solidFill>
                  <a:srgbClr val="24425A"/>
                </a:solidFill>
                <a:latin typeface="Times New Roman"/>
                <a:ea typeface="SimSun"/>
                <a:cs typeface="Times New Roman"/>
              </a:rPr>
              <a:t>  最大偏差在可接受范围内。</a:t>
            </a:r>
          </a:p>
        </p:txBody>
      </p:sp>
      <p:sp>
        <p:nvSpPr>
          <p:cNvPr id="12" name="矩形 11">
            <a:extLst>
              <a:ext uri="{FF2B5EF4-FFF2-40B4-BE49-F238E27FC236}">
                <a16:creationId xmlns:a16="http://schemas.microsoft.com/office/drawing/2014/main" id="{432B8ECB-2DBF-4ECE-93FD-8ADC7D4825D6}"/>
              </a:ext>
            </a:extLst>
          </p:cNvPr>
          <p:cNvSpPr/>
          <p:nvPr/>
        </p:nvSpPr>
        <p:spPr>
          <a:xfrm>
            <a:off x="2732540" y="6293899"/>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3.3.1 </a:t>
            </a:r>
            <a:r>
              <a:rPr lang="en-HK" sz="1200" dirty="0">
                <a:solidFill>
                  <a:prstClr val="black"/>
                </a:solidFill>
                <a:latin typeface="Times New Roman" panose="02020603050405020304" pitchFamily="18" charset="0"/>
                <a:ea typeface="SimSun"/>
                <a:cs typeface="Times New Roman" panose="02020603050405020304" pitchFamily="18" charset="0"/>
              </a:rPr>
              <a:t>Experiment bench</a:t>
            </a:r>
          </a:p>
        </p:txBody>
      </p:sp>
      <p:sp>
        <p:nvSpPr>
          <p:cNvPr id="13" name="矩形 12">
            <a:extLst>
              <a:ext uri="{FF2B5EF4-FFF2-40B4-BE49-F238E27FC236}">
                <a16:creationId xmlns:a16="http://schemas.microsoft.com/office/drawing/2014/main" id="{3450D832-42A3-4396-AF51-9EEB6188644E}"/>
              </a:ext>
            </a:extLst>
          </p:cNvPr>
          <p:cNvSpPr/>
          <p:nvPr/>
        </p:nvSpPr>
        <p:spPr>
          <a:xfrm>
            <a:off x="8116491" y="4932227"/>
            <a:ext cx="2114746" cy="283257"/>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3.3.2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9" name="灯片编号占位符 8">
            <a:extLst>
              <a:ext uri="{FF2B5EF4-FFF2-40B4-BE49-F238E27FC236}">
                <a16:creationId xmlns:a16="http://schemas.microsoft.com/office/drawing/2014/main" id="{B3DA9FD2-B64A-4050-B0C5-362FD003963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18</a:t>
            </a:fld>
            <a:endParaRPr lang="en-US" altLang="zh-CN" dirty="0">
              <a:latin typeface="Times New Roman"/>
              <a:ea typeface="SimSun"/>
              <a:cs typeface="Times New Roman"/>
            </a:endParaRPr>
          </a:p>
        </p:txBody>
      </p:sp>
      <p:sp>
        <p:nvSpPr>
          <p:cNvPr id="15" name="矩形 3">
            <a:extLst>
              <a:ext uri="{FF2B5EF4-FFF2-40B4-BE49-F238E27FC236}">
                <a16:creationId xmlns:a16="http://schemas.microsoft.com/office/drawing/2014/main" id="{40AB118C-3093-466F-8D57-A34BF920C9F1}"/>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14" name="文本框 13">
            <a:extLst>
              <a:ext uri="{FF2B5EF4-FFF2-40B4-BE49-F238E27FC236}">
                <a16:creationId xmlns:a16="http://schemas.microsoft.com/office/drawing/2014/main" id="{30143F42-FAFE-4178-B0F3-9A249829053E}"/>
              </a:ext>
            </a:extLst>
          </p:cNvPr>
          <p:cNvSpPr txBox="1"/>
          <p:nvPr/>
        </p:nvSpPr>
        <p:spPr>
          <a:xfrm>
            <a:off x="346177" y="1013641"/>
            <a:ext cx="11274323"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3.3 </a:t>
            </a:r>
            <a:r>
              <a:rPr lang="en-US" sz="1500" b="1" dirty="0">
                <a:solidFill>
                  <a:prstClr val="black"/>
                </a:solidFill>
                <a:latin typeface="Times New Roman" panose="02020603050405020304" pitchFamily="18" charset="0"/>
                <a:ea typeface="SimSun"/>
                <a:cs typeface="Times New Roman" panose="02020603050405020304" pitchFamily="18" charset="0"/>
              </a:rPr>
              <a:t>E</a:t>
            </a:r>
            <a:r>
              <a:rPr lang="en-US" altLang="zh-CN" sz="1500" b="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xperiment validation</a:t>
            </a:r>
            <a:r>
              <a:rPr sz="1230" lang="zh-CN">
                <a:solidFill>
                  <a:srgbClr val="24425A"/>
                </a:solidFill>
                <a:latin typeface="Times New Roman"/>
                <a:ea typeface="SimSun"/>
                <a:cs typeface="Times New Roman"/>
              </a:rPr>
              <a:t>  实验验证</a:t>
            </a:r>
          </a:p>
        </p:txBody>
      </p:sp>
      <p:sp>
        <p:nvSpPr>
          <p:cNvPr id="17"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8924795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4B6CA80-9723-4E48-AAFD-8771FD7AF0D1}"/>
              </a:ext>
            </a:extLst>
          </p:cNvPr>
          <p:cNvSpPr/>
          <p:nvPr/>
        </p:nvSpPr>
        <p:spPr>
          <a:xfrm>
            <a:off x="458076" y="1055509"/>
            <a:ext cx="2492990"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500" b="1" dirty="0">
                <a:solidFill>
                  <a:prstClr val="black"/>
                </a:solidFill>
                <a:latin typeface="Times New Roman" panose="02020603050405020304" pitchFamily="18" charset="0"/>
                <a:ea typeface="SimSun"/>
                <a:cs typeface="Times New Roman" panose="02020603050405020304" pitchFamily="18" charset="0"/>
              </a:rPr>
              <a:t>Instrument selection</a:t>
            </a:r>
            <a:r>
              <a:rPr sz="1230" lang="zh-CN">
                <a:solidFill>
                  <a:srgbClr val="24425A"/>
                </a:solidFill>
                <a:latin typeface="Times New Roman"/>
                <a:ea typeface="SimSun"/>
                <a:cs typeface="Times New Roman"/>
              </a:rPr>
              <a:t>  实验仪器选型</a:t>
            </a:r>
          </a:p>
        </p:txBody>
      </p:sp>
      <p:graphicFrame>
        <p:nvGraphicFramePr>
          <p:cNvPr id="5" name="表格 4">
            <a:extLst>
              <a:ext uri="{FF2B5EF4-FFF2-40B4-BE49-F238E27FC236}">
                <a16:creationId xmlns:a16="http://schemas.microsoft.com/office/drawing/2014/main" id="{B6EDBB7A-178D-4498-B61C-F2E57641B09D}"/>
              </a:ext>
            </a:extLst>
          </p:cNvPr>
          <p:cNvGraphicFramePr>
            <a:graphicFrameLocks noGrp="1"/>
          </p:cNvGraphicFramePr>
          <p:nvPr/>
        </p:nvGraphicFramePr>
        <p:xfrm>
          <a:off x="993672" y="2129804"/>
          <a:ext cx="4489082" cy="1566473"/>
        </p:xfrm>
        <a:graphic>
          <a:graphicData uri="http://schemas.openxmlformats.org/drawingml/2006/table">
            <a:tbl>
              <a:tblPr firstRow="1" firstCol="1" bandRow="1">
                <a:tableStyleId>{69012ECD-51FC-41F1-AA8D-1B2483CD663E}</a:tableStyleId>
              </a:tblPr>
              <a:tblGrid>
                <a:gridCol w="653930">
                  <a:extLst>
                    <a:ext uri="{9D8B030D-6E8A-4147-A177-3AD203B41FA5}">
                      <a16:colId xmlns:a16="http://schemas.microsoft.com/office/drawing/2014/main" val="1492680179"/>
                    </a:ext>
                  </a:extLst>
                </a:gridCol>
                <a:gridCol w="994299">
                  <a:extLst>
                    <a:ext uri="{9D8B030D-6E8A-4147-A177-3AD203B41FA5}">
                      <a16:colId xmlns:a16="http://schemas.microsoft.com/office/drawing/2014/main" val="1099582554"/>
                    </a:ext>
                  </a:extLst>
                </a:gridCol>
                <a:gridCol w="985421">
                  <a:extLst>
                    <a:ext uri="{9D8B030D-6E8A-4147-A177-3AD203B41FA5}">
                      <a16:colId xmlns:a16="http://schemas.microsoft.com/office/drawing/2014/main" val="936513701"/>
                    </a:ext>
                  </a:extLst>
                </a:gridCol>
                <a:gridCol w="850135">
                  <a:extLst>
                    <a:ext uri="{9D8B030D-6E8A-4147-A177-3AD203B41FA5}">
                      <a16:colId xmlns:a16="http://schemas.microsoft.com/office/drawing/2014/main" val="2488443368"/>
                    </a:ext>
                  </a:extLst>
                </a:gridCol>
                <a:gridCol w="1005297">
                  <a:extLst>
                    <a:ext uri="{9D8B030D-6E8A-4147-A177-3AD203B41FA5}">
                      <a16:colId xmlns:a16="http://schemas.microsoft.com/office/drawing/2014/main" val="2263846524"/>
                    </a:ext>
                  </a:extLst>
                </a:gridCol>
              </a:tblGrid>
              <a:tr h="688419">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Nozzle</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Orifice</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diameter</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(mm)</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Volumetric flow</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rate </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 </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Pressure</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Spray angle</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extLst>
                  <a:ext uri="{0D108BD9-81ED-4DB2-BD59-A6C34878D82A}">
                    <a16:rowId xmlns:a16="http://schemas.microsoft.com/office/drawing/2014/main" val="901868659"/>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1</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2.4</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1.9-8.4</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45-50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721296"/>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2</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3.0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2.9-13</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0.4-10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60-70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0300693"/>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3</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3.2</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6.7-16.2</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0.4-10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70-75</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279380"/>
                  </a:ext>
                </a:extLst>
              </a:tr>
            </a:tbl>
          </a:graphicData>
        </a:graphic>
      </p:graphicFrame>
      <p:pic>
        <p:nvPicPr>
          <p:cNvPr id="6" name="图片 5">
            <a:extLst>
              <a:ext uri="{FF2B5EF4-FFF2-40B4-BE49-F238E27FC236}">
                <a16:creationId xmlns:a16="http://schemas.microsoft.com/office/drawing/2014/main" id="{E9030BCD-2D58-4A13-BAA4-AA512AA549C4}"/>
              </a:ext>
            </a:extLst>
          </p:cNvPr>
          <p:cNvPicPr>
            <a:picLocks noChangeAspect="1"/>
          </p:cNvPicPr>
          <p:nvPr/>
        </p:nvPicPr>
        <p:blipFill rotWithShape="1">
          <a:blip r:embed="rId3">
            <a:extLst>
              <a:ext uri="{28A0092B-C50C-407E-A947-70E740481C1C}">
                <a14:useLocalDpi xmlns:a14="http://schemas.microsoft.com/office/drawing/2010/main" val="0"/>
              </a:ext>
            </a:extLst>
          </a:blip>
          <a:srcRect t="1" r="3191" b="33534"/>
          <a:stretch/>
        </p:blipFill>
        <p:spPr>
          <a:xfrm>
            <a:off x="7025944" y="1824097"/>
            <a:ext cx="1508456" cy="1557915"/>
          </a:xfrm>
          <a:prstGeom prst="rect">
            <a:avLst/>
          </a:prstGeom>
        </p:spPr>
      </p:pic>
      <p:pic>
        <p:nvPicPr>
          <p:cNvPr id="7" name="图片 6">
            <a:extLst>
              <a:ext uri="{FF2B5EF4-FFF2-40B4-BE49-F238E27FC236}">
                <a16:creationId xmlns:a16="http://schemas.microsoft.com/office/drawing/2014/main" id="{D21BA7C6-A9E6-4037-A95D-BF85FEB91C10}"/>
              </a:ext>
            </a:extLst>
          </p:cNvPr>
          <p:cNvPicPr/>
          <p:nvPr/>
        </p:nvPicPr>
        <p:blipFill>
          <a:blip r:embed="rId4">
            <a:extLst>
              <a:ext uri="{28A0092B-C50C-407E-A947-70E740481C1C}">
                <a14:useLocalDpi xmlns:a14="http://schemas.microsoft.com/office/drawing/2010/main" val="0"/>
              </a:ext>
            </a:extLst>
          </a:blip>
          <a:stretch>
            <a:fillRect/>
          </a:stretch>
        </p:blipFill>
        <p:spPr>
          <a:xfrm>
            <a:off x="8737049" y="1742835"/>
            <a:ext cx="1917332" cy="1793121"/>
          </a:xfrm>
          <a:prstGeom prst="rect">
            <a:avLst/>
          </a:prstGeom>
        </p:spPr>
      </p:pic>
      <p:graphicFrame>
        <p:nvGraphicFramePr>
          <p:cNvPr id="8" name="表格 7">
            <a:extLst>
              <a:ext uri="{FF2B5EF4-FFF2-40B4-BE49-F238E27FC236}">
                <a16:creationId xmlns:a16="http://schemas.microsoft.com/office/drawing/2014/main" id="{7B07609B-CAAB-4FF6-932E-E4CDAA452014}"/>
              </a:ext>
            </a:extLst>
          </p:cNvPr>
          <p:cNvGraphicFramePr>
            <a:graphicFrameLocks noGrp="1"/>
          </p:cNvGraphicFramePr>
          <p:nvPr/>
        </p:nvGraphicFramePr>
        <p:xfrm>
          <a:off x="993672" y="4071414"/>
          <a:ext cx="4489082" cy="1793825"/>
        </p:xfrm>
        <a:graphic>
          <a:graphicData uri="http://schemas.openxmlformats.org/drawingml/2006/table">
            <a:tbl>
              <a:tblPr firstRow="1" firstCol="1" bandRow="1">
                <a:tableStyleId>{69012ECD-51FC-41F1-AA8D-1B2483CD663E}</a:tableStyleId>
              </a:tblPr>
              <a:tblGrid>
                <a:gridCol w="1081229">
                  <a:extLst>
                    <a:ext uri="{9D8B030D-6E8A-4147-A177-3AD203B41FA5}">
                      <a16:colId xmlns:a16="http://schemas.microsoft.com/office/drawing/2014/main" val="1492680179"/>
                    </a:ext>
                  </a:extLst>
                </a:gridCol>
                <a:gridCol w="1380306">
                  <a:extLst>
                    <a:ext uri="{9D8B030D-6E8A-4147-A177-3AD203B41FA5}">
                      <a16:colId xmlns:a16="http://schemas.microsoft.com/office/drawing/2014/main" val="1099582554"/>
                    </a:ext>
                  </a:extLst>
                </a:gridCol>
                <a:gridCol w="732775">
                  <a:extLst>
                    <a:ext uri="{9D8B030D-6E8A-4147-A177-3AD203B41FA5}">
                      <a16:colId xmlns:a16="http://schemas.microsoft.com/office/drawing/2014/main" val="936513701"/>
                    </a:ext>
                  </a:extLst>
                </a:gridCol>
                <a:gridCol w="1294772">
                  <a:extLst>
                    <a:ext uri="{9D8B030D-6E8A-4147-A177-3AD203B41FA5}">
                      <a16:colId xmlns:a16="http://schemas.microsoft.com/office/drawing/2014/main" val="2488443368"/>
                    </a:ext>
                  </a:extLst>
                </a:gridCol>
              </a:tblGrid>
              <a:tr h="688419">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bg1"/>
                          </a:solidFill>
                          <a:effectLst/>
                          <a:latin typeface="Times New Roman" panose="02020603050405020304" pitchFamily="18" charset="0"/>
                          <a:ea typeface="SimSun"/>
                          <a:cs typeface="Times New Roman" panose="02020603050405020304" pitchFamily="18" charset="0"/>
                        </a:rPr>
                        <a:t>Instrument</a:t>
                      </a: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HK" sz="1400" dirty="0">
                          <a:effectLst/>
                          <a:latin typeface="Times New Roman" panose="02020603050405020304" pitchFamily="18" charset="0"/>
                          <a:ea typeface="SimSun"/>
                          <a:cs typeface="Times New Roman" panose="02020603050405020304" pitchFamily="18" charset="0"/>
                        </a:rPr>
                        <a:t>Parameter</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Range </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Accuracy</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extLst>
                  <a:ext uri="{0D108BD9-81ED-4DB2-BD59-A6C34878D82A}">
                    <a16:rowId xmlns:a16="http://schemas.microsoft.com/office/drawing/2014/main" val="901868659"/>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kern="1200" dirty="0">
                          <a:solidFill>
                            <a:schemeClr val="tx1"/>
                          </a:solidFill>
                          <a:effectLst/>
                          <a:latin typeface="Times New Roman" panose="02020603050405020304" pitchFamily="18" charset="0"/>
                          <a:ea typeface="SimSun"/>
                          <a:cs typeface="Times New Roman" panose="02020603050405020304" pitchFamily="18" charset="0"/>
                        </a:rPr>
                        <a:t>Flowmeter</a:t>
                      </a:r>
                      <a:endParaRPr lang="en-HK" sz="1400" b="1" kern="1200" dirty="0">
                        <a:solidFill>
                          <a:schemeClr val="tx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r>
                        <a:rPr lang="en-HK" sz="1400" kern="1200" dirty="0">
                          <a:effectLst/>
                          <a:latin typeface="Times New Roman" panose="02020603050405020304" pitchFamily="18" charset="0"/>
                          <a:ea typeface="SimSun"/>
                          <a:cs typeface="Times New Roman" panose="02020603050405020304" pitchFamily="18" charset="0"/>
                        </a:rPr>
                        <a:t>Water flow rate</a:t>
                      </a:r>
                      <a:endParaRPr lang="en-HK" sz="1400"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1.9-8.4</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721296"/>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Pressure gage</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r>
                        <a:rPr lang="en-HK" sz="1400" kern="1200" dirty="0">
                          <a:effectLst/>
                          <a:latin typeface="Times New Roman" panose="02020603050405020304" pitchFamily="18" charset="0"/>
                          <a:ea typeface="SimSun"/>
                          <a:cs typeface="Times New Roman" panose="02020603050405020304" pitchFamily="18" charset="0"/>
                        </a:rPr>
                        <a:t>Water pressure</a:t>
                      </a:r>
                      <a:endParaRPr lang="en-HK" sz="1400"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2.9-13</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0300693"/>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Measuring cylinder</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r>
                        <a:rPr lang="en-HK" sz="1400" kern="1200" dirty="0">
                          <a:effectLst/>
                          <a:latin typeface="Times New Roman" panose="02020603050405020304" pitchFamily="18" charset="0"/>
                          <a:ea typeface="SimSun"/>
                          <a:cs typeface="Times New Roman" panose="02020603050405020304" pitchFamily="18" charset="0"/>
                        </a:rPr>
                        <a:t>Water volume</a:t>
                      </a:r>
                      <a:endParaRPr lang="en-HK" sz="1400"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6.7-16.2</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279380"/>
                  </a:ext>
                </a:extLst>
              </a:tr>
            </a:tbl>
          </a:graphicData>
        </a:graphic>
      </p:graphicFrame>
      <p:sp>
        <p:nvSpPr>
          <p:cNvPr id="12" name="矩形 11">
            <a:extLst>
              <a:ext uri="{FF2B5EF4-FFF2-40B4-BE49-F238E27FC236}">
                <a16:creationId xmlns:a16="http://schemas.microsoft.com/office/drawing/2014/main" id="{27391731-49C3-4478-AA8F-533231BC2DF4}"/>
              </a:ext>
            </a:extLst>
          </p:cNvPr>
          <p:cNvSpPr/>
          <p:nvPr/>
        </p:nvSpPr>
        <p:spPr>
          <a:xfrm>
            <a:off x="7780172" y="6398438"/>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8.3 </a:t>
            </a:r>
            <a:r>
              <a:rPr lang="en-HK" sz="1200" dirty="0">
                <a:solidFill>
                  <a:prstClr val="black"/>
                </a:solidFill>
                <a:latin typeface="Times New Roman" panose="02020603050405020304" pitchFamily="18" charset="0"/>
                <a:ea typeface="SimSun"/>
                <a:cs typeface="Times New Roman" panose="02020603050405020304" pitchFamily="18" charset="0"/>
              </a:rPr>
              <a:t>Photos of test instrument</a:t>
            </a:r>
          </a:p>
        </p:txBody>
      </p:sp>
      <p:sp>
        <p:nvSpPr>
          <p:cNvPr id="13" name="矩形 12">
            <a:extLst>
              <a:ext uri="{FF2B5EF4-FFF2-40B4-BE49-F238E27FC236}">
                <a16:creationId xmlns:a16="http://schemas.microsoft.com/office/drawing/2014/main" id="{016A5827-1BF1-428B-B40E-8930B035533B}"/>
              </a:ext>
            </a:extLst>
          </p:cNvPr>
          <p:cNvSpPr/>
          <p:nvPr/>
        </p:nvSpPr>
        <p:spPr>
          <a:xfrm>
            <a:off x="917267" y="1794035"/>
            <a:ext cx="4792063"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Table 8.1 </a:t>
            </a:r>
            <a:r>
              <a:rPr lang="en-HK" sz="1400" dirty="0">
                <a:solidFill>
                  <a:prstClr val="black"/>
                </a:solidFill>
                <a:latin typeface="Times New Roman" panose="02020603050405020304" pitchFamily="18" charset="0"/>
                <a:ea typeface="SimSun"/>
                <a:cs typeface="Times New Roman" panose="02020603050405020304" pitchFamily="18" charset="0"/>
              </a:rPr>
              <a:t>Solid nozzle selection</a:t>
            </a:r>
          </a:p>
        </p:txBody>
      </p:sp>
      <p:sp>
        <p:nvSpPr>
          <p:cNvPr id="14" name="矩形 13">
            <a:extLst>
              <a:ext uri="{FF2B5EF4-FFF2-40B4-BE49-F238E27FC236}">
                <a16:creationId xmlns:a16="http://schemas.microsoft.com/office/drawing/2014/main" id="{9782D03B-DB3C-4802-AB9A-7D478BF27D5F}"/>
              </a:ext>
            </a:extLst>
          </p:cNvPr>
          <p:cNvSpPr/>
          <p:nvPr/>
        </p:nvSpPr>
        <p:spPr>
          <a:xfrm>
            <a:off x="907889" y="3722380"/>
            <a:ext cx="4792063"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Table 8.2 </a:t>
            </a:r>
            <a:r>
              <a:rPr lang="en-HK" sz="1400" dirty="0">
                <a:solidFill>
                  <a:prstClr val="black"/>
                </a:solidFill>
                <a:latin typeface="Times New Roman" panose="02020603050405020304" pitchFamily="18" charset="0"/>
                <a:ea typeface="SimSun"/>
                <a:cs typeface="Times New Roman" panose="02020603050405020304" pitchFamily="18" charset="0"/>
              </a:rPr>
              <a:t>Instrument parameters list</a:t>
            </a:r>
          </a:p>
        </p:txBody>
      </p:sp>
      <p:pic>
        <p:nvPicPr>
          <p:cNvPr id="15" name="图片 14">
            <a:extLst>
              <a:ext uri="{FF2B5EF4-FFF2-40B4-BE49-F238E27FC236}">
                <a16:creationId xmlns:a16="http://schemas.microsoft.com/office/drawing/2014/main" id="{C022CD82-34CA-450C-A69C-80B92DAA0A22}"/>
              </a:ext>
            </a:extLst>
          </p:cNvPr>
          <p:cNvPicPr>
            <a:picLocks noChangeAspect="1"/>
          </p:cNvPicPr>
          <p:nvPr/>
        </p:nvPicPr>
        <p:blipFill>
          <a:blip r:embed="rId5"/>
          <a:stretch>
            <a:fillRect/>
          </a:stretch>
        </p:blipFill>
        <p:spPr>
          <a:xfrm>
            <a:off x="7228595" y="3722380"/>
            <a:ext cx="1508455" cy="1430168"/>
          </a:xfrm>
          <a:prstGeom prst="rect">
            <a:avLst/>
          </a:prstGeom>
        </p:spPr>
      </p:pic>
      <p:pic>
        <p:nvPicPr>
          <p:cNvPr id="16" name="图片 15">
            <a:extLst>
              <a:ext uri="{FF2B5EF4-FFF2-40B4-BE49-F238E27FC236}">
                <a16:creationId xmlns:a16="http://schemas.microsoft.com/office/drawing/2014/main" id="{EB747129-FC9B-4B86-9191-BFD1F05FF46F}"/>
              </a:ext>
            </a:extLst>
          </p:cNvPr>
          <p:cNvPicPr>
            <a:picLocks noChangeAspect="1"/>
          </p:cNvPicPr>
          <p:nvPr/>
        </p:nvPicPr>
        <p:blipFill>
          <a:blip r:embed="rId6"/>
          <a:stretch>
            <a:fillRect/>
          </a:stretch>
        </p:blipFill>
        <p:spPr>
          <a:xfrm>
            <a:off x="8255387" y="5153580"/>
            <a:ext cx="1404818" cy="1226503"/>
          </a:xfrm>
          <a:prstGeom prst="rect">
            <a:avLst/>
          </a:prstGeom>
        </p:spPr>
      </p:pic>
      <p:pic>
        <p:nvPicPr>
          <p:cNvPr id="17" name="图片 16">
            <a:extLst>
              <a:ext uri="{FF2B5EF4-FFF2-40B4-BE49-F238E27FC236}">
                <a16:creationId xmlns:a16="http://schemas.microsoft.com/office/drawing/2014/main" id="{0961E9B6-4010-4919-B44E-FD0F2920E5D0}"/>
              </a:ext>
            </a:extLst>
          </p:cNvPr>
          <p:cNvPicPr>
            <a:picLocks noChangeAspect="1"/>
          </p:cNvPicPr>
          <p:nvPr/>
        </p:nvPicPr>
        <p:blipFill>
          <a:blip r:embed="rId7"/>
          <a:stretch>
            <a:fillRect/>
          </a:stretch>
        </p:blipFill>
        <p:spPr>
          <a:xfrm>
            <a:off x="8769666" y="3722380"/>
            <a:ext cx="1584245" cy="1429360"/>
          </a:xfrm>
          <a:prstGeom prst="rect">
            <a:avLst/>
          </a:prstGeom>
        </p:spPr>
      </p:pic>
      <p:sp>
        <p:nvSpPr>
          <p:cNvPr id="18" name="矩形 17">
            <a:extLst>
              <a:ext uri="{FF2B5EF4-FFF2-40B4-BE49-F238E27FC236}">
                <a16:creationId xmlns:a16="http://schemas.microsoft.com/office/drawing/2014/main" id="{134E097A-F791-46FB-A270-EF66965E1CED}"/>
              </a:ext>
            </a:extLst>
          </p:cNvPr>
          <p:cNvSpPr/>
          <p:nvPr/>
        </p:nvSpPr>
        <p:spPr>
          <a:xfrm>
            <a:off x="7593360" y="3440460"/>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3.3.1 </a:t>
            </a:r>
            <a:r>
              <a:rPr lang="en-HK" sz="1200" dirty="0">
                <a:solidFill>
                  <a:prstClr val="black"/>
                </a:solidFill>
                <a:latin typeface="Times New Roman" panose="02020603050405020304" pitchFamily="18" charset="0"/>
                <a:ea typeface="SimSun"/>
                <a:cs typeface="Times New Roman" panose="02020603050405020304" pitchFamily="18" charset="0"/>
              </a:rPr>
              <a:t>Photos of the nozzles</a:t>
            </a:r>
          </a:p>
        </p:txBody>
      </p:sp>
      <p:sp>
        <p:nvSpPr>
          <p:cNvPr id="20" name="灯片编号占位符 3">
            <a:extLst>
              <a:ext uri="{FF2B5EF4-FFF2-40B4-BE49-F238E27FC236}">
                <a16:creationId xmlns:a16="http://schemas.microsoft.com/office/drawing/2014/main" id="{6AEADC08-85C1-46B6-9C3C-44F0ED3D35E9}"/>
              </a:ext>
            </a:extLst>
          </p:cNvPr>
          <p:cNvSpPr>
            <a:spLocks noGrp="1"/>
          </p:cNvSpPr>
          <p:nvPr>
            <p:ph type="sldNum" sz="quarter" idx="12"/>
          </p:nvPr>
        </p:nvSpPr>
        <p:spPr>
          <a:xfrm>
            <a:off x="9989392" y="6492875"/>
            <a:ext cx="21336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19</a:t>
            </a:fld>
            <a:endParaRPr lang="en-US" altLang="zh-CN" dirty="0">
              <a:latin typeface="Times New Roman"/>
              <a:ea typeface="SimSun"/>
              <a:cs typeface="Times New Roman"/>
            </a:endParaRPr>
          </a:p>
        </p:txBody>
      </p:sp>
      <p:sp>
        <p:nvSpPr>
          <p:cNvPr id="21" name="矩形 3">
            <a:extLst>
              <a:ext uri="{FF2B5EF4-FFF2-40B4-BE49-F238E27FC236}">
                <a16:creationId xmlns:a16="http://schemas.microsoft.com/office/drawing/2014/main" id="{FA7ED50A-0F21-4FFD-B7C0-C471AA883A61}"/>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spTree>
    <p:extLst>
      <p:ext uri="{BB962C8B-B14F-4D97-AF65-F5344CB8AC3E}">
        <p14:creationId xmlns:p14="http://schemas.microsoft.com/office/powerpoint/2010/main" val="251121747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E3251C6-9A89-4FAA-9B79-BD4DAD9F863F}"/>
              </a:ext>
            </a:extLst>
          </p:cNvPr>
          <p:cNvSpPr txBox="1"/>
          <p:nvPr/>
        </p:nvSpPr>
        <p:spPr>
          <a:xfrm>
            <a:off x="691176" y="933626"/>
            <a:ext cx="10929324"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3.4 Performance indexes</a:t>
            </a:r>
            <a:r>
              <a:rPr sz="1230" lang="zh-CN">
                <a:solidFill>
                  <a:srgbClr val="24425A"/>
                </a:solidFill>
                <a:latin typeface="Times New Roman"/>
                <a:ea typeface="SimSun"/>
                <a:cs typeface="Times New Roman"/>
              </a:rPr>
              <a:t>  性能评价指标</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95711F7-5B13-4371-9CD5-5D3334820BD0}"/>
                  </a:ext>
                </a:extLst>
              </p:cNvPr>
              <p:cNvSpPr/>
              <p:nvPr/>
            </p:nvSpPr>
            <p:spPr>
              <a:xfrm>
                <a:off x="1677699" y="1544385"/>
                <a:ext cx="4931887" cy="1872564"/>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2000" dirty="0">
                    <a:solidFill>
                      <a:prstClr val="black"/>
                    </a:solidFill>
                    <a:latin typeface="Times New Roman" panose="02020603050405020304" pitchFamily="18" charset="0"/>
                    <a:ea typeface="SimSun"/>
                    <a:cs typeface="Times New Roman" panose="02020603050405020304" pitchFamily="18" charset="0"/>
                  </a:rPr>
                  <a:t>Water distribution</a:t>
                </a:r>
              </a:p>
              <a:p>
                <a:pPr marL="285750" indent="-285750" defTabSz="457200" eaLnBrk="1" fontAlgn="auto" hangingPunct="1">
                  <a:spcBef>
                    <a:spcPts val="0"/>
                  </a:spcBef>
                  <a:spcAft>
                    <a:spcPts val="0"/>
                  </a:spcAft>
                  <a:buFont typeface="Wingdings" panose="05000000000000000000" pitchFamily="2" charset="2"/>
                  <a:buChar char="Ø"/>
                </a:pPr>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Uniformity coefficient: </a:t>
                </a:r>
              </a:p>
              <a:p>
                <a:pPr defTabSz="457200" eaLnBrk="1" fontAlgn="auto" hangingPunct="1">
                  <a:spcBef>
                    <a:spcPts val="0"/>
                  </a:spcBef>
                  <a:spcAft>
                    <a:spcPts val="0"/>
                  </a:spcAft>
                </a:pPr>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Coverage ratio: </a:t>
                </a:r>
                <a14:m>
                  <m:oMath xmlns:m="http://schemas.openxmlformats.org/officeDocument/2006/math">
                    <m:r>
                      <a:rPr lang="en-HK" sz="1800">
                        <a:solidFill>
                          <a:prstClr val="black"/>
                        </a:solidFill>
                        <a:latin typeface="Times New Roman" panose="02040503050406030204" pitchFamily="18" charset="0"/>
                        <a:ea typeface="SimSun"/>
                        <a:cs typeface="Times New Roman"/>
                      </a:rPr>
                      <m:t> </m:t>
                    </m:r>
                    <m:r>
                      <m:rPr>
                        <m:sty m:val="p"/>
                      </m:rPr>
                      <a:rPr lang="en-US" sz="1800">
                        <a:solidFill>
                          <a:prstClr val="black"/>
                        </a:solidFill>
                        <a:latin typeface="Times New Roman" panose="02040503050406030204" pitchFamily="18" charset="0"/>
                        <a:ea typeface="SimSun"/>
                        <a:cs typeface="Times New Roman"/>
                      </a:rPr>
                      <m:t>γ</m:t>
                    </m:r>
                    <m:r>
                      <a:rPr lang="en-US" sz="1800">
                        <a:solidFill>
                          <a:prstClr val="black"/>
                        </a:solidFill>
                        <a:latin typeface="Times New Roman" panose="02040503050406030204" pitchFamily="18" charset="0"/>
                        <a:ea typeface="SimSun"/>
                        <a:cs typeface="Times New Roman"/>
                      </a:rPr>
                      <m:t>=</m:t>
                    </m:r>
                    <m:f>
                      <m:fPr>
                        <m:ctrlPr>
                          <a:rPr lang="en-HK" sz="1800" i="1">
                            <a:solidFill>
                              <a:prstClr val="black"/>
                            </a:solidFill>
                            <a:latin typeface="Times New Roman" panose="02040503050406030204" pitchFamily="18" charset="0"/>
                            <a:ea typeface="SimSun"/>
                            <a:cs typeface="Times New Roman"/>
                          </a:rPr>
                        </m:ctrlPr>
                      </m:fPr>
                      <m:num>
                        <m:sSub>
                          <m:sSubPr>
                            <m:ctrlPr>
                              <a:rPr lang="en-US" sz="1800" i="1">
                                <a:solidFill>
                                  <a:prstClr val="black"/>
                                </a:solidFill>
                                <a:latin typeface="Times New Roman" panose="02040503050406030204" pitchFamily="18" charset="0"/>
                                <a:ea typeface="SimSun"/>
                                <a:cs typeface="Times New Roman"/>
                              </a:rPr>
                            </m:ctrlPr>
                          </m:sSubPr>
                          <m:e>
                            <m:r>
                              <a:rPr lang="en-US" sz="1800" i="1">
                                <a:solidFill>
                                  <a:prstClr val="black"/>
                                </a:solidFill>
                                <a:latin typeface="Times New Roman" panose="02040503050406030204" pitchFamily="18" charset="0"/>
                                <a:ea typeface="SimSun"/>
                                <a:cs typeface="Times New Roman"/>
                              </a:rPr>
                              <m:t>𝑆</m:t>
                            </m:r>
                          </m:e>
                          <m:sub>
                            <m:r>
                              <a:rPr lang="en-US" sz="1800" i="1">
                                <a:solidFill>
                                  <a:prstClr val="black"/>
                                </a:solidFill>
                                <a:latin typeface="Times New Roman" panose="02040503050406030204" pitchFamily="18" charset="0"/>
                                <a:ea typeface="SimSun"/>
                                <a:cs typeface="Times New Roman"/>
                              </a:rPr>
                              <m:t>𝑤</m:t>
                            </m:r>
                          </m:sub>
                        </m:sSub>
                      </m:num>
                      <m:den>
                        <m:r>
                          <a:rPr lang="en-US" sz="1800" i="1">
                            <a:solidFill>
                              <a:prstClr val="black"/>
                            </a:solidFill>
                            <a:latin typeface="Times New Roman" panose="02040503050406030204" pitchFamily="18" charset="0"/>
                            <a:ea typeface="SimSun"/>
                            <a:cs typeface="Times New Roman"/>
                          </a:rPr>
                          <m:t>𝑆</m:t>
                        </m:r>
                      </m:den>
                    </m:f>
                  </m:oMath>
                </a14:m>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600" dirty="0">
                  <a:solidFill>
                    <a:prstClr val="black"/>
                  </a:solidFill>
                  <a:latin typeface="Times New Roman" panose="020B0604020202020204" pitchFamily="34" charset="0"/>
                  <a:ea typeface="SimSun"/>
                  <a:cs typeface="Times New Roman" panose="020B0604020202020204" pitchFamily="34" charset="0"/>
                </a:endParaRPr>
              </a:p>
            </p:txBody>
          </p:sp>
        </mc:Choice>
        <mc:Fallback xmlns="">
          <p:sp>
            <p:nvSpPr>
              <p:cNvPr id="4" name="矩形 3">
                <a:extLst>
                  <a:ext uri="{FF2B5EF4-FFF2-40B4-BE49-F238E27FC236}">
                    <a16:creationId xmlns:a16="http://schemas.microsoft.com/office/drawing/2014/main" id="{995711F7-5B13-4371-9CD5-5D3334820BD0}"/>
                  </a:ext>
                </a:extLst>
              </p:cNvPr>
              <p:cNvSpPr>
                <a:spLocks noRot="1" noChangeAspect="1" noMove="1" noResize="1" noEditPoints="1" noAdjustHandles="1" noChangeArrowheads="1" noChangeShapeType="1" noTextEdit="1"/>
              </p:cNvSpPr>
              <p:nvPr/>
            </p:nvSpPr>
            <p:spPr>
              <a:xfrm>
                <a:off x="1677699" y="1544385"/>
                <a:ext cx="4931887" cy="1872564"/>
              </a:xfrm>
              <a:prstGeom prst="rect">
                <a:avLst/>
              </a:prstGeom>
              <a:blipFill>
                <a:blip r:embed="rId3"/>
                <a:stretch>
                  <a:fillRect l="-1112" t="-162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0EF7F27-4875-480E-8001-F9840C8D6E6D}"/>
                  </a:ext>
                </a:extLst>
              </p:cNvPr>
              <p:cNvSpPr/>
              <p:nvPr/>
            </p:nvSpPr>
            <p:spPr>
              <a:xfrm>
                <a:off x="3852414" y="1824747"/>
                <a:ext cx="1783116" cy="785921"/>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HK" sz="1400">
                          <a:solidFill>
                            <a:prstClr val="black"/>
                          </a:solidFill>
                          <a:latin typeface="Times New Roman" panose="02040503050406030204" pitchFamily="18" charset="0"/>
                          <a:ea typeface="SimSun"/>
                          <a:cs typeface="Times New Roman"/>
                        </a:rPr>
                        <m:t>ξ</m:t>
                      </m:r>
                      <m:r>
                        <a:rPr lang="en-HK" sz="1400">
                          <a:solidFill>
                            <a:prstClr val="black"/>
                          </a:solidFill>
                          <a:latin typeface="Times New Roman" panose="02040503050406030204" pitchFamily="18" charset="0"/>
                          <a:ea typeface="SimSun"/>
                          <a:cs typeface="Times New Roman"/>
                        </a:rPr>
                        <m:t>=</m:t>
                      </m:r>
                      <m:f>
                        <m:fPr>
                          <m:ctrlPr>
                            <a:rPr lang="en-HK" sz="1400">
                              <a:solidFill>
                                <a:prstClr val="black"/>
                              </a:solidFill>
                              <a:latin typeface="Times New Roman" panose="02040503050406030204" pitchFamily="18" charset="0"/>
                              <a:ea typeface="SimSun"/>
                              <a:cs typeface="Times New Roman"/>
                            </a:rPr>
                          </m:ctrlPr>
                        </m:fPr>
                        <m:num>
                          <m:r>
                            <a:rPr lang="en-HK" sz="1400">
                              <a:solidFill>
                                <a:prstClr val="black"/>
                              </a:solidFill>
                              <a:latin typeface="Times New Roman" panose="02040503050406030204" pitchFamily="18" charset="0"/>
                              <a:ea typeface="SimSun"/>
                              <a:cs typeface="Times New Roman"/>
                            </a:rPr>
                            <m:t>1</m:t>
                          </m:r>
                        </m:num>
                        <m:den>
                          <m:acc>
                            <m:accPr>
                              <m:chr m:val="̅"/>
                              <m:ctrlPr>
                                <a:rPr lang="en-HK" sz="1400" i="1">
                                  <a:solidFill>
                                    <a:prstClr val="black"/>
                                  </a:solidFill>
                                  <a:latin typeface="Times New Roman" panose="02040503050406030204" pitchFamily="18" charset="0"/>
                                  <a:ea typeface="SimSun"/>
                                  <a:cs typeface="Times New Roman"/>
                                </a:rPr>
                              </m:ctrlPr>
                            </m:accPr>
                            <m:e>
                              <m:r>
                                <a:rPr lang="en-HK" sz="1400" i="1">
                                  <a:solidFill>
                                    <a:prstClr val="black"/>
                                  </a:solidFill>
                                  <a:latin typeface="Times New Roman" panose="02040503050406030204" pitchFamily="18" charset="0"/>
                                  <a:ea typeface="SimSun"/>
                                  <a:cs typeface="Times New Roman"/>
                                </a:rPr>
                                <m:t>𝑥</m:t>
                              </m:r>
                            </m:e>
                          </m:acc>
                        </m:den>
                      </m:f>
                      <m:d>
                        <m:dPr>
                          <m:ctrlPr>
                            <a:rPr lang="en-HK" sz="1400" i="1">
                              <a:solidFill>
                                <a:prstClr val="black"/>
                              </a:solidFill>
                              <a:latin typeface="Times New Roman" panose="02040503050406030204" pitchFamily="18" charset="0"/>
                              <a:ea typeface="SimSun"/>
                              <a:cs typeface="Times New Roman"/>
                            </a:rPr>
                          </m:ctrlPr>
                        </m:dPr>
                        <m:e>
                          <m:rad>
                            <m:radPr>
                              <m:degHide m:val="on"/>
                              <m:ctrlPr>
                                <a:rPr lang="en-HK" sz="1400" i="1">
                                  <a:solidFill>
                                    <a:prstClr val="black"/>
                                  </a:solidFill>
                                  <a:latin typeface="Times New Roman" panose="02040503050406030204" pitchFamily="18" charset="0"/>
                                  <a:ea typeface="SimSun"/>
                                  <a:cs typeface="Times New Roman"/>
                                </a:rPr>
                              </m:ctrlPr>
                            </m:radPr>
                            <m:deg/>
                            <m:e>
                              <m:f>
                                <m:fPr>
                                  <m:ctrlPr>
                                    <a:rPr lang="en-HK" sz="1400" i="1">
                                      <a:solidFill>
                                        <a:prstClr val="black"/>
                                      </a:solidFill>
                                      <a:latin typeface="Times New Roman" panose="02040503050406030204" pitchFamily="18" charset="0"/>
                                      <a:ea typeface="SimSun"/>
                                      <a:cs typeface="Times New Roman"/>
                                    </a:rPr>
                                  </m:ctrlPr>
                                </m:fPr>
                                <m:num>
                                  <m:nary>
                                    <m:naryPr>
                                      <m:chr m:val="∑"/>
                                      <m:limLoc m:val="subSup"/>
                                      <m:ctrlPr>
                                        <a:rPr lang="en-HK" sz="1400" i="1">
                                          <a:solidFill>
                                            <a:prstClr val="black"/>
                                          </a:solidFill>
                                          <a:latin typeface="Times New Roman" panose="02040503050406030204" pitchFamily="18" charset="0"/>
                                          <a:ea typeface="SimSun"/>
                                          <a:cs typeface="Times New Roman"/>
                                        </a:rPr>
                                      </m:ctrlPr>
                                    </m:naryPr>
                                    <m:sub>
                                      <m:r>
                                        <a:rPr lang="en-HK" sz="1400" i="1">
                                          <a:solidFill>
                                            <a:prstClr val="black"/>
                                          </a:solidFill>
                                          <a:latin typeface="Times New Roman" panose="02040503050406030204" pitchFamily="18" charset="0"/>
                                          <a:ea typeface="SimSun"/>
                                          <a:cs typeface="Times New Roman"/>
                                        </a:rPr>
                                        <m:t>𝑖</m:t>
                                      </m:r>
                                    </m:sub>
                                    <m:sup>
                                      <m:r>
                                        <a:rPr lang="en-HK" sz="1400" i="1">
                                          <a:solidFill>
                                            <a:prstClr val="black"/>
                                          </a:solidFill>
                                          <a:latin typeface="Times New Roman" panose="02040503050406030204" pitchFamily="18" charset="0"/>
                                          <a:ea typeface="SimSun"/>
                                          <a:cs typeface="Times New Roman"/>
                                        </a:rPr>
                                        <m:t>𝑁</m:t>
                                      </m:r>
                                    </m:sup>
                                    <m:e>
                                      <m:sSub>
                                        <m:sSubPr>
                                          <m:ctrlPr>
                                            <a:rPr lang="en-HK" sz="1400" i="1">
                                              <a:solidFill>
                                                <a:prstClr val="black"/>
                                              </a:solidFill>
                                              <a:latin typeface="Times New Roman" panose="02040503050406030204" pitchFamily="18" charset="0"/>
                                              <a:ea typeface="SimSun"/>
                                              <a:cs typeface="Times New Roman"/>
                                            </a:rPr>
                                          </m:ctrlPr>
                                        </m:sSubPr>
                                        <m:e>
                                          <m:r>
                                            <a:rPr lang="en-HK" sz="1400" i="1">
                                              <a:solidFill>
                                                <a:prstClr val="black"/>
                                              </a:solidFill>
                                              <a:latin typeface="Times New Roman" panose="02040503050406030204" pitchFamily="18" charset="0"/>
                                              <a:ea typeface="SimSun"/>
                                              <a:cs typeface="Times New Roman"/>
                                            </a:rPr>
                                            <m:t>𝑥</m:t>
                                          </m:r>
                                        </m:e>
                                        <m:sub>
                                          <m:r>
                                            <a:rPr lang="en-HK" sz="1400" i="1">
                                              <a:solidFill>
                                                <a:prstClr val="black"/>
                                              </a:solidFill>
                                              <a:latin typeface="Times New Roman" panose="02040503050406030204" pitchFamily="18" charset="0"/>
                                              <a:ea typeface="SimSun"/>
                                              <a:cs typeface="Times New Roman"/>
                                            </a:rPr>
                                            <m:t>𝑖</m:t>
                                          </m:r>
                                        </m:sub>
                                      </m:sSub>
                                      <m:r>
                                        <a:rPr lang="en-HK" sz="1400">
                                          <a:solidFill>
                                            <a:prstClr val="black"/>
                                          </a:solidFill>
                                          <a:latin typeface="Times New Roman" panose="02040503050406030204" pitchFamily="18" charset="0"/>
                                          <a:ea typeface="SimSun"/>
                                          <a:cs typeface="Times New Roman"/>
                                        </a:rPr>
                                        <m:t>−</m:t>
                                      </m:r>
                                      <m:acc>
                                        <m:accPr>
                                          <m:chr m:val="̅"/>
                                          <m:ctrlPr>
                                            <a:rPr lang="en-HK" sz="1400" i="1">
                                              <a:solidFill>
                                                <a:prstClr val="black"/>
                                              </a:solidFill>
                                              <a:latin typeface="Times New Roman" panose="02040503050406030204" pitchFamily="18" charset="0"/>
                                              <a:ea typeface="SimSun"/>
                                              <a:cs typeface="Times New Roman"/>
                                            </a:rPr>
                                          </m:ctrlPr>
                                        </m:accPr>
                                        <m:e>
                                          <m:r>
                                            <a:rPr lang="en-HK" sz="1400" i="1">
                                              <a:solidFill>
                                                <a:prstClr val="black"/>
                                              </a:solidFill>
                                              <a:latin typeface="Times New Roman" panose="02040503050406030204" pitchFamily="18" charset="0"/>
                                              <a:ea typeface="SimSun"/>
                                              <a:cs typeface="Times New Roman"/>
                                            </a:rPr>
                                            <m:t>𝑥</m:t>
                                          </m:r>
                                        </m:e>
                                      </m:acc>
                                    </m:e>
                                  </m:nary>
                                </m:num>
                                <m:den>
                                  <m:r>
                                    <a:rPr lang="en-HK" sz="1400" i="1">
                                      <a:solidFill>
                                        <a:prstClr val="black"/>
                                      </a:solidFill>
                                      <a:latin typeface="Times New Roman" panose="02040503050406030204" pitchFamily="18" charset="0"/>
                                      <a:ea typeface="SimSun"/>
                                      <a:cs typeface="Times New Roman"/>
                                    </a:rPr>
                                    <m:t>𝑁</m:t>
                                  </m:r>
                                </m:den>
                              </m:f>
                            </m:e>
                          </m:rad>
                        </m:e>
                      </m:d>
                    </m:oMath>
                  </m:oMathPara>
                </a14:m>
                <a:endParaRPr lang="en-HK" sz="1400" dirty="0">
                  <a:solidFill>
                    <a:prstClr val="black"/>
                  </a:solidFill>
                  <a:latin typeface="Times New Roman" panose="020F0502020204030204"/>
                  <a:ea typeface="SimSun"/>
                  <a:cs typeface="Times New Roman"/>
                </a:endParaRPr>
              </a:p>
            </p:txBody>
          </p:sp>
        </mc:Choice>
        <mc:Fallback xmlns="">
          <p:sp>
            <p:nvSpPr>
              <p:cNvPr id="5" name="矩形 4">
                <a:extLst>
                  <a:ext uri="{FF2B5EF4-FFF2-40B4-BE49-F238E27FC236}">
                    <a16:creationId xmlns:a16="http://schemas.microsoft.com/office/drawing/2014/main" id="{50EF7F27-4875-480E-8001-F9840C8D6E6D}"/>
                  </a:ext>
                </a:extLst>
              </p:cNvPr>
              <p:cNvSpPr>
                <a:spLocks noRot="1" noChangeAspect="1" noMove="1" noResize="1" noEditPoints="1" noAdjustHandles="1" noChangeArrowheads="1" noChangeShapeType="1" noTextEdit="1"/>
              </p:cNvSpPr>
              <p:nvPr/>
            </p:nvSpPr>
            <p:spPr>
              <a:xfrm>
                <a:off x="3852414" y="1824747"/>
                <a:ext cx="1783116" cy="785921"/>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886C2-ACAD-4374-BE41-CAF6E2238FDF}"/>
                  </a:ext>
                </a:extLst>
              </p:cNvPr>
              <p:cNvSpPr/>
              <p:nvPr/>
            </p:nvSpPr>
            <p:spPr>
              <a:xfrm>
                <a:off x="1677699" y="3517904"/>
                <a:ext cx="4931887" cy="2993640"/>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2000" dirty="0">
                    <a:solidFill>
                      <a:prstClr val="black"/>
                    </a:solidFill>
                    <a:latin typeface="Times New Roman" panose="02020603050405020304" pitchFamily="18" charset="0"/>
                    <a:ea typeface="SimSun"/>
                    <a:cs typeface="Times New Roman" panose="02020603050405020304" pitchFamily="18" charset="0"/>
                  </a:rPr>
                  <a:t>Water membrane</a:t>
                </a:r>
              </a:p>
              <a:p>
                <a:pPr defTabSz="457200" eaLnBrk="1" fontAlgn="auto" hangingPunct="1">
                  <a:spcBef>
                    <a:spcPts val="0"/>
                  </a:spcBef>
                  <a:spcAft>
                    <a:spcPts val="0"/>
                  </a:spcAft>
                </a:pPr>
                <a:endParaRPr lang="en-US" sz="1600" dirty="0">
                  <a:solidFill>
                    <a:prstClr val="black"/>
                  </a:solidFill>
                  <a:latin typeface="Times New Roman" panose="020B0604020202020204" pitchFamily="34" charset="0"/>
                  <a:ea typeface="SimSun"/>
                  <a:cs typeface="Times New Roman" panose="020B0604020202020204" pitchFamily="34"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Reynolds </a:t>
                </a:r>
                <a:r>
                  <a:rPr lang="en-US" altLang="zh-CN" sz="16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number</a:t>
                </a:r>
                <a:r>
                  <a:rPr lang="en-HK" altLang="zh-CN" sz="16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14:m>
                  <m:oMath xmlns:m="http://schemas.openxmlformats.org/officeDocument/2006/math">
                    <m:sSub>
                      <m:sSubPr>
                        <m:ctrlPr>
                          <a:rPr lang="en-HK" sz="1600" i="1">
                            <a:solidFill>
                              <a:prstClr val="black"/>
                            </a:solidFill>
                            <a:latin typeface="Times New Roman" panose="02040503050406030204" pitchFamily="18" charset="0"/>
                            <a:ea typeface="SimSun"/>
                            <a:cs typeface="Times New Roman"/>
                          </a:rPr>
                        </m:ctrlPr>
                      </m:sSubPr>
                      <m:e>
                        <m:r>
                          <a:rPr lang="en-HK" sz="1600" i="1">
                            <a:solidFill>
                              <a:prstClr val="black"/>
                            </a:solidFill>
                            <a:latin typeface="Times New Roman" panose="02040503050406030204" pitchFamily="18" charset="0"/>
                            <a:ea typeface="SimSun"/>
                            <a:cs typeface="Times New Roman"/>
                          </a:rPr>
                          <m:t>   </m:t>
                        </m:r>
                        <m:r>
                          <a:rPr lang="en-US" sz="1600" i="1">
                            <a:solidFill>
                              <a:prstClr val="black"/>
                            </a:solidFill>
                            <a:latin typeface="Times New Roman" panose="02040503050406030204" pitchFamily="18" charset="0"/>
                            <a:ea typeface="SimSun"/>
                            <a:cs typeface="Times New Roman"/>
                          </a:rPr>
                          <m:t>𝑅𝑒</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m:t>
                    </m:r>
                    <m:f>
                      <m:fPr>
                        <m:ctrlPr>
                          <a:rPr lang="en-HK" sz="1600" i="1">
                            <a:solidFill>
                              <a:prstClr val="black"/>
                            </a:solidFill>
                            <a:latin typeface="Times New Roman" panose="02040503050406030204" pitchFamily="18" charset="0"/>
                            <a:ea typeface="SimSun"/>
                            <a:cs typeface="Times New Roman"/>
                          </a:rPr>
                        </m:ctrlPr>
                      </m:fPr>
                      <m:num>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𝑚</m:t>
                            </m:r>
                          </m:e>
                          <m:sub>
                            <m:r>
                              <a:rPr lang="en-US" sz="1600" i="1">
                                <a:solidFill>
                                  <a:prstClr val="black"/>
                                </a:solidFill>
                                <a:latin typeface="Times New Roman" panose="02040503050406030204" pitchFamily="18" charset="0"/>
                                <a:ea typeface="SimSun"/>
                                <a:cs typeface="Times New Roman"/>
                              </a:rPr>
                              <m:t>𝑤</m:t>
                            </m:r>
                          </m:sub>
                        </m:sSub>
                      </m:num>
                      <m:den>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𝐿</m:t>
                            </m:r>
                          </m:e>
                          <m:sub>
                            <m:r>
                              <a:rPr lang="en-US" sz="1600" i="1">
                                <a:solidFill>
                                  <a:prstClr val="black"/>
                                </a:solidFill>
                                <a:latin typeface="Times New Roman" panose="02040503050406030204" pitchFamily="18" charset="0"/>
                                <a:ea typeface="SimSun"/>
                                <a:cs typeface="Times New Roman"/>
                              </a:rPr>
                              <m:t>𝑓</m:t>
                            </m:r>
                          </m:sub>
                        </m:sSub>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𝜇</m:t>
                            </m:r>
                          </m:e>
                          <m:sub>
                            <m:r>
                              <a:rPr lang="en-US" sz="1600" i="1">
                                <a:solidFill>
                                  <a:prstClr val="black"/>
                                </a:solidFill>
                                <a:latin typeface="Times New Roman" panose="02040503050406030204" pitchFamily="18" charset="0"/>
                                <a:ea typeface="SimSun"/>
                                <a:cs typeface="Times New Roman"/>
                              </a:rPr>
                              <m:t>𝑤</m:t>
                            </m:r>
                          </m:sub>
                        </m:sSub>
                      </m:den>
                    </m:f>
                  </m:oMath>
                </a14:m>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Velocity: </a:t>
                </a:r>
                <a14:m>
                  <m:oMath xmlns:m="http://schemas.openxmlformats.org/officeDocument/2006/math">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𝑣</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=1.5×</m:t>
                    </m:r>
                    <m:sSup>
                      <m:sSupPr>
                        <m:ctrlPr>
                          <a:rPr lang="en-HK" sz="1600" i="1">
                            <a:solidFill>
                              <a:prstClr val="black"/>
                            </a:solidFill>
                            <a:latin typeface="Times New Roman" panose="02040503050406030204" pitchFamily="18" charset="0"/>
                            <a:ea typeface="SimSun"/>
                            <a:cs typeface="Times New Roman"/>
                          </a:rPr>
                        </m:ctrlPr>
                      </m:sSupPr>
                      <m:e>
                        <m:d>
                          <m:dPr>
                            <m:ctrlPr>
                              <a:rPr lang="en-HK" sz="1600" i="1">
                                <a:solidFill>
                                  <a:prstClr val="black"/>
                                </a:solidFill>
                                <a:latin typeface="Times New Roman" panose="02040503050406030204" pitchFamily="18" charset="0"/>
                                <a:ea typeface="SimSun"/>
                                <a:cs typeface="Times New Roman"/>
                              </a:rPr>
                            </m:ctrlPr>
                          </m:dPr>
                          <m:e>
                            <m:f>
                              <m:fPr>
                                <m:ctrlPr>
                                  <a:rPr lang="en-HK" sz="1600" i="1">
                                    <a:solidFill>
                                      <a:prstClr val="black"/>
                                    </a:solidFill>
                                    <a:latin typeface="Times New Roman" panose="02040503050406030204" pitchFamily="18" charset="0"/>
                                    <a:ea typeface="SimSun"/>
                                    <a:cs typeface="Times New Roman"/>
                                  </a:rPr>
                                </m:ctrlPr>
                              </m:fPr>
                              <m:num>
                                <m:sSub>
                                  <m:sSubPr>
                                    <m:ctrlPr>
                                      <a:rPr lang="en-US" sz="1600" i="1">
                                        <a:solidFill>
                                          <a:prstClr val="black"/>
                                        </a:solidFill>
                                        <a:latin typeface="Times New Roman" panose="02040503050406030204" pitchFamily="18" charset="0"/>
                                        <a:ea typeface="SimSun" panose="02040503050406030204" pitchFamily="18" charset="0"/>
                                        <a:cs typeface="Times New Roman"/>
                                      </a:rPr>
                                    </m:ctrlPr>
                                  </m:sSubPr>
                                  <m:e>
                                    <m:r>
                                      <a:rPr lang="en-US" sz="1600" i="1">
                                        <a:solidFill>
                                          <a:prstClr val="black"/>
                                        </a:solidFill>
                                        <a:latin typeface="Times New Roman" panose="02040503050406030204" pitchFamily="18" charset="0"/>
                                        <a:ea typeface="SimSun" panose="02040503050406030204" pitchFamily="18" charset="0"/>
                                        <a:cs typeface="Times New Roman"/>
                                      </a:rPr>
                                      <m:t>𝜇</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𝑔</m:t>
                                </m:r>
                              </m:num>
                              <m:den>
                                <m:r>
                                  <a:rPr lang="en-US" sz="1600" i="1">
                                    <a:solidFill>
                                      <a:prstClr val="black"/>
                                    </a:solidFill>
                                    <a:latin typeface="Times New Roman" panose="02040503050406030204" pitchFamily="18" charset="0"/>
                                    <a:ea typeface="SimSun"/>
                                    <a:cs typeface="Times New Roman"/>
                                  </a:rPr>
                                  <m:t>48</m:t>
                                </m:r>
                              </m:den>
                            </m:f>
                          </m:e>
                        </m:d>
                      </m:e>
                      <m:sup>
                        <m:f>
                          <m:fPr>
                            <m:ctrlPr>
                              <a:rPr lang="en-US" sz="1600" i="1">
                                <a:solidFill>
                                  <a:prstClr val="black"/>
                                </a:solidFill>
                                <a:latin typeface="Times New Roman" panose="02040503050406030204" pitchFamily="18" charset="0"/>
                                <a:ea typeface="SimSun"/>
                                <a:cs typeface="Times New Roman"/>
                              </a:rPr>
                            </m:ctrlPr>
                          </m:fPr>
                          <m:num>
                            <m:r>
                              <a:rPr lang="en-US" sz="1600" i="1">
                                <a:solidFill>
                                  <a:prstClr val="black"/>
                                </a:solidFill>
                                <a:latin typeface="Times New Roman" panose="02040503050406030204" pitchFamily="18" charset="0"/>
                                <a:ea typeface="SimSun"/>
                                <a:cs typeface="Times New Roman"/>
                              </a:rPr>
                              <m:t>1</m:t>
                            </m:r>
                          </m:num>
                          <m:den>
                            <m:r>
                              <a:rPr lang="en-US" sz="1600" i="1">
                                <a:solidFill>
                                  <a:prstClr val="black"/>
                                </a:solidFill>
                                <a:latin typeface="Times New Roman" panose="02040503050406030204" pitchFamily="18" charset="0"/>
                                <a:ea typeface="SimSun"/>
                                <a:cs typeface="Times New Roman"/>
                              </a:rPr>
                              <m:t>3</m:t>
                            </m:r>
                          </m:den>
                        </m:f>
                      </m:sup>
                    </m:sSup>
                    <m:sSup>
                      <m:sSupPr>
                        <m:ctrlPr>
                          <a:rPr lang="en-US" sz="1600" i="1">
                            <a:solidFill>
                              <a:prstClr val="black"/>
                            </a:solidFill>
                            <a:latin typeface="Times New Roman" panose="02040503050406030204" pitchFamily="18" charset="0"/>
                            <a:ea typeface="SimSun"/>
                            <a:cs typeface="Times New Roman"/>
                          </a:rPr>
                        </m:ctrlPr>
                      </m:sSupPr>
                      <m:e>
                        <m:r>
                          <a:rPr lang="en-US" sz="1600" i="1">
                            <a:solidFill>
                              <a:prstClr val="black"/>
                            </a:solidFill>
                            <a:latin typeface="Times New Roman" panose="02040503050406030204" pitchFamily="18" charset="0"/>
                            <a:ea typeface="SimSun"/>
                            <a:cs typeface="Times New Roman"/>
                          </a:rPr>
                          <m:t>(</m:t>
                        </m:r>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𝑅𝑒</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m:t>
                        </m:r>
                      </m:e>
                      <m:sup>
                        <m:f>
                          <m:fPr>
                            <m:ctrlPr>
                              <a:rPr lang="en-US" sz="1600" i="1">
                                <a:solidFill>
                                  <a:prstClr val="black"/>
                                </a:solidFill>
                                <a:latin typeface="Times New Roman" panose="02040503050406030204" pitchFamily="18" charset="0"/>
                                <a:ea typeface="SimSun"/>
                                <a:cs typeface="Times New Roman"/>
                              </a:rPr>
                            </m:ctrlPr>
                          </m:fPr>
                          <m:num>
                            <m:r>
                              <a:rPr lang="en-US" sz="1600" i="1">
                                <a:solidFill>
                                  <a:prstClr val="black"/>
                                </a:solidFill>
                                <a:latin typeface="Times New Roman" panose="02040503050406030204" pitchFamily="18" charset="0"/>
                                <a:ea typeface="SimSun"/>
                                <a:cs typeface="Times New Roman"/>
                              </a:rPr>
                              <m:t>2</m:t>
                            </m:r>
                          </m:num>
                          <m:den>
                            <m:r>
                              <a:rPr lang="en-US" sz="1600" i="1">
                                <a:solidFill>
                                  <a:prstClr val="black"/>
                                </a:solidFill>
                                <a:latin typeface="Times New Roman" panose="02040503050406030204" pitchFamily="18" charset="0"/>
                                <a:ea typeface="SimSun"/>
                                <a:cs typeface="Times New Roman"/>
                              </a:rPr>
                              <m:t>3</m:t>
                            </m:r>
                          </m:den>
                        </m:f>
                      </m:sup>
                    </m:sSup>
                  </m:oMath>
                </a14:m>
                <a:endParaRPr lang="en-HK"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Spraying density: </a:t>
                </a: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Water membrane thickness:</a:t>
                </a:r>
                <a:endParaRPr lang="en-HK"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600" dirty="0">
                  <a:solidFill>
                    <a:srgbClr val="A30000"/>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HK" sz="1600" b="1" dirty="0">
                    <a:solidFill>
                      <a:srgbClr val="A30000"/>
                    </a:solidFill>
                    <a:latin typeface="Times New Roman" panose="02020603050405020304" pitchFamily="18" charset="0"/>
                    <a:ea typeface="SimSun"/>
                    <a:cs typeface="Times New Roman" panose="02020603050405020304" pitchFamily="18" charset="0"/>
                  </a:rPr>
                  <a:t>Wettability factor</a:t>
                </a:r>
                <a:r>
                  <a:rPr lang="en-HK" sz="1600" dirty="0">
                    <a:solidFill>
                      <a:prstClr val="black"/>
                    </a:solidFill>
                    <a:latin typeface="Times New Roman" panose="02020603050405020304" pitchFamily="18" charset="0"/>
                    <a:ea typeface="SimSun"/>
                    <a:cs typeface="Times New Roman" panose="02020603050405020304" pitchFamily="18" charset="0"/>
                  </a:rPr>
                  <a:t>: </a:t>
                </a:r>
                <a:endParaRPr lang="en-US" sz="1600" dirty="0">
                  <a:solidFill>
                    <a:prstClr val="black"/>
                  </a:solidFill>
                  <a:latin typeface="Times New Roman" panose="02020603050405020304" pitchFamily="18" charset="0"/>
                  <a:ea typeface="SimSun"/>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D29886C2-ACAD-4374-BE41-CAF6E2238FDF}"/>
                  </a:ext>
                </a:extLst>
              </p:cNvPr>
              <p:cNvSpPr>
                <a:spLocks noRot="1" noChangeAspect="1" noMove="1" noResize="1" noEditPoints="1" noAdjustHandles="1" noChangeArrowheads="1" noChangeShapeType="1" noTextEdit="1"/>
              </p:cNvSpPr>
              <p:nvPr/>
            </p:nvSpPr>
            <p:spPr>
              <a:xfrm>
                <a:off x="1677699" y="3517904"/>
                <a:ext cx="4931887" cy="2993640"/>
              </a:xfrm>
              <a:prstGeom prst="rect">
                <a:avLst/>
              </a:prstGeom>
              <a:blipFill>
                <a:blip r:embed="rId5"/>
                <a:stretch>
                  <a:fillRect l="-1112" t="-1018" b="-183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308DDAB-5310-4C84-B837-AE646A4A7FB0}"/>
                  </a:ext>
                </a:extLst>
              </p:cNvPr>
              <p:cNvSpPr/>
              <p:nvPr/>
            </p:nvSpPr>
            <p:spPr>
              <a:xfrm>
                <a:off x="3351510" y="5073059"/>
                <a:ext cx="1308307" cy="558614"/>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num>
                        <m:den>
                          <m:d>
                            <m:d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𝑛</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e>
                          </m:d>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𝑓</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7" name="矩形 6">
                <a:extLst>
                  <a:ext uri="{FF2B5EF4-FFF2-40B4-BE49-F238E27FC236}">
                    <a16:creationId xmlns:a16="http://schemas.microsoft.com/office/drawing/2014/main" id="{D308DDAB-5310-4C84-B837-AE646A4A7FB0}"/>
                  </a:ext>
                </a:extLst>
              </p:cNvPr>
              <p:cNvSpPr>
                <a:spLocks noRot="1" noChangeAspect="1" noMove="1" noResize="1" noEditPoints="1" noAdjustHandles="1" noChangeArrowheads="1" noChangeShapeType="1" noTextEdit="1"/>
              </p:cNvSpPr>
              <p:nvPr/>
            </p:nvSpPr>
            <p:spPr>
              <a:xfrm>
                <a:off x="3351510" y="5073059"/>
                <a:ext cx="1308307" cy="558614"/>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F87DF60-5F15-42B2-8460-4D61F95C40C6}"/>
                  </a:ext>
                </a:extLst>
              </p:cNvPr>
              <p:cNvSpPr/>
              <p:nvPr/>
            </p:nvSpPr>
            <p:spPr>
              <a:xfrm>
                <a:off x="4282601" y="5439046"/>
                <a:ext cx="1367618" cy="695062"/>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d>
                            <m:d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r>
                                        <a:rPr lang="en-US" sz="1400" i="1">
                                          <a:solidFill>
                                            <a:prstClr val="black"/>
                                          </a:solidFill>
                                          <a:latin typeface="Times New Roman" panose="02040503050406030204" pitchFamily="18" charset="0"/>
                                          <a:ea typeface="SimSun" panose="02040503050406030204" pitchFamily="18" charset="0"/>
                                          <a:cs typeface="Times New Roman" panose="02020603050405020304" pitchFamily="18" charset="0"/>
                                        </a:rPr>
                                        <m:t>𝜇</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num>
                                <m:den>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𝜌</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𝑔</m:t>
                                  </m:r>
                                </m:den>
                              </m:f>
                            </m:e>
                          </m:d>
                        </m:e>
                        <m:sup>
                          <m:f>
                            <m:fPr>
                              <m:ctrl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num>
                            <m:den>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den>
                          </m:f>
                        </m:sup>
                      </m:sSup>
                    </m:oMath>
                  </m:oMathPara>
                </a14:m>
                <a:endParaRPr lang="en-HK" sz="1400" dirty="0">
                  <a:solidFill>
                    <a:prstClr val="black"/>
                  </a:solidFill>
                  <a:latin typeface="Times New Roman" panose="020F0502020204030204"/>
                  <a:ea typeface="SimSun"/>
                  <a:cs typeface="Times New Roman"/>
                </a:endParaRPr>
              </a:p>
            </p:txBody>
          </p:sp>
        </mc:Choice>
        <mc:Fallback xmlns="">
          <p:sp>
            <p:nvSpPr>
              <p:cNvPr id="8" name="矩形 7">
                <a:extLst>
                  <a:ext uri="{FF2B5EF4-FFF2-40B4-BE49-F238E27FC236}">
                    <a16:creationId xmlns:a16="http://schemas.microsoft.com/office/drawing/2014/main" id="{6F87DF60-5F15-42B2-8460-4D61F95C40C6}"/>
                  </a:ext>
                </a:extLst>
              </p:cNvPr>
              <p:cNvSpPr>
                <a:spLocks noRot="1" noChangeAspect="1" noMove="1" noResize="1" noEditPoints="1" noAdjustHandles="1" noChangeArrowheads="1" noChangeShapeType="1" noTextEdit="1"/>
              </p:cNvSpPr>
              <p:nvPr/>
            </p:nvSpPr>
            <p:spPr>
              <a:xfrm>
                <a:off x="4282601" y="5439046"/>
                <a:ext cx="1367618" cy="695062"/>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1F8DDE0-1E96-4E88-B9E3-C464B695CFFA}"/>
                  </a:ext>
                </a:extLst>
              </p:cNvPr>
              <p:cNvSpPr/>
              <p:nvPr/>
            </p:nvSpPr>
            <p:spPr>
              <a:xfrm>
                <a:off x="3529263" y="6024027"/>
                <a:ext cx="1596270" cy="537840"/>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σ</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f>
                        <m:f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ℎ</m:t>
                          </m:r>
                        </m:num>
                        <m:den>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𝑣</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𝜌</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9" name="矩形 8">
                <a:extLst>
                  <a:ext uri="{FF2B5EF4-FFF2-40B4-BE49-F238E27FC236}">
                    <a16:creationId xmlns:a16="http://schemas.microsoft.com/office/drawing/2014/main" id="{31F8DDE0-1E96-4E88-B9E3-C464B695CFFA}"/>
                  </a:ext>
                </a:extLst>
              </p:cNvPr>
              <p:cNvSpPr>
                <a:spLocks noRot="1" noChangeAspect="1" noMove="1" noResize="1" noEditPoints="1" noAdjustHandles="1" noChangeArrowheads="1" noChangeShapeType="1" noTextEdit="1"/>
              </p:cNvSpPr>
              <p:nvPr/>
            </p:nvSpPr>
            <p:spPr>
              <a:xfrm>
                <a:off x="3529263" y="6024027"/>
                <a:ext cx="1596270" cy="537840"/>
              </a:xfrm>
              <a:prstGeom prst="rect">
                <a:avLst/>
              </a:prstGeom>
              <a:blipFill>
                <a:blip r:embed="rId8"/>
                <a:stretch>
                  <a:fillRect b="-2273"/>
                </a:stretch>
              </a:blipFill>
            </p:spPr>
            <p:txBody>
              <a:bodyPr/>
              <a:lstStyle/>
              <a:p>
                <a:r>
                  <a:rPr lang="en-US">
                    <a:noFill/>
                    <a:latin typeface="Times New Roman"/>
                    <a:ea typeface="SimSun"/>
                    <a:cs typeface="Times New Roman"/>
                  </a:rPr>
                  <a:t> </a:t>
                </a:r>
              </a:p>
            </p:txBody>
          </p:sp>
        </mc:Fallback>
      </mc:AlternateContent>
      <p:sp>
        <p:nvSpPr>
          <p:cNvPr id="10" name="矩形 9">
            <a:extLst>
              <a:ext uri="{FF2B5EF4-FFF2-40B4-BE49-F238E27FC236}">
                <a16:creationId xmlns:a16="http://schemas.microsoft.com/office/drawing/2014/main" id="{E96617A6-5933-491A-A373-11ADE0AC5851}"/>
              </a:ext>
            </a:extLst>
          </p:cNvPr>
          <p:cNvSpPr/>
          <p:nvPr/>
        </p:nvSpPr>
        <p:spPr>
          <a:xfrm>
            <a:off x="6623004" y="4847944"/>
            <a:ext cx="4931887" cy="1354217"/>
          </a:xfrm>
          <a:prstGeom prst="rect">
            <a:avLst/>
          </a:prstGeom>
        </p:spPr>
        <p:txBody>
          <a:bodyPr wrap="square" tIns="0" bIns="0">
            <a:noAutofit/>
          </a:bodyPr>
          <a:lstStyle/>
          <a:p>
            <a:pPr defTabSz="457200" eaLnBrk="1" fontAlgn="auto" hangingPunct="1" algn="l">
              <a:lnSpc>
                <a:spcPct val="108000"/>
              </a:lnSpc>
              <a:spcAft>
                <a:spcPts val="300"/>
              </a:spcAft>
            </a:pPr>
            <a:r>
              <a:rPr lang="en-US" sz="1700" dirty="0">
                <a:solidFill>
                  <a:prstClr val="black"/>
                </a:solidFill>
                <a:latin typeface="Times New Roman" panose="02020603050405020304" pitchFamily="18" charset="0"/>
                <a:ea typeface="SimSun"/>
                <a:cs typeface="Times New Roman" panose="02020603050405020304" pitchFamily="18" charset="0"/>
              </a:rPr>
              <a:t>Wet-bulb efficiency: </a:t>
            </a:r>
            <a:br/>
            <a:r>
              <a:rPr sz="1394" lang="zh-CN">
                <a:solidFill>
                  <a:srgbClr val="24425A"/>
                </a:solidFill>
                <a:latin typeface="Times New Roman"/>
                <a:ea typeface="SimSun"/>
                <a:cs typeface="Times New Roman"/>
              </a:rPr>
              <a:t>湿球效率：</a:t>
            </a:r>
          </a:p>
          <a:p>
            <a:pPr defTabSz="457200" eaLnBrk="1" fontAlgn="auto" hangingPunct="1" algn="l">
              <a:lnSpc>
                <a:spcPct val="108000"/>
              </a:lnSpc>
              <a:spcAft>
                <a:spcPts val="300"/>
              </a:spcAft>
            </a:pPr>
            <a:r>
              <a:rPr lang="en-HK" sz="1700" dirty="0">
                <a:solidFill>
                  <a:prstClr val="black"/>
                </a:solidFill>
                <a:latin typeface="Times New Roman" panose="02020603050405020304" pitchFamily="18" charset="0"/>
                <a:ea typeface="SimSun"/>
                <a:cs typeface="Times New Roman" panose="02020603050405020304" pitchFamily="18" charset="0"/>
              </a:rPr>
              <a:t>Cooling capacity:</a:t>
            </a:r>
            <a:br/>
            <a:r>
              <a:rPr sz="1394" lang="zh-CN">
                <a:solidFill>
                  <a:srgbClr val="24425A"/>
                </a:solidFill>
                <a:latin typeface="Times New Roman"/>
                <a:ea typeface="SimSun"/>
                <a:cs typeface="Times New Roman"/>
              </a:rPr>
              <a:t>制冷量：</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6FFDB3F-9583-40DD-9EBE-33075881A0B2}"/>
                  </a:ext>
                </a:extLst>
              </p:cNvPr>
              <p:cNvSpPr txBox="1"/>
              <p:nvPr/>
            </p:nvSpPr>
            <p:spPr>
              <a:xfrm>
                <a:off x="7819435" y="4984252"/>
                <a:ext cx="3134360" cy="546945"/>
              </a:xfrm>
              <a:prstGeom prst="rect">
                <a:avLst/>
              </a:prstGeom>
              <a:noFill/>
            </p:spPr>
            <p:txBody>
              <a:bodyPr wrap="square">
                <a:spAutoFit/>
              </a:bodyPr>
              <a:lstStyle/>
              <a:p>
                <a:pPr defTabSz="457200" eaLnBrk="1" fontAlgn="auto" hangingPunct="1">
                  <a:spcBef>
                    <a:spcPts val="0"/>
                  </a:spcBef>
                  <a:spcAft>
                    <a:spcPts val="0"/>
                  </a:spcAft>
                </a:pPr>
                <a14:m>
                  <m:oMathPara xmlns:m="http://schemas.openxmlformats.org/officeDocument/2006/math">
                    <m:oMath>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𝜂</m:t>
                          </m:r>
                        </m:e>
                        <m:sub>
                          <m:r>
                            <a:rPr lang="zh-CN" altLang="en-US" sz="1400" i="1">
                              <a:solidFill>
                                <a:prstClr val="black"/>
                              </a:solidFill>
                              <a:latin typeface="Times New Roman" panose="02040503050406030204" pitchFamily="18" charset="0"/>
                              <a:ea typeface="SimSun"/>
                              <a:cs typeface="Times New Roman"/>
                            </a:rPr>
                            <m:t>𝑤𝑏</m:t>
                          </m:r>
                        </m:sub>
                      </m:sSub>
                      <m:r>
                        <a:rPr lang="zh-CN" altLang="en-US" sz="1400">
                          <a:solidFill>
                            <a:prstClr val="black"/>
                          </a:solidFill>
                          <a:latin typeface="Times New Roman" panose="02040503050406030204" pitchFamily="18" charset="0"/>
                          <a:ea typeface="SimSun"/>
                          <a:cs typeface="Times New Roman"/>
                        </a:rPr>
                        <m:t>=</m:t>
                      </m:r>
                      <m:f>
                        <m:fPr>
                          <m:ctrlPr>
                            <a:rPr lang="zh-CN" altLang="en-US" sz="1400" i="1">
                              <a:solidFill>
                                <a:srgbClr val="836967"/>
                              </a:solidFill>
                              <a:latin typeface="Times New Roman" panose="02040503050406030204" pitchFamily="18" charset="0"/>
                              <a:ea typeface="SimSun"/>
                              <a:cs typeface="Times New Roman"/>
                            </a:rPr>
                          </m:ctrlPr>
                        </m:fPr>
                        <m:num>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𝑜𝑢𝑡</m:t>
                              </m:r>
                            </m:sub>
                          </m:sSub>
                        </m:num>
                        <m:den>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𝑤𝑏</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𝑠</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den>
                      </m:f>
                    </m:oMath>
                  </m:oMathPara>
                </a14:m>
                <a:endParaRPr lang="zh-CN" altLang="en-US" sz="1400" dirty="0">
                  <a:solidFill>
                    <a:prstClr val="black"/>
                  </a:solidFill>
                  <a:latin typeface="Times New Roman" panose="020F0502020204030204"/>
                  <a:ea typeface="SimSun" panose="02010600030101010101" pitchFamily="2" charset="-122"/>
                  <a:cs typeface="Times New Roman"/>
                </a:endParaRPr>
              </a:p>
            </p:txBody>
          </p:sp>
        </mc:Choice>
        <mc:Fallback xmlns="">
          <p:sp>
            <p:nvSpPr>
              <p:cNvPr id="12" name="文本框 11">
                <a:extLst>
                  <a:ext uri="{FF2B5EF4-FFF2-40B4-BE49-F238E27FC236}">
                    <a16:creationId xmlns:a16="http://schemas.microsoft.com/office/drawing/2014/main" id="{C6FFDB3F-9583-40DD-9EBE-33075881A0B2}"/>
                  </a:ext>
                </a:extLst>
              </p:cNvPr>
              <p:cNvSpPr txBox="1">
                <a:spLocks noRot="1" noChangeAspect="1" noMove="1" noResize="1" noEditPoints="1" noAdjustHandles="1" noChangeArrowheads="1" noChangeShapeType="1" noTextEdit="1"/>
              </p:cNvSpPr>
              <p:nvPr/>
            </p:nvSpPr>
            <p:spPr>
              <a:xfrm>
                <a:off x="7819435" y="4984252"/>
                <a:ext cx="3134360" cy="546945"/>
              </a:xfrm>
              <a:prstGeom prst="rect">
                <a:avLst/>
              </a:prstGeom>
              <a:blipFill>
                <a:blip r:embed="rId9"/>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ACD5137-AC2E-491D-831E-DDDF70F49F2F}"/>
                  </a:ext>
                </a:extLst>
              </p:cNvPr>
              <p:cNvSpPr txBox="1"/>
              <p:nvPr/>
            </p:nvSpPr>
            <p:spPr>
              <a:xfrm>
                <a:off x="7802111" y="5620531"/>
                <a:ext cx="3134360" cy="339773"/>
              </a:xfrm>
              <a:prstGeom prst="rect">
                <a:avLst/>
              </a:prstGeom>
              <a:noFill/>
            </p:spPr>
            <p:txBody>
              <a:bodyPr wrap="square">
                <a:spAutoFit/>
              </a:bodyPr>
              <a:lstStyle/>
              <a:p>
                <a:pPr defTabSz="457200" eaLnBrk="1" fontAlgn="auto" hangingPunct="1">
                  <a:spcBef>
                    <a:spcPts val="0"/>
                  </a:spcBef>
                  <a:spcAft>
                    <a:spcPts val="0"/>
                  </a:spcAft>
                </a:pPr>
                <a14:m>
                  <m:oMathPara xmlns:m="http://schemas.openxmlformats.org/officeDocument/2006/math">
                    <m:oMath>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𝑄</m:t>
                          </m:r>
                        </m:e>
                        <m:sub>
                          <m:r>
                            <a:rPr lang="zh-CN" altLang="en-US" sz="1400" i="1">
                              <a:solidFill>
                                <a:prstClr val="black"/>
                              </a:solidFill>
                              <a:latin typeface="Times New Roman" panose="02040503050406030204" pitchFamily="18" charset="0"/>
                              <a:ea typeface="SimSun"/>
                              <a:cs typeface="Times New Roman"/>
                            </a:rPr>
                            <m:t>𝑐</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𝑚</m:t>
                          </m:r>
                        </m:e>
                        <m:sub>
                          <m:r>
                            <a:rPr lang="zh-CN" altLang="en-US" sz="1400" i="1">
                              <a:solidFill>
                                <a:prstClr val="black"/>
                              </a:solidFill>
                              <a:latin typeface="Times New Roman" panose="02040503050406030204" pitchFamily="18" charset="0"/>
                              <a:ea typeface="SimSun"/>
                              <a:cs typeface="Times New Roman"/>
                            </a:rPr>
                            <m:t>𝑝</m:t>
                          </m:r>
                        </m:sub>
                      </m:sSub>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𝑐</m:t>
                          </m:r>
                        </m:e>
                        <m:sub>
                          <m:r>
                            <a:rPr lang="zh-CN" altLang="en-US" sz="1400" i="1">
                              <a:solidFill>
                                <a:prstClr val="black"/>
                              </a:solidFill>
                              <a:latin typeface="Times New Roman" panose="02040503050406030204" pitchFamily="18" charset="0"/>
                              <a:ea typeface="SimSun"/>
                              <a:cs typeface="Times New Roman"/>
                            </a:rPr>
                            <m:t>𝑝𝑎</m:t>
                          </m:r>
                        </m:sub>
                      </m:sSub>
                      <m:d>
                        <m:dPr>
                          <m:ctrlPr>
                            <a:rPr lang="zh-CN" altLang="en-US" sz="1400" i="1">
                              <a:solidFill>
                                <a:srgbClr val="836967"/>
                              </a:solidFill>
                              <a:latin typeface="Times New Roman" panose="02040503050406030204" pitchFamily="18" charset="0"/>
                              <a:ea typeface="SimSun"/>
                              <a:cs typeface="Times New Roman"/>
                            </a:rPr>
                          </m:ctrlPr>
                        </m:dPr>
                        <m:e>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𝑜𝑢𝑡</m:t>
                              </m:r>
                            </m:sub>
                          </m:sSub>
                        </m:e>
                      </m:d>
                    </m:oMath>
                  </m:oMathPara>
                </a14:m>
                <a:endParaRPr lang="zh-CN" altLang="en-US" sz="1400" dirty="0">
                  <a:solidFill>
                    <a:prstClr val="black"/>
                  </a:solidFill>
                  <a:latin typeface="Times New Roman" panose="020F0502020204030204"/>
                  <a:ea typeface="SimSun" panose="02010600030101010101" pitchFamily="2" charset="-122"/>
                  <a:cs typeface="Times New Roman"/>
                </a:endParaRPr>
              </a:p>
            </p:txBody>
          </p:sp>
        </mc:Choice>
        <mc:Fallback xmlns="">
          <p:sp>
            <p:nvSpPr>
              <p:cNvPr id="13" name="文本框 12">
                <a:extLst>
                  <a:ext uri="{FF2B5EF4-FFF2-40B4-BE49-F238E27FC236}">
                    <a16:creationId xmlns:a16="http://schemas.microsoft.com/office/drawing/2014/main" id="{1ACD5137-AC2E-491D-831E-DDDF70F49F2F}"/>
                  </a:ext>
                </a:extLst>
              </p:cNvPr>
              <p:cNvSpPr txBox="1">
                <a:spLocks noRot="1" noChangeAspect="1" noMove="1" noResize="1" noEditPoints="1" noAdjustHandles="1" noChangeArrowheads="1" noChangeShapeType="1" noTextEdit="1"/>
              </p:cNvSpPr>
              <p:nvPr/>
            </p:nvSpPr>
            <p:spPr>
              <a:xfrm>
                <a:off x="7802111" y="5620531"/>
                <a:ext cx="3134360" cy="339773"/>
              </a:xfrm>
              <a:prstGeom prst="rect">
                <a:avLst/>
              </a:prstGeom>
              <a:blipFill>
                <a:blip r:embed="rId10"/>
                <a:stretch>
                  <a:fillRect b="-178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8876B4F8-F90D-443A-9617-8CBA13CF691A}"/>
              </a:ext>
            </a:extLst>
          </p:cNvPr>
          <p:cNvSpPr>
            <a:spLocks noGrp="1"/>
          </p:cNvSpPr>
          <p:nvPr>
            <p:ph type="sldNum" sz="quarter" idx="12"/>
          </p:nvPr>
        </p:nvSpPr>
        <p:spPr>
          <a:xfrm>
            <a:off x="9222552" y="6483412"/>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20</a:t>
            </a:fld>
            <a:endParaRPr lang="en-US" altLang="zh-CN">
              <a:latin typeface="Times New Roman"/>
              <a:ea typeface="SimSun"/>
              <a:cs typeface="Times New Roman"/>
            </a:endParaRPr>
          </a:p>
        </p:txBody>
      </p:sp>
      <p:sp>
        <p:nvSpPr>
          <p:cNvPr id="16" name="矩形 3">
            <a:extLst>
              <a:ext uri="{FF2B5EF4-FFF2-40B4-BE49-F238E27FC236}">
                <a16:creationId xmlns:a16="http://schemas.microsoft.com/office/drawing/2014/main" id="{3DD9B40B-E37D-4C9C-9B2C-BA7B87109E4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11" name="矩形: 圆角 10">
            <a:extLst>
              <a:ext uri="{FF2B5EF4-FFF2-40B4-BE49-F238E27FC236}">
                <a16:creationId xmlns:a16="http://schemas.microsoft.com/office/drawing/2014/main" id="{8B347E6B-7A7E-48C2-9DC4-433797CC6B6F}"/>
              </a:ext>
            </a:extLst>
          </p:cNvPr>
          <p:cNvSpPr/>
          <p:nvPr/>
        </p:nvSpPr>
        <p:spPr bwMode="auto">
          <a:xfrm>
            <a:off x="1380629" y="1379461"/>
            <a:ext cx="4489037" cy="1872564"/>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7" name="矩形: 圆角 16">
            <a:extLst>
              <a:ext uri="{FF2B5EF4-FFF2-40B4-BE49-F238E27FC236}">
                <a16:creationId xmlns:a16="http://schemas.microsoft.com/office/drawing/2014/main" id="{7B205D15-E9F6-4A81-912A-2A763F7787D2}"/>
              </a:ext>
            </a:extLst>
          </p:cNvPr>
          <p:cNvSpPr/>
          <p:nvPr/>
        </p:nvSpPr>
        <p:spPr bwMode="auto">
          <a:xfrm>
            <a:off x="1380629" y="3504278"/>
            <a:ext cx="4489037" cy="3134092"/>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9" name="矩形 18">
            <a:extLst>
              <a:ext uri="{FF2B5EF4-FFF2-40B4-BE49-F238E27FC236}">
                <a16:creationId xmlns:a16="http://schemas.microsoft.com/office/drawing/2014/main" id="{1F6334B0-7C24-414B-B40A-8C4940EF649A}"/>
              </a:ext>
            </a:extLst>
          </p:cNvPr>
          <p:cNvSpPr/>
          <p:nvPr/>
        </p:nvSpPr>
        <p:spPr bwMode="auto">
          <a:xfrm>
            <a:off x="6654594" y="2718826"/>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76750317-A2D6-4907-9498-450E08BB728F}"/>
                  </a:ext>
                </a:extLst>
              </p:cNvPr>
              <p:cNvSpPr/>
              <p:nvPr/>
            </p:nvSpPr>
            <p:spPr>
              <a:xfrm>
                <a:off x="6588015" y="1480628"/>
                <a:ext cx="3624838" cy="3205108"/>
              </a:xfrm>
              <a:prstGeom prst="rect">
                <a:avLst/>
              </a:prstGeom>
            </p:spPr>
            <p:txBody>
              <a:bodyPr wrap="square">
                <a:spAutoFit/>
              </a:bodyPr>
              <a:lstStyle/>
              <a:p>
                <a:pPr marL="285750" indent="-285750" defTabSz="457200" eaLnBrk="1" fontAlgn="auto" hangingPunct="1">
                  <a:lnSpc>
                    <a:spcPts val="2800"/>
                  </a:lnSpc>
                  <a:spcBef>
                    <a:spcPts val="0"/>
                  </a:spcBef>
                  <a:spcAft>
                    <a:spcPts val="60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IEC performance</a:t>
                </a:r>
                <a:endParaRPr lang="en-US" sz="1800" dirty="0">
                  <a:latin typeface="Times New Roman" panose="02020603050405020304" pitchFamily="18" charset="0"/>
                  <a:ea typeface="SimSun"/>
                  <a:cs typeface="Times New Roman" panose="02020603050405020304" pitchFamily="18" charset="0"/>
                </a:endParaRPr>
              </a:p>
              <a:p>
                <a:pPr>
                  <a:lnSpc>
                    <a:spcPts val="2800"/>
                  </a:lnSpc>
                </a:pPr>
                <a:r>
                  <a:rPr lang="en-US" sz="1800" dirty="0">
                    <a:latin typeface="Times New Roman" panose="02020603050405020304" pitchFamily="18" charset="0"/>
                    <a:ea typeface="SimSun"/>
                    <a:cs typeface="Times New Roman" panose="02020603050405020304" pitchFamily="18" charset="0"/>
                  </a:rPr>
                  <a:t>Pressure </a:t>
                </a:r>
                <a:r>
                  <a:rPr lang="en-US" sz="1800" dirty="0">
                    <a:solidFill>
                      <a:prstClr val="black"/>
                    </a:solidFill>
                    <a:latin typeface="Times New Roman" panose="02020603050405020304" pitchFamily="18" charset="0"/>
                    <a:ea typeface="SimSun"/>
                    <a:cs typeface="Times New Roman" panose="02020603050405020304" pitchFamily="18" charset="0"/>
                  </a:rPr>
                  <a:t>drop</a:t>
                </a:r>
                <a:r>
                  <a:rPr lang="en-US" sz="1800" dirty="0">
                    <a:latin typeface="Times New Roman" panose="02020603050405020304" pitchFamily="18" charset="0"/>
                    <a:ea typeface="SimSun"/>
                    <a:cs typeface="Times New Roman" panose="02020603050405020304" pitchFamily="18" charset="0"/>
                  </a:rPr>
                  <a:t>: </a:t>
                </a:r>
                <a14:m>
                  <m:oMath xmlns:m="http://schemas.openxmlformats.org/officeDocument/2006/math">
                    <m:eqArr>
                      <m:eqArrPr>
                        <m:ctrlPr>
                          <a:rPr lang="en-HK" sz="1600" i="1">
                            <a:latin typeface="Times New Roman" panose="02040503050406030204" pitchFamily="18" charset="0"/>
                            <a:ea typeface="SimSun"/>
                            <a:cs typeface="Times New Roman"/>
                          </a:rPr>
                        </m:ctrlPr>
                      </m:eqArrPr>
                      <m:e>
                        <m:r>
                          <a:rPr lang="en-HK"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r>
                          <a:rPr lang="en-US"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𝑓</m:t>
                                </m:r>
                              </m:e>
                              <m:sub>
                                <m:r>
                                  <a:rPr lang="en-US" sz="1600" i="1">
                                    <a:latin typeface="Times New Roman" panose="02040503050406030204" pitchFamily="18" charset="0"/>
                                    <a:ea typeface="SimSun"/>
                                    <a:cs typeface="Times New Roman"/>
                                  </a:rPr>
                                  <m:t>𝑅𝑒</m:t>
                                </m:r>
                              </m:sub>
                            </m:sSub>
                            <m:r>
                              <a:rPr lang="en-US" sz="1600" i="1">
                                <a:latin typeface="Times New Roman" panose="02040503050406030204" pitchFamily="18" charset="0"/>
                                <a:ea typeface="SimSun"/>
                                <a:cs typeface="Times New Roman"/>
                              </a:rPr>
                              <m:t>𝐿</m:t>
                            </m:r>
                            <m:r>
                              <a:rPr lang="en-US" sz="1600" i="1">
                                <a:latin typeface="Times New Roman" panose="02040503050406030204" pitchFamily="18" charset="0"/>
                                <a:ea typeface="SimSun"/>
                                <a:cs typeface="Times New Roman"/>
                              </a:rPr>
                              <m:t>𝜌</m:t>
                            </m:r>
                            <m:sSup>
                              <m:sSupPr>
                                <m:ctrlPr>
                                  <a:rPr lang="en-US" sz="1600" i="1">
                                    <a:latin typeface="Times New Roman" panose="02040503050406030204" pitchFamily="18" charset="0"/>
                                    <a:ea typeface="SimSun"/>
                                    <a:cs typeface="Times New Roman"/>
                                  </a:rPr>
                                </m:ctrlPr>
                              </m:sSupPr>
                              <m:e>
                                <m:r>
                                  <a:rPr lang="en-US" sz="1600" i="1">
                                    <a:latin typeface="Times New Roman" panose="02040503050406030204" pitchFamily="18" charset="0"/>
                                    <a:ea typeface="SimSun"/>
                                    <a:cs typeface="Times New Roman"/>
                                  </a:rPr>
                                  <m:t>𝑢</m:t>
                                </m:r>
                              </m:e>
                              <m:sup>
                                <m:r>
                                  <a:rPr lang="en-US" sz="1600" i="1">
                                    <a:latin typeface="Times New Roman" panose="02040503050406030204" pitchFamily="18" charset="0"/>
                                    <a:ea typeface="SimSun"/>
                                    <a:cs typeface="Times New Roman"/>
                                  </a:rPr>
                                  <m:t>2</m:t>
                                </m:r>
                              </m:sup>
                            </m:sSup>
                          </m:num>
                          <m:den>
                            <m:r>
                              <a:rPr lang="en-US" sz="1600" i="1">
                                <a:latin typeface="Times New Roman" panose="02040503050406030204" pitchFamily="18" charset="0"/>
                                <a:ea typeface="SimSun"/>
                                <a:cs typeface="Times New Roman"/>
                              </a:rPr>
                              <m:t>2</m:t>
                            </m:r>
                            <m:r>
                              <a:rPr lang="en-US" sz="1600" i="1">
                                <a:latin typeface="Times New Roman" panose="02040503050406030204" pitchFamily="18" charset="0"/>
                                <a:ea typeface="SimSun"/>
                                <a:cs typeface="Times New Roman"/>
                              </a:rPr>
                              <m:t>𝑅𝑒</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𝑑</m:t>
                                </m:r>
                              </m:e>
                              <m:sub>
                                <m:r>
                                  <a:rPr lang="en-US" sz="1600" i="1">
                                    <a:latin typeface="Times New Roman" panose="02040503050406030204" pitchFamily="18" charset="0"/>
                                    <a:ea typeface="SimSun"/>
                                    <a:cs typeface="Times New Roman"/>
                                  </a:rPr>
                                  <m:t>𝑒</m:t>
                                </m:r>
                              </m:sub>
                            </m:sSub>
                          </m:den>
                        </m:f>
                      </m:e>
                    </m:eqArr>
                  </m:oMath>
                </a14:m>
                <a:endParaRPr lang="en-US" sz="1600" dirty="0">
                  <a:latin typeface="Times New Roman" panose="020B0604020202020204" pitchFamily="34" charset="0"/>
                  <a:ea typeface="SimSun"/>
                  <a:cs typeface="Times New Roman" panose="020B0604020202020204" pitchFamily="34" charset="0"/>
                </a:endParaRPr>
              </a:p>
              <a:p>
                <a:pPr>
                  <a:lnSpc>
                    <a:spcPts val="3000"/>
                  </a:lnSpc>
                </a:pPr>
                <a:r>
                  <a:rPr lang="en-US" sz="1800" dirty="0">
                    <a:latin typeface="Times New Roman" panose="02020603050405020304" pitchFamily="18" charset="0"/>
                    <a:ea typeface="SimSun"/>
                    <a:cs typeface="Times New Roman" panose="02020603050405020304" pitchFamily="18" charset="0"/>
                  </a:rPr>
                  <a:t>Fan consumption: </a:t>
                </a:r>
                <a14:m>
                  <m:oMath xmlns:m="http://schemas.openxmlformats.org/officeDocument/2006/math">
                    <m:eqArr>
                      <m:eqArrPr>
                        <m:ctrlPr>
                          <a:rPr lang="en-HK" sz="1600" i="1">
                            <a:latin typeface="Times New Roman" panose="02040503050406030204" pitchFamily="18" charset="0"/>
                            <a:ea typeface="SimSun"/>
                            <a:cs typeface="Times New Roman"/>
                          </a:rPr>
                        </m:ctrlPr>
                      </m:eqArrPr>
                      <m:e>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𝑓𝑎𝑛</m:t>
                            </m:r>
                          </m:sub>
                        </m:sSub>
                        <m:r>
                          <a:rPr lang="en-US"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𝑄</m:t>
                            </m:r>
                            <m:r>
                              <a:rPr lang="en-HK"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num>
                          <m:den>
                            <m:r>
                              <a:rPr lang="en-US" sz="1600" i="1">
                                <a:latin typeface="Times New Roman" panose="02040503050406030204" pitchFamily="18" charset="0"/>
                                <a:ea typeface="SimSun"/>
                                <a:cs typeface="Times New Roman"/>
                              </a:rPr>
                              <m:t>3600×1000×</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𝜂</m:t>
                                </m:r>
                              </m:e>
                              <m:sub>
                                <m:r>
                                  <a:rPr lang="en-US" sz="1600" i="1">
                                    <a:latin typeface="Times New Roman" panose="02040503050406030204" pitchFamily="18" charset="0"/>
                                    <a:ea typeface="SimSun"/>
                                    <a:cs typeface="Times New Roman"/>
                                  </a:rPr>
                                  <m:t>0</m:t>
                                </m:r>
                              </m:sub>
                            </m:sSub>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𝜂</m:t>
                                </m:r>
                              </m:e>
                              <m:sub>
                                <m:r>
                                  <a:rPr lang="en-US" sz="1600" i="1">
                                    <a:latin typeface="Times New Roman" panose="02040503050406030204" pitchFamily="18" charset="0"/>
                                    <a:ea typeface="SimSun"/>
                                    <a:cs typeface="Times New Roman"/>
                                  </a:rPr>
                                  <m:t>1</m:t>
                                </m:r>
                              </m:sub>
                            </m:sSub>
                          </m:den>
                        </m:f>
                        <m:r>
                          <a:rPr lang="en-US"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𝐾</m:t>
                        </m:r>
                      </m:e>
                    </m:eqArr>
                  </m:oMath>
                </a14:m>
                <a:endParaRPr lang="en-US" sz="1600" dirty="0">
                  <a:latin typeface="Times New Roman" panose="020B0604020202020204" pitchFamily="34" charset="0"/>
                  <a:ea typeface="SimSun"/>
                  <a:cs typeface="Times New Roman" panose="020B0604020202020204" pitchFamily="34" charset="0"/>
                </a:endParaRPr>
              </a:p>
              <a:p>
                <a:pPr>
                  <a:lnSpc>
                    <a:spcPts val="3000"/>
                  </a:lnSpc>
                </a:pPr>
                <a:r>
                  <a:rPr lang="en-HK" sz="1800" dirty="0">
                    <a:latin typeface="Times New Roman" panose="02020603050405020304" pitchFamily="18" charset="0"/>
                    <a:ea typeface="SimSun"/>
                    <a:cs typeface="Times New Roman" panose="02020603050405020304" pitchFamily="18" charset="0"/>
                  </a:rPr>
                  <a:t>Pump consumption: </a:t>
                </a:r>
                <a14:m>
                  <m:oMath xmlns:m="http://schemas.openxmlformats.org/officeDocument/2006/math">
                    <m:eqArr>
                      <m:eqArrPr>
                        <m:ctrlPr>
                          <a:rPr lang="en-HK" sz="1400" i="1">
                            <a:latin typeface="Times New Roman" panose="02040503050406030204" pitchFamily="18" charset="0"/>
                            <a:ea typeface="SimSun"/>
                            <a:cs typeface="Times New Roman"/>
                          </a:rPr>
                        </m:ctrlPr>
                      </m:eqArr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𝑊</m:t>
                            </m:r>
                          </m:e>
                          <m:sub>
                            <m:r>
                              <a:rPr lang="en-US" sz="1400" i="1">
                                <a:latin typeface="Times New Roman" panose="02040503050406030204" pitchFamily="18" charset="0"/>
                                <a:ea typeface="SimSun"/>
                                <a:cs typeface="Times New Roman"/>
                              </a:rPr>
                              <m:t>𝑝𝑢𝑚𝑝</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𝑚</m:t>
                            </m:r>
                          </m:e>
                          <m:sub>
                            <m:r>
                              <a:rPr lang="en-US" sz="1400" i="1">
                                <a:latin typeface="Times New Roman" panose="02040503050406030204" pitchFamily="18" charset="0"/>
                                <a:ea typeface="SimSun"/>
                                <a:cs typeface="Times New Roman"/>
                              </a:rPr>
                              <m:t>𝑤</m:t>
                            </m:r>
                          </m:sub>
                        </m:sSub>
                        <m:r>
                          <a:rPr lang="en-US" sz="1400" i="1">
                            <a:latin typeface="Times New Roman" panose="02040503050406030204" pitchFamily="18" charset="0"/>
                            <a:ea typeface="SimSun"/>
                            <a:cs typeface="Times New Roman"/>
                          </a:rPr>
                          <m:t>𝑔</m:t>
                        </m:r>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𝑔𝑟𝑎𝑣𝑖𝑡𝑦</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𝑛𝑜𝑧𝑧𝑙𝑒𝑠</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𝑣𝑎𝑙𝑣𝑒𝑠</m:t>
                                </m:r>
                              </m:sub>
                            </m:sSub>
                          </m:e>
                        </m:d>
                        <m:r>
                          <a:rPr lang="en-HK" sz="1400" i="1">
                            <a:latin typeface="Times New Roman" panose="02040503050406030204" pitchFamily="18" charset="0"/>
                            <a:ea typeface="SimSun"/>
                            <a:cs typeface="Times New Roman"/>
                          </a:rPr>
                          <m:t>×</m:t>
                        </m:r>
                        <m:r>
                          <a:rPr lang="en-HK" sz="1400" i="1">
                            <a:latin typeface="Times New Roman" panose="02040503050406030204" pitchFamily="18" charset="0"/>
                            <a:ea typeface="SimSun"/>
                            <a:cs typeface="Times New Roman"/>
                          </a:rPr>
                          <m:t>𝐾</m:t>
                        </m:r>
                      </m:e>
                    </m:eqArr>
                  </m:oMath>
                </a14:m>
                <a:endParaRPr lang="en-HK" sz="1600" dirty="0">
                  <a:latin typeface="Times New Roman" panose="020B0604020202020204" pitchFamily="34" charset="0"/>
                  <a:ea typeface="SimSun"/>
                  <a:cs typeface="Times New Roman" panose="020B0604020202020204" pitchFamily="34" charset="0"/>
                </a:endParaRPr>
              </a:p>
              <a:p>
                <a:pPr>
                  <a:lnSpc>
                    <a:spcPts val="3000"/>
                  </a:lnSpc>
                </a:pPr>
                <a:r>
                  <a:rPr lang="en-HK" sz="1800" dirty="0">
                    <a:latin typeface="Times New Roman" panose="02020603050405020304" pitchFamily="18" charset="0"/>
                    <a:ea typeface="SimSun"/>
                    <a:cs typeface="Times New Roman" panose="02020603050405020304" pitchFamily="18" charset="0"/>
                  </a:rPr>
                  <a:t>The coefficient of performance: </a:t>
                </a:r>
                <a14:m>
                  <m:oMath xmlns:m="http://schemas.openxmlformats.org/officeDocument/2006/math">
                    <m:r>
                      <a:rPr lang="en-US" sz="1600" i="1">
                        <a:latin typeface="Times New Roman" panose="02040503050406030204" pitchFamily="18" charset="0"/>
                        <a:ea typeface="SimSun"/>
                        <a:cs typeface="Times New Roman"/>
                      </a:rPr>
                      <m:t>𝐶𝑂𝑃</m:t>
                    </m:r>
                    <m:r>
                      <a:rPr lang="en-US" sz="1600" i="1">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𝑄</m:t>
                            </m:r>
                          </m:e>
                          <m:sub>
                            <m:r>
                              <a:rPr lang="en-US" sz="1600" i="1">
                                <a:latin typeface="Times New Roman" panose="02040503050406030204" pitchFamily="18" charset="0"/>
                                <a:ea typeface="SimSun"/>
                                <a:cs typeface="Times New Roman"/>
                              </a:rPr>
                              <m:t>𝑝</m:t>
                            </m:r>
                          </m:sub>
                        </m:sSub>
                      </m:num>
                      <m:den>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𝑓𝑎𝑛</m:t>
                            </m:r>
                          </m:sub>
                        </m:sSub>
                        <m:r>
                          <a:rPr lang="en-US" sz="1600" i="1">
                            <a:latin typeface="Times New Roman" panose="02040503050406030204" pitchFamily="18" charset="0"/>
                            <a:ea typeface="SimSun"/>
                            <a:cs typeface="Times New Roman"/>
                          </a:rPr>
                          <m:t>+</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𝑝𝑢𝑚𝑝</m:t>
                            </m:r>
                          </m:sub>
                        </m:sSub>
                      </m:den>
                    </m:f>
                  </m:oMath>
                </a14:m>
                <a:endParaRPr lang="en-HK" sz="1600" dirty="0">
                  <a:latin typeface="Times New Roman" panose="020B0604020202020204" pitchFamily="34" charset="0"/>
                  <a:ea typeface="SimSun"/>
                  <a:cs typeface="Times New Roman" panose="020B0604020202020204" pitchFamily="34" charset="0"/>
                </a:endParaRPr>
              </a:p>
            </p:txBody>
          </p:sp>
        </mc:Choice>
        <mc:Fallback xmlns="">
          <p:sp>
            <p:nvSpPr>
              <p:cNvPr id="20" name="矩形 19">
                <a:extLst>
                  <a:ext uri="{FF2B5EF4-FFF2-40B4-BE49-F238E27FC236}">
                    <a16:creationId xmlns:a16="http://schemas.microsoft.com/office/drawing/2014/main" id="{76750317-A2D6-4907-9498-450E08BB728F}"/>
                  </a:ext>
                </a:extLst>
              </p:cNvPr>
              <p:cNvSpPr>
                <a:spLocks noRot="1" noChangeAspect="1" noMove="1" noResize="1" noEditPoints="1" noAdjustHandles="1" noChangeArrowheads="1" noChangeShapeType="1" noTextEdit="1"/>
              </p:cNvSpPr>
              <p:nvPr/>
            </p:nvSpPr>
            <p:spPr>
              <a:xfrm>
                <a:off x="6588015" y="1480628"/>
                <a:ext cx="3624838" cy="3205108"/>
              </a:xfrm>
              <a:prstGeom prst="rect">
                <a:avLst/>
              </a:prstGeom>
              <a:blipFill>
                <a:blip r:embed="rId11"/>
                <a:stretch>
                  <a:fillRect l="-1515" r="-7071"/>
                </a:stretch>
              </a:blipFill>
            </p:spPr>
            <p:txBody>
              <a:bodyPr/>
              <a:lstStyle/>
              <a:p>
                <a:r>
                  <a:rPr lang="en-US">
                    <a:noFill/>
                    <a:latin typeface="Times New Roman"/>
                    <a:ea typeface="SimSun"/>
                    <a:cs typeface="Times New Roman"/>
                  </a:rPr>
                  <a:t> </a:t>
                </a:r>
              </a:p>
            </p:txBody>
          </p:sp>
        </mc:Fallback>
      </mc:AlternateContent>
      <p:sp>
        <p:nvSpPr>
          <p:cNvPr id="21" name="矩形: 圆角 20">
            <a:extLst>
              <a:ext uri="{FF2B5EF4-FFF2-40B4-BE49-F238E27FC236}">
                <a16:creationId xmlns:a16="http://schemas.microsoft.com/office/drawing/2014/main" id="{1309ED2F-F544-47BC-99F1-90A1AA32B9A2}"/>
              </a:ext>
            </a:extLst>
          </p:cNvPr>
          <p:cNvSpPr/>
          <p:nvPr/>
        </p:nvSpPr>
        <p:spPr bwMode="auto">
          <a:xfrm>
            <a:off x="6161185" y="1379460"/>
            <a:ext cx="4483767" cy="5258909"/>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2" name="矩形 21">
            <a:extLst>
              <a:ext uri="{FF2B5EF4-FFF2-40B4-BE49-F238E27FC236}">
                <a16:creationId xmlns:a16="http://schemas.microsoft.com/office/drawing/2014/main" id="{152E01CA-34F4-4696-9F96-5062403B90C1}"/>
              </a:ext>
            </a:extLst>
          </p:cNvPr>
          <p:cNvSpPr/>
          <p:nvPr/>
        </p:nvSpPr>
        <p:spPr bwMode="auto">
          <a:xfrm>
            <a:off x="6684575" y="3572510"/>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sp>
        <p:nvSpPr>
          <p:cNvPr id="23" name="矩形 22">
            <a:extLst>
              <a:ext uri="{FF2B5EF4-FFF2-40B4-BE49-F238E27FC236}">
                <a16:creationId xmlns:a16="http://schemas.microsoft.com/office/drawing/2014/main" id="{D801FA2E-E0E2-4767-BA62-A384CE395DA4}"/>
              </a:ext>
            </a:extLst>
          </p:cNvPr>
          <p:cNvSpPr/>
          <p:nvPr/>
        </p:nvSpPr>
        <p:spPr bwMode="auto">
          <a:xfrm>
            <a:off x="7260754" y="4408830"/>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sp>
        <p:nvSpPr>
          <p:cNvPr id="24" name="矩形 23">
            <a:extLst>
              <a:ext uri="{FF2B5EF4-FFF2-40B4-BE49-F238E27FC236}">
                <a16:creationId xmlns:a16="http://schemas.microsoft.com/office/drawing/2014/main" id="{4710880B-9F98-4084-86BF-2923D8B1AE9F}"/>
              </a:ext>
            </a:extLst>
          </p:cNvPr>
          <p:cNvSpPr/>
          <p:nvPr/>
        </p:nvSpPr>
        <p:spPr bwMode="auto">
          <a:xfrm>
            <a:off x="7852006" y="4412333"/>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sp>
        <p:nvSpPr>
          <p:cNvPr id="25"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327238580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8588B8E-16A1-4E8F-A642-ED148466DEEA}"/>
              </a:ext>
            </a:extLst>
          </p:cNvPr>
          <p:cNvSpPr txBox="1"/>
          <p:nvPr/>
        </p:nvSpPr>
        <p:spPr>
          <a:xfrm>
            <a:off x="1303238" y="1383274"/>
            <a:ext cx="6428532"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3.5.1 </a:t>
            </a:r>
            <a:r>
              <a:rPr lang="en-HK" altLang="zh-CN" sz="15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water density and wettability in channels</a:t>
            </a:r>
            <a:r>
              <a:rPr sz="1230" lang="zh-CN">
                <a:solidFill>
                  <a:srgbClr val="24425A"/>
                </a:solidFill>
                <a:latin typeface="Times New Roman"/>
                <a:ea typeface="SimSun"/>
                <a:cs typeface="Times New Roman"/>
              </a:rPr>
              <a:t>  通道内的喷淋密度与润湿性</a:t>
            </a:r>
          </a:p>
        </p:txBody>
      </p:sp>
      <p:sp>
        <p:nvSpPr>
          <p:cNvPr id="5" name="矩形 4">
            <a:extLst>
              <a:ext uri="{FF2B5EF4-FFF2-40B4-BE49-F238E27FC236}">
                <a16:creationId xmlns:a16="http://schemas.microsoft.com/office/drawing/2014/main" id="{9568EE4D-6AB2-499B-ABF8-7E00C95A3C08}"/>
              </a:ext>
            </a:extLst>
          </p:cNvPr>
          <p:cNvSpPr/>
          <p:nvPr/>
        </p:nvSpPr>
        <p:spPr>
          <a:xfrm>
            <a:off x="1536432" y="1842407"/>
            <a:ext cx="2981072"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150" dirty="0">
                <a:solidFill>
                  <a:prstClr val="black"/>
                </a:solidFill>
                <a:latin typeface="Times New Roman" panose="02020603050405020304" pitchFamily="18" charset="0"/>
                <a:ea typeface="SimSun"/>
                <a:cs typeface="Times New Roman" panose="02020603050405020304" pitchFamily="18" charset="0"/>
              </a:rPr>
              <a:t>Water density modification</a:t>
            </a:r>
            <a:r>
              <a:rPr sz="943" lang="zh-CN">
                <a:solidFill>
                  <a:srgbClr val="24425A"/>
                </a:solidFill>
                <a:latin typeface="Times New Roman"/>
                <a:ea typeface="SimSun"/>
                <a:cs typeface="Times New Roman"/>
              </a:rPr>
              <a:t>  喷淋密度修正</a:t>
            </a:r>
          </a:p>
        </p:txBody>
      </p:sp>
      <p:sp>
        <p:nvSpPr>
          <p:cNvPr id="7" name="矩形 6">
            <a:extLst>
              <a:ext uri="{FF2B5EF4-FFF2-40B4-BE49-F238E27FC236}">
                <a16:creationId xmlns:a16="http://schemas.microsoft.com/office/drawing/2014/main" id="{FB7567DF-D2B5-4E92-83AE-DA5F85BA1736}"/>
              </a:ext>
            </a:extLst>
          </p:cNvPr>
          <p:cNvSpPr/>
          <p:nvPr/>
        </p:nvSpPr>
        <p:spPr>
          <a:xfrm>
            <a:off x="1687913" y="2328195"/>
            <a:ext cx="2392001" cy="446278"/>
          </a:xfrm>
          <a:prstGeom prst="rect">
            <a:avLst/>
          </a:prstGeom>
        </p:spPr>
        <p:txBody>
          <a:bodyPr wrap="square" tIns="0" bIns="0">
            <a:noAutofit/>
          </a:bodyPr>
          <a:lstStyle/>
          <a:p>
            <a:pPr defTabSz="457200" eaLnBrk="1" fontAlgn="auto" hangingPunct="1" algn="l">
              <a:lnSpc>
                <a:spcPct val="108000"/>
              </a:lnSpc>
              <a:spcAft>
                <a:spcPts val="300"/>
              </a:spcAft>
            </a:pPr>
            <a:r>
              <a:rPr lang="en-US" sz="1150" dirty="0">
                <a:solidFill>
                  <a:prstClr val="black"/>
                </a:solidFill>
                <a:latin typeface="Times New Roman" panose="02020603050405020304" pitchFamily="18" charset="0"/>
                <a:ea typeface="SimSun"/>
                <a:cs typeface="Times New Roman" panose="02020603050405020304" pitchFamily="18" charset="0"/>
              </a:rPr>
              <a:t>Original spraying density</a:t>
            </a:r>
            <a:r>
              <a:rPr lang="en-US" sz="1150" dirty="0">
                <a:solidFill>
                  <a:prstClr val="black"/>
                </a:solidFill>
                <a:latin typeface="Times New Roman" panose="020B0604020202020204" pitchFamily="34" charset="0"/>
                <a:ea typeface="SimSun"/>
                <a:cs typeface="Times New Roman" panose="020B0604020202020204" pitchFamily="34" charset="0"/>
              </a:rPr>
              <a:t>: </a:t>
            </a:r>
            <a:r>
              <a:rPr sz="943" lang="zh-CN">
                <a:solidFill>
                  <a:srgbClr val="24425A"/>
                </a:solidFill>
                <a:latin typeface="Times New Roman"/>
                <a:ea typeface="SimSun"/>
                <a:cs typeface="Times New Roman"/>
              </a:rPr>
              <a:t>  原始喷淋密度：</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2897123-5B2E-44C6-9546-F002E9796C0F}"/>
                  </a:ext>
                </a:extLst>
              </p:cNvPr>
              <p:cNvSpPr/>
              <p:nvPr/>
            </p:nvSpPr>
            <p:spPr>
              <a:xfrm>
                <a:off x="4005559" y="2222442"/>
                <a:ext cx="1308307" cy="558614"/>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num>
                        <m:den>
                          <m:d>
                            <m:d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𝑛</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e>
                          </m:d>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𝑓</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8" name="矩形 7">
                <a:extLst>
                  <a:ext uri="{FF2B5EF4-FFF2-40B4-BE49-F238E27FC236}">
                    <a16:creationId xmlns:a16="http://schemas.microsoft.com/office/drawing/2014/main" id="{C2897123-5B2E-44C6-9546-F002E9796C0F}"/>
                  </a:ext>
                </a:extLst>
              </p:cNvPr>
              <p:cNvSpPr>
                <a:spLocks noRot="1" noChangeAspect="1" noMove="1" noResize="1" noEditPoints="1" noAdjustHandles="1" noChangeArrowheads="1" noChangeShapeType="1" noTextEdit="1"/>
              </p:cNvSpPr>
              <p:nvPr/>
            </p:nvSpPr>
            <p:spPr>
              <a:xfrm>
                <a:off x="4005559" y="2222442"/>
                <a:ext cx="1308307" cy="558614"/>
              </a:xfrm>
              <a:prstGeom prst="rect">
                <a:avLst/>
              </a:prstGeom>
              <a:blipFill>
                <a:blip r:embed="rId4"/>
                <a:stretch>
                  <a:fillRect b="-1099"/>
                </a:stretch>
              </a:blipFill>
            </p:spPr>
            <p:txBody>
              <a:bodyPr/>
              <a:lstStyle/>
              <a:p>
                <a:r>
                  <a:rPr lang="en-US">
                    <a:noFill/>
                    <a:latin typeface="Times New Roman"/>
                    <a:ea typeface="SimSun"/>
                    <a:cs typeface="Times New Roman"/>
                  </a:rPr>
                  <a:t> </a:t>
                </a:r>
              </a:p>
            </p:txBody>
          </p:sp>
        </mc:Fallback>
      </mc:AlternateContent>
      <p:sp>
        <p:nvSpPr>
          <p:cNvPr id="10" name="矩形 9">
            <a:extLst>
              <a:ext uri="{FF2B5EF4-FFF2-40B4-BE49-F238E27FC236}">
                <a16:creationId xmlns:a16="http://schemas.microsoft.com/office/drawing/2014/main" id="{365A11DE-7118-406B-9E8D-65F063DDD022}"/>
              </a:ext>
            </a:extLst>
          </p:cNvPr>
          <p:cNvSpPr/>
          <p:nvPr/>
        </p:nvSpPr>
        <p:spPr>
          <a:xfrm>
            <a:off x="1816589" y="6031469"/>
            <a:ext cx="1473480" cy="536194"/>
          </a:xfrm>
          <a:prstGeom prst="rect">
            <a:avLst/>
          </a:prstGeom>
        </p:spPr>
        <p:txBody>
          <a:bodyPr wrap="square" tIns="0" bIns="0">
            <a:noAutofit/>
          </a:bodyPr>
          <a:lstStyle/>
          <a:p>
            <a:pPr defTabSz="457200" eaLnBrk="1" fontAlgn="auto" hangingPunct="1" algn="l">
              <a:lnSpc>
                <a:spcPct val="108000"/>
              </a:lnSpc>
              <a:spcAft>
                <a:spcPts val="300"/>
              </a:spcAft>
            </a:pPr>
            <a:r>
              <a:rPr lang="en-US" sz="1450" dirty="0">
                <a:solidFill>
                  <a:prstClr val="black"/>
                </a:solidFill>
                <a:latin typeface="Times New Roman" panose="02020603050405020304" pitchFamily="18" charset="0"/>
                <a:ea typeface="SimSun"/>
                <a:cs typeface="Times New Roman" panose="02020603050405020304" pitchFamily="18" charset="0"/>
              </a:rPr>
              <a:t>Ideal scenario</a:t>
            </a:r>
            <a:r>
              <a:rPr sz="1189" lang="zh-CN">
                <a:solidFill>
                  <a:srgbClr val="24425A"/>
                </a:solidFill>
                <a:latin typeface="Times New Roman"/>
                <a:ea typeface="SimSun"/>
                <a:cs typeface="Times New Roman"/>
              </a:rPr>
              <a:t>  理想工况</a:t>
            </a:r>
          </a:p>
        </p:txBody>
      </p:sp>
      <p:sp>
        <p:nvSpPr>
          <p:cNvPr id="11" name="矩形 10">
            <a:extLst>
              <a:ext uri="{FF2B5EF4-FFF2-40B4-BE49-F238E27FC236}">
                <a16:creationId xmlns:a16="http://schemas.microsoft.com/office/drawing/2014/main" id="{35BBD14C-4AD1-4782-A85F-6A33F5323102}"/>
              </a:ext>
            </a:extLst>
          </p:cNvPr>
          <p:cNvSpPr/>
          <p:nvPr/>
        </p:nvSpPr>
        <p:spPr>
          <a:xfrm>
            <a:off x="5355892" y="6031469"/>
            <a:ext cx="1678665" cy="536194"/>
          </a:xfrm>
          <a:prstGeom prst="rect">
            <a:avLst/>
          </a:prstGeom>
        </p:spPr>
        <p:txBody>
          <a:bodyPr wrap="square" tIns="0" bIns="0">
            <a:noAutofit/>
          </a:bodyPr>
          <a:lstStyle/>
          <a:p>
            <a:pPr defTabSz="457200" eaLnBrk="1" fontAlgn="auto" hangingPunct="1" algn="l">
              <a:lnSpc>
                <a:spcPct val="108000"/>
              </a:lnSpc>
              <a:spcAft>
                <a:spcPts val="300"/>
              </a:spcAft>
            </a:pPr>
            <a:r>
              <a:rPr lang="en-US" sz="1450" dirty="0">
                <a:solidFill>
                  <a:prstClr val="black"/>
                </a:solidFill>
                <a:latin typeface="Times New Roman" panose="02020603050405020304" pitchFamily="18" charset="0"/>
                <a:ea typeface="SimSun"/>
                <a:cs typeface="Times New Roman" panose="02020603050405020304" pitchFamily="18" charset="0"/>
              </a:rPr>
              <a:t>Reality scenario</a:t>
            </a:r>
            <a:r>
              <a:rPr sz="1189" lang="zh-CN">
                <a:solidFill>
                  <a:srgbClr val="24425A"/>
                </a:solidFill>
                <a:latin typeface="Times New Roman"/>
                <a:ea typeface="SimSun"/>
                <a:cs typeface="Times New Roman"/>
              </a:rPr>
              <a:t>  实际工况</a:t>
            </a:r>
          </a:p>
        </p:txBody>
      </p:sp>
      <p:pic>
        <p:nvPicPr>
          <p:cNvPr id="12" name="图片 11">
            <a:extLst>
              <a:ext uri="{FF2B5EF4-FFF2-40B4-BE49-F238E27FC236}">
                <a16:creationId xmlns:a16="http://schemas.microsoft.com/office/drawing/2014/main" id="{360BD3B8-8AB3-43AF-AD63-7422515FA9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5165" y="2858179"/>
            <a:ext cx="3562356" cy="2048112"/>
          </a:xfrm>
          <a:prstGeom prst="rect">
            <a:avLst/>
          </a:prstGeom>
        </p:spPr>
      </p:pic>
      <p:sp>
        <p:nvSpPr>
          <p:cNvPr id="13" name="椭圆 12">
            <a:extLst>
              <a:ext uri="{FF2B5EF4-FFF2-40B4-BE49-F238E27FC236}">
                <a16:creationId xmlns:a16="http://schemas.microsoft.com/office/drawing/2014/main" id="{2A9E1777-AA53-4FF1-A2B3-EB091B6898E2}"/>
              </a:ext>
            </a:extLst>
          </p:cNvPr>
          <p:cNvSpPr/>
          <p:nvPr/>
        </p:nvSpPr>
        <p:spPr>
          <a:xfrm>
            <a:off x="9003387" y="3617747"/>
            <a:ext cx="262647" cy="340468"/>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a:solidFill>
                <a:prstClr val="white"/>
              </a:solidFill>
              <a:latin typeface="Times New Roman" panose="020F0502020204030204"/>
              <a:ea typeface="SimSun"/>
              <a:cs typeface="Times New Roman"/>
            </a:endParaRPr>
          </a:p>
        </p:txBody>
      </p:sp>
      <p:sp>
        <p:nvSpPr>
          <p:cNvPr id="17" name="矩形 16">
            <a:extLst>
              <a:ext uri="{FF2B5EF4-FFF2-40B4-BE49-F238E27FC236}">
                <a16:creationId xmlns:a16="http://schemas.microsoft.com/office/drawing/2014/main" id="{9B191E51-CD88-4DD4-A748-84FCFC12D6A3}"/>
              </a:ext>
            </a:extLst>
          </p:cNvPr>
          <p:cNvSpPr/>
          <p:nvPr/>
        </p:nvSpPr>
        <p:spPr>
          <a:xfrm>
            <a:off x="8834234" y="5113545"/>
            <a:ext cx="3654907"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3.5.1 </a:t>
            </a:r>
            <a:r>
              <a:rPr lang="en-HK" sz="1200" dirty="0">
                <a:solidFill>
                  <a:prstClr val="black"/>
                </a:solidFill>
                <a:latin typeface="Times New Roman" panose="02020603050405020304" pitchFamily="18" charset="0"/>
                <a:ea typeface="SimSun"/>
                <a:cs typeface="Times New Roman" panose="02020603050405020304" pitchFamily="18" charset="0"/>
              </a:rPr>
              <a:t>H</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eat and mass </a:t>
            </a:r>
            <a:r>
              <a:rPr lang="en-HK" sz="1200" dirty="0">
                <a:solidFill>
                  <a:prstClr val="black"/>
                </a:solidFill>
                <a:latin typeface="Times New Roman" panose="02020603050405020304" pitchFamily="18" charset="0"/>
                <a:ea typeface="SimSun"/>
                <a:cs typeface="Times New Roman" panose="02020603050405020304" pitchFamily="18" charset="0"/>
              </a:rPr>
              <a:t>transfer of the </a:t>
            </a:r>
          </a:p>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            secondary air flow channel</a:t>
            </a:r>
          </a:p>
        </p:txBody>
      </p:sp>
      <p:sp>
        <p:nvSpPr>
          <p:cNvPr id="15" name="文本框 14">
            <a:extLst>
              <a:ext uri="{FF2B5EF4-FFF2-40B4-BE49-F238E27FC236}">
                <a16:creationId xmlns:a16="http://schemas.microsoft.com/office/drawing/2014/main" id="{8395D8DC-FC62-4460-9702-9D690491332B}"/>
              </a:ext>
            </a:extLst>
          </p:cNvPr>
          <p:cNvSpPr txBox="1"/>
          <p:nvPr/>
        </p:nvSpPr>
        <p:spPr>
          <a:xfrm>
            <a:off x="700824" y="1013942"/>
            <a:ext cx="10919676"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3.5 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C2A57EB6-2B08-4E86-ADC5-FFFA37F5EED7}"/>
              </a:ext>
            </a:extLst>
          </p:cNvPr>
          <p:cNvSpPr>
            <a:spLocks noGrp="1"/>
          </p:cNvSpPr>
          <p:nvPr>
            <p:ph type="sldNum" sz="quarter" idx="12"/>
          </p:nvPr>
        </p:nvSpPr>
        <p:spPr>
          <a:xfrm>
            <a:off x="9266034" y="6400801"/>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21</a:t>
            </a:fld>
            <a:endParaRPr lang="en-US" altLang="zh-CN" dirty="0">
              <a:latin typeface="Times New Roman"/>
              <a:ea typeface="SimSun"/>
              <a:cs typeface="Times New Roman"/>
            </a:endParaRPr>
          </a:p>
        </p:txBody>
      </p:sp>
      <p:sp>
        <p:nvSpPr>
          <p:cNvPr id="19" name="矩形 3">
            <a:extLst>
              <a:ext uri="{FF2B5EF4-FFF2-40B4-BE49-F238E27FC236}">
                <a16:creationId xmlns:a16="http://schemas.microsoft.com/office/drawing/2014/main" id="{E071AB9A-85B9-46D9-AA9C-40C228DBDA04}"/>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14" name="Rectangle 2">
            <a:extLst>
              <a:ext uri="{FF2B5EF4-FFF2-40B4-BE49-F238E27FC236}">
                <a16:creationId xmlns:a16="http://schemas.microsoft.com/office/drawing/2014/main" id="{3E98F2FE-7A59-425D-B694-FD31049822E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0" name="对象 19">
            <a:extLst>
              <a:ext uri="{FF2B5EF4-FFF2-40B4-BE49-F238E27FC236}">
                <a16:creationId xmlns:a16="http://schemas.microsoft.com/office/drawing/2014/main" id="{8418C967-C800-4B36-B473-179EB889762C}"/>
              </a:ext>
            </a:extLst>
          </p:cNvPr>
          <p:cNvGraphicFramePr>
            <a:graphicFrameLocks noChangeAspect="1"/>
          </p:cNvGraphicFramePr>
          <p:nvPr/>
        </p:nvGraphicFramePr>
        <p:xfrm>
          <a:off x="419100" y="2816725"/>
          <a:ext cx="3853356" cy="3214992"/>
        </p:xfrm>
        <a:graphic>
          <a:graphicData uri="http://schemas.openxmlformats.org/presentationml/2006/ole">
            <mc:AlternateContent xmlns:mc="http://schemas.openxmlformats.org/markup-compatibility/2006">
              <mc:Choice xmlns:v="urn:schemas-microsoft-com:vml" Requires="v">
                <p:oleObj name="Graph" r:id="rId6" imgW="6384906" imgH="5420971" progId="Origin50.Graph">
                  <p:embed/>
                </p:oleObj>
              </mc:Choice>
              <mc:Fallback>
                <p:oleObj name="Graph" r:id="rId6" imgW="6384906" imgH="5420971" progId="Origin50.Graph">
                  <p:embed/>
                  <p:pic>
                    <p:nvPicPr>
                      <p:cNvPr id="20" name="对象 19">
                        <a:extLst>
                          <a:ext uri="{FF2B5EF4-FFF2-40B4-BE49-F238E27FC236}">
                            <a16:creationId xmlns:a16="http://schemas.microsoft.com/office/drawing/2014/main" id="{8418C967-C800-4B36-B473-179EB88976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 y="2816725"/>
                        <a:ext cx="3853356" cy="3214992"/>
                      </a:xfrm>
                      <a:prstGeom prst="rect">
                        <a:avLst/>
                      </a:prstGeom>
                      <a:noFill/>
                    </p:spPr>
                  </p:pic>
                </p:oleObj>
              </mc:Fallback>
            </mc:AlternateContent>
          </a:graphicData>
        </a:graphic>
      </p:graphicFrame>
      <p:sp>
        <p:nvSpPr>
          <p:cNvPr id="21" name="Rectangle 4">
            <a:extLst>
              <a:ext uri="{FF2B5EF4-FFF2-40B4-BE49-F238E27FC236}">
                <a16:creationId xmlns:a16="http://schemas.microsoft.com/office/drawing/2014/main" id="{C6F8DE7B-769F-40B8-8AF9-1F5EE5343E6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2" name="对象 21">
            <a:extLst>
              <a:ext uri="{FF2B5EF4-FFF2-40B4-BE49-F238E27FC236}">
                <a16:creationId xmlns:a16="http://schemas.microsoft.com/office/drawing/2014/main" id="{AB3C3E67-99AF-4D54-A704-013D219F90A2}"/>
              </a:ext>
            </a:extLst>
          </p:cNvPr>
          <p:cNvGraphicFramePr>
            <a:graphicFrameLocks noChangeAspect="1"/>
          </p:cNvGraphicFramePr>
          <p:nvPr/>
        </p:nvGraphicFramePr>
        <p:xfrm>
          <a:off x="4225647" y="2921176"/>
          <a:ext cx="3575327" cy="3073921"/>
        </p:xfrm>
        <a:graphic>
          <a:graphicData uri="http://schemas.openxmlformats.org/presentationml/2006/ole">
            <mc:AlternateContent xmlns:mc="http://schemas.openxmlformats.org/markup-compatibility/2006">
              <mc:Choice xmlns:v="urn:schemas-microsoft-com:vml" Requires="v">
                <p:oleObj name="Graph" r:id="rId8" imgW="6107567" imgH="5282235" progId="Origin50.Graph">
                  <p:embed/>
                </p:oleObj>
              </mc:Choice>
              <mc:Fallback>
                <p:oleObj name="Graph" r:id="rId8" imgW="6107567" imgH="5282235" progId="Origin50.Graph">
                  <p:embed/>
                  <p:pic>
                    <p:nvPicPr>
                      <p:cNvPr id="22" name="对象 21">
                        <a:extLst>
                          <a:ext uri="{FF2B5EF4-FFF2-40B4-BE49-F238E27FC236}">
                            <a16:creationId xmlns:a16="http://schemas.microsoft.com/office/drawing/2014/main" id="{AB3C3E67-99AF-4D54-A704-013D219F90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5647" y="2921176"/>
                        <a:ext cx="3575327" cy="3073921"/>
                      </a:xfrm>
                      <a:prstGeom prst="rect">
                        <a:avLst/>
                      </a:prstGeom>
                      <a:noFill/>
                    </p:spPr>
                  </p:pic>
                </p:oleObj>
              </mc:Fallback>
            </mc:AlternateContent>
          </a:graphicData>
        </a:graphic>
      </p:graphicFrame>
      <p:sp>
        <p:nvSpPr>
          <p:cNvPr id="23"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36370720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4728E8C-08D8-4CB7-9715-B9B4E0E5F1BE}"/>
              </a:ext>
            </a:extLst>
          </p:cNvPr>
          <p:cNvSpPr/>
          <p:nvPr/>
        </p:nvSpPr>
        <p:spPr>
          <a:xfrm>
            <a:off x="1379078" y="1613225"/>
            <a:ext cx="2531462"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Arrangement schemes</a:t>
            </a:r>
            <a:r>
              <a:rPr sz="1230" lang="zh-CN">
                <a:solidFill>
                  <a:srgbClr val="24425A"/>
                </a:solidFill>
                <a:latin typeface="Times New Roman"/>
                <a:ea typeface="SimSun"/>
                <a:cs typeface="Times New Roman"/>
              </a:rPr>
              <a:t>  喷嘴布置方案</a:t>
            </a:r>
          </a:p>
        </p:txBody>
      </p:sp>
      <p:pic>
        <p:nvPicPr>
          <p:cNvPr id="7" name="图片 6">
            <a:extLst>
              <a:ext uri="{FF2B5EF4-FFF2-40B4-BE49-F238E27FC236}">
                <a16:creationId xmlns:a16="http://schemas.microsoft.com/office/drawing/2014/main" id="{037BA7FE-40E9-437E-86AE-9FCD3E8E17D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1271" b="61733"/>
          <a:stretch/>
        </p:blipFill>
        <p:spPr bwMode="auto">
          <a:xfrm>
            <a:off x="7293631" y="1306872"/>
            <a:ext cx="1350279" cy="1260000"/>
          </a:xfrm>
          <a:prstGeom prst="rect">
            <a:avLst/>
          </a:prstGeom>
          <a:ln>
            <a:noFill/>
          </a:ln>
          <a:extLst>
            <a:ext uri="{53640926-AAD7-44D8-BBD7-CCE9431645EC}">
              <a14:shadowObscured xmlns:a14="http://schemas.microsoft.com/office/drawing/2010/main"/>
            </a:ext>
          </a:extLst>
        </p:spPr>
      </p:pic>
      <p:pic>
        <p:nvPicPr>
          <p:cNvPr id="8" name="图片 7">
            <a:extLst>
              <a:ext uri="{FF2B5EF4-FFF2-40B4-BE49-F238E27FC236}">
                <a16:creationId xmlns:a16="http://schemas.microsoft.com/office/drawing/2014/main" id="{CB3668D4-0B59-42BD-A70F-53B540351FC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867" t="53966" r="51931" b="11619"/>
          <a:stretch/>
        </p:blipFill>
        <p:spPr bwMode="auto">
          <a:xfrm>
            <a:off x="8773092" y="1341696"/>
            <a:ext cx="1220023" cy="114480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6920EDB-9D69-4594-A6C5-2AB1453745AA}"/>
                  </a:ext>
                </a:extLst>
              </p:cNvPr>
              <p:cNvSpPr/>
              <p:nvPr/>
            </p:nvSpPr>
            <p:spPr>
              <a:xfrm>
                <a:off x="1705231" y="2018375"/>
                <a:ext cx="5207963" cy="661720"/>
              </a:xfrm>
              <a:prstGeom prst="rect">
                <a:avLst/>
              </a:prstGeom>
            </p:spPr>
            <p:txBody>
              <a:bodyPr wrap="square">
                <a:spAutoFit/>
              </a:bodyPr>
              <a:lstStyle/>
              <a:p>
                <a:pPr defTabSz="457200" eaLnBrk="1" fontAlgn="auto" hangingPunct="1">
                  <a:spcBef>
                    <a:spcPts val="0"/>
                  </a:spcBef>
                  <a:spcAft>
                    <a:spcPts val="600"/>
                  </a:spcAft>
                </a:pPr>
                <a:r>
                  <a:rPr lang="en-HK" sz="1600" dirty="0">
                    <a:solidFill>
                      <a:prstClr val="black"/>
                    </a:solidFill>
                    <a:latin typeface="Times New Roman" panose="02020603050405020304" pitchFamily="18" charset="0"/>
                    <a:ea typeface="SimSun"/>
                    <a:cs typeface="Times New Roman" panose="02020603050405020304" pitchFamily="18" charset="0"/>
                  </a:rPr>
                  <a:t>The size of heat exchanger: 400 mm </a:t>
                </a:r>
                <a14:m>
                  <m:oMath xmlns:m="http://schemas.openxmlformats.org/officeDocument/2006/math">
                    <m:r>
                      <a:rPr lang="en-HK" sz="1600" i="1" smtClean="0">
                        <a:solidFill>
                          <a:prstClr val="black"/>
                        </a:solidFill>
                        <a:latin typeface="Times New Roman" panose="02040503050406030204" pitchFamily="18" charset="0"/>
                        <a:ea typeface="SimSun" panose="02040503050406030204" pitchFamily="18" charset="0"/>
                        <a:cs typeface="Times New Roman" panose="02020603050405020304" pitchFamily="18" charset="0"/>
                      </a:rPr>
                      <m:t>×</m:t>
                    </m:r>
                  </m:oMath>
                </a14:m>
                <a:r>
                  <a:rPr lang="en-HK" sz="1600" dirty="0">
                    <a:solidFill>
                      <a:prstClr val="black"/>
                    </a:solidFill>
                    <a:latin typeface="Times New Roman" panose="02020603050405020304" pitchFamily="18" charset="0"/>
                    <a:ea typeface="SimSun"/>
                    <a:cs typeface="Times New Roman" panose="02020603050405020304" pitchFamily="18" charset="0"/>
                  </a:rPr>
                  <a:t> 400 mm</a:t>
                </a:r>
              </a:p>
              <a:p>
                <a:pPr defTabSz="457200" eaLnBrk="1" fontAlgn="auto" hangingPunct="1">
                  <a:spcBef>
                    <a:spcPts val="0"/>
                  </a:spcBef>
                  <a:spcAft>
                    <a:spcPts val="600"/>
                  </a:spcAft>
                </a:pPr>
                <a:r>
                  <a:rPr lang="en-HK" sz="1600" dirty="0">
                    <a:solidFill>
                      <a:prstClr val="black"/>
                    </a:solidFill>
                    <a:latin typeface="Times New Roman" panose="02020603050405020304" pitchFamily="18" charset="0"/>
                    <a:ea typeface="SimSun"/>
                    <a:cs typeface="Times New Roman" panose="02020603050405020304" pitchFamily="18" charset="0"/>
                  </a:rPr>
                  <a:t>The height of the nozzle: 300 mm</a:t>
                </a:r>
              </a:p>
            </p:txBody>
          </p:sp>
        </mc:Choice>
        <mc:Fallback xmlns="">
          <p:sp>
            <p:nvSpPr>
              <p:cNvPr id="11" name="矩形 10">
                <a:extLst>
                  <a:ext uri="{FF2B5EF4-FFF2-40B4-BE49-F238E27FC236}">
                    <a16:creationId xmlns:a16="http://schemas.microsoft.com/office/drawing/2014/main" id="{66920EDB-9D69-4594-A6C5-2AB1453745AA}"/>
                  </a:ext>
                </a:extLst>
              </p:cNvPr>
              <p:cNvSpPr>
                <a:spLocks noRot="1" noChangeAspect="1" noMove="1" noResize="1" noEditPoints="1" noAdjustHandles="1" noChangeArrowheads="1" noChangeShapeType="1" noTextEdit="1"/>
              </p:cNvSpPr>
              <p:nvPr/>
            </p:nvSpPr>
            <p:spPr>
              <a:xfrm>
                <a:off x="1705231" y="2018375"/>
                <a:ext cx="5207963" cy="661720"/>
              </a:xfrm>
              <a:prstGeom prst="rect">
                <a:avLst/>
              </a:prstGeom>
              <a:blipFill>
                <a:blip r:embed="rId6"/>
                <a:stretch>
                  <a:fillRect l="-703" t="-2752" b="-11009"/>
                </a:stretch>
              </a:blipFill>
            </p:spPr>
            <p:txBody>
              <a:bodyPr/>
              <a:lstStyle/>
              <a:p>
                <a:r>
                  <a:rPr lang="en-US">
                    <a:noFill/>
                    <a:latin typeface="Times New Roman"/>
                    <a:ea typeface="SimSun"/>
                    <a:cs typeface="Times New Roman"/>
                  </a:rPr>
                  <a:t> </a:t>
                </a:r>
              </a:p>
            </p:txBody>
          </p:sp>
        </mc:Fallback>
      </mc:AlternateContent>
      <p:sp>
        <p:nvSpPr>
          <p:cNvPr id="12" name="矩形 11">
            <a:extLst>
              <a:ext uri="{FF2B5EF4-FFF2-40B4-BE49-F238E27FC236}">
                <a16:creationId xmlns:a16="http://schemas.microsoft.com/office/drawing/2014/main" id="{217AF81E-EF44-45C7-A6E4-50B612F2B928}"/>
              </a:ext>
            </a:extLst>
          </p:cNvPr>
          <p:cNvSpPr/>
          <p:nvPr/>
        </p:nvSpPr>
        <p:spPr>
          <a:xfrm>
            <a:off x="2843847" y="6211928"/>
            <a:ext cx="6686365" cy="553998"/>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350" dirty="0">
                <a:solidFill>
                  <a:prstClr val="black"/>
                </a:solidFill>
                <a:latin typeface="Times New Roman" panose="02020603050405020304" pitchFamily="18" charset="0"/>
                <a:ea typeface="SimSun"/>
                <a:cs typeface="Times New Roman" panose="02020603050405020304" pitchFamily="18" charset="0"/>
              </a:rPr>
              <a:t>Spray optimal arrangement: </a:t>
            </a:r>
            <a:r>
              <a:rPr lang="en-HK" sz="1350" dirty="0">
                <a:solidFill>
                  <a:srgbClr val="A30000"/>
                </a:solidFill>
                <a:latin typeface="Times New Roman" panose="02020603050405020304" pitchFamily="18" charset="0"/>
                <a:ea typeface="SimSun"/>
                <a:cs typeface="Times New Roman" panose="02020603050405020304" pitchFamily="18" charset="0"/>
              </a:rPr>
              <a:t>Cent</a:t>
            </a:r>
            <a:r>
              <a:rPr lang="en-US" altLang="zh-CN" sz="1350" dirty="0" err="1">
                <a:solidFill>
                  <a:srgbClr val="A30000"/>
                </a:solidFill>
                <a:latin typeface="Times New Roman" panose="02020603050405020304" pitchFamily="18" charset="0"/>
                <a:ea typeface="SimSun"/>
                <a:cs typeface="Times New Roman" panose="02020603050405020304" pitchFamily="18" charset="0"/>
              </a:rPr>
              <a:t>er</a:t>
            </a:r>
            <a:r>
              <a:rPr lang="en-HK" sz="1350" dirty="0">
                <a:solidFill>
                  <a:srgbClr val="A30000"/>
                </a:solidFill>
                <a:latin typeface="Times New Roman" panose="02020603050405020304" pitchFamily="18" charset="0"/>
                <a:ea typeface="SimSun"/>
                <a:cs typeface="Times New Roman" panose="02020603050405020304" pitchFamily="18" charset="0"/>
              </a:rPr>
              <a:t>line</a:t>
            </a:r>
            <a:r>
              <a:rPr lang="en-HK" sz="1350" dirty="0">
                <a:solidFill>
                  <a:prstClr val="black"/>
                </a:solidFill>
                <a:latin typeface="Times New Roman" panose="02020603050405020304" pitchFamily="18" charset="0"/>
                <a:ea typeface="SimSun"/>
                <a:cs typeface="Times New Roman" panose="02020603050405020304" pitchFamily="18" charset="0"/>
              </a:rPr>
              <a:t> with </a:t>
            </a:r>
            <a:r>
              <a:rPr lang="en-HK" sz="1350" dirty="0">
                <a:solidFill>
                  <a:srgbClr val="A30000"/>
                </a:solidFill>
                <a:latin typeface="Times New Roman" panose="02020603050405020304" pitchFamily="18" charset="0"/>
                <a:ea typeface="SimSun"/>
                <a:cs typeface="Times New Roman" panose="02020603050405020304" pitchFamily="18" charset="0"/>
              </a:rPr>
              <a:t>160 mm </a:t>
            </a:r>
            <a:r>
              <a:rPr lang="en-HK" sz="1350" dirty="0">
                <a:solidFill>
                  <a:prstClr val="black"/>
                </a:solidFill>
                <a:latin typeface="Times New Roman" panose="02020603050405020304" pitchFamily="18" charset="0"/>
                <a:ea typeface="SimSun"/>
                <a:cs typeface="Times New Roman" panose="02020603050405020304" pitchFamily="18" charset="0"/>
              </a:rPr>
              <a:t>distance.</a:t>
            </a:r>
            <a:r>
              <a:rPr sz="1107" lang="zh-CN">
                <a:solidFill>
                  <a:srgbClr val="24425A"/>
                </a:solidFill>
                <a:latin typeface="Times New Roman"/>
                <a:ea typeface="SimSun"/>
                <a:cs typeface="Times New Roman"/>
              </a:rPr>
              <a:t>  最优布置：沿中心线布置，喷嘴间距为 160 mm。</a:t>
            </a:r>
          </a:p>
        </p:txBody>
      </p:sp>
      <p:sp>
        <p:nvSpPr>
          <p:cNvPr id="13" name="矩形 12">
            <a:extLst>
              <a:ext uri="{FF2B5EF4-FFF2-40B4-BE49-F238E27FC236}">
                <a16:creationId xmlns:a16="http://schemas.microsoft.com/office/drawing/2014/main" id="{0A6EA3F4-D166-469F-8FF3-91A46C8B3E01}"/>
              </a:ext>
            </a:extLst>
          </p:cNvPr>
          <p:cNvSpPr/>
          <p:nvPr/>
        </p:nvSpPr>
        <p:spPr>
          <a:xfrm>
            <a:off x="7439768" y="2483862"/>
            <a:ext cx="2492990" cy="731012"/>
          </a:xfrm>
          <a:prstGeom prst="rect">
            <a:avLst/>
          </a:prstGeom>
        </p:spPr>
        <p:txBody>
          <a:bodyPr wrap="square" tIns="0" bIns="0">
            <a:noAutofit/>
          </a:bodyPr>
          <a:lstStyle/>
          <a:p>
            <a:pPr algn="l" defTabSz="457200" eaLnBrk="1" fontAlgn="auto">
              <a:lnSpc>
                <a:spcPct val="108000"/>
              </a:lnSpc>
              <a:spcAft>
                <a:spcPts val="300"/>
              </a:spcAft>
            </a:pPr>
            <a:r>
              <a:rPr lang="en-US" sz="14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 Diagonal         (b) Centerline</a:t>
            </a:r>
            <a:r>
              <a:rPr sz="1148" lang="zh-CN">
                <a:solidFill>
                  <a:srgbClr val="24425A"/>
                </a:solidFill>
                <a:latin typeface="Times New Roman"/>
                <a:ea typeface="SimSun"/>
                <a:cs typeface="Times New Roman"/>
              </a:rPr>
              <a:t>  （a）对角线布置     （b）中心线布置</a:t>
            </a:r>
          </a:p>
        </p:txBody>
      </p:sp>
      <p:sp>
        <p:nvSpPr>
          <p:cNvPr id="17" name="矩形 16">
            <a:extLst>
              <a:ext uri="{FF2B5EF4-FFF2-40B4-BE49-F238E27FC236}">
                <a16:creationId xmlns:a16="http://schemas.microsoft.com/office/drawing/2014/main" id="{C2D13C86-5010-4DE5-A895-B7F88753292E}"/>
              </a:ext>
            </a:extLst>
          </p:cNvPr>
          <p:cNvSpPr/>
          <p:nvPr/>
        </p:nvSpPr>
        <p:spPr>
          <a:xfrm>
            <a:off x="7439231" y="2750676"/>
            <a:ext cx="3053210"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3.5.2 </a:t>
            </a:r>
            <a:r>
              <a:rPr lang="en-HK" sz="1200" dirty="0">
                <a:solidFill>
                  <a:prstClr val="black"/>
                </a:solidFill>
                <a:latin typeface="Times New Roman" panose="02020603050405020304" pitchFamily="18" charset="0"/>
                <a:ea typeface="SimSun"/>
                <a:cs typeface="Times New Roman" panose="02020603050405020304" pitchFamily="18" charset="0"/>
              </a:rPr>
              <a:t>Nozzle arrangement schemes</a:t>
            </a:r>
          </a:p>
        </p:txBody>
      </p:sp>
      <p:sp>
        <p:nvSpPr>
          <p:cNvPr id="18" name="矩形 17">
            <a:extLst>
              <a:ext uri="{FF2B5EF4-FFF2-40B4-BE49-F238E27FC236}">
                <a16:creationId xmlns:a16="http://schemas.microsoft.com/office/drawing/2014/main" id="{BEB984EE-A871-407E-B74B-62BB1A4B974C}"/>
              </a:ext>
            </a:extLst>
          </p:cNvPr>
          <p:cNvSpPr/>
          <p:nvPr/>
        </p:nvSpPr>
        <p:spPr>
          <a:xfrm>
            <a:off x="1379078" y="2918498"/>
            <a:ext cx="5207964" cy="338554"/>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100" dirty="0">
                <a:solidFill>
                  <a:prstClr val="black"/>
                </a:solidFill>
                <a:latin typeface="Times New Roman" panose="02020603050405020304" pitchFamily="18" charset="0"/>
                <a:ea typeface="SimSun"/>
                <a:cs typeface="Times New Roman" panose="02020603050405020304" pitchFamily="18" charset="0"/>
              </a:rPr>
              <a:t>The effect of the nozzle distance on the spray distribution</a:t>
            </a:r>
            <a:r>
              <a:rPr sz="902" lang="zh-CN">
                <a:solidFill>
                  <a:srgbClr val="24425A"/>
                </a:solidFill>
                <a:latin typeface="Times New Roman"/>
                <a:ea typeface="SimSun"/>
                <a:cs typeface="Times New Roman"/>
              </a:rPr>
              <a:t>  喷嘴间距对喷淋分布的影响</a:t>
            </a:r>
          </a:p>
        </p:txBody>
      </p:sp>
      <p:sp>
        <p:nvSpPr>
          <p:cNvPr id="19" name="矩形 18">
            <a:extLst>
              <a:ext uri="{FF2B5EF4-FFF2-40B4-BE49-F238E27FC236}">
                <a16:creationId xmlns:a16="http://schemas.microsoft.com/office/drawing/2014/main" id="{C301A508-1B3D-4F15-BBC8-D01E9083B3E9}"/>
              </a:ext>
            </a:extLst>
          </p:cNvPr>
          <p:cNvSpPr/>
          <p:nvPr/>
        </p:nvSpPr>
        <p:spPr>
          <a:xfrm>
            <a:off x="2843847" y="6473538"/>
            <a:ext cx="6253539" cy="338554"/>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000" dirty="0">
                <a:solidFill>
                  <a:prstClr val="black"/>
                </a:solidFill>
                <a:latin typeface="Times New Roman" panose="02020603050405020304" pitchFamily="18" charset="0"/>
                <a:ea typeface="SimSun"/>
                <a:cs typeface="Times New Roman" panose="02020603050405020304" pitchFamily="18" charset="0"/>
              </a:rPr>
              <a:t>Uniformity coefficient is </a:t>
            </a:r>
            <a:r>
              <a:rPr lang="en-HK" sz="1000" dirty="0">
                <a:solidFill>
                  <a:srgbClr val="A30000"/>
                </a:solidFill>
                <a:latin typeface="Times New Roman" panose="02020603050405020304" pitchFamily="18" charset="0"/>
                <a:ea typeface="SimSun"/>
                <a:cs typeface="Times New Roman" panose="02020603050405020304" pitchFamily="18" charset="0"/>
              </a:rPr>
              <a:t>0.74</a:t>
            </a:r>
            <a:r>
              <a:rPr lang="en-HK" sz="1000" dirty="0">
                <a:solidFill>
                  <a:prstClr val="black"/>
                </a:solidFill>
                <a:latin typeface="Times New Roman" panose="02020603050405020304" pitchFamily="18" charset="0"/>
                <a:ea typeface="SimSun"/>
                <a:cs typeface="Times New Roman" panose="02020603050405020304" pitchFamily="18" charset="0"/>
              </a:rPr>
              <a:t> and coverage ratio is </a:t>
            </a:r>
            <a:r>
              <a:rPr lang="en-HK" sz="1000" dirty="0">
                <a:solidFill>
                  <a:srgbClr val="A30000"/>
                </a:solidFill>
                <a:latin typeface="Times New Roman" panose="02020603050405020304" pitchFamily="18" charset="0"/>
                <a:ea typeface="SimSun"/>
                <a:cs typeface="Times New Roman" panose="02020603050405020304" pitchFamily="18" charset="0"/>
              </a:rPr>
              <a:t>0.72</a:t>
            </a:r>
            <a:r>
              <a:rPr lang="en-HK" sz="1000" dirty="0">
                <a:solidFill>
                  <a:prstClr val="black"/>
                </a:solidFill>
                <a:latin typeface="Times New Roman" panose="02020603050405020304" pitchFamily="18" charset="0"/>
                <a:ea typeface="SimSun"/>
                <a:cs typeface="Times New Roman" panose="02020603050405020304" pitchFamily="18" charset="0"/>
              </a:rPr>
              <a:t>.</a:t>
            </a:r>
            <a:r>
              <a:rPr sz="820" lang="zh-CN">
                <a:solidFill>
                  <a:srgbClr val="24425A"/>
                </a:solidFill>
                <a:latin typeface="Times New Roman"/>
                <a:ea typeface="SimSun"/>
                <a:cs typeface="Times New Roman"/>
              </a:rPr>
              <a:t>  均匀性系数为 0.74，覆盖率为 0.72。</a:t>
            </a:r>
          </a:p>
        </p:txBody>
      </p:sp>
      <p:sp>
        <p:nvSpPr>
          <p:cNvPr id="21" name="文本框 20">
            <a:extLst>
              <a:ext uri="{FF2B5EF4-FFF2-40B4-BE49-F238E27FC236}">
                <a16:creationId xmlns:a16="http://schemas.microsoft.com/office/drawing/2014/main" id="{B14657C8-4033-4177-ABD4-A0D3FE4B9D19}"/>
              </a:ext>
            </a:extLst>
          </p:cNvPr>
          <p:cNvSpPr txBox="1"/>
          <p:nvPr/>
        </p:nvSpPr>
        <p:spPr>
          <a:xfrm>
            <a:off x="1065607" y="1237378"/>
            <a:ext cx="3334943"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250" dirty="0">
                <a:solidFill>
                  <a:prstClr val="black"/>
                </a:solidFill>
                <a:latin typeface="Times New Roman" panose="02020603050405020304" pitchFamily="18" charset="0"/>
                <a:ea typeface="SimSun"/>
                <a:cs typeface="Times New Roman" panose="02020603050405020304" pitchFamily="18" charset="0"/>
              </a:rPr>
              <a:t>3.5.2 Results of multiple nozzles</a:t>
            </a:r>
            <a:r>
              <a:rPr sz="1025" lang="zh-CN">
                <a:solidFill>
                  <a:srgbClr val="24425A"/>
                </a:solidFill>
                <a:latin typeface="Times New Roman"/>
                <a:ea typeface="SimSun"/>
                <a:cs typeface="Times New Roman"/>
              </a:rPr>
              <a:t>  多喷嘴喷淋结果</a:t>
            </a:r>
          </a:p>
        </p:txBody>
      </p:sp>
      <p:sp>
        <p:nvSpPr>
          <p:cNvPr id="15" name="矩形 14">
            <a:extLst>
              <a:ext uri="{FF2B5EF4-FFF2-40B4-BE49-F238E27FC236}">
                <a16:creationId xmlns:a16="http://schemas.microsoft.com/office/drawing/2014/main" id="{B9D30361-7369-46DA-9620-49D6A90A8091}"/>
              </a:ext>
            </a:extLst>
          </p:cNvPr>
          <p:cNvSpPr/>
          <p:nvPr/>
        </p:nvSpPr>
        <p:spPr>
          <a:xfrm>
            <a:off x="678164" y="937740"/>
            <a:ext cx="10942336" cy="369332"/>
          </a:xfrm>
          <a:prstGeom prst="rect">
            <a:avLst/>
          </a:prstGeom>
        </p:spPr>
        <p:txBody>
          <a:bodyPr wrap="square"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3.5 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6D0E81DE-025E-4176-B7F5-E905DD8D3302}"/>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22</a:t>
            </a:fld>
            <a:endParaRPr lang="en-US" altLang="zh-CN">
              <a:latin typeface="Times New Roman"/>
              <a:ea typeface="SimSun"/>
              <a:cs typeface="Times New Roman"/>
            </a:endParaRPr>
          </a:p>
        </p:txBody>
      </p:sp>
      <p:sp>
        <p:nvSpPr>
          <p:cNvPr id="22" name="矩形 3">
            <a:extLst>
              <a:ext uri="{FF2B5EF4-FFF2-40B4-BE49-F238E27FC236}">
                <a16:creationId xmlns:a16="http://schemas.microsoft.com/office/drawing/2014/main" id="{981081A4-17ED-47E5-A92D-C74F08ECE170}"/>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23" name="矩形 22">
            <a:extLst>
              <a:ext uri="{FF2B5EF4-FFF2-40B4-BE49-F238E27FC236}">
                <a16:creationId xmlns:a16="http://schemas.microsoft.com/office/drawing/2014/main" id="{6CC0698A-1A8C-401D-B546-403765FDA322}"/>
              </a:ext>
            </a:extLst>
          </p:cNvPr>
          <p:cNvSpPr/>
          <p:nvPr/>
        </p:nvSpPr>
        <p:spPr>
          <a:xfrm>
            <a:off x="1480323" y="3263712"/>
            <a:ext cx="2328971" cy="551180"/>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Uniformity coefficient</a:t>
            </a:r>
            <a:r>
              <a:rPr sz="1230" lang="zh-CN">
                <a:solidFill>
                  <a:srgbClr val="24425A"/>
                </a:solidFill>
                <a:latin typeface="Times New Roman"/>
                <a:ea typeface="SimSun"/>
                <a:cs typeface="Times New Roman"/>
              </a:rPr>
              <a:t>  均匀性系数</a:t>
            </a:r>
          </a:p>
        </p:txBody>
      </p:sp>
      <p:sp>
        <p:nvSpPr>
          <p:cNvPr id="24" name="矩形 23">
            <a:extLst>
              <a:ext uri="{FF2B5EF4-FFF2-40B4-BE49-F238E27FC236}">
                <a16:creationId xmlns:a16="http://schemas.microsoft.com/office/drawing/2014/main" id="{A37078DB-BEBA-4BBB-9C0C-BCF534FD04C8}"/>
              </a:ext>
            </a:extLst>
          </p:cNvPr>
          <p:cNvSpPr/>
          <p:nvPr/>
        </p:nvSpPr>
        <p:spPr>
          <a:xfrm>
            <a:off x="6169541" y="3263712"/>
            <a:ext cx="1689886" cy="551180"/>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Coverage ratio</a:t>
            </a:r>
            <a:r>
              <a:rPr sz="1230" lang="zh-CN">
                <a:solidFill>
                  <a:srgbClr val="24425A"/>
                </a:solidFill>
                <a:latin typeface="Times New Roman"/>
                <a:ea typeface="SimSun"/>
                <a:cs typeface="Times New Roman"/>
              </a:rPr>
              <a:t>  覆盖率</a:t>
            </a:r>
          </a:p>
        </p:txBody>
      </p:sp>
      <p:sp>
        <p:nvSpPr>
          <p:cNvPr id="3" name="Rectangle 2">
            <a:extLst>
              <a:ext uri="{FF2B5EF4-FFF2-40B4-BE49-F238E27FC236}">
                <a16:creationId xmlns:a16="http://schemas.microsoft.com/office/drawing/2014/main" id="{B82B9D44-92C7-447B-AF2B-A48FAA6CB0F4}"/>
              </a:ext>
            </a:extLst>
          </p:cNvPr>
          <p:cNvSpPr>
            <a:spLocks noChangeArrowheads="1"/>
          </p:cNvSpPr>
          <p:nvPr/>
        </p:nvSpPr>
        <p:spPr bwMode="auto">
          <a:xfrm>
            <a:off x="1233577" y="3546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4" name="对象 3">
            <a:extLst>
              <a:ext uri="{FF2B5EF4-FFF2-40B4-BE49-F238E27FC236}">
                <a16:creationId xmlns:a16="http://schemas.microsoft.com/office/drawing/2014/main" id="{C33FC933-619B-4D13-82B7-349F555167D5}"/>
              </a:ext>
            </a:extLst>
          </p:cNvPr>
          <p:cNvGraphicFramePr>
            <a:graphicFrameLocks noChangeAspect="1"/>
          </p:cNvGraphicFramePr>
          <p:nvPr>
            <p:extLst>
              <p:ext uri="{D42A27DB-BD31-4B8C-83A1-F6EECF244321}">
                <p14:modId xmlns:p14="http://schemas.microsoft.com/office/powerpoint/2010/main" val="587168674"/>
              </p:ext>
            </p:extLst>
          </p:nvPr>
        </p:nvGraphicFramePr>
        <p:xfrm>
          <a:off x="1705231" y="3468228"/>
          <a:ext cx="3319131" cy="2806090"/>
        </p:xfrm>
        <a:graphic>
          <a:graphicData uri="http://schemas.openxmlformats.org/presentationml/2006/ole">
            <mc:AlternateContent xmlns:mc="http://schemas.openxmlformats.org/markup-compatibility/2006">
              <mc:Choice xmlns:v="urn:schemas-microsoft-com:vml" Requires="v">
                <p:oleObj name="Graph" r:id="rId7" imgW="6107567" imgH="5143222" progId="Origin95.Graph">
                  <p:embed/>
                </p:oleObj>
              </mc:Choice>
              <mc:Fallback>
                <p:oleObj name="Graph" r:id="rId7" imgW="6107567" imgH="5143222" progId="Origin95.Graph">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5231" y="3468228"/>
                        <a:ext cx="3319131" cy="2806090"/>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5317BF5D-9588-451C-9B65-3388997C097B}"/>
              </a:ext>
            </a:extLst>
          </p:cNvPr>
          <p:cNvSpPr>
            <a:spLocks noChangeArrowheads="1"/>
          </p:cNvSpPr>
          <p:nvPr/>
        </p:nvSpPr>
        <p:spPr bwMode="auto">
          <a:xfrm>
            <a:off x="6503102" y="34722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9" name="对象 8">
            <a:extLst>
              <a:ext uri="{FF2B5EF4-FFF2-40B4-BE49-F238E27FC236}">
                <a16:creationId xmlns:a16="http://schemas.microsoft.com/office/drawing/2014/main" id="{CF63ED6A-DA18-48B6-B902-078F7E027B74}"/>
              </a:ext>
            </a:extLst>
          </p:cNvPr>
          <p:cNvGraphicFramePr>
            <a:graphicFrameLocks noChangeAspect="1"/>
          </p:cNvGraphicFramePr>
          <p:nvPr>
            <p:extLst>
              <p:ext uri="{D42A27DB-BD31-4B8C-83A1-F6EECF244321}">
                <p14:modId xmlns:p14="http://schemas.microsoft.com/office/powerpoint/2010/main" val="3117146516"/>
              </p:ext>
            </p:extLst>
          </p:nvPr>
        </p:nvGraphicFramePr>
        <p:xfrm>
          <a:off x="6503102" y="3472210"/>
          <a:ext cx="3319131" cy="2833724"/>
        </p:xfrm>
        <a:graphic>
          <a:graphicData uri="http://schemas.openxmlformats.org/presentationml/2006/ole">
            <mc:AlternateContent xmlns:mc="http://schemas.openxmlformats.org/markup-compatibility/2006">
              <mc:Choice xmlns:v="urn:schemas-microsoft-com:vml" Requires="v">
                <p:oleObj name="Graph" r:id="rId9" imgW="6107567" imgH="5282235" progId="Origin95.Graph">
                  <p:embed/>
                </p:oleObj>
              </mc:Choice>
              <mc:Fallback>
                <p:oleObj name="Graph" r:id="rId9" imgW="6107567" imgH="5282235" progId="Origin95.Graph">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03102" y="3472210"/>
                        <a:ext cx="3319131" cy="2833724"/>
                      </a:xfrm>
                      <a:prstGeom prst="rect">
                        <a:avLst/>
                      </a:prstGeom>
                      <a:noFill/>
                    </p:spPr>
                  </p:pic>
                </p:oleObj>
              </mc:Fallback>
            </mc:AlternateContent>
          </a:graphicData>
        </a:graphic>
      </p:graphicFrame>
      <p:sp>
        <p:nvSpPr>
          <p:cNvPr id="25"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9198697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26B9BE8-4BC3-4600-8861-591984032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080" y="3217800"/>
            <a:ext cx="3479308" cy="2698239"/>
          </a:xfrm>
          <a:prstGeom prst="rect">
            <a:avLst/>
          </a:prstGeom>
        </p:spPr>
      </p:pic>
      <p:pic>
        <p:nvPicPr>
          <p:cNvPr id="3" name="图片 2">
            <a:extLst>
              <a:ext uri="{FF2B5EF4-FFF2-40B4-BE49-F238E27FC236}">
                <a16:creationId xmlns:a16="http://schemas.microsoft.com/office/drawing/2014/main" id="{B57CA2B8-CD4D-4BC2-BDAF-DB95580D22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0142" y="3217801"/>
            <a:ext cx="3459780" cy="2728196"/>
          </a:xfrm>
          <a:prstGeom prst="rect">
            <a:avLst/>
          </a:prstGeom>
        </p:spPr>
      </p:pic>
      <p:sp>
        <p:nvSpPr>
          <p:cNvPr id="6" name="矩形 5">
            <a:extLst>
              <a:ext uri="{FF2B5EF4-FFF2-40B4-BE49-F238E27FC236}">
                <a16:creationId xmlns:a16="http://schemas.microsoft.com/office/drawing/2014/main" id="{C4728E8C-08D8-4CB7-9715-B9B4E0E5F1BE}"/>
              </a:ext>
            </a:extLst>
          </p:cNvPr>
          <p:cNvSpPr/>
          <p:nvPr/>
        </p:nvSpPr>
        <p:spPr>
          <a:xfrm>
            <a:off x="1435864" y="1629369"/>
            <a:ext cx="3204723"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Original arrangement scheme</a:t>
            </a:r>
            <a:r>
              <a:rPr sz="984" lang="zh-CN">
                <a:solidFill>
                  <a:srgbClr val="24425A"/>
                </a:solidFill>
                <a:latin typeface="Times New Roman"/>
                <a:ea typeface="SimSun"/>
                <a:cs typeface="Times New Roman"/>
              </a:rPr>
              <a:t>  原始布置方案</a:t>
            </a:r>
          </a:p>
        </p:txBody>
      </p:sp>
      <p:sp>
        <p:nvSpPr>
          <p:cNvPr id="12" name="矩形 11">
            <a:extLst>
              <a:ext uri="{FF2B5EF4-FFF2-40B4-BE49-F238E27FC236}">
                <a16:creationId xmlns:a16="http://schemas.microsoft.com/office/drawing/2014/main" id="{217AF81E-EF44-45C7-A6E4-50B612F2B928}"/>
              </a:ext>
            </a:extLst>
          </p:cNvPr>
          <p:cNvSpPr/>
          <p:nvPr/>
        </p:nvSpPr>
        <p:spPr>
          <a:xfrm>
            <a:off x="2427633" y="6163669"/>
            <a:ext cx="2871837" cy="338554"/>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Wettability value: 0.48</a:t>
            </a:r>
            <a:r>
              <a:rPr sz="984" lang="zh-CN">
                <a:solidFill>
                  <a:srgbClr val="24425A"/>
                </a:solidFill>
                <a:latin typeface="Times New Roman"/>
                <a:ea typeface="SimSun"/>
                <a:cs typeface="Times New Roman"/>
              </a:rPr>
              <a:t>  润湿系数：0.48</a:t>
            </a:r>
          </a:p>
        </p:txBody>
      </p:sp>
      <p:sp>
        <p:nvSpPr>
          <p:cNvPr id="17" name="矩形 16">
            <a:extLst>
              <a:ext uri="{FF2B5EF4-FFF2-40B4-BE49-F238E27FC236}">
                <a16:creationId xmlns:a16="http://schemas.microsoft.com/office/drawing/2014/main" id="{C2D13C86-5010-4DE5-A895-B7F88753292E}"/>
              </a:ext>
            </a:extLst>
          </p:cNvPr>
          <p:cNvSpPr/>
          <p:nvPr/>
        </p:nvSpPr>
        <p:spPr>
          <a:xfrm>
            <a:off x="2324250" y="5886670"/>
            <a:ext cx="27715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3.5.3 </a:t>
            </a:r>
            <a:r>
              <a:rPr lang="en-HK" sz="1200" dirty="0">
                <a:solidFill>
                  <a:prstClr val="black"/>
                </a:solidFill>
                <a:latin typeface="Times New Roman" panose="02020603050405020304" pitchFamily="18" charset="0"/>
                <a:ea typeface="SimSun"/>
                <a:cs typeface="Times New Roman" panose="02020603050405020304" pitchFamily="18" charset="0"/>
              </a:rPr>
              <a:t>Original arrangement scheme </a:t>
            </a:r>
          </a:p>
        </p:txBody>
      </p:sp>
      <p:sp>
        <p:nvSpPr>
          <p:cNvPr id="21" name="文本框 20">
            <a:extLst>
              <a:ext uri="{FF2B5EF4-FFF2-40B4-BE49-F238E27FC236}">
                <a16:creationId xmlns:a16="http://schemas.microsoft.com/office/drawing/2014/main" id="{B14657C8-4033-4177-ABD4-A0D3FE4B9D19}"/>
              </a:ext>
            </a:extLst>
          </p:cNvPr>
          <p:cNvSpPr txBox="1"/>
          <p:nvPr/>
        </p:nvSpPr>
        <p:spPr>
          <a:xfrm>
            <a:off x="1058107" y="1273605"/>
            <a:ext cx="6867071"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3.5.3 Comparison between original and optimized schemes</a:t>
            </a:r>
            <a:r>
              <a:rPr sz="1230" lang="zh-CN">
                <a:solidFill>
                  <a:srgbClr val="24425A"/>
                </a:solidFill>
                <a:latin typeface="Times New Roman"/>
                <a:ea typeface="SimSun"/>
                <a:cs typeface="Times New Roman"/>
              </a:rPr>
              <a:t>  原始与优化布置方案对比</a:t>
            </a:r>
          </a:p>
        </p:txBody>
      </p:sp>
      <p:pic>
        <p:nvPicPr>
          <p:cNvPr id="15" name="图片 14">
            <a:extLst>
              <a:ext uri="{FF2B5EF4-FFF2-40B4-BE49-F238E27FC236}">
                <a16:creationId xmlns:a16="http://schemas.microsoft.com/office/drawing/2014/main" id="{281A0B71-939A-459F-9895-FE0BD0F58189}"/>
              </a:ext>
            </a:extLst>
          </p:cNvPr>
          <p:cNvPicPr/>
          <p:nvPr/>
        </p:nvPicPr>
        <p:blipFill rotWithShape="1">
          <a:blip r:embed="rId5" cstate="print">
            <a:extLst>
              <a:ext uri="{28A0092B-C50C-407E-A947-70E740481C1C}">
                <a14:useLocalDpi xmlns:a14="http://schemas.microsoft.com/office/drawing/2010/main" val="0"/>
              </a:ext>
            </a:extLst>
          </a:blip>
          <a:srcRect r="53313"/>
          <a:stretch/>
        </p:blipFill>
        <p:spPr bwMode="auto">
          <a:xfrm>
            <a:off x="2572719" y="2060102"/>
            <a:ext cx="1440000" cy="1263454"/>
          </a:xfrm>
          <a:prstGeom prst="rect">
            <a:avLst/>
          </a:prstGeom>
          <a:ln>
            <a:noFill/>
          </a:ln>
          <a:extLst>
            <a:ext uri="{53640926-AAD7-44D8-BBD7-CCE9431645EC}">
              <a14:shadowObscured xmlns:a14="http://schemas.microsoft.com/office/drawing/2010/main"/>
            </a:ext>
          </a:extLst>
        </p:spPr>
      </p:pic>
      <p:pic>
        <p:nvPicPr>
          <p:cNvPr id="16" name="图片 15">
            <a:extLst>
              <a:ext uri="{FF2B5EF4-FFF2-40B4-BE49-F238E27FC236}">
                <a16:creationId xmlns:a16="http://schemas.microsoft.com/office/drawing/2014/main" id="{5E5CFAC3-E335-4901-BB86-4EFB9FB40F8A}"/>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7491763" y="2030867"/>
            <a:ext cx="1263600" cy="1263600"/>
          </a:xfrm>
          <a:prstGeom prst="rect">
            <a:avLst/>
          </a:prstGeom>
        </p:spPr>
      </p:pic>
      <p:sp>
        <p:nvSpPr>
          <p:cNvPr id="22" name="矩形 21">
            <a:extLst>
              <a:ext uri="{FF2B5EF4-FFF2-40B4-BE49-F238E27FC236}">
                <a16:creationId xmlns:a16="http://schemas.microsoft.com/office/drawing/2014/main" id="{FBE49DA3-3150-407A-A87B-4E36686596FE}"/>
              </a:ext>
            </a:extLst>
          </p:cNvPr>
          <p:cNvSpPr/>
          <p:nvPr/>
        </p:nvSpPr>
        <p:spPr>
          <a:xfrm>
            <a:off x="7092086" y="5916039"/>
            <a:ext cx="2771564"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3.5.4 </a:t>
            </a:r>
            <a:r>
              <a:rPr lang="en-HK" sz="1200" dirty="0">
                <a:solidFill>
                  <a:prstClr val="black"/>
                </a:solidFill>
                <a:latin typeface="Times New Roman" panose="02020603050405020304" pitchFamily="18" charset="0"/>
                <a:ea typeface="SimSun"/>
                <a:cs typeface="Times New Roman" panose="02020603050405020304" pitchFamily="18" charset="0"/>
              </a:rPr>
              <a:t>Optimized arrangement scheme</a:t>
            </a:r>
          </a:p>
        </p:txBody>
      </p:sp>
      <p:sp>
        <p:nvSpPr>
          <p:cNvPr id="23" name="矩形 22">
            <a:extLst>
              <a:ext uri="{FF2B5EF4-FFF2-40B4-BE49-F238E27FC236}">
                <a16:creationId xmlns:a16="http://schemas.microsoft.com/office/drawing/2014/main" id="{65CD633F-5A8D-486B-8716-9D8B8A5261DB}"/>
              </a:ext>
            </a:extLst>
          </p:cNvPr>
          <p:cNvSpPr/>
          <p:nvPr/>
        </p:nvSpPr>
        <p:spPr>
          <a:xfrm>
            <a:off x="6064560" y="1612079"/>
            <a:ext cx="3467616"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250" dirty="0">
                <a:solidFill>
                  <a:prstClr val="black"/>
                </a:solidFill>
                <a:latin typeface="Times New Roman" panose="02020603050405020304" pitchFamily="18" charset="0"/>
                <a:ea typeface="SimSun"/>
                <a:cs typeface="Times New Roman" panose="02020603050405020304" pitchFamily="18" charset="0"/>
              </a:rPr>
              <a:t>Optimized arrangement scheme </a:t>
            </a:r>
            <a:r>
              <a:rPr sz="1025" lang="zh-CN">
                <a:solidFill>
                  <a:srgbClr val="24425A"/>
                </a:solidFill>
                <a:latin typeface="Times New Roman"/>
                <a:ea typeface="SimSun"/>
                <a:cs typeface="Times New Roman"/>
              </a:rPr>
              <a:t>  优化布置方案</a:t>
            </a:r>
          </a:p>
        </p:txBody>
      </p:sp>
      <p:sp>
        <p:nvSpPr>
          <p:cNvPr id="28" name="矩形 27">
            <a:extLst>
              <a:ext uri="{FF2B5EF4-FFF2-40B4-BE49-F238E27FC236}">
                <a16:creationId xmlns:a16="http://schemas.microsoft.com/office/drawing/2014/main" id="{D4976721-7031-423F-B9FF-99CFDAE48F29}"/>
              </a:ext>
            </a:extLst>
          </p:cNvPr>
          <p:cNvSpPr/>
          <p:nvPr/>
        </p:nvSpPr>
        <p:spPr>
          <a:xfrm>
            <a:off x="6983368" y="6204889"/>
            <a:ext cx="2697817" cy="338554"/>
          </a:xfrm>
          <a:prstGeom prst="rect">
            <a:avLst/>
          </a:prstGeom>
        </p:spPr>
        <p:txBody>
          <a:bodyPr wrap="square" tIns="0" bIns="0">
            <a:noAutofit/>
          </a:bodyPr>
          <a:lstStyle/>
          <a:p>
            <a:pPr marL="285750" indent="-285750" defTabSz="457200" eaLnBrk="1" fontAlgn="auto" hangingPunct="1" algn="l">
              <a:buFont typeface="Arial" panose="020B0604020202020204" pitchFamily="34" charset="0"/>
              <a:buChar char="•"/>
              <a:lnSpc>
                <a:spcPct val="108000"/>
              </a:lnSpc>
              <a:spcAft>
                <a:spcPts val="300"/>
              </a:spcAft>
            </a:pPr>
            <a:r>
              <a:rPr lang="en-HK" sz="1100" dirty="0">
                <a:solidFill>
                  <a:prstClr val="black"/>
                </a:solidFill>
                <a:latin typeface="Times New Roman" panose="02020603050405020304" pitchFamily="18" charset="0"/>
                <a:ea typeface="SimSun"/>
                <a:cs typeface="Times New Roman" panose="02020603050405020304" pitchFamily="18" charset="0"/>
              </a:rPr>
              <a:t>Wettability value: 0.89</a:t>
            </a:r>
            <a:r>
              <a:rPr sz="902" lang="zh-CN">
                <a:solidFill>
                  <a:srgbClr val="24425A"/>
                </a:solidFill>
                <a:latin typeface="Times New Roman"/>
                <a:ea typeface="SimSun"/>
                <a:cs typeface="Times New Roman"/>
              </a:rPr>
              <a:t>  润湿系数：0.89</a:t>
            </a:r>
          </a:p>
        </p:txBody>
      </p:sp>
      <p:sp>
        <p:nvSpPr>
          <p:cNvPr id="29" name="矩形 28">
            <a:extLst>
              <a:ext uri="{FF2B5EF4-FFF2-40B4-BE49-F238E27FC236}">
                <a16:creationId xmlns:a16="http://schemas.microsoft.com/office/drawing/2014/main" id="{26F1B659-8693-4A46-8667-A91895DF15EA}"/>
              </a:ext>
            </a:extLst>
          </p:cNvPr>
          <p:cNvSpPr/>
          <p:nvPr/>
        </p:nvSpPr>
        <p:spPr>
          <a:xfrm>
            <a:off x="9316256" y="6214031"/>
            <a:ext cx="729859" cy="369332"/>
          </a:xfrm>
          <a:prstGeom prst="rect">
            <a:avLst/>
          </a:prstGeom>
        </p:spPr>
        <p:txBody>
          <a:bodyPr wrap="square">
            <a:spAutoFit/>
          </a:bodyPr>
          <a:lstStyle/>
          <a:p>
            <a:pPr defTabSz="457200" eaLnBrk="1" fontAlgn="auto" hangingPunct="1">
              <a:spcBef>
                <a:spcPts val="0"/>
              </a:spcBef>
              <a:spcAft>
                <a:spcPts val="0"/>
              </a:spcAft>
            </a:pPr>
            <a:r>
              <a:rPr lang="en-HK" sz="1800" b="1" dirty="0">
                <a:solidFill>
                  <a:srgbClr val="A30000"/>
                </a:solidFill>
                <a:latin typeface="Times New Roman" panose="02020603050405020304" pitchFamily="18" charset="0"/>
                <a:ea typeface="SimSun"/>
                <a:cs typeface="Times New Roman" panose="02020603050405020304" pitchFamily="18" charset="0"/>
              </a:rPr>
              <a:t>46% </a:t>
            </a:r>
          </a:p>
        </p:txBody>
      </p:sp>
      <p:sp>
        <p:nvSpPr>
          <p:cNvPr id="9" name="箭头: 上 8">
            <a:extLst>
              <a:ext uri="{FF2B5EF4-FFF2-40B4-BE49-F238E27FC236}">
                <a16:creationId xmlns:a16="http://schemas.microsoft.com/office/drawing/2014/main" id="{EF3D36B4-A021-41F9-8941-CBE13AB75163}"/>
              </a:ext>
            </a:extLst>
          </p:cNvPr>
          <p:cNvSpPr/>
          <p:nvPr/>
        </p:nvSpPr>
        <p:spPr bwMode="auto">
          <a:xfrm>
            <a:off x="9902198" y="6193037"/>
            <a:ext cx="177222" cy="338554"/>
          </a:xfrm>
          <a:prstGeom prst="upArrow">
            <a:avLst/>
          </a:prstGeom>
          <a:solidFill>
            <a:srgbClr val="A30000"/>
          </a:solidFill>
          <a:ln w="9525" cap="flat" cmpd="sng" algn="ctr">
            <a:solidFill>
              <a:srgbClr val="A3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18" name="矩形 17">
            <a:extLst>
              <a:ext uri="{FF2B5EF4-FFF2-40B4-BE49-F238E27FC236}">
                <a16:creationId xmlns:a16="http://schemas.microsoft.com/office/drawing/2014/main" id="{21CD1251-FE7E-4EFB-8C00-DEB270DB1448}"/>
              </a:ext>
            </a:extLst>
          </p:cNvPr>
          <p:cNvSpPr/>
          <p:nvPr/>
        </p:nvSpPr>
        <p:spPr>
          <a:xfrm>
            <a:off x="818163" y="962422"/>
            <a:ext cx="10802337" cy="369332"/>
          </a:xfrm>
          <a:prstGeom prst="rect">
            <a:avLst/>
          </a:prstGeom>
        </p:spPr>
        <p:txBody>
          <a:bodyPr wrap="square"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3.5 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D6143030-507C-45D8-AC60-1D401236027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23</a:t>
            </a:fld>
            <a:endParaRPr lang="en-US" altLang="zh-CN" dirty="0">
              <a:latin typeface="Times New Roman"/>
              <a:ea typeface="SimSun"/>
              <a:cs typeface="Times New Roman"/>
            </a:endParaRPr>
          </a:p>
        </p:txBody>
      </p:sp>
      <p:sp>
        <p:nvSpPr>
          <p:cNvPr id="24" name="矩形 3">
            <a:extLst>
              <a:ext uri="{FF2B5EF4-FFF2-40B4-BE49-F238E27FC236}">
                <a16:creationId xmlns:a16="http://schemas.microsoft.com/office/drawing/2014/main" id="{C07D2443-0D14-467B-999C-206A4DCAB288}"/>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30"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35330556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4F42FD25-23FF-473E-BC8E-55085292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730" y="4799818"/>
            <a:ext cx="403860" cy="396240"/>
          </a:xfrm>
          <a:prstGeom prst="rect">
            <a:avLst/>
          </a:prstGeom>
        </p:spPr>
      </p:pic>
      <p:pic>
        <p:nvPicPr>
          <p:cNvPr id="14" name="图片 13">
            <a:extLst>
              <a:ext uri="{FF2B5EF4-FFF2-40B4-BE49-F238E27FC236}">
                <a16:creationId xmlns:a16="http://schemas.microsoft.com/office/drawing/2014/main" id="{995D16E1-70DB-46F2-9239-1ADC3F96D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5091" y="4922138"/>
            <a:ext cx="403860" cy="396240"/>
          </a:xfrm>
          <a:prstGeom prst="rect">
            <a:avLst/>
          </a:prstGeom>
        </p:spPr>
      </p:pic>
      <p:sp>
        <p:nvSpPr>
          <p:cNvPr id="16" name="矩形 15">
            <a:extLst>
              <a:ext uri="{FF2B5EF4-FFF2-40B4-BE49-F238E27FC236}">
                <a16:creationId xmlns:a16="http://schemas.microsoft.com/office/drawing/2014/main" id="{34568366-1EBB-4BEA-9843-705BF866DA92}"/>
              </a:ext>
            </a:extLst>
          </p:cNvPr>
          <p:cNvSpPr/>
          <p:nvPr/>
        </p:nvSpPr>
        <p:spPr>
          <a:xfrm>
            <a:off x="2106611" y="5091438"/>
            <a:ext cx="3732616"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3.5.5 </a:t>
            </a:r>
            <a:r>
              <a:rPr lang="en-HK" sz="1200" dirty="0">
                <a:solidFill>
                  <a:prstClr val="black"/>
                </a:solidFill>
                <a:latin typeface="Times New Roman" panose="02020603050405020304" pitchFamily="18" charset="0"/>
                <a:ea typeface="SimSun"/>
                <a:cs typeface="Times New Roman" panose="02020603050405020304" pitchFamily="18" charset="0"/>
              </a:rPr>
              <a:t>Average value of the dehumidification rate </a:t>
            </a: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17" name="矩形 16">
            <a:extLst>
              <a:ext uri="{FF2B5EF4-FFF2-40B4-BE49-F238E27FC236}">
                <a16:creationId xmlns:a16="http://schemas.microsoft.com/office/drawing/2014/main" id="{3EC4E648-8DBF-4B25-87C4-3AFDBCA0FCF7}"/>
              </a:ext>
            </a:extLst>
          </p:cNvPr>
          <p:cNvSpPr/>
          <p:nvPr/>
        </p:nvSpPr>
        <p:spPr>
          <a:xfrm>
            <a:off x="7161255" y="4714833"/>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15 </a:t>
            </a:r>
            <a:r>
              <a:rPr lang="en-HK" sz="1200" dirty="0">
                <a:solidFill>
                  <a:prstClr val="black"/>
                </a:solidFill>
                <a:latin typeface="Times New Roman" panose="02020603050405020304" pitchFamily="18" charset="0"/>
                <a:ea typeface="SimSun"/>
                <a:cs typeface="Times New Roman" panose="02020603050405020304" pitchFamily="18" charset="0"/>
              </a:rPr>
              <a:t>Average value of COP</a:t>
            </a:r>
          </a:p>
        </p:txBody>
      </p:sp>
      <p:sp>
        <p:nvSpPr>
          <p:cNvPr id="18" name="矩形 17">
            <a:extLst>
              <a:ext uri="{FF2B5EF4-FFF2-40B4-BE49-F238E27FC236}">
                <a16:creationId xmlns:a16="http://schemas.microsoft.com/office/drawing/2014/main" id="{B3B165FD-229B-457C-BFBB-10E12C3FB96D}"/>
              </a:ext>
            </a:extLst>
          </p:cNvPr>
          <p:cNvSpPr/>
          <p:nvPr/>
        </p:nvSpPr>
        <p:spPr>
          <a:xfrm>
            <a:off x="2371700" y="5553103"/>
            <a:ext cx="7421361" cy="1016325"/>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550" dirty="0">
                <a:solidFill>
                  <a:prstClr val="black"/>
                </a:solidFill>
                <a:latin typeface="Times New Roman" panose="02020603050405020304" pitchFamily="18" charset="0"/>
                <a:ea typeface="SimSun"/>
                <a:cs typeface="Times New Roman" panose="02020603050405020304" pitchFamily="18" charset="0"/>
              </a:rPr>
              <a:t>The improvement of </a:t>
            </a:r>
            <a:r>
              <a:rPr lang="en-HK" sz="1550" dirty="0">
                <a:solidFill>
                  <a:srgbClr val="A30000"/>
                </a:solidFill>
                <a:latin typeface="Times New Roman" panose="02020603050405020304" pitchFamily="18" charset="0"/>
                <a:ea typeface="SimSun"/>
                <a:cs typeface="Times New Roman" panose="02020603050405020304" pitchFamily="18" charset="0"/>
              </a:rPr>
              <a:t>dehumidification rate </a:t>
            </a:r>
            <a:r>
              <a:rPr lang="en-HK" sz="1550" dirty="0">
                <a:solidFill>
                  <a:prstClr val="black"/>
                </a:solidFill>
                <a:latin typeface="Times New Roman" panose="02020603050405020304" pitchFamily="18" charset="0"/>
                <a:ea typeface="SimSun"/>
                <a:cs typeface="Times New Roman" panose="02020603050405020304" pitchFamily="18" charset="0"/>
              </a:rPr>
              <a:t>is </a:t>
            </a:r>
            <a:r>
              <a:rPr lang="en-HK" sz="1550" dirty="0">
                <a:solidFill>
                  <a:srgbClr val="A30000"/>
                </a:solidFill>
                <a:latin typeface="Times New Roman" panose="02020603050405020304" pitchFamily="18" charset="0"/>
                <a:ea typeface="SimSun"/>
                <a:cs typeface="Times New Roman" panose="02020603050405020304" pitchFamily="18" charset="0"/>
              </a:rPr>
              <a:t>5.85%</a:t>
            </a:r>
            <a:r>
              <a:rPr lang="en-HK" sz="1550" dirty="0">
                <a:solidFill>
                  <a:prstClr val="black"/>
                </a:solidFill>
                <a:latin typeface="Times New Roman" panose="02020603050405020304" pitchFamily="18" charset="0"/>
                <a:ea typeface="SimSun"/>
                <a:cs typeface="Times New Roman" panose="02020603050405020304" pitchFamily="18" charset="0"/>
              </a:rPr>
              <a:t> </a:t>
            </a:r>
            <a:r>
              <a:rPr lang="en-HK" sz="1550" dirty="0">
                <a:solidFill>
                  <a:prstClr val="black"/>
                </a:solidFill>
                <a:latin typeface="Times New Roman" panose="020B0604020202020204" pitchFamily="34" charset="0"/>
                <a:ea typeface="SimSun"/>
                <a:cs typeface="Times New Roman" panose="020B0604020202020204" pitchFamily="34" charset="0"/>
              </a:rPr>
              <a:t>.</a:t>
            </a:r>
            <a:br/>
            <a:r>
              <a:rPr sz="1271" lang="zh-CN">
                <a:solidFill>
                  <a:srgbClr val="24425A"/>
                </a:solidFill>
                <a:latin typeface="Times New Roman"/>
                <a:ea typeface="SimSun"/>
                <a:cs typeface="Times New Roman"/>
              </a:rPr>
              <a:t>除湿率提高 5.85%。</a:t>
            </a:r>
          </a:p>
          <a:p>
            <a:pPr marL="285750" indent="-285750" algn="l">
              <a:buFont typeface="Arial" panose="020B0604020202020204" pitchFamily="34" charset="0"/>
              <a:buChar char="•"/>
              <a:lnSpc>
                <a:spcPct val="108000"/>
              </a:lnSpc>
              <a:spcAft>
                <a:spcPts val="300"/>
              </a:spcAft>
            </a:pPr>
            <a:r>
              <a:rPr lang="en-HK" sz="1550" dirty="0">
                <a:solidFill>
                  <a:prstClr val="black"/>
                </a:solidFill>
                <a:latin typeface="Times New Roman" panose="02020603050405020304" pitchFamily="18" charset="0"/>
                <a:ea typeface="SimSun"/>
                <a:cs typeface="Times New Roman" panose="02020603050405020304" pitchFamily="18" charset="0"/>
              </a:rPr>
              <a:t>The improvement of </a:t>
            </a:r>
            <a:r>
              <a:rPr lang="en-HK" sz="1550" dirty="0">
                <a:solidFill>
                  <a:srgbClr val="A30000"/>
                </a:solidFill>
                <a:latin typeface="Times New Roman" panose="02020603050405020304" pitchFamily="18" charset="0"/>
                <a:ea typeface="SimSun"/>
                <a:cs typeface="Times New Roman" panose="02020603050405020304" pitchFamily="18" charset="0"/>
              </a:rPr>
              <a:t>COP</a:t>
            </a:r>
            <a:r>
              <a:rPr lang="en-HK" sz="1550" dirty="0">
                <a:solidFill>
                  <a:prstClr val="black"/>
                </a:solidFill>
                <a:latin typeface="Times New Roman" panose="02020603050405020304" pitchFamily="18" charset="0"/>
                <a:ea typeface="SimSun"/>
                <a:cs typeface="Times New Roman" panose="02020603050405020304" pitchFamily="18" charset="0"/>
              </a:rPr>
              <a:t> value is </a:t>
            </a:r>
            <a:r>
              <a:rPr lang="en-HK" sz="1550" dirty="0">
                <a:solidFill>
                  <a:srgbClr val="A30000"/>
                </a:solidFill>
                <a:latin typeface="Times New Roman" panose="02020603050405020304" pitchFamily="18" charset="0"/>
                <a:ea typeface="SimSun"/>
                <a:cs typeface="Times New Roman" panose="02020603050405020304" pitchFamily="18" charset="0"/>
              </a:rPr>
              <a:t>16% </a:t>
            </a:r>
            <a:r>
              <a:rPr lang="en-HK" sz="1550" dirty="0">
                <a:solidFill>
                  <a:prstClr val="black"/>
                </a:solidFill>
                <a:latin typeface="Times New Roman" panose="02020603050405020304" pitchFamily="18" charset="0"/>
                <a:ea typeface="SimSun"/>
                <a:cs typeface="Times New Roman" panose="02020603050405020304" pitchFamily="18" charset="0"/>
              </a:rPr>
              <a:t>.</a:t>
            </a:r>
            <a:br/>
            <a:r>
              <a:rPr sz="1271" lang="zh-CN">
                <a:solidFill>
                  <a:srgbClr val="24425A"/>
                </a:solidFill>
                <a:latin typeface="Times New Roman"/>
                <a:ea typeface="SimSun"/>
                <a:cs typeface="Times New Roman"/>
              </a:rPr>
              <a:t>性能系数（COP）提高 16%。</a:t>
            </a:r>
          </a:p>
        </p:txBody>
      </p:sp>
      <p:sp>
        <p:nvSpPr>
          <p:cNvPr id="12" name="文本框 11">
            <a:extLst>
              <a:ext uri="{FF2B5EF4-FFF2-40B4-BE49-F238E27FC236}">
                <a16:creationId xmlns:a16="http://schemas.microsoft.com/office/drawing/2014/main" id="{5631AB29-848B-4391-9135-3AB5EB159ED0}"/>
              </a:ext>
            </a:extLst>
          </p:cNvPr>
          <p:cNvSpPr txBox="1"/>
          <p:nvPr/>
        </p:nvSpPr>
        <p:spPr>
          <a:xfrm>
            <a:off x="1149560" y="1325037"/>
            <a:ext cx="6867071"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350" dirty="0">
                <a:solidFill>
                  <a:prstClr val="black"/>
                </a:solidFill>
                <a:latin typeface="Times New Roman" panose="02020603050405020304" pitchFamily="18" charset="0"/>
                <a:ea typeface="SimSun"/>
                <a:cs typeface="Times New Roman" panose="02020603050405020304" pitchFamily="18" charset="0"/>
              </a:rPr>
              <a:t>3.5.4 Performance improvement with optimized nozzle arrangement</a:t>
            </a:r>
            <a:r>
              <a:rPr sz="1107" lang="zh-CN">
                <a:solidFill>
                  <a:srgbClr val="24425A"/>
                </a:solidFill>
                <a:latin typeface="Times New Roman"/>
                <a:ea typeface="SimSun"/>
                <a:cs typeface="Times New Roman"/>
              </a:rPr>
              <a:t>  优化喷嘴布置带来的性能提升</a:t>
            </a:r>
          </a:p>
        </p:txBody>
      </p:sp>
      <p:pic>
        <p:nvPicPr>
          <p:cNvPr id="3" name="图片 2">
            <a:extLst>
              <a:ext uri="{FF2B5EF4-FFF2-40B4-BE49-F238E27FC236}">
                <a16:creationId xmlns:a16="http://schemas.microsoft.com/office/drawing/2014/main" id="{628488B4-BF20-401B-A0CC-A9F331195E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7594" y="2113065"/>
            <a:ext cx="3467198" cy="2905163"/>
          </a:xfrm>
          <a:prstGeom prst="rect">
            <a:avLst/>
          </a:prstGeom>
        </p:spPr>
      </p:pic>
      <p:pic>
        <p:nvPicPr>
          <p:cNvPr id="19" name="图片 18">
            <a:extLst>
              <a:ext uri="{FF2B5EF4-FFF2-40B4-BE49-F238E27FC236}">
                <a16:creationId xmlns:a16="http://schemas.microsoft.com/office/drawing/2014/main" id="{AA5372B4-9714-4EE0-8851-F064274F08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4815" y="2227872"/>
            <a:ext cx="3299746" cy="2888230"/>
          </a:xfrm>
          <a:prstGeom prst="rect">
            <a:avLst/>
          </a:prstGeom>
        </p:spPr>
      </p:pic>
      <p:sp>
        <p:nvSpPr>
          <p:cNvPr id="20" name="矩形 19">
            <a:extLst>
              <a:ext uri="{FF2B5EF4-FFF2-40B4-BE49-F238E27FC236}">
                <a16:creationId xmlns:a16="http://schemas.microsoft.com/office/drawing/2014/main" id="{7A1E5716-2774-4AB8-BE52-30382057EF8E}"/>
              </a:ext>
            </a:extLst>
          </p:cNvPr>
          <p:cNvSpPr/>
          <p:nvPr/>
        </p:nvSpPr>
        <p:spPr>
          <a:xfrm>
            <a:off x="1462689" y="1769935"/>
            <a:ext cx="2428870"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For dehumidification</a:t>
            </a:r>
            <a:r>
              <a:rPr sz="1230" lang="zh-CN">
                <a:solidFill>
                  <a:srgbClr val="24425A"/>
                </a:solidFill>
                <a:latin typeface="Times New Roman"/>
                <a:ea typeface="SimSun"/>
                <a:cs typeface="Times New Roman"/>
              </a:rPr>
              <a:t>  除湿性能</a:t>
            </a:r>
          </a:p>
        </p:txBody>
      </p:sp>
      <p:sp>
        <p:nvSpPr>
          <p:cNvPr id="21" name="矩形 20">
            <a:extLst>
              <a:ext uri="{FF2B5EF4-FFF2-40B4-BE49-F238E27FC236}">
                <a16:creationId xmlns:a16="http://schemas.microsoft.com/office/drawing/2014/main" id="{D58F90EF-8332-4CF8-9B57-86FE30E52EB6}"/>
              </a:ext>
            </a:extLst>
          </p:cNvPr>
          <p:cNvSpPr/>
          <p:nvPr/>
        </p:nvSpPr>
        <p:spPr>
          <a:xfrm>
            <a:off x="6167022" y="1800039"/>
            <a:ext cx="1849609" cy="386334"/>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HK" sz="950" dirty="0">
                <a:solidFill>
                  <a:prstClr val="black"/>
                </a:solidFill>
                <a:latin typeface="Times New Roman" panose="02020603050405020304" pitchFamily="18" charset="0"/>
                <a:ea typeface="SimSun"/>
                <a:cs typeface="Times New Roman" panose="02020603050405020304" pitchFamily="18" charset="0"/>
              </a:rPr>
              <a:t>For COP value</a:t>
            </a:r>
            <a:r>
              <a:rPr sz="779" lang="zh-CN">
                <a:solidFill>
                  <a:srgbClr val="24425A"/>
                </a:solidFill>
                <a:latin typeface="Times New Roman"/>
                <a:ea typeface="SimSun"/>
                <a:cs typeface="Times New Roman"/>
              </a:rPr>
              <a:t>  性能系数（COP）</a:t>
            </a:r>
          </a:p>
        </p:txBody>
      </p:sp>
      <p:sp>
        <p:nvSpPr>
          <p:cNvPr id="22" name="矩形 21">
            <a:extLst>
              <a:ext uri="{FF2B5EF4-FFF2-40B4-BE49-F238E27FC236}">
                <a16:creationId xmlns:a16="http://schemas.microsoft.com/office/drawing/2014/main" id="{64822A32-C550-4CE8-AF40-174A09E39595}"/>
              </a:ext>
            </a:extLst>
          </p:cNvPr>
          <p:cNvSpPr/>
          <p:nvPr/>
        </p:nvSpPr>
        <p:spPr>
          <a:xfrm>
            <a:off x="844778" y="937187"/>
            <a:ext cx="10775722" cy="369332"/>
          </a:xfrm>
          <a:prstGeom prst="rect">
            <a:avLst/>
          </a:prstGeom>
        </p:spPr>
        <p:txBody>
          <a:bodyPr wrap="square"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3.5 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876FC50E-68FC-43B7-BAE5-7142E3986B0C}"/>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24</a:t>
            </a:fld>
            <a:endParaRPr lang="en-US" altLang="zh-CN">
              <a:latin typeface="Times New Roman"/>
              <a:ea typeface="SimSun"/>
              <a:cs typeface="Times New Roman"/>
            </a:endParaRPr>
          </a:p>
        </p:txBody>
      </p:sp>
      <p:sp>
        <p:nvSpPr>
          <p:cNvPr id="24" name="矩形 3">
            <a:extLst>
              <a:ext uri="{FF2B5EF4-FFF2-40B4-BE49-F238E27FC236}">
                <a16:creationId xmlns:a16="http://schemas.microsoft.com/office/drawing/2014/main" id="{6B8E4C10-AE51-44EF-BFD9-04B2F744F463}"/>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25" name="矩形 24">
            <a:extLst>
              <a:ext uri="{FF2B5EF4-FFF2-40B4-BE49-F238E27FC236}">
                <a16:creationId xmlns:a16="http://schemas.microsoft.com/office/drawing/2014/main" id="{6786030D-C7EA-4D06-9765-8B90B1BDE786}"/>
              </a:ext>
            </a:extLst>
          </p:cNvPr>
          <p:cNvSpPr/>
          <p:nvPr/>
        </p:nvSpPr>
        <p:spPr>
          <a:xfrm>
            <a:off x="7091826" y="5118044"/>
            <a:ext cx="3732616"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3.5.6 </a:t>
            </a:r>
            <a:r>
              <a:rPr lang="en-HK" sz="1200" dirty="0">
                <a:solidFill>
                  <a:prstClr val="black"/>
                </a:solidFill>
                <a:latin typeface="Times New Roman" panose="02020603050405020304" pitchFamily="18" charset="0"/>
                <a:ea typeface="SimSun"/>
                <a:cs typeface="Times New Roman" panose="02020603050405020304" pitchFamily="18" charset="0"/>
              </a:rPr>
              <a:t>Average value of the COP</a:t>
            </a: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26"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喷淋分布的 FDM 建模与优化</a:t>
            </a:r>
          </a:p>
        </p:txBody>
      </p:sp>
    </p:spTree>
    <p:extLst>
      <p:ext uri="{BB962C8B-B14F-4D97-AF65-F5344CB8AC3E}">
        <p14:creationId xmlns:p14="http://schemas.microsoft.com/office/powerpoint/2010/main" val="1154817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25</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rgbClr val="C00000"/>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246297694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7CB8AF9-DC9E-4161-A939-0CC337370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46" y="1980471"/>
            <a:ext cx="2729792" cy="4796950"/>
          </a:xfrm>
          <a:prstGeom prst="rect">
            <a:avLst/>
          </a:prstGeom>
        </p:spPr>
      </p:pic>
      <p:sp>
        <p:nvSpPr>
          <p:cNvPr id="8" name="矩形 7">
            <a:extLst>
              <a:ext uri="{FF2B5EF4-FFF2-40B4-BE49-F238E27FC236}">
                <a16:creationId xmlns:a16="http://schemas.microsoft.com/office/drawing/2014/main" id="{A1864603-06F1-4AE8-965F-BFE9A824EEBF}"/>
              </a:ext>
            </a:extLst>
          </p:cNvPr>
          <p:cNvSpPr/>
          <p:nvPr/>
        </p:nvSpPr>
        <p:spPr>
          <a:xfrm>
            <a:off x="257319" y="1019422"/>
            <a:ext cx="11363181" cy="369332"/>
          </a:xfrm>
          <a:prstGeom prst="rect">
            <a:avLst/>
          </a:prstGeom>
        </p:spPr>
        <p:txBody>
          <a:bodyPr wrap="square"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4.1 Model description (ANSYS)</a:t>
            </a:r>
            <a:r>
              <a:rPr sz="1230" lang="zh-CN">
                <a:solidFill>
                  <a:srgbClr val="24425A"/>
                </a:solidFill>
                <a:latin typeface="Times New Roman"/>
                <a:ea typeface="SimSun"/>
                <a:cs typeface="Times New Roman"/>
              </a:rPr>
              <a:t>  模型描述（ANSYS）</a:t>
            </a:r>
          </a:p>
        </p:txBody>
      </p:sp>
      <p:sp>
        <p:nvSpPr>
          <p:cNvPr id="2" name="灯片编号占位符 1">
            <a:extLst>
              <a:ext uri="{FF2B5EF4-FFF2-40B4-BE49-F238E27FC236}">
                <a16:creationId xmlns:a16="http://schemas.microsoft.com/office/drawing/2014/main" id="{6E844E5D-FE2B-4D13-BD02-DAE1F502FF5E}"/>
              </a:ext>
            </a:extLst>
          </p:cNvPr>
          <p:cNvSpPr>
            <a:spLocks noGrp="1"/>
          </p:cNvSpPr>
          <p:nvPr>
            <p:ph type="sldNum" sz="quarter" idx="12"/>
          </p:nvPr>
        </p:nvSpPr>
        <p:spPr>
          <a:xfrm>
            <a:off x="9233742" y="6412296"/>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26</a:t>
            </a:fld>
            <a:endParaRPr lang="en-US" altLang="zh-CN">
              <a:latin typeface="Times New Roman"/>
              <a:ea typeface="SimSun"/>
              <a:cs typeface="Times New Roman"/>
            </a:endParaRPr>
          </a:p>
        </p:txBody>
      </p:sp>
      <p:sp>
        <p:nvSpPr>
          <p:cNvPr id="7" name="椭圆 6">
            <a:extLst>
              <a:ext uri="{FF2B5EF4-FFF2-40B4-BE49-F238E27FC236}">
                <a16:creationId xmlns:a16="http://schemas.microsoft.com/office/drawing/2014/main" id="{E9CAB4BB-262F-45A3-879E-41998BBBE8E4}"/>
              </a:ext>
            </a:extLst>
          </p:cNvPr>
          <p:cNvSpPr/>
          <p:nvPr/>
        </p:nvSpPr>
        <p:spPr bwMode="auto">
          <a:xfrm>
            <a:off x="9964977" y="5710159"/>
            <a:ext cx="943493" cy="894178"/>
          </a:xfrm>
          <a:prstGeom prst="ellipse">
            <a:avLst/>
          </a:prstGeom>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rgbClr val="A60626"/>
              </a:solidFill>
              <a:latin typeface="Times New Roman" charset="0"/>
              <a:ea typeface="SimSun"/>
              <a:cs typeface="Times New Roman"/>
            </a:endParaRPr>
          </a:p>
        </p:txBody>
      </p:sp>
      <p:sp>
        <p:nvSpPr>
          <p:cNvPr id="9" name="矩形 8">
            <a:extLst>
              <a:ext uri="{FF2B5EF4-FFF2-40B4-BE49-F238E27FC236}">
                <a16:creationId xmlns:a16="http://schemas.microsoft.com/office/drawing/2014/main" id="{9922598D-9535-4E3E-A25D-BA28755CF18D}"/>
              </a:ext>
            </a:extLst>
          </p:cNvPr>
          <p:cNvSpPr/>
          <p:nvPr/>
        </p:nvSpPr>
        <p:spPr>
          <a:xfrm>
            <a:off x="4265583" y="5778563"/>
            <a:ext cx="3157011"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Fig.4.1.2 </a:t>
            </a:r>
            <a:r>
              <a:rPr lang="en-HK" sz="1200" dirty="0">
                <a:latin typeface="Times New Roman" panose="02020603050405020304" pitchFamily="18" charset="0"/>
                <a:ea typeface="SimSun"/>
                <a:cs typeface="Times New Roman" panose="02020603050405020304" pitchFamily="18" charset="0"/>
              </a:rPr>
              <a:t>Configuration of an IEC system</a:t>
            </a:r>
          </a:p>
        </p:txBody>
      </p:sp>
      <p:pic>
        <p:nvPicPr>
          <p:cNvPr id="10" name="图片 9">
            <a:extLst>
              <a:ext uri="{FF2B5EF4-FFF2-40B4-BE49-F238E27FC236}">
                <a16:creationId xmlns:a16="http://schemas.microsoft.com/office/drawing/2014/main" id="{3BE9E6F9-F6C2-4EFA-A99F-C75EA8A46D72}"/>
              </a:ext>
            </a:extLst>
          </p:cNvPr>
          <p:cNvPicPr/>
          <p:nvPr/>
        </p:nvPicPr>
        <p:blipFill>
          <a:blip r:embed="rId4">
            <a:extLst>
              <a:ext uri="{28A0092B-C50C-407E-A947-70E740481C1C}">
                <a14:useLocalDpi xmlns:a14="http://schemas.microsoft.com/office/drawing/2010/main" val="0"/>
              </a:ext>
            </a:extLst>
          </a:blip>
          <a:stretch>
            <a:fillRect/>
          </a:stretch>
        </p:blipFill>
        <p:spPr>
          <a:xfrm>
            <a:off x="7978839" y="2157644"/>
            <a:ext cx="3483145" cy="2999479"/>
          </a:xfrm>
          <a:prstGeom prst="rect">
            <a:avLst/>
          </a:prstGeom>
        </p:spPr>
      </p:pic>
      <p:sp>
        <p:nvSpPr>
          <p:cNvPr id="11" name="矩形 10">
            <a:extLst>
              <a:ext uri="{FF2B5EF4-FFF2-40B4-BE49-F238E27FC236}">
                <a16:creationId xmlns:a16="http://schemas.microsoft.com/office/drawing/2014/main" id="{9E61F4F3-7295-48C8-8C55-DD777A473AEF}"/>
              </a:ext>
            </a:extLst>
          </p:cNvPr>
          <p:cNvSpPr/>
          <p:nvPr/>
        </p:nvSpPr>
        <p:spPr>
          <a:xfrm>
            <a:off x="7705457" y="5251685"/>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Fig.4.1.3 </a:t>
            </a:r>
            <a:r>
              <a:rPr lang="en-HK" sz="1200" dirty="0">
                <a:latin typeface="Times New Roman" panose="02020603050405020304" pitchFamily="18" charset="0"/>
                <a:ea typeface="SimSun"/>
                <a:cs typeface="Times New Roman" panose="02020603050405020304" pitchFamily="18" charset="0"/>
              </a:rPr>
              <a:t>Geometry used in volumetric flux distribution model</a:t>
            </a:r>
            <a:endParaRPr lang="en-HK" sz="1200" dirty="0">
              <a:latin typeface="Times New Roman" panose="020B0604020202020204" pitchFamily="34" charset="0"/>
              <a:ea typeface="SimSun"/>
              <a:cs typeface="Times New Roman" panose="020B0604020202020204" pitchFamily="34" charset="0"/>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CC4EC12-D2E2-4BFE-80BA-21509A6B70CA}"/>
                  </a:ext>
                </a:extLst>
              </p:cNvPr>
              <p:cNvSpPr/>
              <p:nvPr/>
            </p:nvSpPr>
            <p:spPr>
              <a:xfrm>
                <a:off x="9964977" y="5862508"/>
                <a:ext cx="854849" cy="557076"/>
              </a:xfrm>
              <a:prstGeom prst="rect">
                <a:avLst/>
              </a:prstGeom>
            </p:spPr>
            <p:txBody>
              <a:bodyPr wrap="none">
                <a:spAutoFit/>
              </a:bodyPr>
              <a:lstStyle/>
              <a:p>
                <a:pPr/>
                <a14:m>
                  <m:oMathPara xmlns:m="http://schemas.openxmlformats.org/officeDocument/2006/math">
                    <m:oMath>
                      <m:r>
                        <a:rPr lang="en-HK" sz="1400" i="1">
                          <a:latin typeface="Times New Roman" panose="02040503050406030204" pitchFamily="18" charset="0"/>
                          <a:ea typeface="SimSun"/>
                          <a:cs typeface="Times New Roman"/>
                        </a:rPr>
                        <m:t>𝜑</m:t>
                      </m:r>
                      <m:r>
                        <a:rPr lang="en-HK" sz="1400">
                          <a:latin typeface="Times New Roman" panose="02040503050406030204" pitchFamily="18" charset="0"/>
                          <a:ea typeface="SimSun"/>
                          <a:cs typeface="Times New Roman"/>
                        </a:rPr>
                        <m:t>=</m:t>
                      </m:r>
                      <m:f>
                        <m:fPr>
                          <m:ctrlPr>
                            <a:rPr lang="en-HK" sz="1400" i="1">
                              <a:latin typeface="Times New Roman" panose="02040503050406030204" pitchFamily="18" charset="0"/>
                              <a:ea typeface="SimSun"/>
                              <a:cs typeface="Times New Roman"/>
                            </a:rPr>
                          </m:ctrlPr>
                        </m:fPr>
                        <m:num>
                          <m:sSub>
                            <m:sSubPr>
                              <m:ctrlPr>
                                <a:rPr lang="en-HK" sz="1400" i="1">
                                  <a:latin typeface="Times New Roman" panose="02040503050406030204" pitchFamily="18" charset="0"/>
                                  <a:ea typeface="SimSun"/>
                                  <a:cs typeface="Times New Roman"/>
                                </a:rPr>
                              </m:ctrlPr>
                            </m:sSubPr>
                            <m:e>
                              <m:r>
                                <a:rPr lang="en-HK" sz="1400" i="1">
                                  <a:latin typeface="Times New Roman" panose="02040503050406030204" pitchFamily="18" charset="0"/>
                                  <a:ea typeface="SimSun"/>
                                  <a:cs typeface="Times New Roman"/>
                                </a:rPr>
                                <m:t>𝐴</m:t>
                              </m:r>
                            </m:e>
                            <m:sub>
                              <m:r>
                                <a:rPr lang="en-HK" sz="1400" i="1">
                                  <a:latin typeface="Times New Roman" panose="02040503050406030204" pitchFamily="18" charset="0"/>
                                  <a:ea typeface="SimSun"/>
                                  <a:cs typeface="Times New Roman"/>
                                </a:rPr>
                                <m:t>𝑤</m:t>
                              </m:r>
                            </m:sub>
                          </m:sSub>
                        </m:num>
                        <m:den>
                          <m:sSub>
                            <m:sSubPr>
                              <m:ctrlPr>
                                <a:rPr lang="en-HK" sz="1400" i="1">
                                  <a:latin typeface="Times New Roman" panose="02040503050406030204" pitchFamily="18" charset="0"/>
                                  <a:ea typeface="SimSun"/>
                                  <a:cs typeface="Times New Roman"/>
                                </a:rPr>
                              </m:ctrlPr>
                            </m:sSubPr>
                            <m:e>
                              <m:r>
                                <a:rPr lang="en-HK" sz="1400" i="1">
                                  <a:latin typeface="Times New Roman" panose="02040503050406030204" pitchFamily="18" charset="0"/>
                                  <a:ea typeface="SimSun"/>
                                  <a:cs typeface="Times New Roman"/>
                                </a:rPr>
                                <m:t>𝐴</m:t>
                              </m:r>
                            </m:e>
                            <m:sub>
                              <m:r>
                                <a:rPr lang="en-HK" sz="1400" i="1">
                                  <a:latin typeface="Times New Roman" panose="02040503050406030204" pitchFamily="18" charset="0"/>
                                  <a:ea typeface="SimSun"/>
                                  <a:cs typeface="Times New Roman"/>
                                </a:rPr>
                                <m:t>𝑝𝑙</m:t>
                              </m:r>
                            </m:sub>
                          </m:sSub>
                        </m:den>
                      </m:f>
                    </m:oMath>
                  </m:oMathPara>
                </a14:m>
                <a:endParaRPr lang="en-HK" sz="1400" dirty="0">
                  <a:latin typeface="Times New Roman"/>
                  <a:ea typeface="SimSun"/>
                  <a:cs typeface="Times New Roman"/>
                </a:endParaRPr>
              </a:p>
            </p:txBody>
          </p:sp>
        </mc:Choice>
        <mc:Fallback xmlns="">
          <p:sp>
            <p:nvSpPr>
              <p:cNvPr id="12" name="矩形 11">
                <a:extLst>
                  <a:ext uri="{FF2B5EF4-FFF2-40B4-BE49-F238E27FC236}">
                    <a16:creationId xmlns:a16="http://schemas.microsoft.com/office/drawing/2014/main" id="{4CC4EC12-D2E2-4BFE-80BA-21509A6B70CA}"/>
                  </a:ext>
                </a:extLst>
              </p:cNvPr>
              <p:cNvSpPr>
                <a:spLocks noRot="1" noChangeAspect="1" noMove="1" noResize="1" noEditPoints="1" noAdjustHandles="1" noChangeArrowheads="1" noChangeShapeType="1" noTextEdit="1"/>
              </p:cNvSpPr>
              <p:nvPr/>
            </p:nvSpPr>
            <p:spPr>
              <a:xfrm>
                <a:off x="9964977" y="5862508"/>
                <a:ext cx="854849" cy="557076"/>
              </a:xfrm>
              <a:prstGeom prst="rect">
                <a:avLst/>
              </a:prstGeom>
              <a:blipFill>
                <a:blip r:embed="rId5"/>
                <a:stretch>
                  <a:fillRect b="-1099"/>
                </a:stretch>
              </a:blipFill>
            </p:spPr>
            <p:txBody>
              <a:bodyPr/>
              <a:lstStyle/>
              <a:p>
                <a:r>
                  <a:rPr lang="en-US">
                    <a:noFill/>
                    <a:latin typeface="Times New Roman"/>
                    <a:ea typeface="SimSun"/>
                    <a:cs typeface="Times New Roman"/>
                  </a:rPr>
                  <a:t> </a:t>
                </a:r>
              </a:p>
            </p:txBody>
          </p:sp>
        </mc:Fallback>
      </mc:AlternateContent>
      <p:sp>
        <p:nvSpPr>
          <p:cNvPr id="13" name="矩形 12">
            <a:extLst>
              <a:ext uri="{FF2B5EF4-FFF2-40B4-BE49-F238E27FC236}">
                <a16:creationId xmlns:a16="http://schemas.microsoft.com/office/drawing/2014/main" id="{B5DA5B7F-FDDD-4602-A2BF-D99B9D52C614}"/>
              </a:ext>
            </a:extLst>
          </p:cNvPr>
          <p:cNvSpPr/>
          <p:nvPr/>
        </p:nvSpPr>
        <p:spPr>
          <a:xfrm>
            <a:off x="8488547" y="5987158"/>
            <a:ext cx="1612942" cy="338554"/>
          </a:xfrm>
          <a:prstGeom prst="rect">
            <a:avLst/>
          </a:prstGeom>
        </p:spPr>
        <p:txBody>
          <a:bodyPr wrap="square" tIns="0" bIns="0">
            <a:noAutofit/>
          </a:bodyPr>
          <a:lstStyle/>
          <a:p>
            <a:pPr algn="l">
              <a:lnSpc>
                <a:spcPct val="108000"/>
              </a:lnSpc>
              <a:spcAft>
                <a:spcPts val="300"/>
              </a:spcAft>
            </a:pPr>
            <a:r>
              <a:rPr lang="en-HK" sz="950" dirty="0">
                <a:latin typeface="Times New Roman" panose="02020603050405020304" pitchFamily="18" charset="0"/>
                <a:ea typeface="SimSun"/>
                <a:cs typeface="Times New Roman" panose="02020603050405020304" pitchFamily="18" charset="0"/>
              </a:rPr>
              <a:t>Coverage factor: </a:t>
            </a:r>
            <a:r>
              <a:rPr sz="779" lang="zh-CN">
                <a:solidFill>
                  <a:srgbClr val="24425A"/>
                </a:solidFill>
                <a:latin typeface="Times New Roman"/>
                <a:ea typeface="SimSun"/>
                <a:cs typeface="Times New Roman"/>
              </a:rPr>
              <a:t>  覆盖系数：</a:t>
            </a:r>
          </a:p>
        </p:txBody>
      </p:sp>
      <p:sp>
        <p:nvSpPr>
          <p:cNvPr id="14" name="矩形 13">
            <a:extLst>
              <a:ext uri="{FF2B5EF4-FFF2-40B4-BE49-F238E27FC236}">
                <a16:creationId xmlns:a16="http://schemas.microsoft.com/office/drawing/2014/main" id="{9BDD8AE5-E139-4D61-B1EF-042597C2DE2B}"/>
              </a:ext>
            </a:extLst>
          </p:cNvPr>
          <p:cNvSpPr/>
          <p:nvPr/>
        </p:nvSpPr>
        <p:spPr>
          <a:xfrm>
            <a:off x="3709338" y="1469299"/>
            <a:ext cx="2866490" cy="461264"/>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Model of single wet channel </a:t>
            </a:r>
            <a:r>
              <a:rPr sz="984" lang="zh-CN">
                <a:solidFill>
                  <a:srgbClr val="24425A"/>
                </a:solidFill>
                <a:latin typeface="Times New Roman"/>
                <a:ea typeface="SimSun"/>
                <a:cs typeface="Times New Roman"/>
              </a:rPr>
              <a:t>  单个湿通道模型</a:t>
            </a:r>
          </a:p>
        </p:txBody>
      </p:sp>
      <p:sp>
        <p:nvSpPr>
          <p:cNvPr id="15" name="矩形 14">
            <a:extLst>
              <a:ext uri="{FF2B5EF4-FFF2-40B4-BE49-F238E27FC236}">
                <a16:creationId xmlns:a16="http://schemas.microsoft.com/office/drawing/2014/main" id="{E9CFA491-2490-4D9F-93B9-D66A35988A3D}"/>
              </a:ext>
            </a:extLst>
          </p:cNvPr>
          <p:cNvSpPr/>
          <p:nvPr/>
        </p:nvSpPr>
        <p:spPr>
          <a:xfrm>
            <a:off x="7235996" y="1469282"/>
            <a:ext cx="4535268" cy="551180"/>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500" dirty="0">
                <a:latin typeface="Times New Roman" panose="02020603050405020304" pitchFamily="18" charset="0"/>
                <a:ea typeface="SimSun"/>
                <a:cs typeface="Times New Roman" panose="02020603050405020304" pitchFamily="18" charset="0"/>
              </a:rPr>
              <a:t>Different heat transfer for different coverage area</a:t>
            </a:r>
            <a:r>
              <a:rPr sz="1230" lang="zh-CN">
                <a:solidFill>
                  <a:srgbClr val="24425A"/>
                </a:solidFill>
                <a:latin typeface="Times New Roman"/>
                <a:ea typeface="SimSun"/>
                <a:cs typeface="Times New Roman"/>
              </a:rPr>
              <a:t>  不同润湿区域的传热过程</a:t>
            </a:r>
          </a:p>
        </p:txBody>
      </p:sp>
      <p:pic>
        <p:nvPicPr>
          <p:cNvPr id="16" name="图片 15">
            <a:extLst>
              <a:ext uri="{FF2B5EF4-FFF2-40B4-BE49-F238E27FC236}">
                <a16:creationId xmlns:a16="http://schemas.microsoft.com/office/drawing/2014/main" id="{73D5DB88-9437-457C-9E6D-7E2E73638BA1}"/>
              </a:ext>
            </a:extLst>
          </p:cNvPr>
          <p:cNvPicPr/>
          <p:nvPr/>
        </p:nvPicPr>
        <p:blipFill>
          <a:blip r:embed="rId6">
            <a:extLst>
              <a:ext uri="{28A0092B-C50C-407E-A947-70E740481C1C}">
                <a14:useLocalDpi xmlns:a14="http://schemas.microsoft.com/office/drawing/2010/main" val="0"/>
              </a:ext>
            </a:extLst>
          </a:blip>
          <a:stretch>
            <a:fillRect/>
          </a:stretch>
        </p:blipFill>
        <p:spPr>
          <a:xfrm>
            <a:off x="4787491" y="1975695"/>
            <a:ext cx="1968490" cy="3635026"/>
          </a:xfrm>
          <a:prstGeom prst="rect">
            <a:avLst/>
          </a:prstGeom>
        </p:spPr>
      </p:pic>
      <p:sp>
        <p:nvSpPr>
          <p:cNvPr id="18" name="矩形 17">
            <a:extLst>
              <a:ext uri="{FF2B5EF4-FFF2-40B4-BE49-F238E27FC236}">
                <a16:creationId xmlns:a16="http://schemas.microsoft.com/office/drawing/2014/main" id="{65E5F680-4B2B-41F7-8B28-D80F0CFCB1C0}"/>
              </a:ext>
            </a:extLst>
          </p:cNvPr>
          <p:cNvSpPr/>
          <p:nvPr/>
        </p:nvSpPr>
        <p:spPr>
          <a:xfrm>
            <a:off x="594591" y="1469299"/>
            <a:ext cx="1306768" cy="461264"/>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Flowchart</a:t>
            </a:r>
            <a:r>
              <a:rPr sz="984" lang="zh-CN">
                <a:solidFill>
                  <a:srgbClr val="24425A"/>
                </a:solidFill>
                <a:latin typeface="Times New Roman"/>
                <a:ea typeface="SimSun"/>
                <a:cs typeface="Times New Roman"/>
              </a:rPr>
              <a:t>  建模流程</a:t>
            </a:r>
          </a:p>
        </p:txBody>
      </p:sp>
      <p:sp>
        <p:nvSpPr>
          <p:cNvPr id="19" name="矩形 3">
            <a:extLst>
              <a:ext uri="{FF2B5EF4-FFF2-40B4-BE49-F238E27FC236}">
                <a16:creationId xmlns:a16="http://schemas.microsoft.com/office/drawing/2014/main" id="{B1D8C289-DDD6-4A5B-A999-61ACB5328109}"/>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20"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235476545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图片 46">
            <a:extLst>
              <a:ext uri="{FF2B5EF4-FFF2-40B4-BE49-F238E27FC236}">
                <a16:creationId xmlns:a16="http://schemas.microsoft.com/office/drawing/2014/main" id="{688A77F0-8416-4D0B-8E46-BBEA898A5C8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912437" y="3723758"/>
            <a:ext cx="553085" cy="1547495"/>
          </a:xfrm>
          <a:prstGeom prst="rect">
            <a:avLst/>
          </a:prstGeom>
          <a:noFill/>
        </p:spPr>
      </p:pic>
      <p:sp>
        <p:nvSpPr>
          <p:cNvPr id="18" name="矩形 17">
            <a:extLst>
              <a:ext uri="{FF2B5EF4-FFF2-40B4-BE49-F238E27FC236}">
                <a16:creationId xmlns:a16="http://schemas.microsoft.com/office/drawing/2014/main" id="{6709DF6D-D34C-4D60-B37D-56C4DA8F6791}"/>
              </a:ext>
            </a:extLst>
          </p:cNvPr>
          <p:cNvSpPr/>
          <p:nvPr/>
        </p:nvSpPr>
        <p:spPr>
          <a:xfrm>
            <a:off x="1179133" y="1334647"/>
            <a:ext cx="2258952" cy="55118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panose="02020603050405020304" pitchFamily="18" charset="0"/>
              </a:rPr>
              <a:t>(1) Conservation of mass</a:t>
            </a:r>
            <a:r>
              <a:rPr sz="1230" lang="zh-CN">
                <a:solidFill>
                  <a:srgbClr val="24425A"/>
                </a:solidFill>
                <a:latin typeface="Times New Roman"/>
                <a:ea typeface="SimSun"/>
                <a:cs typeface="Times New Roman"/>
              </a:rPr>
              <a:t>  （1）质量守恒</a:t>
            </a: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9784B58F-FAD0-4985-94F1-077B985EA0E2}"/>
                  </a:ext>
                </a:extLst>
              </p:cNvPr>
              <p:cNvSpPr/>
              <p:nvPr/>
            </p:nvSpPr>
            <p:spPr>
              <a:xfrm>
                <a:off x="1528202" y="1626427"/>
                <a:ext cx="2086597" cy="560538"/>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𝑢</m:t>
                          </m:r>
                        </m:e>
                      </m:d>
                      <m:r>
                        <a:rPr lang="en-HK" sz="1600">
                          <a:latin typeface="Times New Roman" panose="02040503050406030204" pitchFamily="18" charset="0"/>
                          <a:ea typeface="SimSun"/>
                          <a:cs typeface="Times New Roman"/>
                        </a:rPr>
                        <m:t>=0</m:t>
                      </m:r>
                    </m:oMath>
                  </m:oMathPara>
                </a14:m>
                <a:endParaRPr lang="en-HK" sz="1600" dirty="0">
                  <a:latin typeface="Times New Roman"/>
                  <a:ea typeface="SimSun"/>
                  <a:cs typeface="Times New Roman"/>
                </a:endParaRPr>
              </a:p>
            </p:txBody>
          </p:sp>
        </mc:Choice>
        <mc:Fallback xmlns="">
          <p:sp>
            <p:nvSpPr>
              <p:cNvPr id="19" name="矩形 18">
                <a:extLst>
                  <a:ext uri="{FF2B5EF4-FFF2-40B4-BE49-F238E27FC236}">
                    <a16:creationId xmlns:a16="http://schemas.microsoft.com/office/drawing/2014/main" id="{9784B58F-FAD0-4985-94F1-077B985EA0E2}"/>
                  </a:ext>
                </a:extLst>
              </p:cNvPr>
              <p:cNvSpPr>
                <a:spLocks noRot="1" noChangeAspect="1" noMove="1" noResize="1" noEditPoints="1" noAdjustHandles="1" noChangeArrowheads="1" noChangeShapeType="1" noTextEdit="1"/>
              </p:cNvSpPr>
              <p:nvPr/>
            </p:nvSpPr>
            <p:spPr>
              <a:xfrm>
                <a:off x="1528202" y="1626427"/>
                <a:ext cx="2086597" cy="560538"/>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p:sp>
        <p:nvSpPr>
          <p:cNvPr id="20" name="矩形 19">
            <a:extLst>
              <a:ext uri="{FF2B5EF4-FFF2-40B4-BE49-F238E27FC236}">
                <a16:creationId xmlns:a16="http://schemas.microsoft.com/office/drawing/2014/main" id="{B4FE9C60-D2C9-4987-935F-D33A4FB7F143}"/>
              </a:ext>
            </a:extLst>
          </p:cNvPr>
          <p:cNvSpPr/>
          <p:nvPr/>
        </p:nvSpPr>
        <p:spPr>
          <a:xfrm>
            <a:off x="1179131" y="2280034"/>
            <a:ext cx="2784737" cy="55118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panose="02020603050405020304" pitchFamily="18" charset="0"/>
              </a:rPr>
              <a:t>(2) Conservation of momentum</a:t>
            </a:r>
            <a:r>
              <a:rPr sz="1230" lang="zh-CN">
                <a:solidFill>
                  <a:srgbClr val="24425A"/>
                </a:solidFill>
                <a:latin typeface="Times New Roman"/>
                <a:ea typeface="SimSun"/>
                <a:cs typeface="Times New Roman"/>
              </a:rPr>
              <a:t>  （2）动量守恒</a:t>
            </a:r>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2F204E31-4AF7-43F6-866C-289013849E15}"/>
                  </a:ext>
                </a:extLst>
              </p:cNvPr>
              <p:cNvSpPr/>
              <p:nvPr/>
            </p:nvSpPr>
            <p:spPr>
              <a:xfrm>
                <a:off x="1417173" y="2611800"/>
                <a:ext cx="3732966" cy="838499"/>
              </a:xfrm>
              <a:prstGeom prst="rect">
                <a:avLst/>
              </a:prstGeom>
            </p:spPr>
            <p:txBody>
              <a:bodyPr wrap="squar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𝐸</m:t>
                          </m:r>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sSup>
                            <m:sSupPr>
                              <m:ctrlPr>
                                <a:rPr lang="en-HK" sz="1600" i="1">
                                  <a:latin typeface="Times New Roman" panose="02040503050406030204" pitchFamily="18" charset="0"/>
                                  <a:ea typeface="SimSun"/>
                                  <a:cs typeface="Times New Roman"/>
                                </a:rPr>
                              </m:ctrlPr>
                            </m:sSupPr>
                            <m:e>
                              <m:r>
                                <a:rPr lang="en-HK" sz="1600" i="1">
                                  <a:latin typeface="Times New Roman" panose="02040503050406030204" pitchFamily="18" charset="0"/>
                                  <a:ea typeface="SimSun"/>
                                  <a:cs typeface="Times New Roman"/>
                                </a:rPr>
                                <m:t>𝑢</m:t>
                              </m:r>
                            </m:e>
                            <m:sup>
                              <m:r>
                                <a:rPr lang="en-HK" sz="1600">
                                  <a:latin typeface="Times New Roman" panose="02040503050406030204" pitchFamily="18" charset="0"/>
                                  <a:ea typeface="SimSun"/>
                                  <a:cs typeface="Times New Roman"/>
                                </a:rPr>
                                <m:t>2</m:t>
                              </m:r>
                            </m:sup>
                          </m:sSup>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𝑃</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𝜇</m:t>
                          </m:r>
                          <m:d>
                            <m:dPr>
                              <m:ctrlPr>
                                <a:rPr lang="en-HK" sz="1600">
                                  <a:latin typeface="Times New Roman" panose="02040503050406030204" pitchFamily="18" charset="0"/>
                                  <a:ea typeface="SimSun"/>
                                  <a:cs typeface="Times New Roman"/>
                                </a:rPr>
                              </m:ctrlPr>
                            </m:dPr>
                            <m:e>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𝑢</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sSup>
                                <m:sSupPr>
                                  <m:ctrlPr>
                                    <a:rPr lang="en-HK" sz="1600" i="1">
                                      <a:latin typeface="Times New Roman" panose="02040503050406030204" pitchFamily="18" charset="0"/>
                                      <a:ea typeface="SimSun"/>
                                      <a:cs typeface="Times New Roman"/>
                                    </a:rPr>
                                  </m:ctrlPr>
                                </m:sSupPr>
                                <m:e>
                                  <m:r>
                                    <a:rPr lang="en-HK" sz="1600" i="1">
                                      <a:latin typeface="Times New Roman" panose="02040503050406030204" pitchFamily="18" charset="0"/>
                                      <a:ea typeface="SimSun"/>
                                      <a:cs typeface="Times New Roman"/>
                                    </a:rPr>
                                    <m:t>𝑢</m:t>
                                  </m:r>
                                </m:e>
                                <m:sup>
                                  <m:r>
                                    <a:rPr lang="en-HK" sz="1600" i="1">
                                      <a:latin typeface="Times New Roman" panose="02040503050406030204" pitchFamily="18" charset="0"/>
                                      <a:ea typeface="SimSun"/>
                                      <a:cs typeface="Times New Roman"/>
                                    </a:rPr>
                                    <m:t>𝑇</m:t>
                                  </m:r>
                                </m:sup>
                              </m:sSup>
                            </m:e>
                          </m:d>
                        </m:e>
                      </m:d>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𝑔</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𝐹</m:t>
                      </m:r>
                    </m:oMath>
                  </m:oMathPara>
                </a14:m>
                <a:endParaRPr lang="en-HK" sz="1600" dirty="0">
                  <a:latin typeface="Times New Roman"/>
                  <a:ea typeface="SimSun"/>
                  <a:cs typeface="Times New Roman"/>
                </a:endParaRPr>
              </a:p>
            </p:txBody>
          </p:sp>
        </mc:Choice>
        <mc:Fallback xmlns="">
          <p:sp>
            <p:nvSpPr>
              <p:cNvPr id="21" name="矩形 20">
                <a:extLst>
                  <a:ext uri="{FF2B5EF4-FFF2-40B4-BE49-F238E27FC236}">
                    <a16:creationId xmlns:a16="http://schemas.microsoft.com/office/drawing/2014/main" id="{2F204E31-4AF7-43F6-866C-289013849E15}"/>
                  </a:ext>
                </a:extLst>
              </p:cNvPr>
              <p:cNvSpPr>
                <a:spLocks noRot="1" noChangeAspect="1" noMove="1" noResize="1" noEditPoints="1" noAdjustHandles="1" noChangeArrowheads="1" noChangeShapeType="1" noTextEdit="1"/>
              </p:cNvSpPr>
              <p:nvPr/>
            </p:nvSpPr>
            <p:spPr>
              <a:xfrm>
                <a:off x="1417173" y="2611800"/>
                <a:ext cx="3732966" cy="838499"/>
              </a:xfrm>
              <a:prstGeom prst="rect">
                <a:avLst/>
              </a:prstGeom>
              <a:blipFill>
                <a:blip r:embed="rId5"/>
                <a:stretch>
                  <a:fillRect/>
                </a:stretch>
              </a:blipFill>
            </p:spPr>
            <p:txBody>
              <a:bodyPr/>
              <a:lstStyle/>
              <a:p>
                <a:r>
                  <a:rPr lang="en-US">
                    <a:noFill/>
                    <a:latin typeface="Times New Roman"/>
                    <a:ea typeface="SimSun"/>
                    <a:cs typeface="Times New Roman"/>
                  </a:rPr>
                  <a:t> </a:t>
                </a:r>
              </a:p>
            </p:txBody>
          </p:sp>
        </mc:Fallback>
      </mc:AlternateContent>
      <p:sp>
        <p:nvSpPr>
          <p:cNvPr id="22" name="矩形 21">
            <a:extLst>
              <a:ext uri="{FF2B5EF4-FFF2-40B4-BE49-F238E27FC236}">
                <a16:creationId xmlns:a16="http://schemas.microsoft.com/office/drawing/2014/main" id="{0C38144E-90D3-4157-8395-F70A0D7FE96E}"/>
              </a:ext>
            </a:extLst>
          </p:cNvPr>
          <p:cNvSpPr/>
          <p:nvPr/>
        </p:nvSpPr>
        <p:spPr>
          <a:xfrm>
            <a:off x="1177327" y="3458983"/>
            <a:ext cx="1643399" cy="55118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panose="02020603050405020304" pitchFamily="18" charset="0"/>
              </a:rPr>
              <a:t>(3) Mass transfer </a:t>
            </a:r>
            <a:r>
              <a:rPr sz="1230" lang="zh-CN">
                <a:solidFill>
                  <a:srgbClr val="24425A"/>
                </a:solidFill>
                <a:latin typeface="Times New Roman"/>
                <a:ea typeface="SimSun"/>
                <a:cs typeface="Times New Roman"/>
              </a:rPr>
              <a:t>  （3）传质</a:t>
            </a: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489DAD21-4DD6-4C86-8037-4F26A74EBB81}"/>
                  </a:ext>
                </a:extLst>
              </p:cNvPr>
              <p:cNvSpPr/>
              <p:nvPr/>
            </p:nvSpPr>
            <p:spPr>
              <a:xfrm>
                <a:off x="1508428" y="3697032"/>
                <a:ext cx="3603935" cy="602601"/>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ℎ</m:t>
                          </m:r>
                        </m:e>
                        <m:sub>
                          <m:r>
                            <a:rPr lang="en-HK" sz="1600" i="1">
                              <a:latin typeface="Times New Roman" panose="02040503050406030204" pitchFamily="18" charset="0"/>
                              <a:ea typeface="SimSun"/>
                              <a:cs typeface="Times New Roman"/>
                            </a:rPr>
                            <m:t>𝑚𝑠</m:t>
                          </m:r>
                        </m:sub>
                      </m:sSub>
                      <m:d>
                        <m:dPr>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𝑡</m:t>
                                  </m:r>
                                </m:e>
                                <m:sub>
                                  <m:r>
                                    <a:rPr lang="en-HK" sz="1600" i="1">
                                      <a:latin typeface="Times New Roman" panose="02040503050406030204" pitchFamily="18" charset="0"/>
                                      <a:ea typeface="SimSun"/>
                                      <a:cs typeface="Times New Roman"/>
                                    </a:rPr>
                                    <m:t>𝑤</m:t>
                                  </m:r>
                                </m:sub>
                              </m:sSub>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e>
                      </m:d>
                      <m:r>
                        <a:rPr lang="en-HK" sz="1600" i="1">
                          <a:latin typeface="Times New Roman" panose="02040503050406030204" pitchFamily="18" charset="0"/>
                          <a:ea typeface="SimSun"/>
                          <a:cs typeface="Times New Roman"/>
                        </a:rPr>
                        <m:t>𝜎</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𝑑𝑥𝑑𝑦</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𝑚</m:t>
                              </m:r>
                            </m:e>
                          </m:acc>
                        </m:e>
                        <m:sub>
                          <m:r>
                            <a:rPr lang="en-HK" sz="1600" i="1">
                              <a:latin typeface="Times New Roman" panose="02040503050406030204" pitchFamily="18" charset="0"/>
                              <a:ea typeface="SimSun"/>
                              <a:cs typeface="Times New Roman"/>
                            </a:rPr>
                            <m:t>𝑠</m:t>
                          </m:r>
                        </m:sub>
                      </m:sSub>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𝑑𝑦</m:t>
                      </m:r>
                    </m:oMath>
                  </m:oMathPara>
                </a14:m>
                <a:endParaRPr lang="en-HK" sz="1600" dirty="0">
                  <a:latin typeface="Times New Roman"/>
                  <a:ea typeface="SimSun"/>
                  <a:cs typeface="Times New Roman"/>
                </a:endParaRPr>
              </a:p>
            </p:txBody>
          </p:sp>
        </mc:Choice>
        <mc:Fallback xmlns="">
          <p:sp>
            <p:nvSpPr>
              <p:cNvPr id="23" name="矩形 22">
                <a:extLst>
                  <a:ext uri="{FF2B5EF4-FFF2-40B4-BE49-F238E27FC236}">
                    <a16:creationId xmlns:a16="http://schemas.microsoft.com/office/drawing/2014/main" id="{489DAD21-4DD6-4C86-8037-4F26A74EBB81}"/>
                  </a:ext>
                </a:extLst>
              </p:cNvPr>
              <p:cNvSpPr>
                <a:spLocks noRot="1" noChangeAspect="1" noMove="1" noResize="1" noEditPoints="1" noAdjustHandles="1" noChangeArrowheads="1" noChangeShapeType="1" noTextEdit="1"/>
              </p:cNvSpPr>
              <p:nvPr/>
            </p:nvSpPr>
            <p:spPr>
              <a:xfrm>
                <a:off x="1508428" y="3697032"/>
                <a:ext cx="3603935" cy="602601"/>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2DAD2746-6358-4584-A5F0-FC93C43A7218}"/>
                  </a:ext>
                </a:extLst>
              </p:cNvPr>
              <p:cNvSpPr/>
              <p:nvPr/>
            </p:nvSpPr>
            <p:spPr>
              <a:xfrm>
                <a:off x="1508428" y="4260928"/>
                <a:ext cx="1504836" cy="602601"/>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𝑒</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𝑚</m:t>
                              </m:r>
                            </m:e>
                          </m:acc>
                        </m:e>
                        <m:sub>
                          <m:r>
                            <a:rPr lang="en-HK" sz="1600" i="1">
                              <a:latin typeface="Times New Roman" panose="02040503050406030204" pitchFamily="18" charset="0"/>
                              <a:ea typeface="SimSun"/>
                              <a:cs typeface="Times New Roman"/>
                            </a:rPr>
                            <m:t>𝑠</m:t>
                          </m:r>
                        </m:sub>
                      </m:sSub>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oMath>
                  </m:oMathPara>
                </a14:m>
                <a:endParaRPr lang="en-HK" sz="1600" dirty="0">
                  <a:latin typeface="Times New Roman"/>
                  <a:ea typeface="SimSun"/>
                  <a:cs typeface="Times New Roman"/>
                </a:endParaRPr>
              </a:p>
            </p:txBody>
          </p:sp>
        </mc:Choice>
        <mc:Fallback xmlns="">
          <p:sp>
            <p:nvSpPr>
              <p:cNvPr id="24" name="矩形 23">
                <a:extLst>
                  <a:ext uri="{FF2B5EF4-FFF2-40B4-BE49-F238E27FC236}">
                    <a16:creationId xmlns:a16="http://schemas.microsoft.com/office/drawing/2014/main" id="{2DAD2746-6358-4584-A5F0-FC93C43A7218}"/>
                  </a:ext>
                </a:extLst>
              </p:cNvPr>
              <p:cNvSpPr>
                <a:spLocks noRot="1" noChangeAspect="1" noMove="1" noResize="1" noEditPoints="1" noAdjustHandles="1" noChangeArrowheads="1" noChangeShapeType="1" noTextEdit="1"/>
              </p:cNvSpPr>
              <p:nvPr/>
            </p:nvSpPr>
            <p:spPr>
              <a:xfrm>
                <a:off x="1508428" y="4260928"/>
                <a:ext cx="1504836" cy="602601"/>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p:sp>
        <p:nvSpPr>
          <p:cNvPr id="25" name="矩形 24">
            <a:extLst>
              <a:ext uri="{FF2B5EF4-FFF2-40B4-BE49-F238E27FC236}">
                <a16:creationId xmlns:a16="http://schemas.microsoft.com/office/drawing/2014/main" id="{A47138F7-B70D-40EC-98CD-3CEFC7B16BBB}"/>
              </a:ext>
            </a:extLst>
          </p:cNvPr>
          <p:cNvSpPr/>
          <p:nvPr/>
        </p:nvSpPr>
        <p:spPr>
          <a:xfrm>
            <a:off x="1174139" y="4863529"/>
            <a:ext cx="2471639" cy="77597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a:rPr>
              <a:t>(4) VOF multi-phase model</a:t>
            </a:r>
            <a:r>
              <a:rPr sz="1230" lang="zh-CN">
                <a:solidFill>
                  <a:srgbClr val="24425A"/>
                </a:solidFill>
                <a:latin typeface="Times New Roman"/>
                <a:ea typeface="SimSun"/>
                <a:cs typeface="Times New Roman"/>
              </a:rPr>
              <a:t>  （4）流体体积（VOF）多相流模型</a:t>
            </a: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84CEEDF-7DED-43EA-9FA3-6B3CE26FED7B}"/>
                  </a:ext>
                </a:extLst>
              </p:cNvPr>
              <p:cNvSpPr/>
              <p:nvPr/>
            </p:nvSpPr>
            <p:spPr>
              <a:xfrm>
                <a:off x="1531252" y="5252293"/>
                <a:ext cx="1971822" cy="358560"/>
              </a:xfrm>
              <a:prstGeom prst="rect">
                <a:avLst/>
              </a:prstGeom>
            </p:spPr>
            <p:txBody>
              <a:bodyPr wrap="none">
                <a:spAutoFit/>
              </a:bodyPr>
              <a:lstStyle/>
              <a:p>
                <a:pPr/>
                <a14:m>
                  <m:oMathPara xmlns:m="http://schemas.openxmlformats.org/officeDocument/2006/math">
                    <m:oMath>
                      <m:r>
                        <m:rPr>
                          <m:sty m:val="p"/>
                        </m:rPr>
                        <a:rPr lang="en-HK" sz="1600">
                          <a:latin typeface="Times New Roman" panose="02040503050406030204" pitchFamily="18" charset="0"/>
                          <a:ea typeface="SimSun"/>
                          <a:cs typeface="Times New Roman"/>
                        </a:rPr>
                        <m:t>ρ</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a:latin typeface="Times New Roman" panose="02040503050406030204" pitchFamily="18" charset="0"/>
                              <a:ea typeface="SimSun"/>
                              <a:cs typeface="Times New Roman"/>
                            </a:rPr>
                            <m:t>1</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a:latin typeface="Times New Roman" panose="02040503050406030204" pitchFamily="18" charset="0"/>
                              <a:ea typeface="SimSun"/>
                              <a:cs typeface="Times New Roman"/>
                            </a:rPr>
                            <m:t>1</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i="1">
                              <a:latin typeface="Times New Roman" panose="02040503050406030204" pitchFamily="18" charset="0"/>
                              <a:ea typeface="SimSun"/>
                              <a:cs typeface="Times New Roman"/>
                            </a:rPr>
                            <m:t>𝑔</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i="1">
                              <a:latin typeface="Times New Roman" panose="02040503050406030204" pitchFamily="18" charset="0"/>
                              <a:ea typeface="SimSun"/>
                              <a:cs typeface="Times New Roman"/>
                            </a:rPr>
                            <m:t>𝑔</m:t>
                          </m:r>
                        </m:sub>
                      </m:sSub>
                    </m:oMath>
                  </m:oMathPara>
                </a14:m>
                <a:endParaRPr lang="en-HK" sz="1600" dirty="0">
                  <a:latin typeface="Times New Roman"/>
                  <a:ea typeface="SimSun"/>
                  <a:cs typeface="Times New Roman"/>
                </a:endParaRPr>
              </a:p>
            </p:txBody>
          </p:sp>
        </mc:Choice>
        <mc:Fallback xmlns="">
          <p:sp>
            <p:nvSpPr>
              <p:cNvPr id="26" name="矩形 25">
                <a:extLst>
                  <a:ext uri="{FF2B5EF4-FFF2-40B4-BE49-F238E27FC236}">
                    <a16:creationId xmlns:a16="http://schemas.microsoft.com/office/drawing/2014/main" id="{084CEEDF-7DED-43EA-9FA3-6B3CE26FED7B}"/>
                  </a:ext>
                </a:extLst>
              </p:cNvPr>
              <p:cNvSpPr>
                <a:spLocks noRot="1" noChangeAspect="1" noMove="1" noResize="1" noEditPoints="1" noAdjustHandles="1" noChangeArrowheads="1" noChangeShapeType="1" noTextEdit="1"/>
              </p:cNvSpPr>
              <p:nvPr/>
            </p:nvSpPr>
            <p:spPr>
              <a:xfrm>
                <a:off x="1531252" y="5252293"/>
                <a:ext cx="1971822" cy="358560"/>
              </a:xfrm>
              <a:prstGeom prst="rect">
                <a:avLst/>
              </a:prstGeom>
              <a:blipFill>
                <a:blip r:embed="rId8"/>
                <a:stretch>
                  <a:fillRect b="-3448"/>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4F72ED22-F12F-4F37-8EC8-803AAA3928F7}"/>
                  </a:ext>
                </a:extLst>
              </p:cNvPr>
              <p:cNvSpPr/>
              <p:nvPr/>
            </p:nvSpPr>
            <p:spPr>
              <a:xfrm>
                <a:off x="1533707" y="5723243"/>
                <a:ext cx="1983172" cy="358560"/>
              </a:xfrm>
              <a:prstGeom prst="rect">
                <a:avLst/>
              </a:prstGeom>
            </p:spPr>
            <p:txBody>
              <a:bodyPr wrap="none">
                <a:spAutoFit/>
              </a:bodyPr>
              <a:lstStyle/>
              <a:p>
                <a:pPr/>
                <a14:m>
                  <m:oMathPara xmlns:m="http://schemas.openxmlformats.org/officeDocument/2006/math">
                    <m:oMath>
                      <m:r>
                        <m:rPr>
                          <m:sty m:val="p"/>
                        </m:rPr>
                        <a:rPr lang="en-HK" sz="1600">
                          <a:latin typeface="Times New Roman" panose="02040503050406030204" pitchFamily="18" charset="0"/>
                          <a:ea typeface="SimSun"/>
                          <a:cs typeface="Times New Roman"/>
                        </a:rPr>
                        <m:t>μ</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a:latin typeface="Times New Roman" panose="02040503050406030204" pitchFamily="18" charset="0"/>
                              <a:ea typeface="SimSun"/>
                              <a:cs typeface="Times New Roman"/>
                            </a:rPr>
                            <m:t>1</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𝜇</m:t>
                          </m:r>
                        </m:e>
                        <m:sub>
                          <m:r>
                            <a:rPr lang="en-HK" sz="1600">
                              <a:latin typeface="Times New Roman" panose="02040503050406030204" pitchFamily="18" charset="0"/>
                              <a:ea typeface="SimSun"/>
                              <a:cs typeface="Times New Roman"/>
                            </a:rPr>
                            <m:t>1</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i="1">
                              <a:latin typeface="Times New Roman" panose="02040503050406030204" pitchFamily="18" charset="0"/>
                              <a:ea typeface="SimSun"/>
                              <a:cs typeface="Times New Roman"/>
                            </a:rPr>
                            <m:t>𝑔</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𝜇</m:t>
                          </m:r>
                        </m:e>
                        <m:sub>
                          <m:r>
                            <a:rPr lang="en-HK" sz="1600" i="1">
                              <a:latin typeface="Times New Roman" panose="02040503050406030204" pitchFamily="18" charset="0"/>
                              <a:ea typeface="SimSun"/>
                              <a:cs typeface="Times New Roman"/>
                            </a:rPr>
                            <m:t>𝑔</m:t>
                          </m:r>
                        </m:sub>
                      </m:sSub>
                    </m:oMath>
                  </m:oMathPara>
                </a14:m>
                <a:endParaRPr lang="en-HK" sz="1600" dirty="0">
                  <a:latin typeface="Times New Roman"/>
                  <a:ea typeface="SimSun"/>
                  <a:cs typeface="Times New Roman"/>
                </a:endParaRPr>
              </a:p>
            </p:txBody>
          </p:sp>
        </mc:Choice>
        <mc:Fallback xmlns="">
          <p:sp>
            <p:nvSpPr>
              <p:cNvPr id="27" name="矩形 26">
                <a:extLst>
                  <a:ext uri="{FF2B5EF4-FFF2-40B4-BE49-F238E27FC236}">
                    <a16:creationId xmlns:a16="http://schemas.microsoft.com/office/drawing/2014/main" id="{4F72ED22-F12F-4F37-8EC8-803AAA3928F7}"/>
                  </a:ext>
                </a:extLst>
              </p:cNvPr>
              <p:cNvSpPr>
                <a:spLocks noRot="1" noChangeAspect="1" noMove="1" noResize="1" noEditPoints="1" noAdjustHandles="1" noChangeArrowheads="1" noChangeShapeType="1" noTextEdit="1"/>
              </p:cNvSpPr>
              <p:nvPr/>
            </p:nvSpPr>
            <p:spPr>
              <a:xfrm>
                <a:off x="1533707" y="5723243"/>
                <a:ext cx="1983172" cy="358560"/>
              </a:xfrm>
              <a:prstGeom prst="rect">
                <a:avLst/>
              </a:prstGeom>
              <a:blipFill>
                <a:blip r:embed="rId9"/>
                <a:stretch>
                  <a:fillRect b="-1695"/>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EBC87E3B-4DC7-4C08-8D39-DDA5612D9B4A}"/>
                  </a:ext>
                </a:extLst>
              </p:cNvPr>
              <p:cNvSpPr/>
              <p:nvPr/>
            </p:nvSpPr>
            <p:spPr>
              <a:xfrm>
                <a:off x="1507981" y="6124461"/>
                <a:ext cx="2203680" cy="567784"/>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f>
                                <m:fPr>
                                  <m:type m:val="lin"/>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1</m:t>
                                  </m:r>
                                </m:num>
                                <m:den>
                                  <m:r>
                                    <a:rPr lang="en-HK" sz="1600" i="1">
                                      <a:latin typeface="Times New Roman" panose="02040503050406030204" pitchFamily="18" charset="0"/>
                                      <a:ea typeface="SimSun"/>
                                      <a:cs typeface="Times New Roman"/>
                                    </a:rPr>
                                    <m:t>𝑔</m:t>
                                  </m:r>
                                </m:den>
                              </m:f>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𝑢</m:t>
                          </m:r>
                        </m:e>
                      </m:acc>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f>
                            <m:fPr>
                              <m:type m:val="lin"/>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1</m:t>
                              </m:r>
                            </m:num>
                            <m:den>
                              <m:r>
                                <a:rPr lang="en-HK" sz="1600" i="1">
                                  <a:latin typeface="Times New Roman" panose="02040503050406030204" pitchFamily="18" charset="0"/>
                                  <a:ea typeface="SimSun"/>
                                  <a:cs typeface="Times New Roman"/>
                                </a:rPr>
                                <m:t>𝑔</m:t>
                              </m:r>
                            </m:den>
                          </m:f>
                        </m:sub>
                      </m:sSub>
                      <m:r>
                        <a:rPr lang="en-HK" sz="1600">
                          <a:latin typeface="Times New Roman" panose="02040503050406030204" pitchFamily="18" charset="0"/>
                          <a:ea typeface="SimSun"/>
                          <a:cs typeface="Times New Roman"/>
                        </a:rPr>
                        <m:t>=0</m:t>
                      </m:r>
                    </m:oMath>
                  </m:oMathPara>
                </a14:m>
                <a:endParaRPr lang="en-HK" sz="1600" dirty="0">
                  <a:latin typeface="Times New Roman"/>
                  <a:ea typeface="SimSun"/>
                  <a:cs typeface="Times New Roman"/>
                </a:endParaRPr>
              </a:p>
            </p:txBody>
          </p:sp>
        </mc:Choice>
        <mc:Fallback xmlns="">
          <p:sp>
            <p:nvSpPr>
              <p:cNvPr id="28" name="矩形 27">
                <a:extLst>
                  <a:ext uri="{FF2B5EF4-FFF2-40B4-BE49-F238E27FC236}">
                    <a16:creationId xmlns:a16="http://schemas.microsoft.com/office/drawing/2014/main" id="{EBC87E3B-4DC7-4C08-8D39-DDA5612D9B4A}"/>
                  </a:ext>
                </a:extLst>
              </p:cNvPr>
              <p:cNvSpPr>
                <a:spLocks noRot="1" noChangeAspect="1" noMove="1" noResize="1" noEditPoints="1" noAdjustHandles="1" noChangeArrowheads="1" noChangeShapeType="1" noTextEdit="1"/>
              </p:cNvSpPr>
              <p:nvPr/>
            </p:nvSpPr>
            <p:spPr>
              <a:xfrm>
                <a:off x="1507981" y="6124461"/>
                <a:ext cx="2203680" cy="567784"/>
              </a:xfrm>
              <a:prstGeom prst="rect">
                <a:avLst/>
              </a:prstGeom>
              <a:blipFill>
                <a:blip r:embed="rId10"/>
                <a:stretch>
                  <a:fillRect/>
                </a:stretch>
              </a:blipFill>
            </p:spPr>
            <p:txBody>
              <a:bodyPr/>
              <a:lstStyle/>
              <a:p>
                <a:r>
                  <a:rPr lang="en-US">
                    <a:noFill/>
                    <a:latin typeface="Times New Roman"/>
                    <a:ea typeface="SimSun"/>
                    <a:cs typeface="Times New Roman"/>
                  </a:rPr>
                  <a:t> </a:t>
                </a:r>
              </a:p>
            </p:txBody>
          </p:sp>
        </mc:Fallback>
      </mc:AlternateContent>
      <p:sp>
        <p:nvSpPr>
          <p:cNvPr id="29" name="矩形 28">
            <a:extLst>
              <a:ext uri="{FF2B5EF4-FFF2-40B4-BE49-F238E27FC236}">
                <a16:creationId xmlns:a16="http://schemas.microsoft.com/office/drawing/2014/main" id="{3BA7EDA3-69FA-4DDC-BED3-86D5F6606E8F}"/>
              </a:ext>
            </a:extLst>
          </p:cNvPr>
          <p:cNvSpPr/>
          <p:nvPr/>
        </p:nvSpPr>
        <p:spPr>
          <a:xfrm>
            <a:off x="5176190" y="1336452"/>
            <a:ext cx="2880917" cy="55118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panose="02020603050405020304" pitchFamily="18" charset="0"/>
              </a:rPr>
              <a:t>(5) Discrete phase model (DPM)</a:t>
            </a:r>
            <a:r>
              <a:rPr sz="1230" lang="zh-CN">
                <a:solidFill>
                  <a:srgbClr val="24425A"/>
                </a:solidFill>
                <a:latin typeface="Times New Roman"/>
                <a:ea typeface="SimSun"/>
                <a:cs typeface="Times New Roman"/>
              </a:rPr>
              <a:t>  （5）离散相模型（DPM）</a:t>
            </a:r>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A42D7DB2-03BD-473E-8855-F0E657132544}"/>
                  </a:ext>
                </a:extLst>
              </p:cNvPr>
              <p:cNvSpPr/>
              <p:nvPr/>
            </p:nvSpPr>
            <p:spPr>
              <a:xfrm>
                <a:off x="5459711" y="1729399"/>
                <a:ext cx="1233799" cy="624338"/>
              </a:xfrm>
              <a:prstGeom prst="rect">
                <a:avLst/>
              </a:prstGeom>
            </p:spPr>
            <p:txBody>
              <a:bodyPr wrap="none">
                <a:spAutoFit/>
              </a:bodyPr>
              <a:lstStyle/>
              <a:p>
                <a:pPr/>
                <a14:m>
                  <m:oMathPara xmlns:m="http://schemas.openxmlformats.org/officeDocument/2006/math">
                    <m:oMath>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𝑑</m:t>
                          </m:r>
                          <m:d>
                            <m:dPr>
                              <m:ctrlPr>
                                <a:rPr lang="en-HK" sz="1600" i="1">
                                  <a:latin typeface="Times New Roman" panose="02040503050406030204" pitchFamily="18" charset="0"/>
                                  <a:ea typeface="SimSun"/>
                                  <a:cs typeface="Times New Roman"/>
                                </a:rPr>
                              </m:ctrlPr>
                            </m:dPr>
                            <m:e>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𝑋</m:t>
                                      </m:r>
                                    </m:e>
                                    <m:sub>
                                      <m:r>
                                        <a:rPr lang="en-HK" sz="1600" i="1">
                                          <a:latin typeface="Times New Roman" panose="02040503050406030204" pitchFamily="18" charset="0"/>
                                          <a:ea typeface="SimSun"/>
                                          <a:cs typeface="Times New Roman"/>
                                        </a:rPr>
                                        <m:t>𝑔</m:t>
                                      </m:r>
                                    </m:sub>
                                  </m:sSub>
                                </m:e>
                              </m:acc>
                            </m:e>
                          </m:d>
                        </m:num>
                        <m:den>
                          <m:r>
                            <a:rPr lang="en-HK" sz="1600" i="1">
                              <a:latin typeface="Times New Roman" panose="02040503050406030204" pitchFamily="18" charset="0"/>
                              <a:ea typeface="SimSun"/>
                              <a:cs typeface="Times New Roman"/>
                            </a:rPr>
                            <m:t>𝑑𝑡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𝑉</m:t>
                              </m:r>
                            </m:e>
                            <m:sub>
                              <m:r>
                                <a:rPr lang="en-HK" sz="1600" i="1">
                                  <a:latin typeface="Times New Roman" panose="02040503050406030204" pitchFamily="18" charset="0"/>
                                  <a:ea typeface="SimSun"/>
                                  <a:cs typeface="Times New Roman"/>
                                </a:rPr>
                                <m:t>𝑔</m:t>
                              </m:r>
                            </m:sub>
                          </m:sSub>
                        </m:e>
                      </m:acc>
                    </m:oMath>
                  </m:oMathPara>
                </a14:m>
                <a:endParaRPr lang="en-HK" sz="1600" dirty="0">
                  <a:latin typeface="Times New Roman"/>
                  <a:ea typeface="SimSun"/>
                  <a:cs typeface="Times New Roman"/>
                </a:endParaRPr>
              </a:p>
            </p:txBody>
          </p:sp>
        </mc:Choice>
        <mc:Fallback xmlns="">
          <p:sp>
            <p:nvSpPr>
              <p:cNvPr id="30" name="矩形 29">
                <a:extLst>
                  <a:ext uri="{FF2B5EF4-FFF2-40B4-BE49-F238E27FC236}">
                    <a16:creationId xmlns:a16="http://schemas.microsoft.com/office/drawing/2014/main" id="{A42D7DB2-03BD-473E-8855-F0E657132544}"/>
                  </a:ext>
                </a:extLst>
              </p:cNvPr>
              <p:cNvSpPr>
                <a:spLocks noRot="1" noChangeAspect="1" noMove="1" noResize="1" noEditPoints="1" noAdjustHandles="1" noChangeArrowheads="1" noChangeShapeType="1" noTextEdit="1"/>
              </p:cNvSpPr>
              <p:nvPr/>
            </p:nvSpPr>
            <p:spPr>
              <a:xfrm>
                <a:off x="5459711" y="1729399"/>
                <a:ext cx="1233799" cy="624338"/>
              </a:xfrm>
              <a:prstGeom prst="rect">
                <a:avLst/>
              </a:prstGeom>
              <a:blipFill>
                <a:blip r:embed="rId11"/>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9CFF45E8-885C-4D77-91D9-E424F63501B3}"/>
                  </a:ext>
                </a:extLst>
              </p:cNvPr>
              <p:cNvSpPr/>
              <p:nvPr/>
            </p:nvSpPr>
            <p:spPr>
              <a:xfrm>
                <a:off x="5459710" y="2388185"/>
                <a:ext cx="1973169" cy="618439"/>
              </a:xfrm>
              <a:prstGeom prst="rect">
                <a:avLst/>
              </a:prstGeom>
            </p:spPr>
            <p:txBody>
              <a:bodyPr wrap="none">
                <a:spAutoFit/>
              </a:bodyPr>
              <a:lstStyle/>
              <a:p>
                <a:pPr/>
                <a14:m>
                  <m:oMathPara xmlns:m="http://schemas.openxmlformats.org/officeDocument/2006/math">
                    <m:oMath>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𝑑</m:t>
                          </m:r>
                          <m:d>
                            <m:dPr>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𝑚</m:t>
                                  </m:r>
                                </m:e>
                                <m:sub>
                                  <m:r>
                                    <a:rPr lang="en-HK" sz="1600" i="1">
                                      <a:latin typeface="Times New Roman" panose="02040503050406030204" pitchFamily="18" charset="0"/>
                                      <a:ea typeface="SimSun"/>
                                      <a:cs typeface="Times New Roman"/>
                                    </a:rPr>
                                    <m:t>𝑑</m:t>
                                  </m:r>
                                </m:sub>
                              </m:sSub>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𝑑</m:t>
                                      </m:r>
                                    </m:sub>
                                  </m:sSub>
                                </m:e>
                              </m:acc>
                            </m:e>
                          </m:d>
                        </m:num>
                        <m:den>
                          <m:r>
                            <a:rPr lang="en-HK" sz="1600" i="1">
                              <a:latin typeface="Times New Roman" panose="02040503050406030204" pitchFamily="18" charset="0"/>
                              <a:ea typeface="SimSun"/>
                              <a:cs typeface="Times New Roman"/>
                            </a:rPr>
                            <m:t>𝑑𝑡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𝐷</m:t>
                              </m:r>
                            </m:sub>
                          </m:sSub>
                        </m:e>
                      </m:acc>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𝑔</m:t>
                              </m:r>
                            </m:sub>
                          </m:sSub>
                        </m:e>
                      </m:acc>
                    </m:oMath>
                  </m:oMathPara>
                </a14:m>
                <a:endParaRPr lang="en-HK" sz="1600" dirty="0">
                  <a:latin typeface="Times New Roman"/>
                  <a:ea typeface="SimSun"/>
                  <a:cs typeface="Times New Roman"/>
                </a:endParaRPr>
              </a:p>
            </p:txBody>
          </p:sp>
        </mc:Choice>
        <mc:Fallback xmlns="">
          <p:sp>
            <p:nvSpPr>
              <p:cNvPr id="31" name="矩形 30">
                <a:extLst>
                  <a:ext uri="{FF2B5EF4-FFF2-40B4-BE49-F238E27FC236}">
                    <a16:creationId xmlns:a16="http://schemas.microsoft.com/office/drawing/2014/main" id="{9CFF45E8-885C-4D77-91D9-E424F63501B3}"/>
                  </a:ext>
                </a:extLst>
              </p:cNvPr>
              <p:cNvSpPr>
                <a:spLocks noRot="1" noChangeAspect="1" noMove="1" noResize="1" noEditPoints="1" noAdjustHandles="1" noChangeArrowheads="1" noChangeShapeType="1" noTextEdit="1"/>
              </p:cNvSpPr>
              <p:nvPr/>
            </p:nvSpPr>
            <p:spPr>
              <a:xfrm>
                <a:off x="5459710" y="2388185"/>
                <a:ext cx="1973169" cy="618439"/>
              </a:xfrm>
              <a:prstGeom prst="rect">
                <a:avLst/>
              </a:prstGeom>
              <a:blipFill>
                <a:blip r:embed="rId12"/>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DDE7A3DE-B2BA-4BA8-9CA6-EA91F0447FFD}"/>
                  </a:ext>
                </a:extLst>
              </p:cNvPr>
              <p:cNvSpPr/>
              <p:nvPr/>
            </p:nvSpPr>
            <p:spPr>
              <a:xfrm>
                <a:off x="5459710" y="2862581"/>
                <a:ext cx="2236831" cy="512384"/>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𝐹</m:t>
                              </m:r>
                            </m:e>
                          </m:acc>
                        </m:e>
                        <m:sub>
                          <m:r>
                            <a:rPr lang="en-HK" sz="1600" i="1">
                              <a:latin typeface="Times New Roman" panose="02040503050406030204" pitchFamily="18" charset="0"/>
                              <a:ea typeface="SimSun"/>
                              <a:cs typeface="Times New Roman"/>
                            </a:rPr>
                            <m:t>𝑑</m:t>
                          </m:r>
                        </m:sub>
                      </m:sSub>
                      <m:r>
                        <a:rPr lang="en-HK"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𝜋</m:t>
                          </m:r>
                        </m:num>
                        <m:den>
                          <m:r>
                            <a:rPr lang="en-HK" sz="1600">
                              <a:latin typeface="Times New Roman" panose="02040503050406030204" pitchFamily="18" charset="0"/>
                              <a:ea typeface="SimSun"/>
                              <a:cs typeface="Times New Roman"/>
                            </a:rPr>
                            <m:t>8</m:t>
                          </m:r>
                        </m:den>
                      </m:f>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𝐶</m:t>
                          </m:r>
                        </m:e>
                        <m:sub>
                          <m:r>
                            <a:rPr lang="en-HK" sz="1600" i="1">
                              <a:latin typeface="Times New Roman" panose="02040503050406030204" pitchFamily="18" charset="0"/>
                              <a:ea typeface="SimSun"/>
                              <a:cs typeface="Times New Roman"/>
                            </a:rPr>
                            <m:t>𝐷</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i="1">
                              <a:latin typeface="Times New Roman" panose="02040503050406030204" pitchFamily="18" charset="0"/>
                              <a:ea typeface="SimSun"/>
                              <a:cs typeface="Times New Roman"/>
                            </a:rPr>
                            <m:t>𝑎</m:t>
                          </m:r>
                        </m:sub>
                      </m:sSub>
                      <m:sSubSup>
                        <m:sSubSupPr>
                          <m:ctrlPr>
                            <a:rPr lang="en-HK" sz="1600" i="1">
                              <a:latin typeface="Times New Roman" panose="02040503050406030204" pitchFamily="18" charset="0"/>
                              <a:ea typeface="SimSun"/>
                              <a:cs typeface="Times New Roman"/>
                            </a:rPr>
                          </m:ctrlPr>
                        </m:sSubSupPr>
                        <m:e>
                          <m:r>
                            <a:rPr lang="en-HK" sz="1600" i="1">
                              <a:latin typeface="Times New Roman" panose="02040503050406030204" pitchFamily="18" charset="0"/>
                              <a:ea typeface="SimSun"/>
                              <a:cs typeface="Times New Roman"/>
                            </a:rPr>
                            <m:t>𝐷</m:t>
                          </m:r>
                        </m:e>
                        <m:sub>
                          <m:r>
                            <a:rPr lang="en-HK" sz="1600" i="1">
                              <a:latin typeface="Times New Roman" panose="02040503050406030204" pitchFamily="18" charset="0"/>
                              <a:ea typeface="SimSun"/>
                              <a:cs typeface="Times New Roman"/>
                            </a:rPr>
                            <m:t>𝑑</m:t>
                          </m:r>
                        </m:sub>
                        <m:sup>
                          <m:r>
                            <a:rPr lang="en-HK" sz="1600">
                              <a:latin typeface="Times New Roman" panose="02040503050406030204" pitchFamily="18" charset="0"/>
                              <a:ea typeface="SimSun"/>
                              <a:cs typeface="Times New Roman"/>
                            </a:rPr>
                            <m:t>2</m:t>
                          </m:r>
                        </m:sup>
                      </m:sSubSup>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𝑉</m:t>
                              </m:r>
                            </m:e>
                          </m:acc>
                        </m:e>
                        <m:sub>
                          <m:r>
                            <a:rPr lang="en-HK" sz="1600" i="1">
                              <a:latin typeface="Times New Roman" panose="02040503050406030204" pitchFamily="18" charset="0"/>
                              <a:ea typeface="SimSun"/>
                              <a:cs typeface="Times New Roman"/>
                            </a:rPr>
                            <m:t>𝑟</m:t>
                          </m:r>
                        </m:sub>
                      </m:sSub>
                      <m:d>
                        <m:dPr>
                          <m:begChr m:val="|"/>
                          <m:endChr m:val="|"/>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𝑉</m:t>
                                  </m:r>
                                </m:e>
                              </m:acc>
                            </m:e>
                            <m:sub>
                              <m:r>
                                <a:rPr lang="en-HK" sz="1600" i="1">
                                  <a:latin typeface="Times New Roman" panose="02040503050406030204" pitchFamily="18" charset="0"/>
                                  <a:ea typeface="SimSun"/>
                                  <a:cs typeface="Times New Roman"/>
                                </a:rPr>
                                <m:t>𝑟</m:t>
                              </m:r>
                            </m:sub>
                          </m:sSub>
                        </m:e>
                      </m:d>
                    </m:oMath>
                  </m:oMathPara>
                </a14:m>
                <a:endParaRPr lang="en-HK" sz="1600" dirty="0">
                  <a:latin typeface="Times New Roman"/>
                  <a:ea typeface="SimSun"/>
                  <a:cs typeface="Times New Roman"/>
                </a:endParaRPr>
              </a:p>
            </p:txBody>
          </p:sp>
        </mc:Choice>
        <mc:Fallback xmlns="">
          <p:sp>
            <p:nvSpPr>
              <p:cNvPr id="32" name="矩形 31">
                <a:extLst>
                  <a:ext uri="{FF2B5EF4-FFF2-40B4-BE49-F238E27FC236}">
                    <a16:creationId xmlns:a16="http://schemas.microsoft.com/office/drawing/2014/main" id="{DDE7A3DE-B2BA-4BA8-9CA6-EA91F0447FFD}"/>
                  </a:ext>
                </a:extLst>
              </p:cNvPr>
              <p:cNvSpPr>
                <a:spLocks noRot="1" noChangeAspect="1" noMove="1" noResize="1" noEditPoints="1" noAdjustHandles="1" noChangeArrowheads="1" noChangeShapeType="1" noTextEdit="1"/>
              </p:cNvSpPr>
              <p:nvPr/>
            </p:nvSpPr>
            <p:spPr>
              <a:xfrm>
                <a:off x="5459710" y="2862581"/>
                <a:ext cx="2236831" cy="512384"/>
              </a:xfrm>
              <a:prstGeom prst="rect">
                <a:avLst/>
              </a:prstGeom>
              <a:blipFill>
                <a:blip r:embed="rId13"/>
                <a:stretch>
                  <a:fillRect b="-3571"/>
                </a:stretch>
              </a:blipFill>
            </p:spPr>
            <p:txBody>
              <a:bodyPr/>
              <a:lstStyle/>
              <a:p>
                <a:r>
                  <a:rPr lang="en-US">
                    <a:noFill/>
                    <a:latin typeface="Times New Roman"/>
                    <a:ea typeface="SimSun"/>
                    <a:cs typeface="Times New Roman"/>
                  </a:rPr>
                  <a:t> </a:t>
                </a:r>
              </a:p>
            </p:txBody>
          </p:sp>
        </mc:Fallback>
      </mc:AlternateContent>
      <p:sp>
        <p:nvSpPr>
          <p:cNvPr id="33" name="矩形 32">
            <a:extLst>
              <a:ext uri="{FF2B5EF4-FFF2-40B4-BE49-F238E27FC236}">
                <a16:creationId xmlns:a16="http://schemas.microsoft.com/office/drawing/2014/main" id="{4C8FBD9D-EBC3-41B1-A099-270EFC7B604F}"/>
              </a:ext>
            </a:extLst>
          </p:cNvPr>
          <p:cNvSpPr/>
          <p:nvPr/>
        </p:nvSpPr>
        <p:spPr>
          <a:xfrm>
            <a:off x="5268673" y="3374965"/>
            <a:ext cx="1967462" cy="55118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panose="02020603050405020304" pitchFamily="18" charset="0"/>
              </a:rPr>
              <a:t>(6) Turbulence model</a:t>
            </a:r>
            <a:r>
              <a:rPr sz="1230" lang="zh-CN">
                <a:solidFill>
                  <a:srgbClr val="24425A"/>
                </a:solidFill>
                <a:latin typeface="Times New Roman"/>
                <a:ea typeface="SimSun"/>
                <a:cs typeface="Times New Roman"/>
              </a:rPr>
              <a:t>  （6）湍流模型</a:t>
            </a: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CC0C75E1-F80A-42B8-9E91-E89C78BA5AFA}"/>
                  </a:ext>
                </a:extLst>
              </p:cNvPr>
              <p:cNvSpPr/>
              <p:nvPr/>
            </p:nvSpPr>
            <p:spPr>
              <a:xfrm>
                <a:off x="5459710" y="3791273"/>
                <a:ext cx="1480470" cy="338554"/>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𝑅𝑒</m:t>
                          </m:r>
                        </m:e>
                        <m:sub>
                          <m:r>
                            <a:rPr lang="en-HK" sz="1600" i="1">
                              <a:latin typeface="Times New Roman" panose="02040503050406030204" pitchFamily="18" charset="0"/>
                              <a:ea typeface="SimSun"/>
                              <a:cs typeface="Times New Roman"/>
                            </a:rPr>
                            <m:t>𝑠</m:t>
                          </m:r>
                        </m:sub>
                      </m:sSub>
                      <m:r>
                        <a:rPr lang="en-HK" sz="1600">
                          <a:latin typeface="Times New Roman" panose="02040503050406030204" pitchFamily="18" charset="0"/>
                          <a:ea typeface="SimSun"/>
                          <a:cs typeface="Times New Roman"/>
                        </a:rPr>
                        <m:t>=4</m:t>
                      </m:r>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𝜔</m:t>
                          </m:r>
                        </m:e>
                      </m:acc>
                      <m:f>
                        <m:fPr>
                          <m:type m:val="lin"/>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𝛿</m:t>
                          </m:r>
                        </m:num>
                        <m:den>
                          <m:r>
                            <a:rPr lang="en-HK" sz="1600" i="1">
                              <a:latin typeface="Times New Roman" panose="02040503050406030204" pitchFamily="18" charset="0"/>
                              <a:ea typeface="SimSun"/>
                              <a:cs typeface="Times New Roman"/>
                            </a:rPr>
                            <m:t>𝑣</m:t>
                          </m:r>
                        </m:den>
                      </m:f>
                    </m:oMath>
                  </m:oMathPara>
                </a14:m>
                <a:endParaRPr lang="en-HK" sz="1600" dirty="0">
                  <a:latin typeface="Times New Roman"/>
                  <a:ea typeface="SimSun"/>
                  <a:cs typeface="Times New Roman"/>
                </a:endParaRPr>
              </a:p>
            </p:txBody>
          </p:sp>
        </mc:Choice>
        <mc:Fallback xmlns="">
          <p:sp>
            <p:nvSpPr>
              <p:cNvPr id="34" name="矩形 33">
                <a:extLst>
                  <a:ext uri="{FF2B5EF4-FFF2-40B4-BE49-F238E27FC236}">
                    <a16:creationId xmlns:a16="http://schemas.microsoft.com/office/drawing/2014/main" id="{CC0C75E1-F80A-42B8-9E91-E89C78BA5AFA}"/>
                  </a:ext>
                </a:extLst>
              </p:cNvPr>
              <p:cNvSpPr>
                <a:spLocks noRot="1" noChangeAspect="1" noMove="1" noResize="1" noEditPoints="1" noAdjustHandles="1" noChangeArrowheads="1" noChangeShapeType="1" noTextEdit="1"/>
              </p:cNvSpPr>
              <p:nvPr/>
            </p:nvSpPr>
            <p:spPr>
              <a:xfrm>
                <a:off x="5459710" y="3791273"/>
                <a:ext cx="1480470" cy="338554"/>
              </a:xfrm>
              <a:prstGeom prst="rect">
                <a:avLst/>
              </a:prstGeom>
              <a:blipFill>
                <a:blip r:embed="rId14"/>
                <a:stretch>
                  <a:fillRect t="-100000" r="-26033" b="-170909"/>
                </a:stretch>
              </a:blipFill>
            </p:spPr>
            <p:txBody>
              <a:bodyPr/>
              <a:lstStyle/>
              <a:p>
                <a:r>
                  <a:rPr lang="en-US">
                    <a:noFill/>
                    <a:latin typeface="Times New Roman"/>
                    <a:ea typeface="SimSun"/>
                    <a:cs typeface="Times New Roman"/>
                  </a:rPr>
                  <a:t> </a:t>
                </a:r>
              </a:p>
            </p:txBody>
          </p:sp>
        </mc:Fallback>
      </mc:AlternateContent>
      <p:pic>
        <p:nvPicPr>
          <p:cNvPr id="35" name="图片 34">
            <a:extLst>
              <a:ext uri="{FF2B5EF4-FFF2-40B4-BE49-F238E27FC236}">
                <a16:creationId xmlns:a16="http://schemas.microsoft.com/office/drawing/2014/main" id="{23EC7CA3-ABAA-4E7F-B3D8-608BD825342B}"/>
              </a:ext>
            </a:extLst>
          </p:cNvPr>
          <p:cNvPicPr/>
          <p:nvPr/>
        </p:nvPicPr>
        <p:blipFill>
          <a:blip r:embed="rId15" cstate="print">
            <a:extLst>
              <a:ext uri="{28A0092B-C50C-407E-A947-70E740481C1C}">
                <a14:useLocalDpi xmlns:a14="http://schemas.microsoft.com/office/drawing/2010/main" val="0"/>
              </a:ext>
            </a:extLst>
          </a:blip>
          <a:stretch>
            <a:fillRect/>
          </a:stretch>
        </p:blipFill>
        <p:spPr>
          <a:xfrm>
            <a:off x="8881800" y="2770302"/>
            <a:ext cx="1819115" cy="2868645"/>
          </a:xfrm>
          <a:prstGeom prst="rect">
            <a:avLst/>
          </a:prstGeom>
        </p:spPr>
      </p:pic>
      <p:sp>
        <p:nvSpPr>
          <p:cNvPr id="36" name="矩形 35">
            <a:extLst>
              <a:ext uri="{FF2B5EF4-FFF2-40B4-BE49-F238E27FC236}">
                <a16:creationId xmlns:a16="http://schemas.microsoft.com/office/drawing/2014/main" id="{3FA405FF-3B2A-417F-8A00-0A953952158C}"/>
              </a:ext>
            </a:extLst>
          </p:cNvPr>
          <p:cNvSpPr/>
          <p:nvPr/>
        </p:nvSpPr>
        <p:spPr>
          <a:xfrm>
            <a:off x="5282414" y="4529147"/>
            <a:ext cx="2093843" cy="342786"/>
          </a:xfrm>
          <a:prstGeom prst="rect">
            <a:avLst/>
          </a:prstGeom>
        </p:spPr>
        <p:txBody>
          <a:bodyPr wrap="square" tIns="0" bIns="0">
            <a:noAutofit/>
          </a:bodyPr>
          <a:lstStyle/>
          <a:p>
            <a:pPr algn="l">
              <a:lnSpc>
                <a:spcPct val="108000"/>
              </a:lnSpc>
              <a:spcAft>
                <a:spcPts val="300"/>
              </a:spcAft>
            </a:pPr>
            <a:r>
              <a:rPr lang="en-HK" sz="950" dirty="0">
                <a:latin typeface="Times New Roman" panose="02020603050405020304" pitchFamily="18" charset="0"/>
                <a:ea typeface="SimSun" panose="02010600030101010101" pitchFamily="2" charset="-122"/>
                <a:cs typeface="Times New Roman" panose="02020603050405020304" pitchFamily="18" charset="0"/>
              </a:rPr>
              <a:t>(7) Calculation method</a:t>
            </a:r>
            <a:r>
              <a:rPr sz="779" lang="zh-CN">
                <a:solidFill>
                  <a:srgbClr val="24425A"/>
                </a:solidFill>
                <a:latin typeface="Times New Roman"/>
                <a:ea typeface="SimSun"/>
                <a:cs typeface="Times New Roman"/>
              </a:rPr>
              <a:t>  （7）求解方法</a:t>
            </a:r>
          </a:p>
        </p:txBody>
      </p:sp>
      <p:sp>
        <p:nvSpPr>
          <p:cNvPr id="37" name="矩形 36">
            <a:extLst>
              <a:ext uri="{FF2B5EF4-FFF2-40B4-BE49-F238E27FC236}">
                <a16:creationId xmlns:a16="http://schemas.microsoft.com/office/drawing/2014/main" id="{1A6987E3-F859-4074-9331-C20E4498BBB0}"/>
              </a:ext>
            </a:extLst>
          </p:cNvPr>
          <p:cNvSpPr/>
          <p:nvPr/>
        </p:nvSpPr>
        <p:spPr>
          <a:xfrm>
            <a:off x="5503120" y="4928467"/>
            <a:ext cx="2380780" cy="342786"/>
          </a:xfrm>
          <a:prstGeom prst="rect">
            <a:avLst/>
          </a:prstGeom>
        </p:spPr>
        <p:txBody>
          <a:bodyPr wrap="square" tIns="0" bIns="0">
            <a:noAutofit/>
          </a:bodyPr>
          <a:lstStyle/>
          <a:p>
            <a:pPr algn="l">
              <a:lnSpc>
                <a:spcPct val="108000"/>
              </a:lnSpc>
              <a:spcAft>
                <a:spcPts val="300"/>
              </a:spcAft>
            </a:pPr>
            <a:r>
              <a:rPr lang="en-HK" sz="950" dirty="0">
                <a:latin typeface="Times New Roman" panose="02020603050405020304" pitchFamily="18" charset="0"/>
                <a:ea typeface="SimSun" panose="02010600030101010101" pitchFamily="2" charset="-122"/>
                <a:cs typeface="Times New Roman" panose="02020603050405020304" pitchFamily="18" charset="0"/>
              </a:rPr>
              <a:t>EWF coupled DPM model</a:t>
            </a:r>
            <a:r>
              <a:rPr sz="779" lang="zh-CN">
                <a:solidFill>
                  <a:srgbClr val="24425A"/>
                </a:solidFill>
                <a:latin typeface="Times New Roman"/>
                <a:ea typeface="SimSun"/>
                <a:cs typeface="Times New Roman"/>
              </a:rPr>
              <a:t>  欧拉壁膜（EWF）与 DPM 耦合模型</a:t>
            </a:r>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2EB13829-A891-44E9-8FDD-8E8A86C243E2}"/>
                  </a:ext>
                </a:extLst>
              </p:cNvPr>
              <p:cNvSpPr/>
              <p:nvPr/>
            </p:nvSpPr>
            <p:spPr>
              <a:xfrm>
                <a:off x="5499208" y="4100180"/>
                <a:ext cx="2912529" cy="338554"/>
              </a:xfrm>
              <a:prstGeom prst="rect">
                <a:avLst/>
              </a:prstGeom>
            </p:spPr>
            <p:txBody>
              <a:bodyPr wrap="none">
                <a:spAutoFit/>
              </a:bodyPr>
              <a:lstStyle/>
              <a:p>
                <a:r>
                  <a:rPr lang="en-HK" sz="1600" dirty="0">
                    <a:latin typeface="Times New Roman" panose="02020603050405020304" pitchFamily="18" charset="0"/>
                    <a:ea typeface="SimSun" panose="02010600030101010101" pitchFamily="2" charset="-122"/>
                    <a:cs typeface="Times New Roman"/>
                  </a:rPr>
                  <a:t>Applied</a:t>
                </a:r>
                <a:r>
                  <a:rPr lang="en-HK" sz="1600" dirty="0">
                    <a:latin typeface="Times New Roman"/>
                    <a:ea typeface="SimSun" panose="02010600030101010101" pitchFamily="2" charset="-122"/>
                    <a:cs typeface="Times New Roman" panose="02020603050405020304" pitchFamily="18" charset="0"/>
                  </a:rPr>
                  <a:t> </a:t>
                </a:r>
                <a14:m>
                  <m:oMath xmlns:m="http://schemas.openxmlformats.org/officeDocument/2006/math">
                    <m:r>
                      <a:rPr lang="en-HK" sz="1600" i="1">
                        <a:latin typeface="Times New Roman" panose="02040503050406030204" pitchFamily="18" charset="0"/>
                        <a:ea typeface="SimSun" panose="02010600030101010101" pitchFamily="2" charset="-122"/>
                        <a:cs typeface="Times New Roman" panose="02020603050405020304" pitchFamily="18" charset="0"/>
                      </a:rPr>
                      <m:t>𝑘</m:t>
                    </m:r>
                    <m:r>
                      <a:rPr lang="en-HK" sz="1600" i="1">
                        <a:latin typeface="Times New Roman" panose="02040503050406030204" pitchFamily="18" charset="0"/>
                        <a:ea typeface="SimSun" panose="02010600030101010101" pitchFamily="2" charset="-122"/>
                        <a:cs typeface="Times New Roman" panose="02020603050405020304" pitchFamily="18" charset="0"/>
                      </a:rPr>
                      <m:t>−</m:t>
                    </m:r>
                    <m:r>
                      <a:rPr lang="en-HK" sz="1600" i="1">
                        <a:latin typeface="Times New Roman" panose="02040503050406030204" pitchFamily="18" charset="0"/>
                        <a:ea typeface="SimSun" panose="02010600030101010101" pitchFamily="2" charset="-122"/>
                        <a:cs typeface="Times New Roman" panose="02020603050405020304" pitchFamily="18" charset="0"/>
                      </a:rPr>
                      <m:t>𝜀</m:t>
                    </m:r>
                  </m:oMath>
                </a14:m>
                <a:r>
                  <a:rPr lang="en-HK" sz="1600" dirty="0">
                    <a:latin typeface="Times New Roman" panose="02020603050405020304" pitchFamily="18" charset="0"/>
                    <a:ea typeface="SimSun" panose="02010600030101010101" pitchFamily="2" charset="-122"/>
                    <a:cs typeface="Times New Roman"/>
                  </a:rPr>
                  <a:t> turbulence model </a:t>
                </a:r>
                <a:endParaRPr lang="en-HK" sz="1600" dirty="0">
                  <a:latin typeface="Times New Roman"/>
                  <a:ea typeface="SimSun"/>
                  <a:cs typeface="Times New Roman"/>
                </a:endParaRPr>
              </a:p>
            </p:txBody>
          </p:sp>
        </mc:Choice>
        <mc:Fallback xmlns="">
          <p:sp>
            <p:nvSpPr>
              <p:cNvPr id="38" name="矩形 37">
                <a:extLst>
                  <a:ext uri="{FF2B5EF4-FFF2-40B4-BE49-F238E27FC236}">
                    <a16:creationId xmlns:a16="http://schemas.microsoft.com/office/drawing/2014/main" id="{2EB13829-A891-44E9-8FDD-8E8A86C243E2}"/>
                  </a:ext>
                </a:extLst>
              </p:cNvPr>
              <p:cNvSpPr>
                <a:spLocks noRot="1" noChangeAspect="1" noMove="1" noResize="1" noEditPoints="1" noAdjustHandles="1" noChangeArrowheads="1" noChangeShapeType="1" noTextEdit="1"/>
              </p:cNvSpPr>
              <p:nvPr/>
            </p:nvSpPr>
            <p:spPr>
              <a:xfrm>
                <a:off x="5499208" y="4100180"/>
                <a:ext cx="2912529" cy="338554"/>
              </a:xfrm>
              <a:prstGeom prst="rect">
                <a:avLst/>
              </a:prstGeom>
              <a:blipFill>
                <a:blip r:embed="rId16"/>
                <a:stretch>
                  <a:fillRect l="-1046" t="-5455" r="-209" b="-23636"/>
                </a:stretch>
              </a:blipFill>
            </p:spPr>
            <p:txBody>
              <a:bodyPr/>
              <a:lstStyle/>
              <a:p>
                <a:r>
                  <a:rPr lang="en-US">
                    <a:noFill/>
                    <a:latin typeface="Times New Roman"/>
                    <a:ea typeface="SimSun"/>
                    <a:cs typeface="Times New Roman"/>
                  </a:rPr>
                  <a:t> </a:t>
                </a:r>
              </a:p>
            </p:txBody>
          </p:sp>
        </mc:Fallback>
      </mc:AlternateContent>
      <p:sp>
        <p:nvSpPr>
          <p:cNvPr id="39" name="矩形 38">
            <a:extLst>
              <a:ext uri="{FF2B5EF4-FFF2-40B4-BE49-F238E27FC236}">
                <a16:creationId xmlns:a16="http://schemas.microsoft.com/office/drawing/2014/main" id="{A9D30FF3-9469-4424-B2D5-4563CAC6F326}"/>
              </a:ext>
            </a:extLst>
          </p:cNvPr>
          <p:cNvSpPr/>
          <p:nvPr/>
        </p:nvSpPr>
        <p:spPr>
          <a:xfrm>
            <a:off x="5499208" y="5302385"/>
            <a:ext cx="3298788" cy="551180"/>
          </a:xfrm>
          <a:prstGeom prst="rect">
            <a:avLst/>
          </a:prstGeom>
        </p:spPr>
        <p:txBody>
          <a:bodyPr wrap="square" tIns="0" bIns="0">
            <a:noAutofit/>
          </a:bodyPr>
          <a:lstStyle/>
          <a:p>
            <a:pPr algn="l">
              <a:lnSpc>
                <a:spcPct val="108000"/>
              </a:lnSpc>
              <a:spcAft>
                <a:spcPts val="300"/>
              </a:spcAft>
            </a:pPr>
            <a:r>
              <a:rPr lang="en-HK" sz="1500" dirty="0">
                <a:latin typeface="Times New Roman" panose="02020603050405020304" pitchFamily="18" charset="0"/>
                <a:ea typeface="SimSun" panose="02010600030101010101" pitchFamily="2" charset="-122"/>
                <a:cs typeface="Times New Roman" panose="02020603050405020304" pitchFamily="18" charset="0"/>
              </a:rPr>
              <a:t>The SIMPLE and </a:t>
            </a:r>
            <a:r>
              <a:rPr lang="en-US" sz="1500" dirty="0">
                <a:latin typeface="Times New Roman" panose="02020603050405020304" pitchFamily="18" charset="0"/>
                <a:ea typeface="SimSun" panose="02010600030101010101" pitchFamily="2" charset="-122"/>
                <a:cs typeface="Times New Roman" panose="02020603050405020304" pitchFamily="18" charset="0"/>
              </a:rPr>
              <a:t>PRESTO! pressure</a:t>
            </a:r>
            <a:r>
              <a:rPr lang="en-HK" sz="1500" dirty="0">
                <a:latin typeface="Times New Roman" panose="02020603050405020304" pitchFamily="18" charset="0"/>
                <a:ea typeface="SimSun" panose="02010600030101010101" pitchFamily="2" charset="-122"/>
                <a:cs typeface="Times New Roman" panose="02020603050405020304" pitchFamily="18" charset="0"/>
              </a:rPr>
              <a:t> </a:t>
            </a:r>
            <a:r>
              <a:rPr sz="1230" lang="zh-CN">
                <a:solidFill>
                  <a:srgbClr val="24425A"/>
                </a:solidFill>
                <a:latin typeface="Times New Roman"/>
                <a:ea typeface="SimSun"/>
                <a:cs typeface="Times New Roman"/>
              </a:rPr>
              <a:t>  采用 SIMPLE 算法与 PRESTO! 压力插值格式</a:t>
            </a:r>
          </a:p>
        </p:txBody>
      </p:sp>
      <p:sp>
        <p:nvSpPr>
          <p:cNvPr id="40" name="矩形 39">
            <a:extLst>
              <a:ext uri="{FF2B5EF4-FFF2-40B4-BE49-F238E27FC236}">
                <a16:creationId xmlns:a16="http://schemas.microsoft.com/office/drawing/2014/main" id="{3F17D9C1-855F-414C-92BF-CFDF3B41B5BA}"/>
              </a:ext>
            </a:extLst>
          </p:cNvPr>
          <p:cNvSpPr/>
          <p:nvPr/>
        </p:nvSpPr>
        <p:spPr>
          <a:xfrm>
            <a:off x="8783641" y="5701047"/>
            <a:ext cx="3157011" cy="261610"/>
          </a:xfrm>
          <a:prstGeom prst="rect">
            <a:avLst/>
          </a:prstGeom>
        </p:spPr>
        <p:txBody>
          <a:bodyPr wrap="square">
            <a:spAutoFit/>
          </a:bodyPr>
          <a:lstStyle/>
          <a:p>
            <a:r>
              <a:rPr lang="en-HK" sz="1100" b="1" dirty="0">
                <a:latin typeface="Times New Roman" panose="02020603050405020304" pitchFamily="18" charset="0"/>
                <a:ea typeface="SimSun"/>
                <a:cs typeface="Times New Roman" panose="02020603050405020304" pitchFamily="18" charset="0"/>
              </a:rPr>
              <a:t>Fig.4.2.1 </a:t>
            </a:r>
            <a:r>
              <a:rPr lang="en-HK" sz="1100" dirty="0">
                <a:latin typeface="Times New Roman" panose="02020603050405020304" pitchFamily="18" charset="0"/>
                <a:ea typeface="SimSun"/>
                <a:cs typeface="Times New Roman" panose="02020603050405020304" pitchFamily="18" charset="0"/>
              </a:rPr>
              <a:t>Sketch of meshing in the model</a:t>
            </a:r>
          </a:p>
        </p:txBody>
      </p:sp>
      <p:sp>
        <p:nvSpPr>
          <p:cNvPr id="42" name="矩形 41">
            <a:extLst>
              <a:ext uri="{FF2B5EF4-FFF2-40B4-BE49-F238E27FC236}">
                <a16:creationId xmlns:a16="http://schemas.microsoft.com/office/drawing/2014/main" id="{8520FDF5-2393-4ACF-AFFA-60C8494F619F}"/>
              </a:ext>
            </a:extLst>
          </p:cNvPr>
          <p:cNvSpPr/>
          <p:nvPr/>
        </p:nvSpPr>
        <p:spPr>
          <a:xfrm>
            <a:off x="432473" y="954192"/>
            <a:ext cx="11188027" cy="369332"/>
          </a:xfrm>
          <a:prstGeom prst="rect">
            <a:avLst/>
          </a:prstGeom>
        </p:spPr>
        <p:txBody>
          <a:bodyPr wrap="square"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4.2 Model equations</a:t>
            </a:r>
            <a:r>
              <a:rPr sz="1230" lang="zh-CN">
                <a:solidFill>
                  <a:srgbClr val="24425A"/>
                </a:solidFill>
                <a:latin typeface="Times New Roman"/>
                <a:ea typeface="SimSun"/>
                <a:cs typeface="Times New Roman"/>
              </a:rPr>
              <a:t>  模型方程</a:t>
            </a:r>
          </a:p>
        </p:txBody>
      </p:sp>
      <p:sp>
        <p:nvSpPr>
          <p:cNvPr id="2" name="灯片编号占位符 1">
            <a:extLst>
              <a:ext uri="{FF2B5EF4-FFF2-40B4-BE49-F238E27FC236}">
                <a16:creationId xmlns:a16="http://schemas.microsoft.com/office/drawing/2014/main" id="{5A06B125-5902-4538-AEB1-33F0B3E7E28B}"/>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27</a:t>
            </a:fld>
            <a:endParaRPr lang="en-US" altLang="zh-CN">
              <a:latin typeface="Times New Roman"/>
              <a:ea typeface="SimSun"/>
              <a:cs typeface="Times New Roman"/>
            </a:endParaRPr>
          </a:p>
        </p:txBody>
      </p:sp>
      <p:sp>
        <p:nvSpPr>
          <p:cNvPr id="44" name="矩形 3">
            <a:extLst>
              <a:ext uri="{FF2B5EF4-FFF2-40B4-BE49-F238E27FC236}">
                <a16:creationId xmlns:a16="http://schemas.microsoft.com/office/drawing/2014/main" id="{237CE9BB-87C2-4BD8-81BD-BF23306BD500}"/>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45" name="矩形 44">
            <a:extLst>
              <a:ext uri="{FF2B5EF4-FFF2-40B4-BE49-F238E27FC236}">
                <a16:creationId xmlns:a16="http://schemas.microsoft.com/office/drawing/2014/main" id="{689AE2E5-5A55-4800-ADF6-BA5649DB4678}"/>
              </a:ext>
            </a:extLst>
          </p:cNvPr>
          <p:cNvSpPr/>
          <p:nvPr/>
        </p:nvSpPr>
        <p:spPr>
          <a:xfrm>
            <a:off x="9999754" y="4331116"/>
            <a:ext cx="120015" cy="42481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HK">
              <a:latin typeface="Times New Roman"/>
              <a:ea typeface="SimSun"/>
              <a:cs typeface="Times New Roman"/>
            </a:endParaRPr>
          </a:p>
        </p:txBody>
      </p:sp>
      <p:cxnSp>
        <p:nvCxnSpPr>
          <p:cNvPr id="46" name="直接箭头连接符 45">
            <a:extLst>
              <a:ext uri="{FF2B5EF4-FFF2-40B4-BE49-F238E27FC236}">
                <a16:creationId xmlns:a16="http://schemas.microsoft.com/office/drawing/2014/main" id="{B33F72BF-0B7F-4F6C-8C4F-89703A639675}"/>
              </a:ext>
            </a:extLst>
          </p:cNvPr>
          <p:cNvCxnSpPr>
            <a:cxnSpLocks/>
          </p:cNvCxnSpPr>
          <p:nvPr/>
        </p:nvCxnSpPr>
        <p:spPr>
          <a:xfrm flipV="1">
            <a:off x="10120404" y="4496851"/>
            <a:ext cx="878275" cy="1"/>
          </a:xfrm>
          <a:prstGeom prst="straightConnector1">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48"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37302386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对象 22">
            <a:extLst>
              <a:ext uri="{FF2B5EF4-FFF2-40B4-BE49-F238E27FC236}">
                <a16:creationId xmlns:a16="http://schemas.microsoft.com/office/drawing/2014/main" id="{60C4AA45-821C-49F5-B928-C5C40E7526D8}"/>
              </a:ext>
            </a:extLst>
          </p:cNvPr>
          <p:cNvGraphicFramePr>
            <a:graphicFrameLocks noChangeAspect="1"/>
          </p:cNvGraphicFramePr>
          <p:nvPr>
            <p:extLst>
              <p:ext uri="{D42A27DB-BD31-4B8C-83A1-F6EECF244321}">
                <p14:modId xmlns:p14="http://schemas.microsoft.com/office/powerpoint/2010/main" val="2758621797"/>
              </p:ext>
            </p:extLst>
          </p:nvPr>
        </p:nvGraphicFramePr>
        <p:xfrm>
          <a:off x="6791255" y="1674622"/>
          <a:ext cx="4230818" cy="3521849"/>
        </p:xfrm>
        <a:graphic>
          <a:graphicData uri="http://schemas.openxmlformats.org/presentationml/2006/ole">
            <mc:AlternateContent xmlns:mc="http://schemas.openxmlformats.org/markup-compatibility/2006">
              <mc:Choice xmlns:v="urn:schemas-microsoft-com:vml" Requires="v">
                <p:oleObj name="Graph" r:id="rId3" imgW="6523715" imgH="5420971" progId="Origin95.Graph">
                  <p:embed/>
                </p:oleObj>
              </mc:Choice>
              <mc:Fallback>
                <p:oleObj name="Graph" r:id="rId3" imgW="6523715" imgH="5420971" progId="Origin95.Graph">
                  <p:embed/>
                  <p:pic>
                    <p:nvPicPr>
                      <p:cNvPr id="0" name="Object 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1255" y="1674622"/>
                        <a:ext cx="4230818" cy="3521849"/>
                      </a:xfrm>
                      <a:prstGeom prst="rect">
                        <a:avLst/>
                      </a:prstGeom>
                      <a:noFill/>
                    </p:spPr>
                  </p:pic>
                </p:oleObj>
              </mc:Fallback>
            </mc:AlternateContent>
          </a:graphicData>
        </a:graphic>
      </p:graphicFrame>
      <p:sp>
        <p:nvSpPr>
          <p:cNvPr id="2" name="文本框 1">
            <a:extLst>
              <a:ext uri="{FF2B5EF4-FFF2-40B4-BE49-F238E27FC236}">
                <a16:creationId xmlns:a16="http://schemas.microsoft.com/office/drawing/2014/main" id="{E720DF96-1927-4522-88AC-6E975D11B44C}"/>
              </a:ext>
            </a:extLst>
          </p:cNvPr>
          <p:cNvSpPr txBox="1"/>
          <p:nvPr/>
        </p:nvSpPr>
        <p:spPr>
          <a:xfrm>
            <a:off x="452142" y="935958"/>
            <a:ext cx="11168358"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a:solidFill>
                  <a:prstClr val="black"/>
                </a:solidFill>
                <a:latin typeface="Times New Roman" panose="02020603050405020304" pitchFamily="18" charset="0"/>
                <a:ea typeface="SimSun"/>
                <a:cs typeface="Times New Roman" panose="02020603050405020304" pitchFamily="18" charset="0"/>
              </a:rPr>
              <a:t>4.3 </a:t>
            </a:r>
            <a:r>
              <a:rPr lang="en-US" altLang="zh-CN" sz="1500" b="1">
                <a:solidFill>
                  <a:prstClr val="black"/>
                </a:solidFill>
                <a:latin typeface="Times New Roman" panose="02020603050405020304" pitchFamily="18" charset="0"/>
                <a:ea typeface="SimSun" panose="02010600030101010101" pitchFamily="2" charset="-122"/>
                <a:cs typeface="Times New Roman" panose="02020603050405020304" pitchFamily="18" charset="0"/>
              </a:rPr>
              <a:t>Model validation</a:t>
            </a:r>
            <a:r>
              <a:rPr sz="1230" lang="zh-CN">
                <a:solidFill>
                  <a:srgbClr val="24425A"/>
                </a:solidFill>
                <a:latin typeface="Times New Roman"/>
                <a:ea typeface="SimSun"/>
                <a:cs typeface="Times New Roman"/>
              </a:rPr>
              <a:t>  模型验证</a:t>
            </a:r>
          </a:p>
        </p:txBody>
      </p:sp>
      <p:sp>
        <p:nvSpPr>
          <p:cNvPr id="6" name="矩形 5">
            <a:extLst>
              <a:ext uri="{FF2B5EF4-FFF2-40B4-BE49-F238E27FC236}">
                <a16:creationId xmlns:a16="http://schemas.microsoft.com/office/drawing/2014/main" id="{064456A3-825F-41A6-9980-75AECC33CD3B}"/>
              </a:ext>
            </a:extLst>
          </p:cNvPr>
          <p:cNvSpPr/>
          <p:nvPr/>
        </p:nvSpPr>
        <p:spPr>
          <a:xfrm>
            <a:off x="6660241" y="1305290"/>
            <a:ext cx="2223686" cy="369332"/>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100" dirty="0">
                <a:latin typeface="Times New Roman" panose="02020603050405020304" pitchFamily="18" charset="0"/>
                <a:ea typeface="SimSun"/>
                <a:cs typeface="Times New Roman" panose="02020603050405020304" pitchFamily="18" charset="0"/>
              </a:rPr>
              <a:t>Grid independence</a:t>
            </a:r>
            <a:r>
              <a:rPr sz="902" lang="zh-CN">
                <a:solidFill>
                  <a:srgbClr val="24425A"/>
                </a:solidFill>
                <a:latin typeface="Times New Roman"/>
                <a:ea typeface="SimSun"/>
                <a:cs typeface="Times New Roman"/>
              </a:rPr>
              <a:t>  网格无关性</a:t>
            </a:r>
          </a:p>
        </p:txBody>
      </p:sp>
      <p:sp>
        <p:nvSpPr>
          <p:cNvPr id="7" name="矩形 6">
            <a:extLst>
              <a:ext uri="{FF2B5EF4-FFF2-40B4-BE49-F238E27FC236}">
                <a16:creationId xmlns:a16="http://schemas.microsoft.com/office/drawing/2014/main" id="{80D258E3-16A2-4582-8DFB-8660D91BF356}"/>
              </a:ext>
            </a:extLst>
          </p:cNvPr>
          <p:cNvSpPr/>
          <p:nvPr/>
        </p:nvSpPr>
        <p:spPr>
          <a:xfrm>
            <a:off x="576955" y="1305290"/>
            <a:ext cx="5371983" cy="369332"/>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Illustration of the </a:t>
            </a:r>
            <a:r>
              <a:rPr lang="en-US" altLang="zh-CN" sz="1200" dirty="0">
                <a:latin typeface="Times New Roman" panose="02020603050405020304" pitchFamily="18" charset="0"/>
                <a:ea typeface="SimSun"/>
                <a:cs typeface="Times New Roman" panose="02020603050405020304" pitchFamily="18" charset="0"/>
              </a:rPr>
              <a:t>experimental and numerical results</a:t>
            </a:r>
            <a:r>
              <a:rPr sz="984" lang="zh-CN">
                <a:solidFill>
                  <a:srgbClr val="24425A"/>
                </a:solidFill>
                <a:latin typeface="Times New Roman"/>
                <a:ea typeface="SimSun"/>
                <a:cs typeface="Times New Roman"/>
              </a:rPr>
              <a:t>  实验与数值模拟结果对比</a:t>
            </a:r>
          </a:p>
        </p:txBody>
      </p:sp>
      <p:sp>
        <p:nvSpPr>
          <p:cNvPr id="10" name="矩形 9">
            <a:extLst>
              <a:ext uri="{FF2B5EF4-FFF2-40B4-BE49-F238E27FC236}">
                <a16:creationId xmlns:a16="http://schemas.microsoft.com/office/drawing/2014/main" id="{4B84F03E-DC0E-4981-8621-C431E1B1C42E}"/>
              </a:ext>
            </a:extLst>
          </p:cNvPr>
          <p:cNvSpPr/>
          <p:nvPr/>
        </p:nvSpPr>
        <p:spPr>
          <a:xfrm>
            <a:off x="1035561" y="6129215"/>
            <a:ext cx="4635457" cy="584775"/>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300" dirty="0">
                <a:latin typeface="Times New Roman" panose="02020603050405020304" pitchFamily="18" charset="0"/>
                <a:ea typeface="SimSun"/>
                <a:cs typeface="Times New Roman" panose="02020603050405020304" pitchFamily="18" charset="0"/>
              </a:rPr>
              <a:t>The </a:t>
            </a:r>
            <a:r>
              <a:rPr lang="en-HK" sz="1300" b="1" dirty="0">
                <a:solidFill>
                  <a:srgbClr val="A60626"/>
                </a:solidFill>
                <a:latin typeface="Times New Roman" panose="02020603050405020304" pitchFamily="18" charset="0"/>
                <a:ea typeface="SimSun"/>
                <a:cs typeface="Times New Roman" panose="02020603050405020304" pitchFamily="18" charset="0"/>
              </a:rPr>
              <a:t>ICEM</a:t>
            </a:r>
            <a:r>
              <a:rPr lang="en-HK" sz="1300" dirty="0">
                <a:latin typeface="Times New Roman" panose="02020603050405020304" pitchFamily="18" charset="0"/>
                <a:ea typeface="SimSun"/>
                <a:cs typeface="Times New Roman" panose="02020603050405020304" pitchFamily="18" charset="0"/>
              </a:rPr>
              <a:t> software in ANSYS was applied to the mesh computational model.</a:t>
            </a:r>
            <a:r>
              <a:rPr sz="1066" lang="zh-CN">
                <a:solidFill>
                  <a:srgbClr val="24425A"/>
                </a:solidFill>
                <a:latin typeface="Times New Roman"/>
                <a:ea typeface="SimSun"/>
                <a:cs typeface="Times New Roman"/>
              </a:rPr>
              <a:t>  采用 ANSYS ICEM 对计算模型进行网格划分。</a:t>
            </a:r>
          </a:p>
        </p:txBody>
      </p:sp>
      <p:sp>
        <p:nvSpPr>
          <p:cNvPr id="12" name="椭圆 11">
            <a:extLst>
              <a:ext uri="{FF2B5EF4-FFF2-40B4-BE49-F238E27FC236}">
                <a16:creationId xmlns:a16="http://schemas.microsoft.com/office/drawing/2014/main" id="{65F77BF4-E7CB-4B11-BE0F-ACEBD86B085A}"/>
              </a:ext>
            </a:extLst>
          </p:cNvPr>
          <p:cNvSpPr/>
          <p:nvPr/>
        </p:nvSpPr>
        <p:spPr>
          <a:xfrm>
            <a:off x="8551119" y="1811718"/>
            <a:ext cx="332808" cy="2925213"/>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sz="1400" dirty="0">
              <a:latin typeface="Times New Roman"/>
              <a:ea typeface="SimSun"/>
              <a:cs typeface="Times New Roman"/>
            </a:endParaRPr>
          </a:p>
        </p:txBody>
      </p:sp>
      <p:sp>
        <p:nvSpPr>
          <p:cNvPr id="13" name="矩形 12">
            <a:extLst>
              <a:ext uri="{FF2B5EF4-FFF2-40B4-BE49-F238E27FC236}">
                <a16:creationId xmlns:a16="http://schemas.microsoft.com/office/drawing/2014/main" id="{010268D4-C98E-42E1-B80C-BE2152297D0F}"/>
              </a:ext>
            </a:extLst>
          </p:cNvPr>
          <p:cNvSpPr/>
          <p:nvPr/>
        </p:nvSpPr>
        <p:spPr>
          <a:xfrm>
            <a:off x="6768490" y="5552710"/>
            <a:ext cx="4480895" cy="798449"/>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550" dirty="0">
                <a:latin typeface="Times New Roman" panose="02020603050405020304" pitchFamily="18" charset="0"/>
                <a:ea typeface="SimSun"/>
                <a:cs typeface="Times New Roman" panose="02020603050405020304" pitchFamily="18" charset="0"/>
              </a:rPr>
              <a:t>The grid number of </a:t>
            </a:r>
            <a:r>
              <a:rPr lang="en-HK" sz="1550" b="1" dirty="0">
                <a:solidFill>
                  <a:srgbClr val="A60626"/>
                </a:solidFill>
                <a:latin typeface="Times New Roman" panose="02020603050405020304" pitchFamily="18" charset="0"/>
                <a:ea typeface="SimSun"/>
                <a:cs typeface="Times New Roman" panose="02020603050405020304" pitchFamily="18" charset="0"/>
              </a:rPr>
              <a:t>113200</a:t>
            </a:r>
            <a:r>
              <a:rPr lang="en-HK" sz="1550" dirty="0">
                <a:latin typeface="Times New Roman" panose="02020603050405020304" pitchFamily="18" charset="0"/>
                <a:ea typeface="SimSun"/>
                <a:cs typeface="Times New Roman" panose="02020603050405020304" pitchFamily="18" charset="0"/>
              </a:rPr>
              <a:t> could be decided as the simulation number for further research.</a:t>
            </a:r>
            <a:r>
              <a:rPr sz="1271" lang="zh-CN">
                <a:solidFill>
                  <a:srgbClr val="24425A"/>
                </a:solidFill>
                <a:latin typeface="Times New Roman"/>
                <a:ea typeface="SimSun"/>
                <a:cs typeface="Times New Roman"/>
              </a:rPr>
              <a:t>  后续模拟采用 113,200 个网格。</a:t>
            </a:r>
          </a:p>
        </p:txBody>
      </p:sp>
      <p:sp>
        <p:nvSpPr>
          <p:cNvPr id="16" name="矩形 15">
            <a:extLst>
              <a:ext uri="{FF2B5EF4-FFF2-40B4-BE49-F238E27FC236}">
                <a16:creationId xmlns:a16="http://schemas.microsoft.com/office/drawing/2014/main" id="{45D9223E-70D2-4655-8994-DCF81BC8338D}"/>
              </a:ext>
            </a:extLst>
          </p:cNvPr>
          <p:cNvSpPr/>
          <p:nvPr/>
        </p:nvSpPr>
        <p:spPr>
          <a:xfrm>
            <a:off x="7455810" y="5165837"/>
            <a:ext cx="3900666"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Fig.4.3.1 </a:t>
            </a:r>
            <a:r>
              <a:rPr lang="en-HK" sz="1200" dirty="0">
                <a:latin typeface="Times New Roman" panose="02020603050405020304" pitchFamily="18" charset="0"/>
                <a:ea typeface="SimSun"/>
                <a:cs typeface="Times New Roman" panose="02020603050405020304" pitchFamily="18" charset="0"/>
              </a:rPr>
              <a:t>Coverage ratio at different numbers of grid</a:t>
            </a:r>
          </a:p>
        </p:txBody>
      </p:sp>
      <p:sp>
        <p:nvSpPr>
          <p:cNvPr id="3" name="灯片编号占位符 2">
            <a:extLst>
              <a:ext uri="{FF2B5EF4-FFF2-40B4-BE49-F238E27FC236}">
                <a16:creationId xmlns:a16="http://schemas.microsoft.com/office/drawing/2014/main" id="{9D9371E1-430D-430F-986C-929F0405682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28</a:t>
            </a:fld>
            <a:endParaRPr lang="en-US" altLang="zh-CN">
              <a:latin typeface="Times New Roman"/>
              <a:ea typeface="SimSun"/>
              <a:cs typeface="Times New Roman"/>
            </a:endParaRPr>
          </a:p>
        </p:txBody>
      </p:sp>
      <p:sp>
        <p:nvSpPr>
          <p:cNvPr id="19" name="矩形 3">
            <a:extLst>
              <a:ext uri="{FF2B5EF4-FFF2-40B4-BE49-F238E27FC236}">
                <a16:creationId xmlns:a16="http://schemas.microsoft.com/office/drawing/2014/main" id="{98996587-E9AA-4C1F-91AE-2F3EA546BE0D}"/>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pic>
        <p:nvPicPr>
          <p:cNvPr id="20" name="图片 19">
            <a:extLst>
              <a:ext uri="{FF2B5EF4-FFF2-40B4-BE49-F238E27FC236}">
                <a16:creationId xmlns:a16="http://schemas.microsoft.com/office/drawing/2014/main" id="{79E66591-B8EB-46AB-A9EF-7DCAAAD47AA6}"/>
              </a:ext>
            </a:extLst>
          </p:cNvPr>
          <p:cNvPicPr>
            <a:picLocks noChangeAspect="1"/>
          </p:cNvPicPr>
          <p:nvPr/>
        </p:nvPicPr>
        <p:blipFill>
          <a:blip r:embed="rId5">
            <a:extLst>
              <a:ext uri="{28A0092B-C50C-407E-A947-70E740481C1C}">
                <a14:useLocalDpi xmlns:a14="http://schemas.microsoft.com/office/drawing/2010/main" val="0"/>
              </a:ext>
            </a:extLst>
          </a:blip>
          <a:srcRect b="781"/>
          <a:stretch>
            <a:fillRect/>
          </a:stretch>
        </p:blipFill>
        <p:spPr bwMode="auto">
          <a:xfrm>
            <a:off x="2650762" y="3960758"/>
            <a:ext cx="1775675" cy="1800000"/>
          </a:xfrm>
          <a:prstGeom prst="rect">
            <a:avLst/>
          </a:prstGeom>
          <a:noFill/>
          <a:ln>
            <a:noFill/>
          </a:ln>
        </p:spPr>
      </p:pic>
      <p:sp>
        <p:nvSpPr>
          <p:cNvPr id="5" name="矩形 4">
            <a:extLst>
              <a:ext uri="{FF2B5EF4-FFF2-40B4-BE49-F238E27FC236}">
                <a16:creationId xmlns:a16="http://schemas.microsoft.com/office/drawing/2014/main" id="{43DFF2F3-4345-44AF-815A-C5419A0BEDF4}"/>
              </a:ext>
            </a:extLst>
          </p:cNvPr>
          <p:cNvSpPr/>
          <p:nvPr/>
        </p:nvSpPr>
        <p:spPr>
          <a:xfrm>
            <a:off x="1553290" y="3652981"/>
            <a:ext cx="1789272" cy="307777"/>
          </a:xfrm>
          <a:prstGeom prst="rect">
            <a:avLst/>
          </a:prstGeom>
        </p:spPr>
        <p:txBody>
          <a:bodyPr wrap="square" tIns="0" bIns="0">
            <a:noAutofit/>
          </a:bodyPr>
          <a:lstStyle/>
          <a:p>
            <a:pPr algn="l">
              <a:lnSpc>
                <a:spcPct val="108000"/>
              </a:lnSpc>
              <a:spcAft>
                <a:spcPts val="300"/>
              </a:spcAft>
            </a:pPr>
            <a:r>
              <a:rPr lang="en-US" sz="950" dirty="0">
                <a:latin typeface="Times New Roman" panose="02020603050405020304" pitchFamily="18" charset="0"/>
                <a:ea typeface="SimSun"/>
                <a:cs typeface="Times New Roman" panose="02020603050405020304" pitchFamily="18" charset="0"/>
              </a:rPr>
              <a:t>(a) Experimental plate</a:t>
            </a:r>
            <a:r>
              <a:rPr sz="779" lang="zh-CN">
                <a:solidFill>
                  <a:srgbClr val="24425A"/>
                </a:solidFill>
                <a:latin typeface="Times New Roman"/>
                <a:ea typeface="SimSun"/>
                <a:cs typeface="Times New Roman"/>
              </a:rPr>
              <a:t>  （a）实验板面</a:t>
            </a:r>
          </a:p>
        </p:txBody>
      </p:sp>
      <p:sp>
        <p:nvSpPr>
          <p:cNvPr id="21" name="矩形 20">
            <a:extLst>
              <a:ext uri="{FF2B5EF4-FFF2-40B4-BE49-F238E27FC236}">
                <a16:creationId xmlns:a16="http://schemas.microsoft.com/office/drawing/2014/main" id="{84C10F30-1AC7-46CF-9B64-B90CD72EEE80}"/>
              </a:ext>
            </a:extLst>
          </p:cNvPr>
          <p:cNvSpPr/>
          <p:nvPr/>
        </p:nvSpPr>
        <p:spPr>
          <a:xfrm>
            <a:off x="3734637" y="3630295"/>
            <a:ext cx="1640193" cy="307777"/>
          </a:xfrm>
          <a:prstGeom prst="rect">
            <a:avLst/>
          </a:prstGeom>
        </p:spPr>
        <p:txBody>
          <a:bodyPr wrap="square" tIns="0" bIns="0">
            <a:noAutofit/>
          </a:bodyPr>
          <a:lstStyle/>
          <a:p>
            <a:pPr algn="l">
              <a:lnSpc>
                <a:spcPct val="108000"/>
              </a:lnSpc>
              <a:spcAft>
                <a:spcPts val="300"/>
              </a:spcAft>
            </a:pPr>
            <a:r>
              <a:rPr lang="en-US" sz="950" dirty="0">
                <a:latin typeface="Times New Roman" panose="02020603050405020304" pitchFamily="18" charset="0"/>
                <a:ea typeface="SimSun"/>
                <a:cs typeface="Times New Roman" panose="02020603050405020304" pitchFamily="18" charset="0"/>
              </a:rPr>
              <a:t>(b) Numerical result</a:t>
            </a:r>
            <a:r>
              <a:rPr sz="779" lang="zh-CN">
                <a:solidFill>
                  <a:srgbClr val="24425A"/>
                </a:solidFill>
                <a:latin typeface="Times New Roman"/>
                <a:ea typeface="SimSun"/>
                <a:cs typeface="Times New Roman"/>
              </a:rPr>
              <a:t>  （b）数值模拟结果</a:t>
            </a:r>
          </a:p>
        </p:txBody>
      </p:sp>
      <p:sp>
        <p:nvSpPr>
          <p:cNvPr id="22" name="矩形 21">
            <a:extLst>
              <a:ext uri="{FF2B5EF4-FFF2-40B4-BE49-F238E27FC236}">
                <a16:creationId xmlns:a16="http://schemas.microsoft.com/office/drawing/2014/main" id="{A3B3D0E2-335B-4FE7-9938-BF9FAFB0B6A5}"/>
              </a:ext>
            </a:extLst>
          </p:cNvPr>
          <p:cNvSpPr/>
          <p:nvPr/>
        </p:nvSpPr>
        <p:spPr>
          <a:xfrm>
            <a:off x="2339350" y="5737521"/>
            <a:ext cx="2587568" cy="353594"/>
          </a:xfrm>
          <a:prstGeom prst="rect">
            <a:avLst/>
          </a:prstGeom>
        </p:spPr>
        <p:txBody>
          <a:bodyPr wrap="square" tIns="0" bIns="0">
            <a:noAutofit/>
          </a:bodyPr>
          <a:lstStyle/>
          <a:p>
            <a:pPr algn="l">
              <a:lnSpc>
                <a:spcPct val="108000"/>
              </a:lnSpc>
              <a:spcAft>
                <a:spcPts val="300"/>
              </a:spcAft>
            </a:pPr>
            <a:r>
              <a:rPr lang="en-US" sz="950" dirty="0">
                <a:latin typeface="Times New Roman" panose="02020603050405020304" pitchFamily="18" charset="0"/>
                <a:ea typeface="SimSun"/>
                <a:cs typeface="Times New Roman" panose="02020603050405020304" pitchFamily="18" charset="0"/>
              </a:rPr>
              <a:t>(c) Experimental result in ImageJ</a:t>
            </a:r>
            <a:r>
              <a:rPr sz="779" lang="zh-CN">
                <a:solidFill>
                  <a:srgbClr val="24425A"/>
                </a:solidFill>
                <a:latin typeface="Times New Roman"/>
                <a:ea typeface="SimSun"/>
                <a:cs typeface="Times New Roman"/>
              </a:rPr>
              <a:t>  （c）ImageJ 处理后的实验结果</a:t>
            </a:r>
          </a:p>
        </p:txBody>
      </p:sp>
      <p:sp>
        <p:nvSpPr>
          <p:cNvPr id="8" name="Rectangle 217">
            <a:extLst>
              <a:ext uri="{FF2B5EF4-FFF2-40B4-BE49-F238E27FC236}">
                <a16:creationId xmlns:a16="http://schemas.microsoft.com/office/drawing/2014/main" id="{258704E8-107F-4D40-9FD2-327B0A1A2800}"/>
              </a:ext>
            </a:extLst>
          </p:cNvPr>
          <p:cNvSpPr>
            <a:spLocks noChangeArrowheads="1"/>
          </p:cNvSpPr>
          <p:nvPr/>
        </p:nvSpPr>
        <p:spPr bwMode="auto">
          <a:xfrm>
            <a:off x="5868409" y="15793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24" name="图片 23">
            <a:extLst>
              <a:ext uri="{FF2B5EF4-FFF2-40B4-BE49-F238E27FC236}">
                <a16:creationId xmlns:a16="http://schemas.microsoft.com/office/drawing/2014/main" id="{786C0105-77AF-4D31-AC98-EEED70A33B85}"/>
              </a:ext>
            </a:extLst>
          </p:cNvPr>
          <p:cNvPicPr>
            <a:picLocks noChangeAspect="1"/>
          </p:cNvPicPr>
          <p:nvPr/>
        </p:nvPicPr>
        <p:blipFill>
          <a:blip r:embed="rId6"/>
          <a:stretch>
            <a:fillRect/>
          </a:stretch>
        </p:blipFill>
        <p:spPr>
          <a:xfrm>
            <a:off x="1401923" y="1807609"/>
            <a:ext cx="1832579" cy="1800000"/>
          </a:xfrm>
          <a:prstGeom prst="rect">
            <a:avLst/>
          </a:prstGeom>
        </p:spPr>
      </p:pic>
      <p:pic>
        <p:nvPicPr>
          <p:cNvPr id="25" name="图片 24">
            <a:extLst>
              <a:ext uri="{FF2B5EF4-FFF2-40B4-BE49-F238E27FC236}">
                <a16:creationId xmlns:a16="http://schemas.microsoft.com/office/drawing/2014/main" id="{8BFB16C4-D647-4E5B-BECB-32383676EA48}"/>
              </a:ext>
            </a:extLst>
          </p:cNvPr>
          <p:cNvPicPr>
            <a:picLocks noChangeAspect="1"/>
          </p:cNvPicPr>
          <p:nvPr/>
        </p:nvPicPr>
        <p:blipFill>
          <a:blip r:embed="rId7"/>
          <a:stretch>
            <a:fillRect/>
          </a:stretch>
        </p:blipFill>
        <p:spPr>
          <a:xfrm>
            <a:off x="3633134" y="1818952"/>
            <a:ext cx="1840269" cy="1800000"/>
          </a:xfrm>
          <a:prstGeom prst="rect">
            <a:avLst/>
          </a:prstGeom>
        </p:spPr>
      </p:pic>
      <p:sp>
        <p:nvSpPr>
          <p:cNvPr id="26"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329482145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0DB48571-81F7-4F2B-A0D7-8CC87FE44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7013" y="1494937"/>
            <a:ext cx="3650638" cy="4320000"/>
          </a:xfrm>
          <a:prstGeom prst="rect">
            <a:avLst/>
          </a:prstGeom>
          <a:noFill/>
        </p:spPr>
      </p:pic>
      <p:sp>
        <p:nvSpPr>
          <p:cNvPr id="5" name="矩形 4">
            <a:extLst>
              <a:ext uri="{FF2B5EF4-FFF2-40B4-BE49-F238E27FC236}">
                <a16:creationId xmlns:a16="http://schemas.microsoft.com/office/drawing/2014/main" id="{CAF00261-34FA-4ECD-A573-3967B1E4F44B}"/>
              </a:ext>
            </a:extLst>
          </p:cNvPr>
          <p:cNvSpPr/>
          <p:nvPr/>
        </p:nvSpPr>
        <p:spPr>
          <a:xfrm>
            <a:off x="630078" y="1551392"/>
            <a:ext cx="1614545" cy="551180"/>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500" dirty="0">
                <a:solidFill>
                  <a:prstClr val="black"/>
                </a:solidFill>
                <a:latin typeface="Times New Roman" panose="02020603050405020304" pitchFamily="18" charset="0"/>
                <a:ea typeface="SimSun"/>
                <a:cs typeface="Times New Roman" panose="02020603050405020304" pitchFamily="18" charset="0"/>
              </a:rPr>
              <a:t>Conditions</a:t>
            </a:r>
            <a:r>
              <a:rPr lang="en-US" sz="1500" dirty="0">
                <a:solidFill>
                  <a:prstClr val="black"/>
                </a:solidFill>
                <a:latin typeface="Times New Roman" panose="020B0604020202020204" pitchFamily="34" charset="0"/>
                <a:ea typeface="SimSun"/>
                <a:cs typeface="Times New Roman" panose="020B0604020202020204" pitchFamily="34" charset="0"/>
              </a:rPr>
              <a:t>: </a:t>
            </a:r>
            <a:r>
              <a:rPr sz="1230" lang="zh-CN">
                <a:solidFill>
                  <a:srgbClr val="24425A"/>
                </a:solidFill>
                <a:latin typeface="Times New Roman"/>
                <a:ea typeface="SimSun"/>
                <a:cs typeface="Times New Roman"/>
              </a:rPr>
              <a:t>  实验条件：</a:t>
            </a:r>
          </a:p>
        </p:txBody>
      </p:sp>
      <p:sp>
        <p:nvSpPr>
          <p:cNvPr id="7" name="矩形 6">
            <a:extLst>
              <a:ext uri="{FF2B5EF4-FFF2-40B4-BE49-F238E27FC236}">
                <a16:creationId xmlns:a16="http://schemas.microsoft.com/office/drawing/2014/main" id="{1D6E575A-1BAA-495C-9A4F-C625BE84BAF2}"/>
              </a:ext>
            </a:extLst>
          </p:cNvPr>
          <p:cNvSpPr/>
          <p:nvPr/>
        </p:nvSpPr>
        <p:spPr>
          <a:xfrm>
            <a:off x="7217651" y="1433145"/>
            <a:ext cx="2114746"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050" dirty="0">
                <a:solidFill>
                  <a:prstClr val="black"/>
                </a:solidFill>
                <a:latin typeface="Times New Roman" panose="02020603050405020304" pitchFamily="18" charset="0"/>
                <a:ea typeface="SimSun"/>
                <a:cs typeface="Times New Roman" panose="02020603050405020304" pitchFamily="18" charset="0"/>
              </a:rPr>
              <a:t>Validation result: </a:t>
            </a:r>
            <a:r>
              <a:rPr sz="861" lang="zh-CN">
                <a:solidFill>
                  <a:srgbClr val="24425A"/>
                </a:solidFill>
                <a:latin typeface="Times New Roman"/>
                <a:ea typeface="SimSun"/>
                <a:cs typeface="Times New Roman"/>
              </a:rPr>
              <a:t>  验证结果：</a:t>
            </a:r>
          </a:p>
        </p:txBody>
      </p:sp>
      <p:sp>
        <p:nvSpPr>
          <p:cNvPr id="13" name="矩形 12">
            <a:extLst>
              <a:ext uri="{FF2B5EF4-FFF2-40B4-BE49-F238E27FC236}">
                <a16:creationId xmlns:a16="http://schemas.microsoft.com/office/drawing/2014/main" id="{3450D832-42A3-4396-AF51-9EEB6188644E}"/>
              </a:ext>
            </a:extLst>
          </p:cNvPr>
          <p:cNvSpPr/>
          <p:nvPr/>
        </p:nvSpPr>
        <p:spPr>
          <a:xfrm>
            <a:off x="8599912" y="5080566"/>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Fig.4.4.2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2" name="矩形 1">
            <a:extLst>
              <a:ext uri="{FF2B5EF4-FFF2-40B4-BE49-F238E27FC236}">
                <a16:creationId xmlns:a16="http://schemas.microsoft.com/office/drawing/2014/main" id="{AA203863-08F8-46E9-926E-0DF68D4222A3}"/>
              </a:ext>
            </a:extLst>
          </p:cNvPr>
          <p:cNvSpPr/>
          <p:nvPr/>
        </p:nvSpPr>
        <p:spPr>
          <a:xfrm>
            <a:off x="1117980" y="1876520"/>
            <a:ext cx="2253285" cy="1612616"/>
          </a:xfrm>
          <a:prstGeom prst="rect">
            <a:avLst/>
          </a:prstGeom>
        </p:spPr>
        <p:txBody>
          <a:bodyPr wrap="square" tIns="0" bIns="0">
            <a:noAutofit/>
          </a:bodyPr>
          <a:lstStyle/>
          <a:p>
            <a:pPr algn="l">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Q=0.01 kg/s;</a:t>
            </a:r>
            <a:br/>
            <a:r>
              <a:rPr sz="1394" lang="zh-CN">
                <a:solidFill>
                  <a:srgbClr val="24425A"/>
                </a:solidFill>
                <a:latin typeface="Times New Roman"/>
                <a:ea typeface="SimSun"/>
                <a:cs typeface="Times New Roman"/>
              </a:rPr>
              <a:t>流量 Q = 0.01 kg/s</a:t>
            </a:r>
          </a:p>
          <a:p>
            <a:pPr algn="l">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Spray cone angle = 45°;</a:t>
            </a:r>
            <a:br/>
            <a:r>
              <a:rPr sz="1394" lang="zh-CN">
                <a:solidFill>
                  <a:srgbClr val="24425A"/>
                </a:solidFill>
                <a:latin typeface="Times New Roman"/>
                <a:ea typeface="SimSun"/>
                <a:cs typeface="Times New Roman"/>
              </a:rPr>
              <a:t>喷雾锥角 = 45°</a:t>
            </a:r>
          </a:p>
          <a:p>
            <a:pPr algn="l">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Nozzle height =150 mm</a:t>
            </a:r>
            <a:br/>
            <a:r>
              <a:rPr sz="1394" lang="zh-CN">
                <a:solidFill>
                  <a:srgbClr val="24425A"/>
                </a:solidFill>
                <a:latin typeface="Times New Roman"/>
                <a:ea typeface="SimSun"/>
                <a:cs typeface="Times New Roman"/>
              </a:rPr>
              <a:t>喷嘴高度 = 150 mm</a:t>
            </a:r>
          </a:p>
        </p:txBody>
      </p:sp>
      <p:sp>
        <p:nvSpPr>
          <p:cNvPr id="16" name="矩形 15">
            <a:extLst>
              <a:ext uri="{FF2B5EF4-FFF2-40B4-BE49-F238E27FC236}">
                <a16:creationId xmlns:a16="http://schemas.microsoft.com/office/drawing/2014/main" id="{1BA0274F-8C33-4B7C-9AEC-7734D827EDD8}"/>
              </a:ext>
            </a:extLst>
          </p:cNvPr>
          <p:cNvSpPr/>
          <p:nvPr/>
        </p:nvSpPr>
        <p:spPr>
          <a:xfrm>
            <a:off x="4418026" y="5876729"/>
            <a:ext cx="2602355"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Fig.4.4.1 </a:t>
            </a:r>
            <a:r>
              <a:rPr lang="en-HK" sz="1200" dirty="0">
                <a:latin typeface="Times New Roman" panose="02020603050405020304" pitchFamily="18" charset="0"/>
                <a:ea typeface="SimSun"/>
                <a:cs typeface="Times New Roman" panose="02020603050405020304" pitchFamily="18" charset="0"/>
              </a:rPr>
              <a:t>Experiment bench</a:t>
            </a:r>
          </a:p>
        </p:txBody>
      </p:sp>
      <p:sp>
        <p:nvSpPr>
          <p:cNvPr id="17" name="矩形 16">
            <a:extLst>
              <a:ext uri="{FF2B5EF4-FFF2-40B4-BE49-F238E27FC236}">
                <a16:creationId xmlns:a16="http://schemas.microsoft.com/office/drawing/2014/main" id="{5C6C3AE7-DE30-4069-956A-A66B44179A5E}"/>
              </a:ext>
            </a:extLst>
          </p:cNvPr>
          <p:cNvSpPr/>
          <p:nvPr/>
        </p:nvSpPr>
        <p:spPr>
          <a:xfrm>
            <a:off x="630078" y="3654937"/>
            <a:ext cx="1877437"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000" dirty="0">
                <a:solidFill>
                  <a:prstClr val="black"/>
                </a:solidFill>
                <a:latin typeface="Times New Roman" panose="02020603050405020304" pitchFamily="18" charset="0"/>
                <a:ea typeface="SimSun"/>
                <a:cs typeface="Times New Roman" panose="02020603050405020304" pitchFamily="18" charset="0"/>
              </a:rPr>
              <a:t>Requirements: </a:t>
            </a:r>
            <a:r>
              <a:rPr sz="820" lang="zh-CN">
                <a:solidFill>
                  <a:srgbClr val="24425A"/>
                </a:solidFill>
                <a:latin typeface="Times New Roman"/>
                <a:ea typeface="SimSun"/>
                <a:cs typeface="Times New Roman"/>
              </a:rPr>
              <a:t>  实验要求：</a:t>
            </a:r>
          </a:p>
        </p:txBody>
      </p:sp>
      <p:sp>
        <p:nvSpPr>
          <p:cNvPr id="10" name="矩形 9">
            <a:extLst>
              <a:ext uri="{FF2B5EF4-FFF2-40B4-BE49-F238E27FC236}">
                <a16:creationId xmlns:a16="http://schemas.microsoft.com/office/drawing/2014/main" id="{8CCC74D0-844C-4C05-AC6A-2A8C1070422C}"/>
              </a:ext>
            </a:extLst>
          </p:cNvPr>
          <p:cNvSpPr/>
          <p:nvPr/>
        </p:nvSpPr>
        <p:spPr>
          <a:xfrm>
            <a:off x="1085265" y="4100473"/>
            <a:ext cx="4572000" cy="1096244"/>
          </a:xfrm>
          <a:prstGeom prst="rect">
            <a:avLst/>
          </a:prstGeom>
        </p:spPr>
        <p:txBody>
          <a:bodyPr wrap="square" tIns="0" bIns="0">
            <a:noAutofit/>
          </a:bodyPr>
          <a:lstStyle/>
          <a:p>
            <a:pPr algn="l">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Outermost transparent casing;</a:t>
            </a:r>
            <a:br/>
            <a:r>
              <a:rPr sz="1394" lang="zh-CN">
                <a:solidFill>
                  <a:srgbClr val="24425A"/>
                </a:solidFill>
                <a:latin typeface="Times New Roman"/>
                <a:ea typeface="SimSun"/>
                <a:cs typeface="Times New Roman"/>
              </a:rPr>
              <a:t>外壳采用透明材料；</a:t>
            </a:r>
          </a:p>
          <a:p>
            <a:pPr algn="l">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Sliding nozzles mounted on top</a:t>
            </a:r>
            <a:br/>
            <a:r>
              <a:rPr sz="1394" lang="zh-CN">
                <a:solidFill>
                  <a:srgbClr val="24425A"/>
                </a:solidFill>
                <a:latin typeface="Times New Roman"/>
                <a:ea typeface="SimSun"/>
                <a:cs typeface="Times New Roman"/>
              </a:rPr>
              <a:t>顶部安装可滑动喷嘴。</a:t>
            </a:r>
          </a:p>
        </p:txBody>
      </p:sp>
      <p:sp>
        <p:nvSpPr>
          <p:cNvPr id="21" name="矩形 20">
            <a:extLst>
              <a:ext uri="{FF2B5EF4-FFF2-40B4-BE49-F238E27FC236}">
                <a16:creationId xmlns:a16="http://schemas.microsoft.com/office/drawing/2014/main" id="{62A402BC-637D-41EB-96A1-02AC96781A3D}"/>
              </a:ext>
            </a:extLst>
          </p:cNvPr>
          <p:cNvSpPr/>
          <p:nvPr/>
        </p:nvSpPr>
        <p:spPr>
          <a:xfrm>
            <a:off x="7323000" y="5439170"/>
            <a:ext cx="4502377" cy="865886"/>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sz="1700" dirty="0">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sz="17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7.1%</a:t>
            </a:r>
            <a:r>
              <a:rPr lang="en-US" sz="1700" dirty="0">
                <a:latin typeface="Times New Roman" panose="02020603050405020304" pitchFamily="18" charset="0"/>
                <a:ea typeface="SimSun" panose="02010600030101010101" pitchFamily="2" charset="-122"/>
                <a:cs typeface="Times New Roman" panose="02020603050405020304" pitchFamily="18" charset="0"/>
              </a:rPr>
              <a:t>, </a:t>
            </a:r>
            <a:r>
              <a:rPr lang="en-HK" sz="1700" dirty="0">
                <a:latin typeface="Times New Roman" panose="02020603050405020304" pitchFamily="18" charset="0"/>
                <a:ea typeface="SimSun" panose="02010600030101010101" pitchFamily="2" charset="-122"/>
                <a:cs typeface="Times New Roman" panose="02020603050405020304" pitchFamily="18" charset="0"/>
              </a:rPr>
              <a:t>which was acceptable for the further analysis.</a:t>
            </a:r>
            <a:r>
              <a:rPr lang="en-US" sz="1700" dirty="0">
                <a:latin typeface="Times New Roman" panose="02020603050405020304" pitchFamily="18" charset="0"/>
                <a:ea typeface="SimSun" panose="02010600030101010101" pitchFamily="2" charset="-122"/>
                <a:cs typeface="Times New Roman" panose="02020603050405020304" pitchFamily="18" charset="0"/>
              </a:rPr>
              <a:t> </a:t>
            </a:r>
            <a:r>
              <a:rPr sz="1394" lang="zh-CN">
                <a:solidFill>
                  <a:srgbClr val="24425A"/>
                </a:solidFill>
                <a:latin typeface="Times New Roman"/>
                <a:ea typeface="SimSun"/>
                <a:cs typeface="Times New Roman"/>
              </a:rPr>
              <a:t>  最大偏差为 7.1%，满足后续分析要求。</a:t>
            </a:r>
          </a:p>
        </p:txBody>
      </p:sp>
      <p:sp>
        <p:nvSpPr>
          <p:cNvPr id="18" name="文本框 17">
            <a:extLst>
              <a:ext uri="{FF2B5EF4-FFF2-40B4-BE49-F238E27FC236}">
                <a16:creationId xmlns:a16="http://schemas.microsoft.com/office/drawing/2014/main" id="{98E0AE2A-E407-4B45-9629-848DC903A987}"/>
              </a:ext>
            </a:extLst>
          </p:cNvPr>
          <p:cNvSpPr txBox="1"/>
          <p:nvPr/>
        </p:nvSpPr>
        <p:spPr>
          <a:xfrm>
            <a:off x="405649" y="961202"/>
            <a:ext cx="11214851"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4.4 Environment validation</a:t>
            </a:r>
            <a:r>
              <a:rPr sz="1230" lang="zh-CN">
                <a:solidFill>
                  <a:srgbClr val="24425A"/>
                </a:solidFill>
                <a:latin typeface="Times New Roman"/>
                <a:ea typeface="SimSun"/>
                <a:cs typeface="Times New Roman"/>
              </a:rPr>
              <a:t>  实验验证</a:t>
            </a:r>
          </a:p>
        </p:txBody>
      </p:sp>
      <p:sp>
        <p:nvSpPr>
          <p:cNvPr id="3" name="灯片编号占位符 2">
            <a:extLst>
              <a:ext uri="{FF2B5EF4-FFF2-40B4-BE49-F238E27FC236}">
                <a16:creationId xmlns:a16="http://schemas.microsoft.com/office/drawing/2014/main" id="{EF0321DA-606C-4F03-8CFE-CB3D18F5A82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29</a:t>
            </a:fld>
            <a:endParaRPr lang="en-US" altLang="zh-CN">
              <a:latin typeface="Times New Roman"/>
              <a:ea typeface="SimSun"/>
              <a:cs typeface="Times New Roman"/>
            </a:endParaRPr>
          </a:p>
        </p:txBody>
      </p:sp>
      <p:sp>
        <p:nvSpPr>
          <p:cNvPr id="22" name="矩形 3">
            <a:extLst>
              <a:ext uri="{FF2B5EF4-FFF2-40B4-BE49-F238E27FC236}">
                <a16:creationId xmlns:a16="http://schemas.microsoft.com/office/drawing/2014/main" id="{A83E1EC0-E872-49D1-AA95-3A74B7DC3A47}"/>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6" name="Rectangle 219">
            <a:extLst>
              <a:ext uri="{FF2B5EF4-FFF2-40B4-BE49-F238E27FC236}">
                <a16:creationId xmlns:a16="http://schemas.microsoft.com/office/drawing/2014/main" id="{9C3718CC-FF8B-4A64-8DC6-BB7FFCD46D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8" name="对象 7">
            <a:extLst>
              <a:ext uri="{FF2B5EF4-FFF2-40B4-BE49-F238E27FC236}">
                <a16:creationId xmlns:a16="http://schemas.microsoft.com/office/drawing/2014/main" id="{3DDBFAEC-D5A7-4EFA-8F5B-020AB16ABD63}"/>
              </a:ext>
            </a:extLst>
          </p:cNvPr>
          <p:cNvGraphicFramePr>
            <a:graphicFrameLocks noChangeAspect="1"/>
          </p:cNvGraphicFramePr>
          <p:nvPr>
            <p:extLst>
              <p:ext uri="{D42A27DB-BD31-4B8C-83A1-F6EECF244321}">
                <p14:modId xmlns:p14="http://schemas.microsoft.com/office/powerpoint/2010/main" val="1660729710"/>
              </p:ext>
            </p:extLst>
          </p:nvPr>
        </p:nvGraphicFramePr>
        <p:xfrm>
          <a:off x="7454519" y="1860087"/>
          <a:ext cx="3900063" cy="3301369"/>
        </p:xfrm>
        <a:graphic>
          <a:graphicData uri="http://schemas.openxmlformats.org/presentationml/2006/ole">
            <mc:AlternateContent xmlns:mc="http://schemas.openxmlformats.org/markup-compatibility/2006">
              <mc:Choice xmlns:v="urn:schemas-microsoft-com:vml" Requires="v">
                <p:oleObj name="Graph" r:id="rId4" imgW="6246376" imgH="5254989" progId="Origin95.Graph">
                  <p:embed/>
                </p:oleObj>
              </mc:Choice>
              <mc:Fallback>
                <p:oleObj name="Graph" r:id="rId4" imgW="6246376" imgH="5254989" progId="Origin95.Graph">
                  <p:embed/>
                  <p:pic>
                    <p:nvPicPr>
                      <p:cNvPr id="0" name="Object 2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4519" y="1860087"/>
                        <a:ext cx="3900063" cy="3301369"/>
                      </a:xfrm>
                      <a:prstGeom prst="rect">
                        <a:avLst/>
                      </a:prstGeom>
                      <a:noFill/>
                    </p:spPr>
                  </p:pic>
                </p:oleObj>
              </mc:Fallback>
            </mc:AlternateContent>
          </a:graphicData>
        </a:graphic>
      </p:graphicFrame>
      <p:sp>
        <p:nvSpPr>
          <p:cNvPr id="23"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417157392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F00261-34FA-4ECD-A573-3967B1E4F44B}"/>
              </a:ext>
            </a:extLst>
          </p:cNvPr>
          <p:cNvSpPr/>
          <p:nvPr/>
        </p:nvSpPr>
        <p:spPr>
          <a:xfrm>
            <a:off x="630078" y="1551392"/>
            <a:ext cx="2159566"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250" dirty="0">
                <a:solidFill>
                  <a:prstClr val="black"/>
                </a:solidFill>
                <a:latin typeface="Times New Roman" panose="02020603050405020304" pitchFamily="18" charset="0"/>
                <a:ea typeface="SimSun"/>
                <a:cs typeface="Times New Roman" panose="02020603050405020304" pitchFamily="18" charset="0"/>
              </a:rPr>
              <a:t>Experiment bench</a:t>
            </a:r>
            <a:r>
              <a:rPr sz="1025" lang="zh-CN">
                <a:solidFill>
                  <a:srgbClr val="24425A"/>
                </a:solidFill>
                <a:latin typeface="Times New Roman"/>
                <a:ea typeface="SimSun"/>
                <a:cs typeface="Times New Roman"/>
              </a:rPr>
              <a:t>  实验台</a:t>
            </a:r>
          </a:p>
        </p:txBody>
      </p:sp>
      <p:sp>
        <p:nvSpPr>
          <p:cNvPr id="7" name="矩形 6">
            <a:extLst>
              <a:ext uri="{FF2B5EF4-FFF2-40B4-BE49-F238E27FC236}">
                <a16:creationId xmlns:a16="http://schemas.microsoft.com/office/drawing/2014/main" id="{1D6E575A-1BAA-495C-9A4F-C625BE84BAF2}"/>
              </a:ext>
            </a:extLst>
          </p:cNvPr>
          <p:cNvSpPr/>
          <p:nvPr/>
        </p:nvSpPr>
        <p:spPr>
          <a:xfrm>
            <a:off x="7079628" y="1551392"/>
            <a:ext cx="2114746" cy="369332"/>
          </a:xfrm>
          <a:prstGeom prst="rect">
            <a:avLst/>
          </a:prstGeom>
        </p:spPr>
        <p:txBody>
          <a:bodyPr wrap="square" tIns="0" bIns="0">
            <a:noAutofit/>
          </a:bodyPr>
          <a:lstStyle/>
          <a:p>
            <a:pPr marL="285750" indent="-285750" defTabSz="457200" eaLnBrk="1" fontAlgn="auto" hangingPunct="1" algn="l">
              <a:buFont typeface="Wingdings" panose="05000000000000000000" pitchFamily="2" charset="2"/>
              <a:buChar char="Ø"/>
              <a:lnSpc>
                <a:spcPct val="108000"/>
              </a:lnSpc>
              <a:spcAft>
                <a:spcPts val="300"/>
              </a:spcAft>
            </a:pPr>
            <a:r>
              <a:rPr lang="en-US" sz="1050" dirty="0">
                <a:solidFill>
                  <a:prstClr val="black"/>
                </a:solidFill>
                <a:latin typeface="Times New Roman" panose="02020603050405020304" pitchFamily="18" charset="0"/>
                <a:ea typeface="SimSun"/>
                <a:cs typeface="Times New Roman" panose="02020603050405020304" pitchFamily="18" charset="0"/>
              </a:rPr>
              <a:t>Validation result: </a:t>
            </a:r>
            <a:r>
              <a:rPr sz="861" lang="zh-CN">
                <a:solidFill>
                  <a:srgbClr val="24425A"/>
                </a:solidFill>
                <a:latin typeface="Times New Roman"/>
                <a:ea typeface="SimSun"/>
                <a:cs typeface="Times New Roman"/>
              </a:rPr>
              <a:t>  验证结果：</a:t>
            </a:r>
          </a:p>
        </p:txBody>
      </p:sp>
      <p:sp>
        <p:nvSpPr>
          <p:cNvPr id="13" name="矩形 12">
            <a:extLst>
              <a:ext uri="{FF2B5EF4-FFF2-40B4-BE49-F238E27FC236}">
                <a16:creationId xmlns:a16="http://schemas.microsoft.com/office/drawing/2014/main" id="{3450D832-42A3-4396-AF51-9EEB6188644E}"/>
              </a:ext>
            </a:extLst>
          </p:cNvPr>
          <p:cNvSpPr/>
          <p:nvPr/>
        </p:nvSpPr>
        <p:spPr>
          <a:xfrm>
            <a:off x="8538707" y="5268305"/>
            <a:ext cx="2019204"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Fig.4.4.4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21" name="矩形 20">
            <a:extLst>
              <a:ext uri="{FF2B5EF4-FFF2-40B4-BE49-F238E27FC236}">
                <a16:creationId xmlns:a16="http://schemas.microsoft.com/office/drawing/2014/main" id="{62A402BC-637D-41EB-96A1-02AC96781A3D}"/>
              </a:ext>
            </a:extLst>
          </p:cNvPr>
          <p:cNvSpPr/>
          <p:nvPr/>
        </p:nvSpPr>
        <p:spPr>
          <a:xfrm>
            <a:off x="7328008" y="5678574"/>
            <a:ext cx="4502377" cy="584775"/>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sz="1300" dirty="0">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sz="13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8.2%</a:t>
            </a:r>
            <a:r>
              <a:rPr lang="en-US" sz="1300" dirty="0">
                <a:latin typeface="Times New Roman" panose="02020603050405020304" pitchFamily="18" charset="0"/>
                <a:ea typeface="SimSun" panose="02010600030101010101" pitchFamily="2" charset="-122"/>
                <a:cs typeface="Times New Roman" panose="02020603050405020304" pitchFamily="18" charset="0"/>
              </a:rPr>
              <a:t>, </a:t>
            </a:r>
            <a:r>
              <a:rPr lang="en-HK" sz="1300" dirty="0">
                <a:latin typeface="Times New Roman" panose="02020603050405020304" pitchFamily="18" charset="0"/>
                <a:ea typeface="SimSun" panose="02010600030101010101" pitchFamily="2" charset="-122"/>
                <a:cs typeface="Times New Roman" panose="02020603050405020304" pitchFamily="18" charset="0"/>
              </a:rPr>
              <a:t>which was acceptable for the further analysis.</a:t>
            </a:r>
            <a:r>
              <a:rPr lang="en-US" sz="1300" dirty="0">
                <a:latin typeface="Times New Roman" panose="02020603050405020304" pitchFamily="18" charset="0"/>
                <a:ea typeface="SimSun" panose="02010600030101010101" pitchFamily="2" charset="-122"/>
                <a:cs typeface="Times New Roman" panose="02020603050405020304" pitchFamily="18" charset="0"/>
              </a:rPr>
              <a:t> </a:t>
            </a:r>
            <a:r>
              <a:rPr sz="1066" lang="zh-CN">
                <a:solidFill>
                  <a:srgbClr val="24425A"/>
                </a:solidFill>
                <a:latin typeface="Times New Roman"/>
                <a:ea typeface="SimSun"/>
                <a:cs typeface="Times New Roman"/>
              </a:rPr>
              <a:t>  最大偏差为 8.2%，满足后续分析要求。</a:t>
            </a:r>
          </a:p>
        </p:txBody>
      </p:sp>
      <p:sp>
        <p:nvSpPr>
          <p:cNvPr id="18" name="文本框 17">
            <a:extLst>
              <a:ext uri="{FF2B5EF4-FFF2-40B4-BE49-F238E27FC236}">
                <a16:creationId xmlns:a16="http://schemas.microsoft.com/office/drawing/2014/main" id="{98E0AE2A-E407-4B45-9629-848DC903A987}"/>
              </a:ext>
            </a:extLst>
          </p:cNvPr>
          <p:cNvSpPr txBox="1"/>
          <p:nvPr/>
        </p:nvSpPr>
        <p:spPr>
          <a:xfrm>
            <a:off x="405649" y="961202"/>
            <a:ext cx="11214851"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4.4 Environment validation</a:t>
            </a:r>
            <a:r>
              <a:rPr sz="1230" lang="zh-CN">
                <a:solidFill>
                  <a:srgbClr val="24425A"/>
                </a:solidFill>
                <a:latin typeface="Times New Roman"/>
                <a:ea typeface="SimSun"/>
                <a:cs typeface="Times New Roman"/>
              </a:rPr>
              <a:t>  实验验证</a:t>
            </a:r>
          </a:p>
        </p:txBody>
      </p:sp>
      <p:sp>
        <p:nvSpPr>
          <p:cNvPr id="3" name="灯片编号占位符 2">
            <a:extLst>
              <a:ext uri="{FF2B5EF4-FFF2-40B4-BE49-F238E27FC236}">
                <a16:creationId xmlns:a16="http://schemas.microsoft.com/office/drawing/2014/main" id="{EF0321DA-606C-4F03-8CFE-CB3D18F5A82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30</a:t>
            </a:fld>
            <a:endParaRPr lang="en-US" altLang="zh-CN">
              <a:latin typeface="Times New Roman"/>
              <a:ea typeface="SimSun"/>
              <a:cs typeface="Times New Roman"/>
            </a:endParaRPr>
          </a:p>
        </p:txBody>
      </p:sp>
      <p:sp>
        <p:nvSpPr>
          <p:cNvPr id="22" name="矩形 3">
            <a:extLst>
              <a:ext uri="{FF2B5EF4-FFF2-40B4-BE49-F238E27FC236}">
                <a16:creationId xmlns:a16="http://schemas.microsoft.com/office/drawing/2014/main" id="{A83E1EC0-E872-49D1-AA95-3A74B7DC3A47}"/>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6" name="Rectangle 219">
            <a:extLst>
              <a:ext uri="{FF2B5EF4-FFF2-40B4-BE49-F238E27FC236}">
                <a16:creationId xmlns:a16="http://schemas.microsoft.com/office/drawing/2014/main" id="{9C3718CC-FF8B-4A64-8DC6-BB7FFCD46D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19" name="图片 18">
            <a:extLst>
              <a:ext uri="{FF2B5EF4-FFF2-40B4-BE49-F238E27FC236}">
                <a16:creationId xmlns:a16="http://schemas.microsoft.com/office/drawing/2014/main" id="{2DB0A7BF-2080-4A24-92AC-95090B602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115" y="2018735"/>
            <a:ext cx="5512971" cy="3600000"/>
          </a:xfrm>
          <a:prstGeom prst="rect">
            <a:avLst/>
          </a:prstGeom>
        </p:spPr>
      </p:pic>
      <p:sp>
        <p:nvSpPr>
          <p:cNvPr id="9" name="Rectangle 2">
            <a:extLst>
              <a:ext uri="{FF2B5EF4-FFF2-40B4-BE49-F238E27FC236}">
                <a16:creationId xmlns:a16="http://schemas.microsoft.com/office/drawing/2014/main" id="{0EC59F86-389A-485F-8724-09E44747A70A}"/>
              </a:ext>
            </a:extLst>
          </p:cNvPr>
          <p:cNvSpPr>
            <a:spLocks noChangeArrowheads="1"/>
          </p:cNvSpPr>
          <p:nvPr/>
        </p:nvSpPr>
        <p:spPr bwMode="auto">
          <a:xfrm>
            <a:off x="7217651" y="19524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1" name="对象 10">
            <a:extLst>
              <a:ext uri="{FF2B5EF4-FFF2-40B4-BE49-F238E27FC236}">
                <a16:creationId xmlns:a16="http://schemas.microsoft.com/office/drawing/2014/main" id="{C694B137-4033-4701-B03E-3B8C9EF35B95}"/>
              </a:ext>
            </a:extLst>
          </p:cNvPr>
          <p:cNvGraphicFramePr>
            <a:graphicFrameLocks noChangeAspect="1"/>
          </p:cNvGraphicFramePr>
          <p:nvPr>
            <p:extLst>
              <p:ext uri="{D42A27DB-BD31-4B8C-83A1-F6EECF244321}">
                <p14:modId xmlns:p14="http://schemas.microsoft.com/office/powerpoint/2010/main" val="1022724867"/>
              </p:ext>
            </p:extLst>
          </p:nvPr>
        </p:nvGraphicFramePr>
        <p:xfrm>
          <a:off x="7328008" y="2005795"/>
          <a:ext cx="3962183" cy="3326837"/>
        </p:xfrm>
        <a:graphic>
          <a:graphicData uri="http://schemas.openxmlformats.org/presentationml/2006/ole">
            <mc:AlternateContent xmlns:mc="http://schemas.openxmlformats.org/markup-compatibility/2006">
              <mc:Choice xmlns:v="urn:schemas-microsoft-com:vml" Requires="v">
                <p:oleObj name="Graph" r:id="rId4" imgW="6246376" imgH="5254989" progId="Origin95.Graph">
                  <p:embed/>
                </p:oleObj>
              </mc:Choice>
              <mc:Fallback>
                <p:oleObj name="Graph" r:id="rId4" imgW="6246376" imgH="5254989" progId="Origin95.Graph">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8008" y="2005795"/>
                        <a:ext cx="3962183" cy="3326837"/>
                      </a:xfrm>
                      <a:prstGeom prst="rect">
                        <a:avLst/>
                      </a:prstGeom>
                      <a:noFill/>
                    </p:spPr>
                  </p:pic>
                </p:oleObj>
              </mc:Fallback>
            </mc:AlternateContent>
          </a:graphicData>
        </a:graphic>
      </p:graphicFrame>
      <p:sp>
        <p:nvSpPr>
          <p:cNvPr id="20" name="矩形 19">
            <a:extLst>
              <a:ext uri="{FF2B5EF4-FFF2-40B4-BE49-F238E27FC236}">
                <a16:creationId xmlns:a16="http://schemas.microsoft.com/office/drawing/2014/main" id="{1A42B36B-9477-4B63-AE31-5169BBDEC44A}"/>
              </a:ext>
            </a:extLst>
          </p:cNvPr>
          <p:cNvSpPr/>
          <p:nvPr/>
        </p:nvSpPr>
        <p:spPr>
          <a:xfrm>
            <a:off x="2994894" y="5716746"/>
            <a:ext cx="2019204"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Fig.4.4.3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23"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340036913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8FD1B34B-0BFD-4D75-8B26-4106966E69F8}"/>
              </a:ext>
            </a:extLst>
          </p:cNvPr>
          <p:cNvGraphicFramePr>
            <a:graphicFrameLocks noChangeAspect="1"/>
          </p:cNvGraphicFramePr>
          <p:nvPr/>
        </p:nvGraphicFramePr>
        <p:xfrm>
          <a:off x="6856674" y="1337638"/>
          <a:ext cx="4440300" cy="3305016"/>
        </p:xfrm>
        <a:graphic>
          <a:graphicData uri="http://schemas.openxmlformats.org/presentationml/2006/ole">
            <mc:AlternateContent xmlns:mc="http://schemas.openxmlformats.org/markup-compatibility/2006">
              <mc:Choice xmlns:v="urn:schemas-microsoft-com:vml" Requires="v">
                <p:oleObj name="Graph" r:id="rId3" imgW="6857410" imgH="5143222" progId="Origin95.Graph">
                  <p:embed/>
                </p:oleObj>
              </mc:Choice>
              <mc:Fallback>
                <p:oleObj name="Graph" r:id="rId3" imgW="6857410" imgH="5143222" progId="Origin95.Graph">
                  <p:embed/>
                  <p:pic>
                    <p:nvPicPr>
                      <p:cNvPr id="5" name="对象 4">
                        <a:extLst>
                          <a:ext uri="{FF2B5EF4-FFF2-40B4-BE49-F238E27FC236}">
                            <a16:creationId xmlns:a16="http://schemas.microsoft.com/office/drawing/2014/main" id="{8FD1B34B-0BFD-4D75-8B26-4106966E69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6674" y="1337638"/>
                        <a:ext cx="4440300" cy="3305016"/>
                      </a:xfrm>
                      <a:prstGeom prst="rect">
                        <a:avLst/>
                      </a:prstGeom>
                      <a:noFill/>
                    </p:spPr>
                  </p:pic>
                </p:oleObj>
              </mc:Fallback>
            </mc:AlternateContent>
          </a:graphicData>
        </a:graphic>
      </p:graphicFrame>
      <p:sp>
        <p:nvSpPr>
          <p:cNvPr id="47" name="矩形 46">
            <a:extLst>
              <a:ext uri="{FF2B5EF4-FFF2-40B4-BE49-F238E27FC236}">
                <a16:creationId xmlns:a16="http://schemas.microsoft.com/office/drawing/2014/main" id="{A6753483-5E34-4527-A3C3-A492FDD07860}"/>
              </a:ext>
            </a:extLst>
          </p:cNvPr>
          <p:cNvSpPr/>
          <p:nvPr/>
        </p:nvSpPr>
        <p:spPr bwMode="auto">
          <a:xfrm>
            <a:off x="1334004" y="5267495"/>
            <a:ext cx="4267887" cy="1384400"/>
          </a:xfrm>
          <a:prstGeom prst="rect">
            <a:avLst/>
          </a:prstGeom>
          <a:ln>
            <a:solidFill>
              <a:srgbClr val="A60626"/>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35" name="矩形 34">
            <a:extLst>
              <a:ext uri="{FF2B5EF4-FFF2-40B4-BE49-F238E27FC236}">
                <a16:creationId xmlns:a16="http://schemas.microsoft.com/office/drawing/2014/main" id="{C9606707-B646-48A5-9DE1-5BAE9D2680F2}"/>
              </a:ext>
            </a:extLst>
          </p:cNvPr>
          <p:cNvSpPr/>
          <p:nvPr/>
        </p:nvSpPr>
        <p:spPr>
          <a:xfrm>
            <a:off x="688961" y="1100888"/>
            <a:ext cx="3032105" cy="369332"/>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sz="1500" dirty="0">
                <a:latin typeface="Times New Roman" panose="02020603050405020304" pitchFamily="18" charset="0"/>
                <a:ea typeface="SimSun"/>
                <a:cs typeface="Times New Roman" panose="02020603050405020304" pitchFamily="18" charset="0"/>
              </a:rPr>
              <a:t>Spray characteristics</a:t>
            </a:r>
            <a:r>
              <a:rPr sz="1230" lang="zh-CN">
                <a:solidFill>
                  <a:srgbClr val="24425A"/>
                </a:solidFill>
                <a:latin typeface="Times New Roman"/>
                <a:ea typeface="SimSun"/>
                <a:cs typeface="Times New Roman"/>
              </a:rPr>
              <a:t>  喷雾特性</a:t>
            </a:r>
          </a:p>
        </p:txBody>
      </p:sp>
      <p:sp>
        <p:nvSpPr>
          <p:cNvPr id="36" name="矩形 35">
            <a:extLst>
              <a:ext uri="{FF2B5EF4-FFF2-40B4-BE49-F238E27FC236}">
                <a16:creationId xmlns:a16="http://schemas.microsoft.com/office/drawing/2014/main" id="{96BF9115-8775-4D40-81C7-6B6F64425C40}"/>
              </a:ext>
            </a:extLst>
          </p:cNvPr>
          <p:cNvSpPr/>
          <p:nvPr/>
        </p:nvSpPr>
        <p:spPr>
          <a:xfrm>
            <a:off x="861980" y="1617063"/>
            <a:ext cx="5718172" cy="551180"/>
          </a:xfrm>
          <a:prstGeom prst="rect">
            <a:avLst/>
          </a:prstGeom>
        </p:spPr>
        <p:txBody>
          <a:bodyPr wrap="square" tIns="0" bIns="0">
            <a:noAutofit/>
          </a:bodyPr>
          <a:lstStyle/>
          <a:p>
            <a:pPr algn="l">
              <a:lnSpc>
                <a:spcPct val="108000"/>
              </a:lnSpc>
              <a:spcAft>
                <a:spcPts val="300"/>
              </a:spcAft>
            </a:pPr>
            <a:r>
              <a:rPr lang="en-US" altLang="zh-CN" sz="1500" dirty="0">
                <a:latin typeface="Times New Roman" pitchFamily="18" charset="0"/>
                <a:ea typeface="SimSun"/>
                <a:cs typeface="Times New Roman" pitchFamily="18" charset="0"/>
              </a:rPr>
              <a:t>Theoretical mass flow rate is given by Lefebvre and </a:t>
            </a:r>
            <a:r>
              <a:rPr lang="en-US" altLang="zh-CN" sz="1500" dirty="0" err="1">
                <a:latin typeface="Times New Roman" pitchFamily="18" charset="0"/>
                <a:ea typeface="SimSun"/>
                <a:cs typeface="Times New Roman" pitchFamily="18" charset="0"/>
              </a:rPr>
              <a:t>McDonell</a:t>
            </a:r>
            <a:r>
              <a:rPr sz="1230" lang="zh-CN">
                <a:solidFill>
                  <a:srgbClr val="24425A"/>
                </a:solidFill>
                <a:latin typeface="Times New Roman"/>
                <a:ea typeface="SimSun"/>
                <a:cs typeface="Times New Roman"/>
              </a:rPr>
              <a:t>  理论质量流量采用 Lefebvre 与 McDonell 的关联式计算。</a:t>
            </a:r>
          </a:p>
        </p:txBody>
      </p: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04AEFD1A-F491-478B-AB3F-DEA2A908B11D}"/>
                  </a:ext>
                </a:extLst>
              </p:cNvPr>
              <p:cNvSpPr/>
              <p:nvPr/>
            </p:nvSpPr>
            <p:spPr>
              <a:xfrm>
                <a:off x="1947313" y="1910749"/>
                <a:ext cx="2424831" cy="596638"/>
              </a:xfrm>
              <a:prstGeom prst="rect">
                <a:avLst/>
              </a:prstGeom>
            </p:spPr>
            <p:txBody>
              <a:bodyPr wrap="square">
                <a:spAutoFit/>
              </a:bodyPr>
              <a:lstStyle/>
              <a:p>
                <a:pPr/>
                <a14:m>
                  <m:oMathPara xmlns:m="http://schemas.openxmlformats.org/officeDocument/2006/math">
                    <m:oMath>
                      <m:sSub>
                        <m:sSubPr>
                          <m:ctrlPr>
                            <a:rPr lang="zh-CN" altLang="zh-CN" sz="1600" i="1">
                              <a:latin typeface="Times New Roman" panose="02040503050406030204" pitchFamily="18" charset="0"/>
                              <a:ea typeface="SimSun"/>
                              <a:cs typeface="Times New Roman"/>
                            </a:rPr>
                          </m:ctrlPr>
                        </m:sSubPr>
                        <m:e>
                          <m:acc>
                            <m:accPr>
                              <m:chr m:val="̇"/>
                              <m:ctrlPr>
                                <a:rPr lang="en-US" altLang="zh-CN" sz="1600" i="1">
                                  <a:latin typeface="Times New Roman"/>
                                  <a:ea typeface="SimSun"/>
                                  <a:cs typeface="Times New Roman"/>
                                </a:rPr>
                              </m:ctrlPr>
                            </m:accPr>
                            <m:e>
                              <m:r>
                                <a:rPr lang="en-US" altLang="zh-CN" sz="1600" i="1">
                                  <a:latin typeface="Times New Roman"/>
                                  <a:ea typeface="SimSun"/>
                                  <a:cs typeface="Times New Roman"/>
                                </a:rPr>
                                <m:t>𝑚</m:t>
                              </m:r>
                            </m:e>
                          </m:acc>
                        </m:e>
                        <m:sub>
                          <m:r>
                            <a:rPr lang="en-US" altLang="zh-CN" sz="1600" i="1">
                              <a:latin typeface="Times New Roman"/>
                              <a:ea typeface="SimSun"/>
                              <a:cs typeface="Times New Roman"/>
                            </a:rPr>
                            <m:t>𝑡ℎ</m:t>
                          </m:r>
                        </m:sub>
                      </m:sSub>
                      <m:r>
                        <a:rPr lang="en-US" altLang="zh-CN" sz="1600" i="1">
                          <a:latin typeface="Times New Roman"/>
                          <a:ea typeface="SimSun"/>
                          <a:cs typeface="Times New Roman"/>
                        </a:rPr>
                        <m:t>=</m:t>
                      </m:r>
                      <m:r>
                        <a:rPr lang="en-US" altLang="zh-CN" sz="1600" i="1">
                          <a:latin typeface="Times New Roman"/>
                          <a:ea typeface="SimSun"/>
                          <a:cs typeface="Times New Roman"/>
                        </a:rPr>
                        <m:t>𝜌</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𝐴</m:t>
                          </m:r>
                        </m:e>
                        <m:sub>
                          <m:r>
                            <a:rPr lang="en-US" altLang="zh-CN" sz="1600" i="1">
                              <a:latin typeface="Times New Roman"/>
                              <a:ea typeface="SimSun"/>
                              <a:cs typeface="Times New Roman"/>
                            </a:rPr>
                            <m:t>𝑂</m:t>
                          </m:r>
                        </m:sub>
                      </m:sSub>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m:t>
                          </m:r>
                          <m:f>
                            <m:fPr>
                              <m:ctrlPr>
                                <a:rPr lang="en-US" altLang="zh-CN" sz="1600" i="1">
                                  <a:latin typeface="Times New Roman"/>
                                  <a:ea typeface="SimSun"/>
                                  <a:cs typeface="Times New Roman"/>
                                </a:rPr>
                              </m:ctrlPr>
                            </m:fPr>
                            <m:num>
                              <m:r>
                                <a:rPr lang="en-US" altLang="zh-CN" sz="1600" i="1">
                                  <a:latin typeface="Times New Roman"/>
                                  <a:ea typeface="SimSun"/>
                                  <a:cs typeface="Times New Roman"/>
                                </a:rPr>
                                <m:t>2∆</m:t>
                              </m:r>
                              <m:r>
                                <a:rPr lang="en-US" altLang="zh-CN" sz="1600" i="1">
                                  <a:latin typeface="Times New Roman"/>
                                  <a:ea typeface="SimSun"/>
                                  <a:cs typeface="Times New Roman"/>
                                </a:rPr>
                                <m:t>𝑃</m:t>
                              </m:r>
                            </m:num>
                            <m:den>
                              <m:r>
                                <a:rPr lang="en-US" altLang="zh-CN" sz="1600" i="1">
                                  <a:latin typeface="Times New Roman"/>
                                  <a:ea typeface="SimSun"/>
                                  <a:cs typeface="Times New Roman"/>
                                </a:rPr>
                                <m:t>𝜌</m:t>
                              </m:r>
                            </m:den>
                          </m:f>
                          <m:r>
                            <a:rPr lang="en-US" altLang="zh-CN" sz="1600" i="1">
                              <a:latin typeface="Times New Roman"/>
                              <a:ea typeface="SimSun"/>
                              <a:cs typeface="Times New Roman"/>
                            </a:rPr>
                            <m:t>)</m:t>
                          </m:r>
                        </m:e>
                        <m:sup>
                          <m:r>
                            <a:rPr lang="en-US" altLang="zh-CN" sz="1600" i="1">
                              <a:latin typeface="Times New Roman"/>
                              <a:ea typeface="SimSun"/>
                              <a:cs typeface="Times New Roman"/>
                            </a:rPr>
                            <m:t>0.5</m:t>
                          </m:r>
                        </m:sup>
                      </m:sSup>
                    </m:oMath>
                  </m:oMathPara>
                </a14:m>
                <a:endParaRPr lang="zh-CN" altLang="zh-CN" sz="1600" dirty="0">
                  <a:latin typeface="Times New Roman"/>
                  <a:ea typeface="SimSun"/>
                  <a:cs typeface="Times New Roman"/>
                </a:endParaRPr>
              </a:p>
            </p:txBody>
          </p:sp>
        </mc:Choice>
        <mc:Fallback xmlns="">
          <p:sp>
            <p:nvSpPr>
              <p:cNvPr id="37" name="矩形 36">
                <a:extLst>
                  <a:ext uri="{FF2B5EF4-FFF2-40B4-BE49-F238E27FC236}">
                    <a16:creationId xmlns:a16="http://schemas.microsoft.com/office/drawing/2014/main" id="{04AEFD1A-F491-478B-AB3F-DEA2A908B11D}"/>
                  </a:ext>
                </a:extLst>
              </p:cNvPr>
              <p:cNvSpPr>
                <a:spLocks noRot="1" noChangeAspect="1" noMove="1" noResize="1" noEditPoints="1" noAdjustHandles="1" noChangeArrowheads="1" noChangeShapeType="1" noTextEdit="1"/>
              </p:cNvSpPr>
              <p:nvPr/>
            </p:nvSpPr>
            <p:spPr>
              <a:xfrm>
                <a:off x="1947313" y="1910749"/>
                <a:ext cx="2424831" cy="596638"/>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p:sp>
        <p:nvSpPr>
          <p:cNvPr id="38" name="矩形 37">
            <a:extLst>
              <a:ext uri="{FF2B5EF4-FFF2-40B4-BE49-F238E27FC236}">
                <a16:creationId xmlns:a16="http://schemas.microsoft.com/office/drawing/2014/main" id="{2791F8FC-218F-45C2-BE7B-62E9DB989D47}"/>
              </a:ext>
            </a:extLst>
          </p:cNvPr>
          <p:cNvSpPr/>
          <p:nvPr/>
        </p:nvSpPr>
        <p:spPr>
          <a:xfrm>
            <a:off x="861980" y="2541867"/>
            <a:ext cx="5439918" cy="611124"/>
          </a:xfrm>
          <a:prstGeom prst="rect">
            <a:avLst/>
          </a:prstGeom>
        </p:spPr>
        <p:txBody>
          <a:bodyPr wrap="square" tIns="0" bIns="0">
            <a:noAutofit/>
          </a:bodyPr>
          <a:lstStyle/>
          <a:p>
            <a:pPr algn="l">
              <a:lnSpc>
                <a:spcPct val="108000"/>
              </a:lnSpc>
              <a:spcAft>
                <a:spcPts val="300"/>
              </a:spcAft>
            </a:pPr>
            <a:r>
              <a:rPr lang="en-US" altLang="zh-CN" sz="1700" dirty="0">
                <a:latin typeface="Times New Roman" pitchFamily="18" charset="0"/>
                <a:ea typeface="SimSun"/>
                <a:cs typeface="Times New Roman" pitchFamily="18" charset="0"/>
              </a:rPr>
              <a:t>The average droplet diameter is obtained from the following equation:</a:t>
            </a:r>
            <a:r>
              <a:rPr sz="1394" lang="zh-CN">
                <a:solidFill>
                  <a:srgbClr val="24425A"/>
                </a:solidFill>
                <a:latin typeface="Times New Roman"/>
                <a:ea typeface="SimSun"/>
                <a:cs typeface="Times New Roman"/>
              </a:rPr>
              <a:t>  平均液滴直径由下式计算：</a:t>
            </a:r>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5EF7F9EB-37AE-4981-B1A5-EE5B140C6B93}"/>
                  </a:ext>
                </a:extLst>
              </p:cNvPr>
              <p:cNvSpPr/>
              <p:nvPr/>
            </p:nvSpPr>
            <p:spPr>
              <a:xfrm>
                <a:off x="1832660" y="3061674"/>
                <a:ext cx="2654135" cy="358368"/>
              </a:xfrm>
              <a:prstGeom prst="rect">
                <a:avLst/>
              </a:prstGeom>
            </p:spPr>
            <p:txBody>
              <a:bodyPr wrap="square">
                <a:spAutoFit/>
              </a:bodyPr>
              <a:lstStyle/>
              <a:p>
                <a:pPr/>
                <a14:m>
                  <m:oMathPara xmlns:m="http://schemas.openxmlformats.org/officeDocument/2006/math">
                    <m:oMath>
                      <m:r>
                        <a:rPr lang="en-US" altLang="zh-CN" sz="1600" i="1">
                          <a:latin typeface="Times New Roman"/>
                          <a:ea typeface="SimSun"/>
                          <a:cs typeface="Times New Roman"/>
                        </a:rPr>
                        <m:t>𝑑</m:t>
                      </m:r>
                      <m:r>
                        <a:rPr lang="en-US" altLang="zh-CN" sz="1600">
                          <a:latin typeface="Times New Roman"/>
                          <a:ea typeface="SimSun"/>
                          <a:cs typeface="Times New Roman"/>
                        </a:rPr>
                        <m:t>=9.5</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𝑑</m:t>
                          </m:r>
                        </m:e>
                        <m:sub>
                          <m:r>
                            <a:rPr lang="en-US" altLang="zh-CN" sz="1600" i="1">
                              <a:latin typeface="Times New Roman"/>
                              <a:ea typeface="SimSun"/>
                              <a:cs typeface="Times New Roman"/>
                            </a:rPr>
                            <m:t>𝑗</m:t>
                          </m:r>
                        </m:sub>
                      </m:sSub>
                      <m:r>
                        <a:rPr lang="en-US" altLang="zh-CN" sz="1600">
                          <a:latin typeface="Times New Roman"/>
                          <a:ea typeface="SimSun"/>
                          <a:cs typeface="Times New Roman"/>
                        </a:rPr>
                        <m:t>/(∆</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𝑃</m:t>
                          </m:r>
                        </m:e>
                        <m:sub>
                          <m:r>
                            <a:rPr lang="en-US" altLang="zh-CN" sz="1600">
                              <a:latin typeface="Times New Roman"/>
                              <a:ea typeface="SimSun"/>
                              <a:cs typeface="Times New Roman"/>
                            </a:rPr>
                            <m:t>1</m:t>
                          </m:r>
                        </m:sub>
                      </m:sSub>
                      <m:r>
                        <a:rPr lang="en-US" altLang="zh-CN" sz="1600" i="1">
                          <a:latin typeface="Times New Roman"/>
                          <a:ea typeface="SimSun"/>
                          <a:cs typeface="Times New Roman"/>
                        </a:rPr>
                        <m:t>𝑠𝑖𝑛</m:t>
                      </m:r>
                      <m:r>
                        <a:rPr lang="en-US" altLang="zh-CN" sz="1600">
                          <a:latin typeface="Times New Roman"/>
                          <a:ea typeface="SimSun"/>
                          <a:cs typeface="Times New Roman"/>
                        </a:rPr>
                        <m:t>(</m:t>
                      </m:r>
                      <m:r>
                        <a:rPr lang="en-US" altLang="zh-CN" sz="1600" i="1">
                          <a:latin typeface="Times New Roman"/>
                          <a:ea typeface="SimSun"/>
                          <a:cs typeface="Times New Roman"/>
                        </a:rPr>
                        <m:t>𝛼</m:t>
                      </m:r>
                      <m:r>
                        <a:rPr lang="en-US" altLang="zh-CN" sz="1600">
                          <a:latin typeface="Times New Roman"/>
                          <a:ea typeface="SimSun"/>
                          <a:cs typeface="Times New Roman"/>
                        </a:rPr>
                        <m:t>/2))</m:t>
                      </m:r>
                    </m:oMath>
                  </m:oMathPara>
                </a14:m>
                <a:endParaRPr lang="zh-CN" altLang="zh-CN" sz="1600" dirty="0">
                  <a:latin typeface="Times New Roman"/>
                  <a:ea typeface="SimSun"/>
                  <a:cs typeface="Times New Roman"/>
                </a:endParaRPr>
              </a:p>
            </p:txBody>
          </p:sp>
        </mc:Choice>
        <mc:Fallback xmlns="">
          <p:sp>
            <p:nvSpPr>
              <p:cNvPr id="39" name="矩形 38">
                <a:extLst>
                  <a:ext uri="{FF2B5EF4-FFF2-40B4-BE49-F238E27FC236}">
                    <a16:creationId xmlns:a16="http://schemas.microsoft.com/office/drawing/2014/main" id="{5EF7F9EB-37AE-4981-B1A5-EE5B140C6B93}"/>
                  </a:ext>
                </a:extLst>
              </p:cNvPr>
              <p:cNvSpPr>
                <a:spLocks noRot="1" noChangeAspect="1" noMove="1" noResize="1" noEditPoints="1" noAdjustHandles="1" noChangeArrowheads="1" noChangeShapeType="1" noTextEdit="1"/>
              </p:cNvSpPr>
              <p:nvPr/>
            </p:nvSpPr>
            <p:spPr>
              <a:xfrm>
                <a:off x="1832660" y="3061674"/>
                <a:ext cx="2654135" cy="358368"/>
              </a:xfrm>
              <a:prstGeom prst="rect">
                <a:avLst/>
              </a:prstGeom>
              <a:blipFill>
                <a:blip r:embed="rId7"/>
                <a:stretch>
                  <a:fillRect b="-6780"/>
                </a:stretch>
              </a:blipFill>
            </p:spPr>
            <p:txBody>
              <a:bodyPr/>
              <a:lstStyle/>
              <a:p>
                <a:r>
                  <a:rPr lang="en-US">
                    <a:noFill/>
                    <a:latin typeface="Times New Roman"/>
                    <a:ea typeface="SimSun"/>
                    <a:cs typeface="Times New Roman"/>
                  </a:rPr>
                  <a:t> </a:t>
                </a:r>
              </a:p>
            </p:txBody>
          </p:sp>
        </mc:Fallback>
      </mc:AlternateContent>
      <p:sp>
        <p:nvSpPr>
          <p:cNvPr id="40" name="矩形 39">
            <a:extLst>
              <a:ext uri="{FF2B5EF4-FFF2-40B4-BE49-F238E27FC236}">
                <a16:creationId xmlns:a16="http://schemas.microsoft.com/office/drawing/2014/main" id="{30CF54E5-5DAD-4CA1-90ED-33FCFC47D452}"/>
              </a:ext>
            </a:extLst>
          </p:cNvPr>
          <p:cNvSpPr/>
          <p:nvPr/>
        </p:nvSpPr>
        <p:spPr>
          <a:xfrm>
            <a:off x="857642" y="3579763"/>
            <a:ext cx="5439917" cy="1006104"/>
          </a:xfrm>
          <a:prstGeom prst="rect">
            <a:avLst/>
          </a:prstGeom>
        </p:spPr>
        <p:txBody>
          <a:bodyPr wrap="square" tIns="0" bIns="0">
            <a:noAutofit/>
          </a:bodyPr>
          <a:lstStyle/>
          <a:p>
            <a:pPr algn="l">
              <a:lnSpc>
                <a:spcPct val="108000"/>
              </a:lnSpc>
              <a:spcAft>
                <a:spcPts val="300"/>
              </a:spcAft>
            </a:pPr>
            <a:r>
              <a:rPr lang="en-US" altLang="zh-CN" sz="1650" dirty="0">
                <a:latin typeface="Times New Roman" pitchFamily="18" charset="0"/>
                <a:ea typeface="SimSun"/>
                <a:cs typeface="Times New Roman" pitchFamily="18" charset="0"/>
              </a:rPr>
              <a:t>The correlation for spray cone angle based on inviscid theory (</a:t>
            </a:r>
            <a:r>
              <a:rPr lang="en-US" altLang="zh-CN" sz="1650" dirty="0">
                <a:latin typeface="Times New Roman" pitchFamily="18" charset="0"/>
                <a:ea typeface="SimSun"/>
                <a:cs typeface="Times New Roman" pitchFamily="18" charset="0"/>
                <a:hlinkClick r:id="rId8"/>
              </a:rPr>
              <a:t>Abramovich, 1944</a:t>
            </a:r>
            <a:r>
              <a:rPr lang="en-US" altLang="zh-CN" sz="1650" dirty="0">
                <a:latin typeface="Times New Roman" pitchFamily="18" charset="0"/>
                <a:ea typeface="SimSun"/>
                <a:cs typeface="Times New Roman" pitchFamily="18" charset="0"/>
              </a:rPr>
              <a:t>) overpredicts the spray cone angle by 25%.</a:t>
            </a:r>
            <a:br/>
            <a:r>
              <a:rPr sz="1353" lang="zh-CN">
                <a:solidFill>
                  <a:srgbClr val="24425A"/>
                </a:solidFill>
                <a:latin typeface="Times New Roman"/>
                <a:ea typeface="SimSun"/>
                <a:cs typeface="Times New Roman"/>
              </a:rPr>
              <a:t>基于无黏理论的喷雾锥角关联式（Abramovich，1944）会将喷雾锥角高估约 25%。</a:t>
            </a:r>
          </a:p>
        </p:txBody>
      </p: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498D7BEB-7674-4C14-9BA3-FC1800626FB4}"/>
                  </a:ext>
                </a:extLst>
              </p:cNvPr>
              <p:cNvSpPr/>
              <p:nvPr/>
            </p:nvSpPr>
            <p:spPr>
              <a:xfrm>
                <a:off x="1129740" y="4188537"/>
                <a:ext cx="4750666" cy="595228"/>
              </a:xfrm>
              <a:prstGeom prst="rect">
                <a:avLst/>
              </a:prstGeom>
            </p:spPr>
            <p:txBody>
              <a:bodyPr wrap="square">
                <a:spAutoFit/>
              </a:bodyPr>
              <a:lstStyle/>
              <a:p>
                <a:pPr/>
                <a14:m>
                  <m:oMathPara xmlns:m="http://schemas.openxmlformats.org/officeDocument/2006/math">
                    <m:oMath>
                      <m:r>
                        <a:rPr lang="en-US" altLang="zh-CN" sz="1600" i="1">
                          <a:latin typeface="Times New Roman"/>
                          <a:ea typeface="SimSun"/>
                          <a:cs typeface="Times New Roman"/>
                        </a:rPr>
                        <m:t>2</m:t>
                      </m:r>
                      <m:r>
                        <a:rPr lang="en-US" altLang="zh-CN" sz="1600" i="1">
                          <a:latin typeface="Times New Roman"/>
                          <a:ea typeface="SimSun"/>
                          <a:cs typeface="Times New Roman"/>
                        </a:rPr>
                        <m:t>𝛼</m:t>
                      </m:r>
                      <m:r>
                        <a:rPr lang="en-US" altLang="zh-CN" sz="1600" i="1">
                          <a:latin typeface="Times New Roman"/>
                          <a:ea typeface="SimSun"/>
                          <a:cs typeface="Times New Roman"/>
                        </a:rPr>
                        <m:t>=334.32</m:t>
                      </m:r>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𝐾</m:t>
                          </m:r>
                        </m:e>
                        <m:sup>
                          <m:r>
                            <a:rPr lang="en-US" altLang="zh-CN" sz="1600" i="1">
                              <a:latin typeface="Times New Roman"/>
                              <a:ea typeface="SimSun"/>
                              <a:cs typeface="Times New Roman"/>
                            </a:rPr>
                            <m:t>−0.165</m:t>
                          </m:r>
                        </m:sup>
                      </m:sSup>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m:t>
                          </m:r>
                          <m:f>
                            <m:fPr>
                              <m:ctrlPr>
                                <a:rPr lang="zh-CN" altLang="zh-CN" sz="1600" i="1">
                                  <a:latin typeface="Times New Roman"/>
                                  <a:ea typeface="SimSun"/>
                                  <a:cs typeface="Times New Roman"/>
                                </a:rPr>
                              </m:ctrlPr>
                            </m:fPr>
                            <m:num>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𝐷</m:t>
                                  </m:r>
                                </m:e>
                                <m:sub>
                                  <m:r>
                                    <a:rPr lang="en-US" altLang="zh-CN" sz="1600" i="1">
                                      <a:latin typeface="Times New Roman"/>
                                      <a:ea typeface="SimSun"/>
                                      <a:cs typeface="Times New Roman"/>
                                    </a:rPr>
                                    <m:t>𝑆</m:t>
                                  </m:r>
                                </m:sub>
                              </m:sSub>
                            </m:num>
                            <m:den>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𝐷</m:t>
                                  </m:r>
                                </m:e>
                                <m:sub>
                                  <m:r>
                                    <a:rPr lang="en-US" altLang="zh-CN" sz="1600" i="1">
                                      <a:latin typeface="Times New Roman"/>
                                      <a:ea typeface="SimSun"/>
                                      <a:cs typeface="Times New Roman"/>
                                    </a:rPr>
                                    <m:t>𝑂</m:t>
                                  </m:r>
                                </m:sub>
                              </m:sSub>
                            </m:den>
                          </m:f>
                          <m:r>
                            <a:rPr lang="en-US" altLang="zh-CN" sz="1600" i="1">
                              <a:latin typeface="Times New Roman"/>
                              <a:ea typeface="SimSun"/>
                              <a:cs typeface="Times New Roman"/>
                            </a:rPr>
                            <m:t>)</m:t>
                          </m:r>
                        </m:e>
                        <m:sup>
                          <m:r>
                            <a:rPr lang="en-US" altLang="zh-CN" sz="1600" i="1">
                              <a:latin typeface="Times New Roman"/>
                              <a:ea typeface="SimSun"/>
                              <a:cs typeface="Times New Roman"/>
                            </a:rPr>
                            <m:t>−0.484</m:t>
                          </m:r>
                        </m:sup>
                      </m:sSup>
                      <m:sSubSup>
                        <m:sSubSupPr>
                          <m:ctrlPr>
                            <a:rPr lang="en-US" altLang="zh-CN" sz="1600" i="1">
                              <a:latin typeface="Times New Roman"/>
                              <a:ea typeface="SimSun"/>
                              <a:cs typeface="Times New Roman"/>
                            </a:rPr>
                          </m:ctrlPr>
                        </m:sSubSupPr>
                        <m:e>
                          <m:r>
                            <a:rPr lang="en-US" altLang="zh-CN" sz="1600" i="1">
                              <a:latin typeface="Times New Roman"/>
                              <a:ea typeface="SimSun"/>
                              <a:cs typeface="Times New Roman"/>
                            </a:rPr>
                            <m:t>𝑊</m:t>
                          </m:r>
                        </m:e>
                        <m:sub>
                          <m:r>
                            <a:rPr lang="en-US" altLang="zh-CN" sz="1600" i="1">
                              <a:latin typeface="Times New Roman"/>
                              <a:ea typeface="SimSun"/>
                              <a:cs typeface="Times New Roman"/>
                            </a:rPr>
                            <m:t>𝑒</m:t>
                          </m:r>
                        </m:sub>
                        <m:sup>
                          <m:r>
                            <a:rPr lang="en-US" altLang="zh-CN" sz="1600" i="1">
                              <a:latin typeface="Times New Roman"/>
                              <a:ea typeface="SimSun"/>
                              <a:cs typeface="Times New Roman"/>
                            </a:rPr>
                            <m:t>0.043</m:t>
                          </m:r>
                        </m:sup>
                      </m:sSubSup>
                      <m:sSubSup>
                        <m:sSubSupPr>
                          <m:ctrlPr>
                            <a:rPr lang="en-US" altLang="zh-CN" sz="1600" i="1">
                              <a:latin typeface="Times New Roman"/>
                              <a:ea typeface="SimSun"/>
                              <a:cs typeface="Times New Roman"/>
                            </a:rPr>
                          </m:ctrlPr>
                        </m:sSubSupPr>
                        <m:e>
                          <m:r>
                            <a:rPr lang="en-US" altLang="zh-CN" sz="1600" i="1">
                              <a:latin typeface="Times New Roman"/>
                              <a:ea typeface="SimSun"/>
                              <a:cs typeface="Times New Roman"/>
                            </a:rPr>
                            <m:t>𝑅𝑒</m:t>
                          </m:r>
                        </m:e>
                        <m:sub>
                          <m:r>
                            <a:rPr lang="en-US" altLang="zh-CN" sz="1600" i="1">
                              <a:latin typeface="Times New Roman"/>
                              <a:ea typeface="SimSun"/>
                              <a:cs typeface="Times New Roman"/>
                            </a:rPr>
                            <m:t>𝑝</m:t>
                          </m:r>
                        </m:sub>
                        <m:sup>
                          <m:r>
                            <a:rPr lang="en-US" altLang="zh-CN" sz="1600" i="1">
                              <a:latin typeface="Times New Roman"/>
                              <a:ea typeface="SimSun"/>
                              <a:cs typeface="Times New Roman"/>
                            </a:rPr>
                            <m:t>−0.065</m:t>
                          </m:r>
                        </m:sup>
                      </m:sSubSup>
                    </m:oMath>
                  </m:oMathPara>
                </a14:m>
                <a:endParaRPr lang="zh-CN" altLang="zh-CN" sz="1600" dirty="0">
                  <a:latin typeface="Times New Roman"/>
                  <a:ea typeface="SimSun"/>
                  <a:cs typeface="Times New Roman"/>
                </a:endParaRPr>
              </a:p>
            </p:txBody>
          </p:sp>
        </mc:Choice>
        <mc:Fallback xmlns="">
          <p:sp>
            <p:nvSpPr>
              <p:cNvPr id="41" name="矩形 40">
                <a:extLst>
                  <a:ext uri="{FF2B5EF4-FFF2-40B4-BE49-F238E27FC236}">
                    <a16:creationId xmlns:a16="http://schemas.microsoft.com/office/drawing/2014/main" id="{498D7BEB-7674-4C14-9BA3-FC1800626FB4}"/>
                  </a:ext>
                </a:extLst>
              </p:cNvPr>
              <p:cNvSpPr>
                <a:spLocks noRot="1" noChangeAspect="1" noMove="1" noResize="1" noEditPoints="1" noAdjustHandles="1" noChangeArrowheads="1" noChangeShapeType="1" noTextEdit="1"/>
              </p:cNvSpPr>
              <p:nvPr/>
            </p:nvSpPr>
            <p:spPr>
              <a:xfrm>
                <a:off x="1129740" y="4188537"/>
                <a:ext cx="4750666" cy="595228"/>
              </a:xfrm>
              <a:prstGeom prst="rect">
                <a:avLst/>
              </a:prstGeom>
              <a:blipFill>
                <a:blip r:embed="rId9"/>
                <a:stretch>
                  <a:fillRect/>
                </a:stretch>
              </a:blipFill>
            </p:spPr>
            <p:txBody>
              <a:bodyPr/>
              <a:lstStyle/>
              <a:p>
                <a:r>
                  <a:rPr lang="en-US">
                    <a:noFill/>
                    <a:latin typeface="Times New Roman"/>
                    <a:ea typeface="SimSun"/>
                    <a:cs typeface="Times New Roman"/>
                  </a:rPr>
                  <a:t> </a:t>
                </a:r>
              </a:p>
            </p:txBody>
          </p:sp>
        </mc:Fallback>
      </mc:AlternateContent>
      <p:sp>
        <p:nvSpPr>
          <p:cNvPr id="2" name="Rectangle 2">
            <a:extLst>
              <a:ext uri="{FF2B5EF4-FFF2-40B4-BE49-F238E27FC236}">
                <a16:creationId xmlns:a16="http://schemas.microsoft.com/office/drawing/2014/main" id="{2A1D18B0-DD8A-40D3-BED3-BC78BF78310A}"/>
              </a:ext>
            </a:extLst>
          </p:cNvPr>
          <p:cNvSpPr>
            <a:spLocks noChangeArrowheads="1"/>
          </p:cNvSpPr>
          <p:nvPr/>
        </p:nvSpPr>
        <p:spPr bwMode="auto">
          <a:xfrm>
            <a:off x="6126515" y="102713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44" name="矩形 43">
            <a:extLst>
              <a:ext uri="{FF2B5EF4-FFF2-40B4-BE49-F238E27FC236}">
                <a16:creationId xmlns:a16="http://schemas.microsoft.com/office/drawing/2014/main" id="{0CF10C1C-9B67-4E7E-BA3A-642DB8DBB3A0}"/>
              </a:ext>
            </a:extLst>
          </p:cNvPr>
          <p:cNvSpPr/>
          <p:nvPr/>
        </p:nvSpPr>
        <p:spPr>
          <a:xfrm>
            <a:off x="9747905" y="2833839"/>
            <a:ext cx="130302" cy="9592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HK">
              <a:latin typeface="Times New Roman"/>
              <a:ea typeface="SimSun"/>
              <a:cs typeface="Times New Roman"/>
            </a:endParaRPr>
          </a:p>
        </p:txBody>
      </p:sp>
      <p:sp>
        <p:nvSpPr>
          <p:cNvPr id="45" name="矩形 44">
            <a:extLst>
              <a:ext uri="{FF2B5EF4-FFF2-40B4-BE49-F238E27FC236}">
                <a16:creationId xmlns:a16="http://schemas.microsoft.com/office/drawing/2014/main" id="{444B6EC6-EA5E-48C6-ADA7-EAEF2EBCF809}"/>
              </a:ext>
            </a:extLst>
          </p:cNvPr>
          <p:cNvSpPr/>
          <p:nvPr/>
        </p:nvSpPr>
        <p:spPr>
          <a:xfrm>
            <a:off x="7717832" y="4612288"/>
            <a:ext cx="3013668"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8.4 </a:t>
            </a:r>
            <a:r>
              <a:rPr lang="en-HK" sz="1200" dirty="0">
                <a:latin typeface="Times New Roman" panose="02020603050405020304" pitchFamily="18" charset="0"/>
                <a:ea typeface="SimSun"/>
                <a:cs typeface="Times New Roman" panose="02020603050405020304" pitchFamily="18" charset="0"/>
              </a:rPr>
              <a:t>Nozzle spray characteristics</a:t>
            </a:r>
          </a:p>
        </p:txBody>
      </p:sp>
      <p:sp>
        <p:nvSpPr>
          <p:cNvPr id="16" name="矩形 15">
            <a:extLst>
              <a:ext uri="{FF2B5EF4-FFF2-40B4-BE49-F238E27FC236}">
                <a16:creationId xmlns:a16="http://schemas.microsoft.com/office/drawing/2014/main" id="{EF24F0BF-8D97-4EA2-97A8-A5EA06AB6A50}"/>
              </a:ext>
            </a:extLst>
          </p:cNvPr>
          <p:cNvSpPr/>
          <p:nvPr/>
        </p:nvSpPr>
        <p:spPr>
          <a:xfrm>
            <a:off x="1394618" y="5344173"/>
            <a:ext cx="3994388" cy="1231043"/>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250" dirty="0">
                <a:latin typeface="Times New Roman" panose="02020603050405020304" pitchFamily="18" charset="0"/>
                <a:ea typeface="SimSun" panose="02010600030101010101" pitchFamily="2" charset="-122"/>
                <a:cs typeface="Times New Roman" panose="02020603050405020304" pitchFamily="18" charset="0"/>
              </a:rPr>
              <a:t>The parameters are </a:t>
            </a:r>
            <a:r>
              <a:rPr lang="en-HK" sz="1250"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interrelated</a:t>
            </a:r>
            <a:r>
              <a:rPr lang="en-HK" sz="1250" dirty="0">
                <a:latin typeface="Times New Roman" panose="02020603050405020304" pitchFamily="18" charset="0"/>
                <a:ea typeface="SimSun" panose="02010600030101010101" pitchFamily="2" charset="-122"/>
                <a:cs typeface="Times New Roman" panose="02020603050405020304" pitchFamily="18" charset="0"/>
              </a:rPr>
              <a:t> and cannot be adjusted individually.</a:t>
            </a:r>
            <a:br/>
            <a:r>
              <a:rPr sz="1025" lang="zh-CN">
                <a:solidFill>
                  <a:srgbClr val="24425A"/>
                </a:solidFill>
                <a:latin typeface="Times New Roman"/>
                <a:ea typeface="SimSun"/>
                <a:cs typeface="Times New Roman"/>
              </a:rPr>
              <a:t>各喷淋参数相互关联，不能独立调节。</a:t>
            </a:r>
          </a:p>
          <a:p>
            <a:pPr marL="285750" indent="-285750" algn="l">
              <a:buFont typeface="Arial" panose="020B0604020202020204" pitchFamily="34" charset="0"/>
              <a:buChar char="•"/>
              <a:lnSpc>
                <a:spcPct val="108000"/>
              </a:lnSpc>
              <a:spcAft>
                <a:spcPts val="300"/>
              </a:spcAft>
            </a:pPr>
            <a:r>
              <a:rPr lang="en-HK" sz="1250" dirty="0">
                <a:latin typeface="Times New Roman" panose="02020603050405020304" pitchFamily="18" charset="0"/>
                <a:ea typeface="SimSun" panose="02010600030101010101" pitchFamily="2" charset="-122"/>
                <a:cs typeface="Times New Roman" panose="02020603050405020304" pitchFamily="18" charset="0"/>
              </a:rPr>
              <a:t>Maximise the film coverage and to </a:t>
            </a:r>
            <a:r>
              <a:rPr lang="en-HK" sz="1250"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balance the effects </a:t>
            </a:r>
            <a:r>
              <a:rPr lang="en-HK" sz="1250" dirty="0">
                <a:latin typeface="Times New Roman" panose="02020603050405020304" pitchFamily="18" charset="0"/>
                <a:ea typeface="SimSun" panose="02010600030101010101" pitchFamily="2" charset="-122"/>
                <a:cs typeface="Times New Roman" panose="02020603050405020304" pitchFamily="18" charset="0"/>
              </a:rPr>
              <a:t>of each factor. </a:t>
            </a:r>
            <a:br/>
            <a:r>
              <a:rPr sz="1025" lang="zh-CN">
                <a:solidFill>
                  <a:srgbClr val="24425A"/>
                </a:solidFill>
                <a:latin typeface="Times New Roman"/>
                <a:ea typeface="SimSun"/>
                <a:cs typeface="Times New Roman"/>
              </a:rPr>
              <a:t>需平衡各因素影响，以最大化水膜覆盖率。</a:t>
            </a:r>
          </a:p>
        </p:txBody>
      </p:sp>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6FD23F5F-A11C-43E3-B85B-3FE693F07103}"/>
                  </a:ext>
                </a:extLst>
              </p:cNvPr>
              <p:cNvSpPr/>
              <p:nvPr/>
            </p:nvSpPr>
            <p:spPr>
              <a:xfrm>
                <a:off x="6763482" y="5130995"/>
                <a:ext cx="5091236" cy="115493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HK" sz="1600" dirty="0">
                    <a:latin typeface="Times New Roman" panose="02020603050405020304" pitchFamily="18" charset="0"/>
                    <a:ea typeface="SimSun" panose="02010600030101010101" pitchFamily="2" charset="-122"/>
                    <a:cs typeface="Times New Roman"/>
                  </a:rPr>
                  <a:t>Ideal object: nozzle with a orifice diameter of </a:t>
                </a:r>
                <a:r>
                  <a:rPr lang="en-HK" sz="1600" dirty="0">
                    <a:solidFill>
                      <a:srgbClr val="A60626"/>
                    </a:solidFill>
                    <a:latin typeface="Times New Roman" panose="02020603050405020304" pitchFamily="18" charset="0"/>
                    <a:ea typeface="SimSun" panose="02010600030101010101" pitchFamily="2" charset="-122"/>
                    <a:cs typeface="Times New Roman"/>
                  </a:rPr>
                  <a:t>3.0 mm</a:t>
                </a:r>
              </a:p>
              <a:p>
                <a:pPr marL="285750" indent="-285750" algn="just">
                  <a:lnSpc>
                    <a:spcPct val="150000"/>
                  </a:lnSpc>
                  <a:buFont typeface="Arial" panose="020B0604020202020204" pitchFamily="34" charset="0"/>
                  <a:buChar char="•"/>
                </a:pPr>
                <a:r>
                  <a:rPr lang="en-HK" sz="1600" dirty="0">
                    <a:latin typeface="Times New Roman" panose="02020603050405020304" pitchFamily="18" charset="0"/>
                    <a:ea typeface="SimSun" panose="02010600030101010101" pitchFamily="2" charset="-122"/>
                    <a:cs typeface="Times New Roman"/>
                  </a:rPr>
                  <a:t>Operating condition: at a pressure of </a:t>
                </a:r>
                <a:r>
                  <a:rPr lang="en-HK" sz="1600" dirty="0">
                    <a:solidFill>
                      <a:srgbClr val="A60626"/>
                    </a:solidFill>
                    <a:latin typeface="Times New Roman" panose="02020603050405020304" pitchFamily="18" charset="0"/>
                    <a:ea typeface="SimSun" panose="02010600030101010101" pitchFamily="2" charset="-122"/>
                    <a:cs typeface="Times New Roman"/>
                  </a:rPr>
                  <a:t>1.5 bar</a:t>
                </a:r>
                <a:r>
                  <a:rPr lang="en-HK" sz="1600" dirty="0">
                    <a:latin typeface="Times New Roman" panose="02020603050405020304" pitchFamily="18" charset="0"/>
                    <a:ea typeface="SimSun" panose="02010600030101010101" pitchFamily="2" charset="-122"/>
                    <a:cs typeface="Times New Roman"/>
                  </a:rPr>
                  <a:t>, the spray flow rate is </a:t>
                </a:r>
                <a:r>
                  <a:rPr lang="en-HK" sz="1600" dirty="0">
                    <a:solidFill>
                      <a:srgbClr val="A60626"/>
                    </a:solidFill>
                    <a:latin typeface="Times New Roman" panose="02020603050405020304" pitchFamily="18" charset="0"/>
                    <a:ea typeface="SimSun" panose="02010600030101010101" pitchFamily="2" charset="-122"/>
                    <a:cs typeface="Times New Roman"/>
                  </a:rPr>
                  <a:t>5.4 L/min, </a:t>
                </a:r>
                <a:r>
                  <a:rPr lang="en-HK" sz="1600" dirty="0">
                    <a:latin typeface="Times New Roman" panose="02020603050405020304" pitchFamily="18" charset="0"/>
                    <a:ea typeface="SimSun" panose="02010600030101010101" pitchFamily="2" charset="-122"/>
                    <a:cs typeface="Times New Roman"/>
                  </a:rPr>
                  <a:t>the spray cone angle is </a:t>
                </a:r>
                <a:r>
                  <a:rPr lang="en-HK" sz="1600" dirty="0">
                    <a:solidFill>
                      <a:srgbClr val="A60626"/>
                    </a:solidFill>
                    <a:latin typeface="Times New Roman" panose="02020603050405020304" pitchFamily="18" charset="0"/>
                    <a:ea typeface="SimSun" panose="02010600030101010101" pitchFamily="2" charset="-122"/>
                    <a:cs typeface="Times New Roman"/>
                  </a:rPr>
                  <a:t>68</a:t>
                </a:r>
                <a14:m>
                  <m:oMath xmlns:m="http://schemas.openxmlformats.org/officeDocument/2006/math">
                    <m:r>
                      <a:rPr lang="en-HK" sz="1600">
                        <a:solidFill>
                          <a:srgbClr val="A60626"/>
                        </a:solidFill>
                        <a:latin typeface="Times New Roman" panose="02040503050406030204" pitchFamily="18" charset="0"/>
                        <a:ea typeface="SimSun" panose="02010600030101010101" pitchFamily="2" charset="-122"/>
                        <a:cs typeface="Times New Roman" panose="02020603050405020304" pitchFamily="18" charset="0"/>
                      </a:rPr>
                      <m:t>°</m:t>
                    </m:r>
                  </m:oMath>
                </a14:m>
                <a:r>
                  <a:rPr lang="en-HK" sz="1600" dirty="0">
                    <a:solidFill>
                      <a:srgbClr val="A60626"/>
                    </a:solidFill>
                    <a:latin typeface="Times New Roman" panose="02020603050405020304" pitchFamily="18" charset="0"/>
                    <a:ea typeface="SimSun" panose="02010600030101010101" pitchFamily="2" charset="-122"/>
                    <a:cs typeface="Times New Roman"/>
                  </a:rPr>
                  <a:t>. </a:t>
                </a:r>
                <a:endParaRPr lang="en-HK" sz="1600" dirty="0">
                  <a:latin typeface="Times New Roman"/>
                  <a:ea typeface="SimSun"/>
                  <a:cs typeface="Times New Roman"/>
                </a:endParaRPr>
              </a:p>
            </p:txBody>
          </p:sp>
        </mc:Choice>
        <mc:Fallback xmlns="">
          <p:sp>
            <p:nvSpPr>
              <p:cNvPr id="46" name="矩形 45">
                <a:extLst>
                  <a:ext uri="{FF2B5EF4-FFF2-40B4-BE49-F238E27FC236}">
                    <a16:creationId xmlns:a16="http://schemas.microsoft.com/office/drawing/2014/main" id="{6FD23F5F-A11C-43E3-B85B-3FE693F07103}"/>
                  </a:ext>
                </a:extLst>
              </p:cNvPr>
              <p:cNvSpPr>
                <a:spLocks noRot="1" noChangeAspect="1" noMove="1" noResize="1" noEditPoints="1" noAdjustHandles="1" noChangeArrowheads="1" noChangeShapeType="1" noTextEdit="1"/>
              </p:cNvSpPr>
              <p:nvPr/>
            </p:nvSpPr>
            <p:spPr>
              <a:xfrm>
                <a:off x="6763482" y="5130995"/>
                <a:ext cx="5091236" cy="1154932"/>
              </a:xfrm>
              <a:prstGeom prst="rect">
                <a:avLst/>
              </a:prstGeom>
              <a:blipFill>
                <a:blip r:embed="rId10"/>
                <a:stretch>
                  <a:fillRect l="-478" r="-598" b="-6349"/>
                </a:stretch>
              </a:blipFill>
            </p:spPr>
            <p:txBody>
              <a:bodyPr/>
              <a:lstStyle/>
              <a:p>
                <a:r>
                  <a:rPr lang="en-US">
                    <a:noFill/>
                    <a:latin typeface="Times New Roman"/>
                    <a:ea typeface="SimSun"/>
                    <a:cs typeface="Times New Roman"/>
                  </a:rPr>
                  <a:t> </a:t>
                </a:r>
              </a:p>
            </p:txBody>
          </p:sp>
        </mc:Fallback>
      </mc:AlternateContent>
      <p:sp>
        <p:nvSpPr>
          <p:cNvPr id="48" name="箭头: 燕尾形 47">
            <a:extLst>
              <a:ext uri="{FF2B5EF4-FFF2-40B4-BE49-F238E27FC236}">
                <a16:creationId xmlns:a16="http://schemas.microsoft.com/office/drawing/2014/main" id="{8C7B6167-F2DA-43F8-A95A-3128EDD58F75}"/>
              </a:ext>
            </a:extLst>
          </p:cNvPr>
          <p:cNvSpPr/>
          <p:nvPr/>
        </p:nvSpPr>
        <p:spPr bwMode="auto">
          <a:xfrm rot="5400000">
            <a:off x="3259091" y="4888241"/>
            <a:ext cx="491963" cy="217058"/>
          </a:xfrm>
          <a:prstGeom prst="notchedRightArrow">
            <a:avLst/>
          </a:prstGeom>
          <a:solidFill>
            <a:srgbClr val="A6062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3" name="灯片编号占位符 2">
            <a:extLst>
              <a:ext uri="{FF2B5EF4-FFF2-40B4-BE49-F238E27FC236}">
                <a16:creationId xmlns:a16="http://schemas.microsoft.com/office/drawing/2014/main" id="{E147FB26-A310-475E-979C-ED0EBD2DAA3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31</a:t>
            </a:fld>
            <a:endParaRPr lang="en-US" altLang="zh-CN">
              <a:latin typeface="Times New Roman"/>
              <a:ea typeface="SimSun"/>
              <a:cs typeface="Times New Roman"/>
            </a:endParaRPr>
          </a:p>
        </p:txBody>
      </p:sp>
      <p:sp>
        <p:nvSpPr>
          <p:cNvPr id="4" name="Rectangle 219">
            <a:extLst>
              <a:ext uri="{FF2B5EF4-FFF2-40B4-BE49-F238E27FC236}">
                <a16:creationId xmlns:a16="http://schemas.microsoft.com/office/drawing/2014/main" id="{CD6700ED-B3FA-4462-8647-7EC8905D8390}"/>
              </a:ext>
            </a:extLst>
          </p:cNvPr>
          <p:cNvSpPr>
            <a:spLocks noChangeArrowheads="1"/>
          </p:cNvSpPr>
          <p:nvPr/>
        </p:nvSpPr>
        <p:spPr bwMode="auto">
          <a:xfrm>
            <a:off x="6301898" y="12045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6" name="矩形 3">
            <a:extLst>
              <a:ext uri="{FF2B5EF4-FFF2-40B4-BE49-F238E27FC236}">
                <a16:creationId xmlns:a16="http://schemas.microsoft.com/office/drawing/2014/main" id="{B01C1A9C-426F-C430-26F2-AAE9460595AC}"/>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spTree>
    <p:extLst>
      <p:ext uri="{BB962C8B-B14F-4D97-AF65-F5344CB8AC3E}">
        <p14:creationId xmlns:p14="http://schemas.microsoft.com/office/powerpoint/2010/main" val="323162515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16DBDCFE-81FA-4E17-AC4F-30B829BBCC04}"/>
              </a:ext>
            </a:extLst>
          </p:cNvPr>
          <p:cNvGraphicFramePr>
            <a:graphicFrameLocks noChangeAspect="1"/>
          </p:cNvGraphicFramePr>
          <p:nvPr>
            <p:extLst>
              <p:ext uri="{D42A27DB-BD31-4B8C-83A1-F6EECF244321}">
                <p14:modId xmlns:p14="http://schemas.microsoft.com/office/powerpoint/2010/main" val="1271130512"/>
              </p:ext>
            </p:extLst>
          </p:nvPr>
        </p:nvGraphicFramePr>
        <p:xfrm>
          <a:off x="6907294" y="1369223"/>
          <a:ext cx="3749793" cy="3078461"/>
        </p:xfrm>
        <a:graphic>
          <a:graphicData uri="http://schemas.openxmlformats.org/presentationml/2006/ole">
            <mc:AlternateContent xmlns:mc="http://schemas.openxmlformats.org/markup-compatibility/2006">
              <mc:Choice xmlns:v="urn:schemas-microsoft-com:vml" Requires="v">
                <p:oleObj name="Graph" r:id="rId3" imgW="6246376" imgH="5143222" progId="Origin95.Graph">
                  <p:embed/>
                </p:oleObj>
              </mc:Choice>
              <mc:Fallback>
                <p:oleObj name="Graph" r:id="rId3" imgW="6246376" imgH="5143222" progId="Origin95.Graph">
                  <p:embed/>
                  <p:pic>
                    <p:nvPicPr>
                      <p:cNvPr id="0" name="Object 2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7294" y="1369223"/>
                        <a:ext cx="3749793" cy="3078461"/>
                      </a:xfrm>
                      <a:prstGeom prst="rect">
                        <a:avLst/>
                      </a:prstGeom>
                      <a:noFill/>
                    </p:spPr>
                  </p:pic>
                </p:oleObj>
              </mc:Fallback>
            </mc:AlternateContent>
          </a:graphicData>
        </a:graphic>
      </p:graphicFrame>
      <p:sp>
        <p:nvSpPr>
          <p:cNvPr id="4" name="文本框 3">
            <a:extLst>
              <a:ext uri="{FF2B5EF4-FFF2-40B4-BE49-F238E27FC236}">
                <a16:creationId xmlns:a16="http://schemas.microsoft.com/office/drawing/2014/main" id="{5791BBB0-0537-4A98-A5B4-42487898E978}"/>
              </a:ext>
            </a:extLst>
          </p:cNvPr>
          <p:cNvSpPr txBox="1"/>
          <p:nvPr/>
        </p:nvSpPr>
        <p:spPr>
          <a:xfrm>
            <a:off x="769327" y="1210646"/>
            <a:ext cx="10851173"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4.5.1 </a:t>
            </a:r>
            <a:r>
              <a:rPr lang="en-HK" sz="1500" dirty="0">
                <a:latin typeface="Times New Roman" panose="02020603050405020304" pitchFamily="18" charset="0"/>
                <a:ea typeface="SimSun"/>
                <a:cs typeface="Times New Roman" panose="02020603050405020304" pitchFamily="18" charset="0"/>
              </a:rPr>
              <a:t>Influence for single nozzle</a:t>
            </a:r>
            <a:r>
              <a:rPr sz="1230" lang="zh-CN">
                <a:solidFill>
                  <a:srgbClr val="24425A"/>
                </a:solidFill>
                <a:latin typeface="Times New Roman"/>
                <a:ea typeface="SimSun"/>
                <a:cs typeface="Times New Roman"/>
              </a:rPr>
              <a:t>  单喷嘴参数的影响</a:t>
            </a:r>
          </a:p>
        </p:txBody>
      </p:sp>
      <p:sp>
        <p:nvSpPr>
          <p:cNvPr id="15" name="矩形 14">
            <a:extLst>
              <a:ext uri="{FF2B5EF4-FFF2-40B4-BE49-F238E27FC236}">
                <a16:creationId xmlns:a16="http://schemas.microsoft.com/office/drawing/2014/main" id="{AEA956CB-BB35-41F6-9808-F4F1B9FC2426}"/>
              </a:ext>
            </a:extLst>
          </p:cNvPr>
          <p:cNvSpPr/>
          <p:nvPr/>
        </p:nvSpPr>
        <p:spPr>
          <a:xfrm>
            <a:off x="1008449" y="1564606"/>
            <a:ext cx="2589170" cy="521208"/>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400" dirty="0">
                <a:latin typeface="Times New Roman" panose="02020603050405020304" pitchFamily="18" charset="0"/>
                <a:ea typeface="SimSun"/>
                <a:cs typeface="Times New Roman" panose="02020603050405020304" pitchFamily="18" charset="0"/>
              </a:rPr>
              <a:t>Spray droplet diameter</a:t>
            </a:r>
            <a:r>
              <a:rPr sz="1148" lang="zh-CN">
                <a:solidFill>
                  <a:srgbClr val="24425A"/>
                </a:solidFill>
                <a:latin typeface="Times New Roman"/>
                <a:ea typeface="SimSun"/>
                <a:cs typeface="Times New Roman"/>
              </a:rPr>
              <a:t>  喷雾液滴直径</a:t>
            </a:r>
          </a:p>
        </p:txBody>
      </p:sp>
      <p:pic>
        <p:nvPicPr>
          <p:cNvPr id="26" name="图片 25">
            <a:extLst>
              <a:ext uri="{FF2B5EF4-FFF2-40B4-BE49-F238E27FC236}">
                <a16:creationId xmlns:a16="http://schemas.microsoft.com/office/drawing/2014/main" id="{7ED8E8C8-93B1-4351-9FD6-ECD4D8E0A531}"/>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329421" y="2126191"/>
            <a:ext cx="1620000" cy="1620000"/>
          </a:xfrm>
          <a:prstGeom prst="rect">
            <a:avLst/>
          </a:prstGeom>
        </p:spPr>
      </p:pic>
      <p:pic>
        <p:nvPicPr>
          <p:cNvPr id="27" name="图片 26">
            <a:extLst>
              <a:ext uri="{FF2B5EF4-FFF2-40B4-BE49-F238E27FC236}">
                <a16:creationId xmlns:a16="http://schemas.microsoft.com/office/drawing/2014/main" id="{2CE8FED2-C2F7-4E4D-99E8-EB83FEFEBB28}"/>
              </a:ext>
            </a:extLst>
          </p:cNvPr>
          <p:cNvPicPr/>
          <p:nvPr/>
        </p:nvPicPr>
        <p:blipFill>
          <a:blip r:embed="rId6">
            <a:extLst>
              <a:ext uri="{28A0092B-C50C-407E-A947-70E740481C1C}">
                <a14:useLocalDpi xmlns:a14="http://schemas.microsoft.com/office/drawing/2010/main" val="0"/>
              </a:ext>
            </a:extLst>
          </a:blip>
          <a:stretch>
            <a:fillRect/>
          </a:stretch>
        </p:blipFill>
        <p:spPr>
          <a:xfrm>
            <a:off x="2949421" y="2126191"/>
            <a:ext cx="1620000" cy="1620000"/>
          </a:xfrm>
          <a:prstGeom prst="rect">
            <a:avLst/>
          </a:prstGeom>
        </p:spPr>
      </p:pic>
      <p:pic>
        <p:nvPicPr>
          <p:cNvPr id="28" name="图片 27">
            <a:extLst>
              <a:ext uri="{FF2B5EF4-FFF2-40B4-BE49-F238E27FC236}">
                <a16:creationId xmlns:a16="http://schemas.microsoft.com/office/drawing/2014/main" id="{2725080A-6028-4072-BDB6-A337A3C4877F}"/>
              </a:ext>
            </a:extLst>
          </p:cNvPr>
          <p:cNvPicPr/>
          <p:nvPr/>
        </p:nvPicPr>
        <p:blipFill>
          <a:blip r:embed="rId7">
            <a:extLst>
              <a:ext uri="{28A0092B-C50C-407E-A947-70E740481C1C}">
                <a14:useLocalDpi xmlns:a14="http://schemas.microsoft.com/office/drawing/2010/main" val="0"/>
              </a:ext>
            </a:extLst>
          </a:blip>
          <a:stretch>
            <a:fillRect/>
          </a:stretch>
        </p:blipFill>
        <p:spPr>
          <a:xfrm>
            <a:off x="4569421" y="2126191"/>
            <a:ext cx="1620000" cy="1620000"/>
          </a:xfrm>
          <a:prstGeom prst="rect">
            <a:avLst/>
          </a:prstGeom>
        </p:spPr>
      </p:pic>
      <p:pic>
        <p:nvPicPr>
          <p:cNvPr id="29" name="图片 28">
            <a:extLst>
              <a:ext uri="{FF2B5EF4-FFF2-40B4-BE49-F238E27FC236}">
                <a16:creationId xmlns:a16="http://schemas.microsoft.com/office/drawing/2014/main" id="{3B9B6799-980D-4FD3-AA4F-ACC6A840B3BD}"/>
              </a:ext>
            </a:extLst>
          </p:cNvPr>
          <p:cNvPicPr/>
          <p:nvPr/>
        </p:nvPicPr>
        <p:blipFill>
          <a:blip r:embed="rId8">
            <a:extLst>
              <a:ext uri="{28A0092B-C50C-407E-A947-70E740481C1C}">
                <a14:useLocalDpi xmlns:a14="http://schemas.microsoft.com/office/drawing/2010/main" val="0"/>
              </a:ext>
            </a:extLst>
          </a:blip>
          <a:stretch>
            <a:fillRect/>
          </a:stretch>
        </p:blipFill>
        <p:spPr>
          <a:xfrm>
            <a:off x="2143010" y="4092486"/>
            <a:ext cx="1620000" cy="1620000"/>
          </a:xfrm>
          <a:prstGeom prst="rect">
            <a:avLst/>
          </a:prstGeom>
        </p:spPr>
      </p:pic>
      <p:pic>
        <p:nvPicPr>
          <p:cNvPr id="30" name="图片 29">
            <a:extLst>
              <a:ext uri="{FF2B5EF4-FFF2-40B4-BE49-F238E27FC236}">
                <a16:creationId xmlns:a16="http://schemas.microsoft.com/office/drawing/2014/main" id="{48B64F94-DDC6-4427-912F-CC95066593A2}"/>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3787544" y="4092486"/>
            <a:ext cx="1620000" cy="1620000"/>
          </a:xfrm>
          <a:prstGeom prst="rect">
            <a:avLst/>
          </a:prstGeom>
        </p:spPr>
      </p:pic>
      <p:sp>
        <p:nvSpPr>
          <p:cNvPr id="31" name="矩形 30">
            <a:extLst>
              <a:ext uri="{FF2B5EF4-FFF2-40B4-BE49-F238E27FC236}">
                <a16:creationId xmlns:a16="http://schemas.microsoft.com/office/drawing/2014/main" id="{E3BB488C-8ABF-4576-923D-B78811EAA501}"/>
              </a:ext>
            </a:extLst>
          </p:cNvPr>
          <p:cNvSpPr/>
          <p:nvPr/>
        </p:nvSpPr>
        <p:spPr>
          <a:xfrm>
            <a:off x="2285011" y="6009569"/>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4.5.1 </a:t>
            </a:r>
            <a:r>
              <a:rPr lang="en-HK" sz="1200" dirty="0">
                <a:latin typeface="Times New Roman" panose="02020603050405020304" pitchFamily="18" charset="0"/>
                <a:ea typeface="SimSun"/>
                <a:cs typeface="Times New Roman" panose="02020603050405020304" pitchFamily="18" charset="0"/>
              </a:rPr>
              <a:t>Coverage area with different diameter</a:t>
            </a:r>
          </a:p>
        </p:txBody>
      </p:sp>
      <p:sp>
        <p:nvSpPr>
          <p:cNvPr id="33" name="矩形 32">
            <a:extLst>
              <a:ext uri="{FF2B5EF4-FFF2-40B4-BE49-F238E27FC236}">
                <a16:creationId xmlns:a16="http://schemas.microsoft.com/office/drawing/2014/main" id="{F06103F3-88F8-430B-9F75-03F3A91EA4A9}"/>
              </a:ext>
            </a:extLst>
          </p:cNvPr>
          <p:cNvSpPr/>
          <p:nvPr/>
        </p:nvSpPr>
        <p:spPr>
          <a:xfrm>
            <a:off x="1688497" y="3712129"/>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0.05 mm</a:t>
            </a:r>
          </a:p>
        </p:txBody>
      </p:sp>
      <p:sp>
        <p:nvSpPr>
          <p:cNvPr id="36" name="矩形 35">
            <a:extLst>
              <a:ext uri="{FF2B5EF4-FFF2-40B4-BE49-F238E27FC236}">
                <a16:creationId xmlns:a16="http://schemas.microsoft.com/office/drawing/2014/main" id="{3E4945EF-DD5F-4ADB-8B02-F9267F83AF24}"/>
              </a:ext>
            </a:extLst>
          </p:cNvPr>
          <p:cNvSpPr/>
          <p:nvPr/>
        </p:nvSpPr>
        <p:spPr>
          <a:xfrm>
            <a:off x="3253571" y="3746192"/>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0.15 mm</a:t>
            </a:r>
          </a:p>
        </p:txBody>
      </p:sp>
      <p:sp>
        <p:nvSpPr>
          <p:cNvPr id="37" name="矩形 36">
            <a:extLst>
              <a:ext uri="{FF2B5EF4-FFF2-40B4-BE49-F238E27FC236}">
                <a16:creationId xmlns:a16="http://schemas.microsoft.com/office/drawing/2014/main" id="{B3DF0DDD-4B46-41EB-AFE4-E102B4A71FB6}"/>
              </a:ext>
            </a:extLst>
          </p:cNvPr>
          <p:cNvSpPr/>
          <p:nvPr/>
        </p:nvSpPr>
        <p:spPr>
          <a:xfrm>
            <a:off x="4941576" y="3746192"/>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0.25 mm</a:t>
            </a:r>
          </a:p>
        </p:txBody>
      </p:sp>
      <p:sp>
        <p:nvSpPr>
          <p:cNvPr id="38" name="矩形 37">
            <a:extLst>
              <a:ext uri="{FF2B5EF4-FFF2-40B4-BE49-F238E27FC236}">
                <a16:creationId xmlns:a16="http://schemas.microsoft.com/office/drawing/2014/main" id="{10CCBC60-5AED-4E93-9213-58255C146CEB}"/>
              </a:ext>
            </a:extLst>
          </p:cNvPr>
          <p:cNvSpPr/>
          <p:nvPr/>
        </p:nvSpPr>
        <p:spPr>
          <a:xfrm>
            <a:off x="2456628" y="5736043"/>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0.35 mm</a:t>
            </a:r>
          </a:p>
        </p:txBody>
      </p:sp>
      <p:sp>
        <p:nvSpPr>
          <p:cNvPr id="39" name="矩形 38">
            <a:extLst>
              <a:ext uri="{FF2B5EF4-FFF2-40B4-BE49-F238E27FC236}">
                <a16:creationId xmlns:a16="http://schemas.microsoft.com/office/drawing/2014/main" id="{1F95D3C9-D347-418E-B5B3-35C316F5F777}"/>
              </a:ext>
            </a:extLst>
          </p:cNvPr>
          <p:cNvSpPr/>
          <p:nvPr/>
        </p:nvSpPr>
        <p:spPr>
          <a:xfrm>
            <a:off x="4076628" y="5736043"/>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0.45 mm</a:t>
            </a:r>
          </a:p>
        </p:txBody>
      </p:sp>
      <p:sp>
        <p:nvSpPr>
          <p:cNvPr id="23" name="Rectangle 12">
            <a:extLst>
              <a:ext uri="{FF2B5EF4-FFF2-40B4-BE49-F238E27FC236}">
                <a16:creationId xmlns:a16="http://schemas.microsoft.com/office/drawing/2014/main" id="{A98DDBF6-D20F-4EA3-8782-CE156D7E8412}"/>
              </a:ext>
            </a:extLst>
          </p:cNvPr>
          <p:cNvSpPr>
            <a:spLocks noChangeArrowheads="1"/>
          </p:cNvSpPr>
          <p:nvPr/>
        </p:nvSpPr>
        <p:spPr bwMode="auto">
          <a:xfrm>
            <a:off x="6368996" y="1726153"/>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42" name="矩形 41">
            <a:extLst>
              <a:ext uri="{FF2B5EF4-FFF2-40B4-BE49-F238E27FC236}">
                <a16:creationId xmlns:a16="http://schemas.microsoft.com/office/drawing/2014/main" id="{FF8964B0-E1C9-40E5-B879-54D0D044323B}"/>
              </a:ext>
            </a:extLst>
          </p:cNvPr>
          <p:cNvSpPr/>
          <p:nvPr/>
        </p:nvSpPr>
        <p:spPr>
          <a:xfrm>
            <a:off x="7399937" y="4363560"/>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4.5.2 </a:t>
            </a:r>
            <a:r>
              <a:rPr lang="en-HK" sz="1200" dirty="0">
                <a:latin typeface="Times New Roman" panose="02020603050405020304" pitchFamily="18" charset="0"/>
                <a:ea typeface="SimSun"/>
                <a:cs typeface="Times New Roman" panose="02020603050405020304" pitchFamily="18" charset="0"/>
              </a:rPr>
              <a:t>Coverage ratio with different diameter</a:t>
            </a:r>
          </a:p>
        </p:txBody>
      </p:sp>
      <p:sp>
        <p:nvSpPr>
          <p:cNvPr id="43" name="矩形 42">
            <a:extLst>
              <a:ext uri="{FF2B5EF4-FFF2-40B4-BE49-F238E27FC236}">
                <a16:creationId xmlns:a16="http://schemas.microsoft.com/office/drawing/2014/main" id="{13B2A23D-C721-44F2-B96D-620ED4B34ED1}"/>
              </a:ext>
            </a:extLst>
          </p:cNvPr>
          <p:cNvSpPr/>
          <p:nvPr/>
        </p:nvSpPr>
        <p:spPr>
          <a:xfrm>
            <a:off x="6952534" y="4849250"/>
            <a:ext cx="4400184" cy="1477328"/>
          </a:xfrm>
          <a:prstGeom prst="rect">
            <a:avLst/>
          </a:prstGeom>
        </p:spPr>
        <p:txBody>
          <a:bodyPr wrap="square" tIns="0" bIns="0">
            <a:noAutofit/>
          </a:bodyPr>
          <a:lstStyle/>
          <a:p>
            <a:pPr algn="l">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Droplet flow is</a:t>
            </a:r>
            <a:r>
              <a:rPr lang="en-HK" sz="1200" dirty="0">
                <a:solidFill>
                  <a:srgbClr val="AF1E3B"/>
                </a:solidFill>
                <a:latin typeface="Times New Roman" panose="02020603050405020304" pitchFamily="18" charset="0"/>
                <a:ea typeface="SimSun"/>
                <a:cs typeface="Times New Roman" panose="02020603050405020304" pitchFamily="18" charset="0"/>
              </a:rPr>
              <a:t> </a:t>
            </a:r>
            <a:r>
              <a:rPr lang="en-HK" sz="1200" b="1" dirty="0">
                <a:solidFill>
                  <a:srgbClr val="AF1E3B"/>
                </a:solidFill>
                <a:latin typeface="Times New Roman" panose="02020603050405020304" pitchFamily="18" charset="0"/>
                <a:ea typeface="SimSun"/>
                <a:cs typeface="Times New Roman" panose="02020603050405020304" pitchFamily="18" charset="0"/>
              </a:rPr>
              <a:t>counter-current</a:t>
            </a:r>
            <a:r>
              <a:rPr lang="en-HK" sz="1200" dirty="0">
                <a:solidFill>
                  <a:srgbClr val="AF1E3B"/>
                </a:solidFill>
                <a:latin typeface="Times New Roman" panose="02020603050405020304" pitchFamily="18" charset="0"/>
                <a:ea typeface="SimSun"/>
                <a:cs typeface="Times New Roman" panose="02020603050405020304" pitchFamily="18" charset="0"/>
              </a:rPr>
              <a:t> </a:t>
            </a:r>
            <a:r>
              <a:rPr lang="en-HK" sz="1200" dirty="0">
                <a:latin typeface="Times New Roman" panose="02020603050405020304" pitchFamily="18" charset="0"/>
                <a:ea typeface="SimSun"/>
                <a:cs typeface="Times New Roman" panose="02020603050405020304" pitchFamily="18" charset="0"/>
              </a:rPr>
              <a:t>to the airflow.</a:t>
            </a:r>
            <a:br/>
            <a:r>
              <a:rPr sz="984" lang="zh-CN">
                <a:solidFill>
                  <a:srgbClr val="24425A"/>
                </a:solidFill>
                <a:latin typeface="Times New Roman"/>
                <a:ea typeface="SimSun"/>
                <a:cs typeface="Times New Roman"/>
              </a:rPr>
              <a:t>液滴与气流呈逆流运动。</a:t>
            </a:r>
          </a:p>
          <a:p>
            <a:pPr marL="285750" indent="-285750" algn="l">
              <a:buFont typeface="Arial" panose="020B0604020202020204" pitchFamily="34" charset="0"/>
              <a:buChar char="•"/>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Too small, be </a:t>
            </a:r>
            <a:r>
              <a:rPr lang="en-HK" sz="1200" b="1" dirty="0">
                <a:solidFill>
                  <a:srgbClr val="A60626"/>
                </a:solidFill>
                <a:latin typeface="Times New Roman" panose="02020603050405020304" pitchFamily="18" charset="0"/>
                <a:ea typeface="SimSun"/>
                <a:cs typeface="Times New Roman" panose="02020603050405020304" pitchFamily="18" charset="0"/>
              </a:rPr>
              <a:t>blown away </a:t>
            </a:r>
            <a:r>
              <a:rPr lang="en-HK" sz="1200" dirty="0">
                <a:latin typeface="Times New Roman" panose="02020603050405020304" pitchFamily="18" charset="0"/>
                <a:ea typeface="SimSun"/>
                <a:cs typeface="Times New Roman" panose="02020603050405020304" pitchFamily="18" charset="0"/>
              </a:rPr>
              <a:t>before contact with the plate surface.</a:t>
            </a:r>
            <a:br/>
            <a:r>
              <a:rPr sz="984" lang="zh-CN">
                <a:solidFill>
                  <a:srgbClr val="24425A"/>
                </a:solidFill>
                <a:latin typeface="Times New Roman"/>
                <a:ea typeface="SimSun"/>
                <a:cs typeface="Times New Roman"/>
              </a:rPr>
              <a:t>液滴过小：接触板面前易被气流吹离。</a:t>
            </a:r>
          </a:p>
          <a:p>
            <a:pPr marL="285750" indent="-285750" algn="l">
              <a:buFont typeface="Arial" panose="020B0604020202020204" pitchFamily="34" charset="0"/>
              <a:buChar char="•"/>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Two large, </a:t>
            </a:r>
            <a:r>
              <a:rPr lang="en-HK" sz="1200" b="1" dirty="0">
                <a:solidFill>
                  <a:srgbClr val="A60626"/>
                </a:solidFill>
                <a:latin typeface="Times New Roman" panose="02020603050405020304" pitchFamily="18" charset="0"/>
                <a:ea typeface="SimSun"/>
                <a:cs typeface="Times New Roman" panose="02020603050405020304" pitchFamily="18" charset="0"/>
              </a:rPr>
              <a:t>slide out of the wet channel</a:t>
            </a:r>
            <a:r>
              <a:rPr lang="en-HK" sz="1200" b="1" dirty="0">
                <a:latin typeface="Times New Roman" panose="02020603050405020304" pitchFamily="18" charset="0"/>
                <a:ea typeface="SimSun"/>
                <a:cs typeface="Times New Roman" panose="02020603050405020304" pitchFamily="18" charset="0"/>
              </a:rPr>
              <a:t> </a:t>
            </a:r>
            <a:r>
              <a:rPr lang="en-HK" sz="1200" dirty="0">
                <a:latin typeface="Times New Roman" panose="02020603050405020304" pitchFamily="18" charset="0"/>
                <a:ea typeface="SimSun"/>
                <a:cs typeface="Times New Roman" panose="02020603050405020304" pitchFamily="18" charset="0"/>
              </a:rPr>
              <a:t>before making contact with the plate surface.</a:t>
            </a:r>
            <a:br/>
            <a:r>
              <a:rPr sz="984" lang="zh-CN">
                <a:solidFill>
                  <a:srgbClr val="24425A"/>
                </a:solidFill>
                <a:latin typeface="Times New Roman"/>
                <a:ea typeface="SimSun"/>
                <a:cs typeface="Times New Roman"/>
              </a:rPr>
              <a:t>液滴过大：接触板面前可能滑出湿通道。</a:t>
            </a:r>
          </a:p>
        </p:txBody>
      </p:sp>
      <p:sp>
        <p:nvSpPr>
          <p:cNvPr id="44" name="椭圆 43">
            <a:extLst>
              <a:ext uri="{FF2B5EF4-FFF2-40B4-BE49-F238E27FC236}">
                <a16:creationId xmlns:a16="http://schemas.microsoft.com/office/drawing/2014/main" id="{EA761F19-2622-41F4-A302-E870D640F2E3}"/>
              </a:ext>
            </a:extLst>
          </p:cNvPr>
          <p:cNvSpPr/>
          <p:nvPr/>
        </p:nvSpPr>
        <p:spPr>
          <a:xfrm>
            <a:off x="8738750" y="1634755"/>
            <a:ext cx="413876" cy="2457731"/>
          </a:xfrm>
          <a:prstGeom prst="ellipse">
            <a:avLst/>
          </a:prstGeom>
          <a:noFill/>
          <a:ln w="19050">
            <a:solidFill>
              <a:srgbClr val="A60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dirty="0">
              <a:latin typeface="Times New Roman"/>
              <a:ea typeface="SimSun"/>
              <a:cs typeface="Times New Roman"/>
            </a:endParaRPr>
          </a:p>
        </p:txBody>
      </p:sp>
      <p:sp>
        <p:nvSpPr>
          <p:cNvPr id="22" name="文本框 21">
            <a:extLst>
              <a:ext uri="{FF2B5EF4-FFF2-40B4-BE49-F238E27FC236}">
                <a16:creationId xmlns:a16="http://schemas.microsoft.com/office/drawing/2014/main" id="{6297C73F-6EA8-47DE-A871-F3A425E88FDC}"/>
              </a:ext>
            </a:extLst>
          </p:cNvPr>
          <p:cNvSpPr txBox="1"/>
          <p:nvPr/>
        </p:nvSpPr>
        <p:spPr>
          <a:xfrm>
            <a:off x="416279" y="909638"/>
            <a:ext cx="11204221"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4.5 Results and discussions</a:t>
            </a:r>
            <a:r>
              <a:rPr sz="1230" lang="zh-CN">
                <a:solidFill>
                  <a:srgbClr val="24425A"/>
                </a:solidFill>
                <a:latin typeface="Times New Roman"/>
                <a:ea typeface="SimSun"/>
                <a:cs typeface="Times New Roman"/>
              </a:rPr>
              <a:t>  结果与讨论</a:t>
            </a:r>
          </a:p>
        </p:txBody>
      </p:sp>
      <p:sp>
        <p:nvSpPr>
          <p:cNvPr id="3" name="灯片编号占位符 2">
            <a:extLst>
              <a:ext uri="{FF2B5EF4-FFF2-40B4-BE49-F238E27FC236}">
                <a16:creationId xmlns:a16="http://schemas.microsoft.com/office/drawing/2014/main" id="{1BB02FD7-DB76-4A6C-9C77-68CD6D0D439B}"/>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32</a:t>
            </a:fld>
            <a:endParaRPr lang="en-US" altLang="zh-CN">
              <a:latin typeface="Times New Roman"/>
              <a:ea typeface="SimSun"/>
              <a:cs typeface="Times New Roman"/>
            </a:endParaRPr>
          </a:p>
        </p:txBody>
      </p:sp>
      <p:sp>
        <p:nvSpPr>
          <p:cNvPr id="32" name="矩形 3">
            <a:extLst>
              <a:ext uri="{FF2B5EF4-FFF2-40B4-BE49-F238E27FC236}">
                <a16:creationId xmlns:a16="http://schemas.microsoft.com/office/drawing/2014/main" id="{8874DCA7-C8E2-40FE-97B5-33AAAFDF05B4}"/>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5" name="Rectangle 219">
            <a:extLst>
              <a:ext uri="{FF2B5EF4-FFF2-40B4-BE49-F238E27FC236}">
                <a16:creationId xmlns:a16="http://schemas.microsoft.com/office/drawing/2014/main" id="{BD433699-E2A8-4B25-9DCD-2DBDF2D9E730}"/>
              </a:ext>
            </a:extLst>
          </p:cNvPr>
          <p:cNvSpPr>
            <a:spLocks noChangeArrowheads="1"/>
          </p:cNvSpPr>
          <p:nvPr/>
        </p:nvSpPr>
        <p:spPr bwMode="auto">
          <a:xfrm>
            <a:off x="6819999" y="8903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34" name="矩形 33">
            <a:extLst>
              <a:ext uri="{FF2B5EF4-FFF2-40B4-BE49-F238E27FC236}">
                <a16:creationId xmlns:a16="http://schemas.microsoft.com/office/drawing/2014/main" id="{316E71C9-ED78-49D5-A467-40E77F824EF6}"/>
              </a:ext>
            </a:extLst>
          </p:cNvPr>
          <p:cNvSpPr/>
          <p:nvPr/>
        </p:nvSpPr>
        <p:spPr bwMode="auto">
          <a:xfrm>
            <a:off x="6819999" y="4713216"/>
            <a:ext cx="4568260" cy="1674447"/>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45"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374373689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2E35C2B6-C808-4851-90E8-225E7B6DF41C}"/>
              </a:ext>
            </a:extLst>
          </p:cNvPr>
          <p:cNvGraphicFramePr>
            <a:graphicFrameLocks noChangeAspect="1"/>
          </p:cNvGraphicFramePr>
          <p:nvPr>
            <p:extLst>
              <p:ext uri="{D42A27DB-BD31-4B8C-83A1-F6EECF244321}">
                <p14:modId xmlns:p14="http://schemas.microsoft.com/office/powerpoint/2010/main" val="3048118860"/>
              </p:ext>
            </p:extLst>
          </p:nvPr>
        </p:nvGraphicFramePr>
        <p:xfrm>
          <a:off x="6653530" y="1228688"/>
          <a:ext cx="3589338" cy="2971800"/>
        </p:xfrm>
        <a:graphic>
          <a:graphicData uri="http://schemas.openxmlformats.org/presentationml/2006/ole">
            <mc:AlternateContent xmlns:mc="http://schemas.openxmlformats.org/markup-compatibility/2006">
              <mc:Choice xmlns:v="urn:schemas-microsoft-com:vml" Requires="v">
                <p:oleObj name="Graph" r:id="rId3" imgW="6246376" imgH="5143222" progId="Origin95.Graph">
                  <p:embed/>
                </p:oleObj>
              </mc:Choice>
              <mc:Fallback>
                <p:oleObj name="Graph" r:id="rId3" imgW="6246376" imgH="5143222" progId="Origin95.Graph">
                  <p:embed/>
                  <p:pic>
                    <p:nvPicPr>
                      <p:cNvPr id="0" name="Object 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3530" y="1228688"/>
                        <a:ext cx="3589338"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文本框 14">
            <a:extLst>
              <a:ext uri="{FF2B5EF4-FFF2-40B4-BE49-F238E27FC236}">
                <a16:creationId xmlns:a16="http://schemas.microsoft.com/office/drawing/2014/main" id="{AA5CBF6D-5A83-45E2-B781-700FA31D83FE}"/>
              </a:ext>
            </a:extLst>
          </p:cNvPr>
          <p:cNvSpPr txBox="1"/>
          <p:nvPr/>
        </p:nvSpPr>
        <p:spPr>
          <a:xfrm>
            <a:off x="362334" y="939960"/>
            <a:ext cx="11258166"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4.5.2 </a:t>
            </a:r>
            <a:r>
              <a:rPr lang="en-HK" sz="1500" dirty="0">
                <a:latin typeface="Times New Roman" panose="02020603050405020304" pitchFamily="18" charset="0"/>
                <a:ea typeface="SimSun"/>
                <a:cs typeface="Times New Roman" panose="02020603050405020304" pitchFamily="18" charset="0"/>
              </a:rPr>
              <a:t>Influence for multiple nozzles</a:t>
            </a:r>
            <a:r>
              <a:rPr sz="1230" lang="zh-CN">
                <a:solidFill>
                  <a:srgbClr val="24425A"/>
                </a:solidFill>
                <a:latin typeface="Times New Roman"/>
                <a:ea typeface="SimSun"/>
                <a:cs typeface="Times New Roman"/>
              </a:rPr>
              <a:t>  多喷嘴参数的影响</a:t>
            </a:r>
          </a:p>
        </p:txBody>
      </p:sp>
      <p:pic>
        <p:nvPicPr>
          <p:cNvPr id="16" name="图片 15">
            <a:extLst>
              <a:ext uri="{FF2B5EF4-FFF2-40B4-BE49-F238E27FC236}">
                <a16:creationId xmlns:a16="http://schemas.microsoft.com/office/drawing/2014/main" id="{B0036912-7C13-41FA-865B-09AEA14B9382}"/>
              </a:ext>
            </a:extLst>
          </p:cNvPr>
          <p:cNvPicPr/>
          <p:nvPr/>
        </p:nvPicPr>
        <p:blipFill>
          <a:blip r:embed="rId5">
            <a:extLst>
              <a:ext uri="{28A0092B-C50C-407E-A947-70E740481C1C}">
                <a14:useLocalDpi xmlns:a14="http://schemas.microsoft.com/office/drawing/2010/main" val="0"/>
              </a:ext>
            </a:extLst>
          </a:blip>
          <a:stretch>
            <a:fillRect/>
          </a:stretch>
        </p:blipFill>
        <p:spPr>
          <a:xfrm>
            <a:off x="1431914" y="1860473"/>
            <a:ext cx="1790700" cy="1799590"/>
          </a:xfrm>
          <a:prstGeom prst="rect">
            <a:avLst/>
          </a:prstGeom>
        </p:spPr>
      </p:pic>
      <p:pic>
        <p:nvPicPr>
          <p:cNvPr id="18" name="图片 17">
            <a:extLst>
              <a:ext uri="{FF2B5EF4-FFF2-40B4-BE49-F238E27FC236}">
                <a16:creationId xmlns:a16="http://schemas.microsoft.com/office/drawing/2014/main" id="{34D79A36-9E83-4D2E-B4D5-60B853C33161}"/>
              </a:ext>
            </a:extLst>
          </p:cNvPr>
          <p:cNvPicPr/>
          <p:nvPr/>
        </p:nvPicPr>
        <p:blipFill>
          <a:blip r:embed="rId6">
            <a:extLst>
              <a:ext uri="{28A0092B-C50C-407E-A947-70E740481C1C}">
                <a14:useLocalDpi xmlns:a14="http://schemas.microsoft.com/office/drawing/2010/main" val="0"/>
              </a:ext>
            </a:extLst>
          </a:blip>
          <a:stretch>
            <a:fillRect/>
          </a:stretch>
        </p:blipFill>
        <p:spPr>
          <a:xfrm>
            <a:off x="3331735" y="1860473"/>
            <a:ext cx="1790700" cy="1799590"/>
          </a:xfrm>
          <a:prstGeom prst="rect">
            <a:avLst/>
          </a:prstGeom>
        </p:spPr>
      </p:pic>
      <p:pic>
        <p:nvPicPr>
          <p:cNvPr id="19" name="图片 18">
            <a:extLst>
              <a:ext uri="{FF2B5EF4-FFF2-40B4-BE49-F238E27FC236}">
                <a16:creationId xmlns:a16="http://schemas.microsoft.com/office/drawing/2014/main" id="{C425DF99-1142-40E6-AB74-201B087D2027}"/>
              </a:ext>
            </a:extLst>
          </p:cNvPr>
          <p:cNvPicPr/>
          <p:nvPr/>
        </p:nvPicPr>
        <p:blipFill>
          <a:blip r:embed="rId7">
            <a:extLst>
              <a:ext uri="{28A0092B-C50C-407E-A947-70E740481C1C}">
                <a14:useLocalDpi xmlns:a14="http://schemas.microsoft.com/office/drawing/2010/main" val="0"/>
              </a:ext>
            </a:extLst>
          </a:blip>
          <a:stretch>
            <a:fillRect/>
          </a:stretch>
        </p:blipFill>
        <p:spPr>
          <a:xfrm>
            <a:off x="1431914" y="3919504"/>
            <a:ext cx="1794510" cy="1799590"/>
          </a:xfrm>
          <a:prstGeom prst="rect">
            <a:avLst/>
          </a:prstGeom>
        </p:spPr>
      </p:pic>
      <p:sp>
        <p:nvSpPr>
          <p:cNvPr id="20" name="矩形 19">
            <a:extLst>
              <a:ext uri="{FF2B5EF4-FFF2-40B4-BE49-F238E27FC236}">
                <a16:creationId xmlns:a16="http://schemas.microsoft.com/office/drawing/2014/main" id="{DED630E9-C456-4E4F-A92E-70EEF89E8706}"/>
              </a:ext>
            </a:extLst>
          </p:cNvPr>
          <p:cNvSpPr/>
          <p:nvPr/>
        </p:nvSpPr>
        <p:spPr>
          <a:xfrm>
            <a:off x="759413" y="1318613"/>
            <a:ext cx="1826141" cy="491236"/>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300" dirty="0">
                <a:latin typeface="Times New Roman" panose="02020603050405020304" pitchFamily="18" charset="0"/>
                <a:ea typeface="SimSun"/>
                <a:cs typeface="Times New Roman" panose="02020603050405020304" pitchFamily="18" charset="0"/>
              </a:rPr>
              <a:t>Spray distance</a:t>
            </a:r>
            <a:r>
              <a:rPr sz="1066" lang="zh-CN">
                <a:solidFill>
                  <a:srgbClr val="24425A"/>
                </a:solidFill>
                <a:latin typeface="Times New Roman"/>
                <a:ea typeface="SimSun"/>
                <a:cs typeface="Times New Roman"/>
              </a:rPr>
              <a:t>  喷嘴间距</a:t>
            </a:r>
          </a:p>
        </p:txBody>
      </p:sp>
      <p:pic>
        <p:nvPicPr>
          <p:cNvPr id="21" name="图片 20">
            <a:extLst>
              <a:ext uri="{FF2B5EF4-FFF2-40B4-BE49-F238E27FC236}">
                <a16:creationId xmlns:a16="http://schemas.microsoft.com/office/drawing/2014/main" id="{4F090BC5-BEF5-40CE-ADE3-3226B8E39C60}"/>
              </a:ext>
            </a:extLst>
          </p:cNvPr>
          <p:cNvPicPr/>
          <p:nvPr/>
        </p:nvPicPr>
        <p:blipFill>
          <a:blip r:embed="rId8">
            <a:extLst>
              <a:ext uri="{28A0092B-C50C-407E-A947-70E740481C1C}">
                <a14:useLocalDpi xmlns:a14="http://schemas.microsoft.com/office/drawing/2010/main" val="0"/>
              </a:ext>
            </a:extLst>
          </a:blip>
          <a:stretch>
            <a:fillRect/>
          </a:stretch>
        </p:blipFill>
        <p:spPr>
          <a:xfrm>
            <a:off x="3333028" y="3919504"/>
            <a:ext cx="1794510" cy="1799590"/>
          </a:xfrm>
          <a:prstGeom prst="rect">
            <a:avLst/>
          </a:prstGeom>
        </p:spPr>
      </p:pic>
      <p:sp>
        <p:nvSpPr>
          <p:cNvPr id="2" name="Rectangle 2">
            <a:extLst>
              <a:ext uri="{FF2B5EF4-FFF2-40B4-BE49-F238E27FC236}">
                <a16:creationId xmlns:a16="http://schemas.microsoft.com/office/drawing/2014/main" id="{6BD5F9DA-DF46-46C4-BB61-C2CC6D719FCE}"/>
              </a:ext>
            </a:extLst>
          </p:cNvPr>
          <p:cNvSpPr>
            <a:spLocks noChangeArrowheads="1"/>
          </p:cNvSpPr>
          <p:nvPr/>
        </p:nvSpPr>
        <p:spPr bwMode="auto">
          <a:xfrm>
            <a:off x="6367183" y="159831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22" name="矩形 21">
            <a:extLst>
              <a:ext uri="{FF2B5EF4-FFF2-40B4-BE49-F238E27FC236}">
                <a16:creationId xmlns:a16="http://schemas.microsoft.com/office/drawing/2014/main" id="{EDEDEB91-B53F-4EA4-8C31-BB78C85F0680}"/>
              </a:ext>
            </a:extLst>
          </p:cNvPr>
          <p:cNvSpPr/>
          <p:nvPr/>
        </p:nvSpPr>
        <p:spPr>
          <a:xfrm>
            <a:off x="1929795" y="3657895"/>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 mm</a:t>
            </a:r>
          </a:p>
        </p:txBody>
      </p:sp>
      <p:sp>
        <p:nvSpPr>
          <p:cNvPr id="24" name="矩形 23">
            <a:extLst>
              <a:ext uri="{FF2B5EF4-FFF2-40B4-BE49-F238E27FC236}">
                <a16:creationId xmlns:a16="http://schemas.microsoft.com/office/drawing/2014/main" id="{FBECE172-D203-4BE5-9F22-93F65AADA245}"/>
              </a:ext>
            </a:extLst>
          </p:cNvPr>
          <p:cNvSpPr/>
          <p:nvPr/>
        </p:nvSpPr>
        <p:spPr>
          <a:xfrm>
            <a:off x="3938730" y="3657895"/>
            <a:ext cx="655949" cy="276999"/>
          </a:xfrm>
          <a:prstGeom prst="rect">
            <a:avLst/>
          </a:prstGeom>
        </p:spPr>
        <p:txBody>
          <a:bodyPr wrap="none">
            <a:spAutoFit/>
          </a:bodyPr>
          <a:lstStyle/>
          <a:p>
            <a:r>
              <a:rPr lang="en-HK" sz="1200" dirty="0">
                <a:latin typeface="Times New Roman" panose="02020603050405020304" pitchFamily="18" charset="0"/>
                <a:ea typeface="SimSun"/>
                <a:cs typeface="Times New Roman" panose="02020603050405020304" pitchFamily="18" charset="0"/>
              </a:rPr>
              <a:t> 20 mm</a:t>
            </a:r>
          </a:p>
        </p:txBody>
      </p:sp>
      <p:sp>
        <p:nvSpPr>
          <p:cNvPr id="25" name="矩形 24">
            <a:extLst>
              <a:ext uri="{FF2B5EF4-FFF2-40B4-BE49-F238E27FC236}">
                <a16:creationId xmlns:a16="http://schemas.microsoft.com/office/drawing/2014/main" id="{97609E29-2D20-4D40-9972-D70D8AA096BC}"/>
              </a:ext>
            </a:extLst>
          </p:cNvPr>
          <p:cNvSpPr/>
          <p:nvPr/>
        </p:nvSpPr>
        <p:spPr>
          <a:xfrm>
            <a:off x="2000893" y="5716926"/>
            <a:ext cx="655949" cy="276999"/>
          </a:xfrm>
          <a:prstGeom prst="rect">
            <a:avLst/>
          </a:prstGeom>
        </p:spPr>
        <p:txBody>
          <a:bodyPr wrap="none">
            <a:spAutoFit/>
          </a:bodyPr>
          <a:lstStyle/>
          <a:p>
            <a:r>
              <a:rPr lang="en-HK" sz="1200" dirty="0">
                <a:latin typeface="Times New Roman" panose="02020603050405020304" pitchFamily="18" charset="0"/>
                <a:ea typeface="SimSun"/>
                <a:cs typeface="Times New Roman" panose="02020603050405020304" pitchFamily="18" charset="0"/>
              </a:rPr>
              <a:t> 40 mm</a:t>
            </a:r>
          </a:p>
        </p:txBody>
      </p:sp>
      <p:sp>
        <p:nvSpPr>
          <p:cNvPr id="26" name="矩形 25">
            <a:extLst>
              <a:ext uri="{FF2B5EF4-FFF2-40B4-BE49-F238E27FC236}">
                <a16:creationId xmlns:a16="http://schemas.microsoft.com/office/drawing/2014/main" id="{A440FCD2-35D8-4243-9064-D0B747EC8FAF}"/>
              </a:ext>
            </a:extLst>
          </p:cNvPr>
          <p:cNvSpPr/>
          <p:nvPr/>
        </p:nvSpPr>
        <p:spPr>
          <a:xfrm>
            <a:off x="3938730" y="5716926"/>
            <a:ext cx="655949" cy="276999"/>
          </a:xfrm>
          <a:prstGeom prst="rect">
            <a:avLst/>
          </a:prstGeom>
        </p:spPr>
        <p:txBody>
          <a:bodyPr wrap="none">
            <a:spAutoFit/>
          </a:bodyPr>
          <a:lstStyle/>
          <a:p>
            <a:r>
              <a:rPr lang="en-HK" sz="1200" dirty="0">
                <a:latin typeface="Times New Roman" panose="02020603050405020304" pitchFamily="18" charset="0"/>
                <a:ea typeface="SimSun"/>
                <a:cs typeface="Times New Roman" panose="02020603050405020304" pitchFamily="18" charset="0"/>
              </a:rPr>
              <a:t> 60 mm</a:t>
            </a:r>
          </a:p>
        </p:txBody>
      </p:sp>
      <p:sp>
        <p:nvSpPr>
          <p:cNvPr id="27" name="矩形 26">
            <a:extLst>
              <a:ext uri="{FF2B5EF4-FFF2-40B4-BE49-F238E27FC236}">
                <a16:creationId xmlns:a16="http://schemas.microsoft.com/office/drawing/2014/main" id="{C2454E48-F29D-4364-9DB3-DFB5068F0D78}"/>
              </a:ext>
            </a:extLst>
          </p:cNvPr>
          <p:cNvSpPr/>
          <p:nvPr/>
        </p:nvSpPr>
        <p:spPr>
          <a:xfrm>
            <a:off x="1935212" y="6009649"/>
            <a:ext cx="2793045"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4.5.3 </a:t>
            </a:r>
            <a:r>
              <a:rPr lang="en-HK" sz="1200" dirty="0">
                <a:latin typeface="Times New Roman" panose="02020603050405020304" pitchFamily="18" charset="0"/>
                <a:ea typeface="SimSun"/>
                <a:cs typeface="Times New Roman" panose="02020603050405020304" pitchFamily="18" charset="0"/>
              </a:rPr>
              <a:t>Variation of the nozzle distance </a:t>
            </a:r>
          </a:p>
        </p:txBody>
      </p:sp>
      <p:sp>
        <p:nvSpPr>
          <p:cNvPr id="28" name="矩形 27">
            <a:extLst>
              <a:ext uri="{FF2B5EF4-FFF2-40B4-BE49-F238E27FC236}">
                <a16:creationId xmlns:a16="http://schemas.microsoft.com/office/drawing/2014/main" id="{72B7FE64-53A0-4FD3-851B-9471A15D5037}"/>
              </a:ext>
            </a:extLst>
          </p:cNvPr>
          <p:cNvSpPr/>
          <p:nvPr/>
        </p:nvSpPr>
        <p:spPr>
          <a:xfrm>
            <a:off x="6799482" y="4172970"/>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4.5.4 </a:t>
            </a:r>
            <a:r>
              <a:rPr lang="en-HK" sz="1200" dirty="0">
                <a:latin typeface="Times New Roman" panose="02020603050405020304" pitchFamily="18" charset="0"/>
                <a:ea typeface="SimSun"/>
                <a:cs typeface="Times New Roman" panose="02020603050405020304" pitchFamily="18" charset="0"/>
              </a:rPr>
              <a:t>Impact of nozzle gap on coverage factor</a:t>
            </a:r>
          </a:p>
        </p:txBody>
      </p:sp>
      <p:sp>
        <p:nvSpPr>
          <p:cNvPr id="29" name="矩形 28">
            <a:extLst>
              <a:ext uri="{FF2B5EF4-FFF2-40B4-BE49-F238E27FC236}">
                <a16:creationId xmlns:a16="http://schemas.microsoft.com/office/drawing/2014/main" id="{2CAF0D0D-21AB-457B-BDC4-7D3325C407E6}"/>
              </a:ext>
            </a:extLst>
          </p:cNvPr>
          <p:cNvSpPr/>
          <p:nvPr/>
        </p:nvSpPr>
        <p:spPr>
          <a:xfrm>
            <a:off x="6233480" y="4529770"/>
            <a:ext cx="5050037" cy="1892826"/>
          </a:xfrm>
          <a:prstGeom prst="rect">
            <a:avLst/>
          </a:prstGeom>
        </p:spPr>
        <p:txBody>
          <a:bodyPr wrap="square" tIns="0" bIns="0">
            <a:noAutofit/>
          </a:bodyPr>
          <a:lstStyle/>
          <a:p>
            <a:pPr algn="l">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The best wetting situation of the plate surface occurs at a nozzle of </a:t>
            </a:r>
            <a:r>
              <a:rPr lang="en-HK" sz="1200" b="1" dirty="0">
                <a:solidFill>
                  <a:srgbClr val="A60626"/>
                </a:solidFill>
                <a:latin typeface="Times New Roman" panose="02020603050405020304" pitchFamily="18" charset="0"/>
                <a:ea typeface="SimSun"/>
                <a:cs typeface="Times New Roman" panose="02020603050405020304" pitchFamily="18" charset="0"/>
              </a:rPr>
              <a:t>40 mm (1) </a:t>
            </a:r>
            <a:r>
              <a:rPr lang="en-HK" sz="1200" dirty="0">
                <a:latin typeface="Times New Roman" panose="02020603050405020304" pitchFamily="18" charset="0"/>
                <a:ea typeface="SimSun"/>
                <a:cs typeface="Times New Roman" panose="02020603050405020304" pitchFamily="18" charset="0"/>
              </a:rPr>
              <a:t>and the gap was </a:t>
            </a:r>
            <a:r>
              <a:rPr lang="en-HK" sz="1200" b="1" dirty="0">
                <a:solidFill>
                  <a:srgbClr val="A60626"/>
                </a:solidFill>
                <a:latin typeface="Times New Roman" panose="02020603050405020304" pitchFamily="18" charset="0"/>
                <a:ea typeface="SimSun"/>
                <a:cs typeface="Times New Roman" panose="02020603050405020304" pitchFamily="18" charset="0"/>
              </a:rPr>
              <a:t>80 mm (2)</a:t>
            </a:r>
            <a:r>
              <a:rPr lang="en-HK" sz="1200" b="1" dirty="0">
                <a:latin typeface="Times New Roman" panose="02020603050405020304" pitchFamily="18" charset="0"/>
                <a:ea typeface="SimSun"/>
                <a:cs typeface="Times New Roman" panose="02020603050405020304" pitchFamily="18" charset="0"/>
              </a:rPr>
              <a:t>.</a:t>
            </a:r>
            <a:br/>
            <a:r>
              <a:rPr sz="984" lang="zh-CN">
                <a:solidFill>
                  <a:srgbClr val="24425A"/>
                </a:solidFill>
                <a:latin typeface="Times New Roman"/>
                <a:ea typeface="SimSun"/>
                <a:cs typeface="Times New Roman"/>
              </a:rPr>
              <a:t>在图示布置下，喷嘴位置参数为 40 mm（1）、间距为 80 mm（2）时，板面润湿效果最佳。</a:t>
            </a:r>
          </a:p>
          <a:p>
            <a:pPr marL="285750" indent="-285750" defTabSz="457200" eaLnBrk="1" fontAlgn="auto" hangingPunct="1" algn="l">
              <a:buFont typeface="Arial" panose="020B0604020202020204" pitchFamily="34" charset="0"/>
              <a:buChar char="•"/>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The spray of nozzles are </a:t>
            </a:r>
            <a:r>
              <a:rPr lang="en-HK" sz="1200" b="1" dirty="0">
                <a:solidFill>
                  <a:srgbClr val="A60626"/>
                </a:solidFill>
                <a:latin typeface="Times New Roman" panose="02020603050405020304" pitchFamily="18" charset="0"/>
                <a:ea typeface="SimSun"/>
                <a:cs typeface="Times New Roman" panose="02020603050405020304" pitchFamily="18" charset="0"/>
              </a:rPr>
              <a:t>too far </a:t>
            </a:r>
            <a:r>
              <a:rPr lang="en-HK" sz="1200" dirty="0">
                <a:solidFill>
                  <a:prstClr val="black"/>
                </a:solidFill>
                <a:latin typeface="Times New Roman" panose="02020603050405020304" pitchFamily="18" charset="0"/>
                <a:ea typeface="SimSun"/>
                <a:cs typeface="Times New Roman" panose="02020603050405020304" pitchFamily="18" charset="0"/>
              </a:rPr>
              <a:t>apart causing some droplets to </a:t>
            </a:r>
            <a:r>
              <a:rPr lang="en-HK" sz="1200" b="1" dirty="0">
                <a:solidFill>
                  <a:srgbClr val="A60626"/>
                </a:solidFill>
                <a:latin typeface="Times New Roman" panose="02020603050405020304" pitchFamily="18" charset="0"/>
                <a:ea typeface="SimSun"/>
                <a:cs typeface="Times New Roman" panose="02020603050405020304" pitchFamily="18" charset="0"/>
              </a:rPr>
              <a:t>escape</a:t>
            </a:r>
            <a:r>
              <a:rPr lang="en-HK" sz="1200" dirty="0">
                <a:solidFill>
                  <a:prstClr val="black"/>
                </a:solidFill>
                <a:latin typeface="Times New Roman" panose="02020603050405020304" pitchFamily="18" charset="0"/>
                <a:ea typeface="SimSun"/>
                <a:cs typeface="Times New Roman" panose="02020603050405020304" pitchFamily="18" charset="0"/>
              </a:rPr>
              <a:t> from the boundary.</a:t>
            </a:r>
            <a:br/>
            <a:r>
              <a:rPr sz="984" lang="zh-CN">
                <a:solidFill>
                  <a:srgbClr val="24425A"/>
                </a:solidFill>
                <a:latin typeface="Times New Roman"/>
                <a:ea typeface="SimSun"/>
                <a:cs typeface="Times New Roman"/>
              </a:rPr>
              <a:t>喷嘴间距过大，部分液滴会逸出边界。</a:t>
            </a:r>
          </a:p>
          <a:p>
            <a:pPr marL="285750" indent="-285750" defTabSz="457200" eaLnBrk="1" fontAlgn="auto" hangingPunct="1" algn="l">
              <a:buFont typeface="Arial" panose="020B0604020202020204" pitchFamily="34" charset="0"/>
              <a:buChar char="•"/>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 While being </a:t>
            </a:r>
            <a:r>
              <a:rPr lang="en-HK" sz="1200" b="1" dirty="0">
                <a:solidFill>
                  <a:srgbClr val="A60626"/>
                </a:solidFill>
                <a:latin typeface="Times New Roman" panose="02020603050405020304" pitchFamily="18" charset="0"/>
                <a:ea typeface="SimSun"/>
                <a:cs typeface="Times New Roman" panose="02020603050405020304" pitchFamily="18" charset="0"/>
              </a:rPr>
              <a:t>too close </a:t>
            </a:r>
            <a:r>
              <a:rPr lang="en-HK" sz="1200" dirty="0">
                <a:solidFill>
                  <a:prstClr val="black"/>
                </a:solidFill>
                <a:latin typeface="Times New Roman" panose="02020603050405020304" pitchFamily="18" charset="0"/>
                <a:ea typeface="SimSun"/>
                <a:cs typeface="Times New Roman" panose="02020603050405020304" pitchFamily="18" charset="0"/>
              </a:rPr>
              <a:t>caused a large number of spray droplets to </a:t>
            </a:r>
            <a:r>
              <a:rPr lang="en-HK" sz="1200" b="1" dirty="0">
                <a:solidFill>
                  <a:srgbClr val="A60626"/>
                </a:solidFill>
                <a:latin typeface="Times New Roman" panose="02020603050405020304" pitchFamily="18" charset="0"/>
                <a:ea typeface="SimSun"/>
                <a:cs typeface="Times New Roman" panose="02020603050405020304" pitchFamily="18" charset="0"/>
              </a:rPr>
              <a:t>collide and splash </a:t>
            </a:r>
            <a:r>
              <a:rPr lang="en-HK" sz="1200" dirty="0">
                <a:solidFill>
                  <a:prstClr val="black"/>
                </a:solidFill>
                <a:latin typeface="Times New Roman" panose="02020603050405020304" pitchFamily="18" charset="0"/>
                <a:ea typeface="SimSun"/>
                <a:cs typeface="Times New Roman" panose="02020603050405020304" pitchFamily="18" charset="0"/>
              </a:rPr>
              <a:t>against each other.</a:t>
            </a:r>
            <a:br/>
            <a:r>
              <a:rPr sz="984" lang="zh-CN">
                <a:solidFill>
                  <a:srgbClr val="24425A"/>
                </a:solidFill>
                <a:latin typeface="Times New Roman"/>
                <a:ea typeface="SimSun"/>
                <a:cs typeface="Times New Roman"/>
              </a:rPr>
              <a:t>喷嘴间距过小，大量液滴相互碰撞并飞溅。</a:t>
            </a:r>
          </a:p>
        </p:txBody>
      </p:sp>
      <p:sp>
        <p:nvSpPr>
          <p:cNvPr id="30" name="椭圆 29">
            <a:extLst>
              <a:ext uri="{FF2B5EF4-FFF2-40B4-BE49-F238E27FC236}">
                <a16:creationId xmlns:a16="http://schemas.microsoft.com/office/drawing/2014/main" id="{F02511E9-94CA-4840-ACCE-5CF48288727F}"/>
              </a:ext>
            </a:extLst>
          </p:cNvPr>
          <p:cNvSpPr/>
          <p:nvPr/>
        </p:nvSpPr>
        <p:spPr>
          <a:xfrm>
            <a:off x="8376308" y="1352803"/>
            <a:ext cx="286347" cy="2741315"/>
          </a:xfrm>
          <a:prstGeom prst="ellipse">
            <a:avLst/>
          </a:prstGeom>
          <a:noFill/>
          <a:ln w="19050">
            <a:solidFill>
              <a:srgbClr val="A60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dirty="0">
              <a:latin typeface="Times New Roman"/>
              <a:ea typeface="SimSun"/>
              <a:cs typeface="Times New Roman"/>
            </a:endParaRPr>
          </a:p>
        </p:txBody>
      </p:sp>
      <p:sp>
        <p:nvSpPr>
          <p:cNvPr id="4" name="灯片编号占位符 3">
            <a:extLst>
              <a:ext uri="{FF2B5EF4-FFF2-40B4-BE49-F238E27FC236}">
                <a16:creationId xmlns:a16="http://schemas.microsoft.com/office/drawing/2014/main" id="{070B9FFF-D5A1-45B1-A6E6-843BEA93095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33</a:t>
            </a:fld>
            <a:endParaRPr lang="en-US" altLang="zh-CN">
              <a:latin typeface="Times New Roman"/>
              <a:ea typeface="SimSun"/>
              <a:cs typeface="Times New Roman"/>
            </a:endParaRPr>
          </a:p>
        </p:txBody>
      </p:sp>
      <p:sp>
        <p:nvSpPr>
          <p:cNvPr id="33" name="矩形 3">
            <a:extLst>
              <a:ext uri="{FF2B5EF4-FFF2-40B4-BE49-F238E27FC236}">
                <a16:creationId xmlns:a16="http://schemas.microsoft.com/office/drawing/2014/main" id="{76F1A6D1-EF12-4496-98AF-4C30DDFBCFF8}"/>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5" name="Rectangle 220">
            <a:extLst>
              <a:ext uri="{FF2B5EF4-FFF2-40B4-BE49-F238E27FC236}">
                <a16:creationId xmlns:a16="http://schemas.microsoft.com/office/drawing/2014/main" id="{BDF510A9-3CB9-4553-8D8C-12133F47EC4D}"/>
              </a:ext>
            </a:extLst>
          </p:cNvPr>
          <p:cNvSpPr>
            <a:spLocks noChangeArrowheads="1"/>
          </p:cNvSpPr>
          <p:nvPr/>
        </p:nvSpPr>
        <p:spPr bwMode="auto">
          <a:xfrm>
            <a:off x="2955198" y="11389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3" name="矩形 22">
            <a:extLst>
              <a:ext uri="{FF2B5EF4-FFF2-40B4-BE49-F238E27FC236}">
                <a16:creationId xmlns:a16="http://schemas.microsoft.com/office/drawing/2014/main" id="{E7284172-BF02-4333-B569-F5456C6F7229}"/>
              </a:ext>
            </a:extLst>
          </p:cNvPr>
          <p:cNvSpPr/>
          <p:nvPr/>
        </p:nvSpPr>
        <p:spPr bwMode="auto">
          <a:xfrm>
            <a:off x="6123371" y="4517625"/>
            <a:ext cx="5078568" cy="1975143"/>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34"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194885305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2C53AAAB-BDD1-498E-8103-1D2013B0BB54}"/>
              </a:ext>
            </a:extLst>
          </p:cNvPr>
          <p:cNvSpPr>
            <a:spLocks noChangeArrowheads="1"/>
          </p:cNvSpPr>
          <p:nvPr/>
        </p:nvSpPr>
        <p:spPr bwMode="auto">
          <a:xfrm>
            <a:off x="1524001" y="113633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pic>
        <p:nvPicPr>
          <p:cNvPr id="6" name="图片 5">
            <a:extLst>
              <a:ext uri="{FF2B5EF4-FFF2-40B4-BE49-F238E27FC236}">
                <a16:creationId xmlns:a16="http://schemas.microsoft.com/office/drawing/2014/main" id="{B94C7286-4E25-43BC-A216-4DCFFA6497BA}"/>
              </a:ext>
            </a:extLst>
          </p:cNvPr>
          <p:cNvPicPr/>
          <p:nvPr/>
        </p:nvPicPr>
        <p:blipFill>
          <a:blip r:embed="rId3">
            <a:extLst>
              <a:ext uri="{28A0092B-C50C-407E-A947-70E740481C1C}">
                <a14:useLocalDpi xmlns:a14="http://schemas.microsoft.com/office/drawing/2010/main" val="0"/>
              </a:ext>
            </a:extLst>
          </a:blip>
          <a:stretch>
            <a:fillRect/>
          </a:stretch>
        </p:blipFill>
        <p:spPr>
          <a:xfrm>
            <a:off x="2718900" y="1569395"/>
            <a:ext cx="1183466" cy="1819826"/>
          </a:xfrm>
          <a:prstGeom prst="rect">
            <a:avLst/>
          </a:prstGeom>
        </p:spPr>
      </p:pic>
      <p:pic>
        <p:nvPicPr>
          <p:cNvPr id="8" name="图片 7">
            <a:extLst>
              <a:ext uri="{FF2B5EF4-FFF2-40B4-BE49-F238E27FC236}">
                <a16:creationId xmlns:a16="http://schemas.microsoft.com/office/drawing/2014/main" id="{D2557077-6601-42E4-BABD-EEB211D33AA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39729" y="3526805"/>
            <a:ext cx="1589103" cy="1692000"/>
          </a:xfrm>
          <a:prstGeom prst="rect">
            <a:avLst/>
          </a:prstGeom>
        </p:spPr>
      </p:pic>
      <p:pic>
        <p:nvPicPr>
          <p:cNvPr id="9" name="图片 8">
            <a:extLst>
              <a:ext uri="{FF2B5EF4-FFF2-40B4-BE49-F238E27FC236}">
                <a16:creationId xmlns:a16="http://schemas.microsoft.com/office/drawing/2014/main" id="{E4EF0899-5BA6-4834-A4FD-50B2A46BF633}"/>
              </a:ext>
            </a:extLst>
          </p:cNvPr>
          <p:cNvPicPr/>
          <p:nvPr/>
        </p:nvPicPr>
        <p:blipFill>
          <a:blip r:embed="rId5">
            <a:extLst>
              <a:ext uri="{28A0092B-C50C-407E-A947-70E740481C1C}">
                <a14:useLocalDpi xmlns:a14="http://schemas.microsoft.com/office/drawing/2010/main" val="0"/>
              </a:ext>
            </a:extLst>
          </a:blip>
          <a:stretch>
            <a:fillRect/>
          </a:stretch>
        </p:blipFill>
        <p:spPr>
          <a:xfrm>
            <a:off x="6433893" y="3540872"/>
            <a:ext cx="1587600" cy="1692000"/>
          </a:xfrm>
          <a:prstGeom prst="rect">
            <a:avLst/>
          </a:prstGeom>
        </p:spPr>
      </p:pic>
      <p:pic>
        <p:nvPicPr>
          <p:cNvPr id="13" name="图片 12">
            <a:extLst>
              <a:ext uri="{FF2B5EF4-FFF2-40B4-BE49-F238E27FC236}">
                <a16:creationId xmlns:a16="http://schemas.microsoft.com/office/drawing/2014/main" id="{69B26CE5-8C31-4A5E-B63A-B58AC3A1C85B}"/>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8169370" y="3526805"/>
            <a:ext cx="1587600" cy="1692000"/>
          </a:xfrm>
          <a:prstGeom prst="rect">
            <a:avLst/>
          </a:prstGeom>
        </p:spPr>
      </p:pic>
      <p:pic>
        <p:nvPicPr>
          <p:cNvPr id="14" name="图片 13">
            <a:extLst>
              <a:ext uri="{FF2B5EF4-FFF2-40B4-BE49-F238E27FC236}">
                <a16:creationId xmlns:a16="http://schemas.microsoft.com/office/drawing/2014/main" id="{6D699C5A-F61B-4B6E-B2F9-C05733C07FB1}"/>
              </a:ext>
            </a:extLst>
          </p:cNvPr>
          <p:cNvPicPr/>
          <p:nvPr/>
        </p:nvPicPr>
        <p:blipFill>
          <a:blip r:embed="rId7">
            <a:extLst>
              <a:ext uri="{28A0092B-C50C-407E-A947-70E740481C1C}">
                <a14:useLocalDpi xmlns:a14="http://schemas.microsoft.com/office/drawing/2010/main" val="0"/>
              </a:ext>
            </a:extLst>
          </a:blip>
          <a:stretch>
            <a:fillRect/>
          </a:stretch>
        </p:blipFill>
        <p:spPr>
          <a:xfrm>
            <a:off x="3334763" y="3526805"/>
            <a:ext cx="1587600" cy="1692000"/>
          </a:xfrm>
          <a:prstGeom prst="rect">
            <a:avLst/>
          </a:prstGeom>
        </p:spPr>
      </p:pic>
      <p:pic>
        <p:nvPicPr>
          <p:cNvPr id="15" name="图片 14">
            <a:extLst>
              <a:ext uri="{FF2B5EF4-FFF2-40B4-BE49-F238E27FC236}">
                <a16:creationId xmlns:a16="http://schemas.microsoft.com/office/drawing/2014/main" id="{E919D49D-35CC-4E2D-AFFC-B3D6F64C73AA}"/>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9904848" y="3520400"/>
            <a:ext cx="560151" cy="1776335"/>
          </a:xfrm>
          <a:prstGeom prst="rect">
            <a:avLst/>
          </a:prstGeom>
        </p:spPr>
      </p:pic>
      <p:pic>
        <p:nvPicPr>
          <p:cNvPr id="17" name="图片 16">
            <a:extLst>
              <a:ext uri="{FF2B5EF4-FFF2-40B4-BE49-F238E27FC236}">
                <a16:creationId xmlns:a16="http://schemas.microsoft.com/office/drawing/2014/main" id="{65FC5BA7-8EA7-4A3F-B5B7-8BD015C5BDD7}"/>
              </a:ext>
            </a:extLst>
          </p:cNvPr>
          <p:cNvPicPr/>
          <p:nvPr/>
        </p:nvPicPr>
        <p:blipFill>
          <a:blip r:embed="rId9">
            <a:extLst>
              <a:ext uri="{28A0092B-C50C-407E-A947-70E740481C1C}">
                <a14:useLocalDpi xmlns:a14="http://schemas.microsoft.com/office/drawing/2010/main" val="0"/>
              </a:ext>
            </a:extLst>
          </a:blip>
          <a:stretch>
            <a:fillRect/>
          </a:stretch>
        </p:blipFill>
        <p:spPr>
          <a:xfrm>
            <a:off x="7462480" y="1664897"/>
            <a:ext cx="1131574" cy="1819827"/>
          </a:xfrm>
          <a:prstGeom prst="rect">
            <a:avLst/>
          </a:prstGeom>
        </p:spPr>
      </p:pic>
      <p:sp>
        <p:nvSpPr>
          <p:cNvPr id="18" name="矩形 17">
            <a:extLst>
              <a:ext uri="{FF2B5EF4-FFF2-40B4-BE49-F238E27FC236}">
                <a16:creationId xmlns:a16="http://schemas.microsoft.com/office/drawing/2014/main" id="{A74AC3DC-9F2B-43F7-98E2-949706B09CC1}"/>
              </a:ext>
            </a:extLst>
          </p:cNvPr>
          <p:cNvSpPr/>
          <p:nvPr/>
        </p:nvSpPr>
        <p:spPr>
          <a:xfrm>
            <a:off x="641332" y="1207798"/>
            <a:ext cx="2467342" cy="369332"/>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200" dirty="0">
                <a:latin typeface="Times New Roman" panose="02020603050405020304" pitchFamily="18" charset="0"/>
                <a:ea typeface="SimSun"/>
                <a:cs typeface="Times New Roman" panose="02020603050405020304" pitchFamily="18" charset="0"/>
              </a:rPr>
              <a:t>Conventional scheme</a:t>
            </a:r>
            <a:r>
              <a:rPr sz="984" lang="zh-CN">
                <a:solidFill>
                  <a:srgbClr val="24425A"/>
                </a:solidFill>
                <a:latin typeface="Times New Roman"/>
                <a:ea typeface="SimSun"/>
                <a:cs typeface="Times New Roman"/>
              </a:rPr>
              <a:t>  常规方案</a:t>
            </a:r>
          </a:p>
        </p:txBody>
      </p:sp>
      <p:sp>
        <p:nvSpPr>
          <p:cNvPr id="16" name="矩形 15">
            <a:extLst>
              <a:ext uri="{FF2B5EF4-FFF2-40B4-BE49-F238E27FC236}">
                <a16:creationId xmlns:a16="http://schemas.microsoft.com/office/drawing/2014/main" id="{A8B8747B-5344-484F-B7BF-75DF52EF940E}"/>
              </a:ext>
            </a:extLst>
          </p:cNvPr>
          <p:cNvSpPr/>
          <p:nvPr/>
        </p:nvSpPr>
        <p:spPr>
          <a:xfrm>
            <a:off x="6096000" y="1295565"/>
            <a:ext cx="2198038" cy="369332"/>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150" dirty="0">
                <a:latin typeface="Times New Roman" panose="02020603050405020304" pitchFamily="18" charset="0"/>
                <a:ea typeface="SimSun"/>
                <a:cs typeface="Times New Roman" panose="02020603050405020304" pitchFamily="18" charset="0"/>
              </a:rPr>
              <a:t>Optimized scheme</a:t>
            </a:r>
            <a:r>
              <a:rPr sz="943" lang="zh-CN">
                <a:solidFill>
                  <a:srgbClr val="24425A"/>
                </a:solidFill>
                <a:latin typeface="Times New Roman"/>
                <a:ea typeface="SimSun"/>
                <a:cs typeface="Times New Roman"/>
              </a:rPr>
              <a:t>  优化方案</a:t>
            </a:r>
          </a:p>
        </p:txBody>
      </p:sp>
      <p:sp>
        <p:nvSpPr>
          <p:cNvPr id="2" name="矩形 1">
            <a:extLst>
              <a:ext uri="{FF2B5EF4-FFF2-40B4-BE49-F238E27FC236}">
                <a16:creationId xmlns:a16="http://schemas.microsoft.com/office/drawing/2014/main" id="{5B33E2A0-09B8-440D-B282-27A219213BC8}"/>
              </a:ext>
            </a:extLst>
          </p:cNvPr>
          <p:cNvSpPr/>
          <p:nvPr/>
        </p:nvSpPr>
        <p:spPr>
          <a:xfrm>
            <a:off x="1741395" y="5590329"/>
            <a:ext cx="9174717" cy="1156086"/>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400" spc="-5" dirty="0">
                <a:latin typeface="Times New Roman" panose="02020603050405020304" pitchFamily="18" charset="0"/>
                <a:ea typeface="SimSun" panose="02010600030101010101" pitchFamily="2" charset="-122"/>
                <a:cs typeface="Times New Roman" panose="02020603050405020304" pitchFamily="18" charset="0"/>
              </a:rPr>
              <a:t>The water film coverage ratio of conventional and optimized schemes are </a:t>
            </a:r>
            <a:r>
              <a:rPr lang="en-HK" sz="1400" b="1" spc="-5"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0.72 and 0.91</a:t>
            </a:r>
            <a:r>
              <a:rPr lang="en-HK" sz="1400" spc="-5" dirty="0">
                <a:latin typeface="Times New Roman" panose="02020603050405020304" pitchFamily="18" charset="0"/>
                <a:ea typeface="SimSun" panose="02010600030101010101" pitchFamily="2" charset="-122"/>
                <a:cs typeface="Times New Roman" panose="02020603050405020304" pitchFamily="18" charset="0"/>
              </a:rPr>
              <a:t>.</a:t>
            </a:r>
            <a:br/>
            <a:r>
              <a:rPr sz="1148" lang="zh-CN">
                <a:solidFill>
                  <a:srgbClr val="24425A"/>
                </a:solidFill>
                <a:latin typeface="Times New Roman"/>
                <a:ea typeface="SimSun"/>
                <a:cs typeface="Times New Roman"/>
              </a:rPr>
              <a:t>常规方案与优化方案的水膜覆盖率分别为 0.72 和 0.91。</a:t>
            </a:r>
          </a:p>
          <a:p>
            <a:pPr marL="285750" indent="-285750" algn="l">
              <a:buFont typeface="Arial" panose="020B0604020202020204" pitchFamily="34" charset="0"/>
              <a:buChar char="•"/>
              <a:lnSpc>
                <a:spcPct val="108000"/>
              </a:lnSpc>
              <a:spcAft>
                <a:spcPts val="300"/>
              </a:spcAft>
            </a:pPr>
            <a:r>
              <a:rPr lang="en-HK" sz="14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Most rapid temperature drop </a:t>
            </a:r>
            <a:r>
              <a:rPr lang="en-HK" sz="1400" spc="-5" dirty="0">
                <a:latin typeface="Times New Roman" panose="02020603050405020304" pitchFamily="18" charset="0"/>
                <a:ea typeface="SimSun" panose="02010600030101010101" pitchFamily="2" charset="-122"/>
                <a:cs typeface="Times New Roman" panose="02020603050405020304" pitchFamily="18" charset="0"/>
              </a:rPr>
              <a:t>at the </a:t>
            </a:r>
            <a:r>
              <a:rPr lang="en-HK" sz="14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top</a:t>
            </a:r>
            <a:r>
              <a:rPr lang="en-HK" sz="1400" b="1" spc="-5" dirty="0">
                <a:latin typeface="Times New Roman" panose="02020603050405020304" pitchFamily="18" charset="0"/>
                <a:ea typeface="SimSun" panose="02010600030101010101" pitchFamily="2" charset="-122"/>
                <a:cs typeface="Times New Roman" panose="02020603050405020304" pitchFamily="18" charset="0"/>
              </a:rPr>
              <a:t> </a:t>
            </a:r>
            <a:r>
              <a:rPr lang="en-HK" sz="1400" spc="-5" dirty="0">
                <a:latin typeface="Times New Roman" panose="02020603050405020304" pitchFamily="18" charset="0"/>
                <a:ea typeface="SimSun" panose="02010600030101010101" pitchFamily="2" charset="-122"/>
                <a:cs typeface="Times New Roman" panose="02020603050405020304" pitchFamily="18" charset="0"/>
              </a:rPr>
              <a:t>of the heat exchanger plate, due to the </a:t>
            </a:r>
            <a:r>
              <a:rPr lang="en-HK" sz="14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widest area </a:t>
            </a:r>
            <a:r>
              <a:rPr lang="en-HK" sz="1400" spc="-5" dirty="0">
                <a:latin typeface="Times New Roman" panose="02020603050405020304" pitchFamily="18" charset="0"/>
                <a:ea typeface="SimSun" panose="02010600030101010101" pitchFamily="2" charset="-122"/>
                <a:cs typeface="Times New Roman" panose="02020603050405020304" pitchFamily="18" charset="0"/>
              </a:rPr>
              <a:t>covered by the water film and the </a:t>
            </a:r>
            <a:r>
              <a:rPr lang="en-HK" sz="14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longest contact </a:t>
            </a:r>
            <a:r>
              <a:rPr lang="en-HK" sz="1400" spc="-5" dirty="0">
                <a:latin typeface="Times New Roman" panose="02020603050405020304" pitchFamily="18" charset="0"/>
                <a:ea typeface="SimSun" panose="02010600030101010101" pitchFamily="2" charset="-122"/>
                <a:cs typeface="Times New Roman" panose="02020603050405020304" pitchFamily="18" charset="0"/>
              </a:rPr>
              <a:t>between airflow and water flow.</a:t>
            </a:r>
            <a:br/>
            <a:r>
              <a:rPr sz="1148" lang="zh-CN">
                <a:solidFill>
                  <a:srgbClr val="24425A"/>
                </a:solidFill>
                <a:latin typeface="Times New Roman"/>
                <a:ea typeface="SimSun"/>
                <a:cs typeface="Times New Roman"/>
              </a:rPr>
              <a:t>换热板顶部降温最快，因为该区域水膜覆盖最广，气流与水流接触时间最长。</a:t>
            </a:r>
          </a:p>
        </p:txBody>
      </p:sp>
      <p:sp>
        <p:nvSpPr>
          <p:cNvPr id="19" name="矩形 18">
            <a:extLst>
              <a:ext uri="{FF2B5EF4-FFF2-40B4-BE49-F238E27FC236}">
                <a16:creationId xmlns:a16="http://schemas.microsoft.com/office/drawing/2014/main" id="{E91ED908-327F-411E-92B5-A2C06380999B}"/>
              </a:ext>
            </a:extLst>
          </p:cNvPr>
          <p:cNvSpPr/>
          <p:nvPr/>
        </p:nvSpPr>
        <p:spPr>
          <a:xfrm>
            <a:off x="4042294" y="2325758"/>
            <a:ext cx="1935145" cy="551180"/>
          </a:xfrm>
          <a:prstGeom prst="rect">
            <a:avLst/>
          </a:prstGeom>
        </p:spPr>
        <p:txBody>
          <a:bodyPr wrap="square" tIns="0" bIns="0">
            <a:noAutofit/>
          </a:bodyPr>
          <a:lstStyle/>
          <a:p>
            <a:pPr algn="l">
              <a:lnSpc>
                <a:spcPct val="108000"/>
              </a:lnSpc>
              <a:spcAft>
                <a:spcPts val="300"/>
              </a:spcAft>
            </a:pPr>
            <a:r>
              <a:rPr lang="en-HK" sz="1500" i="1" dirty="0">
                <a:latin typeface="Times New Roman" panose="02020603050405020304" pitchFamily="18" charset="0"/>
                <a:ea typeface="SimSun"/>
                <a:cs typeface="Times New Roman" panose="02020603050405020304" pitchFamily="18" charset="0"/>
              </a:rPr>
              <a:t>Linear distribution</a:t>
            </a:r>
            <a:r>
              <a:rPr sz="1230" lang="zh-CN">
                <a:solidFill>
                  <a:srgbClr val="24425A"/>
                </a:solidFill>
                <a:latin typeface="Times New Roman"/>
                <a:ea typeface="SimSun"/>
                <a:cs typeface="Times New Roman"/>
              </a:rPr>
              <a:t>  线性布置</a:t>
            </a:r>
          </a:p>
        </p:txBody>
      </p:sp>
      <p:sp>
        <p:nvSpPr>
          <p:cNvPr id="20" name="矩形 19">
            <a:extLst>
              <a:ext uri="{FF2B5EF4-FFF2-40B4-BE49-F238E27FC236}">
                <a16:creationId xmlns:a16="http://schemas.microsoft.com/office/drawing/2014/main" id="{11174C3C-BA96-4A70-8728-796B8DDDE957}"/>
              </a:ext>
            </a:extLst>
          </p:cNvPr>
          <p:cNvSpPr/>
          <p:nvPr/>
        </p:nvSpPr>
        <p:spPr>
          <a:xfrm>
            <a:off x="8644412" y="2325758"/>
            <a:ext cx="2319930" cy="551180"/>
          </a:xfrm>
          <a:prstGeom prst="rect">
            <a:avLst/>
          </a:prstGeom>
        </p:spPr>
        <p:txBody>
          <a:bodyPr wrap="square" tIns="0" bIns="0">
            <a:noAutofit/>
          </a:bodyPr>
          <a:lstStyle/>
          <a:p>
            <a:pPr algn="l">
              <a:lnSpc>
                <a:spcPct val="108000"/>
              </a:lnSpc>
              <a:spcAft>
                <a:spcPts val="300"/>
              </a:spcAft>
            </a:pPr>
            <a:r>
              <a:rPr lang="en-HK" sz="1500" i="1" dirty="0">
                <a:latin typeface="Times New Roman" panose="02020603050405020304" pitchFamily="18" charset="0"/>
                <a:ea typeface="SimSun"/>
                <a:cs typeface="Times New Roman" panose="02020603050405020304" pitchFamily="18" charset="0"/>
              </a:rPr>
              <a:t>Triangular distribution</a:t>
            </a:r>
            <a:r>
              <a:rPr sz="1230" lang="zh-CN">
                <a:solidFill>
                  <a:srgbClr val="24425A"/>
                </a:solidFill>
                <a:latin typeface="Times New Roman"/>
                <a:ea typeface="SimSun"/>
                <a:cs typeface="Times New Roman"/>
              </a:rPr>
              <a:t>  三角形布置</a:t>
            </a:r>
          </a:p>
        </p:txBody>
      </p:sp>
      <p:sp>
        <p:nvSpPr>
          <p:cNvPr id="21" name="矩形 20">
            <a:extLst>
              <a:ext uri="{FF2B5EF4-FFF2-40B4-BE49-F238E27FC236}">
                <a16:creationId xmlns:a16="http://schemas.microsoft.com/office/drawing/2014/main" id="{3BDACAE8-8823-4B7E-A0F2-913AECAC5B5C}"/>
              </a:ext>
            </a:extLst>
          </p:cNvPr>
          <p:cNvSpPr/>
          <p:nvPr/>
        </p:nvSpPr>
        <p:spPr>
          <a:xfrm>
            <a:off x="3852349" y="5349700"/>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4.5.5 </a:t>
            </a:r>
            <a:r>
              <a:rPr lang="en-HK" sz="1200" dirty="0">
                <a:latin typeface="Times New Roman" panose="02020603050405020304" pitchFamily="18" charset="0"/>
                <a:ea typeface="SimSun"/>
                <a:cs typeface="Times New Roman" panose="02020603050405020304" pitchFamily="18" charset="0"/>
              </a:rPr>
              <a:t>Comparison between conventional and optimized schemes</a:t>
            </a:r>
          </a:p>
        </p:txBody>
      </p:sp>
      <p:sp>
        <p:nvSpPr>
          <p:cNvPr id="22" name="文本框 21">
            <a:extLst>
              <a:ext uri="{FF2B5EF4-FFF2-40B4-BE49-F238E27FC236}">
                <a16:creationId xmlns:a16="http://schemas.microsoft.com/office/drawing/2014/main" id="{29965701-47A6-402A-8B35-2C83BD3BCCE3}"/>
              </a:ext>
            </a:extLst>
          </p:cNvPr>
          <p:cNvSpPr txBox="1"/>
          <p:nvPr/>
        </p:nvSpPr>
        <p:spPr>
          <a:xfrm>
            <a:off x="362620" y="902131"/>
            <a:ext cx="11257880"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4.5.3 </a:t>
            </a:r>
            <a:r>
              <a:rPr lang="en-HK" sz="1500" dirty="0">
                <a:latin typeface="Times New Roman" panose="02020603050405020304" pitchFamily="18" charset="0"/>
                <a:ea typeface="SimSun"/>
                <a:cs typeface="Times New Roman" panose="02020603050405020304" pitchFamily="18" charset="0"/>
              </a:rPr>
              <a:t>Influence on IEC performance</a:t>
            </a:r>
            <a:r>
              <a:rPr sz="1230" lang="zh-CN">
                <a:solidFill>
                  <a:srgbClr val="24425A"/>
                </a:solidFill>
                <a:latin typeface="Times New Roman"/>
                <a:ea typeface="SimSun"/>
                <a:cs typeface="Times New Roman"/>
              </a:rPr>
              <a:t>  对 IEC 性能的影响</a:t>
            </a:r>
          </a:p>
        </p:txBody>
      </p:sp>
      <p:sp>
        <p:nvSpPr>
          <p:cNvPr id="3" name="灯片编号占位符 2">
            <a:extLst>
              <a:ext uri="{FF2B5EF4-FFF2-40B4-BE49-F238E27FC236}">
                <a16:creationId xmlns:a16="http://schemas.microsoft.com/office/drawing/2014/main" id="{08B60D27-8ED0-4D3B-AB91-5A097580526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34</a:t>
            </a:fld>
            <a:endParaRPr lang="en-US" altLang="zh-CN">
              <a:latin typeface="Times New Roman"/>
              <a:ea typeface="SimSun"/>
              <a:cs typeface="Times New Roman"/>
            </a:endParaRPr>
          </a:p>
        </p:txBody>
      </p:sp>
      <p:sp>
        <p:nvSpPr>
          <p:cNvPr id="25" name="矩形 3">
            <a:extLst>
              <a:ext uri="{FF2B5EF4-FFF2-40B4-BE49-F238E27FC236}">
                <a16:creationId xmlns:a16="http://schemas.microsoft.com/office/drawing/2014/main" id="{B5B0327E-8815-474E-B693-270F10C6A834}"/>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26"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30178090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6BAE11D-DDD9-49A8-9F15-F7CEFF37EE05}"/>
              </a:ext>
            </a:extLst>
          </p:cNvPr>
          <p:cNvSpPr txBox="1"/>
          <p:nvPr/>
        </p:nvSpPr>
        <p:spPr>
          <a:xfrm>
            <a:off x="361044" y="964260"/>
            <a:ext cx="11259456"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4.5.4 </a:t>
            </a:r>
            <a:r>
              <a:rPr lang="en-HK" altLang="zh-CN" sz="15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effect of inlet parameter of primary air and</a:t>
            </a:r>
            <a:r>
              <a:rPr lang="zh-CN" altLang="en-US" sz="15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r>
              <a:rPr lang="en-HK" altLang="zh-CN" sz="15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secondary</a:t>
            </a:r>
            <a:r>
              <a:rPr lang="zh-CN" altLang="en-US" sz="15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r>
              <a:rPr lang="en-HK" altLang="zh-CN" sz="15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air</a:t>
            </a:r>
            <a:r>
              <a:rPr sz="1230" lang="zh-CN">
                <a:solidFill>
                  <a:srgbClr val="24425A"/>
                </a:solidFill>
                <a:latin typeface="Times New Roman"/>
                <a:ea typeface="SimSun"/>
                <a:cs typeface="Times New Roman"/>
              </a:rPr>
              <a:t>  一次、二次空气入口参数的影响</a:t>
            </a:r>
          </a:p>
        </p:txBody>
      </p:sp>
      <p:pic>
        <p:nvPicPr>
          <p:cNvPr id="13" name="图片 12">
            <a:extLst>
              <a:ext uri="{FF2B5EF4-FFF2-40B4-BE49-F238E27FC236}">
                <a16:creationId xmlns:a16="http://schemas.microsoft.com/office/drawing/2014/main" id="{4F42FD25-23FF-473E-BC8E-55085292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384" y="4491509"/>
            <a:ext cx="403860" cy="396240"/>
          </a:xfrm>
          <a:prstGeom prst="rect">
            <a:avLst/>
          </a:prstGeom>
        </p:spPr>
      </p:pic>
      <p:pic>
        <p:nvPicPr>
          <p:cNvPr id="14" name="图片 13">
            <a:extLst>
              <a:ext uri="{FF2B5EF4-FFF2-40B4-BE49-F238E27FC236}">
                <a16:creationId xmlns:a16="http://schemas.microsoft.com/office/drawing/2014/main" id="{995D16E1-70DB-46F2-9239-1ADC3F96D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4070" y="4583725"/>
            <a:ext cx="403860" cy="396240"/>
          </a:xfrm>
          <a:prstGeom prst="rect">
            <a:avLst/>
          </a:prstGeom>
        </p:spPr>
      </p:pic>
      <p:sp>
        <p:nvSpPr>
          <p:cNvPr id="8" name="Rectangle 6">
            <a:extLst>
              <a:ext uri="{FF2B5EF4-FFF2-40B4-BE49-F238E27FC236}">
                <a16:creationId xmlns:a16="http://schemas.microsoft.com/office/drawing/2014/main" id="{E383EE9A-9F5E-4063-9C6A-55A5668043D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10" name="Rectangle 8">
            <a:extLst>
              <a:ext uri="{FF2B5EF4-FFF2-40B4-BE49-F238E27FC236}">
                <a16:creationId xmlns:a16="http://schemas.microsoft.com/office/drawing/2014/main" id="{721AF35C-FCC9-4383-9531-785F4363FA83}"/>
              </a:ext>
            </a:extLst>
          </p:cNvPr>
          <p:cNvSpPr>
            <a:spLocks noChangeArrowheads="1"/>
          </p:cNvSpPr>
          <p:nvPr/>
        </p:nvSpPr>
        <p:spPr bwMode="auto">
          <a:xfrm>
            <a:off x="5163491" y="106750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19" name="矩形 18">
            <a:extLst>
              <a:ext uri="{FF2B5EF4-FFF2-40B4-BE49-F238E27FC236}">
                <a16:creationId xmlns:a16="http://schemas.microsoft.com/office/drawing/2014/main" id="{DC6732B8-9EC7-4041-91EA-67C615BDFF42}"/>
              </a:ext>
            </a:extLst>
          </p:cNvPr>
          <p:cNvSpPr/>
          <p:nvPr/>
        </p:nvSpPr>
        <p:spPr>
          <a:xfrm>
            <a:off x="821936" y="1275350"/>
            <a:ext cx="3082895" cy="551180"/>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500" dirty="0">
                <a:latin typeface="Times New Roman" panose="02020603050405020304" pitchFamily="18" charset="0"/>
                <a:ea typeface="SimSun"/>
                <a:cs typeface="Times New Roman" panose="02020603050405020304" pitchFamily="18" charset="0"/>
              </a:rPr>
              <a:t>Inlet temperature of primary air</a:t>
            </a:r>
            <a:r>
              <a:rPr sz="1230" lang="zh-CN">
                <a:solidFill>
                  <a:srgbClr val="24425A"/>
                </a:solidFill>
                <a:latin typeface="Times New Roman"/>
                <a:ea typeface="SimSun"/>
                <a:cs typeface="Times New Roman"/>
              </a:rPr>
              <a:t>  一次空气入口温度</a:t>
            </a:r>
          </a:p>
        </p:txBody>
      </p:sp>
      <p:sp>
        <p:nvSpPr>
          <p:cNvPr id="20" name="矩形 19">
            <a:extLst>
              <a:ext uri="{FF2B5EF4-FFF2-40B4-BE49-F238E27FC236}">
                <a16:creationId xmlns:a16="http://schemas.microsoft.com/office/drawing/2014/main" id="{4169E0B4-7139-4227-B383-6C23FE34FF2F}"/>
              </a:ext>
            </a:extLst>
          </p:cNvPr>
          <p:cNvSpPr/>
          <p:nvPr/>
        </p:nvSpPr>
        <p:spPr>
          <a:xfrm>
            <a:off x="831018" y="3816559"/>
            <a:ext cx="2943434" cy="338554"/>
          </a:xfrm>
          <a:prstGeom prst="rect">
            <a:avLst/>
          </a:prstGeom>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sz="1000" dirty="0">
                <a:latin typeface="Times New Roman" panose="02020603050405020304" pitchFamily="18" charset="0"/>
                <a:ea typeface="SimSun"/>
                <a:cs typeface="Times New Roman" panose="02020603050405020304" pitchFamily="18" charset="0"/>
              </a:rPr>
              <a:t>Inlet velocity of </a:t>
            </a:r>
            <a:r>
              <a:rPr lang="en-US" altLang="zh-CN" sz="1000" dirty="0">
                <a:latin typeface="Times New Roman" panose="02020603050405020304" pitchFamily="18" charset="0"/>
                <a:ea typeface="SimSun"/>
                <a:cs typeface="Times New Roman" panose="02020603050405020304" pitchFamily="18" charset="0"/>
              </a:rPr>
              <a:t>secondary</a:t>
            </a:r>
            <a:r>
              <a:rPr lang="en-HK" sz="1000" dirty="0">
                <a:latin typeface="Times New Roman" panose="02020603050405020304" pitchFamily="18" charset="0"/>
                <a:ea typeface="SimSun"/>
                <a:cs typeface="Times New Roman" panose="02020603050405020304" pitchFamily="18" charset="0"/>
              </a:rPr>
              <a:t> air</a:t>
            </a:r>
            <a:r>
              <a:rPr sz="820" lang="zh-CN">
                <a:solidFill>
                  <a:srgbClr val="24425A"/>
                </a:solidFill>
                <a:latin typeface="Times New Roman"/>
                <a:ea typeface="SimSun"/>
                <a:cs typeface="Times New Roman"/>
              </a:rPr>
              <a:t>  二次空气入口速度</a:t>
            </a:r>
          </a:p>
        </p:txBody>
      </p:sp>
      <p:sp>
        <p:nvSpPr>
          <p:cNvPr id="16" name="矩形 15">
            <a:extLst>
              <a:ext uri="{FF2B5EF4-FFF2-40B4-BE49-F238E27FC236}">
                <a16:creationId xmlns:a16="http://schemas.microsoft.com/office/drawing/2014/main" id="{F9E8679B-C5F0-4F0B-864D-3FF5F15D3789}"/>
              </a:ext>
            </a:extLst>
          </p:cNvPr>
          <p:cNvSpPr/>
          <p:nvPr/>
        </p:nvSpPr>
        <p:spPr>
          <a:xfrm>
            <a:off x="8496894" y="2229405"/>
            <a:ext cx="2981691" cy="1630172"/>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An inlet air temperature of</a:t>
            </a:r>
            <a:r>
              <a:rPr lang="en-HK" sz="1700" dirty="0">
                <a:solidFill>
                  <a:srgbClr val="A60626"/>
                </a:solidFill>
                <a:latin typeface="Times New Roman" panose="02020603050405020304" pitchFamily="18" charset="0"/>
                <a:ea typeface="SimSun"/>
                <a:cs typeface="Times New Roman" panose="02020603050405020304" pitchFamily="18" charset="0"/>
              </a:rPr>
              <a:t> 32°C, </a:t>
            </a:r>
            <a:r>
              <a:rPr lang="en-HK" sz="1700" dirty="0">
                <a:latin typeface="Times New Roman" panose="02020603050405020304" pitchFamily="18" charset="0"/>
                <a:ea typeface="SimSun"/>
                <a:cs typeface="Times New Roman" panose="02020603050405020304" pitchFamily="18" charset="0"/>
              </a:rPr>
              <a:t>with increases of </a:t>
            </a:r>
            <a:r>
              <a:rPr lang="en-HK" sz="1700" dirty="0">
                <a:solidFill>
                  <a:srgbClr val="A60626"/>
                </a:solidFill>
                <a:latin typeface="Times New Roman" panose="02020603050405020304" pitchFamily="18" charset="0"/>
                <a:ea typeface="SimSun"/>
                <a:cs typeface="Times New Roman" panose="02020603050405020304" pitchFamily="18" charset="0"/>
              </a:rPr>
              <a:t>15.1% and 17.6% </a:t>
            </a:r>
            <a:r>
              <a:rPr lang="en-HK" sz="1700" dirty="0">
                <a:latin typeface="Times New Roman" panose="02020603050405020304" pitchFamily="18" charset="0"/>
                <a:ea typeface="SimSun"/>
                <a:cs typeface="Times New Roman" panose="02020603050405020304" pitchFamily="18" charset="0"/>
              </a:rPr>
              <a:t>for</a:t>
            </a:r>
            <a:r>
              <a:rPr lang="en-HK" sz="1700" dirty="0">
                <a:solidFill>
                  <a:srgbClr val="A60626"/>
                </a:solidFill>
                <a:latin typeface="Times New Roman" panose="02020603050405020304" pitchFamily="18" charset="0"/>
                <a:ea typeface="SimSun"/>
                <a:cs typeface="Times New Roman" panose="02020603050405020304" pitchFamily="18" charset="0"/>
              </a:rPr>
              <a:t> 𝜀𝑤 and COP.</a:t>
            </a:r>
            <a:r>
              <a:rPr sz="1394" lang="zh-CN">
                <a:solidFill>
                  <a:srgbClr val="24425A"/>
                </a:solidFill>
                <a:latin typeface="Times New Roman"/>
                <a:ea typeface="SimSun"/>
                <a:cs typeface="Times New Roman"/>
              </a:rPr>
              <a:t>  入口温度为 32 ℃ 时，湿球效率与 COP 分别提高 15.1% 和 17.6%。</a:t>
            </a:r>
          </a:p>
        </p:txBody>
      </p:sp>
      <p:sp>
        <p:nvSpPr>
          <p:cNvPr id="5" name="灯片编号占位符 4">
            <a:extLst>
              <a:ext uri="{FF2B5EF4-FFF2-40B4-BE49-F238E27FC236}">
                <a16:creationId xmlns:a16="http://schemas.microsoft.com/office/drawing/2014/main" id="{1A8E8B63-ED7B-49DA-BCD4-B3CED501176E}"/>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35</a:t>
            </a:fld>
            <a:endParaRPr lang="en-US" altLang="zh-CN">
              <a:latin typeface="Times New Roman"/>
              <a:ea typeface="SimSun"/>
              <a:cs typeface="Times New Roman"/>
            </a:endParaRPr>
          </a:p>
        </p:txBody>
      </p:sp>
      <p:sp>
        <p:nvSpPr>
          <p:cNvPr id="21" name="矩形 3">
            <a:extLst>
              <a:ext uri="{FF2B5EF4-FFF2-40B4-BE49-F238E27FC236}">
                <a16:creationId xmlns:a16="http://schemas.microsoft.com/office/drawing/2014/main" id="{5EEDE306-6F4C-46C3-BFEC-D9681CDA853F}"/>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00000"/>
              </a:lnSpc>
            </a:pPr>
            <a:r>
              <a:rPr lang="en-US" altLang="zh-CN" b="1" dirty="0" sz="180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sz="180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aphicFrame>
        <p:nvGraphicFramePr>
          <p:cNvPr id="22" name="对象 21">
            <a:extLst>
              <a:ext uri="{FF2B5EF4-FFF2-40B4-BE49-F238E27FC236}">
                <a16:creationId xmlns:a16="http://schemas.microsoft.com/office/drawing/2014/main" id="{A1F86B66-287F-40B1-8A5B-24DB2C4E9DEF}"/>
              </a:ext>
            </a:extLst>
          </p:cNvPr>
          <p:cNvGraphicFramePr>
            <a:graphicFrameLocks noChangeAspect="1"/>
          </p:cNvGraphicFramePr>
          <p:nvPr>
            <p:extLst>
              <p:ext uri="{D42A27DB-BD31-4B8C-83A1-F6EECF244321}">
                <p14:modId xmlns:p14="http://schemas.microsoft.com/office/powerpoint/2010/main" val="3507581767"/>
              </p:ext>
            </p:extLst>
          </p:nvPr>
        </p:nvGraphicFramePr>
        <p:xfrm>
          <a:off x="2003535" y="1532281"/>
          <a:ext cx="2858475" cy="2436679"/>
        </p:xfrm>
        <a:graphic>
          <a:graphicData uri="http://schemas.openxmlformats.org/presentationml/2006/ole">
            <mc:AlternateContent xmlns:mc="http://schemas.openxmlformats.org/markup-compatibility/2006">
              <mc:Choice xmlns:v="urn:schemas-microsoft-com:vml" Requires="v">
                <p:oleObj name="Graph" r:id="rId4" imgW="6246376" imgH="5282235" progId="Origin95.Graph">
                  <p:embed/>
                </p:oleObj>
              </mc:Choice>
              <mc:Fallback>
                <p:oleObj name="Graph" r:id="rId4" imgW="6246376" imgH="5282235" progId="Origin95.Graph">
                  <p:embed/>
                  <p:pic>
                    <p:nvPicPr>
                      <p:cNvPr id="0" name="Object 8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3535" y="1532281"/>
                        <a:ext cx="2858475" cy="2436679"/>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689F8228-0770-48C2-A443-432F99ABD21D}"/>
              </a:ext>
            </a:extLst>
          </p:cNvPr>
          <p:cNvGraphicFramePr>
            <a:graphicFrameLocks noChangeAspect="1"/>
          </p:cNvGraphicFramePr>
          <p:nvPr>
            <p:extLst>
              <p:ext uri="{D42A27DB-BD31-4B8C-83A1-F6EECF244321}">
                <p14:modId xmlns:p14="http://schemas.microsoft.com/office/powerpoint/2010/main" val="2332218823"/>
              </p:ext>
            </p:extLst>
          </p:nvPr>
        </p:nvGraphicFramePr>
        <p:xfrm>
          <a:off x="5249983" y="1563693"/>
          <a:ext cx="2790615" cy="2367697"/>
        </p:xfrm>
        <a:graphic>
          <a:graphicData uri="http://schemas.openxmlformats.org/presentationml/2006/ole">
            <mc:AlternateContent xmlns:mc="http://schemas.openxmlformats.org/markup-compatibility/2006">
              <mc:Choice xmlns:v="urn:schemas-microsoft-com:vml" Requires="v">
                <p:oleObj name="Graph" r:id="rId6" imgW="6246376" imgH="5282235" progId="Origin95.Graph">
                  <p:embed/>
                </p:oleObj>
              </mc:Choice>
              <mc:Fallback>
                <p:oleObj name="Graph" r:id="rId6" imgW="6246376" imgH="5282235" progId="Origin95.Graph">
                  <p:embed/>
                  <p:pic>
                    <p:nvPicPr>
                      <p:cNvPr id="0" name="Object 8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9983" y="1563693"/>
                        <a:ext cx="2790615" cy="2367697"/>
                      </a:xfrm>
                      <a:prstGeom prst="rect">
                        <a:avLst/>
                      </a:prstGeom>
                      <a:noFill/>
                    </p:spPr>
                  </p:pic>
                </p:oleObj>
              </mc:Fallback>
            </mc:AlternateContent>
          </a:graphicData>
        </a:graphic>
      </p:graphicFrame>
      <p:sp>
        <p:nvSpPr>
          <p:cNvPr id="26" name="Rectangle 879">
            <a:extLst>
              <a:ext uri="{FF2B5EF4-FFF2-40B4-BE49-F238E27FC236}">
                <a16:creationId xmlns:a16="http://schemas.microsoft.com/office/drawing/2014/main" id="{AB08D2DC-0635-4041-B9A8-7217A7DF6A7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3" name="矩形 2">
            <a:extLst>
              <a:ext uri="{FF2B5EF4-FFF2-40B4-BE49-F238E27FC236}">
                <a16:creationId xmlns:a16="http://schemas.microsoft.com/office/drawing/2014/main" id="{38A8C48D-5398-4E50-AE8B-953F25FB8D88}"/>
              </a:ext>
            </a:extLst>
          </p:cNvPr>
          <p:cNvSpPr/>
          <p:nvPr/>
        </p:nvSpPr>
        <p:spPr>
          <a:xfrm>
            <a:off x="8496894" y="4887749"/>
            <a:ext cx="2916816" cy="1337945"/>
          </a:xfrm>
          <a:prstGeom prst="rect">
            <a:avLst/>
          </a:prstGeom>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sz="1650" dirty="0">
                <a:latin typeface="Times New Roman" panose="02020603050405020304" pitchFamily="18" charset="0"/>
                <a:ea typeface="SimSun"/>
                <a:cs typeface="Times New Roman" panose="02020603050405020304" pitchFamily="18" charset="0"/>
              </a:rPr>
              <a:t>An inlet air velocity of </a:t>
            </a:r>
            <a:r>
              <a:rPr lang="en-HK" sz="1650" dirty="0">
                <a:solidFill>
                  <a:srgbClr val="A60626"/>
                </a:solidFill>
                <a:latin typeface="Times New Roman" panose="02020603050405020304" pitchFamily="18" charset="0"/>
                <a:ea typeface="SimSun"/>
                <a:cs typeface="Times New Roman" panose="02020603050405020304" pitchFamily="18" charset="0"/>
              </a:rPr>
              <a:t>2 m/s, </a:t>
            </a:r>
            <a:r>
              <a:rPr lang="en-HK" sz="1650" dirty="0">
                <a:latin typeface="Times New Roman" panose="02020603050405020304" pitchFamily="18" charset="0"/>
                <a:ea typeface="SimSun"/>
                <a:cs typeface="Times New Roman" panose="02020603050405020304" pitchFamily="18" charset="0"/>
              </a:rPr>
              <a:t>with increases of </a:t>
            </a:r>
            <a:r>
              <a:rPr lang="en-HK" sz="1650" dirty="0">
                <a:solidFill>
                  <a:srgbClr val="A60626"/>
                </a:solidFill>
                <a:latin typeface="Times New Roman" panose="02020603050405020304" pitchFamily="18" charset="0"/>
                <a:ea typeface="SimSun"/>
                <a:cs typeface="Times New Roman" panose="02020603050405020304" pitchFamily="18" charset="0"/>
              </a:rPr>
              <a:t>10.4% and 14.9% </a:t>
            </a:r>
            <a:r>
              <a:rPr lang="en-HK" sz="1650" dirty="0">
                <a:latin typeface="Times New Roman" panose="02020603050405020304" pitchFamily="18" charset="0"/>
                <a:ea typeface="SimSun"/>
                <a:cs typeface="Times New Roman" panose="02020603050405020304" pitchFamily="18" charset="0"/>
              </a:rPr>
              <a:t>for</a:t>
            </a:r>
            <a:r>
              <a:rPr lang="en-HK" sz="1650" dirty="0">
                <a:solidFill>
                  <a:srgbClr val="A60626"/>
                </a:solidFill>
                <a:latin typeface="Times New Roman" panose="02020603050405020304" pitchFamily="18" charset="0"/>
                <a:ea typeface="SimSun"/>
                <a:cs typeface="Times New Roman" panose="02020603050405020304" pitchFamily="18" charset="0"/>
              </a:rPr>
              <a:t> 𝜀</a:t>
            </a:r>
            <a:r>
              <a:rPr lang="en-HK" sz="1650" baseline="-25000" dirty="0">
                <a:solidFill>
                  <a:srgbClr val="A60626"/>
                </a:solidFill>
                <a:latin typeface="Times New Roman" panose="02020603050405020304" pitchFamily="18" charset="0"/>
                <a:ea typeface="SimSun"/>
                <a:cs typeface="Times New Roman" panose="02020603050405020304" pitchFamily="18" charset="0"/>
              </a:rPr>
              <a:t>𝑤</a:t>
            </a:r>
            <a:r>
              <a:rPr lang="en-HK" sz="1650" dirty="0">
                <a:solidFill>
                  <a:srgbClr val="A60626"/>
                </a:solidFill>
                <a:latin typeface="Times New Roman" panose="02020603050405020304" pitchFamily="18" charset="0"/>
                <a:ea typeface="SimSun"/>
                <a:cs typeface="Times New Roman" panose="02020603050405020304" pitchFamily="18" charset="0"/>
              </a:rPr>
              <a:t> and COP.</a:t>
            </a:r>
            <a:r>
              <a:rPr sz="1353" lang="zh-CN">
                <a:solidFill>
                  <a:srgbClr val="24425A"/>
                </a:solidFill>
                <a:latin typeface="Times New Roman"/>
                <a:ea typeface="SimSun"/>
                <a:cs typeface="Times New Roman"/>
              </a:rPr>
              <a:t>  入口速度为 2 m/s 时，湿球效率与 COP 分别提高 10.4% 和 14.9%。</a:t>
            </a:r>
          </a:p>
        </p:txBody>
      </p:sp>
      <p:sp>
        <p:nvSpPr>
          <p:cNvPr id="7" name="矩形 6">
            <a:extLst>
              <a:ext uri="{FF2B5EF4-FFF2-40B4-BE49-F238E27FC236}">
                <a16:creationId xmlns:a16="http://schemas.microsoft.com/office/drawing/2014/main" id="{1141538D-DE06-43E7-9DA0-86363CCA35F4}"/>
              </a:ext>
            </a:extLst>
          </p:cNvPr>
          <p:cNvSpPr/>
          <p:nvPr/>
        </p:nvSpPr>
        <p:spPr bwMode="auto">
          <a:xfrm>
            <a:off x="8459822" y="2077149"/>
            <a:ext cx="3144964"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8" name="矩形 27">
            <a:extLst>
              <a:ext uri="{FF2B5EF4-FFF2-40B4-BE49-F238E27FC236}">
                <a16:creationId xmlns:a16="http://schemas.microsoft.com/office/drawing/2014/main" id="{A1EC48A8-71E7-4156-B12F-D9622D2A4132}"/>
              </a:ext>
            </a:extLst>
          </p:cNvPr>
          <p:cNvSpPr/>
          <p:nvPr/>
        </p:nvSpPr>
        <p:spPr bwMode="auto">
          <a:xfrm>
            <a:off x="8459822" y="4788206"/>
            <a:ext cx="3144964"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 name="Rectangle 1079">
            <a:extLst>
              <a:ext uri="{FF2B5EF4-FFF2-40B4-BE49-F238E27FC236}">
                <a16:creationId xmlns:a16="http://schemas.microsoft.com/office/drawing/2014/main" id="{BE0E741D-A968-46DC-9535-DF2080AA52F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4" name="对象 3">
            <a:extLst>
              <a:ext uri="{FF2B5EF4-FFF2-40B4-BE49-F238E27FC236}">
                <a16:creationId xmlns:a16="http://schemas.microsoft.com/office/drawing/2014/main" id="{7DAA5944-DD59-4B6A-8324-DD9DFCA3A571}"/>
              </a:ext>
            </a:extLst>
          </p:cNvPr>
          <p:cNvGraphicFramePr>
            <a:graphicFrameLocks noChangeAspect="1"/>
          </p:cNvGraphicFramePr>
          <p:nvPr>
            <p:extLst>
              <p:ext uri="{D42A27DB-BD31-4B8C-83A1-F6EECF244321}">
                <p14:modId xmlns:p14="http://schemas.microsoft.com/office/powerpoint/2010/main" val="4157509320"/>
              </p:ext>
            </p:extLst>
          </p:nvPr>
        </p:nvGraphicFramePr>
        <p:xfrm>
          <a:off x="1817634" y="4155113"/>
          <a:ext cx="3124302" cy="2534081"/>
        </p:xfrm>
        <a:graphic>
          <a:graphicData uri="http://schemas.openxmlformats.org/presentationml/2006/ole">
            <mc:AlternateContent xmlns:mc="http://schemas.openxmlformats.org/markup-compatibility/2006">
              <mc:Choice xmlns:v="urn:schemas-microsoft-com:vml" Requires="v">
                <p:oleObj name="Graph" r:id="rId8" imgW="6523715" imgH="5282235" progId="Origin95.Graph">
                  <p:embed/>
                </p:oleObj>
              </mc:Choice>
              <mc:Fallback>
                <p:oleObj name="Graph" r:id="rId8" imgW="6523715" imgH="5282235" progId="Origin95.Graph">
                  <p:embed/>
                  <p:pic>
                    <p:nvPicPr>
                      <p:cNvPr id="0" name="Object 107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7634" y="4155113"/>
                        <a:ext cx="3124302" cy="2534081"/>
                      </a:xfrm>
                      <a:prstGeom prst="rect">
                        <a:avLst/>
                      </a:prstGeom>
                      <a:noFill/>
                    </p:spPr>
                  </p:pic>
                </p:oleObj>
              </mc:Fallback>
            </mc:AlternateContent>
          </a:graphicData>
        </a:graphic>
      </p:graphicFrame>
      <p:sp>
        <p:nvSpPr>
          <p:cNvPr id="11" name="Rectangle 1081">
            <a:extLst>
              <a:ext uri="{FF2B5EF4-FFF2-40B4-BE49-F238E27FC236}">
                <a16:creationId xmlns:a16="http://schemas.microsoft.com/office/drawing/2014/main" id="{15E54F06-932A-4A33-B649-B41A3CD162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2" name="对象 11">
            <a:extLst>
              <a:ext uri="{FF2B5EF4-FFF2-40B4-BE49-F238E27FC236}">
                <a16:creationId xmlns:a16="http://schemas.microsoft.com/office/drawing/2014/main" id="{E3BC5D3A-D614-4D0A-8774-A375B2028AA1}"/>
              </a:ext>
            </a:extLst>
          </p:cNvPr>
          <p:cNvGraphicFramePr>
            <a:graphicFrameLocks noChangeAspect="1"/>
          </p:cNvGraphicFramePr>
          <p:nvPr>
            <p:extLst>
              <p:ext uri="{D42A27DB-BD31-4B8C-83A1-F6EECF244321}">
                <p14:modId xmlns:p14="http://schemas.microsoft.com/office/powerpoint/2010/main" val="2143832944"/>
              </p:ext>
            </p:extLst>
          </p:nvPr>
        </p:nvGraphicFramePr>
        <p:xfrm>
          <a:off x="5249983" y="4148516"/>
          <a:ext cx="2980790" cy="2517261"/>
        </p:xfrm>
        <a:graphic>
          <a:graphicData uri="http://schemas.openxmlformats.org/presentationml/2006/ole">
            <mc:AlternateContent xmlns:mc="http://schemas.openxmlformats.org/markup-compatibility/2006">
              <mc:Choice xmlns:v="urn:schemas-microsoft-com:vml" Requires="v">
                <p:oleObj name="Graph" r:id="rId10" imgW="6246376" imgH="5282235" progId="Origin95.Graph">
                  <p:embed/>
                </p:oleObj>
              </mc:Choice>
              <mc:Fallback>
                <p:oleObj name="Graph" r:id="rId10" imgW="6246376" imgH="5282235" progId="Origin95.Graph">
                  <p:embed/>
                  <p:pic>
                    <p:nvPicPr>
                      <p:cNvPr id="0" name="Object 108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49983" y="4148516"/>
                        <a:ext cx="2980790" cy="2517261"/>
                      </a:xfrm>
                      <a:prstGeom prst="rect">
                        <a:avLst/>
                      </a:prstGeom>
                      <a:noFill/>
                    </p:spPr>
                  </p:pic>
                </p:oleObj>
              </mc:Fallback>
            </mc:AlternateContent>
          </a:graphicData>
        </a:graphic>
      </p:graphicFrame>
      <p:sp>
        <p:nvSpPr>
          <p:cNvPr id="2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考虑水膜形成的 CFD 分析</a:t>
            </a:r>
          </a:p>
        </p:txBody>
      </p:sp>
    </p:spTree>
    <p:extLst>
      <p:ext uri="{BB962C8B-B14F-4D97-AF65-F5344CB8AC3E}">
        <p14:creationId xmlns:p14="http://schemas.microsoft.com/office/powerpoint/2010/main" val="36717583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36</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rgbClr val="C00000"/>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rgbClr val="C00000"/>
                </a:solidFill>
                <a:latin typeface="Times New Roman" panose="02020603050405020304" pitchFamily="18" charset="0"/>
                <a:ea typeface="SimSun"/>
                <a:cs typeface="Times New Roman" panose="02020603050405020304" pitchFamily="18" charset="0"/>
              </a:rPr>
              <a:t>modeling</a:t>
            </a:r>
            <a:r>
              <a:rPr lang="en-HK" sz="1700" b="1" dirty="0">
                <a:solidFill>
                  <a:srgbClr val="C00000"/>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34091266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3E9078E4-C115-4A20-899E-6D426CD8A4DD}"/>
              </a:ext>
            </a:extLst>
          </p:cNvPr>
          <p:cNvSpPr/>
          <p:nvPr/>
        </p:nvSpPr>
        <p:spPr bwMode="auto">
          <a:xfrm>
            <a:off x="6439711" y="3887039"/>
            <a:ext cx="4581727" cy="2669403"/>
          </a:xfrm>
          <a:prstGeom prst="roundRect">
            <a:avLst/>
          </a:prstGeom>
          <a:solidFill>
            <a:srgbClr val="AF1E3B">
              <a:alpha val="23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pic>
        <p:nvPicPr>
          <p:cNvPr id="21" name="图片 20">
            <a:extLst>
              <a:ext uri="{FF2B5EF4-FFF2-40B4-BE49-F238E27FC236}">
                <a16:creationId xmlns:a16="http://schemas.microsoft.com/office/drawing/2014/main" id="{E1660BA4-447B-4242-9817-91C7A43F4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996" y="3805159"/>
            <a:ext cx="4973942" cy="252000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1868450" y="6370272"/>
            <a:ext cx="3246851"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Fig.5.1.1 </a:t>
            </a:r>
            <a:r>
              <a:rPr lang="en-HK" sz="1200" dirty="0">
                <a:solidFill>
                  <a:prstClr val="black"/>
                </a:solidFill>
                <a:latin typeface="Times New Roman" panose="02020603050405020304" pitchFamily="18" charset="0"/>
                <a:ea typeface="SimSun"/>
                <a:cs typeface="Times New Roman" panose="02020603050405020304" pitchFamily="18" charset="0"/>
              </a:rPr>
              <a:t>Schematic diagram of the IEC system </a:t>
            </a:r>
          </a:p>
        </p:txBody>
      </p:sp>
      <p:sp>
        <p:nvSpPr>
          <p:cNvPr id="11" name="文本框 10">
            <a:extLst>
              <a:ext uri="{FF2B5EF4-FFF2-40B4-BE49-F238E27FC236}">
                <a16:creationId xmlns:a16="http://schemas.microsoft.com/office/drawing/2014/main" id="{0200EE70-2D6D-6085-98C4-D9B1EFFC1613}"/>
              </a:ext>
            </a:extLst>
          </p:cNvPr>
          <p:cNvSpPr txBox="1"/>
          <p:nvPr/>
        </p:nvSpPr>
        <p:spPr>
          <a:xfrm>
            <a:off x="6735361" y="4070697"/>
            <a:ext cx="4099415" cy="2308324"/>
          </a:xfrm>
          <a:prstGeom prst="rect">
            <a:avLst/>
          </a:prstGeom>
          <a:noFill/>
          <a:ln w="19050">
            <a:noFill/>
          </a:ln>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350" dirty="0">
                <a:latin typeface="Times New Roman" panose="02020603050405020304" pitchFamily="18" charset="0"/>
                <a:ea typeface="SimSun" panose="02010600030101010101" pitchFamily="2" charset="-122"/>
                <a:cs typeface="Times New Roman"/>
              </a:rPr>
              <a:t>Conducted on a laboratory-scale prototype of the IEC system</a:t>
            </a:r>
            <a:br/>
            <a:r>
              <a:rPr sz="1107" lang="zh-CN">
                <a:solidFill>
                  <a:srgbClr val="24425A"/>
                </a:solidFill>
                <a:latin typeface="Times New Roman"/>
                <a:ea typeface="SimSun"/>
                <a:cs typeface="Times New Roman"/>
              </a:rPr>
              <a:t>采用实验室尺度的 IEC 原型开展研究。</a:t>
            </a:r>
          </a:p>
          <a:p>
            <a:pPr marL="285750" indent="-285750" algn="l">
              <a:buFont typeface="Arial" panose="020B0604020202020204" pitchFamily="34" charset="0"/>
              <a:buChar char="•"/>
              <a:lnSpc>
                <a:spcPct val="108000"/>
              </a:lnSpc>
              <a:spcAft>
                <a:spcPts val="300"/>
              </a:spcAft>
            </a:pPr>
            <a:r>
              <a:rPr lang="en-US" altLang="zh-CN" sz="1350" dirty="0">
                <a:latin typeface="Times New Roman" panose="02020603050405020304" pitchFamily="18" charset="0"/>
                <a:ea typeface="SimSun" panose="02010600030101010101" pitchFamily="2" charset="-122"/>
                <a:cs typeface="Times New Roman"/>
              </a:rPr>
              <a:t>Components</a:t>
            </a:r>
            <a:r>
              <a:rPr lang="en-HK" altLang="zh-CN" sz="1350" dirty="0">
                <a:latin typeface="Times New Roman" panose="02020603050405020304" pitchFamily="18" charset="0"/>
                <a:ea typeface="SimSun" panose="02010600030101010101" pitchFamily="2" charset="-122"/>
                <a:cs typeface="Times New Roman"/>
              </a:rPr>
              <a:t>: cross-flow heat exchanger, nozzles and water pump.</a:t>
            </a:r>
            <a:br/>
            <a:r>
              <a:rPr sz="1107" lang="zh-CN">
                <a:solidFill>
                  <a:srgbClr val="24425A"/>
                </a:solidFill>
                <a:latin typeface="Times New Roman"/>
                <a:ea typeface="SimSun"/>
                <a:cs typeface="Times New Roman"/>
              </a:rPr>
              <a:t>主要部件：叉流换热器、喷嘴和水泵。</a:t>
            </a:r>
          </a:p>
          <a:p>
            <a:pPr marL="285750" indent="-285750" algn="l">
              <a:buFont typeface="Arial" panose="020B0604020202020204" pitchFamily="34" charset="0"/>
              <a:buChar char="•"/>
              <a:lnSpc>
                <a:spcPct val="108000"/>
              </a:lnSpc>
              <a:spcAft>
                <a:spcPts val="300"/>
              </a:spcAft>
            </a:pPr>
            <a:r>
              <a:rPr lang="en-HK" altLang="zh-CN" sz="1350" dirty="0">
                <a:latin typeface="Times New Roman" panose="02020603050405020304" pitchFamily="18" charset="0"/>
                <a:ea typeface="SimSun" panose="02010600030101010101" pitchFamily="2" charset="-122"/>
                <a:cs typeface="Times New Roman"/>
              </a:rPr>
              <a:t>Keep the other basic parameters of the IEC constant, change the six main parameters, and record the effects.</a:t>
            </a:r>
            <a:br/>
            <a:r>
              <a:rPr sz="1107" lang="zh-CN">
                <a:solidFill>
                  <a:srgbClr val="24425A"/>
                </a:solidFill>
                <a:latin typeface="Times New Roman"/>
                <a:ea typeface="SimSun"/>
                <a:cs typeface="Times New Roman"/>
              </a:rPr>
              <a:t>保持其他基础参数不变，改变六项主要参数并记录性能变化。</a:t>
            </a: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49264" y="926129"/>
            <a:ext cx="11271236"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5.1 </a:t>
            </a:r>
            <a:r>
              <a:rPr lang="en-HK" altLang="en-US" sz="1500" b="1" kern="0" dirty="0">
                <a:latin typeface="Times New Roman" panose="02020603050405020304" pitchFamily="18" charset="0"/>
                <a:ea typeface="SimSun"/>
                <a:cs typeface="Times New Roman" panose="02020603050405020304" pitchFamily="18" charset="0"/>
              </a:rPr>
              <a:t>Concept and model set up</a:t>
            </a:r>
            <a:r>
              <a:rPr sz="1230" lang="zh-CN">
                <a:solidFill>
                  <a:srgbClr val="24425A"/>
                </a:solidFill>
                <a:latin typeface="Times New Roman"/>
                <a:ea typeface="SimSun"/>
                <a:cs typeface="Times New Roman"/>
              </a:rPr>
              <a:t>  研究思路与模型建立</a:t>
            </a:r>
          </a:p>
        </p:txBody>
      </p:sp>
      <p:pic>
        <p:nvPicPr>
          <p:cNvPr id="15" name="图片 14">
            <a:extLst>
              <a:ext uri="{FF2B5EF4-FFF2-40B4-BE49-F238E27FC236}">
                <a16:creationId xmlns:a16="http://schemas.microsoft.com/office/drawing/2014/main" id="{5B6DA965-682F-43E0-A254-DC03A6176842}"/>
              </a:ext>
            </a:extLst>
          </p:cNvPr>
          <p:cNvPicPr>
            <a:picLocks noChangeAspect="1"/>
          </p:cNvPicPr>
          <p:nvPr/>
        </p:nvPicPr>
        <p:blipFill>
          <a:blip r:embed="rId4"/>
          <a:stretch>
            <a:fillRect/>
          </a:stretch>
        </p:blipFill>
        <p:spPr>
          <a:xfrm>
            <a:off x="6624725" y="1432387"/>
            <a:ext cx="4164461" cy="2195350"/>
          </a:xfrm>
          <a:prstGeom prst="rect">
            <a:avLst/>
          </a:prstGeom>
        </p:spPr>
      </p:pic>
      <p:sp>
        <p:nvSpPr>
          <p:cNvPr id="18" name="矩形 17">
            <a:extLst>
              <a:ext uri="{FF2B5EF4-FFF2-40B4-BE49-F238E27FC236}">
                <a16:creationId xmlns:a16="http://schemas.microsoft.com/office/drawing/2014/main" id="{B0BE6500-96CF-4098-BD87-31F2B1858CCD}"/>
              </a:ext>
            </a:extLst>
          </p:cNvPr>
          <p:cNvSpPr/>
          <p:nvPr/>
        </p:nvSpPr>
        <p:spPr>
          <a:xfrm>
            <a:off x="5997123" y="1213461"/>
            <a:ext cx="4792063"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Table 5.1.1 </a:t>
            </a:r>
            <a:r>
              <a:rPr lang="en-HK" sz="1400" dirty="0">
                <a:solidFill>
                  <a:prstClr val="black"/>
                </a:solidFill>
                <a:latin typeface="Times New Roman" panose="02020603050405020304" pitchFamily="18" charset="0"/>
                <a:ea typeface="SimSun"/>
                <a:cs typeface="Times New Roman" panose="02020603050405020304" pitchFamily="18" charset="0"/>
              </a:rPr>
              <a:t>Solid nozzle selection</a:t>
            </a:r>
          </a:p>
        </p:txBody>
      </p:sp>
      <p:sp>
        <p:nvSpPr>
          <p:cNvPr id="19" name="文本框 18">
            <a:extLst>
              <a:ext uri="{FF2B5EF4-FFF2-40B4-BE49-F238E27FC236}">
                <a16:creationId xmlns:a16="http://schemas.microsoft.com/office/drawing/2014/main" id="{16033E44-65C4-4D46-968B-3B12EFFAD4FB}"/>
              </a:ext>
            </a:extLst>
          </p:cNvPr>
          <p:cNvSpPr txBox="1"/>
          <p:nvPr/>
        </p:nvSpPr>
        <p:spPr>
          <a:xfrm>
            <a:off x="1016731" y="1510254"/>
            <a:ext cx="4098570" cy="1828145"/>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The </a:t>
            </a:r>
            <a:r>
              <a:rPr lang="en-HK" altLang="zh-CN" sz="1700" b="1" dirty="0">
                <a:solidFill>
                  <a:srgbClr val="AF1E3B"/>
                </a:solidFill>
                <a:latin typeface="Times New Roman" panose="02020603050405020304" pitchFamily="18" charset="0"/>
                <a:ea typeface="SimSun" panose="02010600030101010101" pitchFamily="2" charset="-122"/>
                <a:cs typeface="Times New Roman"/>
              </a:rPr>
              <a:t>six</a:t>
            </a:r>
            <a:r>
              <a:rPr lang="en-HK" altLang="zh-CN" sz="1700" dirty="0">
                <a:latin typeface="Times New Roman" panose="02020603050405020304" pitchFamily="18" charset="0"/>
                <a:ea typeface="SimSun" panose="02010600030101010101" pitchFamily="2" charset="-122"/>
                <a:cs typeface="Times New Roman"/>
              </a:rPr>
              <a:t> </a:t>
            </a:r>
            <a:r>
              <a:rPr lang="en-HK" altLang="zh-CN" sz="1700" b="1" dirty="0">
                <a:solidFill>
                  <a:srgbClr val="AF1E3B"/>
                </a:solidFill>
                <a:latin typeface="Times New Roman" panose="02020603050405020304" pitchFamily="18" charset="0"/>
                <a:ea typeface="SimSun" panose="02010600030101010101" pitchFamily="2" charset="-122"/>
                <a:cs typeface="Times New Roman"/>
              </a:rPr>
              <a:t>parameters </a:t>
            </a:r>
            <a:r>
              <a:rPr lang="en-HK" altLang="zh-CN" sz="1700" dirty="0">
                <a:latin typeface="Times New Roman" panose="02020603050405020304" pitchFamily="18" charset="0"/>
                <a:ea typeface="SimSun" panose="02010600030101010101" pitchFamily="2" charset="-122"/>
                <a:cs typeface="Times New Roman"/>
              </a:rPr>
              <a:t>of the spray system that affect the performance of IEC can be identified in the table.</a:t>
            </a:r>
            <a:br/>
            <a:r>
              <a:rPr sz="1394" lang="zh-CN">
                <a:solidFill>
                  <a:srgbClr val="24425A"/>
                </a:solidFill>
                <a:latin typeface="Times New Roman"/>
                <a:ea typeface="SimSun"/>
                <a:cs typeface="Times New Roman"/>
              </a:rPr>
              <a:t>表中列出了影响 IEC 性能的六项喷淋参数。</a:t>
            </a:r>
          </a:p>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Evaluation indexes: </a:t>
            </a:r>
            <a:r>
              <a:rPr lang="en-HK" altLang="zh-CN" sz="1700" b="1" dirty="0">
                <a:solidFill>
                  <a:srgbClr val="AF1E3B"/>
                </a:solidFill>
                <a:latin typeface="Times New Roman" panose="02020603050405020304" pitchFamily="18" charset="0"/>
                <a:ea typeface="SimSun" panose="02010600030101010101" pitchFamily="2" charset="-122"/>
                <a:cs typeface="Times New Roman"/>
              </a:rPr>
              <a:t>wet-bulb efficiency</a:t>
            </a:r>
            <a:r>
              <a:rPr lang="en-HK" altLang="zh-CN" sz="1700" dirty="0">
                <a:latin typeface="Times New Roman" panose="02020603050405020304" pitchFamily="18" charset="0"/>
                <a:ea typeface="SimSun" panose="02010600030101010101" pitchFamily="2" charset="-122"/>
                <a:cs typeface="Times New Roman"/>
              </a:rPr>
              <a:t> and </a:t>
            </a:r>
            <a:r>
              <a:rPr lang="en-HK" altLang="zh-CN" sz="1700" b="1" dirty="0">
                <a:solidFill>
                  <a:srgbClr val="AF1E3B"/>
                </a:solidFill>
                <a:latin typeface="Times New Roman" panose="02020603050405020304" pitchFamily="18" charset="0"/>
                <a:ea typeface="SimSun" panose="02010600030101010101" pitchFamily="2" charset="-122"/>
                <a:cs typeface="Times New Roman"/>
              </a:rPr>
              <a:t>pressure drop</a:t>
            </a:r>
            <a:r>
              <a:rPr lang="en-HK" altLang="zh-CN" sz="1700" dirty="0">
                <a:latin typeface="Times New Roman" panose="02020603050405020304" pitchFamily="18" charset="0"/>
                <a:ea typeface="SimSun" panose="02010600030101010101" pitchFamily="2" charset="-122"/>
                <a:cs typeface="Times New Roman"/>
              </a:rPr>
              <a:t>.</a:t>
            </a:r>
            <a:br/>
            <a:r>
              <a:rPr sz="1394" lang="zh-CN">
                <a:solidFill>
                  <a:srgbClr val="24425A"/>
                </a:solidFill>
                <a:latin typeface="Times New Roman"/>
                <a:ea typeface="SimSun"/>
                <a:cs typeface="Times New Roman"/>
              </a:rPr>
              <a:t>评价指标：湿球效率与压降。</a:t>
            </a:r>
          </a:p>
        </p:txBody>
      </p:sp>
      <p:sp>
        <p:nvSpPr>
          <p:cNvPr id="22" name="文本框 21">
            <a:extLst>
              <a:ext uri="{FF2B5EF4-FFF2-40B4-BE49-F238E27FC236}">
                <a16:creationId xmlns:a16="http://schemas.microsoft.com/office/drawing/2014/main" id="{41A6500A-464D-4FD0-941B-13435C71BC36}"/>
              </a:ext>
            </a:extLst>
          </p:cNvPr>
          <p:cNvSpPr txBox="1"/>
          <p:nvPr/>
        </p:nvSpPr>
        <p:spPr>
          <a:xfrm>
            <a:off x="849996" y="1329178"/>
            <a:ext cx="3931836"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00" dirty="0">
                <a:latin typeface="Times New Roman" panose="02020603050405020304" pitchFamily="18" charset="0"/>
                <a:ea typeface="SimSun" panose="02010600030101010101" pitchFamily="2" charset="-122"/>
                <a:cs typeface="Times New Roman"/>
              </a:rPr>
              <a:t>Data preparation</a:t>
            </a:r>
            <a:r>
              <a:rPr sz="1230" lang="zh-CN">
                <a:solidFill>
                  <a:srgbClr val="24425A"/>
                </a:solidFill>
                <a:latin typeface="Times New Roman"/>
                <a:ea typeface="SimSun"/>
                <a:cs typeface="Times New Roman"/>
              </a:rPr>
              <a:t>  数据准备</a:t>
            </a:r>
          </a:p>
        </p:txBody>
      </p:sp>
      <p:sp>
        <p:nvSpPr>
          <p:cNvPr id="23" name="文本框 22">
            <a:extLst>
              <a:ext uri="{FF2B5EF4-FFF2-40B4-BE49-F238E27FC236}">
                <a16:creationId xmlns:a16="http://schemas.microsoft.com/office/drawing/2014/main" id="{FA861512-BAB0-468A-B0A7-A4D2B0FF270C}"/>
              </a:ext>
            </a:extLst>
          </p:cNvPr>
          <p:cNvSpPr txBox="1"/>
          <p:nvPr/>
        </p:nvSpPr>
        <p:spPr>
          <a:xfrm>
            <a:off x="849996" y="3548486"/>
            <a:ext cx="3931836" cy="551180"/>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00" dirty="0">
                <a:latin typeface="Times New Roman" panose="02020603050405020304" pitchFamily="18" charset="0"/>
                <a:ea typeface="SimSun" panose="02010600030101010101" pitchFamily="2" charset="-122"/>
                <a:cs typeface="Times New Roman"/>
              </a:rPr>
              <a:t>Collection of experimental data </a:t>
            </a:r>
            <a:r>
              <a:rPr sz="1230" lang="zh-CN">
                <a:solidFill>
                  <a:srgbClr val="24425A"/>
                </a:solidFill>
                <a:latin typeface="Times New Roman"/>
                <a:ea typeface="SimSun"/>
                <a:cs typeface="Times New Roman"/>
              </a:rPr>
              <a:t>  实验数据采集</a:t>
            </a:r>
          </a:p>
        </p:txBody>
      </p:sp>
      <p:sp>
        <p:nvSpPr>
          <p:cNvPr id="16" name="灯片编号占位符 15">
            <a:extLst>
              <a:ext uri="{FF2B5EF4-FFF2-40B4-BE49-F238E27FC236}">
                <a16:creationId xmlns:a16="http://schemas.microsoft.com/office/drawing/2014/main" id="{BF110477-1DEF-423A-8E83-83A6099C6B60}"/>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37</a:t>
            </a:fld>
            <a:endParaRPr lang="en-US" altLang="zh-CN">
              <a:latin typeface="Times New Roman"/>
              <a:ea typeface="SimSun"/>
              <a:cs typeface="Times New Roman"/>
            </a:endParaRPr>
          </a:p>
        </p:txBody>
      </p:sp>
      <p:sp>
        <p:nvSpPr>
          <p:cNvPr id="24" name="矩形 3">
            <a:extLst>
              <a:ext uri="{FF2B5EF4-FFF2-40B4-BE49-F238E27FC236}">
                <a16:creationId xmlns:a16="http://schemas.microsoft.com/office/drawing/2014/main" id="{1FD502EB-E9F3-43E9-893F-0C234A67D406}"/>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3" name="矩形 2">
            <a:extLst>
              <a:ext uri="{FF2B5EF4-FFF2-40B4-BE49-F238E27FC236}">
                <a16:creationId xmlns:a16="http://schemas.microsoft.com/office/drawing/2014/main" id="{F846385A-0B21-4973-BD64-990769005F24}"/>
              </a:ext>
            </a:extLst>
          </p:cNvPr>
          <p:cNvSpPr/>
          <p:nvPr/>
        </p:nvSpPr>
        <p:spPr>
          <a:xfrm>
            <a:off x="7410170" y="3473848"/>
            <a:ext cx="1165704" cy="375091"/>
          </a:xfrm>
          <a:prstGeom prst="rect">
            <a:avLst/>
          </a:prstGeom>
        </p:spPr>
        <p:txBody>
          <a:bodyPr wrap="square" tIns="0" bIns="0">
            <a:noAutofit/>
          </a:bodyPr>
          <a:lstStyle/>
          <a:p>
            <a:pPr algn="l">
              <a:lnSpc>
                <a:spcPct val="108000"/>
              </a:lnSpc>
              <a:spcAft>
                <a:spcPts val="300"/>
              </a:spcAft>
            </a:pPr>
            <a:r>
              <a:rPr lang="en-US" sz="950" dirty="0">
                <a:latin typeface="Times New Roman" panose="02020603050405020304" pitchFamily="18" charset="0"/>
                <a:ea typeface="SimSun"/>
                <a:cs typeface="Times New Roman" panose="02020603050405020304" pitchFamily="18" charset="0"/>
              </a:rPr>
              <a:t>(weight ratio)</a:t>
            </a:r>
            <a:r>
              <a:rPr sz="779" lang="zh-CN">
                <a:solidFill>
                  <a:srgbClr val="24425A"/>
                </a:solidFill>
                <a:latin typeface="Times New Roman"/>
                <a:ea typeface="SimSun"/>
                <a:cs typeface="Times New Roman"/>
              </a:rPr>
              <a:t>  （权重比）</a:t>
            </a:r>
          </a:p>
        </p:txBody>
      </p:sp>
      <p:sp>
        <p:nvSpPr>
          <p:cNvPr id="25"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93238009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6DD5FBB7-A269-4047-BA87-946C37C02DDF}"/>
              </a:ext>
            </a:extLst>
          </p:cNvPr>
          <p:cNvPicPr/>
          <p:nvPr/>
        </p:nvPicPr>
        <p:blipFill>
          <a:blip r:embed="rId3">
            <a:extLst>
              <a:ext uri="{28A0092B-C50C-407E-A947-70E740481C1C}">
                <a14:useLocalDpi xmlns:a14="http://schemas.microsoft.com/office/drawing/2010/main" val="0"/>
              </a:ext>
            </a:extLst>
          </a:blip>
          <a:stretch>
            <a:fillRect/>
          </a:stretch>
        </p:blipFill>
        <p:spPr>
          <a:xfrm>
            <a:off x="5299174" y="2816213"/>
            <a:ext cx="5513070" cy="377952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6851339" y="6571944"/>
            <a:ext cx="3246851"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Fig.5.2.1 </a:t>
            </a:r>
            <a:r>
              <a:rPr lang="en-HK" sz="1200" dirty="0">
                <a:solidFill>
                  <a:prstClr val="black"/>
                </a:solidFill>
                <a:latin typeface="Times New Roman" panose="02020603050405020304" pitchFamily="18" charset="0"/>
                <a:ea typeface="SimSun"/>
                <a:cs typeface="Times New Roman" panose="02020603050405020304" pitchFamily="18" charset="0"/>
              </a:rPr>
              <a:t>Structure of the IEC-ANN model</a:t>
            </a: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462609" y="944189"/>
            <a:ext cx="1115789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5.2 </a:t>
            </a:r>
            <a:r>
              <a:rPr lang="en-HK" altLang="en-US" sz="1500" b="1" kern="0" dirty="0">
                <a:latin typeface="Times New Roman" panose="02020603050405020304" pitchFamily="18" charset="0"/>
                <a:ea typeface="SimSun"/>
                <a:cs typeface="Times New Roman" panose="02020603050405020304" pitchFamily="18" charset="0"/>
              </a:rPr>
              <a:t>Design of model setting</a:t>
            </a:r>
            <a:r>
              <a:rPr sz="1230" lang="zh-CN">
                <a:solidFill>
                  <a:srgbClr val="24425A"/>
                </a:solidFill>
                <a:latin typeface="Times New Roman"/>
                <a:ea typeface="SimSun"/>
                <a:cs typeface="Times New Roman"/>
              </a:rPr>
              <a:t>  神经网络模型设计</a:t>
            </a:r>
          </a:p>
        </p:txBody>
      </p:sp>
      <p:sp>
        <p:nvSpPr>
          <p:cNvPr id="19" name="文本框 18">
            <a:extLst>
              <a:ext uri="{FF2B5EF4-FFF2-40B4-BE49-F238E27FC236}">
                <a16:creationId xmlns:a16="http://schemas.microsoft.com/office/drawing/2014/main" id="{16033E44-65C4-4D46-968B-3B12EFFAD4FB}"/>
              </a:ext>
            </a:extLst>
          </p:cNvPr>
          <p:cNvSpPr txBox="1"/>
          <p:nvPr/>
        </p:nvSpPr>
        <p:spPr>
          <a:xfrm>
            <a:off x="1319197" y="1323307"/>
            <a:ext cx="9015248" cy="1379225"/>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450" dirty="0">
                <a:latin typeface="Times New Roman" panose="02020603050405020304" pitchFamily="18" charset="0"/>
                <a:ea typeface="SimSun" panose="02010600030101010101" pitchFamily="2" charset="-122"/>
                <a:cs typeface="Times New Roman"/>
              </a:rPr>
              <a:t>A </a:t>
            </a:r>
            <a:r>
              <a:rPr lang="en-HK" altLang="zh-CN" sz="1450" b="1" dirty="0">
                <a:solidFill>
                  <a:srgbClr val="AF1E3B"/>
                </a:solidFill>
                <a:latin typeface="Times New Roman" panose="02020603050405020304" pitchFamily="18" charset="0"/>
                <a:ea typeface="SimSun" panose="02010600030101010101" pitchFamily="2" charset="-122"/>
                <a:cs typeface="Times New Roman"/>
              </a:rPr>
              <a:t>3-layer</a:t>
            </a:r>
            <a:r>
              <a:rPr lang="en-HK" altLang="zh-CN" sz="1450" dirty="0">
                <a:latin typeface="Times New Roman" panose="02020603050405020304" pitchFamily="18" charset="0"/>
                <a:ea typeface="SimSun" panose="02010600030101010101" pitchFamily="2" charset="-122"/>
                <a:cs typeface="Times New Roman"/>
              </a:rPr>
              <a:t> network with a hidden layer comprising </a:t>
            </a:r>
            <a:r>
              <a:rPr lang="en-HK" altLang="zh-CN" sz="1450" b="1" dirty="0">
                <a:solidFill>
                  <a:srgbClr val="AF1E3B"/>
                </a:solidFill>
                <a:latin typeface="Times New Roman" panose="02020603050405020304" pitchFamily="18" charset="0"/>
                <a:ea typeface="SimSun" panose="02010600030101010101" pitchFamily="2" charset="-122"/>
                <a:cs typeface="Times New Roman"/>
              </a:rPr>
              <a:t>14 neurons</a:t>
            </a:r>
            <a:r>
              <a:rPr lang="en-HK" altLang="zh-CN" sz="1450" dirty="0">
                <a:latin typeface="Times New Roman" panose="02020603050405020304" pitchFamily="18" charset="0"/>
                <a:ea typeface="SimSun" panose="02010600030101010101" pitchFamily="2" charset="-122"/>
                <a:cs typeface="Times New Roman"/>
              </a:rPr>
              <a:t>, can effectively capture the relationship between the input and output variables.</a:t>
            </a:r>
            <a:br/>
            <a:r>
              <a:rPr sz="1189" lang="zh-CN">
                <a:solidFill>
                  <a:srgbClr val="24425A"/>
                </a:solidFill>
                <a:latin typeface="Times New Roman"/>
                <a:ea typeface="SimSun"/>
                <a:cs typeface="Times New Roman"/>
              </a:rPr>
              <a:t>采用三层神经网络，隐含层包含 14 个神经元，用于建立输入与输出变量之间的映射关系。</a:t>
            </a:r>
          </a:p>
          <a:p>
            <a:pPr marL="285750" indent="-285750" algn="l">
              <a:buFont typeface="Arial" panose="020B0604020202020204" pitchFamily="34" charset="0"/>
              <a:buChar char="•"/>
              <a:lnSpc>
                <a:spcPct val="108000"/>
              </a:lnSpc>
              <a:spcAft>
                <a:spcPts val="300"/>
              </a:spcAft>
            </a:pPr>
            <a:r>
              <a:rPr lang="en-HK" altLang="zh-CN" sz="1450" dirty="0">
                <a:latin typeface="Times New Roman" panose="02020603050405020304" pitchFamily="18" charset="0"/>
                <a:ea typeface="SimSun" panose="02010600030101010101" pitchFamily="2" charset="-122"/>
                <a:cs typeface="Times New Roman"/>
              </a:rPr>
              <a:t>The dataset could be divided into three sections: the training dataset, validation dataset, and testing dataset, with portions of </a:t>
            </a:r>
            <a:r>
              <a:rPr lang="en-HK" altLang="zh-CN" sz="1450" b="1" dirty="0">
                <a:solidFill>
                  <a:srgbClr val="AF1E3B"/>
                </a:solidFill>
                <a:latin typeface="Times New Roman" panose="02020603050405020304" pitchFamily="18" charset="0"/>
                <a:ea typeface="SimSun" panose="02010600030101010101" pitchFamily="2" charset="-122"/>
                <a:cs typeface="Times New Roman"/>
              </a:rPr>
              <a:t>70%</a:t>
            </a:r>
            <a:r>
              <a:rPr lang="en-HK" altLang="zh-CN" sz="1450" dirty="0">
                <a:latin typeface="Times New Roman" panose="02020603050405020304" pitchFamily="18" charset="0"/>
                <a:ea typeface="SimSun" panose="02010600030101010101" pitchFamily="2" charset="-122"/>
                <a:cs typeface="Times New Roman"/>
              </a:rPr>
              <a:t>, </a:t>
            </a:r>
            <a:r>
              <a:rPr lang="en-HK" altLang="zh-CN" sz="1450" b="1" dirty="0">
                <a:solidFill>
                  <a:srgbClr val="AF1E3B"/>
                </a:solidFill>
                <a:latin typeface="Times New Roman" panose="02020603050405020304" pitchFamily="18" charset="0"/>
                <a:ea typeface="SimSun" panose="02010600030101010101" pitchFamily="2" charset="-122"/>
                <a:cs typeface="Times New Roman"/>
              </a:rPr>
              <a:t>15%</a:t>
            </a:r>
            <a:r>
              <a:rPr lang="en-HK" altLang="zh-CN" sz="1450" dirty="0">
                <a:latin typeface="Times New Roman" panose="02020603050405020304" pitchFamily="18" charset="0"/>
                <a:ea typeface="SimSun" panose="02010600030101010101" pitchFamily="2" charset="-122"/>
                <a:cs typeface="Times New Roman"/>
              </a:rPr>
              <a:t>, and </a:t>
            </a:r>
            <a:r>
              <a:rPr lang="en-HK" altLang="zh-CN" sz="1450" b="1" dirty="0">
                <a:solidFill>
                  <a:srgbClr val="AF1E3B"/>
                </a:solidFill>
                <a:latin typeface="Times New Roman" panose="02020603050405020304" pitchFamily="18" charset="0"/>
                <a:ea typeface="SimSun" panose="02010600030101010101" pitchFamily="2" charset="-122"/>
                <a:cs typeface="Times New Roman"/>
              </a:rPr>
              <a:t>15%</a:t>
            </a:r>
            <a:r>
              <a:rPr lang="en-HK" altLang="zh-CN" sz="1450" dirty="0">
                <a:latin typeface="Times New Roman" panose="02020603050405020304" pitchFamily="18" charset="0"/>
                <a:ea typeface="SimSun" panose="02010600030101010101" pitchFamily="2" charset="-122"/>
                <a:cs typeface="Times New Roman"/>
              </a:rPr>
              <a:t>, correspondingly</a:t>
            </a:r>
            <a:br/>
            <a:r>
              <a:rPr sz="1189" lang="zh-CN">
                <a:solidFill>
                  <a:srgbClr val="24425A"/>
                </a:solidFill>
                <a:latin typeface="Times New Roman"/>
                <a:ea typeface="SimSun"/>
                <a:cs typeface="Times New Roman"/>
              </a:rPr>
              <a:t>数据集按 70%、15%、15% 划分为训练集、验证集和测试集。</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30F4554-0DA0-4692-9CD6-EA99E55F8553}"/>
                  </a:ext>
                </a:extLst>
              </p:cNvPr>
              <p:cNvSpPr txBox="1"/>
              <p:nvPr/>
            </p:nvSpPr>
            <p:spPr>
              <a:xfrm>
                <a:off x="1379756" y="3120815"/>
                <a:ext cx="3439494" cy="3734036"/>
              </a:xfrm>
              <a:prstGeom prst="rect">
                <a:avLst/>
              </a:prstGeom>
              <a:noFill/>
            </p:spPr>
            <p:txBody>
              <a:bodyPr wrap="square">
                <a:spAutoFit/>
              </a:bodyPr>
              <a:lstStyle/>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Input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𝑋</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𝑖</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𝑛</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Hidden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1</m:t>
                          </m:r>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𝑛𝑗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𝑛</m:t>
                          </m:r>
                        </m:sub>
                      </m:sSub>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𝑓</m:t>
                      </m:r>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𝑎</m:t>
                              </m:r>
                            </m:e>
                            <m:sub>
                              <m:r>
                                <a:rPr lang="en-US" sz="1400" i="1">
                                  <a:latin typeface="Times New Roman" panose="02040503050406030204" pitchFamily="18" charset="0"/>
                                  <a:ea typeface="SimSun"/>
                                  <a:cs typeface="Times New Roman"/>
                                </a:rPr>
                                <m:t>𝑗</m:t>
                              </m:r>
                            </m:sub>
                          </m:sSub>
                        </m:e>
                      </m:d>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𝐻</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𝑖</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Hidden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1</m:t>
                          </m:r>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𝑙𝑘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𝑙</m:t>
                          </m:r>
                        </m:sub>
                      </m:sSub>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𝑔</m:t>
                      </m:r>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𝑏</m:t>
                              </m:r>
                            </m:e>
                            <m:sub>
                              <m:r>
                                <a:rPr lang="en-US" sz="1400" i="1">
                                  <a:latin typeface="Times New Roman" panose="02040503050406030204" pitchFamily="18" charset="0"/>
                                  <a:ea typeface="SimSun"/>
                                  <a:cs typeface="Times New Roman"/>
                                </a:rPr>
                                <m:t>𝑘</m:t>
                              </m:r>
                            </m:sub>
                          </m:sSub>
                        </m:e>
                      </m:d>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𝑂</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𝑚</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𝑌</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𝑚</m:t>
                                  </m:r>
                                </m:sub>
                              </m:sSub>
                            </m:e>
                          </m:d>
                        </m:e>
                        <m:sup>
                          <m:r>
                            <a:rPr lang="en-US" sz="1400" i="1">
                              <a:latin typeface="Times New Roman" panose="02040503050406030204" pitchFamily="18" charset="0"/>
                              <a:ea typeface="SimSun"/>
                              <a:cs typeface="Times New Roman"/>
                            </a:rPr>
                            <m:t>𝑇</m:t>
                          </m:r>
                        </m:sup>
                      </m:sSup>
                    </m:oMath>
                  </m:oMathPara>
                </a14:m>
                <a:endParaRPr lang="zh-CN" altLang="zh-CN" sz="1400" dirty="0">
                  <a:latin typeface="Times New Roman" panose="020F0502020204030204" pitchFamily="34" charset="0"/>
                  <a:ea typeface="SimSun" panose="02010600030101010101" pitchFamily="2" charset="-122"/>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530F4554-0DA0-4692-9CD6-EA99E55F8553}"/>
                  </a:ext>
                </a:extLst>
              </p:cNvPr>
              <p:cNvSpPr txBox="1">
                <a:spLocks noRot="1" noChangeAspect="1" noMove="1" noResize="1" noEditPoints="1" noAdjustHandles="1" noChangeArrowheads="1" noChangeShapeType="1" noTextEdit="1"/>
              </p:cNvSpPr>
              <p:nvPr/>
            </p:nvSpPr>
            <p:spPr>
              <a:xfrm>
                <a:off x="1379756" y="3120815"/>
                <a:ext cx="3439494" cy="3734036"/>
              </a:xfrm>
              <a:prstGeom prst="rect">
                <a:avLst/>
              </a:prstGeom>
              <a:blipFill>
                <a:blip r:embed="rId4"/>
                <a:stretch>
                  <a:fillRect l="-708" t="-490"/>
                </a:stretch>
              </a:blipFill>
            </p:spPr>
            <p:txBody>
              <a:bodyPr/>
              <a:lstStyle/>
              <a:p>
                <a:r>
                  <a:rPr lang="en-US">
                    <a:noFill/>
                    <a:latin typeface="Times New Roman"/>
                    <a:ea typeface="SimSun"/>
                    <a:cs typeface="Times New Roman"/>
                  </a:rPr>
                  <a:t> </a:t>
                </a:r>
              </a:p>
            </p:txBody>
          </p:sp>
        </mc:Fallback>
      </mc:AlternateContent>
      <p:sp>
        <p:nvSpPr>
          <p:cNvPr id="20" name="文本框 19">
            <a:extLst>
              <a:ext uri="{FF2B5EF4-FFF2-40B4-BE49-F238E27FC236}">
                <a16:creationId xmlns:a16="http://schemas.microsoft.com/office/drawing/2014/main" id="{A6C969F7-829A-4462-A0B1-23FBF8E3028F}"/>
              </a:ext>
            </a:extLst>
          </p:cNvPr>
          <p:cNvSpPr txBox="1"/>
          <p:nvPr/>
        </p:nvSpPr>
        <p:spPr>
          <a:xfrm>
            <a:off x="1040777" y="2775772"/>
            <a:ext cx="3931836"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00" dirty="0">
                <a:latin typeface="Times New Roman" panose="02020603050405020304" pitchFamily="18" charset="0"/>
                <a:ea typeface="SimSun" panose="02010600030101010101" pitchFamily="2" charset="-122"/>
                <a:cs typeface="Times New Roman"/>
              </a:rPr>
              <a:t>Equations describe the model </a:t>
            </a:r>
            <a:r>
              <a:rPr sz="1230" lang="zh-CN">
                <a:solidFill>
                  <a:srgbClr val="24425A"/>
                </a:solidFill>
                <a:latin typeface="Times New Roman"/>
                <a:ea typeface="SimSun"/>
                <a:cs typeface="Times New Roman"/>
              </a:rPr>
              <a:t>  模型描述方程</a:t>
            </a:r>
          </a:p>
        </p:txBody>
      </p:sp>
      <p:sp>
        <p:nvSpPr>
          <p:cNvPr id="3" name="灯片编号占位符 2">
            <a:extLst>
              <a:ext uri="{FF2B5EF4-FFF2-40B4-BE49-F238E27FC236}">
                <a16:creationId xmlns:a16="http://schemas.microsoft.com/office/drawing/2014/main" id="{EA9D3564-45AA-4278-A1FE-CFF2AB11C85D}"/>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38</a:t>
            </a:fld>
            <a:endParaRPr lang="en-US" altLang="zh-CN">
              <a:latin typeface="Times New Roman"/>
              <a:ea typeface="SimSun"/>
              <a:cs typeface="Times New Roman"/>
            </a:endParaRPr>
          </a:p>
        </p:txBody>
      </p:sp>
      <p:sp>
        <p:nvSpPr>
          <p:cNvPr id="24" name="矩形 3">
            <a:extLst>
              <a:ext uri="{FF2B5EF4-FFF2-40B4-BE49-F238E27FC236}">
                <a16:creationId xmlns:a16="http://schemas.microsoft.com/office/drawing/2014/main" id="{78B57106-E531-4E48-9846-5A2042A5BACD}"/>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5"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388358556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69801" y="923611"/>
            <a:ext cx="11250699"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5.3 </a:t>
            </a:r>
            <a:r>
              <a:rPr lang="en-HK" altLang="en-US" sz="1500" b="1" kern="0" dirty="0">
                <a:latin typeface="Times New Roman" panose="02020603050405020304" pitchFamily="18" charset="0"/>
                <a:ea typeface="SimSun"/>
                <a:cs typeface="Times New Roman" panose="02020603050405020304" pitchFamily="18" charset="0"/>
              </a:rPr>
              <a:t>Model validations</a:t>
            </a:r>
            <a:r>
              <a:rPr sz="1230" lang="zh-CN">
                <a:solidFill>
                  <a:srgbClr val="24425A"/>
                </a:solidFill>
                <a:latin typeface="Times New Roman"/>
                <a:ea typeface="SimSun"/>
                <a:cs typeface="Times New Roman"/>
              </a:rPr>
              <a:t>  模型验证</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6033E44-65C4-4D46-968B-3B12EFFAD4FB}"/>
                  </a:ext>
                </a:extLst>
              </p:cNvPr>
              <p:cNvSpPr txBox="1"/>
              <p:nvPr/>
            </p:nvSpPr>
            <p:spPr>
              <a:xfrm>
                <a:off x="1280730" y="1499542"/>
                <a:ext cx="5965471" cy="1426224"/>
              </a:xfrm>
              <a:prstGeom prst="rect">
                <a:avLst/>
              </a:prstGeom>
              <a:noFill/>
            </p:spPr>
            <p:txBody>
              <a:bodyPr wrap="square">
                <a:spAutoFit/>
              </a:bodyPr>
              <a:lstStyle/>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US" sz="1600" dirty="0">
                    <a:latin typeface="Times New Roman" panose="02020603050405020304" pitchFamily="18" charset="0"/>
                    <a:ea typeface="SimSun"/>
                    <a:cs typeface="Times New Roman" panose="02020603050405020304" pitchFamily="18" charset="0"/>
                  </a:rPr>
                  <a:t>Coefficient of determination (</a:t>
                </a:r>
                <a:r>
                  <a:rPr lang="en-US" sz="1600" i="1" dirty="0">
                    <a:latin typeface="Times New Roman" panose="02020603050405020304" pitchFamily="18" charset="0"/>
                    <a:ea typeface="SimSun"/>
                    <a:cs typeface="Times New Roman" panose="02020603050405020304" pitchFamily="18" charset="0"/>
                  </a:rPr>
                  <a:t>r</a:t>
                </a:r>
                <a:r>
                  <a:rPr lang="en-US" sz="1600" i="1" baseline="30000" dirty="0">
                    <a:latin typeface="Times New Roman" panose="02020603050405020304" pitchFamily="18" charset="0"/>
                    <a:ea typeface="SimSun"/>
                    <a:cs typeface="Times New Roman" panose="02020603050405020304" pitchFamily="18" charset="0"/>
                  </a:rPr>
                  <a:t>2</a:t>
                </a:r>
                <a:r>
                  <a:rPr lang="en-US" sz="1600" dirty="0">
                    <a:latin typeface="Times New Roman" panose="02020603050405020304" pitchFamily="18" charset="0"/>
                    <a:ea typeface="SimSun"/>
                    <a:cs typeface="Times New Roman" panose="02020603050405020304" pitchFamily="18" charset="0"/>
                  </a:rPr>
                  <a:t>)</a:t>
                </a:r>
              </a:p>
              <a:p>
                <a:pPr/>
                <a14:m>
                  <m:oMathPara xmlns:m="http://schemas.openxmlformats.org/officeDocument/2006/math">
                    <m:oMathParaPr>
                      <m:jc m:val="left"/>
                    </m:oMathParaPr>
                    <m:oMath>
                      <m:sSup>
                        <m:sSupPr>
                          <m:ctrlPr>
                            <a:rPr lang="en-US" sz="1400" i="1">
                              <a:latin typeface="Times New Roman" panose="02040503050406030204" pitchFamily="18" charset="0"/>
                              <a:ea typeface="SimSun"/>
                              <a:cs typeface="Times New Roman"/>
                            </a:rPr>
                          </m:ctrlPr>
                        </m:sSupPr>
                        <m:e>
                          <m:r>
                            <a:rPr lang="en-US" sz="1400" i="1">
                              <a:latin typeface="Times New Roman" panose="02040503050406030204" pitchFamily="18" charset="0"/>
                              <a:ea typeface="SimSun"/>
                              <a:cs typeface="Times New Roman"/>
                            </a:rPr>
                            <m:t>𝑟</m:t>
                          </m:r>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f>
                        <m:fPr>
                          <m:ctrlPr>
                            <a:rPr lang="en-HK" sz="1400" i="1">
                              <a:latin typeface="Times New Roman" panose="02040503050406030204" pitchFamily="18" charset="0"/>
                              <a:ea typeface="SimSun"/>
                              <a:cs typeface="Times New Roman"/>
                            </a:rPr>
                          </m:ctrlPr>
                        </m:fPr>
                        <m:num>
                          <m:sSup>
                            <m:sSupPr>
                              <m:ctrlPr>
                                <a:rPr lang="en-HK" sz="1400" i="1">
                                  <a:latin typeface="Times New Roman" panose="02040503050406030204" pitchFamily="18" charset="0"/>
                                  <a:ea typeface="SimSun"/>
                                  <a:cs typeface="Times New Roman"/>
                                </a:rPr>
                              </m:ctrlPr>
                            </m:sSupPr>
                            <m:e>
                              <m:d>
                                <m:dPr>
                                  <m:begChr m:val="["/>
                                  <m:endChr m:val="]"/>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r>
                                    <a:rPr lang="en-US" sz="1400" i="1">
                                      <a:latin typeface="Times New Roman" panose="02040503050406030204" pitchFamily="18" charset="0"/>
                                      <a:ea typeface="SimSun"/>
                                      <a:cs typeface="Times New Roman"/>
                                    </a:rPr>
                                    <m:t>−</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sup>
                              <m:r>
                                <a:rPr lang="en-US" sz="1400" i="1">
                                  <a:latin typeface="Times New Roman" panose="02040503050406030204" pitchFamily="18" charset="0"/>
                                  <a:ea typeface="SimSun"/>
                                  <a:cs typeface="Times New Roman"/>
                                </a:rPr>
                                <m:t>2</m:t>
                              </m:r>
                            </m:sup>
                          </m:sSup>
                        </m:num>
                        <m:den>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𝑛</m:t>
                          </m:r>
                          <m:sSup>
                            <m:sSupPr>
                              <m:ctrlPr>
                                <a:rPr lang="en-HK" sz="1400" i="1">
                                  <a:latin typeface="Times New Roman" panose="02040503050406030204" pitchFamily="18" charset="0"/>
                                  <a:ea typeface="SimSun"/>
                                  <a:cs typeface="Times New Roman"/>
                                </a:rPr>
                              </m:ctrlPr>
                            </m:sSupPr>
                            <m:e>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sSup>
                                    <m:sSupPr>
                                      <m:ctrlPr>
                                        <a:rPr lang="en-HK" sz="1400" i="1">
                                          <a:latin typeface="Times New Roman" panose="02040503050406030204" pitchFamily="18" charset="0"/>
                                          <a:ea typeface="SimSun"/>
                                          <a:cs typeface="Times New Roman"/>
                                        </a:rPr>
                                      </m:ctrlPr>
                                    </m:sSupPr>
                                    <m:e>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sup>
                                      <m:r>
                                        <a:rPr lang="en-US" sz="1400" i="1">
                                          <a:latin typeface="Times New Roman" panose="02040503050406030204" pitchFamily="18" charset="0"/>
                                          <a:ea typeface="SimSun"/>
                                          <a:cs typeface="Times New Roman"/>
                                        </a:rPr>
                                        <m:t>2</m:t>
                                      </m:r>
                                    </m:sup>
                                  </m:sSup>
                                  <m:d>
                                    <m:dPr>
                                      <m:begChr m:val="["/>
                                      <m:endChr m:val="]"/>
                                      <m:ctrlPr>
                                        <a:rPr lang="en-HK" sz="1400" i="1">
                                          <a:latin typeface="Times New Roman" panose="02040503050406030204" pitchFamily="18" charset="0"/>
                                          <a:ea typeface="SimSun"/>
                                          <a:cs typeface="Times New Roman"/>
                                        </a:rPr>
                                      </m:ctrlPr>
                                    </m:dPr>
                                    <m:e>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nary>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begChr m:val="["/>
                                  <m:endChr m:val="]"/>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sSup>
                                        <m:sSupPr>
                                          <m:ctrlPr>
                                            <a:rPr lang="en-HK" sz="1400" i="1">
                                              <a:latin typeface="Times New Roman" panose="02040503050406030204" pitchFamily="18" charset="0"/>
                                              <a:ea typeface="SimSun"/>
                                              <a:cs typeface="Times New Roman"/>
                                            </a:rPr>
                                          </m:ctrlPr>
                                        </m:sSupPr>
                                        <m:e>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e>
                                  </m:nary>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den>
                      </m:f>
                    </m:oMath>
                  </m:oMathPara>
                </a14:m>
                <a:endParaRPr lang="en-HK" altLang="zh-CN" sz="14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19" name="文本框 18">
                <a:extLst>
                  <a:ext uri="{FF2B5EF4-FFF2-40B4-BE49-F238E27FC236}">
                    <a16:creationId xmlns:a16="http://schemas.microsoft.com/office/drawing/2014/main" id="{16033E44-65C4-4D46-968B-3B12EFFAD4FB}"/>
                  </a:ext>
                </a:extLst>
              </p:cNvPr>
              <p:cNvSpPr txBox="1">
                <a:spLocks noRot="1" noChangeAspect="1" noMove="1" noResize="1" noEditPoints="1" noAdjustHandles="1" noChangeArrowheads="1" noChangeShapeType="1" noTextEdit="1"/>
              </p:cNvSpPr>
              <p:nvPr/>
            </p:nvSpPr>
            <p:spPr>
              <a:xfrm>
                <a:off x="1280730" y="1499542"/>
                <a:ext cx="5965471" cy="1426224"/>
              </a:xfrm>
              <a:prstGeom prst="rect">
                <a:avLst/>
              </a:prstGeom>
              <a:blipFill>
                <a:blip r:embed="rId3"/>
                <a:stretch>
                  <a:fillRect l="-409"/>
                </a:stretch>
              </a:blipFill>
            </p:spPr>
            <p:txBody>
              <a:bodyPr/>
              <a:lstStyle/>
              <a:p>
                <a:r>
                  <a:rPr lang="en-US">
                    <a:noFill/>
                    <a:latin typeface="Times New Roman"/>
                    <a:ea typeface="SimSun"/>
                    <a:cs typeface="Times New Roman"/>
                  </a:rPr>
                  <a:t> </a:t>
                </a:r>
              </a:p>
            </p:txBody>
          </p:sp>
        </mc:Fallback>
      </mc:AlternateContent>
      <p:sp>
        <p:nvSpPr>
          <p:cNvPr id="22" name="文本框 21">
            <a:extLst>
              <a:ext uri="{FF2B5EF4-FFF2-40B4-BE49-F238E27FC236}">
                <a16:creationId xmlns:a16="http://schemas.microsoft.com/office/drawing/2014/main" id="{41A6500A-464D-4FD0-941B-13435C71BC36}"/>
              </a:ext>
            </a:extLst>
          </p:cNvPr>
          <p:cNvSpPr txBox="1"/>
          <p:nvPr/>
        </p:nvSpPr>
        <p:spPr>
          <a:xfrm>
            <a:off x="1087738" y="1334252"/>
            <a:ext cx="3931836" cy="551180"/>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00" dirty="0">
                <a:latin typeface="Times New Roman" panose="02020603050405020304" pitchFamily="18" charset="0"/>
                <a:ea typeface="SimSun" panose="02010600030101010101" pitchFamily="2" charset="-122"/>
                <a:cs typeface="Times New Roman"/>
              </a:rPr>
              <a:t>Evaluation metrics of neural network</a:t>
            </a:r>
            <a:r>
              <a:rPr sz="1230" lang="zh-CN">
                <a:solidFill>
                  <a:srgbClr val="24425A"/>
                </a:solidFill>
                <a:latin typeface="Times New Roman"/>
                <a:ea typeface="SimSun"/>
                <a:cs typeface="Times New Roman"/>
              </a:rPr>
              <a:t>  神经网络评价指标</a:t>
            </a:r>
          </a:p>
        </p:txBody>
      </p:sp>
      <p:sp>
        <p:nvSpPr>
          <p:cNvPr id="23" name="文本框 22">
            <a:extLst>
              <a:ext uri="{FF2B5EF4-FFF2-40B4-BE49-F238E27FC236}">
                <a16:creationId xmlns:a16="http://schemas.microsoft.com/office/drawing/2014/main" id="{FA861512-BAB0-468A-B0A7-A4D2B0FF270C}"/>
              </a:ext>
            </a:extLst>
          </p:cNvPr>
          <p:cNvSpPr txBox="1"/>
          <p:nvPr/>
        </p:nvSpPr>
        <p:spPr>
          <a:xfrm>
            <a:off x="1084796" y="2748362"/>
            <a:ext cx="2081212" cy="551180"/>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00" dirty="0">
                <a:latin typeface="Times New Roman" panose="02020603050405020304" pitchFamily="18" charset="0"/>
                <a:ea typeface="SimSun" panose="02010600030101010101" pitchFamily="2" charset="-122"/>
                <a:cs typeface="Times New Roman"/>
              </a:rPr>
              <a:t>Validation results</a:t>
            </a:r>
            <a:r>
              <a:rPr sz="1230" lang="zh-CN">
                <a:solidFill>
                  <a:srgbClr val="24425A"/>
                </a:solidFill>
                <a:latin typeface="Times New Roman"/>
                <a:ea typeface="SimSun"/>
                <a:cs typeface="Times New Roman"/>
              </a:rPr>
              <a:t>  验证结果</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3E09337-770C-4F81-814A-1BC14FDF9430}"/>
                  </a:ext>
                </a:extLst>
              </p:cNvPr>
              <p:cNvSpPr txBox="1"/>
              <p:nvPr/>
            </p:nvSpPr>
            <p:spPr>
              <a:xfrm>
                <a:off x="6912792" y="1497232"/>
                <a:ext cx="3194230" cy="1467518"/>
              </a:xfrm>
              <a:prstGeom prst="rect">
                <a:avLst/>
              </a:prstGeom>
              <a:noFill/>
            </p:spPr>
            <p:txBody>
              <a:bodyPr wrap="square">
                <a:spAutoFit/>
              </a:bodyPr>
              <a:lstStyle/>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sz="1600" dirty="0">
                    <a:latin typeface="Times New Roman" panose="02020603050405020304" pitchFamily="18" charset="0"/>
                    <a:ea typeface="SimSun"/>
                    <a:cs typeface="Times New Roman" panose="02020603050405020304" pitchFamily="18" charset="0"/>
                  </a:rPr>
                  <a:t>Root mean square error (RMSE)</a:t>
                </a:r>
                <a:endParaRPr lang="en-US" sz="1600" dirty="0">
                  <a:latin typeface="Times New Roman" panose="02020603050405020304" pitchFamily="18" charset="0"/>
                  <a:ea typeface="SimSun"/>
                  <a:cs typeface="Times New Roman" panose="02020603050405020304" pitchFamily="18" charset="0"/>
                </a:endParaRPr>
              </a:p>
              <a:p>
                <a:pPr/>
                <a14:m>
                  <m:oMathPara xmlns:m="http://schemas.openxmlformats.org/officeDocument/2006/math">
                    <m:oMathParaPr>
                      <m:jc m:val="left"/>
                    </m:oMathParaPr>
                    <m:oMath>
                      <m:r>
                        <a:rPr lang="en-US" sz="1400" i="1">
                          <a:latin typeface="Times New Roman" panose="02040503050406030204" pitchFamily="18" charset="0"/>
                          <a:ea typeface="SimSun"/>
                          <a:cs typeface="Times New Roman"/>
                        </a:rPr>
                        <m:t>𝑅𝑀𝑆𝐸</m:t>
                      </m:r>
                      <m:r>
                        <a:rPr lang="en-US" sz="1400" i="1">
                          <a:latin typeface="Times New Roman" panose="02040503050406030204" pitchFamily="18" charset="0"/>
                          <a:ea typeface="SimSun"/>
                          <a:cs typeface="Times New Roman"/>
                        </a:rPr>
                        <m:t>=</m:t>
                      </m:r>
                      <m:rad>
                        <m:radPr>
                          <m:degHide m:val="on"/>
                          <m:ctrlPr>
                            <a:rPr lang="en-HK" sz="1400" i="1">
                              <a:latin typeface="Times New Roman" panose="02040503050406030204" pitchFamily="18" charset="0"/>
                              <a:ea typeface="SimSun"/>
                              <a:cs typeface="Times New Roman"/>
                            </a:rPr>
                          </m:ctrlPr>
                        </m:radPr>
                        <m:deg/>
                        <m:e>
                          <m:f>
                            <m:fPr>
                              <m:ctrlPr>
                                <a:rPr lang="en-HK" sz="1400" i="1">
                                  <a:latin typeface="Times New Roman" panose="02040503050406030204" pitchFamily="18" charset="0"/>
                                  <a:ea typeface="SimSun"/>
                                  <a:cs typeface="Times New Roman"/>
                                </a:rPr>
                              </m:ctrlPr>
                            </m:fPr>
                            <m:num>
                              <m:f>
                                <m:fPr>
                                  <m:ctrlPr>
                                    <a:rPr lang="en-US" sz="1400" i="1">
                                      <a:latin typeface="Times New Roman" panose="02040503050406030204" pitchFamily="18" charset="0"/>
                                      <a:ea typeface="SimSun"/>
                                      <a:cs typeface="Times New Roman"/>
                                    </a:rPr>
                                  </m:ctrlPr>
                                </m:fPr>
                                <m:num>
                                  <m:r>
                                    <a:rPr lang="en-US" sz="1400" i="1">
                                      <a:latin typeface="Times New Roman" panose="02040503050406030204" pitchFamily="18" charset="0"/>
                                      <a:ea typeface="SimSun"/>
                                      <a:cs typeface="Times New Roman"/>
                                    </a:rPr>
                                    <m:t>𝑛</m:t>
                                  </m:r>
                                </m:num>
                                <m:den>
                                  <m:r>
                                    <a:rPr lang="en-US" sz="1400" i="1">
                                      <a:latin typeface="Times New Roman" panose="02040503050406030204" pitchFamily="18" charset="0"/>
                                      <a:ea typeface="SimSun"/>
                                      <a:cs typeface="Times New Roman"/>
                                    </a:rPr>
                                    <m:t>𝑖</m:t>
                                  </m:r>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𝑘</m:t>
                                  </m:r>
                                </m:den>
                              </m:f>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d>
                                </m:e>
                                <m:sup>
                                  <m:r>
                                    <a:rPr lang="en-US" sz="1400" i="1">
                                      <a:latin typeface="Times New Roman" panose="02040503050406030204" pitchFamily="18" charset="0"/>
                                      <a:ea typeface="SimSun"/>
                                      <a:cs typeface="Times New Roman"/>
                                    </a:rPr>
                                    <m:t>2</m:t>
                                  </m:r>
                                </m:sup>
                              </m:sSup>
                            </m:num>
                            <m:den>
                              <m:r>
                                <a:rPr lang="en-US" sz="1400" i="1">
                                  <a:latin typeface="Times New Roman" panose="02040503050406030204" pitchFamily="18" charset="0"/>
                                  <a:ea typeface="SimSun"/>
                                  <a:cs typeface="Times New Roman"/>
                                </a:rPr>
                                <m:t>𝑛</m:t>
                              </m:r>
                            </m:den>
                          </m:f>
                        </m:e>
                      </m:rad>
                    </m:oMath>
                  </m:oMathPara>
                </a14:m>
                <a:endParaRPr lang="en-HK" altLang="zh-CN" sz="14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14" name="文本框 13">
                <a:extLst>
                  <a:ext uri="{FF2B5EF4-FFF2-40B4-BE49-F238E27FC236}">
                    <a16:creationId xmlns:a16="http://schemas.microsoft.com/office/drawing/2014/main" id="{A3E09337-770C-4F81-814A-1BC14FDF9430}"/>
                  </a:ext>
                </a:extLst>
              </p:cNvPr>
              <p:cNvSpPr txBox="1">
                <a:spLocks noRot="1" noChangeAspect="1" noMove="1" noResize="1" noEditPoints="1" noAdjustHandles="1" noChangeArrowheads="1" noChangeShapeType="1" noTextEdit="1"/>
              </p:cNvSpPr>
              <p:nvPr/>
            </p:nvSpPr>
            <p:spPr>
              <a:xfrm>
                <a:off x="6912792" y="1497232"/>
                <a:ext cx="3194230" cy="1467518"/>
              </a:xfrm>
              <a:prstGeom prst="rect">
                <a:avLst/>
              </a:prstGeom>
              <a:blipFill>
                <a:blip r:embed="rId4"/>
                <a:stretch>
                  <a:fillRect l="-763"/>
                </a:stretch>
              </a:blipFill>
            </p:spPr>
            <p:txBody>
              <a:bodyPr/>
              <a:lstStyle/>
              <a:p>
                <a:r>
                  <a:rPr lang="en-US">
                    <a:noFill/>
                    <a:latin typeface="Times New Roman"/>
                    <a:ea typeface="SimSun"/>
                    <a:cs typeface="Times New Roman"/>
                  </a:rPr>
                  <a:t> </a:t>
                </a:r>
              </a:p>
            </p:txBody>
          </p:sp>
        </mc:Fallback>
      </mc:AlternateContent>
      <p:pic>
        <p:nvPicPr>
          <p:cNvPr id="16" name="图片 15">
            <a:extLst>
              <a:ext uri="{FF2B5EF4-FFF2-40B4-BE49-F238E27FC236}">
                <a16:creationId xmlns:a16="http://schemas.microsoft.com/office/drawing/2014/main" id="{D76045D2-33B3-4FFE-AEFE-93DA0A36FDCE}"/>
              </a:ext>
            </a:extLst>
          </p:cNvPr>
          <p:cNvPicPr>
            <a:picLocks noChangeAspect="1"/>
          </p:cNvPicPr>
          <p:nvPr/>
        </p:nvPicPr>
        <p:blipFill rotWithShape="1">
          <a:blip r:embed="rId5"/>
          <a:srcRect r="51647"/>
          <a:stretch/>
        </p:blipFill>
        <p:spPr>
          <a:xfrm>
            <a:off x="1712967" y="3511592"/>
            <a:ext cx="3622514" cy="2880000"/>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35A6205-58C3-4CCF-8CD9-85301F663455}"/>
                  </a:ext>
                </a:extLst>
              </p:cNvPr>
              <p:cNvSpPr txBox="1"/>
              <p:nvPr/>
            </p:nvSpPr>
            <p:spPr>
              <a:xfrm>
                <a:off x="1349740" y="3136913"/>
                <a:ext cx="2602596" cy="338554"/>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Validation results for </a:t>
                </a:r>
                <a14:m>
                  <m:oMath xmlns:m="http://schemas.openxmlformats.org/officeDocument/2006/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𝜀</m:t>
                        </m:r>
                      </m:e>
                      <m:sub>
                        <m:r>
                          <a:rPr lang="en-US" sz="1400" i="1">
                            <a:latin typeface="Times New Roman" panose="02040503050406030204" pitchFamily="18" charset="0"/>
                            <a:ea typeface="SimSun"/>
                            <a:cs typeface="Times New Roman"/>
                          </a:rPr>
                          <m:t>𝑤𝑏</m:t>
                        </m:r>
                      </m:sub>
                    </m:sSub>
                  </m:oMath>
                </a14:m>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t>
                </a:r>
                <a:endParaRPr lang="en-HK" altLang="zh-CN" sz="1400" dirty="0">
                  <a:latin typeface="Times New Roman" panose="02020603050405020304" pitchFamily="18" charset="0"/>
                  <a:ea typeface="SimSun" panose="02010600030101010101" pitchFamily="2" charset="-122"/>
                  <a:cs typeface="Times New Roman"/>
                </a:endParaRPr>
              </a:p>
            </p:txBody>
          </p:sp>
        </mc:Choice>
        <mc:Fallback xmlns="">
          <p:sp>
            <p:nvSpPr>
              <p:cNvPr id="20" name="文本框 19">
                <a:extLst>
                  <a:ext uri="{FF2B5EF4-FFF2-40B4-BE49-F238E27FC236}">
                    <a16:creationId xmlns:a16="http://schemas.microsoft.com/office/drawing/2014/main" id="{E35A6205-58C3-4CCF-8CD9-85301F663455}"/>
                  </a:ext>
                </a:extLst>
              </p:cNvPr>
              <p:cNvSpPr txBox="1">
                <a:spLocks noRot="1" noChangeAspect="1" noMove="1" noResize="1" noEditPoints="1" noAdjustHandles="1" noChangeArrowheads="1" noChangeShapeType="1" noTextEdit="1"/>
              </p:cNvSpPr>
              <p:nvPr/>
            </p:nvSpPr>
            <p:spPr>
              <a:xfrm>
                <a:off x="1349740" y="3136913"/>
                <a:ext cx="2602596" cy="338554"/>
              </a:xfrm>
              <a:prstGeom prst="rect">
                <a:avLst/>
              </a:prstGeom>
              <a:blipFill>
                <a:blip r:embed="rId6"/>
                <a:stretch>
                  <a:fillRect l="-937" t="-5455" b="-2363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39</a:t>
            </a:fld>
            <a:endParaRPr lang="en-US" altLang="zh-CN">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487ACB5-A7B5-403E-9789-1804E92592F8}"/>
                  </a:ext>
                </a:extLst>
              </p:cNvPr>
              <p:cNvSpPr txBox="1"/>
              <p:nvPr/>
            </p:nvSpPr>
            <p:spPr>
              <a:xfrm>
                <a:off x="6258917" y="3130040"/>
                <a:ext cx="2602596" cy="338554"/>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Validation results for </a:t>
                </a:r>
                <a14:m>
                  <m:oMath xmlns:m="http://schemas.openxmlformats.org/officeDocument/2006/math">
                    <m:r>
                      <a:rPr lang="en-HK" sz="1400" i="1" smtClean="0">
                        <a:latin typeface="Times New Roman" panose="02040503050406030204" pitchFamily="18" charset="0"/>
                        <a:ea typeface="SimSun" panose="02040503050406030204" pitchFamily="18" charset="0"/>
                        <a:cs typeface="Times New Roman"/>
                      </a:rPr>
                      <m:t>∆</m:t>
                    </m:r>
                    <m:r>
                      <a:rPr lang="en-HK" sz="1400" b="0" i="1" smtClean="0">
                        <a:latin typeface="Times New Roman" panose="02040503050406030204" pitchFamily="18" charset="0"/>
                        <a:ea typeface="SimSun" panose="02040503050406030204" pitchFamily="18" charset="0"/>
                        <a:cs typeface="Times New Roman"/>
                      </a:rPr>
                      <m:t>𝑃</m:t>
                    </m:r>
                  </m:oMath>
                </a14:m>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t>
                </a:r>
                <a:endParaRPr lang="en-HK" altLang="zh-CN" sz="1400" dirty="0">
                  <a:latin typeface="Times New Roman" panose="02020603050405020304" pitchFamily="18" charset="0"/>
                  <a:ea typeface="SimSun" panose="02010600030101010101" pitchFamily="2" charset="-122"/>
                  <a:cs typeface="Times New Roman"/>
                </a:endParaRPr>
              </a:p>
            </p:txBody>
          </p:sp>
        </mc:Choice>
        <mc:Fallback xmlns="">
          <p:sp>
            <p:nvSpPr>
              <p:cNvPr id="24" name="文本框 23">
                <a:extLst>
                  <a:ext uri="{FF2B5EF4-FFF2-40B4-BE49-F238E27FC236}">
                    <a16:creationId xmlns:a16="http://schemas.microsoft.com/office/drawing/2014/main" id="{D487ACB5-A7B5-403E-9789-1804E92592F8}"/>
                  </a:ext>
                </a:extLst>
              </p:cNvPr>
              <p:cNvSpPr txBox="1">
                <a:spLocks noRot="1" noChangeAspect="1" noMove="1" noResize="1" noEditPoints="1" noAdjustHandles="1" noChangeArrowheads="1" noChangeShapeType="1" noTextEdit="1"/>
              </p:cNvSpPr>
              <p:nvPr/>
            </p:nvSpPr>
            <p:spPr>
              <a:xfrm>
                <a:off x="6258917" y="3130040"/>
                <a:ext cx="2602596" cy="338554"/>
              </a:xfrm>
              <a:prstGeom prst="rect">
                <a:avLst/>
              </a:prstGeom>
              <a:blipFill>
                <a:blip r:embed="rId7"/>
                <a:stretch>
                  <a:fillRect l="-937" t="-5357" b="-21429"/>
                </a:stretch>
              </a:blipFill>
            </p:spPr>
            <p:txBody>
              <a:bodyPr/>
              <a:lstStyle/>
              <a:p>
                <a:r>
                  <a:rPr lang="en-US">
                    <a:noFill/>
                    <a:latin typeface="Times New Roman"/>
                    <a:ea typeface="SimSun"/>
                    <a:cs typeface="Times New Roman"/>
                  </a:rPr>
                  <a:t> </a:t>
                </a:r>
              </a:p>
            </p:txBody>
          </p:sp>
        </mc:Fallback>
      </mc:AlternateContent>
      <p:sp>
        <p:nvSpPr>
          <p:cNvPr id="25" name="矩形 24">
            <a:extLst>
              <a:ext uri="{FF2B5EF4-FFF2-40B4-BE49-F238E27FC236}">
                <a16:creationId xmlns:a16="http://schemas.microsoft.com/office/drawing/2014/main" id="{0CC38A83-65F3-4D8A-8550-520315C097C1}"/>
              </a:ext>
            </a:extLst>
          </p:cNvPr>
          <p:cNvSpPr/>
          <p:nvPr/>
        </p:nvSpPr>
        <p:spPr>
          <a:xfrm>
            <a:off x="4495800" y="6436925"/>
            <a:ext cx="4014107"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Fig.5.3.1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 of the proposed IEC-ANN model</a:t>
            </a:r>
          </a:p>
        </p:txBody>
      </p:sp>
      <p:sp>
        <p:nvSpPr>
          <p:cNvPr id="26" name="矩形 3">
            <a:extLst>
              <a:ext uri="{FF2B5EF4-FFF2-40B4-BE49-F238E27FC236}">
                <a16:creationId xmlns:a16="http://schemas.microsoft.com/office/drawing/2014/main" id="{0F9850C2-7E88-4574-A261-BB798FA1CEA9}"/>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pic>
        <p:nvPicPr>
          <p:cNvPr id="15" name="图片 14">
            <a:extLst>
              <a:ext uri="{FF2B5EF4-FFF2-40B4-BE49-F238E27FC236}">
                <a16:creationId xmlns:a16="http://schemas.microsoft.com/office/drawing/2014/main" id="{1660DE93-ED6A-4240-A8F7-6AEAB9A9875D}"/>
              </a:ext>
            </a:extLst>
          </p:cNvPr>
          <p:cNvPicPr>
            <a:picLocks noChangeAspect="1"/>
          </p:cNvPicPr>
          <p:nvPr/>
        </p:nvPicPr>
        <p:blipFill rotWithShape="1">
          <a:blip r:embed="rId5"/>
          <a:srcRect l="51647"/>
          <a:stretch/>
        </p:blipFill>
        <p:spPr>
          <a:xfrm>
            <a:off x="6856519" y="3475587"/>
            <a:ext cx="3622514" cy="2880000"/>
          </a:xfrm>
          <a:prstGeom prst="rect">
            <a:avLst/>
          </a:prstGeom>
        </p:spPr>
      </p:pic>
      <p:sp>
        <p:nvSpPr>
          <p:cNvPr id="27"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390626729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B7E1D35F-5594-44B9-8F64-FD30AA64157B}"/>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bwMode="auto">
          <a:xfrm>
            <a:off x="995038" y="1784146"/>
            <a:ext cx="5273588" cy="2232000"/>
          </a:xfrm>
          <a:prstGeom prst="rect">
            <a:avLst/>
          </a:prstGeom>
          <a:ln>
            <a:noFill/>
          </a:ln>
          <a:extLst>
            <a:ext uri="{53640926-AAD7-44D8-BBD7-CCE9431645EC}">
              <a14:shadowObscured xmlns:a14="http://schemas.microsoft.com/office/drawing/2010/main"/>
            </a:ext>
          </a:extLst>
        </p:spPr>
      </p:pic>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90459" y="937927"/>
            <a:ext cx="1123004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5.4 </a:t>
            </a:r>
            <a:r>
              <a:rPr lang="en-HK" altLang="en-US" sz="1500" b="1" kern="0" dirty="0">
                <a:latin typeface="Times New Roman" panose="02020603050405020304" pitchFamily="18" charset="0"/>
                <a:ea typeface="SimSun"/>
                <a:cs typeface="Times New Roman" panose="02020603050405020304" pitchFamily="18" charset="0"/>
              </a:rPr>
              <a:t>Results and discussions</a:t>
            </a:r>
            <a:r>
              <a:rPr sz="1230" lang="zh-CN">
                <a:solidFill>
                  <a:srgbClr val="24425A"/>
                </a:solidFill>
                <a:latin typeface="Times New Roman"/>
                <a:ea typeface="SimSun"/>
                <a:cs typeface="Times New Roman"/>
              </a:rPr>
              <a:t>  结果与讨论</a:t>
            </a:r>
          </a:p>
        </p:txBody>
      </p:sp>
      <p:sp>
        <p:nvSpPr>
          <p:cNvPr id="22" name="文本框 21">
            <a:extLst>
              <a:ext uri="{FF2B5EF4-FFF2-40B4-BE49-F238E27FC236}">
                <a16:creationId xmlns:a16="http://schemas.microsoft.com/office/drawing/2014/main" id="{41A6500A-464D-4FD0-941B-13435C71BC36}"/>
              </a:ext>
            </a:extLst>
          </p:cNvPr>
          <p:cNvSpPr txBox="1"/>
          <p:nvPr/>
        </p:nvSpPr>
        <p:spPr>
          <a:xfrm>
            <a:off x="849994" y="1623109"/>
            <a:ext cx="3931836" cy="551180"/>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00" dirty="0">
                <a:latin typeface="Times New Roman" panose="02020603050405020304" pitchFamily="18" charset="0"/>
                <a:ea typeface="SimSun" panose="02010600030101010101" pitchFamily="2" charset="-122"/>
                <a:cs typeface="Times New Roman"/>
              </a:rPr>
              <a:t>Nozzle characteristics parameters</a:t>
            </a:r>
            <a:r>
              <a:rPr sz="1230" lang="zh-CN">
                <a:solidFill>
                  <a:srgbClr val="24425A"/>
                </a:solidFill>
                <a:latin typeface="Times New Roman"/>
                <a:ea typeface="SimSun"/>
                <a:cs typeface="Times New Roman"/>
              </a:rPr>
              <a:t>  喷嘴特性参数</a:t>
            </a:r>
          </a:p>
        </p:txBody>
      </p:sp>
      <p:sp>
        <p:nvSpPr>
          <p:cNvPr id="20" name="文本框 19">
            <a:extLst>
              <a:ext uri="{FF2B5EF4-FFF2-40B4-BE49-F238E27FC236}">
                <a16:creationId xmlns:a16="http://schemas.microsoft.com/office/drawing/2014/main" id="{E35A6205-58C3-4CCF-8CD9-85301F663455}"/>
              </a:ext>
            </a:extLst>
          </p:cNvPr>
          <p:cNvSpPr txBox="1"/>
          <p:nvPr/>
        </p:nvSpPr>
        <p:spPr>
          <a:xfrm>
            <a:off x="6413670" y="1474234"/>
            <a:ext cx="5302303" cy="338554"/>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050" dirty="0">
                <a:latin typeface="Times New Roman" panose="02020603050405020304" pitchFamily="18" charset="0"/>
                <a:ea typeface="SimSun" panose="02010600030101010101" pitchFamily="2" charset="-122"/>
                <a:cs typeface="Times New Roman" panose="02020603050405020304" pitchFamily="18" charset="0"/>
              </a:rPr>
              <a:t>Effect of pressure on droplet diameter and coverage ratio</a:t>
            </a:r>
            <a:r>
              <a:rPr sz="861" lang="zh-CN">
                <a:solidFill>
                  <a:srgbClr val="24425A"/>
                </a:solidFill>
                <a:latin typeface="Times New Roman"/>
                <a:ea typeface="SimSun"/>
                <a:cs typeface="Times New Roman"/>
              </a:rPr>
              <a:t>  压力对液滴直径和覆盖率的影响</a:t>
            </a: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40</a:t>
            </a:fld>
            <a:endParaRPr lang="en-US" altLang="zh-CN">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79371" y="1289568"/>
            <a:ext cx="4073083"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250" dirty="0">
                <a:solidFill>
                  <a:prstClr val="black"/>
                </a:solidFill>
                <a:latin typeface="Times New Roman" panose="02020603050405020304" pitchFamily="18" charset="0"/>
                <a:ea typeface="SimSun"/>
                <a:cs typeface="Times New Roman" panose="02020603050405020304" pitchFamily="18" charset="0"/>
              </a:rPr>
              <a:t>5.4.1 Effect of variations in a single factor</a:t>
            </a:r>
            <a:r>
              <a:rPr sz="1025" lang="zh-CN">
                <a:solidFill>
                  <a:srgbClr val="24425A"/>
                </a:solidFill>
                <a:latin typeface="Times New Roman"/>
                <a:ea typeface="SimSun"/>
                <a:cs typeface="Times New Roman"/>
              </a:rPr>
              <a:t>  单因素变化的影响</a:t>
            </a:r>
          </a:p>
        </p:txBody>
      </p:sp>
      <p:pic>
        <p:nvPicPr>
          <p:cNvPr id="18" name="图片 17">
            <a:extLst>
              <a:ext uri="{FF2B5EF4-FFF2-40B4-BE49-F238E27FC236}">
                <a16:creationId xmlns:a16="http://schemas.microsoft.com/office/drawing/2014/main" id="{E62731A7-292E-45B0-A46C-6B489F40F25F}"/>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bwMode="auto">
          <a:xfrm>
            <a:off x="2367083" y="4118891"/>
            <a:ext cx="2639411" cy="2232000"/>
          </a:xfrm>
          <a:prstGeom prst="rect">
            <a:avLst/>
          </a:prstGeom>
          <a:ln>
            <a:noFill/>
          </a:ln>
          <a:extLst>
            <a:ext uri="{53640926-AAD7-44D8-BBD7-CCE9431645EC}">
              <a14:shadowObscured xmlns:a14="http://schemas.microsoft.com/office/drawing/2010/main"/>
            </a:ext>
          </a:extLst>
        </p:spPr>
      </p:pic>
      <p:pic>
        <p:nvPicPr>
          <p:cNvPr id="21" name="图片 20">
            <a:extLst>
              <a:ext uri="{FF2B5EF4-FFF2-40B4-BE49-F238E27FC236}">
                <a16:creationId xmlns:a16="http://schemas.microsoft.com/office/drawing/2014/main" id="{D4EBCA21-22F1-448C-8450-6CE54E29159D}"/>
              </a:ext>
            </a:extLst>
          </p:cNvPr>
          <p:cNvPicPr>
            <a:picLocks noChangeAspect="1"/>
          </p:cNvPicPr>
          <p:nvPr/>
        </p:nvPicPr>
        <p:blipFill>
          <a:blip r:embed="rId5"/>
          <a:stretch>
            <a:fillRect/>
          </a:stretch>
        </p:blipFill>
        <p:spPr>
          <a:xfrm>
            <a:off x="6797452" y="1865962"/>
            <a:ext cx="4813746" cy="2880000"/>
          </a:xfrm>
          <a:prstGeom prst="rect">
            <a:avLst/>
          </a:prstGeom>
        </p:spPr>
      </p:pic>
      <p:sp>
        <p:nvSpPr>
          <p:cNvPr id="26" name="矩形 25">
            <a:extLst>
              <a:ext uri="{FF2B5EF4-FFF2-40B4-BE49-F238E27FC236}">
                <a16:creationId xmlns:a16="http://schemas.microsoft.com/office/drawing/2014/main" id="{BCF04087-4373-4225-81AE-D93EABDE08B5}"/>
              </a:ext>
            </a:extLst>
          </p:cNvPr>
          <p:cNvSpPr/>
          <p:nvPr/>
        </p:nvSpPr>
        <p:spPr>
          <a:xfrm>
            <a:off x="2081893" y="6521217"/>
            <a:ext cx="4014107"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Fig.5.4.1 </a:t>
            </a:r>
            <a:r>
              <a:rPr lang="en-HK" sz="1200" dirty="0">
                <a:solidFill>
                  <a:prstClr val="black"/>
                </a:solidFill>
                <a:latin typeface="Times New Roman" panose="02020603050405020304" pitchFamily="18" charset="0"/>
                <a:ea typeface="SimSun"/>
                <a:cs typeface="Times New Roman" panose="02020603050405020304" pitchFamily="18" charset="0"/>
              </a:rPr>
              <a:t>The effect of nozzle pressure variations</a:t>
            </a:r>
          </a:p>
        </p:txBody>
      </p:sp>
      <p:sp>
        <p:nvSpPr>
          <p:cNvPr id="27" name="矩形 26">
            <a:extLst>
              <a:ext uri="{FF2B5EF4-FFF2-40B4-BE49-F238E27FC236}">
                <a16:creationId xmlns:a16="http://schemas.microsoft.com/office/drawing/2014/main" id="{F0F03C77-6E9D-437B-8F34-A512AD95C2D3}"/>
              </a:ext>
            </a:extLst>
          </p:cNvPr>
          <p:cNvSpPr/>
          <p:nvPr/>
        </p:nvSpPr>
        <p:spPr>
          <a:xfrm>
            <a:off x="1234314" y="4006473"/>
            <a:ext cx="2426604" cy="775970"/>
          </a:xfrm>
          <a:prstGeom prst="rect">
            <a:avLst/>
          </a:prstGeom>
        </p:spPr>
        <p:txBody>
          <a:bodyPr wrap="square"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(a) Effect of pressure on cone angle</a:t>
            </a:r>
            <a:r>
              <a:rPr sz="1230" lang="zh-CN">
                <a:solidFill>
                  <a:srgbClr val="24425A"/>
                </a:solidFill>
                <a:latin typeface="Times New Roman"/>
                <a:ea typeface="SimSun"/>
                <a:cs typeface="Times New Roman"/>
              </a:rPr>
              <a:t>  （a）压力对喷雾锥角的影响</a:t>
            </a:r>
          </a:p>
        </p:txBody>
      </p:sp>
      <p:sp>
        <p:nvSpPr>
          <p:cNvPr id="28" name="矩形 27">
            <a:extLst>
              <a:ext uri="{FF2B5EF4-FFF2-40B4-BE49-F238E27FC236}">
                <a16:creationId xmlns:a16="http://schemas.microsoft.com/office/drawing/2014/main" id="{0B325B03-B4CB-402E-94A7-573CBE2E4B14}"/>
              </a:ext>
            </a:extLst>
          </p:cNvPr>
          <p:cNvSpPr/>
          <p:nvPr/>
        </p:nvSpPr>
        <p:spPr>
          <a:xfrm>
            <a:off x="3842022" y="4006473"/>
            <a:ext cx="2426604" cy="551180"/>
          </a:xfrm>
          <a:prstGeom prst="rect">
            <a:avLst/>
          </a:prstGeom>
        </p:spPr>
        <p:txBody>
          <a:bodyPr wrap="square"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(b) Effect of pressure on flow rate</a:t>
            </a:r>
            <a:r>
              <a:rPr sz="1230" lang="zh-CN">
                <a:solidFill>
                  <a:srgbClr val="24425A"/>
                </a:solidFill>
                <a:latin typeface="Times New Roman"/>
                <a:ea typeface="SimSun"/>
                <a:cs typeface="Times New Roman"/>
              </a:rPr>
              <a:t>  （b）压力对流量的影响</a:t>
            </a:r>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3D740581-7BC4-4D11-9A15-4D931444F47A}"/>
                  </a:ext>
                </a:extLst>
              </p:cNvPr>
              <p:cNvSpPr/>
              <p:nvPr/>
            </p:nvSpPr>
            <p:spPr>
              <a:xfrm>
                <a:off x="2657506" y="6271205"/>
                <a:ext cx="2426604" cy="276999"/>
              </a:xfrm>
              <a:prstGeom prst="rect">
                <a:avLst/>
              </a:prstGeom>
            </p:spPr>
            <p:txBody>
              <a:bodyPr wrap="square">
                <a:spAutoFit/>
              </a:bodyPr>
              <a:lstStyle/>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(c) Effect of pressure on </a:t>
                </a:r>
                <a14:m>
                  <m:oMath xmlns:m="http://schemas.openxmlformats.org/officeDocument/2006/math">
                    <m:sSub>
                      <m:sSubPr>
                        <m:ctrlPr>
                          <a:rPr lang="en-US" sz="1200" i="1">
                            <a:latin typeface="Times New Roman" panose="02040503050406030204" pitchFamily="18" charset="0"/>
                            <a:ea typeface="SimSun"/>
                            <a:cs typeface="Times New Roman"/>
                          </a:rPr>
                        </m:ctrlPr>
                      </m:sSubPr>
                      <m:e>
                        <m:r>
                          <a:rPr lang="en-US" sz="1200" i="1">
                            <a:latin typeface="Times New Roman" panose="02040503050406030204" pitchFamily="18" charset="0"/>
                            <a:ea typeface="SimSun"/>
                            <a:cs typeface="Times New Roman"/>
                          </a:rPr>
                          <m:t>𝜀</m:t>
                        </m:r>
                      </m:e>
                      <m:sub>
                        <m:r>
                          <a:rPr lang="en-US" sz="1200" i="1">
                            <a:latin typeface="Times New Roman" panose="02040503050406030204" pitchFamily="18" charset="0"/>
                            <a:ea typeface="SimSun"/>
                            <a:cs typeface="Times New Roman"/>
                          </a:rPr>
                          <m:t>𝑤𝑏</m:t>
                        </m:r>
                      </m:sub>
                    </m:sSub>
                  </m:oMath>
                </a14:m>
                <a:r>
                  <a:rPr lang="en-HK" sz="1200" dirty="0">
                    <a:solidFill>
                      <a:prstClr val="black"/>
                    </a:solidFill>
                    <a:latin typeface="Times New Roman" panose="02020603050405020304" pitchFamily="18" charset="0"/>
                    <a:ea typeface="SimSun"/>
                    <a:cs typeface="Times New Roman" panose="02020603050405020304" pitchFamily="18" charset="0"/>
                  </a:rPr>
                  <a:t> </a:t>
                </a:r>
              </a:p>
            </p:txBody>
          </p:sp>
        </mc:Choice>
        <mc:Fallback xmlns="">
          <p:sp>
            <p:nvSpPr>
              <p:cNvPr id="29" name="矩形 28">
                <a:extLst>
                  <a:ext uri="{FF2B5EF4-FFF2-40B4-BE49-F238E27FC236}">
                    <a16:creationId xmlns:a16="http://schemas.microsoft.com/office/drawing/2014/main" id="{3D740581-7BC4-4D11-9A15-4D931444F47A}"/>
                  </a:ext>
                </a:extLst>
              </p:cNvPr>
              <p:cNvSpPr>
                <a:spLocks noRot="1" noChangeAspect="1" noMove="1" noResize="1" noEditPoints="1" noAdjustHandles="1" noChangeArrowheads="1" noChangeShapeType="1" noTextEdit="1"/>
              </p:cNvSpPr>
              <p:nvPr/>
            </p:nvSpPr>
            <p:spPr>
              <a:xfrm>
                <a:off x="2657506" y="6271205"/>
                <a:ext cx="2426604" cy="276999"/>
              </a:xfrm>
              <a:prstGeom prst="rect">
                <a:avLst/>
              </a:prstGeom>
              <a:blipFill>
                <a:blip r:embed="rId6"/>
                <a:stretch>
                  <a:fillRect l="-251" t="-2222" b="-17778"/>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6B69FB8-A4E2-4EB5-9DCB-5948840A5D54}"/>
                  </a:ext>
                </a:extLst>
              </p:cNvPr>
              <p:cNvSpPr txBox="1"/>
              <p:nvPr/>
            </p:nvSpPr>
            <p:spPr>
              <a:xfrm>
                <a:off x="6004981" y="4963251"/>
                <a:ext cx="6119680" cy="1894749"/>
              </a:xfrm>
              <a:prstGeom prst="rect">
                <a:avLst/>
              </a:prstGeom>
              <a:noFill/>
            </p:spPr>
            <p:txBody>
              <a:bodyPr wrap="square">
                <a:spAutoFit/>
              </a:bodyPr>
              <a:lstStyle/>
              <a:p>
                <a:pPr>
                  <a:lnSpc>
                    <a:spcPct val="150000"/>
                  </a:lnSpc>
                </a:pPr>
                <a:r>
                  <a:rPr lang="en-HK" altLang="zh-CN" sz="1600" dirty="0">
                    <a:latin typeface="Times New Roman" panose="02020603050405020304" pitchFamily="18" charset="0"/>
                    <a:ea typeface="SimSun" panose="02010600030101010101" pitchFamily="2" charset="-122"/>
                    <a:cs typeface="Times New Roman"/>
                  </a:rPr>
                  <a:t>(a) The peak value of 67° is achieved at a pressure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0.15 MPa</a:t>
                </a:r>
                <a:r>
                  <a:rPr lang="en-HK" altLang="zh-CN" sz="1600" dirty="0">
                    <a:latin typeface="Times New Roman" panose="02020603050405020304" pitchFamily="18" charset="0"/>
                    <a:ea typeface="SimSun" panose="02010600030101010101" pitchFamily="2" charset="-122"/>
                    <a:cs typeface="Times New Roman"/>
                  </a:rPr>
                  <a:t>.</a:t>
                </a:r>
                <a:endParaRPr lang="en-US" altLang="zh-CN" sz="1600" dirty="0">
                  <a:latin typeface="Times New Roman" panose="02020603050405020304" pitchFamily="18" charset="0"/>
                  <a:ea typeface="SimSun" panose="02010600030101010101" pitchFamily="2" charset="-122"/>
                  <a:cs typeface="Times New Roman"/>
                </a:endParaRPr>
              </a:p>
              <a:p>
                <a:pPr>
                  <a:lnSpc>
                    <a:spcPct val="150000"/>
                  </a:lnSpc>
                </a:pPr>
                <a:r>
                  <a:rPr lang="en-US" altLang="zh-CN" sz="1600" dirty="0">
                    <a:latin typeface="Times New Roman" panose="02020603050405020304" pitchFamily="18" charset="0"/>
                    <a:ea typeface="SimSun" panose="02010600030101010101" pitchFamily="2" charset="-122"/>
                    <a:cs typeface="Times New Roman"/>
                  </a:rPr>
                  <a:t>(b) T</a:t>
                </a:r>
                <a:r>
                  <a:rPr lang="en-HK" altLang="zh-CN" sz="1600" dirty="0">
                    <a:latin typeface="Times New Roman" panose="02020603050405020304" pitchFamily="18" charset="0"/>
                    <a:ea typeface="SimSun" panose="02010600030101010101" pitchFamily="2" charset="-122"/>
                    <a:cs typeface="Times New Roman"/>
                  </a:rPr>
                  <a:t>he increasing trend of spray flow rate with the rise in pressure. </a:t>
                </a:r>
              </a:p>
              <a:p>
                <a:pPr>
                  <a:lnSpc>
                    <a:spcPct val="150000"/>
                  </a:lnSpc>
                </a:pPr>
                <a:r>
                  <a:rPr lang="en-HK" altLang="zh-CN" sz="1600" dirty="0">
                    <a:latin typeface="Times New Roman" panose="02020603050405020304" pitchFamily="18" charset="0"/>
                    <a:ea typeface="SimSun" panose="02010600030101010101" pitchFamily="2" charset="-122"/>
                    <a:cs typeface="Times New Roman"/>
                  </a:rPr>
                  <a:t>(c) The trend of </a:t>
                </a:r>
                <a14:m>
                  <m:oMath xmlns:m="http://schemas.openxmlformats.org/officeDocument/2006/math">
                    <m:sSub>
                      <m:sSubPr>
                        <m:ctrlPr>
                          <a:rPr lang="en-US" sz="1600" b="1" i="1">
                            <a:solidFill>
                              <a:srgbClr val="C00000"/>
                            </a:solidFill>
                            <a:latin typeface="Times New Roman" panose="02040503050406030204" pitchFamily="18" charset="0"/>
                            <a:ea typeface="SimSun"/>
                            <a:cs typeface="Times New Roman"/>
                          </a:rPr>
                        </m:ctrlPr>
                      </m:sSubPr>
                      <m:e>
                        <m:r>
                          <a:rPr lang="en-US" sz="1600" b="1" i="1">
                            <a:solidFill>
                              <a:srgbClr val="C00000"/>
                            </a:solidFill>
                            <a:latin typeface="Times New Roman" panose="02040503050406030204" pitchFamily="18" charset="0"/>
                            <a:ea typeface="SimSun"/>
                            <a:cs typeface="Times New Roman"/>
                          </a:rPr>
                          <m:t>𝜺</m:t>
                        </m:r>
                      </m:e>
                      <m:sub>
                        <m:r>
                          <a:rPr lang="en-US" sz="1600" b="1" i="1">
                            <a:solidFill>
                              <a:srgbClr val="C00000"/>
                            </a:solidFill>
                            <a:latin typeface="Times New Roman" panose="02040503050406030204" pitchFamily="18" charset="0"/>
                            <a:ea typeface="SimSun"/>
                            <a:cs typeface="Times New Roman"/>
                          </a:rPr>
                          <m:t>𝒘𝒃</m:t>
                        </m:r>
                      </m:sub>
                    </m:sSub>
                  </m:oMath>
                </a14:m>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altLang="zh-CN" sz="1600" dirty="0">
                    <a:latin typeface="Times New Roman" panose="02020603050405020304" pitchFamily="18" charset="0"/>
                    <a:ea typeface="SimSun" panose="02010600030101010101" pitchFamily="2" charset="-122"/>
                    <a:cs typeface="Times New Roman"/>
                  </a:rPr>
                  <a:t>with pressure is consistent with spray angle.</a:t>
                </a:r>
              </a:p>
              <a:p>
                <a:pPr>
                  <a:lnSpc>
                    <a:spcPct val="150000"/>
                  </a:lnSpc>
                </a:pPr>
                <a:r>
                  <a:rPr lang="en-HK" altLang="zh-CN" sz="1600" dirty="0">
                    <a:latin typeface="Times New Roman" panose="02020603050405020304" pitchFamily="18" charset="0"/>
                    <a:ea typeface="SimSun" panose="02010600030101010101" pitchFamily="2" charset="-122"/>
                    <a:cs typeface="Times New Roman"/>
                  </a:rPr>
                  <a:t>(d) The maximum coverage ratio is achieved at a pressure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0.15 MPa</a:t>
                </a:r>
                <a:r>
                  <a:rPr lang="en-HK" altLang="zh-CN" sz="1600" dirty="0">
                    <a:latin typeface="Times New Roman" panose="02020603050405020304" pitchFamily="18" charset="0"/>
                    <a:ea typeface="SimSun" panose="02010600030101010101" pitchFamily="2" charset="-122"/>
                    <a:cs typeface="Times New Roman"/>
                  </a:rPr>
                  <a:t>.</a:t>
                </a:r>
              </a:p>
              <a:p>
                <a:pPr>
                  <a:lnSpc>
                    <a:spcPct val="150000"/>
                  </a:lnSpc>
                </a:pPr>
                <a:endParaRPr lang="en-US"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30" name="文本框 29">
                <a:extLst>
                  <a:ext uri="{FF2B5EF4-FFF2-40B4-BE49-F238E27FC236}">
                    <a16:creationId xmlns:a16="http://schemas.microsoft.com/office/drawing/2014/main" id="{16B69FB8-A4E2-4EB5-9DCB-5948840A5D54}"/>
                  </a:ext>
                </a:extLst>
              </p:cNvPr>
              <p:cNvSpPr txBox="1">
                <a:spLocks noRot="1" noChangeAspect="1" noMove="1" noResize="1" noEditPoints="1" noAdjustHandles="1" noChangeArrowheads="1" noChangeShapeType="1" noTextEdit="1"/>
              </p:cNvSpPr>
              <p:nvPr/>
            </p:nvSpPr>
            <p:spPr>
              <a:xfrm>
                <a:off x="6004981" y="4963251"/>
                <a:ext cx="6119680" cy="1894749"/>
              </a:xfrm>
              <a:prstGeom prst="rect">
                <a:avLst/>
              </a:prstGeom>
              <a:blipFill>
                <a:blip r:embed="rId7"/>
                <a:stretch>
                  <a:fillRect l="-498"/>
                </a:stretch>
              </a:blipFill>
            </p:spPr>
            <p:txBody>
              <a:bodyPr/>
              <a:lstStyle/>
              <a:p>
                <a:r>
                  <a:rPr lang="en-US">
                    <a:noFill/>
                    <a:latin typeface="Times New Roman"/>
                    <a:ea typeface="SimSun"/>
                    <a:cs typeface="Times New Roman"/>
                  </a:rPr>
                  <a:t> </a:t>
                </a:r>
              </a:p>
            </p:txBody>
          </p:sp>
        </mc:Fallback>
      </mc:AlternateContent>
      <p:sp>
        <p:nvSpPr>
          <p:cNvPr id="31"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114516235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6E60EA61-5FA0-403D-923C-4F5BEA884405}"/>
              </a:ext>
            </a:extLst>
          </p:cNvPr>
          <p:cNvPicPr>
            <a:picLocks noChangeAspect="1"/>
          </p:cNvPicPr>
          <p:nvPr/>
        </p:nvPicPr>
        <p:blipFill>
          <a:blip r:embed="rId3"/>
          <a:stretch>
            <a:fillRect/>
          </a:stretch>
        </p:blipFill>
        <p:spPr>
          <a:xfrm>
            <a:off x="1569643" y="2208740"/>
            <a:ext cx="9277220" cy="2520000"/>
          </a:xfrm>
          <a:prstGeom prst="rect">
            <a:avLst/>
          </a:prstGeom>
        </p:spPr>
      </p:pic>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90459" y="937927"/>
            <a:ext cx="1123004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5.4 </a:t>
            </a:r>
            <a:r>
              <a:rPr lang="en-HK" altLang="en-US" sz="1500" b="1" kern="0" dirty="0">
                <a:latin typeface="Times New Roman" panose="02020603050405020304" pitchFamily="18" charset="0"/>
                <a:ea typeface="SimSun"/>
                <a:cs typeface="Times New Roman" panose="02020603050405020304" pitchFamily="18" charset="0"/>
              </a:rPr>
              <a:t>Results and discussions</a:t>
            </a:r>
            <a:r>
              <a:rPr sz="1230" lang="zh-CN">
                <a:solidFill>
                  <a:srgbClr val="24425A"/>
                </a:solidFill>
                <a:latin typeface="Times New Roman"/>
                <a:ea typeface="SimSun"/>
                <a:cs typeface="Times New Roman"/>
              </a:rPr>
              <a:t>  结果与讨论</a:t>
            </a:r>
          </a:p>
        </p:txBody>
      </p:sp>
      <p:sp>
        <p:nvSpPr>
          <p:cNvPr id="22" name="文本框 21">
            <a:extLst>
              <a:ext uri="{FF2B5EF4-FFF2-40B4-BE49-F238E27FC236}">
                <a16:creationId xmlns:a16="http://schemas.microsoft.com/office/drawing/2014/main" id="{41A6500A-464D-4FD0-941B-13435C71BC36}"/>
              </a:ext>
            </a:extLst>
          </p:cNvPr>
          <p:cNvSpPr txBox="1"/>
          <p:nvPr/>
        </p:nvSpPr>
        <p:spPr>
          <a:xfrm>
            <a:off x="1434648" y="1797411"/>
            <a:ext cx="2369454"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450" dirty="0">
                <a:latin typeface="Times New Roman" panose="02020603050405020304" pitchFamily="18" charset="0"/>
                <a:ea typeface="SimSun" panose="02010600030101010101" pitchFamily="2" charset="-122"/>
                <a:cs typeface="Times New Roman"/>
              </a:rPr>
              <a:t>Nozzle spacing</a:t>
            </a:r>
            <a:r>
              <a:rPr sz="1189" lang="zh-CN">
                <a:solidFill>
                  <a:srgbClr val="24425A"/>
                </a:solidFill>
                <a:latin typeface="Times New Roman"/>
                <a:ea typeface="SimSun"/>
                <a:cs typeface="Times New Roman"/>
              </a:rPr>
              <a:t>  喷嘴间距</a:t>
            </a: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41</a:t>
            </a:fld>
            <a:endParaRPr lang="en-US" altLang="zh-CN" dirty="0">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79371" y="1289568"/>
            <a:ext cx="4073083"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250" dirty="0">
                <a:solidFill>
                  <a:prstClr val="black"/>
                </a:solidFill>
                <a:latin typeface="Times New Roman" panose="02020603050405020304" pitchFamily="18" charset="0"/>
                <a:ea typeface="SimSun"/>
                <a:cs typeface="Times New Roman" panose="02020603050405020304" pitchFamily="18" charset="0"/>
              </a:rPr>
              <a:t>5.4.1 Effect of variations in a single factor</a:t>
            </a:r>
            <a:r>
              <a:rPr sz="1025" lang="zh-CN">
                <a:solidFill>
                  <a:srgbClr val="24425A"/>
                </a:solidFill>
                <a:latin typeface="Times New Roman"/>
                <a:ea typeface="SimSun"/>
                <a:cs typeface="Times New Roman"/>
              </a:rPr>
              <a:t>  单因素变化的影响</a:t>
            </a:r>
          </a:p>
        </p:txBody>
      </p:sp>
      <p:sp>
        <p:nvSpPr>
          <p:cNvPr id="26" name="矩形 25">
            <a:extLst>
              <a:ext uri="{FF2B5EF4-FFF2-40B4-BE49-F238E27FC236}">
                <a16:creationId xmlns:a16="http://schemas.microsoft.com/office/drawing/2014/main" id="{BCF04087-4373-4225-81AE-D93EABDE08B5}"/>
              </a:ext>
            </a:extLst>
          </p:cNvPr>
          <p:cNvSpPr/>
          <p:nvPr/>
        </p:nvSpPr>
        <p:spPr>
          <a:xfrm>
            <a:off x="3731692" y="4800108"/>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Fig.5.4.2 </a:t>
            </a:r>
            <a:r>
              <a:rPr lang="en-HK" sz="1400" dirty="0">
                <a:solidFill>
                  <a:prstClr val="black"/>
                </a:solidFill>
                <a:latin typeface="Times New Roman" panose="02020603050405020304" pitchFamily="18" charset="0"/>
                <a:ea typeface="SimSun"/>
                <a:cs typeface="Times New Roman" panose="02020603050405020304" pitchFamily="18" charset="0"/>
              </a:rPr>
              <a:t>The effect of three other nozzle parameters variations</a:t>
            </a:r>
          </a:p>
        </p:txBody>
      </p:sp>
      <p:sp>
        <p:nvSpPr>
          <p:cNvPr id="19" name="文本框 18">
            <a:extLst>
              <a:ext uri="{FF2B5EF4-FFF2-40B4-BE49-F238E27FC236}">
                <a16:creationId xmlns:a16="http://schemas.microsoft.com/office/drawing/2014/main" id="{F73BA449-0F05-4605-836B-0A296C6D1A21}"/>
              </a:ext>
            </a:extLst>
          </p:cNvPr>
          <p:cNvSpPr txBox="1"/>
          <p:nvPr/>
        </p:nvSpPr>
        <p:spPr>
          <a:xfrm>
            <a:off x="4596948" y="1798818"/>
            <a:ext cx="1899102"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050" dirty="0">
                <a:latin typeface="Times New Roman" panose="02020603050405020304" pitchFamily="18" charset="0"/>
                <a:ea typeface="SimSun" panose="02010600030101010101" pitchFamily="2" charset="-122"/>
                <a:cs typeface="Times New Roman"/>
              </a:rPr>
              <a:t>Nozzle aperture</a:t>
            </a:r>
            <a:r>
              <a:rPr sz="861" lang="zh-CN">
                <a:solidFill>
                  <a:srgbClr val="24425A"/>
                </a:solidFill>
                <a:latin typeface="Times New Roman"/>
                <a:ea typeface="SimSun"/>
                <a:cs typeface="Times New Roman"/>
              </a:rPr>
              <a:t>  喷嘴孔径</a:t>
            </a:r>
          </a:p>
        </p:txBody>
      </p:sp>
      <p:sp>
        <p:nvSpPr>
          <p:cNvPr id="23" name="文本框 22">
            <a:extLst>
              <a:ext uri="{FF2B5EF4-FFF2-40B4-BE49-F238E27FC236}">
                <a16:creationId xmlns:a16="http://schemas.microsoft.com/office/drawing/2014/main" id="{C73A1540-F6B4-4960-8DF0-7C62AF258952}"/>
              </a:ext>
            </a:extLst>
          </p:cNvPr>
          <p:cNvSpPr txBox="1"/>
          <p:nvPr/>
        </p:nvSpPr>
        <p:spPr>
          <a:xfrm>
            <a:off x="7702098" y="1797411"/>
            <a:ext cx="1899102"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200" dirty="0">
                <a:latin typeface="Times New Roman" panose="02020603050405020304" pitchFamily="18" charset="0"/>
                <a:ea typeface="SimSun" panose="02010600030101010101" pitchFamily="2" charset="-122"/>
                <a:cs typeface="Times New Roman"/>
              </a:rPr>
              <a:t>Nozzle count</a:t>
            </a:r>
            <a:r>
              <a:rPr sz="984" lang="zh-CN">
                <a:solidFill>
                  <a:srgbClr val="24425A"/>
                </a:solidFill>
                <a:latin typeface="Times New Roman"/>
                <a:ea typeface="SimSun"/>
                <a:cs typeface="Times New Roman"/>
              </a:rPr>
              <a:t>  喷嘴数量</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08C1CF8-DBF4-4D1A-9146-E6B69EBBDC7C}"/>
                  </a:ext>
                </a:extLst>
              </p:cNvPr>
              <p:cNvSpPr txBox="1"/>
              <p:nvPr/>
            </p:nvSpPr>
            <p:spPr>
              <a:xfrm>
                <a:off x="1386307" y="5284113"/>
                <a:ext cx="9805395" cy="115608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peak value of wet-bulb efficiency is achieved at a spacing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80 mm</a:t>
                </a:r>
                <a:r>
                  <a:rPr lang="en-HK" altLang="zh-CN" sz="1600" dirty="0">
                    <a:latin typeface="Times New Roman" panose="02020603050405020304" pitchFamily="18" charset="0"/>
                    <a:ea typeface="SimSun" panose="02010600030101010101" pitchFamily="2" charset="-122"/>
                    <a:cs typeface="Times New Roman"/>
                  </a:rPr>
                  <a:t>.</a:t>
                </a:r>
                <a:endParaRPr lang="en-US" altLang="zh-CN" sz="1600" dirty="0">
                  <a:latin typeface="Times New Roman" panose="02020603050405020304" pitchFamily="18" charset="0"/>
                  <a:ea typeface="SimSun" panose="02010600030101010101" pitchFamily="2" charset="-122"/>
                  <a:cs typeface="Times New Roman"/>
                </a:endParaRPr>
              </a:p>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initially increases </a:t>
                </a:r>
                <a:r>
                  <a:rPr lang="en-HK" altLang="zh-CN" sz="1600" dirty="0">
                    <a:latin typeface="Times New Roman" panose="02020603050405020304" pitchFamily="18" charset="0"/>
                    <a:ea typeface="SimSun" panose="02010600030101010101" pitchFamily="2" charset="-122"/>
                    <a:cs typeface="Times New Roman"/>
                  </a:rPr>
                  <a:t>with increasing nozzle aperture size and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decreases</a:t>
                </a:r>
                <a:r>
                  <a:rPr lang="en-HK" altLang="zh-CN" sz="1600" dirty="0">
                    <a:latin typeface="Times New Roman" panose="02020603050405020304" pitchFamily="18" charset="0"/>
                    <a:ea typeface="SimSun" panose="02010600030101010101" pitchFamily="2" charset="-122"/>
                    <a:cs typeface="Times New Roman"/>
                  </a:rPr>
                  <a:t> with apertures larger than 6 mm.</a:t>
                </a:r>
              </a:p>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r>
                      <a:rPr lang="en-US" sz="1600" i="1">
                        <a:latin typeface="Times New Roman" panose="02040503050406030204" pitchFamily="18" charset="0"/>
                        <a:ea typeface="SimSun"/>
                        <a:cs typeface="Times New Roman"/>
                      </a:rPr>
                      <m:t> </m:t>
                    </m:r>
                  </m:oMath>
                </a14:m>
                <a:r>
                  <a:rPr lang="en-HK" altLang="zh-CN" sz="1600" dirty="0">
                    <a:latin typeface="Times New Roman" panose="02020603050405020304" pitchFamily="18" charset="0"/>
                    <a:ea typeface="SimSun" panose="02010600030101010101" pitchFamily="2" charset="-122"/>
                    <a:cs typeface="Times New Roman"/>
                  </a:rPr>
                  <a:t>demonstrates an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initial increase </a:t>
                </a:r>
                <a:r>
                  <a:rPr lang="en-HK" altLang="zh-CN" sz="1600" dirty="0">
                    <a:latin typeface="Times New Roman" panose="02020603050405020304" pitchFamily="18" charset="0"/>
                    <a:ea typeface="SimSun" panose="02010600030101010101" pitchFamily="2" charset="-122"/>
                    <a:cs typeface="Times New Roman"/>
                  </a:rPr>
                  <a:t>as the number of nozzles increases, but it starts to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decline</a:t>
                </a:r>
                <a:r>
                  <a:rPr lang="en-HK" altLang="zh-CN" sz="1600" dirty="0">
                    <a:latin typeface="Times New Roman" panose="02020603050405020304" pitchFamily="18" charset="0"/>
                    <a:ea typeface="SimSun" panose="02010600030101010101" pitchFamily="2" charset="-122"/>
                    <a:cs typeface="Times New Roman"/>
                  </a:rPr>
                  <a:t> when n≥10.</a:t>
                </a:r>
                <a:endParaRPr lang="zh-CN" altLang="en-US" sz="1600" dirty="0">
                  <a:latin typeface="Times New Roman" panose="02020603050405020304" pitchFamily="18" charset="0"/>
                  <a:ea typeface="SimSun" panose="02010600030101010101" pitchFamily="2" charset="-122"/>
                  <a:cs typeface="Times New Roman"/>
                </a:endParaRPr>
              </a:p>
            </p:txBody>
          </p:sp>
        </mc:Choice>
        <mc:Fallback xmlns="">
          <p:sp>
            <p:nvSpPr>
              <p:cNvPr id="24" name="文本框 23">
                <a:extLst>
                  <a:ext uri="{FF2B5EF4-FFF2-40B4-BE49-F238E27FC236}">
                    <a16:creationId xmlns:a16="http://schemas.microsoft.com/office/drawing/2014/main" id="{C08C1CF8-DBF4-4D1A-9146-E6B69EBBDC7C}"/>
                  </a:ext>
                </a:extLst>
              </p:cNvPr>
              <p:cNvSpPr txBox="1">
                <a:spLocks noRot="1" noChangeAspect="1" noMove="1" noResize="1" noEditPoints="1" noAdjustHandles="1" noChangeArrowheads="1" noChangeShapeType="1" noTextEdit="1"/>
              </p:cNvSpPr>
              <p:nvPr/>
            </p:nvSpPr>
            <p:spPr>
              <a:xfrm>
                <a:off x="1386307" y="5284113"/>
                <a:ext cx="9805395" cy="1156086"/>
              </a:xfrm>
              <a:prstGeom prst="rect">
                <a:avLst/>
              </a:prstGeom>
              <a:blipFill>
                <a:blip r:embed="rId4"/>
                <a:stretch>
                  <a:fillRect l="-249" b="-6349"/>
                </a:stretch>
              </a:blipFill>
            </p:spPr>
            <p:txBody>
              <a:bodyPr/>
              <a:lstStyle/>
              <a:p>
                <a:r>
                  <a:rPr lang="en-US">
                    <a:noFill/>
                    <a:latin typeface="Times New Roman"/>
                    <a:ea typeface="SimSun"/>
                    <a:cs typeface="Times New Roman"/>
                  </a:rPr>
                  <a:t> </a:t>
                </a:r>
              </a:p>
            </p:txBody>
          </p:sp>
        </mc:Fallback>
      </mc:AlternateContent>
      <p:sp>
        <p:nvSpPr>
          <p:cNvPr id="3" name="椭圆 2">
            <a:extLst>
              <a:ext uri="{FF2B5EF4-FFF2-40B4-BE49-F238E27FC236}">
                <a16:creationId xmlns:a16="http://schemas.microsoft.com/office/drawing/2014/main" id="{51BD5558-EEEB-4B5C-AEAB-D377FF6377B0}"/>
              </a:ext>
            </a:extLst>
          </p:cNvPr>
          <p:cNvSpPr/>
          <p:nvPr/>
        </p:nvSpPr>
        <p:spPr bwMode="auto">
          <a:xfrm>
            <a:off x="2459115" y="2361460"/>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7" name="椭圆 16">
            <a:extLst>
              <a:ext uri="{FF2B5EF4-FFF2-40B4-BE49-F238E27FC236}">
                <a16:creationId xmlns:a16="http://schemas.microsoft.com/office/drawing/2014/main" id="{11FD431D-0744-4501-BF84-5621D30D5786}"/>
              </a:ext>
            </a:extLst>
          </p:cNvPr>
          <p:cNvSpPr/>
          <p:nvPr/>
        </p:nvSpPr>
        <p:spPr bwMode="auto">
          <a:xfrm>
            <a:off x="6289005" y="2356265"/>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8" name="椭圆 17">
            <a:extLst>
              <a:ext uri="{FF2B5EF4-FFF2-40B4-BE49-F238E27FC236}">
                <a16:creationId xmlns:a16="http://schemas.microsoft.com/office/drawing/2014/main" id="{B6F28FE5-003F-4195-9006-30CBF9A557E9}"/>
              </a:ext>
            </a:extLst>
          </p:cNvPr>
          <p:cNvSpPr/>
          <p:nvPr/>
        </p:nvSpPr>
        <p:spPr bwMode="auto">
          <a:xfrm>
            <a:off x="9368901" y="2330251"/>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7"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6491712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BC113EA7-5BB6-409E-A5D2-B97D45B8C941}"/>
              </a:ext>
            </a:extLst>
          </p:cNvPr>
          <p:cNvSpPr/>
          <p:nvPr/>
        </p:nvSpPr>
        <p:spPr bwMode="auto">
          <a:xfrm>
            <a:off x="947051" y="4515495"/>
            <a:ext cx="4959640" cy="2015853"/>
          </a:xfrm>
          <a:prstGeom prst="rect">
            <a:avLst/>
          </a:prstGeom>
          <a:solidFill>
            <a:srgbClr val="B96E87">
              <a:tint val="66000"/>
              <a:satMod val="160000"/>
              <a:alpha val="2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pic>
        <p:nvPicPr>
          <p:cNvPr id="22" name="图片 21">
            <a:extLst>
              <a:ext uri="{FF2B5EF4-FFF2-40B4-BE49-F238E27FC236}">
                <a16:creationId xmlns:a16="http://schemas.microsoft.com/office/drawing/2014/main" id="{1A942D7F-F762-4804-9C9C-CCBA95737A1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bwMode="auto">
          <a:xfrm>
            <a:off x="6213811" y="4351363"/>
            <a:ext cx="2913533" cy="2232000"/>
          </a:xfrm>
          <a:prstGeom prst="rect">
            <a:avLst/>
          </a:prstGeom>
          <a:ln>
            <a:noFill/>
          </a:ln>
          <a:extLst>
            <a:ext uri="{53640926-AAD7-44D8-BBD7-CCE9431645EC}">
              <a14:shadowObscured xmlns:a14="http://schemas.microsoft.com/office/drawing/2010/main"/>
            </a:ext>
          </a:extLst>
        </p:spPr>
      </p:pic>
      <p:pic>
        <p:nvPicPr>
          <p:cNvPr id="23" name="图片 22">
            <a:extLst>
              <a:ext uri="{FF2B5EF4-FFF2-40B4-BE49-F238E27FC236}">
                <a16:creationId xmlns:a16="http://schemas.microsoft.com/office/drawing/2014/main" id="{AB440F50-E763-492C-8DC7-F71932D0E36B}"/>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bwMode="auto">
          <a:xfrm>
            <a:off x="3524241" y="1963442"/>
            <a:ext cx="2894120" cy="2232000"/>
          </a:xfrm>
          <a:prstGeom prst="rect">
            <a:avLst/>
          </a:prstGeom>
          <a:ln>
            <a:noFill/>
          </a:ln>
          <a:extLst>
            <a:ext uri="{53640926-AAD7-44D8-BBD7-CCE9431645EC}">
              <a14:shadowObscured xmlns:a14="http://schemas.microsoft.com/office/drawing/2010/main"/>
            </a:ext>
          </a:extLst>
        </p:spPr>
      </p:pic>
      <p:sp>
        <p:nvSpPr>
          <p:cNvPr id="6" name="矩形 5">
            <a:extLst>
              <a:ext uri="{FF2B5EF4-FFF2-40B4-BE49-F238E27FC236}">
                <a16:creationId xmlns:a16="http://schemas.microsoft.com/office/drawing/2014/main" id="{4C7AB77A-745A-4F7F-8668-9437FD15EA4B}"/>
              </a:ext>
            </a:extLst>
          </p:cNvPr>
          <p:cNvSpPr/>
          <p:nvPr/>
        </p:nvSpPr>
        <p:spPr bwMode="auto">
          <a:xfrm>
            <a:off x="6822785" y="1851946"/>
            <a:ext cx="4824718" cy="2112249"/>
          </a:xfrm>
          <a:prstGeom prst="rect">
            <a:avLst/>
          </a:prstGeom>
          <a:solidFill>
            <a:srgbClr val="B96E87">
              <a:tint val="66000"/>
              <a:satMod val="160000"/>
              <a:alpha val="2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pic>
        <p:nvPicPr>
          <p:cNvPr id="17" name="图片 16">
            <a:extLst>
              <a:ext uri="{FF2B5EF4-FFF2-40B4-BE49-F238E27FC236}">
                <a16:creationId xmlns:a16="http://schemas.microsoft.com/office/drawing/2014/main" id="{16355CD3-E2C1-404C-8275-10B65859F0EC}"/>
              </a:ext>
            </a:extLst>
          </p:cNvPr>
          <p:cNvPicPr>
            <a:picLocks noChangeAspect="1"/>
          </p:cNvPicPr>
          <p:nvPr/>
        </p:nvPicPr>
        <p:blipFill rotWithShape="1">
          <a:blip r:embed="rId5">
            <a:extLst>
              <a:ext uri="{28A0092B-C50C-407E-A947-70E740481C1C}">
                <a14:useLocalDpi xmlns:a14="http://schemas.microsoft.com/office/drawing/2010/main"/>
              </a:ext>
            </a:extLst>
          </a:blip>
          <a:srcRect l="51923"/>
          <a:stretch/>
        </p:blipFill>
        <p:spPr bwMode="auto">
          <a:xfrm>
            <a:off x="9069483" y="4351363"/>
            <a:ext cx="2844801" cy="2232000"/>
          </a:xfrm>
          <a:prstGeom prst="rect">
            <a:avLst/>
          </a:prstGeom>
          <a:ln>
            <a:noFill/>
          </a:ln>
          <a:extLst>
            <a:ext uri="{53640926-AAD7-44D8-BBD7-CCE9431645EC}">
              <a14:shadowObscured xmlns:a14="http://schemas.microsoft.com/office/drawing/2010/main"/>
            </a:ext>
          </a:extLst>
        </p:spPr>
      </p:pic>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1126814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5.4 </a:t>
            </a:r>
            <a:r>
              <a:rPr lang="en-HK" altLang="en-US" sz="1500" b="1" kern="0" dirty="0">
                <a:latin typeface="Times New Roman" panose="02020603050405020304" pitchFamily="18" charset="0"/>
                <a:ea typeface="SimSun"/>
                <a:cs typeface="Times New Roman" panose="02020603050405020304" pitchFamily="18" charset="0"/>
              </a:rPr>
              <a:t>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42</a:t>
            </a:fld>
            <a:endParaRPr lang="en-US" altLang="zh-CN" dirty="0">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4073083" cy="551180"/>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dirty="0">
                <a:solidFill>
                  <a:prstClr val="black"/>
                </a:solidFill>
                <a:latin typeface="Times New Roman" panose="02020603050405020304" pitchFamily="18" charset="0"/>
                <a:ea typeface="SimSun"/>
                <a:cs typeface="Times New Roman" panose="02020603050405020304" pitchFamily="18" charset="0"/>
              </a:rPr>
              <a:t>5.4.1 Effect of variations in a single factor</a:t>
            </a:r>
            <a:r>
              <a:rPr sz="1230" lang="zh-CN">
                <a:solidFill>
                  <a:srgbClr val="24425A"/>
                </a:solidFill>
                <a:latin typeface="Times New Roman"/>
                <a:ea typeface="SimSun"/>
                <a:cs typeface="Times New Roman"/>
              </a:rPr>
              <a:t>  单因素变化的影响</a:t>
            </a: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CF04087-4373-4225-81AE-D93EABDE08B5}"/>
                  </a:ext>
                </a:extLst>
              </p:cNvPr>
              <p:cNvSpPr/>
              <p:nvPr/>
            </p:nvSpPr>
            <p:spPr>
              <a:xfrm>
                <a:off x="1918325" y="4151133"/>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Fig.5.4.3 </a:t>
                </a:r>
                <a:r>
                  <a:rPr lang="en-HK" sz="1400" dirty="0">
                    <a:solidFill>
                      <a:prstClr val="black"/>
                    </a:solidFill>
                    <a:latin typeface="Times New Roman" panose="02020603050405020304" pitchFamily="18" charset="0"/>
                    <a:ea typeface="SimSun"/>
                    <a:cs typeface="Times New Roman" panose="02020603050405020304" pitchFamily="18" charset="0"/>
                  </a:rPr>
                  <a:t>The effect of operation parameters on </a:t>
                </a:r>
                <a14:m>
                  <m:oMath xmlns:m="http://schemas.openxmlformats.org/officeDocument/2006/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𝜀</m:t>
                        </m:r>
                      </m:e>
                      <m:sub>
                        <m:r>
                          <a:rPr lang="en-HK" sz="1400" b="0" i="1" smtClean="0">
                            <a:latin typeface="Times New Roman" panose="02040503050406030204" pitchFamily="18" charset="0"/>
                            <a:ea typeface="SimSun"/>
                            <a:cs typeface="Times New Roman"/>
                          </a:rPr>
                          <m:t>𝑤𝑏</m:t>
                        </m:r>
                      </m:sub>
                    </m:sSub>
                  </m:oMath>
                </a14:m>
                <a:r>
                  <a:rPr lang="en-HK" sz="1400" dirty="0">
                    <a:solidFill>
                      <a:prstClr val="black"/>
                    </a:solidFill>
                    <a:latin typeface="Times New Roman" panose="02020603050405020304" pitchFamily="18" charset="0"/>
                    <a:ea typeface="SimSun"/>
                    <a:cs typeface="Times New Roman" panose="02020603050405020304" pitchFamily="18" charset="0"/>
                  </a:rPr>
                  <a:t> </a:t>
                </a:r>
              </a:p>
            </p:txBody>
          </p:sp>
        </mc:Choice>
        <mc:Fallback xmlns="">
          <p:sp>
            <p:nvSpPr>
              <p:cNvPr id="26" name="矩形 25">
                <a:extLst>
                  <a:ext uri="{FF2B5EF4-FFF2-40B4-BE49-F238E27FC236}">
                    <a16:creationId xmlns:a16="http://schemas.microsoft.com/office/drawing/2014/main" id="{BCF04087-4373-4225-81AE-D93EABDE08B5}"/>
                  </a:ext>
                </a:extLst>
              </p:cNvPr>
              <p:cNvSpPr>
                <a:spLocks noRot="1" noChangeAspect="1" noMove="1" noResize="1" noEditPoints="1" noAdjustHandles="1" noChangeArrowheads="1" noChangeShapeType="1" noTextEdit="1"/>
              </p:cNvSpPr>
              <p:nvPr/>
            </p:nvSpPr>
            <p:spPr>
              <a:xfrm>
                <a:off x="1918325" y="4151133"/>
                <a:ext cx="5211308" cy="307777"/>
              </a:xfrm>
              <a:prstGeom prst="rect">
                <a:avLst/>
              </a:prstGeom>
              <a:blipFill>
                <a:blip r:embed="rId6"/>
                <a:stretch>
                  <a:fillRect l="-351" t="-4000" b="-20000"/>
                </a:stretch>
              </a:blipFill>
            </p:spPr>
            <p:txBody>
              <a:bodyPr/>
              <a:lstStyle/>
              <a:p>
                <a:r>
                  <a:rPr lang="en-US">
                    <a:noFill/>
                    <a:latin typeface="Times New Roman"/>
                    <a:ea typeface="SimSun"/>
                    <a:cs typeface="Times New Roman"/>
                  </a:rPr>
                  <a:t> </a:t>
                </a:r>
              </a:p>
            </p:txBody>
          </p:sp>
        </mc:Fallback>
      </mc:AlternateContent>
      <p:pic>
        <p:nvPicPr>
          <p:cNvPr id="11" name="图片 10">
            <a:extLst>
              <a:ext uri="{FF2B5EF4-FFF2-40B4-BE49-F238E27FC236}">
                <a16:creationId xmlns:a16="http://schemas.microsoft.com/office/drawing/2014/main" id="{E0FF88A8-F43A-49F2-8051-CBF2A39E565C}"/>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bwMode="auto">
          <a:xfrm>
            <a:off x="696084" y="1956712"/>
            <a:ext cx="2831160" cy="2232000"/>
          </a:xfrm>
          <a:prstGeom prst="rect">
            <a:avLst/>
          </a:prstGeom>
          <a:ln>
            <a:noFill/>
          </a:ln>
          <a:extLst>
            <a:ext uri="{53640926-AAD7-44D8-BBD7-CCE9431645EC}">
              <a14:shadowObscured xmlns:a14="http://schemas.microsoft.com/office/drawing/2010/main"/>
            </a:ext>
          </a:extLst>
        </p:spPr>
      </p:pic>
      <p:sp>
        <p:nvSpPr>
          <p:cNvPr id="18" name="文本框 17">
            <a:extLst>
              <a:ext uri="{FF2B5EF4-FFF2-40B4-BE49-F238E27FC236}">
                <a16:creationId xmlns:a16="http://schemas.microsoft.com/office/drawing/2014/main" id="{F40C4369-DFA1-4532-9CEB-61316E0CA766}"/>
              </a:ext>
            </a:extLst>
          </p:cNvPr>
          <p:cNvSpPr txBox="1"/>
          <p:nvPr/>
        </p:nvSpPr>
        <p:spPr>
          <a:xfrm>
            <a:off x="811894" y="1587380"/>
            <a:ext cx="3931836"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300" dirty="0">
                <a:latin typeface="Times New Roman" panose="02020603050405020304" pitchFamily="18" charset="0"/>
                <a:ea typeface="SimSun" panose="02010600030101010101" pitchFamily="2" charset="-122"/>
                <a:cs typeface="Times New Roman"/>
              </a:rPr>
              <a:t>Operation characteristics parameters</a:t>
            </a:r>
            <a:r>
              <a:rPr sz="1066" lang="zh-CN">
                <a:solidFill>
                  <a:srgbClr val="24425A"/>
                </a:solidFill>
                <a:latin typeface="Times New Roman"/>
                <a:ea typeface="SimSun"/>
                <a:cs typeface="Times New Roman"/>
              </a:rPr>
              <a:t>  运行特性参数</a:t>
            </a:r>
          </a:p>
        </p:txBody>
      </p:sp>
      <p:sp>
        <p:nvSpPr>
          <p:cNvPr id="20" name="矩形 19">
            <a:extLst>
              <a:ext uri="{FF2B5EF4-FFF2-40B4-BE49-F238E27FC236}">
                <a16:creationId xmlns:a16="http://schemas.microsoft.com/office/drawing/2014/main" id="{E7D6BDAB-5D97-45FF-9EE7-983C589C645E}"/>
              </a:ext>
            </a:extLst>
          </p:cNvPr>
          <p:cNvSpPr/>
          <p:nvPr/>
        </p:nvSpPr>
        <p:spPr>
          <a:xfrm>
            <a:off x="6822785" y="6531348"/>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Fig.5.4.4 </a:t>
            </a:r>
            <a:r>
              <a:rPr lang="en-HK" sz="1400" dirty="0">
                <a:solidFill>
                  <a:prstClr val="black"/>
                </a:solidFill>
                <a:latin typeface="Times New Roman" panose="02020603050405020304" pitchFamily="18" charset="0"/>
                <a:ea typeface="SimSun"/>
                <a:cs typeface="Times New Roman" panose="02020603050405020304" pitchFamily="18" charset="0"/>
              </a:rPr>
              <a:t>The effect of operation parameters on pressure drop  </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72FE34C-052C-4910-BE0B-10F97CC2FA8F}"/>
                  </a:ext>
                </a:extLst>
              </p:cNvPr>
              <p:cNvSpPr txBox="1"/>
              <p:nvPr/>
            </p:nvSpPr>
            <p:spPr>
              <a:xfrm>
                <a:off x="6932546" y="1851947"/>
                <a:ext cx="4627944" cy="197169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Ratio of air to water</a:t>
                </a:r>
              </a:p>
              <a:p>
                <a:pPr marL="285750" indent="-285750" algn="just">
                  <a:lnSpc>
                    <a:spcPct val="150000"/>
                  </a:lnSpc>
                  <a:spcBef>
                    <a:spcPts val="0"/>
                  </a:spcBef>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Initial stage:</a:t>
                </a:r>
                <a:r>
                  <a:rPr lang="zh-CN" altLang="en-US" sz="1600" dirty="0">
                    <a:latin typeface="Times New Roman" panose="02020603050405020304" pitchFamily="18" charset="0"/>
                    <a:ea typeface="SimSun" panose="02010600030101010101" pitchFamily="2" charset="-122"/>
                    <a:cs typeface="Times New Roman"/>
                  </a:rPr>
                  <a:t> </a:t>
                </a:r>
                <a:r>
                  <a:rPr lang="en-HK" altLang="zh-CN" sz="1600" dirty="0">
                    <a:latin typeface="Times New Roman" panose="02020603050405020304" pitchFamily="18" charset="0"/>
                    <a:ea typeface="SimSun" panose="02010600030101010101" pitchFamily="2" charset="-122"/>
                    <a:cs typeface="Times New Roman"/>
                  </a:rPr>
                  <a:t>improves the convective heat and mass transfer coefficient, thus optimising 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a:t>
                </a:r>
              </a:p>
              <a:p>
                <a:pPr marL="285750" indent="-285750" algn="just">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Later stage: disrupts the formation of a water film, increasing the pressure drop</a:t>
                </a:r>
              </a:p>
            </p:txBody>
          </p:sp>
        </mc:Choice>
        <mc:Fallback xmlns="">
          <p:sp>
            <p:nvSpPr>
              <p:cNvPr id="21" name="文本框 20">
                <a:extLst>
                  <a:ext uri="{FF2B5EF4-FFF2-40B4-BE49-F238E27FC236}">
                    <a16:creationId xmlns:a16="http://schemas.microsoft.com/office/drawing/2014/main" id="{572FE34C-052C-4910-BE0B-10F97CC2FA8F}"/>
                  </a:ext>
                </a:extLst>
              </p:cNvPr>
              <p:cNvSpPr txBox="1">
                <a:spLocks noRot="1" noChangeAspect="1" noMove="1" noResize="1" noEditPoints="1" noAdjustHandles="1" noChangeArrowheads="1" noChangeShapeType="1" noTextEdit="1"/>
              </p:cNvSpPr>
              <p:nvPr/>
            </p:nvSpPr>
            <p:spPr>
              <a:xfrm>
                <a:off x="6932546" y="1851947"/>
                <a:ext cx="4627944" cy="1971694"/>
              </a:xfrm>
              <a:prstGeom prst="rect">
                <a:avLst/>
              </a:prstGeom>
              <a:blipFill>
                <a:blip r:embed="rId8"/>
                <a:stretch>
                  <a:fillRect l="-527" r="-791" b="-3406"/>
                </a:stretch>
              </a:blipFill>
            </p:spPr>
            <p:txBody>
              <a:bodyPr/>
              <a:lstStyle/>
              <a:p>
                <a:r>
                  <a:rPr lang="en-US">
                    <a:noFill/>
                    <a:latin typeface="Times New Roman"/>
                    <a:ea typeface="SimSun"/>
                    <a:cs typeface="Times New Roman"/>
                  </a:rPr>
                  <a:t> </a:t>
                </a:r>
              </a:p>
            </p:txBody>
          </p:sp>
        </mc:Fallback>
      </mc:AlternateContent>
      <p:sp>
        <p:nvSpPr>
          <p:cNvPr id="25" name="文本框 24">
            <a:extLst>
              <a:ext uri="{FF2B5EF4-FFF2-40B4-BE49-F238E27FC236}">
                <a16:creationId xmlns:a16="http://schemas.microsoft.com/office/drawing/2014/main" id="{776B95AA-D971-4D4E-B56F-D7F1FEE29B0D}"/>
              </a:ext>
            </a:extLst>
          </p:cNvPr>
          <p:cNvSpPr txBox="1"/>
          <p:nvPr/>
        </p:nvSpPr>
        <p:spPr>
          <a:xfrm>
            <a:off x="1112899" y="4424901"/>
            <a:ext cx="4627944" cy="2128091"/>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550" dirty="0">
                <a:latin typeface="Times New Roman" panose="02020603050405020304" pitchFamily="18" charset="0"/>
                <a:ea typeface="SimSun" panose="02010600030101010101" pitchFamily="2" charset="-122"/>
                <a:cs typeface="Times New Roman"/>
              </a:rPr>
              <a:t>Spray density</a:t>
            </a:r>
            <a:br/>
            <a:r>
              <a:rPr sz="1271" lang="zh-CN">
                <a:solidFill>
                  <a:srgbClr val="24425A"/>
                </a:solidFill>
                <a:latin typeface="Times New Roman"/>
                <a:ea typeface="SimSun"/>
                <a:cs typeface="Times New Roman"/>
              </a:rPr>
              <a:t>喷淋密度的影响</a:t>
            </a:r>
          </a:p>
          <a:p>
            <a:pPr marL="285750" indent="-285750" algn="l">
              <a:buFont typeface="Arial" panose="020B0604020202020204" pitchFamily="34" charset="0"/>
              <a:buChar char="•"/>
              <a:lnSpc>
                <a:spcPct val="108000"/>
              </a:lnSpc>
              <a:spcAft>
                <a:spcPts val="300"/>
              </a:spcAft>
            </a:pPr>
            <a:r>
              <a:rPr lang="en-HK" altLang="zh-CN" sz="1550" dirty="0">
                <a:latin typeface="Times New Roman" panose="02020603050405020304" pitchFamily="18" charset="0"/>
                <a:ea typeface="SimSun" panose="02010600030101010101" pitchFamily="2" charset="-122"/>
                <a:cs typeface="Times New Roman"/>
              </a:rPr>
              <a:t>L</a:t>
            </a:r>
            <a:r>
              <a:rPr lang="en-US" altLang="zh-CN" sz="1550" dirty="0" err="1">
                <a:latin typeface="Times New Roman" panose="02020603050405020304" pitchFamily="18" charset="0"/>
                <a:ea typeface="SimSun" panose="02010600030101010101" pitchFamily="2" charset="-122"/>
                <a:cs typeface="Times New Roman"/>
              </a:rPr>
              <a:t>ower</a:t>
            </a:r>
            <a:r>
              <a:rPr lang="en-US" altLang="zh-CN" sz="1550" dirty="0">
                <a:latin typeface="Times New Roman" panose="02020603050405020304" pitchFamily="18" charset="0"/>
                <a:ea typeface="SimSun" panose="02010600030101010101" pitchFamily="2" charset="-122"/>
                <a:cs typeface="Times New Roman"/>
              </a:rPr>
              <a:t> stage</a:t>
            </a:r>
            <a:r>
              <a:rPr lang="en-HK" altLang="zh-CN" sz="1550" dirty="0">
                <a:latin typeface="Times New Roman" panose="02020603050405020304" pitchFamily="18" charset="0"/>
                <a:ea typeface="SimSun" panose="02010600030101010101" pitchFamily="2" charset="-122"/>
                <a:cs typeface="Times New Roman"/>
              </a:rPr>
              <a:t>:</a:t>
            </a:r>
            <a:r>
              <a:rPr lang="zh-CN" altLang="en-US" sz="1550" dirty="0">
                <a:latin typeface="Times New Roman" panose="02020603050405020304" pitchFamily="18" charset="0"/>
                <a:ea typeface="SimSun" panose="02010600030101010101" pitchFamily="2" charset="-122"/>
                <a:cs typeface="Times New Roman"/>
              </a:rPr>
              <a:t> </a:t>
            </a:r>
            <a:r>
              <a:rPr lang="en-HK" altLang="zh-CN" sz="1550" dirty="0">
                <a:latin typeface="Times New Roman" panose="02020603050405020304" pitchFamily="18" charset="0"/>
                <a:ea typeface="SimSun" panose="02010600030101010101" pitchFamily="2" charset="-122"/>
                <a:cs typeface="Times New Roman"/>
              </a:rPr>
              <a:t>Uneven water film distribution, presence of dry areas</a:t>
            </a:r>
            <a:br/>
            <a:r>
              <a:rPr sz="1271" lang="zh-CN">
                <a:solidFill>
                  <a:srgbClr val="24425A"/>
                </a:solidFill>
                <a:latin typeface="Times New Roman"/>
                <a:ea typeface="SimSun"/>
                <a:cs typeface="Times New Roman"/>
              </a:rPr>
              <a:t>喷淋密度较低：水膜分布不均，存在干区。</a:t>
            </a:r>
          </a:p>
          <a:p>
            <a:pPr marL="285750" indent="-285750" algn="l">
              <a:buFont typeface="Arial" panose="020B0604020202020204" pitchFamily="34" charset="0"/>
              <a:buChar char="•"/>
              <a:lnSpc>
                <a:spcPct val="108000"/>
              </a:lnSpc>
              <a:spcAft>
                <a:spcPts val="300"/>
              </a:spcAft>
            </a:pPr>
            <a:r>
              <a:rPr lang="en-HK" altLang="zh-CN" sz="1550" dirty="0">
                <a:latin typeface="Times New Roman" panose="02020603050405020304" pitchFamily="18" charset="0"/>
                <a:ea typeface="SimSun" panose="02010600030101010101" pitchFamily="2" charset="-122"/>
                <a:cs typeface="Times New Roman"/>
              </a:rPr>
              <a:t>Higher stage: thicker water film lead to clogging of secondary air channel, increasing air resistance.</a:t>
            </a:r>
            <a:br/>
            <a:r>
              <a:rPr sz="1271" lang="zh-CN">
                <a:solidFill>
                  <a:srgbClr val="24425A"/>
                </a:solidFill>
                <a:latin typeface="Times New Roman"/>
                <a:ea typeface="SimSun"/>
                <a:cs typeface="Times New Roman"/>
              </a:rPr>
              <a:t>喷淋密度较高：水膜增厚，可能堵塞二次空气通道并增大空气阻力。</a:t>
            </a:r>
          </a:p>
        </p:txBody>
      </p:sp>
      <p:sp>
        <p:nvSpPr>
          <p:cNvPr id="27"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73889755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9C31EF2F-1855-48F7-A274-EE81D147E5A1}"/>
              </a:ext>
            </a:extLst>
          </p:cNvPr>
          <p:cNvSpPr/>
          <p:nvPr/>
        </p:nvSpPr>
        <p:spPr bwMode="auto">
          <a:xfrm>
            <a:off x="1192168" y="4611495"/>
            <a:ext cx="5127723" cy="2020197"/>
          </a:xfrm>
          <a:prstGeom prst="roundRect">
            <a:avLst/>
          </a:prstGeom>
          <a:noFill/>
          <a:ln w="19050" cap="flat" cmpd="sng" algn="ctr">
            <a:solidFill>
              <a:srgbClr val="AF1E3B"/>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1126814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5.4 </a:t>
            </a:r>
            <a:r>
              <a:rPr lang="en-HK" altLang="en-US" sz="1500" b="1" kern="0" dirty="0">
                <a:latin typeface="Times New Roman" panose="02020603050405020304" pitchFamily="18" charset="0"/>
                <a:ea typeface="SimSun"/>
                <a:cs typeface="Times New Roman" panose="02020603050405020304" pitchFamily="18" charset="0"/>
              </a:rPr>
              <a:t>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43</a:t>
            </a:fld>
            <a:endParaRPr lang="en-US" altLang="zh-CN" dirty="0">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4945154"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250" dirty="0">
                <a:solidFill>
                  <a:prstClr val="black"/>
                </a:solidFill>
                <a:latin typeface="Times New Roman" panose="02020603050405020304" pitchFamily="18" charset="0"/>
                <a:ea typeface="SimSun"/>
                <a:cs typeface="Times New Roman" panose="02020603050405020304" pitchFamily="18" charset="0"/>
              </a:rPr>
              <a:t>5.4.2 Combined effect of variations in two factors</a:t>
            </a:r>
            <a:r>
              <a:rPr sz="1025" lang="zh-CN">
                <a:solidFill>
                  <a:srgbClr val="24425A"/>
                </a:solidFill>
                <a:latin typeface="Times New Roman"/>
                <a:ea typeface="SimSun"/>
                <a:cs typeface="Times New Roman"/>
              </a:rPr>
              <a:t>  双因素变化的耦合影响</a:t>
            </a:r>
          </a:p>
        </p:txBody>
      </p:sp>
      <p:sp>
        <p:nvSpPr>
          <p:cNvPr id="18" name="文本框 17">
            <a:extLst>
              <a:ext uri="{FF2B5EF4-FFF2-40B4-BE49-F238E27FC236}">
                <a16:creationId xmlns:a16="http://schemas.microsoft.com/office/drawing/2014/main" id="{F40C4369-DFA1-4532-9CEB-61316E0CA766}"/>
              </a:ext>
            </a:extLst>
          </p:cNvPr>
          <p:cNvSpPr txBox="1"/>
          <p:nvPr/>
        </p:nvSpPr>
        <p:spPr>
          <a:xfrm>
            <a:off x="392303" y="1712549"/>
            <a:ext cx="2219391"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000" dirty="0">
                <a:latin typeface="Times New Roman" panose="02020603050405020304" pitchFamily="18" charset="0"/>
                <a:ea typeface="SimSun" panose="02010600030101010101" pitchFamily="2" charset="-122"/>
                <a:cs typeface="Times New Roman"/>
              </a:rPr>
              <a:t>Spacing and pressure</a:t>
            </a:r>
            <a:r>
              <a:rPr sz="820" lang="zh-CN">
                <a:solidFill>
                  <a:srgbClr val="24425A"/>
                </a:solidFill>
                <a:latin typeface="Times New Roman"/>
                <a:ea typeface="SimSun"/>
                <a:cs typeface="Times New Roman"/>
              </a:rPr>
              <a:t>  间距与压力</a:t>
            </a:r>
          </a:p>
        </p:txBody>
      </p:sp>
      <p:pic>
        <p:nvPicPr>
          <p:cNvPr id="14" name="图片 13">
            <a:extLst>
              <a:ext uri="{FF2B5EF4-FFF2-40B4-BE49-F238E27FC236}">
                <a16:creationId xmlns:a16="http://schemas.microsoft.com/office/drawing/2014/main" id="{DB624EFF-8ED2-4907-939C-14BAF5D79B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6138" y="2109640"/>
            <a:ext cx="3031927" cy="2160000"/>
          </a:xfrm>
          <a:prstGeom prst="rect">
            <a:avLst/>
          </a:prstGeom>
        </p:spPr>
      </p:pic>
      <p:pic>
        <p:nvPicPr>
          <p:cNvPr id="19" name="图片 18">
            <a:extLst>
              <a:ext uri="{FF2B5EF4-FFF2-40B4-BE49-F238E27FC236}">
                <a16:creationId xmlns:a16="http://schemas.microsoft.com/office/drawing/2014/main" id="{B94CD3CA-1F56-4FD8-A05D-76B883319F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8689" y="2109640"/>
            <a:ext cx="2935929" cy="2160000"/>
          </a:xfrm>
          <a:prstGeom prst="rect">
            <a:avLst/>
          </a:prstGeom>
        </p:spPr>
      </p:pic>
      <p:sp>
        <p:nvSpPr>
          <p:cNvPr id="25" name="文本框 24">
            <a:extLst>
              <a:ext uri="{FF2B5EF4-FFF2-40B4-BE49-F238E27FC236}">
                <a16:creationId xmlns:a16="http://schemas.microsoft.com/office/drawing/2014/main" id="{0E0C6A71-5910-45AE-AA36-4527C723483A}"/>
              </a:ext>
            </a:extLst>
          </p:cNvPr>
          <p:cNvSpPr txBox="1"/>
          <p:nvPr/>
        </p:nvSpPr>
        <p:spPr>
          <a:xfrm>
            <a:off x="3434964" y="1722138"/>
            <a:ext cx="2476566"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150" dirty="0">
                <a:latin typeface="Times New Roman" panose="02020603050405020304" pitchFamily="18" charset="0"/>
                <a:ea typeface="SimSun" panose="02010600030101010101" pitchFamily="2" charset="-122"/>
                <a:cs typeface="Times New Roman"/>
              </a:rPr>
              <a:t>Aperture and pressure</a:t>
            </a:r>
            <a:r>
              <a:rPr sz="943" lang="zh-CN">
                <a:solidFill>
                  <a:srgbClr val="24425A"/>
                </a:solidFill>
                <a:latin typeface="Times New Roman"/>
                <a:ea typeface="SimSun"/>
                <a:cs typeface="Times New Roman"/>
              </a:rPr>
              <a:t>  孔径与压力</a:t>
            </a:r>
          </a:p>
        </p:txBody>
      </p:sp>
      <p:cxnSp>
        <p:nvCxnSpPr>
          <p:cNvPr id="34" name="直接连接符 33">
            <a:extLst>
              <a:ext uri="{FF2B5EF4-FFF2-40B4-BE49-F238E27FC236}">
                <a16:creationId xmlns:a16="http://schemas.microsoft.com/office/drawing/2014/main" id="{928D7627-E5B3-45C8-A69C-FAEB4BA114AF}"/>
              </a:ext>
            </a:extLst>
          </p:cNvPr>
          <p:cNvCxnSpPr>
            <a:cxnSpLocks/>
          </p:cNvCxnSpPr>
          <p:nvPr/>
        </p:nvCxnSpPr>
        <p:spPr bwMode="auto">
          <a:xfrm>
            <a:off x="7086600" y="1281316"/>
            <a:ext cx="0" cy="5576684"/>
          </a:xfrm>
          <a:prstGeom prst="line">
            <a:avLst/>
          </a:prstGeom>
          <a:ln w="19050">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5" name="文本框 34">
            <a:extLst>
              <a:ext uri="{FF2B5EF4-FFF2-40B4-BE49-F238E27FC236}">
                <a16:creationId xmlns:a16="http://schemas.microsoft.com/office/drawing/2014/main" id="{D7FACD9B-841E-43E7-8A76-488CF4D8AD04}"/>
              </a:ext>
            </a:extLst>
          </p:cNvPr>
          <p:cNvSpPr txBox="1"/>
          <p:nvPr/>
        </p:nvSpPr>
        <p:spPr>
          <a:xfrm>
            <a:off x="7130448" y="1437635"/>
            <a:ext cx="4301553"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050" dirty="0">
                <a:latin typeface="Times New Roman" panose="02020603050405020304" pitchFamily="18" charset="0"/>
                <a:ea typeface="SimSun" panose="02010600030101010101" pitchFamily="2" charset="-122"/>
                <a:cs typeface="Times New Roman"/>
              </a:rPr>
              <a:t>The importance of different design parameters</a:t>
            </a:r>
            <a:r>
              <a:rPr sz="861" lang="zh-CN">
                <a:solidFill>
                  <a:srgbClr val="24425A"/>
                </a:solidFill>
                <a:latin typeface="Times New Roman"/>
                <a:ea typeface="SimSun"/>
                <a:cs typeface="Times New Roman"/>
              </a:rPr>
              <a:t>  不同设计参数的重要性</a:t>
            </a:r>
          </a:p>
        </p:txBody>
      </p:sp>
      <p:pic>
        <p:nvPicPr>
          <p:cNvPr id="36" name="图片 35">
            <a:extLst>
              <a:ext uri="{FF2B5EF4-FFF2-40B4-BE49-F238E27FC236}">
                <a16:creationId xmlns:a16="http://schemas.microsoft.com/office/drawing/2014/main" id="{560F1C2B-8F45-41B7-A25E-A08FF4319A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0588" y="1790708"/>
            <a:ext cx="4233202" cy="2880000"/>
          </a:xfrm>
          <a:prstGeom prst="rect">
            <a:avLst/>
          </a:prstGeom>
        </p:spPr>
      </p:pic>
      <p:cxnSp>
        <p:nvCxnSpPr>
          <p:cNvPr id="37" name="直接连接符 36">
            <a:extLst>
              <a:ext uri="{FF2B5EF4-FFF2-40B4-BE49-F238E27FC236}">
                <a16:creationId xmlns:a16="http://schemas.microsoft.com/office/drawing/2014/main" id="{38752550-5659-4DDE-9536-D32F28C15AAB}"/>
              </a:ext>
            </a:extLst>
          </p:cNvPr>
          <p:cNvCxnSpPr>
            <a:cxnSpLocks/>
          </p:cNvCxnSpPr>
          <p:nvPr/>
        </p:nvCxnSpPr>
        <p:spPr bwMode="auto">
          <a:xfrm>
            <a:off x="7086600" y="1281316"/>
            <a:ext cx="0" cy="5576684"/>
          </a:xfrm>
          <a:prstGeom prst="line">
            <a:avLst/>
          </a:prstGeom>
          <a:ln w="19050">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BC2B341A-347E-497E-BAAD-DFC3411178C6}"/>
                  </a:ext>
                </a:extLst>
              </p:cNvPr>
              <p:cNvSpPr txBox="1"/>
              <p:nvPr/>
            </p:nvSpPr>
            <p:spPr>
              <a:xfrm>
                <a:off x="7431141" y="4800596"/>
                <a:ext cx="4132649" cy="1602362"/>
              </a:xfrm>
              <a:prstGeom prst="rect">
                <a:avLst/>
              </a:prstGeom>
              <a:noFill/>
            </p:spPr>
            <p:txBody>
              <a:bodyPr wrap="square">
                <a:spAutoFit/>
              </a:bodyPr>
              <a:lstStyle/>
              <a:p>
                <a:pPr marL="285750" indent="-285750" algn="just">
                  <a:lnSpc>
                    <a:spcPct val="150000"/>
                  </a:lnSpc>
                  <a:spcBef>
                    <a:spcPts val="600"/>
                  </a:spcBef>
                  <a:spcAft>
                    <a:spcPts val="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Ratio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 </m:t>
                    </m:r>
                  </m:oMath>
                </a14:m>
                <a:r>
                  <a:rPr lang="en-HK" altLang="zh-CN" sz="1600" dirty="0">
                    <a:latin typeface="Times New Roman" panose="02020603050405020304" pitchFamily="18" charset="0"/>
                    <a:ea typeface="SimSun" panose="02010600030101010101" pitchFamily="2" charset="-122"/>
                    <a:cs typeface="Times New Roman"/>
                  </a:rPr>
                  <a:t>Count </a:t>
                </a:r>
                <a14:m>
                  <m:oMath xmlns:m="http://schemas.openxmlformats.org/officeDocument/2006/math">
                    <m:r>
                      <a:rPr lang="en-HK" altLang="zh-CN" sz="1600" i="1" smtClean="0">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Density</a:t>
                </a:r>
                <a:r>
                  <a:rPr lang="en-HK" altLang="zh-CN" sz="1600" dirty="0">
                    <a:latin typeface="Times New Roman"/>
                    <a:ea typeface="SimSun" panose="02040503050406030204" pitchFamily="18" charset="0"/>
                    <a:cs typeface="Times New Roman"/>
                  </a:rPr>
                  <a:t>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Pressure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Spacing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Aperture</a:t>
                </a:r>
              </a:p>
              <a:p>
                <a:pPr marL="285750" indent="-285750" algn="just">
                  <a:lnSpc>
                    <a:spcPct val="150000"/>
                  </a:lnSpc>
                  <a:spcBef>
                    <a:spcPts val="600"/>
                  </a:spcBef>
                  <a:spcAft>
                    <a:spcPts val="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smallest impact factor with a correlation coefficient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0.5228</a:t>
                </a:r>
                <a:r>
                  <a:rPr lang="en-HK" altLang="zh-CN" sz="1600" dirty="0">
                    <a:latin typeface="Times New Roman" panose="02020603050405020304" pitchFamily="18" charset="0"/>
                    <a:ea typeface="SimSun" panose="02010600030101010101" pitchFamily="2" charset="-122"/>
                    <a:cs typeface="Times New Roman"/>
                  </a:rPr>
                  <a:t>, remains important.</a:t>
                </a:r>
              </a:p>
            </p:txBody>
          </p:sp>
        </mc:Choice>
        <mc:Fallback xmlns="">
          <p:sp>
            <p:nvSpPr>
              <p:cNvPr id="38" name="文本框 37">
                <a:extLst>
                  <a:ext uri="{FF2B5EF4-FFF2-40B4-BE49-F238E27FC236}">
                    <a16:creationId xmlns:a16="http://schemas.microsoft.com/office/drawing/2014/main" id="{BC2B341A-347E-497E-BAAD-DFC3411178C6}"/>
                  </a:ext>
                </a:extLst>
              </p:cNvPr>
              <p:cNvSpPr txBox="1">
                <a:spLocks noRot="1" noChangeAspect="1" noMove="1" noResize="1" noEditPoints="1" noAdjustHandles="1" noChangeArrowheads="1" noChangeShapeType="1" noTextEdit="1"/>
              </p:cNvSpPr>
              <p:nvPr/>
            </p:nvSpPr>
            <p:spPr>
              <a:xfrm>
                <a:off x="7431141" y="4800596"/>
                <a:ext cx="4132649" cy="1602362"/>
              </a:xfrm>
              <a:prstGeom prst="rect">
                <a:avLst/>
              </a:prstGeom>
              <a:blipFill>
                <a:blip r:embed="rId6"/>
                <a:stretch>
                  <a:fillRect l="-590" r="-885" b="-418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04B8C3A7-E0B9-4663-BC11-FE2739F5EFF3}"/>
                  </a:ext>
                </a:extLst>
              </p:cNvPr>
              <p:cNvSpPr txBox="1"/>
              <p:nvPr/>
            </p:nvSpPr>
            <p:spPr>
              <a:xfrm>
                <a:off x="1307733" y="4724335"/>
                <a:ext cx="4804067" cy="2125582"/>
              </a:xfrm>
              <a:prstGeom prst="rect">
                <a:avLst/>
              </a:prstGeom>
              <a:noFill/>
            </p:spPr>
            <p:txBody>
              <a:bodyPr wrap="square">
                <a:spAutoFit/>
              </a:bodyPr>
              <a:lstStyle/>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Small </a:t>
                </a:r>
                <a:r>
                  <a:rPr lang="en-HK" altLang="zh-CN" sz="1600" dirty="0">
                    <a:solidFill>
                      <a:srgbClr val="C00000"/>
                    </a:solidFill>
                    <a:latin typeface="Times New Roman" panose="02020603050405020304" pitchFamily="18" charset="0"/>
                    <a:ea typeface="SimSun" panose="02010600030101010101" pitchFamily="2" charset="-122"/>
                    <a:cs typeface="Times New Roman"/>
                  </a:rPr>
                  <a:t>spacing</a:t>
                </a:r>
                <a:r>
                  <a:rPr lang="en-HK" altLang="zh-CN" sz="1600" dirty="0">
                    <a:latin typeface="Times New Roman" panose="02020603050405020304" pitchFamily="18" charset="0"/>
                    <a:ea typeface="SimSun" panose="02010600030101010101" pitchFamily="2" charset="-122"/>
                    <a:cs typeface="Times New Roman"/>
                  </a:rPr>
                  <a:t>: increasing the pressure rapidly brings the IEC performance to its peak and then decreases.</a:t>
                </a:r>
                <a:endParaRPr lang="en-US" altLang="zh-CN" sz="1600" dirty="0">
                  <a:latin typeface="Times New Roman" panose="02020603050405020304" pitchFamily="18" charset="0"/>
                  <a:ea typeface="SimSun" panose="02010600030101010101" pitchFamily="2" charset="-122"/>
                  <a:cs typeface="Times New Roman"/>
                </a:endParaRPr>
              </a:p>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Low </a:t>
                </a:r>
                <a:r>
                  <a:rPr lang="en-HK" altLang="zh-CN" sz="1600" dirty="0">
                    <a:solidFill>
                      <a:srgbClr val="C00000"/>
                    </a:solidFill>
                    <a:latin typeface="Times New Roman" panose="02020603050405020304" pitchFamily="18" charset="0"/>
                    <a:ea typeface="SimSun" panose="02010600030101010101" pitchFamily="2" charset="-122"/>
                    <a:cs typeface="Times New Roman"/>
                  </a:rPr>
                  <a:t>pressure</a:t>
                </a:r>
                <a:r>
                  <a:rPr lang="en-HK" altLang="zh-CN" sz="1600" dirty="0">
                    <a:latin typeface="Times New Roman" panose="02020603050405020304" pitchFamily="18" charset="0"/>
                    <a:ea typeface="SimSun" panose="02010600030101010101" pitchFamily="2" charset="-122"/>
                    <a:cs typeface="Times New Roman"/>
                  </a:rPr>
                  <a:t>: aperture  </a:t>
                </a:r>
                <a14:m>
                  <m:oMath xmlns:m="http://schemas.openxmlformats.org/officeDocument/2006/math">
                    <m:sSub>
                      <m:sSubPr>
                        <m:ctrlPr>
                          <a:rPr lang="en-HK" sz="1600" b="0" i="1" smtClean="0">
                            <a:latin typeface="Times New Roman" panose="02040503050406030204" pitchFamily="18" charset="0"/>
                            <a:ea typeface="SimSun"/>
                            <a:cs typeface="Times New Roman"/>
                          </a:rPr>
                        </m:ctrlPr>
                      </m:sSubPr>
                      <m:e>
                        <m:r>
                          <a:rPr lang="en-HK" sz="1600" b="0" i="1" smtClean="0">
                            <a:latin typeface="Times New Roman" panose="02040503050406030204" pitchFamily="18" charset="0"/>
                            <a:ea typeface="SimSun"/>
                            <a:cs typeface="Times New Roman"/>
                          </a:rPr>
                          <m:t> </m:t>
                        </m:r>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  </a:t>
                </a:r>
              </a:p>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H</a:t>
                </a:r>
                <a:r>
                  <a:rPr lang="en-US" altLang="zh-CN" sz="1600" dirty="0" err="1">
                    <a:latin typeface="Times New Roman" panose="02020603050405020304" pitchFamily="18" charset="0"/>
                    <a:ea typeface="SimSun" panose="02010600030101010101" pitchFamily="2" charset="-122"/>
                    <a:cs typeface="Times New Roman"/>
                  </a:rPr>
                  <a:t>igh</a:t>
                </a:r>
                <a:r>
                  <a:rPr lang="en-US" altLang="zh-CN" sz="1600" dirty="0">
                    <a:latin typeface="Times New Roman" panose="02020603050405020304" pitchFamily="18" charset="0"/>
                    <a:ea typeface="SimSun" panose="02010600030101010101" pitchFamily="2" charset="-122"/>
                    <a:cs typeface="Times New Roman"/>
                  </a:rPr>
                  <a:t> </a:t>
                </a:r>
                <a:r>
                  <a:rPr lang="en-US" altLang="zh-CN" sz="1600" dirty="0">
                    <a:solidFill>
                      <a:srgbClr val="C00000"/>
                    </a:solidFill>
                    <a:latin typeface="Times New Roman" panose="02020603050405020304" pitchFamily="18" charset="0"/>
                    <a:ea typeface="SimSun" panose="02010600030101010101" pitchFamily="2" charset="-122"/>
                    <a:cs typeface="Times New Roman"/>
                  </a:rPr>
                  <a:t>pressure</a:t>
                </a:r>
                <a:r>
                  <a:rPr lang="en-US" altLang="zh-CN" sz="1600" dirty="0">
                    <a:latin typeface="Times New Roman" panose="02020603050405020304" pitchFamily="18" charset="0"/>
                    <a:ea typeface="SimSun" panose="02010600030101010101" pitchFamily="2" charset="-122"/>
                    <a:cs typeface="Times New Roman"/>
                  </a:rPr>
                  <a:t>: </a:t>
                </a:r>
                <a:r>
                  <a:rPr lang="en-HK" altLang="zh-CN" sz="1600" dirty="0">
                    <a:latin typeface="Times New Roman" panose="02020603050405020304" pitchFamily="18" charset="0"/>
                    <a:ea typeface="SimSun" panose="02010600030101010101" pitchFamily="2" charset="-122"/>
                    <a:cs typeface="Times New Roman"/>
                  </a:rPr>
                  <a:t>aperture  </a:t>
                </a:r>
                <a14:m>
                  <m:oMath xmlns:m="http://schemas.openxmlformats.org/officeDocument/2006/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 </m:t>
                        </m:r>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 </a:t>
                </a:r>
              </a:p>
              <a:p>
                <a:pPr marL="285750" indent="-285750" algn="just">
                  <a:lnSpc>
                    <a:spcPct val="150000"/>
                  </a:lnSpc>
                  <a:spcAft>
                    <a:spcPts val="600"/>
                  </a:spcAft>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39" name="文本框 38">
                <a:extLst>
                  <a:ext uri="{FF2B5EF4-FFF2-40B4-BE49-F238E27FC236}">
                    <a16:creationId xmlns:a16="http://schemas.microsoft.com/office/drawing/2014/main" id="{04B8C3A7-E0B9-4663-BC11-FE2739F5EFF3}"/>
                  </a:ext>
                </a:extLst>
              </p:cNvPr>
              <p:cNvSpPr txBox="1">
                <a:spLocks noRot="1" noChangeAspect="1" noMove="1" noResize="1" noEditPoints="1" noAdjustHandles="1" noChangeArrowheads="1" noChangeShapeType="1" noTextEdit="1"/>
              </p:cNvSpPr>
              <p:nvPr/>
            </p:nvSpPr>
            <p:spPr>
              <a:xfrm>
                <a:off x="1307733" y="4724335"/>
                <a:ext cx="4804067" cy="2125582"/>
              </a:xfrm>
              <a:prstGeom prst="rect">
                <a:avLst/>
              </a:prstGeom>
              <a:blipFill>
                <a:blip r:embed="rId7"/>
                <a:stretch>
                  <a:fillRect l="-508" r="-635"/>
                </a:stretch>
              </a:blipFill>
            </p:spPr>
            <p:txBody>
              <a:bodyPr/>
              <a:lstStyle/>
              <a:p>
                <a:r>
                  <a:rPr lang="en-US">
                    <a:noFill/>
                    <a:latin typeface="Times New Roman"/>
                    <a:ea typeface="SimSun"/>
                    <a:cs typeface="Times New Roman"/>
                  </a:rPr>
                  <a:t> </a:t>
                </a:r>
              </a:p>
            </p:txBody>
          </p:sp>
        </mc:Fallback>
      </mc:AlternateContent>
      <p:cxnSp>
        <p:nvCxnSpPr>
          <p:cNvPr id="3" name="直接箭头连接符 2">
            <a:extLst>
              <a:ext uri="{FF2B5EF4-FFF2-40B4-BE49-F238E27FC236}">
                <a16:creationId xmlns:a16="http://schemas.microsoft.com/office/drawing/2014/main" id="{FF856D8F-0275-FB94-C872-CFCC7F1B3E98}"/>
              </a:ext>
            </a:extLst>
          </p:cNvPr>
          <p:cNvCxnSpPr>
            <a:cxnSpLocks/>
          </p:cNvCxnSpPr>
          <p:nvPr/>
        </p:nvCxnSpPr>
        <p:spPr bwMode="auto">
          <a:xfrm flipV="1">
            <a:off x="3648689" y="5585183"/>
            <a:ext cx="0" cy="290151"/>
          </a:xfrm>
          <a:prstGeom prst="straightConnector1">
            <a:avLst/>
          </a:prstGeom>
          <a:noFill/>
          <a:ln w="38100" cap="flat" cmpd="sng" algn="ctr">
            <a:solidFill>
              <a:srgbClr val="B96E87"/>
            </a:solidFill>
            <a:prstDash val="solid"/>
            <a:round/>
            <a:headEnd type="none" w="med" len="med"/>
            <a:tailEnd type="triangle"/>
          </a:ln>
          <a:effectLst/>
        </p:spPr>
      </p:cxnSp>
      <p:cxnSp>
        <p:nvCxnSpPr>
          <p:cNvPr id="4" name="直接箭头连接符 3">
            <a:extLst>
              <a:ext uri="{FF2B5EF4-FFF2-40B4-BE49-F238E27FC236}">
                <a16:creationId xmlns:a16="http://schemas.microsoft.com/office/drawing/2014/main" id="{015E9621-5EA7-8830-497E-079F4E048EF8}"/>
              </a:ext>
            </a:extLst>
          </p:cNvPr>
          <p:cNvCxnSpPr>
            <a:cxnSpLocks/>
          </p:cNvCxnSpPr>
          <p:nvPr/>
        </p:nvCxnSpPr>
        <p:spPr bwMode="auto">
          <a:xfrm flipV="1">
            <a:off x="3657843" y="6039395"/>
            <a:ext cx="0" cy="290151"/>
          </a:xfrm>
          <a:prstGeom prst="straightConnector1">
            <a:avLst/>
          </a:prstGeom>
          <a:noFill/>
          <a:ln w="38100" cap="flat" cmpd="sng" algn="ctr">
            <a:solidFill>
              <a:srgbClr val="B96E87"/>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1B209BCA-4732-5F0D-A2D1-79AFE9E3CB6B}"/>
              </a:ext>
            </a:extLst>
          </p:cNvPr>
          <p:cNvCxnSpPr>
            <a:cxnSpLocks/>
          </p:cNvCxnSpPr>
          <p:nvPr/>
        </p:nvCxnSpPr>
        <p:spPr bwMode="auto">
          <a:xfrm>
            <a:off x="4127131" y="6039395"/>
            <a:ext cx="0" cy="310313"/>
          </a:xfrm>
          <a:prstGeom prst="straightConnector1">
            <a:avLst/>
          </a:prstGeom>
          <a:noFill/>
          <a:ln w="38100" cap="flat" cmpd="sng" algn="ctr">
            <a:solidFill>
              <a:srgbClr val="B96E87"/>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91AD7B73-9DD3-44EA-ABD8-7C88794E8EFC}"/>
              </a:ext>
            </a:extLst>
          </p:cNvPr>
          <p:cNvCxnSpPr>
            <a:cxnSpLocks/>
          </p:cNvCxnSpPr>
          <p:nvPr/>
        </p:nvCxnSpPr>
        <p:spPr bwMode="auto">
          <a:xfrm flipV="1">
            <a:off x="4127131" y="5585183"/>
            <a:ext cx="0" cy="290151"/>
          </a:xfrm>
          <a:prstGeom prst="straightConnector1">
            <a:avLst/>
          </a:prstGeom>
          <a:noFill/>
          <a:ln w="38100" cap="flat" cmpd="sng" algn="ctr">
            <a:solidFill>
              <a:srgbClr val="B96E87"/>
            </a:solidFill>
            <a:prstDash val="solid"/>
            <a:round/>
            <a:headEnd type="none" w="med" len="med"/>
            <a:tailEnd type="triangle"/>
          </a:ln>
          <a:effectLst/>
        </p:spPr>
      </p:cxnSp>
      <p:sp>
        <p:nvSpPr>
          <p:cNvPr id="40"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251995192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1126814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5.4 </a:t>
            </a:r>
            <a:r>
              <a:rPr lang="en-HK" altLang="en-US" sz="1500" b="1" kern="0" dirty="0">
                <a:latin typeface="Times New Roman" panose="02020603050405020304" pitchFamily="18" charset="0"/>
                <a:ea typeface="SimSun"/>
                <a:cs typeface="Times New Roman" panose="02020603050405020304" pitchFamily="18" charset="0"/>
              </a:rPr>
              <a:t>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a:xfrm>
            <a:off x="9309100" y="6400801"/>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44</a:t>
            </a:fld>
            <a:endParaRPr lang="en-US" altLang="zh-CN" dirty="0">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6489906"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5.4.3 Optimization of IEC-ANN model based on Genetic algorithm </a:t>
            </a:r>
            <a:r>
              <a:rPr sz="984" lang="zh-CN">
                <a:solidFill>
                  <a:srgbClr val="24425A"/>
                </a:solidFill>
                <a:latin typeface="Times New Roman"/>
                <a:ea typeface="SimSun"/>
                <a:cs typeface="Times New Roman"/>
              </a:rPr>
              <a:t>  基于遗传算法的 IEC–ANN 模型优化</a:t>
            </a:r>
          </a:p>
        </p:txBody>
      </p:sp>
      <p:sp>
        <p:nvSpPr>
          <p:cNvPr id="23" name="文本框 22">
            <a:extLst>
              <a:ext uri="{FF2B5EF4-FFF2-40B4-BE49-F238E27FC236}">
                <a16:creationId xmlns:a16="http://schemas.microsoft.com/office/drawing/2014/main" id="{45198741-7FC3-4859-BD74-79B3658E8721}"/>
              </a:ext>
            </a:extLst>
          </p:cNvPr>
          <p:cNvSpPr txBox="1"/>
          <p:nvPr/>
        </p:nvSpPr>
        <p:spPr>
          <a:xfrm>
            <a:off x="474572" y="1673521"/>
            <a:ext cx="1973354"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000" dirty="0">
                <a:latin typeface="Times New Roman" panose="02020603050405020304" pitchFamily="18" charset="0"/>
                <a:ea typeface="SimSun" panose="02010600030101010101" pitchFamily="2" charset="-122"/>
                <a:cs typeface="Times New Roman"/>
              </a:rPr>
              <a:t>Genetic algorithm </a:t>
            </a:r>
            <a:r>
              <a:rPr sz="820" lang="zh-CN">
                <a:solidFill>
                  <a:srgbClr val="24425A"/>
                </a:solidFill>
                <a:latin typeface="Times New Roman"/>
                <a:ea typeface="SimSun"/>
                <a:cs typeface="Times New Roman"/>
              </a:rPr>
              <a:t>  遗传算法</a:t>
            </a:r>
          </a:p>
        </p:txBody>
      </p:sp>
      <p:pic>
        <p:nvPicPr>
          <p:cNvPr id="16" name="图片 15">
            <a:extLst>
              <a:ext uri="{FF2B5EF4-FFF2-40B4-BE49-F238E27FC236}">
                <a16:creationId xmlns:a16="http://schemas.microsoft.com/office/drawing/2014/main" id="{1ADC7978-BE55-459A-94AE-C6AEA8B33D9C}"/>
              </a:ext>
            </a:extLst>
          </p:cNvPr>
          <p:cNvPicPr/>
          <p:nvPr/>
        </p:nvPicPr>
        <p:blipFill>
          <a:blip r:embed="rId3">
            <a:extLst>
              <a:ext uri="{28A0092B-C50C-407E-A947-70E740481C1C}">
                <a14:useLocalDpi xmlns:a14="http://schemas.microsoft.com/office/drawing/2010/main" val="0"/>
              </a:ext>
            </a:extLst>
          </a:blip>
          <a:stretch>
            <a:fillRect/>
          </a:stretch>
        </p:blipFill>
        <p:spPr>
          <a:xfrm>
            <a:off x="6890385" y="1543368"/>
            <a:ext cx="4837430" cy="5039995"/>
          </a:xfrm>
          <a:prstGeom prst="rect">
            <a:avLst/>
          </a:prstGeom>
        </p:spPr>
      </p:pic>
      <p:sp>
        <p:nvSpPr>
          <p:cNvPr id="17" name="文本框 16">
            <a:extLst>
              <a:ext uri="{FF2B5EF4-FFF2-40B4-BE49-F238E27FC236}">
                <a16:creationId xmlns:a16="http://schemas.microsoft.com/office/drawing/2014/main" id="{6AF4C4CC-D4DC-4AEB-AA94-6A000AE3FB51}"/>
              </a:ext>
            </a:extLst>
          </p:cNvPr>
          <p:cNvSpPr txBox="1"/>
          <p:nvPr/>
        </p:nvSpPr>
        <p:spPr>
          <a:xfrm>
            <a:off x="653677" y="2062425"/>
            <a:ext cx="5990024" cy="1276711"/>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Four key aspects: determining the basic operating parameters, chromosome encoding and decoding, evaluating individual fitness, and implementing the three genetic operators.</a:t>
            </a:r>
            <a:br/>
            <a:r>
              <a:rPr sz="1394" lang="zh-CN">
                <a:solidFill>
                  <a:srgbClr val="24425A"/>
                </a:solidFill>
                <a:latin typeface="Times New Roman"/>
                <a:ea typeface="SimSun"/>
                <a:cs typeface="Times New Roman"/>
              </a:rPr>
              <a:t>四个关键环节：确定基本运行参数、染色体编码与解码、个体适应度评价，以及执行三种遗传操作。</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E12DBFC-4A90-4CA1-94BE-0B48E124C0BC}"/>
                  </a:ext>
                </a:extLst>
              </p:cNvPr>
              <p:cNvSpPr/>
              <p:nvPr/>
            </p:nvSpPr>
            <p:spPr>
              <a:xfrm>
                <a:off x="1767507" y="5486520"/>
                <a:ext cx="3534109" cy="596510"/>
              </a:xfrm>
              <a:prstGeom prst="rect">
                <a:avLst/>
              </a:prstGeom>
            </p:spPr>
            <p:txBody>
              <a:bodyPr wrap="none">
                <a:spAutoFit/>
              </a:bodyPr>
              <a:lstStyle/>
              <a:p>
                <a:pPr/>
                <a14:m>
                  <m:oMathPara xmlns:m="http://schemas.openxmlformats.org/officeDocument/2006/math">
                    <m:oMath>
                      <m:r>
                        <m:rPr>
                          <m:sty m:val="p"/>
                        </m:rPr>
                        <a:rPr lang="en-US" sz="1600">
                          <a:latin typeface="Times New Roman" panose="02040503050406030204" pitchFamily="18" charset="0"/>
                          <a:ea typeface="SimSun"/>
                          <a:cs typeface="Times New Roman"/>
                        </a:rPr>
                        <m:t>J</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𝑠</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𝑑</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𝑛</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𝛤</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𝑣</m:t>
                      </m:r>
                      <m:r>
                        <a:rPr lang="en-US" sz="1600" i="0">
                          <a:latin typeface="Times New Roman" panose="02040503050406030204" pitchFamily="18" charset="0"/>
                          <a:ea typeface="SimSun"/>
                          <a:cs typeface="Times New Roman"/>
                        </a:rPr>
                        <m:t>)=</m:t>
                      </m:r>
                      <m:sSub>
                        <m:sSubPr>
                          <m:ctrlPr>
                            <a:rPr lang="en-US" sz="1600" i="0">
                              <a:latin typeface="Times New Roman" panose="02040503050406030204" pitchFamily="18" charset="0"/>
                              <a:ea typeface="SimSun"/>
                              <a:cs typeface="Times New Roman"/>
                            </a:rPr>
                          </m:ctrlPr>
                        </m:sSubPr>
                        <m:e>
                          <m:r>
                            <m:rPr>
                              <m:sty m:val="p"/>
                            </m:rPr>
                            <a:rPr lang="en-US" sz="1600" i="0">
                              <a:latin typeface="Times New Roman" panose="02040503050406030204" pitchFamily="18" charset="0"/>
                              <a:ea typeface="SimSun"/>
                              <a:cs typeface="Times New Roman"/>
                            </a:rPr>
                            <m:t>W</m:t>
                          </m:r>
                        </m:e>
                        <m:sub>
                          <m:r>
                            <a:rPr lang="en-US" sz="1600" i="0">
                              <a:latin typeface="Times New Roman" panose="02040503050406030204" pitchFamily="18" charset="0"/>
                              <a:ea typeface="SimSun"/>
                              <a:cs typeface="Times New Roman"/>
                            </a:rPr>
                            <m:t>1</m:t>
                          </m:r>
                        </m:sub>
                      </m:sSub>
                      <m:f>
                        <m:fPr>
                          <m:ctrlPr>
                            <a:rPr lang="en-US"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num>
                        <m:den>
                          <m:r>
                            <a:rPr lang="en-US" sz="1600" i="1">
                              <a:latin typeface="Times New Roman" panose="02040503050406030204" pitchFamily="18" charset="0"/>
                              <a:ea typeface="SimSun"/>
                              <a:cs typeface="Times New Roman"/>
                            </a:rPr>
                            <m:t>𝑅</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den>
                      </m:f>
                      <m:r>
                        <a:rPr lang="en-US" sz="1600" i="0">
                          <a:latin typeface="Times New Roman" panose="02040503050406030204" pitchFamily="18" charset="0"/>
                          <a:ea typeface="SimSun"/>
                          <a:cs typeface="Times New Roman"/>
                        </a:rPr>
                        <m:t>+</m:t>
                      </m:r>
                      <m:sSub>
                        <m:sSubPr>
                          <m:ctrlPr>
                            <a:rPr lang="en-US" sz="1600" i="0">
                              <a:latin typeface="Times New Roman" panose="02040503050406030204" pitchFamily="18" charset="0"/>
                              <a:ea typeface="SimSun"/>
                              <a:cs typeface="Times New Roman"/>
                            </a:rPr>
                          </m:ctrlPr>
                        </m:sSubPr>
                        <m:e>
                          <m:r>
                            <m:rPr>
                              <m:sty m:val="p"/>
                            </m:rPr>
                            <a:rPr lang="en-US" sz="1600" i="0">
                              <a:latin typeface="Times New Roman" panose="02040503050406030204" pitchFamily="18" charset="0"/>
                              <a:ea typeface="SimSun"/>
                              <a:cs typeface="Times New Roman"/>
                            </a:rPr>
                            <m:t>W</m:t>
                          </m:r>
                        </m:e>
                        <m:sub>
                          <m:r>
                            <a:rPr lang="en-US" sz="1600" i="0">
                              <a:latin typeface="Times New Roman" panose="02040503050406030204" pitchFamily="18" charset="0"/>
                              <a:ea typeface="SimSun"/>
                              <a:cs typeface="Times New Roman"/>
                            </a:rPr>
                            <m:t>2</m:t>
                          </m:r>
                        </m:sub>
                      </m:sSub>
                      <m:f>
                        <m:fPr>
                          <m:ctrlPr>
                            <a:rPr lang="en-US" sz="1600" i="1">
                              <a:latin typeface="Times New Roman" panose="02040503050406030204" pitchFamily="18" charset="0"/>
                              <a:ea typeface="SimSun"/>
                              <a:cs typeface="Times New Roman"/>
                            </a:rPr>
                          </m:ctrlPr>
                        </m:fPr>
                        <m:num>
                          <m:r>
                            <a:rPr lang="en-US" sz="1600" i="1">
                              <a:latin typeface="Times New Roman" panose="02040503050406030204" pitchFamily="18" charset="0"/>
                              <a:ea typeface="SimSun"/>
                              <a:cs typeface="Times New Roman"/>
                            </a:rPr>
                            <m:t>𝛥</m:t>
                          </m:r>
                          <m:r>
                            <a:rPr lang="en-US" sz="1600" i="1">
                              <a:latin typeface="Times New Roman" panose="02040503050406030204" pitchFamily="18" charset="0"/>
                              <a:ea typeface="SimSun"/>
                              <a:cs typeface="Times New Roman"/>
                            </a:rPr>
                            <m:t>𝑃</m:t>
                          </m:r>
                        </m:num>
                        <m:den>
                          <m:r>
                            <a:rPr lang="en-US" sz="1600" i="1">
                              <a:latin typeface="Times New Roman" panose="02040503050406030204" pitchFamily="18" charset="0"/>
                              <a:ea typeface="SimSun"/>
                              <a:cs typeface="Times New Roman"/>
                            </a:rPr>
                            <m:t>𝑅</m:t>
                          </m:r>
                          <m:r>
                            <a:rPr lang="en-US" sz="1600" i="1">
                              <a:latin typeface="Times New Roman" panose="02040503050406030204" pitchFamily="18" charset="0"/>
                              <a:ea typeface="SimSun"/>
                              <a:cs typeface="Times New Roman"/>
                            </a:rPr>
                            <m:t>𝛥</m:t>
                          </m:r>
                          <m:r>
                            <a:rPr lang="en-US" sz="1600" i="1">
                              <a:latin typeface="Times New Roman" panose="02040503050406030204" pitchFamily="18" charset="0"/>
                              <a:ea typeface="SimSun"/>
                              <a:cs typeface="Times New Roman"/>
                            </a:rPr>
                            <m:t>𝑃</m:t>
                          </m:r>
                        </m:den>
                      </m:f>
                    </m:oMath>
                  </m:oMathPara>
                </a14:m>
                <a:endParaRPr lang="en-US" sz="1600" dirty="0">
                  <a:latin typeface="Times New Roman" panose="02020603050405020304" pitchFamily="18" charset="0"/>
                  <a:ea typeface="SimSun"/>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E12DBFC-4A90-4CA1-94BE-0B48E124C0BC}"/>
                  </a:ext>
                </a:extLst>
              </p:cNvPr>
              <p:cNvSpPr>
                <a:spLocks noRot="1" noChangeAspect="1" noMove="1" noResize="1" noEditPoints="1" noAdjustHandles="1" noChangeArrowheads="1" noChangeShapeType="1" noTextEdit="1"/>
              </p:cNvSpPr>
              <p:nvPr/>
            </p:nvSpPr>
            <p:spPr>
              <a:xfrm>
                <a:off x="1767507" y="5486520"/>
                <a:ext cx="3534109" cy="596510"/>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p:sp>
        <p:nvSpPr>
          <p:cNvPr id="10" name="文本框 9">
            <a:extLst>
              <a:ext uri="{FF2B5EF4-FFF2-40B4-BE49-F238E27FC236}">
                <a16:creationId xmlns:a16="http://schemas.microsoft.com/office/drawing/2014/main" id="{1521DE8B-51E7-4945-BE0F-B1DB4470CFDC}"/>
              </a:ext>
            </a:extLst>
          </p:cNvPr>
          <p:cNvSpPr txBox="1"/>
          <p:nvPr/>
        </p:nvSpPr>
        <p:spPr>
          <a:xfrm>
            <a:off x="474572" y="3429000"/>
            <a:ext cx="329633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300" dirty="0">
                <a:latin typeface="Times New Roman" panose="02020603050405020304" pitchFamily="18" charset="0"/>
                <a:ea typeface="SimSun" panose="02010600030101010101" pitchFamily="2" charset="-122"/>
                <a:cs typeface="Times New Roman"/>
              </a:rPr>
              <a:t>Multi-objectives optimization</a:t>
            </a:r>
            <a:r>
              <a:rPr sz="1066" lang="zh-CN">
                <a:solidFill>
                  <a:srgbClr val="24425A"/>
                </a:solidFill>
                <a:latin typeface="Times New Roman"/>
                <a:ea typeface="SimSun"/>
                <a:cs typeface="Times New Roman"/>
              </a:rPr>
              <a:t>  多目标优化</a:t>
            </a:r>
          </a:p>
        </p:txBody>
      </p:sp>
      <p:sp>
        <p:nvSpPr>
          <p:cNvPr id="11" name="文本框 10">
            <a:extLst>
              <a:ext uri="{FF2B5EF4-FFF2-40B4-BE49-F238E27FC236}">
                <a16:creationId xmlns:a16="http://schemas.microsoft.com/office/drawing/2014/main" id="{E6F462EE-4B69-40DC-8FFD-09B919FEF25F}"/>
              </a:ext>
            </a:extLst>
          </p:cNvPr>
          <p:cNvSpPr txBox="1"/>
          <p:nvPr/>
        </p:nvSpPr>
        <p:spPr>
          <a:xfrm>
            <a:off x="653675" y="3807964"/>
            <a:ext cx="6489905" cy="1793083"/>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Optimization targets: wet-bulb efficiency   and pressure drop     </a:t>
            </a:r>
            <a:r>
              <a:rPr lang="en-HK" altLang="zh-CN" sz="1700" b="1" dirty="0">
                <a:solidFill>
                  <a:srgbClr val="C00000"/>
                </a:solidFill>
                <a:latin typeface="Times New Roman" panose="02020603050405020304" pitchFamily="18" charset="0"/>
                <a:ea typeface="SimSun" panose="02010600030101010101" pitchFamily="2" charset="-122"/>
                <a:cs typeface="Times New Roman"/>
              </a:rPr>
              <a:t>Minimizing</a:t>
            </a:r>
            <a:r>
              <a:rPr lang="en-HK" altLang="zh-CN" sz="1700" dirty="0">
                <a:latin typeface="Times New Roman" panose="02020603050405020304" pitchFamily="18" charset="0"/>
                <a:ea typeface="SimSun" panose="02010600030101010101" pitchFamily="2" charset="-122"/>
                <a:cs typeface="Times New Roman"/>
              </a:rPr>
              <a:t> power consumption &amp; </a:t>
            </a:r>
            <a:r>
              <a:rPr lang="en-HK" altLang="zh-CN" sz="1700" b="1" dirty="0">
                <a:solidFill>
                  <a:srgbClr val="C00000"/>
                </a:solidFill>
                <a:latin typeface="Times New Roman" panose="02020603050405020304" pitchFamily="18" charset="0"/>
                <a:ea typeface="SimSun" panose="02010600030101010101" pitchFamily="2" charset="-122"/>
                <a:cs typeface="Times New Roman"/>
              </a:rPr>
              <a:t>Maximizing</a:t>
            </a:r>
            <a:r>
              <a:rPr lang="en-HK" altLang="zh-CN" sz="1700" dirty="0">
                <a:latin typeface="Times New Roman" panose="02020603050405020304" pitchFamily="18" charset="0"/>
                <a:ea typeface="SimSun" panose="02010600030101010101" pitchFamily="2" charset="-122"/>
                <a:cs typeface="Times New Roman"/>
              </a:rPr>
              <a:t> cooling performance.</a:t>
            </a:r>
            <a:br/>
            <a:r>
              <a:rPr sz="1394" lang="zh-CN">
                <a:solidFill>
                  <a:srgbClr val="24425A"/>
                </a:solidFill>
                <a:latin typeface="Times New Roman"/>
                <a:ea typeface="SimSun"/>
                <a:cs typeface="Times New Roman"/>
              </a:rPr>
              <a:t>优化指标：湿球效率与压降。</a:t>
            </a:r>
          </a:p>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The optimization function comprises of both a fitness as well as a constraint function.</a:t>
            </a:r>
            <a:br/>
            <a:r>
              <a:rPr sz="1394" lang="zh-CN">
                <a:solidFill>
                  <a:srgbClr val="24425A"/>
                </a:solidFill>
                <a:latin typeface="Times New Roman"/>
                <a:ea typeface="SimSun"/>
                <a:cs typeface="Times New Roman"/>
              </a:rPr>
              <a:t>目标：降低能耗，同时提升制冷性能。 优化函数由适应度函数与约束函数组成。</a:t>
            </a:r>
          </a:p>
        </p:txBody>
      </p:sp>
      <p:sp>
        <p:nvSpPr>
          <p:cNvPr id="19" name="矩形 18">
            <a:extLst>
              <a:ext uri="{FF2B5EF4-FFF2-40B4-BE49-F238E27FC236}">
                <a16:creationId xmlns:a16="http://schemas.microsoft.com/office/drawing/2014/main" id="{5457C2C6-5FB7-4F83-AF77-1023F4F1D97F}"/>
              </a:ext>
            </a:extLst>
          </p:cNvPr>
          <p:cNvSpPr/>
          <p:nvPr/>
        </p:nvSpPr>
        <p:spPr>
          <a:xfrm>
            <a:off x="7735284" y="6581001"/>
            <a:ext cx="2996216"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Fig.5.4.3 </a:t>
            </a:r>
            <a:r>
              <a:rPr lang="en-HK" sz="1200" dirty="0">
                <a:solidFill>
                  <a:prstClr val="black"/>
                </a:solidFill>
                <a:latin typeface="Times New Roman" panose="02020603050405020304" pitchFamily="18" charset="0"/>
                <a:ea typeface="SimSun"/>
                <a:cs typeface="Times New Roman" panose="02020603050405020304" pitchFamily="18" charset="0"/>
              </a:rPr>
              <a:t>The flow of GA-ANN optimization</a:t>
            </a:r>
          </a:p>
        </p:txBody>
      </p:sp>
      <p:cxnSp>
        <p:nvCxnSpPr>
          <p:cNvPr id="20" name="直接箭头连接符 19">
            <a:extLst>
              <a:ext uri="{FF2B5EF4-FFF2-40B4-BE49-F238E27FC236}">
                <a16:creationId xmlns:a16="http://schemas.microsoft.com/office/drawing/2014/main" id="{D30C4A18-44D9-4835-B3E7-786B4AAE7EBA}"/>
              </a:ext>
            </a:extLst>
          </p:cNvPr>
          <p:cNvCxnSpPr>
            <a:cxnSpLocks/>
          </p:cNvCxnSpPr>
          <p:nvPr/>
        </p:nvCxnSpPr>
        <p:spPr bwMode="auto">
          <a:xfrm flipV="1">
            <a:off x="4453094" y="3907061"/>
            <a:ext cx="0" cy="290151"/>
          </a:xfrm>
          <a:prstGeom prst="straightConnector1">
            <a:avLst/>
          </a:prstGeom>
          <a:noFill/>
          <a:ln w="38100" cap="flat" cmpd="sng" algn="ctr">
            <a:solidFill>
              <a:srgbClr val="AF1E3B"/>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5853C08C-8BF9-4EB7-9502-9572CAFB120A}"/>
              </a:ext>
            </a:extLst>
          </p:cNvPr>
          <p:cNvCxnSpPr>
            <a:cxnSpLocks/>
          </p:cNvCxnSpPr>
          <p:nvPr/>
        </p:nvCxnSpPr>
        <p:spPr bwMode="auto">
          <a:xfrm>
            <a:off x="6082226" y="3907061"/>
            <a:ext cx="0" cy="315817"/>
          </a:xfrm>
          <a:prstGeom prst="straightConnector1">
            <a:avLst/>
          </a:prstGeom>
          <a:noFill/>
          <a:ln w="38100" cap="flat" cmpd="sng" algn="ctr">
            <a:solidFill>
              <a:srgbClr val="AF1E3B"/>
            </a:solidFill>
            <a:prstDash val="solid"/>
            <a:round/>
            <a:headEnd type="none" w="med" len="med"/>
            <a:tailEnd type="triangle"/>
          </a:ln>
          <a:effectLst/>
        </p:spPr>
      </p:cxnSp>
      <p:sp>
        <p:nvSpPr>
          <p:cNvPr id="24"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93724677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sz="180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sz="1800">
                <a:latin typeface="Times New Roman" panose="02020603050405020304" pitchFamily="18" charset="0"/>
                <a:ea typeface="SimSun"/>
                <a:cs typeface="Times New Roman" panose="02020603050405020304" pitchFamily="18" charset="0"/>
              </a:rPr>
              <a:t>modeling</a:t>
            </a:r>
            <a:r>
              <a:rPr lang="en-HK" altLang="zh-CN" b="1" dirty="0" sz="180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1126814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5.4 </a:t>
            </a:r>
            <a:r>
              <a:rPr lang="en-HK" altLang="en-US" sz="1500" b="1" kern="0" dirty="0">
                <a:latin typeface="Times New Roman" panose="02020603050405020304" pitchFamily="18" charset="0"/>
                <a:ea typeface="SimSun"/>
                <a:cs typeface="Times New Roman" panose="02020603050405020304" pitchFamily="18" charset="0"/>
              </a:rPr>
              <a:t>Results and discussions</a:t>
            </a:r>
            <a:r>
              <a:rPr sz="1230" lang="zh-CN">
                <a:solidFill>
                  <a:srgbClr val="24425A"/>
                </a:solidFill>
                <a:latin typeface="Times New Roman"/>
                <a:ea typeface="SimSun"/>
                <a:cs typeface="Times New Roman"/>
              </a:rPr>
              <a:t>  结果与讨论</a:t>
            </a: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45</a:t>
            </a:fld>
            <a:endParaRPr lang="en-US" altLang="zh-CN" dirty="0">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6489906"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200" dirty="0">
                <a:solidFill>
                  <a:prstClr val="black"/>
                </a:solidFill>
                <a:latin typeface="Times New Roman" panose="02020603050405020304" pitchFamily="18" charset="0"/>
                <a:ea typeface="SimSun"/>
                <a:cs typeface="Times New Roman" panose="02020603050405020304" pitchFamily="18" charset="0"/>
              </a:rPr>
              <a:t>5.4.3 Optimization of IEC-ANN model based on Genetic algorithm </a:t>
            </a:r>
            <a:r>
              <a:rPr sz="984" lang="zh-CN">
                <a:solidFill>
                  <a:srgbClr val="24425A"/>
                </a:solidFill>
                <a:latin typeface="Times New Roman"/>
                <a:ea typeface="SimSun"/>
                <a:cs typeface="Times New Roman"/>
              </a:rPr>
              <a:t>  基于遗传算法的 IEC–ANN 模型优化</a:t>
            </a:r>
          </a:p>
        </p:txBody>
      </p:sp>
      <p:sp>
        <p:nvSpPr>
          <p:cNvPr id="23" name="文本框 22">
            <a:extLst>
              <a:ext uri="{FF2B5EF4-FFF2-40B4-BE49-F238E27FC236}">
                <a16:creationId xmlns:a16="http://schemas.microsoft.com/office/drawing/2014/main" id="{45198741-7FC3-4859-BD74-79B3658E8721}"/>
              </a:ext>
            </a:extLst>
          </p:cNvPr>
          <p:cNvSpPr txBox="1"/>
          <p:nvPr/>
        </p:nvSpPr>
        <p:spPr>
          <a:xfrm>
            <a:off x="474572" y="1673521"/>
            <a:ext cx="3716428"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HK" altLang="zh-CN" sz="1450" dirty="0">
                <a:latin typeface="Times New Roman" panose="02020603050405020304" pitchFamily="18" charset="0"/>
                <a:ea typeface="SimSun" panose="02010600030101010101" pitchFamily="2" charset="-122"/>
                <a:cs typeface="Times New Roman"/>
              </a:rPr>
              <a:t>Results derived from GA</a:t>
            </a:r>
            <a:r>
              <a:rPr sz="1189" lang="zh-CN">
                <a:solidFill>
                  <a:srgbClr val="24425A"/>
                </a:solidFill>
                <a:latin typeface="Times New Roman"/>
                <a:ea typeface="SimSun"/>
                <a:cs typeface="Times New Roman"/>
              </a:rPr>
              <a:t>  遗传算法优化结果</a:t>
            </a:r>
          </a:p>
        </p:txBody>
      </p:sp>
      <p:pic>
        <p:nvPicPr>
          <p:cNvPr id="4" name="图片 3">
            <a:extLst>
              <a:ext uri="{FF2B5EF4-FFF2-40B4-BE49-F238E27FC236}">
                <a16:creationId xmlns:a16="http://schemas.microsoft.com/office/drawing/2014/main" id="{7E56BBAF-0DA2-4115-968B-0B74F13609D6}"/>
              </a:ext>
            </a:extLst>
          </p:cNvPr>
          <p:cNvPicPr>
            <a:picLocks noChangeAspect="1"/>
          </p:cNvPicPr>
          <p:nvPr/>
        </p:nvPicPr>
        <p:blipFill>
          <a:blip r:embed="rId3"/>
          <a:stretch>
            <a:fillRect/>
          </a:stretch>
        </p:blipFill>
        <p:spPr>
          <a:xfrm>
            <a:off x="1743472" y="2062425"/>
            <a:ext cx="8705055" cy="2340000"/>
          </a:xfrm>
          <a:prstGeom prst="rect">
            <a:avLst/>
          </a:prstGeom>
        </p:spPr>
      </p:pic>
      <p:sp>
        <p:nvSpPr>
          <p:cNvPr id="11" name="文本框 10">
            <a:extLst>
              <a:ext uri="{FF2B5EF4-FFF2-40B4-BE49-F238E27FC236}">
                <a16:creationId xmlns:a16="http://schemas.microsoft.com/office/drawing/2014/main" id="{1ACDB8AD-B3DD-4014-A855-8CF9DE015A24}"/>
              </a:ext>
            </a:extLst>
          </p:cNvPr>
          <p:cNvSpPr txBox="1"/>
          <p:nvPr/>
        </p:nvSpPr>
        <p:spPr>
          <a:xfrm>
            <a:off x="1279743" y="4737521"/>
            <a:ext cx="9632511" cy="1340211"/>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An </a:t>
            </a:r>
            <a:r>
              <a:rPr lang="en-HK" altLang="zh-CN" sz="1700" b="1" dirty="0">
                <a:solidFill>
                  <a:srgbClr val="C00000"/>
                </a:solidFill>
                <a:latin typeface="Times New Roman" panose="02020603050405020304" pitchFamily="18" charset="0"/>
                <a:ea typeface="SimSun" panose="02010600030101010101" pitchFamily="2" charset="-122"/>
                <a:cs typeface="Times New Roman"/>
              </a:rPr>
              <a:t>equal-weight distribution </a:t>
            </a:r>
            <a:r>
              <a:rPr lang="en-HK" altLang="zh-CN" sz="1700" dirty="0">
                <a:latin typeface="Times New Roman" panose="02020603050405020304" pitchFamily="18" charset="0"/>
                <a:ea typeface="SimSun" panose="02010600030101010101" pitchFamily="2" charset="-122"/>
                <a:cs typeface="Times New Roman"/>
              </a:rPr>
              <a:t>yields the best conditions for optimization </a:t>
            </a:r>
            <a:r>
              <a:rPr lang="en-US" altLang="zh-CN" sz="1700" dirty="0">
                <a:latin typeface="Times New Roman" panose="02020603050405020304" pitchFamily="18" charset="0"/>
                <a:ea typeface="SimSun" panose="02010600030101010101" pitchFamily="2" charset="-122"/>
                <a:cs typeface="Times New Roman"/>
              </a:rPr>
              <a:t>of</a:t>
            </a:r>
            <a:r>
              <a:rPr lang="en-HK" altLang="zh-CN" sz="1700" dirty="0">
                <a:latin typeface="Times New Roman" panose="02020603050405020304" pitchFamily="18" charset="0"/>
                <a:ea typeface="SimSun" panose="02010600030101010101" pitchFamily="2" charset="-122"/>
                <a:cs typeface="Times New Roman"/>
              </a:rPr>
              <a:t> IEC performance.</a:t>
            </a:r>
            <a:br/>
            <a:r>
              <a:rPr sz="1394" lang="zh-CN">
                <a:solidFill>
                  <a:srgbClr val="24425A"/>
                </a:solidFill>
                <a:latin typeface="Times New Roman"/>
                <a:ea typeface="SimSun"/>
                <a:cs typeface="Times New Roman"/>
              </a:rPr>
              <a:t>采用等权重分配时，IEC 获得最佳综合优化效果。</a:t>
            </a:r>
          </a:p>
          <a:p>
            <a:pPr marL="285750" indent="-28575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panose="02010600030101010101" pitchFamily="2" charset="-122"/>
                <a:cs typeface="Times New Roman"/>
              </a:rPr>
              <a:t>Under this condition, the optimal operating parameters are fixed, which is an increase of </a:t>
            </a:r>
            <a:r>
              <a:rPr lang="en-HK" altLang="zh-CN" sz="1700" b="1" dirty="0">
                <a:solidFill>
                  <a:srgbClr val="C00000"/>
                </a:solidFill>
                <a:latin typeface="Times New Roman" panose="02020603050405020304" pitchFamily="18" charset="0"/>
                <a:ea typeface="SimSun" panose="02010600030101010101" pitchFamily="2" charset="-122"/>
                <a:cs typeface="Times New Roman"/>
              </a:rPr>
              <a:t>23.2%</a:t>
            </a:r>
            <a:r>
              <a:rPr lang="en-HK" altLang="zh-CN" sz="1700" dirty="0">
                <a:latin typeface="Times New Roman" panose="02020603050405020304" pitchFamily="18" charset="0"/>
                <a:ea typeface="SimSun" panose="02010600030101010101" pitchFamily="2" charset="-122"/>
                <a:cs typeface="Times New Roman"/>
              </a:rPr>
              <a:t> in comparison with the base system.</a:t>
            </a:r>
            <a:br/>
            <a:r>
              <a:rPr sz="1394" lang="zh-CN">
                <a:solidFill>
                  <a:srgbClr val="24425A"/>
                </a:solidFill>
                <a:latin typeface="Times New Roman"/>
                <a:ea typeface="SimSun"/>
                <a:cs typeface="Times New Roman"/>
              </a:rPr>
              <a:t>据此确定最优运行参数，相比基准系统，性能提升 23.2%。</a:t>
            </a:r>
          </a:p>
        </p:txBody>
      </p:sp>
      <p:sp>
        <p:nvSpPr>
          <p:cNvPr id="3" name="矩形 2">
            <a:extLst>
              <a:ext uri="{FF2B5EF4-FFF2-40B4-BE49-F238E27FC236}">
                <a16:creationId xmlns:a16="http://schemas.microsoft.com/office/drawing/2014/main" id="{0F41B2EE-A33A-4BFA-85C9-27179892DD50}"/>
              </a:ext>
            </a:extLst>
          </p:cNvPr>
          <p:cNvSpPr/>
          <p:nvPr/>
        </p:nvSpPr>
        <p:spPr bwMode="auto">
          <a:xfrm>
            <a:off x="1743472" y="3293616"/>
            <a:ext cx="8705055" cy="381739"/>
          </a:xfrm>
          <a:prstGeom prst="rect">
            <a:avLst/>
          </a:prstGeom>
          <a:noFill/>
          <a:ln w="28575" cap="flat" cmpd="sng" algn="ctr">
            <a:solidFill>
              <a:srgbClr val="AF1E3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4"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基于 ANN–GA 的喷淋策略优化</a:t>
            </a:r>
          </a:p>
        </p:txBody>
      </p:sp>
    </p:spTree>
    <p:extLst>
      <p:ext uri="{BB962C8B-B14F-4D97-AF65-F5344CB8AC3E}">
        <p14:creationId xmlns:p14="http://schemas.microsoft.com/office/powerpoint/2010/main" val="15018247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46</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rgbClr val="C00000"/>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rgbClr val="C00000"/>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Conclusions </a:t>
            </a:r>
            <a:r>
              <a:rPr lang="en-HK" sz="1700" b="1" dirty="0">
                <a:solidFill>
                  <a:schemeClr val="tx1"/>
                </a:solidFill>
                <a:latin typeface="Times New Roman" panose="02020603050405020304" pitchFamily="18" charset="0"/>
                <a:ea typeface="SimSun"/>
                <a:cs typeface="Times New Roman" panose="02020603050405020304" pitchFamily="18" charset="0"/>
              </a:rPr>
              <a:t>and</a:t>
            </a:r>
            <a:r>
              <a:rPr lang="zh-CN" altLang="en-US" sz="1700" b="1" dirty="0">
                <a:solidFill>
                  <a:schemeClr val="tx1"/>
                </a:solidFill>
                <a:latin typeface="Times New Roman" panose="02020603050405020304" pitchFamily="18" charset="0"/>
                <a:ea typeface="SimSun"/>
                <a:cs typeface="Times New Roman" panose="02020603050405020304" pitchFamily="18" charset="0"/>
              </a:rPr>
              <a:t> </a:t>
            </a:r>
            <a:r>
              <a:rPr lang="en-HK" altLang="zh-CN" sz="1700" b="1" dirty="0">
                <a:solidFill>
                  <a:schemeClr val="tx1"/>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24974830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0F5F6BD-6F55-DA11-D5DD-AE8D8D335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9780" y="3845845"/>
            <a:ext cx="5205095" cy="251968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2606800" y="3680920"/>
            <a:ext cx="3722980"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Fig.6.1.1 </a:t>
            </a:r>
            <a:r>
              <a:rPr lang="en-HK" sz="1200" dirty="0">
                <a:solidFill>
                  <a:prstClr val="black"/>
                </a:solidFill>
                <a:latin typeface="Times New Roman" panose="02020603050405020304" pitchFamily="18" charset="0"/>
                <a:ea typeface="SimSun"/>
                <a:cs typeface="Times New Roman" panose="02020603050405020304" pitchFamily="18" charset="0"/>
              </a:rPr>
              <a:t>A typical IEC air-conditioning system of DC </a:t>
            </a:r>
          </a:p>
        </p:txBody>
      </p:sp>
      <p:pic>
        <p:nvPicPr>
          <p:cNvPr id="3" name="图片 2">
            <a:extLst>
              <a:ext uri="{FF2B5EF4-FFF2-40B4-BE49-F238E27FC236}">
                <a16:creationId xmlns:a16="http://schemas.microsoft.com/office/drawing/2014/main" id="{B93E4263-9CC6-F33B-3000-D32D73E7EE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788" y="1305932"/>
            <a:ext cx="5713736" cy="2407982"/>
          </a:xfrm>
          <a:prstGeom prst="rect">
            <a:avLst/>
          </a:prstGeom>
        </p:spPr>
      </p:pic>
      <p:sp>
        <p:nvSpPr>
          <p:cNvPr id="4" name="矩形 3">
            <a:extLst>
              <a:ext uri="{FF2B5EF4-FFF2-40B4-BE49-F238E27FC236}">
                <a16:creationId xmlns:a16="http://schemas.microsoft.com/office/drawing/2014/main" id="{80E78822-42E2-AA63-4847-819ADD4701B7}"/>
              </a:ext>
            </a:extLst>
          </p:cNvPr>
          <p:cNvSpPr/>
          <p:nvPr/>
        </p:nvSpPr>
        <p:spPr>
          <a:xfrm>
            <a:off x="7146524" y="6422768"/>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6.1.2 </a:t>
            </a:r>
            <a:r>
              <a:rPr lang="en-HK" sz="1200" dirty="0">
                <a:solidFill>
                  <a:prstClr val="black"/>
                </a:solidFill>
                <a:latin typeface="Times New Roman" panose="02020603050405020304" pitchFamily="18" charset="0"/>
                <a:ea typeface="SimSun"/>
                <a:cs typeface="Times New Roman" panose="02020603050405020304" pitchFamily="18" charset="0"/>
              </a:rPr>
              <a:t>Two types of IEC models set up in work bench</a:t>
            </a:r>
          </a:p>
        </p:txBody>
      </p:sp>
      <p:sp>
        <p:nvSpPr>
          <p:cNvPr id="7" name="文本框 6">
            <a:extLst>
              <a:ext uri="{FF2B5EF4-FFF2-40B4-BE49-F238E27FC236}">
                <a16:creationId xmlns:a16="http://schemas.microsoft.com/office/drawing/2014/main" id="{1CA9619B-1A2F-D4E9-8BE6-232966E07D46}"/>
              </a:ext>
            </a:extLst>
          </p:cNvPr>
          <p:cNvSpPr txBox="1"/>
          <p:nvPr/>
        </p:nvSpPr>
        <p:spPr>
          <a:xfrm>
            <a:off x="7819876" y="1801503"/>
            <a:ext cx="3628337" cy="2001119"/>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altLang="zh-CN" sz="1550" dirty="0">
                <a:latin typeface="Times New Roman" panose="02020603050405020304" pitchFamily="18" charset="0"/>
                <a:ea typeface="SimSun" panose="02010600030101010101" pitchFamily="2" charset="-122"/>
                <a:cs typeface="Times New Roman" panose="02020603050405020304" pitchFamily="18" charset="0"/>
              </a:rPr>
              <a:t>Internal circulation</a:t>
            </a:r>
            <a:br/>
            <a:r>
              <a:rPr sz="1271" lang="zh-CN">
                <a:solidFill>
                  <a:srgbClr val="24425A"/>
                </a:solidFill>
                <a:latin typeface="Times New Roman"/>
                <a:ea typeface="SimSun"/>
                <a:cs typeface="Times New Roman"/>
              </a:rPr>
              <a:t>内循环模式</a:t>
            </a:r>
          </a:p>
          <a:p>
            <a:pPr marL="285750" indent="-285750" algn="l">
              <a:buFont typeface="Arial" panose="020B0604020202020204" pitchFamily="34" charset="0"/>
              <a:buChar char="•"/>
              <a:lnSpc>
                <a:spcPct val="108000"/>
              </a:lnSpc>
              <a:spcAft>
                <a:spcPts val="300"/>
              </a:spcAft>
            </a:pPr>
            <a:r>
              <a:rPr lang="en-US" altLang="zh-CN" sz="1550" dirty="0">
                <a:latin typeface="Times New Roman" panose="02020603050405020304" pitchFamily="18" charset="0"/>
                <a:ea typeface="SimSun" panose="02010600030101010101" pitchFamily="2" charset="-122"/>
                <a:cs typeface="Times New Roman" panose="02020603050405020304" pitchFamily="18" charset="0"/>
              </a:rPr>
              <a:t>Fresh air as the working air </a:t>
            </a:r>
            <a:br/>
            <a:r>
              <a:rPr sz="1271" lang="zh-CN">
                <a:solidFill>
                  <a:srgbClr val="24425A"/>
                </a:solidFill>
                <a:latin typeface="Times New Roman"/>
                <a:ea typeface="SimSun"/>
                <a:cs typeface="Times New Roman"/>
              </a:rPr>
              <a:t>新风作为工作空气，室内回风作为送风。</a:t>
            </a:r>
          </a:p>
          <a:p>
            <a:pPr marL="285750" indent="-285750" algn="l">
              <a:buFont typeface="Arial" panose="020B0604020202020204" pitchFamily="34" charset="0"/>
              <a:buChar char="•"/>
              <a:lnSpc>
                <a:spcPct val="108000"/>
              </a:lnSpc>
              <a:spcAft>
                <a:spcPts val="300"/>
              </a:spcAft>
            </a:pPr>
            <a:r>
              <a:rPr lang="en-US" altLang="zh-CN" sz="1550" dirty="0">
                <a:latin typeface="Times New Roman" panose="02020603050405020304" pitchFamily="18" charset="0"/>
                <a:ea typeface="SimSun" panose="02010600030101010101" pitchFamily="2" charset="-122"/>
                <a:cs typeface="Times New Roman" panose="02020603050405020304" pitchFamily="18" charset="0"/>
              </a:rPr>
              <a:t>Indoor return air as supply air</a:t>
            </a:r>
            <a:br/>
            <a:r>
              <a:rPr sz="1271" lang="zh-CN">
                <a:solidFill>
                  <a:srgbClr val="24425A"/>
                </a:solidFill>
                <a:latin typeface="Times New Roman"/>
                <a:ea typeface="SimSun"/>
                <a:cs typeface="Times New Roman"/>
              </a:rPr>
              <a:t>独立通道可避免气流交叉污染。</a:t>
            </a:r>
          </a:p>
          <a:p>
            <a:pPr marL="285750" indent="-285750" algn="l">
              <a:buFont typeface="Arial" panose="020B0604020202020204" pitchFamily="34" charset="0"/>
              <a:buChar char="•"/>
              <a:lnSpc>
                <a:spcPct val="108000"/>
              </a:lnSpc>
              <a:spcAft>
                <a:spcPts val="300"/>
              </a:spcAft>
            </a:pPr>
            <a:r>
              <a:rPr lang="en-US" altLang="zh-CN" sz="1550" dirty="0">
                <a:latin typeface="Times New Roman" panose="02020603050405020304" pitchFamily="18" charset="0"/>
                <a:ea typeface="SimSun" panose="02010600030101010101" pitchFamily="2" charset="-122"/>
                <a:cs typeface="Times New Roman" panose="02020603050405020304" pitchFamily="18" charset="0"/>
              </a:rPr>
              <a:t>Separated channels avoid the cross-contamination.</a:t>
            </a:r>
          </a:p>
        </p:txBody>
      </p:sp>
      <p:sp>
        <p:nvSpPr>
          <p:cNvPr id="11" name="文本框 10">
            <a:extLst>
              <a:ext uri="{FF2B5EF4-FFF2-40B4-BE49-F238E27FC236}">
                <a16:creationId xmlns:a16="http://schemas.microsoft.com/office/drawing/2014/main" id="{0200EE70-2D6D-6085-98C4-D9B1EFFC1613}"/>
              </a:ext>
            </a:extLst>
          </p:cNvPr>
          <p:cNvSpPr txBox="1"/>
          <p:nvPr/>
        </p:nvSpPr>
        <p:spPr>
          <a:xfrm>
            <a:off x="1614148" y="4767171"/>
            <a:ext cx="3932638" cy="1340211"/>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altLang="zh-CN" sz="1700" dirty="0">
                <a:latin typeface="Times New Roman" panose="02020603050405020304" pitchFamily="18" charset="0"/>
                <a:ea typeface="SimSun" panose="02010600030101010101" pitchFamily="2" charset="-122"/>
                <a:cs typeface="Times New Roman"/>
              </a:rPr>
              <a:t>Diamond shaped IEC: </a:t>
            </a:r>
            <a:r>
              <a:rPr lang="en-US" altLang="zh-CN" sz="1700" dirty="0">
                <a:solidFill>
                  <a:srgbClr val="C00000"/>
                </a:solidFill>
                <a:latin typeface="Times New Roman" panose="02020603050405020304" pitchFamily="18" charset="0"/>
                <a:ea typeface="SimSun" panose="02010600030101010101" pitchFamily="2" charset="-122"/>
                <a:cs typeface="Times New Roman"/>
              </a:rPr>
              <a:t>compactness and flexible</a:t>
            </a:r>
            <a:r>
              <a:rPr lang="en-US" altLang="zh-CN" sz="1700" dirty="0">
                <a:latin typeface="Times New Roman" panose="02020603050405020304" pitchFamily="18" charset="0"/>
                <a:ea typeface="SimSun" panose="02010600030101010101" pitchFamily="2" charset="-122"/>
                <a:cs typeface="Times New Roman"/>
              </a:rPr>
              <a:t> arrangement</a:t>
            </a:r>
            <a:br/>
            <a:r>
              <a:rPr sz="1394" lang="zh-CN">
                <a:solidFill>
                  <a:srgbClr val="24425A"/>
                </a:solidFill>
                <a:latin typeface="Times New Roman"/>
                <a:ea typeface="SimSun"/>
                <a:cs typeface="Times New Roman"/>
              </a:rPr>
              <a:t>菱形 IEC：结构紧凑，布置灵活。</a:t>
            </a:r>
          </a:p>
          <a:p>
            <a:pPr marL="285750" indent="-285750" algn="l">
              <a:buFont typeface="Arial" panose="020B0604020202020204" pitchFamily="34" charset="0"/>
              <a:buChar char="•"/>
              <a:lnSpc>
                <a:spcPct val="108000"/>
              </a:lnSpc>
              <a:spcAft>
                <a:spcPts val="300"/>
              </a:spcAft>
            </a:pPr>
            <a:r>
              <a:rPr lang="en-US" altLang="zh-CN" sz="1700" dirty="0">
                <a:latin typeface="Times New Roman" panose="02020603050405020304" pitchFamily="18" charset="0"/>
                <a:ea typeface="SimSun" panose="02010600030101010101" pitchFamily="2" charset="-122"/>
                <a:cs typeface="Times New Roman"/>
              </a:rPr>
              <a:t>Space claim in </a:t>
            </a:r>
            <a:r>
              <a:rPr lang="en-US" altLang="zh-CN" sz="1700" b="1" dirty="0">
                <a:solidFill>
                  <a:srgbClr val="C00000"/>
                </a:solidFill>
                <a:latin typeface="Times New Roman" panose="02020603050405020304" pitchFamily="18" charset="0"/>
                <a:ea typeface="SimSun" panose="02010600030101010101" pitchFamily="2" charset="-122"/>
                <a:cs typeface="Times New Roman"/>
              </a:rPr>
              <a:t>ANSYS</a:t>
            </a:r>
            <a:r>
              <a:rPr lang="en-US" altLang="zh-CN" sz="1700" dirty="0">
                <a:latin typeface="Times New Roman" panose="02020603050405020304" pitchFamily="18" charset="0"/>
                <a:ea typeface="SimSun" panose="02010600030101010101" pitchFamily="2" charset="-122"/>
                <a:cs typeface="Times New Roman"/>
              </a:rPr>
              <a:t> work bench</a:t>
            </a:r>
            <a:br/>
            <a:r>
              <a:rPr sz="1394" lang="zh-CN">
                <a:solidFill>
                  <a:srgbClr val="24425A"/>
                </a:solidFill>
                <a:latin typeface="Times New Roman"/>
                <a:ea typeface="SimSun"/>
                <a:cs typeface="Times New Roman"/>
              </a:rPr>
              <a:t>在 ANSYS Workbench 中建立几何模型。</a:t>
            </a:r>
          </a:p>
        </p:txBody>
      </p:sp>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sz="180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sz="1800">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479446" y="967070"/>
            <a:ext cx="11141054"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6.1 Model description</a:t>
            </a:r>
            <a:r>
              <a:rPr sz="1230" lang="zh-CN">
                <a:solidFill>
                  <a:srgbClr val="24425A"/>
                </a:solidFill>
                <a:latin typeface="Times New Roman"/>
                <a:ea typeface="SimSun"/>
                <a:cs typeface="Times New Roman"/>
              </a:rPr>
              <a:t>  模型描述</a:t>
            </a:r>
          </a:p>
        </p:txBody>
      </p:sp>
      <p:sp>
        <p:nvSpPr>
          <p:cNvPr id="2" name="灯片编号占位符 1">
            <a:extLst>
              <a:ext uri="{FF2B5EF4-FFF2-40B4-BE49-F238E27FC236}">
                <a16:creationId xmlns:a16="http://schemas.microsoft.com/office/drawing/2014/main" id="{DEC737C3-B032-4FAB-88B7-96B6E45587B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47</a:t>
            </a:fld>
            <a:endParaRPr lang="en-US" altLang="zh-CN">
              <a:latin typeface="Times New Roman"/>
              <a:ea typeface="SimSun"/>
              <a:cs typeface="Times New Roman"/>
            </a:endParaRPr>
          </a:p>
        </p:txBody>
      </p:sp>
      <p:sp>
        <p:nvSpPr>
          <p:cNvPr id="14" name="矩形 13">
            <a:extLst>
              <a:ext uri="{FF2B5EF4-FFF2-40B4-BE49-F238E27FC236}">
                <a16:creationId xmlns:a16="http://schemas.microsoft.com/office/drawing/2014/main" id="{C8984D22-AF77-4D00-B1D6-DEF1ECE79B35}"/>
              </a:ext>
            </a:extLst>
          </p:cNvPr>
          <p:cNvSpPr/>
          <p:nvPr/>
        </p:nvSpPr>
        <p:spPr bwMode="auto">
          <a:xfrm>
            <a:off x="1323325" y="4575610"/>
            <a:ext cx="4340627"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5" name="矩形 14">
            <a:extLst>
              <a:ext uri="{FF2B5EF4-FFF2-40B4-BE49-F238E27FC236}">
                <a16:creationId xmlns:a16="http://schemas.microsoft.com/office/drawing/2014/main" id="{5F04088B-4381-4B9B-8619-AC5ACC62EF64}"/>
              </a:ext>
            </a:extLst>
          </p:cNvPr>
          <p:cNvSpPr/>
          <p:nvPr/>
        </p:nvSpPr>
        <p:spPr bwMode="auto">
          <a:xfrm>
            <a:off x="7736617" y="1735344"/>
            <a:ext cx="3934921" cy="1806846"/>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8"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数据中心 IEC 性能与喷嘴优化</a:t>
            </a:r>
          </a:p>
        </p:txBody>
      </p:sp>
    </p:spTree>
    <p:extLst>
      <p:ext uri="{BB962C8B-B14F-4D97-AF65-F5344CB8AC3E}">
        <p14:creationId xmlns:p14="http://schemas.microsoft.com/office/powerpoint/2010/main" val="168505317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25B5AD8-AB6B-D040-7290-C734B12E2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0738" y="1297218"/>
            <a:ext cx="5562600" cy="2411730"/>
          </a:xfrm>
          <a:prstGeom prst="rect">
            <a:avLst/>
          </a:prstGeom>
        </p:spPr>
      </p:pic>
      <p:sp>
        <p:nvSpPr>
          <p:cNvPr id="6" name="Rectangle 2">
            <a:extLst>
              <a:ext uri="{FF2B5EF4-FFF2-40B4-BE49-F238E27FC236}">
                <a16:creationId xmlns:a16="http://schemas.microsoft.com/office/drawing/2014/main" id="{17B39C91-A46A-244A-105E-52982B7A7EB4}"/>
              </a:ext>
            </a:extLst>
          </p:cNvPr>
          <p:cNvSpPr>
            <a:spLocks noChangeArrowheads="1"/>
          </p:cNvSpPr>
          <p:nvPr/>
        </p:nvSpPr>
        <p:spPr bwMode="auto">
          <a:xfrm>
            <a:off x="3357131" y="353091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3" name="Rectangle 2">
            <a:extLst>
              <a:ext uri="{FF2B5EF4-FFF2-40B4-BE49-F238E27FC236}">
                <a16:creationId xmlns:a16="http://schemas.microsoft.com/office/drawing/2014/main" id="{39BE77DA-9DC9-D907-4DE1-1D7939F23FB2}"/>
              </a:ext>
            </a:extLst>
          </p:cNvPr>
          <p:cNvSpPr>
            <a:spLocks noChangeArrowheads="1"/>
          </p:cNvSpPr>
          <p:nvPr/>
        </p:nvSpPr>
        <p:spPr bwMode="auto">
          <a:xfrm>
            <a:off x="4942243" y="361932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8" name="Rectangle 4">
            <a:extLst>
              <a:ext uri="{FF2B5EF4-FFF2-40B4-BE49-F238E27FC236}">
                <a16:creationId xmlns:a16="http://schemas.microsoft.com/office/drawing/2014/main" id="{67B81B42-3F59-4AFE-2683-1078649D09AF}"/>
              </a:ext>
            </a:extLst>
          </p:cNvPr>
          <p:cNvSpPr>
            <a:spLocks noChangeArrowheads="1"/>
          </p:cNvSpPr>
          <p:nvPr/>
        </p:nvSpPr>
        <p:spPr bwMode="auto">
          <a:xfrm>
            <a:off x="5652843" y="3506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2" name="Content Placeholder 23">
            <a:extLst>
              <a:ext uri="{FF2B5EF4-FFF2-40B4-BE49-F238E27FC236}">
                <a16:creationId xmlns:a16="http://schemas.microsoft.com/office/drawing/2014/main" id="{11FEC937-E0EF-0F88-1FAD-FF7ABF2FC41C}"/>
              </a:ext>
            </a:extLst>
          </p:cNvPr>
          <p:cNvSpPr txBox="1">
            <a:spLocks/>
          </p:cNvSpPr>
          <p:nvPr/>
        </p:nvSpPr>
        <p:spPr bwMode="auto">
          <a:xfrm>
            <a:off x="392362" y="958499"/>
            <a:ext cx="11228138"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6.2 Model details</a:t>
            </a:r>
            <a:r>
              <a:rPr sz="1230" lang="zh-CN">
                <a:solidFill>
                  <a:srgbClr val="24425A"/>
                </a:solidFill>
                <a:latin typeface="Times New Roman"/>
                <a:ea typeface="SimSun"/>
                <a:cs typeface="Times New Roman"/>
              </a:rPr>
              <a:t>  模型细节</a:t>
            </a:r>
          </a:p>
        </p:txBody>
      </p:sp>
      <p:sp>
        <p:nvSpPr>
          <p:cNvPr id="14" name="文本框 13">
            <a:extLst>
              <a:ext uri="{FF2B5EF4-FFF2-40B4-BE49-F238E27FC236}">
                <a16:creationId xmlns:a16="http://schemas.microsoft.com/office/drawing/2014/main" id="{2D0332F8-D07C-37CC-DD75-C4A0E8EABC80}"/>
              </a:ext>
            </a:extLst>
          </p:cNvPr>
          <p:cNvSpPr txBox="1"/>
          <p:nvPr/>
        </p:nvSpPr>
        <p:spPr>
          <a:xfrm>
            <a:off x="1245184" y="1337617"/>
            <a:ext cx="2516226" cy="551180"/>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500" b="1" dirty="0">
                <a:latin typeface="Times New Roman" panose="02020603050405020304" pitchFamily="18" charset="0"/>
                <a:ea typeface="SimSun" panose="02010600030101010101" pitchFamily="2" charset="-122"/>
                <a:cs typeface="Times New Roman" panose="02020603050405020304" pitchFamily="18" charset="0"/>
              </a:rPr>
              <a:t>Boundary conditions</a:t>
            </a:r>
            <a:r>
              <a:rPr sz="1230" lang="zh-CN">
                <a:solidFill>
                  <a:srgbClr val="24425A"/>
                </a:solidFill>
                <a:latin typeface="Times New Roman"/>
                <a:ea typeface="SimSun"/>
                <a:cs typeface="Times New Roman"/>
              </a:rPr>
              <a:t>  边界条件</a:t>
            </a:r>
          </a:p>
        </p:txBody>
      </p:sp>
      <p:sp>
        <p:nvSpPr>
          <p:cNvPr id="15" name="文本框 14">
            <a:extLst>
              <a:ext uri="{FF2B5EF4-FFF2-40B4-BE49-F238E27FC236}">
                <a16:creationId xmlns:a16="http://schemas.microsoft.com/office/drawing/2014/main" id="{0925ADA4-0B49-5937-F455-FABA97001F29}"/>
              </a:ext>
            </a:extLst>
          </p:cNvPr>
          <p:cNvSpPr txBox="1"/>
          <p:nvPr/>
        </p:nvSpPr>
        <p:spPr>
          <a:xfrm>
            <a:off x="5991380" y="3662349"/>
            <a:ext cx="457200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500" b="1" dirty="0">
                <a:latin typeface="Times New Roman" panose="02020603050405020304" pitchFamily="18" charset="0"/>
                <a:ea typeface="SimSun" panose="02010600030101010101" pitchFamily="2" charset="-122"/>
                <a:cs typeface="Times New Roman" panose="02020603050405020304" pitchFamily="18" charset="0"/>
              </a:rPr>
              <a:t>Model validation</a:t>
            </a:r>
            <a:r>
              <a:rPr sz="1230" lang="zh-CN">
                <a:solidFill>
                  <a:srgbClr val="24425A"/>
                </a:solidFill>
                <a:latin typeface="Times New Roman"/>
                <a:ea typeface="SimSun"/>
                <a:cs typeface="Times New Roman"/>
              </a:rPr>
              <a:t>  模型验证</a:t>
            </a:r>
          </a:p>
        </p:txBody>
      </p:sp>
      <p:sp>
        <p:nvSpPr>
          <p:cNvPr id="16" name="文本框 15">
            <a:extLst>
              <a:ext uri="{FF2B5EF4-FFF2-40B4-BE49-F238E27FC236}">
                <a16:creationId xmlns:a16="http://schemas.microsoft.com/office/drawing/2014/main" id="{C72CFE9F-45D9-598D-4A1B-B8D5D2E89A99}"/>
              </a:ext>
            </a:extLst>
          </p:cNvPr>
          <p:cNvSpPr txBox="1"/>
          <p:nvPr/>
        </p:nvSpPr>
        <p:spPr>
          <a:xfrm>
            <a:off x="1684612" y="3631531"/>
            <a:ext cx="457200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500" b="1" dirty="0">
                <a:latin typeface="Times New Roman" panose="02020603050405020304" pitchFamily="18" charset="0"/>
                <a:ea typeface="SimSun" panose="02010600030101010101" pitchFamily="2" charset="-122"/>
                <a:cs typeface="Times New Roman" panose="02020603050405020304" pitchFamily="18" charset="0"/>
              </a:rPr>
              <a:t>Grid independence</a:t>
            </a:r>
            <a:r>
              <a:rPr sz="1230" lang="zh-CN">
                <a:solidFill>
                  <a:srgbClr val="24425A"/>
                </a:solidFill>
                <a:latin typeface="Times New Roman"/>
                <a:ea typeface="SimSun"/>
                <a:cs typeface="Times New Roman"/>
              </a:rPr>
              <a:t>  网格无关性</a:t>
            </a:r>
          </a:p>
        </p:txBody>
      </p:sp>
      <p:sp>
        <p:nvSpPr>
          <p:cNvPr id="2" name="矩形 1">
            <a:extLst>
              <a:ext uri="{FF2B5EF4-FFF2-40B4-BE49-F238E27FC236}">
                <a16:creationId xmlns:a16="http://schemas.microsoft.com/office/drawing/2014/main" id="{F874A747-0D24-4507-925A-4E820B64C7E4}"/>
              </a:ext>
            </a:extLst>
          </p:cNvPr>
          <p:cNvSpPr/>
          <p:nvPr/>
        </p:nvSpPr>
        <p:spPr bwMode="auto">
          <a:xfrm>
            <a:off x="3795866" y="3953240"/>
            <a:ext cx="401947" cy="247450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5" name="矩形 4">
            <a:extLst>
              <a:ext uri="{FF2B5EF4-FFF2-40B4-BE49-F238E27FC236}">
                <a16:creationId xmlns:a16="http://schemas.microsoft.com/office/drawing/2014/main" id="{748EB5D6-AF5B-4BC6-8369-7F09E7E389B8}"/>
              </a:ext>
            </a:extLst>
          </p:cNvPr>
          <p:cNvSpPr/>
          <p:nvPr/>
        </p:nvSpPr>
        <p:spPr>
          <a:xfrm>
            <a:off x="5027688" y="6368458"/>
            <a:ext cx="934871" cy="369332"/>
          </a:xfrm>
          <a:prstGeom prst="rect">
            <a:avLst/>
          </a:prstGeom>
        </p:spPr>
        <p:txBody>
          <a:bodyPr wrap="none">
            <a:spAutoFit/>
          </a:bodyPr>
          <a:lstStyle/>
          <a:p>
            <a:r>
              <a:rPr lang="en-US" sz="1800" b="1" i="1" dirty="0">
                <a:solidFill>
                  <a:srgbClr val="C00000"/>
                </a:solidFill>
                <a:latin typeface="Times New Roman" panose="02020603050405020304" pitchFamily="18" charset="0"/>
                <a:ea typeface="SimSun" panose="02010600030101010101" pitchFamily="2" charset="-122"/>
                <a:cs typeface="Times New Roman"/>
              </a:rPr>
              <a:t>450,000</a:t>
            </a:r>
            <a:endParaRPr lang="en-HK" sz="1800" b="1" i="1" dirty="0">
              <a:solidFill>
                <a:srgbClr val="C00000"/>
              </a:solidFill>
              <a:latin typeface="Times New Roman"/>
              <a:ea typeface="SimSun"/>
              <a:cs typeface="Times New Roman"/>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E1F9B08C-A429-4E32-9B16-5FF15056A025}"/>
                  </a:ext>
                </a:extLst>
              </p:cNvPr>
              <p:cNvSpPr/>
              <p:nvPr/>
            </p:nvSpPr>
            <p:spPr>
              <a:xfrm>
                <a:off x="9976679" y="6347408"/>
                <a:ext cx="425116" cy="369332"/>
              </a:xfrm>
              <a:prstGeom prst="rect">
                <a:avLst/>
              </a:prstGeom>
            </p:spPr>
            <p:txBody>
              <a:bodyPr wrap="none">
                <a:spAutoFit/>
              </a:bodyPr>
              <a:lstStyle/>
              <a:p>
                <a:pPr/>
                <a14:m>
                  <m:oMathPara xmlns:m="http://schemas.openxmlformats.org/officeDocument/2006/math">
                    <m:oMath>
                      <m:r>
                        <a:rPr lang="en-HK" sz="1800" b="1" i="1">
                          <a:solidFill>
                            <a:srgbClr val="C00000"/>
                          </a:solidFill>
                          <a:latin typeface="Times New Roman" panose="02040503050406030204" pitchFamily="18" charset="0"/>
                          <a:ea typeface="SimSun" panose="02040503050406030204" pitchFamily="18" charset="0"/>
                          <a:cs typeface="Times New Roman"/>
                        </a:rPr>
                        <m:t>≤</m:t>
                      </m:r>
                    </m:oMath>
                  </m:oMathPara>
                </a14:m>
                <a:endParaRPr lang="en-HK" sz="1800" b="1" i="1" dirty="0">
                  <a:solidFill>
                    <a:srgbClr val="C00000"/>
                  </a:solidFill>
                  <a:latin typeface="Times New Roman"/>
                  <a:ea typeface="SimSun"/>
                  <a:cs typeface="Times New Roman"/>
                </a:endParaRPr>
              </a:p>
            </p:txBody>
          </p:sp>
        </mc:Choice>
        <mc:Fallback xmlns="">
          <p:sp>
            <p:nvSpPr>
              <p:cNvPr id="17" name="矩形 16">
                <a:extLst>
                  <a:ext uri="{FF2B5EF4-FFF2-40B4-BE49-F238E27FC236}">
                    <a16:creationId xmlns:a16="http://schemas.microsoft.com/office/drawing/2014/main" id="{E1F9B08C-A429-4E32-9B16-5FF15056A025}"/>
                  </a:ext>
                </a:extLst>
              </p:cNvPr>
              <p:cNvSpPr>
                <a:spLocks noRot="1" noChangeAspect="1" noMove="1" noResize="1" noEditPoints="1" noAdjustHandles="1" noChangeArrowheads="1" noChangeShapeType="1" noTextEdit="1"/>
              </p:cNvSpPr>
              <p:nvPr/>
            </p:nvSpPr>
            <p:spPr>
              <a:xfrm>
                <a:off x="9976679" y="6347408"/>
                <a:ext cx="425116" cy="369332"/>
              </a:xfrm>
              <a:prstGeom prst="rect">
                <a:avLst/>
              </a:prstGeom>
              <a:blipFill>
                <a:blip r:embed="rId5"/>
                <a:stretch>
                  <a:fillRect/>
                </a:stretch>
              </a:blipFill>
            </p:spPr>
            <p:txBody>
              <a:bodyPr/>
              <a:lstStyle/>
              <a:p>
                <a:r>
                  <a:rPr lang="en-US">
                    <a:noFill/>
                    <a:latin typeface="Times New Roman"/>
                    <a:ea typeface="SimSun"/>
                    <a:cs typeface="Times New Roman"/>
                  </a:rPr>
                  <a:t> </a:t>
                </a:r>
              </a:p>
            </p:txBody>
          </p:sp>
        </mc:Fallback>
      </mc:AlternateContent>
      <p:sp>
        <p:nvSpPr>
          <p:cNvPr id="9" name="灯片编号占位符 8">
            <a:extLst>
              <a:ext uri="{FF2B5EF4-FFF2-40B4-BE49-F238E27FC236}">
                <a16:creationId xmlns:a16="http://schemas.microsoft.com/office/drawing/2014/main" id="{C2350BCB-A1AB-4007-A788-DC26265DFF6E}"/>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48</a:t>
            </a:fld>
            <a:endParaRPr lang="en-US" altLang="zh-CN" dirty="0">
              <a:latin typeface="Times New Roman"/>
              <a:ea typeface="SimSun"/>
              <a:cs typeface="Times New Roman"/>
            </a:endParaRPr>
          </a:p>
        </p:txBody>
      </p:sp>
      <p:sp>
        <p:nvSpPr>
          <p:cNvPr id="20" name="矩形 3">
            <a:extLst>
              <a:ext uri="{FF2B5EF4-FFF2-40B4-BE49-F238E27FC236}">
                <a16:creationId xmlns:a16="http://schemas.microsoft.com/office/drawing/2014/main" id="{A3CF0019-F099-4641-8652-71F2F0EF207C}"/>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sz="180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sz="1800">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graphicFrame>
        <p:nvGraphicFramePr>
          <p:cNvPr id="18" name="对象 17">
            <a:extLst>
              <a:ext uri="{FF2B5EF4-FFF2-40B4-BE49-F238E27FC236}">
                <a16:creationId xmlns:a16="http://schemas.microsoft.com/office/drawing/2014/main" id="{651A0531-672E-440F-99D4-6820BB4DF9EE}"/>
              </a:ext>
            </a:extLst>
          </p:cNvPr>
          <p:cNvGraphicFramePr>
            <a:graphicFrameLocks noChangeAspect="1"/>
          </p:cNvGraphicFramePr>
          <p:nvPr>
            <p:extLst>
              <p:ext uri="{D42A27DB-BD31-4B8C-83A1-F6EECF244321}">
                <p14:modId xmlns:p14="http://schemas.microsoft.com/office/powerpoint/2010/main" val="1039372178"/>
              </p:ext>
            </p:extLst>
          </p:nvPr>
        </p:nvGraphicFramePr>
        <p:xfrm>
          <a:off x="1348601" y="3826539"/>
          <a:ext cx="3954931" cy="3031461"/>
        </p:xfrm>
        <a:graphic>
          <a:graphicData uri="http://schemas.openxmlformats.org/presentationml/2006/ole">
            <mc:AlternateContent xmlns:mc="http://schemas.openxmlformats.org/markup-compatibility/2006">
              <mc:Choice xmlns:v="urn:schemas-microsoft-com:vml" Requires="v">
                <p:oleObj name="Graph" r:id="rId6" imgW="6884339" imgH="5282235" progId="Origin95.Graph">
                  <p:embed/>
                </p:oleObj>
              </mc:Choice>
              <mc:Fallback>
                <p:oleObj name="Graph" r:id="rId6" imgW="6884339" imgH="5282235" progId="Origin95.Graph">
                  <p:embed/>
                  <p:pic>
                    <p:nvPicPr>
                      <p:cNvPr id="0" name="Object 5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8601" y="3826539"/>
                        <a:ext cx="3954931" cy="3031461"/>
                      </a:xfrm>
                      <a:prstGeom prst="rect">
                        <a:avLst/>
                      </a:prstGeom>
                      <a:noFill/>
                    </p:spPr>
                  </p:pic>
                </p:oleObj>
              </mc:Fallback>
            </mc:AlternateContent>
          </a:graphicData>
        </a:graphic>
      </p:graphicFrame>
      <p:sp>
        <p:nvSpPr>
          <p:cNvPr id="21" name="矩形 20">
            <a:extLst>
              <a:ext uri="{FF2B5EF4-FFF2-40B4-BE49-F238E27FC236}">
                <a16:creationId xmlns:a16="http://schemas.microsoft.com/office/drawing/2014/main" id="{385C92E5-FEC9-4B15-8182-28FBECE803AE}"/>
              </a:ext>
            </a:extLst>
          </p:cNvPr>
          <p:cNvSpPr/>
          <p:nvPr/>
        </p:nvSpPr>
        <p:spPr>
          <a:xfrm>
            <a:off x="10235540" y="6345517"/>
            <a:ext cx="607859" cy="369332"/>
          </a:xfrm>
          <a:prstGeom prst="rect">
            <a:avLst/>
          </a:prstGeom>
        </p:spPr>
        <p:txBody>
          <a:bodyPr wrap="none">
            <a:spAutoFit/>
          </a:bodyPr>
          <a:lstStyle/>
          <a:p>
            <a:r>
              <a:rPr lang="en-US" sz="1800" b="1" i="1" dirty="0">
                <a:solidFill>
                  <a:srgbClr val="C00000"/>
                </a:solidFill>
                <a:latin typeface="Times New Roman" panose="02020603050405020304" pitchFamily="18" charset="0"/>
                <a:ea typeface="SimSun" panose="02010600030101010101" pitchFamily="2" charset="-122"/>
                <a:cs typeface="Times New Roman"/>
              </a:rPr>
              <a:t>10%</a:t>
            </a:r>
            <a:endParaRPr lang="en-HK" sz="1800" b="1" i="1" dirty="0">
              <a:solidFill>
                <a:srgbClr val="C00000"/>
              </a:solidFill>
              <a:latin typeface="Times New Roman"/>
              <a:ea typeface="SimSun"/>
              <a:cs typeface="Times New Roman"/>
            </a:endParaRPr>
          </a:p>
        </p:txBody>
      </p:sp>
      <p:graphicFrame>
        <p:nvGraphicFramePr>
          <p:cNvPr id="23" name="对象 22">
            <a:extLst>
              <a:ext uri="{FF2B5EF4-FFF2-40B4-BE49-F238E27FC236}">
                <a16:creationId xmlns:a16="http://schemas.microsoft.com/office/drawing/2014/main" id="{309FD80B-887D-42D7-89E3-210D538D88B8}"/>
              </a:ext>
            </a:extLst>
          </p:cNvPr>
          <p:cNvGraphicFramePr>
            <a:graphicFrameLocks noChangeAspect="1"/>
          </p:cNvGraphicFramePr>
          <p:nvPr>
            <p:extLst>
              <p:ext uri="{D42A27DB-BD31-4B8C-83A1-F6EECF244321}">
                <p14:modId xmlns:p14="http://schemas.microsoft.com/office/powerpoint/2010/main" val="3955678954"/>
              </p:ext>
            </p:extLst>
          </p:nvPr>
        </p:nvGraphicFramePr>
        <p:xfrm>
          <a:off x="6392860" y="3826539"/>
          <a:ext cx="3690224" cy="3058102"/>
        </p:xfrm>
        <a:graphic>
          <a:graphicData uri="http://schemas.openxmlformats.org/presentationml/2006/ole">
            <mc:AlternateContent xmlns:mc="http://schemas.openxmlformats.org/markup-compatibility/2006">
              <mc:Choice xmlns:v="urn:schemas-microsoft-com:vml" Requires="v">
                <p:oleObj name="Graph" r:id="rId8" imgW="6384906" imgH="5171581" progId="Origin95.Graph">
                  <p:embed/>
                </p:oleObj>
              </mc:Choice>
              <mc:Fallback>
                <p:oleObj name="Graph" r:id="rId8" imgW="6384906" imgH="5171581" progId="Origin95.Graph">
                  <p:embed/>
                  <p:pic>
                    <p:nvPicPr>
                      <p:cNvPr id="0" name="Object 5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2860" y="3826539"/>
                        <a:ext cx="3690224" cy="3058102"/>
                      </a:xfrm>
                      <a:prstGeom prst="rect">
                        <a:avLst/>
                      </a:prstGeom>
                      <a:noFill/>
                    </p:spPr>
                  </p:pic>
                </p:oleObj>
              </mc:Fallback>
            </mc:AlternateContent>
          </a:graphicData>
        </a:graphic>
      </p:graphicFrame>
      <p:sp>
        <p:nvSpPr>
          <p:cNvPr id="24"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数据中心 IEC 性能与喷嘴优化</a:t>
            </a:r>
          </a:p>
        </p:txBody>
      </p:sp>
    </p:spTree>
    <p:extLst>
      <p:ext uri="{BB962C8B-B14F-4D97-AF65-F5344CB8AC3E}">
        <p14:creationId xmlns:p14="http://schemas.microsoft.com/office/powerpoint/2010/main" val="43140756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0">
            <a:extLst>
              <a:ext uri="{FF2B5EF4-FFF2-40B4-BE49-F238E27FC236}">
                <a16:creationId xmlns:a16="http://schemas.microsoft.com/office/drawing/2014/main" id="{240FE68F-CE47-056E-018A-E9F257D175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014"/>
          <a:stretch/>
        </p:blipFill>
        <p:spPr bwMode="auto">
          <a:xfrm>
            <a:off x="3143959" y="1797320"/>
            <a:ext cx="1765096"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218" name="图片 20">
            <a:extLst>
              <a:ext uri="{FF2B5EF4-FFF2-40B4-BE49-F238E27FC236}">
                <a16:creationId xmlns:a16="http://schemas.microsoft.com/office/drawing/2014/main" id="{D0754689-0958-7707-14EC-913F547B22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9933"/>
          <a:stretch/>
        </p:blipFill>
        <p:spPr bwMode="auto">
          <a:xfrm>
            <a:off x="1025163" y="1750923"/>
            <a:ext cx="1861816"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217" name="图片 22">
            <a:extLst>
              <a:ext uri="{FF2B5EF4-FFF2-40B4-BE49-F238E27FC236}">
                <a16:creationId xmlns:a16="http://schemas.microsoft.com/office/drawing/2014/main" id="{08572188-F078-599B-6E53-911389A29AF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1581"/>
          <a:stretch/>
        </p:blipFill>
        <p:spPr bwMode="auto">
          <a:xfrm>
            <a:off x="1048256" y="4016484"/>
            <a:ext cx="1812830" cy="172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5" name="Rectangle 4">
            <a:extLst>
              <a:ext uri="{FF2B5EF4-FFF2-40B4-BE49-F238E27FC236}">
                <a16:creationId xmlns:a16="http://schemas.microsoft.com/office/drawing/2014/main" id="{1BF55B6F-295B-7DFA-9CB9-B98822123908}"/>
              </a:ext>
            </a:extLst>
          </p:cNvPr>
          <p:cNvSpPr>
            <a:spLocks noChangeArrowheads="1"/>
          </p:cNvSpPr>
          <p:nvPr/>
        </p:nvSpPr>
        <p:spPr bwMode="auto">
          <a:xfrm>
            <a:off x="956110" y="3444696"/>
            <a:ext cx="4234044" cy="52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noAutofit/>
          </a:bodyPr>
          <a:lstStyle/>
          <a:p>
            <a:pPr algn="l">
              <a:lnSpc>
                <a:spcPct val="108000"/>
              </a:lnSpc>
              <a:spcAft>
                <a:spcPts val="300"/>
              </a:spcAft>
            </a:pPr>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 Top configuration          (b) Bottom configuration </a:t>
            </a:r>
            <a:r>
              <a:rPr sz="1148" lang="zh-CN">
                <a:solidFill>
                  <a:srgbClr val="24425A"/>
                </a:solidFill>
                <a:latin typeface="Times New Roman"/>
                <a:ea typeface="SimSun"/>
                <a:cs typeface="Times New Roman"/>
              </a:rPr>
              <a:t>  （a）顶部布置     （b）底部布置</a:t>
            </a:r>
          </a:p>
        </p:txBody>
      </p:sp>
      <p:sp>
        <p:nvSpPr>
          <p:cNvPr id="8" name="Rectangle 5">
            <a:extLst>
              <a:ext uri="{FF2B5EF4-FFF2-40B4-BE49-F238E27FC236}">
                <a16:creationId xmlns:a16="http://schemas.microsoft.com/office/drawing/2014/main" id="{E1AE0C76-9A4B-8467-1D3F-AE147808B0C9}"/>
              </a:ext>
            </a:extLst>
          </p:cNvPr>
          <p:cNvSpPr>
            <a:spLocks noChangeArrowheads="1"/>
          </p:cNvSpPr>
          <p:nvPr/>
        </p:nvSpPr>
        <p:spPr bwMode="auto">
          <a:xfrm>
            <a:off x="875280" y="5741662"/>
            <a:ext cx="4490332" cy="55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noAutofit/>
          </a:bodyPr>
          <a:lstStyle/>
          <a:p>
            <a:pPr algn="l">
              <a:lnSpc>
                <a:spcPct val="108000"/>
              </a:lnSpc>
              <a:spcAft>
                <a:spcPts val="300"/>
              </a:spcAft>
            </a:pPr>
            <a:r>
              <a:rPr lang="en-US" altLang="zh-CN" sz="15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1500" dirty="0">
                <a:latin typeface="Times New Roman" panose="02020603050405020304" pitchFamily="18" charset="0"/>
                <a:ea typeface="SimSun" panose="02010600030101010101" pitchFamily="2" charset="-122"/>
                <a:cs typeface="Times New Roman" panose="02020603050405020304" pitchFamily="18" charset="0"/>
              </a:rPr>
              <a:t>(c) Upper side configuration  (d) Lower side configuration</a:t>
            </a:r>
            <a:r>
              <a:rPr sz="1230" lang="zh-CN">
                <a:solidFill>
                  <a:srgbClr val="24425A"/>
                </a:solidFill>
                <a:latin typeface="Times New Roman"/>
                <a:ea typeface="SimSun"/>
                <a:cs typeface="Times New Roman"/>
              </a:rPr>
              <a:t>  （c）上侧布置     （d）下侧布置</a:t>
            </a:r>
          </a:p>
        </p:txBody>
      </p:sp>
      <p:pic>
        <p:nvPicPr>
          <p:cNvPr id="4" name="图片 22">
            <a:extLst>
              <a:ext uri="{FF2B5EF4-FFF2-40B4-BE49-F238E27FC236}">
                <a16:creationId xmlns:a16="http://schemas.microsoft.com/office/drawing/2014/main" id="{5B9DB2D8-0FF5-E62E-4A66-AEBBA503C4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582"/>
          <a:stretch/>
        </p:blipFill>
        <p:spPr bwMode="auto">
          <a:xfrm>
            <a:off x="3096225" y="4059698"/>
            <a:ext cx="1812830" cy="17280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3">
            <a:extLst>
              <a:ext uri="{FF2B5EF4-FFF2-40B4-BE49-F238E27FC236}">
                <a16:creationId xmlns:a16="http://schemas.microsoft.com/office/drawing/2014/main" id="{F068AD24-EE44-9DCE-ADB3-1A1C2841398B}"/>
              </a:ext>
            </a:extLst>
          </p:cNvPr>
          <p:cNvSpPr txBox="1">
            <a:spLocks/>
          </p:cNvSpPr>
          <p:nvPr/>
        </p:nvSpPr>
        <p:spPr bwMode="auto">
          <a:xfrm>
            <a:off x="177149" y="1085549"/>
            <a:ext cx="1144335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6.3 Four schemes of nozzle configurations</a:t>
            </a:r>
            <a:r>
              <a:rPr sz="1230" lang="zh-CN">
                <a:solidFill>
                  <a:srgbClr val="24425A"/>
                </a:solidFill>
                <a:latin typeface="Times New Roman"/>
                <a:ea typeface="SimSun"/>
                <a:cs typeface="Times New Roman"/>
              </a:rPr>
              <a:t>  四种喷嘴布置方案</a:t>
            </a:r>
          </a:p>
        </p:txBody>
      </p:sp>
      <p:cxnSp>
        <p:nvCxnSpPr>
          <p:cNvPr id="18" name="直接连接符 17">
            <a:extLst>
              <a:ext uri="{FF2B5EF4-FFF2-40B4-BE49-F238E27FC236}">
                <a16:creationId xmlns:a16="http://schemas.microsoft.com/office/drawing/2014/main" id="{0D4BBCB4-FB40-154E-1C8E-D8AB432AE671}"/>
              </a:ext>
            </a:extLst>
          </p:cNvPr>
          <p:cNvCxnSpPr>
            <a:cxnSpLocks/>
          </p:cNvCxnSpPr>
          <p:nvPr/>
        </p:nvCxnSpPr>
        <p:spPr bwMode="auto">
          <a:xfrm>
            <a:off x="5968723" y="1112077"/>
            <a:ext cx="0" cy="5653849"/>
          </a:xfrm>
          <a:prstGeom prst="line">
            <a:avLst/>
          </a:prstGeom>
          <a:ln>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8" name="文本框 27">
            <a:extLst>
              <a:ext uri="{FF2B5EF4-FFF2-40B4-BE49-F238E27FC236}">
                <a16:creationId xmlns:a16="http://schemas.microsoft.com/office/drawing/2014/main" id="{BD13ED3E-861F-8BB1-3E9B-A6F2ED18859A}"/>
              </a:ext>
            </a:extLst>
          </p:cNvPr>
          <p:cNvSpPr txBox="1"/>
          <p:nvPr/>
        </p:nvSpPr>
        <p:spPr>
          <a:xfrm>
            <a:off x="6398527" y="1127229"/>
            <a:ext cx="4626428" cy="506222"/>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350" dirty="0">
                <a:latin typeface="Times New Roman" panose="02020603050405020304" pitchFamily="18" charset="0"/>
                <a:ea typeface="SimSun" panose="02010600030101010101" pitchFamily="2" charset="-122"/>
                <a:cs typeface="Times New Roman"/>
              </a:rPr>
              <a:t>Determination of the test water flow rate</a:t>
            </a:r>
            <a:r>
              <a:rPr sz="1107" lang="zh-CN">
                <a:solidFill>
                  <a:srgbClr val="24425A"/>
                </a:solidFill>
                <a:latin typeface="Times New Roman"/>
                <a:ea typeface="SimSun"/>
                <a:cs typeface="Times New Roman"/>
              </a:rPr>
              <a:t>  实验供水流量的确定</a:t>
            </a:r>
          </a:p>
        </p:txBody>
      </p:sp>
      <p:sp>
        <p:nvSpPr>
          <p:cNvPr id="30" name="文本框 29">
            <a:extLst>
              <a:ext uri="{FF2B5EF4-FFF2-40B4-BE49-F238E27FC236}">
                <a16:creationId xmlns:a16="http://schemas.microsoft.com/office/drawing/2014/main" id="{DAF76E3D-99D8-7F56-F0C2-B15FA2F69F96}"/>
              </a:ext>
            </a:extLst>
          </p:cNvPr>
          <p:cNvSpPr txBox="1"/>
          <p:nvPr/>
        </p:nvSpPr>
        <p:spPr>
          <a:xfrm>
            <a:off x="6731467" y="1674443"/>
            <a:ext cx="4302810" cy="1477328"/>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altLang="zh-CN" sz="1450" dirty="0">
                <a:latin typeface="Times New Roman" panose="02020603050405020304" pitchFamily="18" charset="0"/>
                <a:ea typeface="SimSun"/>
                <a:cs typeface="Times New Roman" panose="02020603050405020304" pitchFamily="18" charset="0"/>
              </a:rPr>
              <a:t>The </a:t>
            </a:r>
            <a:r>
              <a:rPr lang="en-US" altLang="zh-CN" sz="1450" b="1" dirty="0">
                <a:solidFill>
                  <a:srgbClr val="C00000"/>
                </a:solidFill>
                <a:latin typeface="Times New Roman" panose="02020603050405020304" pitchFamily="18" charset="0"/>
                <a:ea typeface="SimSun"/>
                <a:cs typeface="Times New Roman" panose="02020603050405020304" pitchFamily="18" charset="0"/>
              </a:rPr>
              <a:t>wet-bulb efficiency </a:t>
            </a:r>
            <a:r>
              <a:rPr lang="en-US" altLang="zh-CN" sz="1450" dirty="0">
                <a:latin typeface="Times New Roman" panose="02020603050405020304" pitchFamily="18" charset="0"/>
                <a:ea typeface="SimSun"/>
                <a:cs typeface="Times New Roman" panose="02020603050405020304" pitchFamily="18" charset="0"/>
              </a:rPr>
              <a:t>grows with the increase of </a:t>
            </a:r>
            <a:r>
              <a:rPr lang="en-US" altLang="zh-CN" sz="1450" b="1" dirty="0">
                <a:solidFill>
                  <a:srgbClr val="C00000"/>
                </a:solidFill>
                <a:latin typeface="Times New Roman" panose="02020603050405020304" pitchFamily="18" charset="0"/>
                <a:ea typeface="SimSun"/>
                <a:cs typeface="Times New Roman" panose="02020603050405020304" pitchFamily="18" charset="0"/>
              </a:rPr>
              <a:t>water supply flow rate</a:t>
            </a:r>
            <a:r>
              <a:rPr lang="en-US" altLang="zh-CN" sz="1450" dirty="0">
                <a:latin typeface="Times New Roman" panose="02020603050405020304" pitchFamily="18" charset="0"/>
                <a:ea typeface="SimSun"/>
                <a:cs typeface="Times New Roman" panose="02020603050405020304" pitchFamily="18" charset="0"/>
              </a:rPr>
              <a:t>.</a:t>
            </a:r>
            <a:br/>
            <a:r>
              <a:rPr sz="1189" lang="zh-CN">
                <a:solidFill>
                  <a:srgbClr val="24425A"/>
                </a:solidFill>
                <a:latin typeface="Times New Roman"/>
                <a:ea typeface="SimSun"/>
                <a:cs typeface="Times New Roman"/>
              </a:rPr>
              <a:t>湿球效率随供水流量增加而提高。</a:t>
            </a:r>
          </a:p>
          <a:p>
            <a:pPr marL="285750" indent="-285750" algn="l">
              <a:buFont typeface="Arial" panose="020B0604020202020204" pitchFamily="34" charset="0"/>
              <a:buChar char="•"/>
              <a:lnSpc>
                <a:spcPct val="108000"/>
              </a:lnSpc>
              <a:spcAft>
                <a:spcPts val="300"/>
              </a:spcAft>
            </a:pPr>
            <a:r>
              <a:rPr lang="en-US" altLang="zh-CN" sz="1450" dirty="0">
                <a:latin typeface="Times New Roman" panose="02020603050405020304" pitchFamily="18" charset="0"/>
                <a:ea typeface="SimSun"/>
                <a:cs typeface="Times New Roman" panose="02020603050405020304" pitchFamily="18" charset="0"/>
              </a:rPr>
              <a:t>and stabilizes at a maximum value when the flow rate arrives </a:t>
            </a:r>
            <a:r>
              <a:rPr lang="en-US" altLang="zh-CN" sz="1450" b="1" dirty="0">
                <a:solidFill>
                  <a:srgbClr val="C00000"/>
                </a:solidFill>
                <a:latin typeface="Times New Roman" panose="02020603050405020304" pitchFamily="18" charset="0"/>
                <a:ea typeface="SimSun"/>
                <a:cs typeface="Times New Roman" panose="02020603050405020304" pitchFamily="18" charset="0"/>
              </a:rPr>
              <a:t>65 L/s.</a:t>
            </a:r>
            <a:br/>
            <a:r>
              <a:rPr sz="1189" lang="zh-CN">
                <a:solidFill>
                  <a:srgbClr val="24425A"/>
                </a:solidFill>
                <a:latin typeface="Times New Roman"/>
                <a:ea typeface="SimSun"/>
                <a:cs typeface="Times New Roman"/>
              </a:rPr>
              <a:t>当流量达到 65 L/s 时，湿球效率趋于最大值并保持稳定。</a:t>
            </a:r>
          </a:p>
        </p:txBody>
      </p:sp>
      <p:sp>
        <p:nvSpPr>
          <p:cNvPr id="16" name="矩形 15">
            <a:extLst>
              <a:ext uri="{FF2B5EF4-FFF2-40B4-BE49-F238E27FC236}">
                <a16:creationId xmlns:a16="http://schemas.microsoft.com/office/drawing/2014/main" id="{A4DD048A-98AC-469E-9A69-DCA311B028CF}"/>
              </a:ext>
            </a:extLst>
          </p:cNvPr>
          <p:cNvSpPr/>
          <p:nvPr/>
        </p:nvSpPr>
        <p:spPr>
          <a:xfrm>
            <a:off x="7269967" y="6437786"/>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6.3.1 </a:t>
            </a:r>
            <a:r>
              <a:rPr lang="en-HK" sz="1200" dirty="0">
                <a:solidFill>
                  <a:prstClr val="black"/>
                </a:solidFill>
                <a:latin typeface="Times New Roman" panose="02020603050405020304" pitchFamily="18" charset="0"/>
                <a:ea typeface="SimSun"/>
                <a:cs typeface="Times New Roman" panose="02020603050405020304" pitchFamily="18" charset="0"/>
              </a:rPr>
              <a:t>The determination of test spray flow rate</a:t>
            </a:r>
          </a:p>
        </p:txBody>
      </p:sp>
      <p:sp>
        <p:nvSpPr>
          <p:cNvPr id="9" name="灯片编号占位符 8">
            <a:extLst>
              <a:ext uri="{FF2B5EF4-FFF2-40B4-BE49-F238E27FC236}">
                <a16:creationId xmlns:a16="http://schemas.microsoft.com/office/drawing/2014/main" id="{920A9CA6-BB2D-435A-A016-724DFB2EA35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49</a:t>
            </a:fld>
            <a:endParaRPr lang="en-US" altLang="zh-CN">
              <a:latin typeface="Times New Roman"/>
              <a:ea typeface="SimSun"/>
              <a:cs typeface="Times New Roman"/>
            </a:endParaRPr>
          </a:p>
        </p:txBody>
      </p:sp>
      <p:sp>
        <p:nvSpPr>
          <p:cNvPr id="19" name="矩形 3">
            <a:extLst>
              <a:ext uri="{FF2B5EF4-FFF2-40B4-BE49-F238E27FC236}">
                <a16:creationId xmlns:a16="http://schemas.microsoft.com/office/drawing/2014/main" id="{3763B665-A7F2-427E-8D6B-D83B68360C07}"/>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sz="180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sz="1800">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sp>
        <p:nvSpPr>
          <p:cNvPr id="12" name="Rectangle 223">
            <a:extLst>
              <a:ext uri="{FF2B5EF4-FFF2-40B4-BE49-F238E27FC236}">
                <a16:creationId xmlns:a16="http://schemas.microsoft.com/office/drawing/2014/main" id="{2DE7D3CA-B230-4034-93E8-AAD17A688F34}"/>
              </a:ext>
            </a:extLst>
          </p:cNvPr>
          <p:cNvSpPr>
            <a:spLocks noChangeArrowheads="1"/>
          </p:cNvSpPr>
          <p:nvPr/>
        </p:nvSpPr>
        <p:spPr bwMode="auto">
          <a:xfrm>
            <a:off x="6500248" y="33041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7905834A-609A-4F9C-B188-EACE69D81311}"/>
              </a:ext>
            </a:extLst>
          </p:cNvPr>
          <p:cNvGraphicFramePr>
            <a:graphicFrameLocks noChangeAspect="1"/>
          </p:cNvGraphicFramePr>
          <p:nvPr>
            <p:extLst>
              <p:ext uri="{D42A27DB-BD31-4B8C-83A1-F6EECF244321}">
                <p14:modId xmlns:p14="http://schemas.microsoft.com/office/powerpoint/2010/main" val="498488436"/>
              </p:ext>
            </p:extLst>
          </p:nvPr>
        </p:nvGraphicFramePr>
        <p:xfrm>
          <a:off x="6849294" y="3304184"/>
          <a:ext cx="3903209" cy="3240433"/>
        </p:xfrm>
        <a:graphic>
          <a:graphicData uri="http://schemas.openxmlformats.org/presentationml/2006/ole">
            <mc:AlternateContent xmlns:mc="http://schemas.openxmlformats.org/markup-compatibility/2006">
              <mc:Choice xmlns:v="urn:schemas-microsoft-com:vml" Requires="v">
                <p:oleObj name="Graph" r:id="rId5" imgW="6662246" imgH="5282235" progId="Origin95.Graph">
                  <p:embed/>
                </p:oleObj>
              </mc:Choice>
              <mc:Fallback>
                <p:oleObj name="Graph" r:id="rId5" imgW="6662246" imgH="5282235" progId="Origin95.Graph">
                  <p:embed/>
                  <p:pic>
                    <p:nvPicPr>
                      <p:cNvPr id="0" name="Object 2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9294" y="3304184"/>
                        <a:ext cx="3903209" cy="3240433"/>
                      </a:xfrm>
                      <a:prstGeom prst="rect">
                        <a:avLst/>
                      </a:prstGeom>
                      <a:noFill/>
                    </p:spPr>
                  </p:pic>
                </p:oleObj>
              </mc:Fallback>
            </mc:AlternateContent>
          </a:graphicData>
        </a:graphic>
      </p:graphicFrame>
      <p:sp>
        <p:nvSpPr>
          <p:cNvPr id="921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数据中心 IEC 性能与喷嘴优化</a:t>
            </a:r>
          </a:p>
        </p:txBody>
      </p:sp>
    </p:spTree>
    <p:extLst>
      <p:ext uri="{BB962C8B-B14F-4D97-AF65-F5344CB8AC3E}">
        <p14:creationId xmlns:p14="http://schemas.microsoft.com/office/powerpoint/2010/main" val="373454966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pic>
        <p:nvPicPr>
          <p:cNvPr id="10244" name="图片 21">
            <a:extLst>
              <a:ext uri="{FF2B5EF4-FFF2-40B4-BE49-F238E27FC236}">
                <a16:creationId xmlns:a16="http://schemas.microsoft.com/office/drawing/2014/main" id="{69256179-B68B-F48F-7AE5-0F957AAFF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91" y="1683363"/>
            <a:ext cx="1985963"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3" name="图片 31">
            <a:extLst>
              <a:ext uri="{FF2B5EF4-FFF2-40B4-BE49-F238E27FC236}">
                <a16:creationId xmlns:a16="http://schemas.microsoft.com/office/drawing/2014/main" id="{0B4169FB-E23F-17DF-4427-35408ACB0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776" t="10007" r="14946" b="15715"/>
          <a:stretch>
            <a:fillRect/>
          </a:stretch>
        </p:blipFill>
        <p:spPr bwMode="auto">
          <a:xfrm>
            <a:off x="3939947" y="1683363"/>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2" name="图片 23">
            <a:extLst>
              <a:ext uri="{FF2B5EF4-FFF2-40B4-BE49-F238E27FC236}">
                <a16:creationId xmlns:a16="http://schemas.microsoft.com/office/drawing/2014/main" id="{231E7C05-5E0F-915A-7D30-6388DB7E6A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8215" y="1700461"/>
            <a:ext cx="19907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1" name="图片 26">
            <a:extLst>
              <a:ext uri="{FF2B5EF4-FFF2-40B4-BE49-F238E27FC236}">
                <a16:creationId xmlns:a16="http://schemas.microsoft.com/office/drawing/2014/main" id="{A7FCC450-3BCE-99A0-132A-5066AC831E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2425" y="1688125"/>
            <a:ext cx="1985963" cy="19764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pic>
        <p:nvPicPr>
          <p:cNvPr id="10255" name="图片 3">
            <a:extLst>
              <a:ext uri="{FF2B5EF4-FFF2-40B4-BE49-F238E27FC236}">
                <a16:creationId xmlns:a16="http://schemas.microsoft.com/office/drawing/2014/main" id="{9288BB41-D5C0-4C9D-36A2-6F057F40A4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8429" y="3977795"/>
            <a:ext cx="19907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4" name="图片 13">
            <a:extLst>
              <a:ext uri="{FF2B5EF4-FFF2-40B4-BE49-F238E27FC236}">
                <a16:creationId xmlns:a16="http://schemas.microsoft.com/office/drawing/2014/main" id="{E76D5247-3812-D4C6-A356-954217AB71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5834" y="3967185"/>
            <a:ext cx="1995488"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3" name="图片 4">
            <a:extLst>
              <a:ext uri="{FF2B5EF4-FFF2-40B4-BE49-F238E27FC236}">
                <a16:creationId xmlns:a16="http://schemas.microsoft.com/office/drawing/2014/main" id="{DE80AAC3-B12C-2C2D-94F7-D257D127A62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58388" y="3859600"/>
            <a:ext cx="709613" cy="2162175"/>
          </a:xfrm>
          <a:prstGeom prst="rect">
            <a:avLst/>
          </a:prstGeom>
          <a:noFill/>
          <a:extLst>
            <a:ext uri="{909E8E84-426E-40DD-AFC4-6F175D3DCCD1}">
              <a14:hiddenFill xmlns:a14="http://schemas.microsoft.com/office/drawing/2010/main">
                <a:solidFill>
                  <a:srgbClr val="FFFFFF"/>
                </a:solidFill>
              </a14:hiddenFill>
            </a:ext>
          </a:extLst>
        </p:spPr>
      </p:pic>
      <p:pic>
        <p:nvPicPr>
          <p:cNvPr id="10252" name="图片 15">
            <a:extLst>
              <a:ext uri="{FF2B5EF4-FFF2-40B4-BE49-F238E27FC236}">
                <a16:creationId xmlns:a16="http://schemas.microsoft.com/office/drawing/2014/main" id="{CB597D4E-7570-E16D-C129-508E85E884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483" y="396718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1" name="图片 18">
            <a:extLst>
              <a:ext uri="{FF2B5EF4-FFF2-40B4-BE49-F238E27FC236}">
                <a16:creationId xmlns:a16="http://schemas.microsoft.com/office/drawing/2014/main" id="{100BC387-F153-4454-F0FD-B1293720BA1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18256" y="3950087"/>
            <a:ext cx="1985963" cy="19812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582947" y="5574341"/>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3463" y="922144"/>
            <a:ext cx="11237037"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6.3 Four schemes of nozzle configurations (</a:t>
            </a:r>
            <a:r>
              <a:rPr lang="en-US" altLang="en-US" sz="1500" b="1" kern="0" dirty="0" err="1">
                <a:latin typeface="Times New Roman" panose="02020603050405020304" pitchFamily="18" charset="0"/>
                <a:ea typeface="SimSun"/>
                <a:cs typeface="Times New Roman" panose="02020603050405020304" pitchFamily="18" charset="0"/>
              </a:rPr>
              <a:t>aluminium</a:t>
            </a:r>
            <a:r>
              <a:rPr lang="en-US" altLang="en-US" sz="1500" b="1" kern="0" dirty="0">
                <a:latin typeface="Times New Roman" panose="02020603050405020304" pitchFamily="18" charset="0"/>
                <a:ea typeface="SimSun"/>
                <a:cs typeface="Times New Roman" panose="02020603050405020304" pitchFamily="18" charset="0"/>
              </a:rPr>
              <a:t>)</a:t>
            </a:r>
            <a:r>
              <a:rPr sz="1230" lang="zh-CN">
                <a:solidFill>
                  <a:srgbClr val="24425A"/>
                </a:solidFill>
                <a:latin typeface="Times New Roman"/>
                <a:ea typeface="SimSun"/>
                <a:cs typeface="Times New Roman"/>
              </a:rPr>
              <a:t>  四种喷嘴布置方案（铝板）</a:t>
            </a:r>
          </a:p>
        </p:txBody>
      </p:sp>
      <p:sp>
        <p:nvSpPr>
          <p:cNvPr id="25" name="文本框 24">
            <a:extLst>
              <a:ext uri="{FF2B5EF4-FFF2-40B4-BE49-F238E27FC236}">
                <a16:creationId xmlns:a16="http://schemas.microsoft.com/office/drawing/2014/main" id="{9C8C7525-E425-4A9F-0957-4B99D5839A8D}"/>
              </a:ext>
            </a:extLst>
          </p:cNvPr>
          <p:cNvSpPr txBox="1"/>
          <p:nvPr/>
        </p:nvSpPr>
        <p:spPr>
          <a:xfrm>
            <a:off x="1186147" y="1334199"/>
            <a:ext cx="457200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500" b="1" dirty="0">
                <a:latin typeface="Times New Roman" panose="02020603050405020304" pitchFamily="18" charset="0"/>
                <a:ea typeface="SimSun" panose="02010600030101010101" pitchFamily="2" charset="-122"/>
                <a:cs typeface="Times New Roman" panose="02020603050405020304" pitchFamily="18" charset="0"/>
              </a:rPr>
              <a:t>Water film distribution</a:t>
            </a:r>
            <a:r>
              <a:rPr sz="1230" lang="zh-CN">
                <a:solidFill>
                  <a:srgbClr val="24425A"/>
                </a:solidFill>
                <a:latin typeface="Times New Roman"/>
                <a:ea typeface="SimSun"/>
                <a:cs typeface="Times New Roman"/>
              </a:rPr>
              <a:t>  水膜分布</a:t>
            </a:r>
          </a:p>
        </p:txBody>
      </p:sp>
      <p:sp>
        <p:nvSpPr>
          <p:cNvPr id="26" name="文本框 25">
            <a:extLst>
              <a:ext uri="{FF2B5EF4-FFF2-40B4-BE49-F238E27FC236}">
                <a16:creationId xmlns:a16="http://schemas.microsoft.com/office/drawing/2014/main" id="{F6E0FF28-998E-AB4F-A4C3-0EF35C84B52C}"/>
              </a:ext>
            </a:extLst>
          </p:cNvPr>
          <p:cNvSpPr txBox="1"/>
          <p:nvPr/>
        </p:nvSpPr>
        <p:spPr>
          <a:xfrm>
            <a:off x="1186147" y="3645605"/>
            <a:ext cx="457200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500" b="1" dirty="0">
                <a:latin typeface="Times New Roman" panose="02020603050405020304" pitchFamily="18" charset="0"/>
                <a:ea typeface="SimSun" panose="02010600030101010101" pitchFamily="2" charset="-122"/>
                <a:cs typeface="Times New Roman" panose="02020603050405020304" pitchFamily="18" charset="0"/>
              </a:rPr>
              <a:t>Temperature distribution</a:t>
            </a:r>
            <a:r>
              <a:rPr sz="1230" lang="zh-CN">
                <a:solidFill>
                  <a:srgbClr val="24425A"/>
                </a:solidFill>
                <a:latin typeface="Times New Roman"/>
                <a:ea typeface="SimSun"/>
                <a:cs typeface="Times New Roman"/>
              </a:rPr>
              <a:t>  温度分布</a:t>
            </a:r>
          </a:p>
        </p:txBody>
      </p:sp>
      <p:sp>
        <p:nvSpPr>
          <p:cNvPr id="27" name="矩形 26">
            <a:extLst>
              <a:ext uri="{FF2B5EF4-FFF2-40B4-BE49-F238E27FC236}">
                <a16:creationId xmlns:a16="http://schemas.microsoft.com/office/drawing/2014/main" id="{6E3FACF8-7BCA-482F-EF5E-25C958B4E431}"/>
              </a:ext>
            </a:extLst>
          </p:cNvPr>
          <p:cNvSpPr/>
          <p:nvPr/>
        </p:nvSpPr>
        <p:spPr bwMode="auto">
          <a:xfrm>
            <a:off x="5952949" y="1487865"/>
            <a:ext cx="1963623" cy="5010207"/>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dirty="0">
              <a:solidFill>
                <a:schemeClr val="bg2"/>
              </a:solidFill>
              <a:latin typeface="Times New Roman" charset="0"/>
              <a:ea typeface="SimSun"/>
              <a:cs typeface="Times New Roman"/>
            </a:endParaRPr>
          </a:p>
        </p:txBody>
      </p:sp>
      <p:sp>
        <p:nvSpPr>
          <p:cNvPr id="28" name="Content Placeholder 23">
            <a:extLst>
              <a:ext uri="{FF2B5EF4-FFF2-40B4-BE49-F238E27FC236}">
                <a16:creationId xmlns:a16="http://schemas.microsoft.com/office/drawing/2014/main" id="{612E446F-6937-E2D0-4115-6FD6EBCE5D96}"/>
              </a:ext>
            </a:extLst>
          </p:cNvPr>
          <p:cNvSpPr txBox="1">
            <a:spLocks/>
          </p:cNvSpPr>
          <p:nvPr/>
        </p:nvSpPr>
        <p:spPr bwMode="auto">
          <a:xfrm>
            <a:off x="2628629" y="6111298"/>
            <a:ext cx="683759" cy="461264"/>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200" kern="0" dirty="0">
                <a:latin typeface="Times New Roman" panose="02020603050405020304" pitchFamily="18" charset="0"/>
                <a:ea typeface="SimSun"/>
                <a:cs typeface="Times New Roman" panose="02020603050405020304" pitchFamily="18" charset="0"/>
              </a:rPr>
              <a:t>TOP</a:t>
            </a:r>
            <a:r>
              <a:rPr sz="984" lang="zh-CN">
                <a:solidFill>
                  <a:srgbClr val="24425A"/>
                </a:solidFill>
                <a:latin typeface="Times New Roman"/>
                <a:ea typeface="SimSun"/>
                <a:cs typeface="Times New Roman"/>
              </a:rPr>
              <a:t>  顶部</a:t>
            </a:r>
          </a:p>
        </p:txBody>
      </p:sp>
      <p:sp>
        <p:nvSpPr>
          <p:cNvPr id="29" name="Content Placeholder 23">
            <a:extLst>
              <a:ext uri="{FF2B5EF4-FFF2-40B4-BE49-F238E27FC236}">
                <a16:creationId xmlns:a16="http://schemas.microsoft.com/office/drawing/2014/main" id="{1674DC4D-36F8-B1AA-B3CF-69DDE620D1C7}"/>
              </a:ext>
            </a:extLst>
          </p:cNvPr>
          <p:cNvSpPr txBox="1">
            <a:spLocks/>
          </p:cNvSpPr>
          <p:nvPr/>
        </p:nvSpPr>
        <p:spPr bwMode="auto">
          <a:xfrm>
            <a:off x="4383536" y="6113443"/>
            <a:ext cx="1263653"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250" kern="0" dirty="0">
                <a:latin typeface="Times New Roman" panose="02020603050405020304" pitchFamily="18" charset="0"/>
                <a:ea typeface="SimSun"/>
                <a:cs typeface="Times New Roman" panose="02020603050405020304" pitchFamily="18" charset="0"/>
              </a:rPr>
              <a:t>BOTTOM</a:t>
            </a:r>
            <a:r>
              <a:rPr sz="1025" lang="zh-CN">
                <a:solidFill>
                  <a:srgbClr val="24425A"/>
                </a:solidFill>
                <a:latin typeface="Times New Roman"/>
                <a:ea typeface="SimSun"/>
                <a:cs typeface="Times New Roman"/>
              </a:rPr>
              <a:t>  底部</a:t>
            </a:r>
          </a:p>
        </p:txBody>
      </p:sp>
      <p:sp>
        <p:nvSpPr>
          <p:cNvPr id="30" name="Content Placeholder 23">
            <a:extLst>
              <a:ext uri="{FF2B5EF4-FFF2-40B4-BE49-F238E27FC236}">
                <a16:creationId xmlns:a16="http://schemas.microsoft.com/office/drawing/2014/main" id="{4DA368F3-1F37-F80D-410F-E8AB2040C96F}"/>
              </a:ext>
            </a:extLst>
          </p:cNvPr>
          <p:cNvSpPr txBox="1">
            <a:spLocks/>
          </p:cNvSpPr>
          <p:nvPr/>
        </p:nvSpPr>
        <p:spPr bwMode="auto">
          <a:xfrm>
            <a:off x="6275458" y="6118954"/>
            <a:ext cx="1408225"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400" kern="0" dirty="0">
                <a:latin typeface="Times New Roman" panose="02020603050405020304" pitchFamily="18" charset="0"/>
                <a:ea typeface="SimSun"/>
                <a:cs typeface="Times New Roman" panose="02020603050405020304" pitchFamily="18" charset="0"/>
              </a:rPr>
              <a:t>Upper side</a:t>
            </a:r>
            <a:r>
              <a:rPr sz="1148" lang="zh-CN">
                <a:solidFill>
                  <a:srgbClr val="24425A"/>
                </a:solidFill>
                <a:latin typeface="Times New Roman"/>
                <a:ea typeface="SimSun"/>
                <a:cs typeface="Times New Roman"/>
              </a:rPr>
              <a:t>  上侧</a:t>
            </a:r>
          </a:p>
        </p:txBody>
      </p:sp>
      <p:sp>
        <p:nvSpPr>
          <p:cNvPr id="31" name="Content Placeholder 23">
            <a:extLst>
              <a:ext uri="{FF2B5EF4-FFF2-40B4-BE49-F238E27FC236}">
                <a16:creationId xmlns:a16="http://schemas.microsoft.com/office/drawing/2014/main" id="{6306B550-901E-B39E-A75C-214E6F829FE0}"/>
              </a:ext>
            </a:extLst>
          </p:cNvPr>
          <p:cNvSpPr txBox="1">
            <a:spLocks/>
          </p:cNvSpPr>
          <p:nvPr/>
        </p:nvSpPr>
        <p:spPr bwMode="auto">
          <a:xfrm>
            <a:off x="8223174" y="6118954"/>
            <a:ext cx="1408225"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350" kern="0" dirty="0">
                <a:latin typeface="Times New Roman" panose="02020603050405020304" pitchFamily="18" charset="0"/>
                <a:ea typeface="SimSun"/>
                <a:cs typeface="Times New Roman" panose="02020603050405020304" pitchFamily="18" charset="0"/>
              </a:rPr>
              <a:t>Lower side</a:t>
            </a:r>
            <a:r>
              <a:rPr sz="1107" lang="zh-CN">
                <a:solidFill>
                  <a:srgbClr val="24425A"/>
                </a:solidFill>
                <a:latin typeface="Times New Roman"/>
                <a:ea typeface="SimSun"/>
                <a:cs typeface="Times New Roman"/>
              </a:rPr>
              <a:t>  下侧</a:t>
            </a:r>
          </a:p>
        </p:txBody>
      </p:sp>
      <p:sp>
        <p:nvSpPr>
          <p:cNvPr id="4" name="灯片编号占位符 3">
            <a:extLst>
              <a:ext uri="{FF2B5EF4-FFF2-40B4-BE49-F238E27FC236}">
                <a16:creationId xmlns:a16="http://schemas.microsoft.com/office/drawing/2014/main" id="{D8CE52A0-D852-4BBC-AF1F-799FA7EBBD65}"/>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50</a:t>
            </a:fld>
            <a:endParaRPr lang="en-US" altLang="zh-CN">
              <a:latin typeface="Times New Roman"/>
              <a:ea typeface="SimSun"/>
              <a:cs typeface="Times New Roman"/>
            </a:endParaRPr>
          </a:p>
        </p:txBody>
      </p:sp>
      <p:sp>
        <p:nvSpPr>
          <p:cNvPr id="33" name="矩形 3">
            <a:extLst>
              <a:ext uri="{FF2B5EF4-FFF2-40B4-BE49-F238E27FC236}">
                <a16:creationId xmlns:a16="http://schemas.microsoft.com/office/drawing/2014/main" id="{875D63E9-A33C-4D92-A00E-6A727BA12AE5}"/>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sz="180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sz="1800">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sp>
        <p:nvSpPr>
          <p:cNvPr id="10256"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数据中心 IEC 性能与喷嘴优化</a:t>
            </a:r>
          </a:p>
        </p:txBody>
      </p:sp>
    </p:spTree>
    <p:extLst>
      <p:ext uri="{BB962C8B-B14F-4D97-AF65-F5344CB8AC3E}">
        <p14:creationId xmlns:p14="http://schemas.microsoft.com/office/powerpoint/2010/main" val="96251355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582947" y="5574341"/>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3463" y="922144"/>
            <a:ext cx="5712537"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HK" altLang="en-US" sz="1400" b="1" kern="0" dirty="0">
                <a:latin typeface="Times New Roman" panose="02020603050405020304" pitchFamily="18" charset="0"/>
                <a:ea typeface="SimSun"/>
                <a:cs typeface="Times New Roman" panose="02020603050405020304" pitchFamily="18" charset="0"/>
              </a:rPr>
              <a:t>Comparison of configurations of axial characteristics</a:t>
            </a:r>
            <a:r>
              <a:rPr sz="1148" lang="zh-CN">
                <a:solidFill>
                  <a:srgbClr val="24425A"/>
                </a:solidFill>
                <a:latin typeface="Times New Roman"/>
                <a:ea typeface="SimSun"/>
                <a:cs typeface="Times New Roman"/>
              </a:rPr>
              <a:t>  不同布置的轴向特性对比</a:t>
            </a:r>
          </a:p>
        </p:txBody>
      </p:sp>
      <p:sp>
        <p:nvSpPr>
          <p:cNvPr id="25" name="文本框 24">
            <a:extLst>
              <a:ext uri="{FF2B5EF4-FFF2-40B4-BE49-F238E27FC236}">
                <a16:creationId xmlns:a16="http://schemas.microsoft.com/office/drawing/2014/main" id="{9C8C7525-E425-4A9F-0957-4B99D5839A8D}"/>
              </a:ext>
            </a:extLst>
          </p:cNvPr>
          <p:cNvSpPr txBox="1"/>
          <p:nvPr/>
        </p:nvSpPr>
        <p:spPr>
          <a:xfrm>
            <a:off x="683672" y="1292307"/>
            <a:ext cx="1865387"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050" b="1" dirty="0">
                <a:latin typeface="Times New Roman" panose="02020603050405020304" pitchFamily="18" charset="0"/>
                <a:ea typeface="SimSun" panose="02010600030101010101" pitchFamily="2" charset="-122"/>
                <a:cs typeface="Times New Roman" panose="02020603050405020304" pitchFamily="18" charset="0"/>
              </a:rPr>
              <a:t>Film formation</a:t>
            </a:r>
            <a:r>
              <a:rPr sz="861" lang="zh-CN">
                <a:solidFill>
                  <a:srgbClr val="24425A"/>
                </a:solidFill>
                <a:latin typeface="Times New Roman"/>
                <a:ea typeface="SimSun"/>
                <a:cs typeface="Times New Roman"/>
              </a:rPr>
              <a:t>  水膜形成</a:t>
            </a:r>
          </a:p>
        </p:txBody>
      </p:sp>
      <p:sp>
        <p:nvSpPr>
          <p:cNvPr id="4" name="灯片编号占位符 3">
            <a:extLst>
              <a:ext uri="{FF2B5EF4-FFF2-40B4-BE49-F238E27FC236}">
                <a16:creationId xmlns:a16="http://schemas.microsoft.com/office/drawing/2014/main" id="{D8CE52A0-D852-4BBC-AF1F-799FA7EBBD65}"/>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51</a:t>
            </a:fld>
            <a:endParaRPr lang="en-US" altLang="zh-CN">
              <a:latin typeface="Times New Roman"/>
              <a:ea typeface="SimSun"/>
              <a:cs typeface="Times New Roman"/>
            </a:endParaRPr>
          </a:p>
        </p:txBody>
      </p:sp>
      <p:pic>
        <p:nvPicPr>
          <p:cNvPr id="32775" name="图片 3">
            <a:extLst>
              <a:ext uri="{FF2B5EF4-FFF2-40B4-BE49-F238E27FC236}">
                <a16:creationId xmlns:a16="http://schemas.microsoft.com/office/drawing/2014/main" id="{4E1CEAB8-A03A-4C57-8E5F-F165DE46E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294" y="1854334"/>
            <a:ext cx="403225" cy="2460625"/>
          </a:xfrm>
          <a:prstGeom prst="rect">
            <a:avLst/>
          </a:prstGeom>
          <a:noFill/>
          <a:extLst>
            <a:ext uri="{909E8E84-426E-40DD-AFC4-6F175D3DCCD1}">
              <a14:hiddenFill xmlns:a14="http://schemas.microsoft.com/office/drawing/2010/main">
                <a:solidFill>
                  <a:srgbClr val="FFFFFF"/>
                </a:solidFill>
              </a14:hiddenFill>
            </a:ext>
          </a:extLst>
        </p:spPr>
      </p:pic>
      <p:pic>
        <p:nvPicPr>
          <p:cNvPr id="32774" name="图片 2">
            <a:extLst>
              <a:ext uri="{FF2B5EF4-FFF2-40B4-BE49-F238E27FC236}">
                <a16:creationId xmlns:a16="http://schemas.microsoft.com/office/drawing/2014/main" id="{2577F1F6-D5A0-449F-8C41-CBC505DDC7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8309" y="1860684"/>
            <a:ext cx="403225" cy="245427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a:extLst>
              <a:ext uri="{FF2B5EF4-FFF2-40B4-BE49-F238E27FC236}">
                <a16:creationId xmlns:a16="http://schemas.microsoft.com/office/drawing/2014/main" id="{FEC9938E-47B8-49A4-9150-8065A6E117E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16" name="Rectangle 10">
            <a:extLst>
              <a:ext uri="{FF2B5EF4-FFF2-40B4-BE49-F238E27FC236}">
                <a16:creationId xmlns:a16="http://schemas.microsoft.com/office/drawing/2014/main" id="{D3EADA22-C25F-4BD0-92BF-75F10BA68F50}"/>
              </a:ext>
            </a:extLst>
          </p:cNvPr>
          <p:cNvSpPr>
            <a:spLocks noChangeArrowheads="1"/>
          </p:cNvSpPr>
          <p:nvPr/>
        </p:nvSpPr>
        <p:spPr bwMode="auto">
          <a:xfrm>
            <a:off x="383463" y="4457439"/>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800"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pic>
        <p:nvPicPr>
          <p:cNvPr id="32781" name="图片 1019128321">
            <a:extLst>
              <a:ext uri="{FF2B5EF4-FFF2-40B4-BE49-F238E27FC236}">
                <a16:creationId xmlns:a16="http://schemas.microsoft.com/office/drawing/2014/main" id="{26D224AF-44E7-4E2A-956E-E3BEED4AC3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752" t="1244" r="10335" b="1295"/>
          <a:stretch>
            <a:fillRect/>
          </a:stretch>
        </p:blipFill>
        <p:spPr bwMode="auto">
          <a:xfrm>
            <a:off x="5350631" y="1852746"/>
            <a:ext cx="388938" cy="2476500"/>
          </a:xfrm>
          <a:prstGeom prst="rect">
            <a:avLst/>
          </a:prstGeom>
          <a:noFill/>
          <a:extLst>
            <a:ext uri="{909E8E84-426E-40DD-AFC4-6F175D3DCCD1}">
              <a14:hiddenFill xmlns:a14="http://schemas.microsoft.com/office/drawing/2010/main">
                <a:solidFill>
                  <a:srgbClr val="FFFFFF"/>
                </a:solidFill>
              </a14:hiddenFill>
            </a:ext>
          </a:extLst>
        </p:spPr>
      </p:pic>
      <p:pic>
        <p:nvPicPr>
          <p:cNvPr id="32780" name="图片 1019128322">
            <a:extLst>
              <a:ext uri="{FF2B5EF4-FFF2-40B4-BE49-F238E27FC236}">
                <a16:creationId xmlns:a16="http://schemas.microsoft.com/office/drawing/2014/main" id="{F34280D5-CFAB-4786-9623-25DC1F41FD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9283" t="1295" r="9802" b="1350"/>
          <a:stretch>
            <a:fillRect/>
          </a:stretch>
        </p:blipFill>
        <p:spPr bwMode="auto">
          <a:xfrm>
            <a:off x="5918966" y="1852746"/>
            <a:ext cx="388938" cy="2484438"/>
          </a:xfrm>
          <a:prstGeom prst="rect">
            <a:avLst/>
          </a:prstGeom>
          <a:noFill/>
          <a:extLst>
            <a:ext uri="{909E8E84-426E-40DD-AFC4-6F175D3DCCD1}">
              <a14:hiddenFill xmlns:a14="http://schemas.microsoft.com/office/drawing/2010/main">
                <a:solidFill>
                  <a:srgbClr val="FFFFFF"/>
                </a:solidFill>
              </a14:hiddenFill>
            </a:ext>
          </a:extLst>
        </p:spPr>
      </p:pic>
      <p:pic>
        <p:nvPicPr>
          <p:cNvPr id="32779" name="图片 1019128323">
            <a:extLst>
              <a:ext uri="{FF2B5EF4-FFF2-40B4-BE49-F238E27FC236}">
                <a16:creationId xmlns:a16="http://schemas.microsoft.com/office/drawing/2014/main" id="{D1AF116C-A7AA-4941-9E4B-A790AF4D4D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7301" y="2049126"/>
            <a:ext cx="892175" cy="225583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14">
            <a:extLst>
              <a:ext uri="{FF2B5EF4-FFF2-40B4-BE49-F238E27FC236}">
                <a16:creationId xmlns:a16="http://schemas.microsoft.com/office/drawing/2014/main" id="{B919B231-416D-46A9-A9D5-48B03CDB05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imes New Roman" panose="020B0604020202020204" pitchFamily="34" charset="0"/>
                <a:ea typeface="SimSun"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B0604020202020204" pitchFamily="34" charset="0"/>
              <a:ea typeface="SimSun"/>
              <a:cs typeface="Times New Roman"/>
            </a:endParaRPr>
          </a:p>
        </p:txBody>
      </p:sp>
      <p:pic>
        <p:nvPicPr>
          <p:cNvPr id="32788" name="图片 1019128324">
            <a:extLst>
              <a:ext uri="{FF2B5EF4-FFF2-40B4-BE49-F238E27FC236}">
                <a16:creationId xmlns:a16="http://schemas.microsoft.com/office/drawing/2014/main" id="{00A43010-A7B9-4428-94A9-7F86D8B473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800000">
            <a:off x="8920162" y="1874971"/>
            <a:ext cx="388938" cy="2454275"/>
          </a:xfrm>
          <a:prstGeom prst="rect">
            <a:avLst/>
          </a:prstGeom>
          <a:noFill/>
          <a:extLst>
            <a:ext uri="{909E8E84-426E-40DD-AFC4-6F175D3DCCD1}">
              <a14:hiddenFill xmlns:a14="http://schemas.microsoft.com/office/drawing/2010/main">
                <a:solidFill>
                  <a:srgbClr val="FFFFFF"/>
                </a:solidFill>
              </a14:hiddenFill>
            </a:ext>
          </a:extLst>
        </p:spPr>
      </p:pic>
      <p:pic>
        <p:nvPicPr>
          <p:cNvPr id="32787" name="图片 1019128325">
            <a:extLst>
              <a:ext uri="{FF2B5EF4-FFF2-40B4-BE49-F238E27FC236}">
                <a16:creationId xmlns:a16="http://schemas.microsoft.com/office/drawing/2014/main" id="{C7D73420-5F7F-4D04-B75D-B97B3F7079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800000">
            <a:off x="9439334" y="1887523"/>
            <a:ext cx="388938" cy="2460625"/>
          </a:xfrm>
          <a:prstGeom prst="rect">
            <a:avLst/>
          </a:prstGeom>
          <a:noFill/>
          <a:extLst>
            <a:ext uri="{909E8E84-426E-40DD-AFC4-6F175D3DCCD1}">
              <a14:hiddenFill xmlns:a14="http://schemas.microsoft.com/office/drawing/2010/main">
                <a:solidFill>
                  <a:srgbClr val="FFFFFF"/>
                </a:solidFill>
              </a14:hiddenFill>
            </a:ext>
          </a:extLst>
        </p:spPr>
      </p:pic>
      <p:pic>
        <p:nvPicPr>
          <p:cNvPr id="32786" name="图片 1019128326">
            <a:extLst>
              <a:ext uri="{FF2B5EF4-FFF2-40B4-BE49-F238E27FC236}">
                <a16:creationId xmlns:a16="http://schemas.microsoft.com/office/drawing/2014/main" id="{0A1392BF-0B62-4973-8737-7D9745D542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94365" y="2051594"/>
            <a:ext cx="823863" cy="2257200"/>
          </a:xfrm>
          <a:prstGeom prst="rect">
            <a:avLst/>
          </a:prstGeom>
          <a:noFill/>
          <a:extLst>
            <a:ext uri="{909E8E84-426E-40DD-AFC4-6F175D3DCCD1}">
              <a14:hiddenFill xmlns:a14="http://schemas.microsoft.com/office/drawing/2010/main">
                <a:solidFill>
                  <a:srgbClr val="FFFFFF"/>
                </a:solidFill>
              </a14:hiddenFill>
            </a:ext>
          </a:extLst>
        </p:spPr>
      </p:pic>
      <p:sp>
        <p:nvSpPr>
          <p:cNvPr id="65" name="矩形: 圆角 64">
            <a:extLst>
              <a:ext uri="{FF2B5EF4-FFF2-40B4-BE49-F238E27FC236}">
                <a16:creationId xmlns:a16="http://schemas.microsoft.com/office/drawing/2014/main" id="{7EC147A9-217C-4376-BD2B-C2C4E205D393}"/>
              </a:ext>
            </a:extLst>
          </p:cNvPr>
          <p:cNvSpPr/>
          <p:nvPr/>
        </p:nvSpPr>
        <p:spPr bwMode="auto">
          <a:xfrm>
            <a:off x="1195907" y="1705352"/>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70" name="文本框 69">
            <a:extLst>
              <a:ext uri="{FF2B5EF4-FFF2-40B4-BE49-F238E27FC236}">
                <a16:creationId xmlns:a16="http://schemas.microsoft.com/office/drawing/2014/main" id="{91539BC0-C797-4DCF-A041-2DAB55C73F8D}"/>
              </a:ext>
            </a:extLst>
          </p:cNvPr>
          <p:cNvSpPr txBox="1"/>
          <p:nvPr/>
        </p:nvSpPr>
        <p:spPr>
          <a:xfrm>
            <a:off x="4145640" y="1301262"/>
            <a:ext cx="3518653"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water vapor content distribution</a:t>
            </a:r>
            <a:r>
              <a:rPr sz="984" lang="zh-CN">
                <a:solidFill>
                  <a:srgbClr val="24425A"/>
                </a:solidFill>
                <a:latin typeface="Times New Roman"/>
                <a:ea typeface="SimSun"/>
                <a:cs typeface="Times New Roman"/>
              </a:rPr>
              <a:t>  水蒸气浓度分布</a:t>
            </a:r>
          </a:p>
        </p:txBody>
      </p:sp>
      <p:sp>
        <p:nvSpPr>
          <p:cNvPr id="71" name="文本框 70">
            <a:extLst>
              <a:ext uri="{FF2B5EF4-FFF2-40B4-BE49-F238E27FC236}">
                <a16:creationId xmlns:a16="http://schemas.microsoft.com/office/drawing/2014/main" id="{C8ED595B-2F95-422C-8683-2C4A0B9FA15F}"/>
              </a:ext>
            </a:extLst>
          </p:cNvPr>
          <p:cNvSpPr txBox="1"/>
          <p:nvPr/>
        </p:nvSpPr>
        <p:spPr>
          <a:xfrm>
            <a:off x="7614860" y="1298386"/>
            <a:ext cx="302151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400" b="1" dirty="0">
                <a:latin typeface="Times New Roman" panose="02020603050405020304" pitchFamily="18" charset="0"/>
                <a:ea typeface="SimSun" panose="02010600030101010101" pitchFamily="2" charset="-122"/>
                <a:cs typeface="Times New Roman" panose="02020603050405020304" pitchFamily="18" charset="0"/>
              </a:rPr>
              <a:t>Temperature distribution </a:t>
            </a:r>
            <a:r>
              <a:rPr sz="1148" lang="zh-CN">
                <a:solidFill>
                  <a:srgbClr val="24425A"/>
                </a:solidFill>
                <a:latin typeface="Times New Roman"/>
                <a:ea typeface="SimSun"/>
                <a:cs typeface="Times New Roman"/>
              </a:rPr>
              <a:t>  温度分布</a:t>
            </a:r>
          </a:p>
        </p:txBody>
      </p:sp>
      <p:sp>
        <p:nvSpPr>
          <p:cNvPr id="72" name="文本框 71">
            <a:extLst>
              <a:ext uri="{FF2B5EF4-FFF2-40B4-BE49-F238E27FC236}">
                <a16:creationId xmlns:a16="http://schemas.microsoft.com/office/drawing/2014/main" id="{36D099DA-3C31-4C24-8C1F-9D03BA893B1A}"/>
              </a:ext>
            </a:extLst>
          </p:cNvPr>
          <p:cNvSpPr txBox="1"/>
          <p:nvPr/>
        </p:nvSpPr>
        <p:spPr>
          <a:xfrm>
            <a:off x="664564" y="5220429"/>
            <a:ext cx="3481076" cy="1494512"/>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More smooth and diffuse continuous water film.</a:t>
            </a:r>
            <a:br/>
            <a:r>
              <a:rPr sz="1107" lang="zh-CN">
                <a:solidFill>
                  <a:srgbClr val="24425A"/>
                </a:solidFill>
                <a:latin typeface="Times New Roman"/>
                <a:ea typeface="SimSun"/>
                <a:cs typeface="Times New Roman"/>
              </a:rPr>
              <a:t>水膜更加平滑、连续，扩散更充分。</a:t>
            </a:r>
          </a:p>
          <a:p>
            <a:pPr marL="285750" indent="-285750" algn="l">
              <a:buFont typeface="Arial" panose="020B0604020202020204" pitchFamily="34" charset="0"/>
              <a:buChar char="•"/>
              <a:lnSpc>
                <a:spcPct val="108000"/>
              </a:lnSpc>
              <a:spcAft>
                <a:spcPts val="300"/>
              </a:spcAft>
            </a:pP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Incomplete water film coverage due to aggregation from </a:t>
            </a:r>
            <a:r>
              <a:rPr lang="en-HK"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uneven gravity distribution</a:t>
            </a: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a:t>
            </a:r>
            <a:br/>
            <a:r>
              <a:rPr sz="1107" lang="zh-CN">
                <a:solidFill>
                  <a:srgbClr val="24425A"/>
                </a:solidFill>
                <a:latin typeface="Times New Roman"/>
                <a:ea typeface="SimSun"/>
                <a:cs typeface="Times New Roman"/>
              </a:rPr>
              <a:t>重力分布不均导致液体聚集，水膜覆盖不完整。</a:t>
            </a:r>
          </a:p>
        </p:txBody>
      </p:sp>
      <p:sp>
        <p:nvSpPr>
          <p:cNvPr id="74" name="文本框 73">
            <a:extLst>
              <a:ext uri="{FF2B5EF4-FFF2-40B4-BE49-F238E27FC236}">
                <a16:creationId xmlns:a16="http://schemas.microsoft.com/office/drawing/2014/main" id="{D7A5FF66-7C65-405F-B8AF-C00D5C43656D}"/>
              </a:ext>
            </a:extLst>
          </p:cNvPr>
          <p:cNvSpPr txBox="1"/>
          <p:nvPr/>
        </p:nvSpPr>
        <p:spPr>
          <a:xfrm>
            <a:off x="8146034" y="5220429"/>
            <a:ext cx="3364475" cy="1338235"/>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More temperature drop.</a:t>
            </a:r>
            <a:br/>
            <a:r>
              <a:rPr sz="1148" lang="zh-CN">
                <a:solidFill>
                  <a:srgbClr val="24425A"/>
                </a:solidFill>
                <a:latin typeface="Times New Roman"/>
                <a:ea typeface="SimSun"/>
                <a:cs typeface="Times New Roman"/>
              </a:rPr>
              <a:t>降温幅度更大。</a:t>
            </a:r>
          </a:p>
          <a:p>
            <a:pPr marL="285750" indent="-285750" algn="l">
              <a:buFont typeface="Arial" panose="020B0604020202020204" pitchFamily="34" charset="0"/>
              <a:buChar char="•"/>
              <a:lnSpc>
                <a:spcPct val="108000"/>
              </a:lnSpc>
              <a:spcAft>
                <a:spcPts val="300"/>
              </a:spcAft>
            </a:pP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The temperature drop follows the same trend as the increase in water vapour concentration.</a:t>
            </a:r>
            <a:br/>
            <a:r>
              <a:rPr sz="1148" lang="zh-CN">
                <a:solidFill>
                  <a:srgbClr val="24425A"/>
                </a:solidFill>
                <a:latin typeface="Times New Roman"/>
                <a:ea typeface="SimSun"/>
                <a:cs typeface="Times New Roman"/>
              </a:rPr>
              <a:t>温降与水蒸气浓度增加呈相同变化趋势。</a:t>
            </a:r>
          </a:p>
        </p:txBody>
      </p:sp>
      <p:sp>
        <p:nvSpPr>
          <p:cNvPr id="75" name="矩形: 圆角 74">
            <a:extLst>
              <a:ext uri="{FF2B5EF4-FFF2-40B4-BE49-F238E27FC236}">
                <a16:creationId xmlns:a16="http://schemas.microsoft.com/office/drawing/2014/main" id="{C77DBACA-4A7F-4C7A-9404-C77D41B272CD}"/>
              </a:ext>
            </a:extLst>
          </p:cNvPr>
          <p:cNvSpPr/>
          <p:nvPr/>
        </p:nvSpPr>
        <p:spPr bwMode="auto">
          <a:xfrm>
            <a:off x="4683154" y="1705352"/>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76" name="Rectangle 10">
            <a:extLst>
              <a:ext uri="{FF2B5EF4-FFF2-40B4-BE49-F238E27FC236}">
                <a16:creationId xmlns:a16="http://schemas.microsoft.com/office/drawing/2014/main" id="{66FFF9CA-BF16-443A-9901-26029A31E8E5}"/>
              </a:ext>
            </a:extLst>
          </p:cNvPr>
          <p:cNvSpPr>
            <a:spLocks noChangeArrowheads="1"/>
          </p:cNvSpPr>
          <p:nvPr/>
        </p:nvSpPr>
        <p:spPr bwMode="auto">
          <a:xfrm>
            <a:off x="3664579" y="4447443"/>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800"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sp>
        <p:nvSpPr>
          <p:cNvPr id="77" name="矩形: 圆角 76">
            <a:extLst>
              <a:ext uri="{FF2B5EF4-FFF2-40B4-BE49-F238E27FC236}">
                <a16:creationId xmlns:a16="http://schemas.microsoft.com/office/drawing/2014/main" id="{4A8C5921-FDC4-4B78-91E9-C32B4C77DA4F}"/>
              </a:ext>
            </a:extLst>
          </p:cNvPr>
          <p:cNvSpPr/>
          <p:nvPr/>
        </p:nvSpPr>
        <p:spPr bwMode="auto">
          <a:xfrm>
            <a:off x="8240174" y="1690094"/>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78" name="Rectangle 10">
            <a:extLst>
              <a:ext uri="{FF2B5EF4-FFF2-40B4-BE49-F238E27FC236}">
                <a16:creationId xmlns:a16="http://schemas.microsoft.com/office/drawing/2014/main" id="{ECE3E36B-9730-4908-B11D-232D823BF142}"/>
              </a:ext>
            </a:extLst>
          </p:cNvPr>
          <p:cNvSpPr>
            <a:spLocks noChangeArrowheads="1"/>
          </p:cNvSpPr>
          <p:nvPr/>
        </p:nvSpPr>
        <p:spPr bwMode="auto">
          <a:xfrm>
            <a:off x="7364344" y="4435650"/>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800"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sp>
        <p:nvSpPr>
          <p:cNvPr id="79" name="文本框 78">
            <a:extLst>
              <a:ext uri="{FF2B5EF4-FFF2-40B4-BE49-F238E27FC236}">
                <a16:creationId xmlns:a16="http://schemas.microsoft.com/office/drawing/2014/main" id="{DDBB30D2-0C98-4E78-9C08-19036B22342E}"/>
              </a:ext>
            </a:extLst>
          </p:cNvPr>
          <p:cNvSpPr txBox="1"/>
          <p:nvPr/>
        </p:nvSpPr>
        <p:spPr>
          <a:xfrm>
            <a:off x="4424317" y="5208499"/>
            <a:ext cx="3296686" cy="1338235"/>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The water vapor concentration significantly </a:t>
            </a:r>
            <a:r>
              <a:rPr lang="en-HK" altLang="zh-CN" sz="14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higher</a:t>
            </a: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a:t>
            </a:r>
            <a:br/>
            <a:r>
              <a:rPr sz="1148" lang="zh-CN">
                <a:solidFill>
                  <a:srgbClr val="24425A"/>
                </a:solidFill>
                <a:latin typeface="Times New Roman"/>
                <a:ea typeface="SimSun"/>
                <a:cs typeface="Times New Roman"/>
              </a:rPr>
              <a:t>水蒸气浓度明显更高。</a:t>
            </a:r>
          </a:p>
          <a:p>
            <a:pPr marL="285750" indent="-285750" algn="l">
              <a:buFont typeface="Arial" panose="020B0604020202020204" pitchFamily="34" charset="0"/>
              <a:buChar char="•"/>
              <a:lnSpc>
                <a:spcPct val="108000"/>
              </a:lnSpc>
              <a:spcAft>
                <a:spcPts val="300"/>
              </a:spcAft>
            </a:pP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The water membrane transfers more mass to the airflow.</a:t>
            </a:r>
            <a:br/>
            <a:r>
              <a:rPr sz="1148" lang="zh-CN">
                <a:solidFill>
                  <a:srgbClr val="24425A"/>
                </a:solidFill>
                <a:latin typeface="Times New Roman"/>
                <a:ea typeface="SimSun"/>
                <a:cs typeface="Times New Roman"/>
              </a:rPr>
              <a:t>水膜向气流传递的水分更多。</a:t>
            </a:r>
          </a:p>
        </p:txBody>
      </p:sp>
      <p:sp>
        <p:nvSpPr>
          <p:cNvPr id="35" name="矩形 3">
            <a:extLst>
              <a:ext uri="{FF2B5EF4-FFF2-40B4-BE49-F238E27FC236}">
                <a16:creationId xmlns:a16="http://schemas.microsoft.com/office/drawing/2014/main" id="{1BFE6F6A-8988-45C0-89E7-B3CCAD0E03FC}"/>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spTree>
    <p:extLst>
      <p:ext uri="{BB962C8B-B14F-4D97-AF65-F5344CB8AC3E}">
        <p14:creationId xmlns:p14="http://schemas.microsoft.com/office/powerpoint/2010/main" val="397184887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491236"/>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lgn="l">
              <a:buClrTx/>
              <a:buFont typeface="Wingdings" panose="05000000000000000000" pitchFamily="2" charset="2"/>
              <a:buChar char="Ø"/>
              <a:defRPr>
                <a:latin typeface="Times New Roman"/>
                <a:ea typeface="SimSun"/>
                <a:cs typeface="Times New Roman"/>
              </a:defRPr>
              <a:lnSpc>
                <a:spcPct val="108000"/>
              </a:lnSpc>
              <a:spcAft>
                <a:spcPts val="300"/>
              </a:spcAft>
            </a:pPr>
            <a:r>
              <a:rPr lang="en-US" altLang="en-US" sz="1300" b="1" kern="0" dirty="0">
                <a:latin typeface="Times New Roman" panose="02020603050405020304" pitchFamily="18" charset="0"/>
                <a:ea typeface="SimSun"/>
                <a:cs typeface="Times New Roman" panose="02020603050405020304" pitchFamily="18" charset="0"/>
              </a:rPr>
              <a:t>Specific gaps in the four configurations</a:t>
            </a:r>
            <a:r>
              <a:rPr sz="1066" lang="zh-CN">
                <a:solidFill>
                  <a:srgbClr val="24425A"/>
                </a:solidFill>
                <a:latin typeface="Times New Roman"/>
                <a:ea typeface="SimSun"/>
                <a:cs typeface="Times New Roman"/>
              </a:rPr>
              <a:t>  四种布置方案的性能差异</a:t>
            </a:r>
          </a:p>
        </p:txBody>
      </p:sp>
      <p:sp>
        <p:nvSpPr>
          <p:cNvPr id="10" name="文本框 9">
            <a:extLst>
              <a:ext uri="{FF2B5EF4-FFF2-40B4-BE49-F238E27FC236}">
                <a16:creationId xmlns:a16="http://schemas.microsoft.com/office/drawing/2014/main" id="{F6E5958E-E7A8-8206-F4C3-2DB88B2C8BC3}"/>
              </a:ext>
            </a:extLst>
          </p:cNvPr>
          <p:cNvSpPr txBox="1"/>
          <p:nvPr/>
        </p:nvSpPr>
        <p:spPr>
          <a:xfrm>
            <a:off x="3371682" y="5024765"/>
            <a:ext cx="4895850" cy="280270"/>
          </a:xfrm>
          <a:prstGeom prst="rect">
            <a:avLst/>
          </a:prstGeom>
          <a:noFill/>
        </p:spPr>
        <p:txBody>
          <a:bodyPr wrap="square">
            <a:spAutoFit/>
          </a:bodyPr>
          <a:lstStyle/>
          <a:p>
            <a:pPr algn="ctr">
              <a:lnSpc>
                <a:spcPct val="107000"/>
              </a:lnSpc>
              <a:spcAft>
                <a:spcPts val="8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Fig. 8.5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The coverage ratio and outlet temperature of four configurations</a:t>
            </a:r>
            <a:endParaRPr lang="zh-CN" altLang="zh-CN" sz="12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1891380" y="5437664"/>
            <a:ext cx="8754206" cy="967573"/>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temperature drop </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follows the same trend as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the water film coverage coefficient</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a:t>
            </a:r>
            <a:br/>
            <a:r>
              <a:rPr sz="1025" lang="zh-CN">
                <a:solidFill>
                  <a:srgbClr val="24425A"/>
                </a:solidFill>
                <a:latin typeface="Times New Roman"/>
                <a:ea typeface="SimSun"/>
                <a:cs typeface="Times New Roman"/>
              </a:rPr>
              <a:t>温降与水膜覆盖系数呈相同变化趋势。</a:t>
            </a:r>
          </a:p>
          <a:p>
            <a:pPr marL="285750" indent="-285750" algn="l">
              <a:buFont typeface="Arial" panose="020B0604020202020204" pitchFamily="34" charset="0"/>
              <a:buChar char="•"/>
              <a:lnSpc>
                <a:spcPct val="108000"/>
              </a:lnSpc>
              <a:spcAft>
                <a:spcPts val="300"/>
              </a:spcAft>
            </a:pP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The best results are achieved in the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upper side</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 configuration, with a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59.2% </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and</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 27.4% </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improvement compared to the worst one. </a:t>
            </a:r>
            <a:br/>
            <a:r>
              <a:rPr sz="1025" lang="zh-CN">
                <a:solidFill>
                  <a:srgbClr val="24425A"/>
                </a:solidFill>
                <a:latin typeface="Times New Roman"/>
                <a:ea typeface="SimSun"/>
                <a:cs typeface="Times New Roman"/>
              </a:rPr>
              <a:t>上侧布置的效果最佳；与最差方案相比，两项性能指标分别提升 59.2% 和 27.4%。</a:t>
            </a: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52</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A0558D33-4505-4D7C-801F-DDEC2DE4CC81}"/>
              </a:ext>
            </a:extLst>
          </p:cNvPr>
          <p:cNvGraphicFramePr>
            <a:graphicFrameLocks noChangeAspect="1"/>
          </p:cNvGraphicFramePr>
          <p:nvPr/>
        </p:nvGraphicFramePr>
        <p:xfrm>
          <a:off x="3212064" y="1485357"/>
          <a:ext cx="4895851" cy="3685641"/>
        </p:xfrm>
        <a:graphic>
          <a:graphicData uri="http://schemas.openxmlformats.org/presentationml/2006/ole">
            <mc:AlternateContent xmlns:mc="http://schemas.openxmlformats.org/markup-compatibility/2006">
              <mc:Choice xmlns:v="urn:schemas-microsoft-com:vml" Requires="v">
                <p:oleObj name="Graph" r:id="rId3" imgW="6662246" imgH="5004486" progId="Origin95.Graph">
                  <p:embed/>
                </p:oleObj>
              </mc:Choice>
              <mc:Fallback>
                <p:oleObj name="Graph" r:id="rId3" imgW="6662246" imgH="5004486" progId="Origin95.Graph">
                  <p:embed/>
                  <p:pic>
                    <p:nvPicPr>
                      <p:cNvPr id="13" name="对象 12">
                        <a:extLst>
                          <a:ext uri="{FF2B5EF4-FFF2-40B4-BE49-F238E27FC236}">
                            <a16:creationId xmlns:a16="http://schemas.microsoft.com/office/drawing/2014/main" id="{A0558D33-4505-4D7C-801F-DDEC2DE4C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064" y="1485357"/>
                        <a:ext cx="4895851" cy="3685641"/>
                      </a:xfrm>
                      <a:prstGeom prst="rect">
                        <a:avLst/>
                      </a:prstGeom>
                      <a:noFill/>
                    </p:spPr>
                  </p:pic>
                </p:oleObj>
              </mc:Fallback>
            </mc:AlternateContent>
          </a:graphicData>
        </a:graphic>
      </p:graphicFrame>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spTree>
    <p:extLst>
      <p:ext uri="{BB962C8B-B14F-4D97-AF65-F5344CB8AC3E}">
        <p14:creationId xmlns:p14="http://schemas.microsoft.com/office/powerpoint/2010/main" val="320442060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dirty="0">
              <a:latin typeface="Times New Roman"/>
              <a:ea typeface="SimSun"/>
              <a:cs typeface="Times New Roman"/>
            </a:endParaRPr>
          </a:p>
        </p:txBody>
      </p:sp>
      <p:sp>
        <p:nvSpPr>
          <p:cNvPr id="10" name="Rectangle 7">
            <a:extLst>
              <a:ext uri="{FF2B5EF4-FFF2-40B4-BE49-F238E27FC236}">
                <a16:creationId xmlns:a16="http://schemas.microsoft.com/office/drawing/2014/main" id="{4D3BD20E-6F9F-B7C8-61C3-26038124BDA9}"/>
              </a:ext>
            </a:extLst>
          </p:cNvPr>
          <p:cNvSpPr>
            <a:spLocks noChangeArrowheads="1"/>
          </p:cNvSpPr>
          <p:nvPr/>
        </p:nvSpPr>
        <p:spPr bwMode="auto">
          <a:xfrm>
            <a:off x="7031666" y="227926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Rectangle 6">
            <a:extLst>
              <a:ext uri="{FF2B5EF4-FFF2-40B4-BE49-F238E27FC236}">
                <a16:creationId xmlns:a16="http://schemas.microsoft.com/office/drawing/2014/main" id="{D944ADA9-E4DB-BAC5-2E46-A5A8D1CB4638}"/>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779004" y="57672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pic>
        <p:nvPicPr>
          <p:cNvPr id="12294" name="图片 28">
            <a:extLst>
              <a:ext uri="{FF2B5EF4-FFF2-40B4-BE49-F238E27FC236}">
                <a16:creationId xmlns:a16="http://schemas.microsoft.com/office/drawing/2014/main" id="{44D582F8-18F3-4DEC-0F26-A67449609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099" y="4679707"/>
            <a:ext cx="197167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2293" name="图片 19">
            <a:extLst>
              <a:ext uri="{FF2B5EF4-FFF2-40B4-BE49-F238E27FC236}">
                <a16:creationId xmlns:a16="http://schemas.microsoft.com/office/drawing/2014/main" id="{55A18780-3657-33A9-3010-C344F3D9E6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5183" y="4699175"/>
            <a:ext cx="2005013" cy="19812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8">
            <a:extLst>
              <a:ext uri="{FF2B5EF4-FFF2-40B4-BE49-F238E27FC236}">
                <a16:creationId xmlns:a16="http://schemas.microsoft.com/office/drawing/2014/main" id="{039425B3-1176-DAEB-7DA4-C7499804003B}"/>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pic>
        <p:nvPicPr>
          <p:cNvPr id="12301" name="图片 16">
            <a:extLst>
              <a:ext uri="{FF2B5EF4-FFF2-40B4-BE49-F238E27FC236}">
                <a16:creationId xmlns:a16="http://schemas.microsoft.com/office/drawing/2014/main" id="{B787976E-0295-D959-6756-4C54785DD7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1240" y="4681814"/>
            <a:ext cx="1990725" cy="1976438"/>
          </a:xfrm>
          <a:prstGeom prst="rect">
            <a:avLst/>
          </a:prstGeom>
          <a:noFill/>
          <a:extLst>
            <a:ext uri="{909E8E84-426E-40DD-AFC4-6F175D3DCCD1}">
              <a14:hiddenFill xmlns:a14="http://schemas.microsoft.com/office/drawing/2010/main">
                <a:solidFill>
                  <a:srgbClr val="FFFFFF"/>
                </a:solidFill>
              </a14:hiddenFill>
            </a:ext>
          </a:extLst>
        </p:spPr>
      </p:pic>
      <p:pic>
        <p:nvPicPr>
          <p:cNvPr id="12300" name="图片 10">
            <a:extLst>
              <a:ext uri="{FF2B5EF4-FFF2-40B4-BE49-F238E27FC236}">
                <a16:creationId xmlns:a16="http://schemas.microsoft.com/office/drawing/2014/main" id="{22E7B2F8-133F-7230-6BA2-4AC6104C30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7215" y="4699175"/>
            <a:ext cx="1995488" cy="1981200"/>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14">
            <a:extLst>
              <a:ext uri="{FF2B5EF4-FFF2-40B4-BE49-F238E27FC236}">
                <a16:creationId xmlns:a16="http://schemas.microsoft.com/office/drawing/2014/main" id="{EBCCB8FA-719F-CE4B-F3AA-02975446B696}"/>
              </a:ext>
            </a:extLst>
          </p:cNvPr>
          <p:cNvSpPr>
            <a:spLocks noChangeArrowheads="1"/>
          </p:cNvSpPr>
          <p:nvPr/>
        </p:nvSpPr>
        <p:spPr bwMode="auto">
          <a:xfrm>
            <a:off x="5790583" y="242501"/>
            <a:ext cx="9156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200">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30" name="Rectangle 20">
            <a:extLst>
              <a:ext uri="{FF2B5EF4-FFF2-40B4-BE49-F238E27FC236}">
                <a16:creationId xmlns:a16="http://schemas.microsoft.com/office/drawing/2014/main" id="{E25C9383-1457-16FB-D187-1745D52A2B69}"/>
              </a:ext>
            </a:extLst>
          </p:cNvPr>
          <p:cNvSpPr>
            <a:spLocks noChangeArrowheads="1"/>
          </p:cNvSpPr>
          <p:nvPr/>
        </p:nvSpPr>
        <p:spPr bwMode="auto">
          <a:xfrm>
            <a:off x="4729772" y="1074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pic>
        <p:nvPicPr>
          <p:cNvPr id="31" name="图片 30">
            <a:extLst>
              <a:ext uri="{FF2B5EF4-FFF2-40B4-BE49-F238E27FC236}">
                <a16:creationId xmlns:a16="http://schemas.microsoft.com/office/drawing/2014/main" id="{1F590254-124A-054D-2EAD-9E3BDB1948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59937" y="1724473"/>
            <a:ext cx="1699717" cy="2880000"/>
          </a:xfrm>
          <a:prstGeom prst="rect">
            <a:avLst/>
          </a:prstGeom>
        </p:spPr>
      </p:pic>
      <p:sp>
        <p:nvSpPr>
          <p:cNvPr id="33" name="Content Placeholder 23">
            <a:extLst>
              <a:ext uri="{FF2B5EF4-FFF2-40B4-BE49-F238E27FC236}">
                <a16:creationId xmlns:a16="http://schemas.microsoft.com/office/drawing/2014/main" id="{120A189C-F83B-24CC-1955-EEEA7ADF6B77}"/>
              </a:ext>
            </a:extLst>
          </p:cNvPr>
          <p:cNvSpPr txBox="1">
            <a:spLocks/>
          </p:cNvSpPr>
          <p:nvPr/>
        </p:nvSpPr>
        <p:spPr bwMode="auto">
          <a:xfrm>
            <a:off x="350383" y="906684"/>
            <a:ext cx="11270117"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6.4 Approaches for cooling performance enhancement</a:t>
            </a:r>
            <a:r>
              <a:rPr sz="1230" lang="zh-CN">
                <a:solidFill>
                  <a:srgbClr val="24425A"/>
                </a:solidFill>
                <a:latin typeface="Times New Roman"/>
                <a:ea typeface="SimSun"/>
                <a:cs typeface="Times New Roman"/>
              </a:rPr>
              <a:t>  制冷性能强化措施</a:t>
            </a:r>
          </a:p>
        </p:txBody>
      </p:sp>
      <p:sp>
        <p:nvSpPr>
          <p:cNvPr id="34" name="文本框 33">
            <a:extLst>
              <a:ext uri="{FF2B5EF4-FFF2-40B4-BE49-F238E27FC236}">
                <a16:creationId xmlns:a16="http://schemas.microsoft.com/office/drawing/2014/main" id="{6B54303A-CEA9-54E3-7C6C-6E4C19CB6349}"/>
              </a:ext>
            </a:extLst>
          </p:cNvPr>
          <p:cNvSpPr txBox="1"/>
          <p:nvPr/>
        </p:nvSpPr>
        <p:spPr>
          <a:xfrm>
            <a:off x="418910" y="1310895"/>
            <a:ext cx="5520637"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450" b="1" dirty="0">
                <a:latin typeface="Times New Roman" panose="02020603050405020304" pitchFamily="18" charset="0"/>
                <a:ea typeface="SimSun" panose="02010600030101010101" pitchFamily="2" charset="-122"/>
                <a:cs typeface="Times New Roman" panose="02020603050405020304" pitchFamily="18" charset="0"/>
              </a:rPr>
              <a:t>Hydrophilic coating (Epoxy coating-Hydrophilic lacquer)</a:t>
            </a:r>
            <a:r>
              <a:rPr sz="1189" lang="zh-CN">
                <a:solidFill>
                  <a:srgbClr val="24425A"/>
                </a:solidFill>
                <a:latin typeface="Times New Roman"/>
                <a:ea typeface="SimSun"/>
                <a:cs typeface="Times New Roman"/>
              </a:rPr>
              <a:t>  亲水涂层</a:t>
            </a:r>
          </a:p>
        </p:txBody>
      </p:sp>
      <p:sp>
        <p:nvSpPr>
          <p:cNvPr id="35" name="文本框 34">
            <a:extLst>
              <a:ext uri="{FF2B5EF4-FFF2-40B4-BE49-F238E27FC236}">
                <a16:creationId xmlns:a16="http://schemas.microsoft.com/office/drawing/2014/main" id="{3B141EB2-BE23-5665-A1D8-CB4399D6F961}"/>
              </a:ext>
            </a:extLst>
          </p:cNvPr>
          <p:cNvSpPr txBox="1"/>
          <p:nvPr/>
        </p:nvSpPr>
        <p:spPr>
          <a:xfrm>
            <a:off x="6159499" y="1338301"/>
            <a:ext cx="4981245"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450" b="1" dirty="0">
                <a:latin typeface="Times New Roman" panose="02020603050405020304" pitchFamily="18" charset="0"/>
                <a:ea typeface="SimSun" panose="02010600030101010101" pitchFamily="2" charset="-122"/>
                <a:cs typeface="Times New Roman" panose="02020603050405020304" pitchFamily="18" charset="0"/>
              </a:rPr>
              <a:t>Fiber coating (</a:t>
            </a:r>
            <a:r>
              <a:rPr lang="en-HK" altLang="zh-CN" sz="1450" b="1" dirty="0">
                <a:latin typeface="Times New Roman" panose="02020603050405020304" pitchFamily="18" charset="0"/>
                <a:ea typeface="SimSun" panose="02010600030101010101" pitchFamily="2" charset="-122"/>
                <a:cs typeface="Times New Roman" panose="02020603050405020304" pitchFamily="18" charset="0"/>
              </a:rPr>
              <a:t>70% rayon + 30% polyester textile</a:t>
            </a:r>
            <a:r>
              <a:rPr lang="en-US" altLang="zh-CN" sz="1450" b="1" dirty="0">
                <a:latin typeface="Times New Roman" panose="02020603050405020304" pitchFamily="18" charset="0"/>
                <a:ea typeface="SimSun" panose="02010600030101010101" pitchFamily="2" charset="-122"/>
                <a:cs typeface="Times New Roman" panose="02020603050405020304" pitchFamily="18" charset="0"/>
              </a:rPr>
              <a:t>)</a:t>
            </a:r>
            <a:r>
              <a:rPr sz="1189" lang="zh-CN">
                <a:solidFill>
                  <a:srgbClr val="24425A"/>
                </a:solidFill>
                <a:latin typeface="Times New Roman"/>
                <a:ea typeface="SimSun"/>
                <a:cs typeface="Times New Roman"/>
              </a:rPr>
              <a:t>  纤维涂层</a:t>
            </a:r>
          </a:p>
        </p:txBody>
      </p:sp>
      <p:pic>
        <p:nvPicPr>
          <p:cNvPr id="7" name="图片 6">
            <a:extLst>
              <a:ext uri="{FF2B5EF4-FFF2-40B4-BE49-F238E27FC236}">
                <a16:creationId xmlns:a16="http://schemas.microsoft.com/office/drawing/2014/main" id="{AF6F6F8B-EB72-3852-61D0-0C80928DC14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16401" y="1767490"/>
            <a:ext cx="3658617" cy="2880000"/>
          </a:xfrm>
          <a:prstGeom prst="rect">
            <a:avLst/>
          </a:prstGeom>
        </p:spPr>
      </p:pic>
      <p:sp>
        <p:nvSpPr>
          <p:cNvPr id="37" name="文本框 36">
            <a:extLst>
              <a:ext uri="{FF2B5EF4-FFF2-40B4-BE49-F238E27FC236}">
                <a16:creationId xmlns:a16="http://schemas.microsoft.com/office/drawing/2014/main" id="{7449E9A1-15F7-7570-0F4E-0C7E61E37CDE}"/>
              </a:ext>
            </a:extLst>
          </p:cNvPr>
          <p:cNvSpPr txBox="1"/>
          <p:nvPr/>
        </p:nvSpPr>
        <p:spPr>
          <a:xfrm>
            <a:off x="4394478" y="3383568"/>
            <a:ext cx="1174048" cy="400110"/>
          </a:xfrm>
          <a:prstGeom prst="rect">
            <a:avLst/>
          </a:prstGeom>
          <a:noFill/>
        </p:spPr>
        <p:txBody>
          <a:bodyPr wrap="square">
            <a:spAutoFit/>
          </a:bodyPr>
          <a:lstStyle/>
          <a:p>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57.8°</a:t>
            </a:r>
            <a:endParaRPr lang="zh-CN" altLang="en-US" sz="2000" dirty="0">
              <a:latin typeface="Times New Roman"/>
              <a:ea typeface="SimSun"/>
              <a:cs typeface="Times New Roman"/>
            </a:endParaRPr>
          </a:p>
        </p:txBody>
      </p:sp>
      <p:sp>
        <p:nvSpPr>
          <p:cNvPr id="38" name="文本框 37">
            <a:extLst>
              <a:ext uri="{FF2B5EF4-FFF2-40B4-BE49-F238E27FC236}">
                <a16:creationId xmlns:a16="http://schemas.microsoft.com/office/drawing/2014/main" id="{B76911C3-9765-E347-726E-21D654A39527}"/>
              </a:ext>
            </a:extLst>
          </p:cNvPr>
          <p:cNvSpPr txBox="1"/>
          <p:nvPr/>
        </p:nvSpPr>
        <p:spPr>
          <a:xfrm>
            <a:off x="4393627" y="2413145"/>
            <a:ext cx="1174048" cy="400110"/>
          </a:xfrm>
          <a:prstGeom prst="rect">
            <a:avLst/>
          </a:prstGeom>
          <a:noFill/>
        </p:spPr>
        <p:txBody>
          <a:bodyPr wrap="square">
            <a:spAutoFit/>
          </a:bodyPr>
          <a:lstStyle/>
          <a:p>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77.8°</a:t>
            </a:r>
            <a:endParaRPr lang="zh-CN" altLang="en-US" sz="2000" dirty="0">
              <a:latin typeface="Times New Roman"/>
              <a:ea typeface="SimSun"/>
              <a:cs typeface="Times New Roman"/>
            </a:endParaRPr>
          </a:p>
        </p:txBody>
      </p:sp>
      <p:sp>
        <p:nvSpPr>
          <p:cNvPr id="39" name="箭头: 上 38">
            <a:extLst>
              <a:ext uri="{FF2B5EF4-FFF2-40B4-BE49-F238E27FC236}">
                <a16:creationId xmlns:a16="http://schemas.microsoft.com/office/drawing/2014/main" id="{FD2E61FC-80EB-D29D-1E6D-E4A1B5127912}"/>
              </a:ext>
            </a:extLst>
          </p:cNvPr>
          <p:cNvSpPr/>
          <p:nvPr/>
        </p:nvSpPr>
        <p:spPr bwMode="auto">
          <a:xfrm rot="10800000">
            <a:off x="4640139" y="2813255"/>
            <a:ext cx="168800" cy="545219"/>
          </a:xfrm>
          <a:prstGeom prst="up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sp>
        <p:nvSpPr>
          <p:cNvPr id="40" name="文本框 39">
            <a:extLst>
              <a:ext uri="{FF2B5EF4-FFF2-40B4-BE49-F238E27FC236}">
                <a16:creationId xmlns:a16="http://schemas.microsoft.com/office/drawing/2014/main" id="{F3C7B98F-7DCA-1477-5CAC-21E7AAAB40E1}"/>
              </a:ext>
            </a:extLst>
          </p:cNvPr>
          <p:cNvSpPr txBox="1"/>
          <p:nvPr/>
        </p:nvSpPr>
        <p:spPr>
          <a:xfrm>
            <a:off x="4041547" y="1820942"/>
            <a:ext cx="1622534" cy="551180"/>
          </a:xfrm>
          <a:prstGeom prst="rect">
            <a:avLst/>
          </a:prstGeom>
          <a:noFill/>
        </p:spPr>
        <p:txBody>
          <a:bodyPr wrap="square" tIns="0" bIns="0">
            <a:noAutofit/>
          </a:bodyPr>
          <a:lstStyle/>
          <a:p>
            <a:pPr algn="l">
              <a:lnSpc>
                <a:spcPct val="108000"/>
              </a:lnSpc>
              <a:spcAft>
                <a:spcPts val="300"/>
              </a:spcAft>
            </a:pPr>
            <a:r>
              <a:rPr lang="en-US" altLang="zh-CN" sz="1500" dirty="0">
                <a:latin typeface="Times New Roman" panose="02020603050405020304" pitchFamily="18" charset="0"/>
                <a:ea typeface="SimSun" panose="02010600030101010101" pitchFamily="2" charset="-122"/>
                <a:cs typeface="Times New Roman" panose="02020603050405020304" pitchFamily="18" charset="0"/>
              </a:rPr>
              <a:t>Contact angle</a:t>
            </a:r>
            <a:r>
              <a:rPr sz="1230" lang="zh-CN">
                <a:solidFill>
                  <a:srgbClr val="24425A"/>
                </a:solidFill>
                <a:latin typeface="Times New Roman"/>
                <a:ea typeface="SimSun"/>
                <a:cs typeface="Times New Roman"/>
              </a:rPr>
              <a:t>  接触角</a:t>
            </a:r>
          </a:p>
        </p:txBody>
      </p:sp>
      <p:sp>
        <p:nvSpPr>
          <p:cNvPr id="41" name="文本框 40">
            <a:extLst>
              <a:ext uri="{FF2B5EF4-FFF2-40B4-BE49-F238E27FC236}">
                <a16:creationId xmlns:a16="http://schemas.microsoft.com/office/drawing/2014/main" id="{1F21BD32-7354-E7D0-3786-180D65BF865D}"/>
              </a:ext>
            </a:extLst>
          </p:cNvPr>
          <p:cNvSpPr txBox="1"/>
          <p:nvPr/>
        </p:nvSpPr>
        <p:spPr>
          <a:xfrm>
            <a:off x="10108631" y="1833227"/>
            <a:ext cx="1622534" cy="551180"/>
          </a:xfrm>
          <a:prstGeom prst="rect">
            <a:avLst/>
          </a:prstGeom>
          <a:noFill/>
        </p:spPr>
        <p:txBody>
          <a:bodyPr wrap="square" tIns="0" bIns="0">
            <a:noAutofit/>
          </a:bodyPr>
          <a:lstStyle/>
          <a:p>
            <a:pPr algn="l">
              <a:lnSpc>
                <a:spcPct val="108000"/>
              </a:lnSpc>
              <a:spcAft>
                <a:spcPts val="300"/>
              </a:spcAft>
            </a:pPr>
            <a:r>
              <a:rPr lang="en-US" altLang="zh-CN" sz="1500" dirty="0">
                <a:latin typeface="Times New Roman" panose="02020603050405020304" pitchFamily="18" charset="0"/>
                <a:ea typeface="SimSun" panose="02010600030101010101" pitchFamily="2" charset="-122"/>
                <a:cs typeface="Times New Roman" panose="02020603050405020304" pitchFamily="18" charset="0"/>
              </a:rPr>
              <a:t>Contact angle</a:t>
            </a:r>
            <a:r>
              <a:rPr sz="1230" lang="zh-CN">
                <a:solidFill>
                  <a:srgbClr val="24425A"/>
                </a:solidFill>
                <a:latin typeface="Times New Roman"/>
                <a:ea typeface="SimSun"/>
                <a:cs typeface="Times New Roman"/>
              </a:rPr>
              <a:t>  接触角</a:t>
            </a:r>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2F6D8629-5047-366A-F737-676469A2D7C9}"/>
                  </a:ext>
                </a:extLst>
              </p:cNvPr>
              <p:cNvSpPr txBox="1"/>
              <p:nvPr/>
            </p:nvSpPr>
            <p:spPr>
              <a:xfrm>
                <a:off x="10442704" y="2146979"/>
                <a:ext cx="322203" cy="369332"/>
              </a:xfrm>
              <a:prstGeom prst="rect">
                <a:avLst/>
              </a:prstGeom>
              <a:noFill/>
            </p:spPr>
            <p:txBody>
              <a:bodyPr wrap="none" lIns="0" tIns="0" rIns="0" bIns="0" rtlCol="0">
                <a:spAutoFit/>
              </a:bodyPr>
              <a:lstStyle/>
              <a:p>
                <a:pPr/>
                <a14:m>
                  <m:oMathPara xmlns:m="http://schemas.openxmlformats.org/officeDocument/2006/math">
                    <m:oMath>
                      <m:r>
                        <a:rPr lang="zh-CN" altLang="en-US" i="1">
                          <a:latin typeface="Times New Roman" panose="02040503050406030204" pitchFamily="18" charset="0"/>
                          <a:ea typeface="SimSun"/>
                          <a:cs typeface="Times New Roman"/>
                        </a:rPr>
                        <m:t>≈</m:t>
                      </m:r>
                    </m:oMath>
                  </m:oMathPara>
                </a14:m>
                <a:endParaRPr lang="zh-CN" altLang="en-US" dirty="0">
                  <a:latin typeface="Times New Roman"/>
                  <a:ea typeface="SimSun"/>
                  <a:cs typeface="Times New Roman"/>
                </a:endParaRPr>
              </a:p>
            </p:txBody>
          </p:sp>
        </mc:Choice>
        <mc:Fallback xmlns="">
          <p:sp>
            <p:nvSpPr>
              <p:cNvPr id="42" name="文本框 41">
                <a:extLst>
                  <a:ext uri="{FF2B5EF4-FFF2-40B4-BE49-F238E27FC236}">
                    <a16:creationId xmlns:a16="http://schemas.microsoft.com/office/drawing/2014/main" id="{2F6D8629-5047-366A-F737-676469A2D7C9}"/>
                  </a:ext>
                </a:extLst>
              </p:cNvPr>
              <p:cNvSpPr txBox="1">
                <a:spLocks noRot="1" noChangeAspect="1" noMove="1" noResize="1" noEditPoints="1" noAdjustHandles="1" noChangeArrowheads="1" noChangeShapeType="1" noTextEdit="1"/>
              </p:cNvSpPr>
              <p:nvPr/>
            </p:nvSpPr>
            <p:spPr>
              <a:xfrm>
                <a:off x="10442704" y="2146979"/>
                <a:ext cx="322203" cy="369332"/>
              </a:xfrm>
              <a:prstGeom prst="rect">
                <a:avLst/>
              </a:prstGeom>
              <a:blipFill>
                <a:blip r:embed="rId9"/>
                <a:stretch>
                  <a:fillRect l="-5660" r="-7547"/>
                </a:stretch>
              </a:blipFill>
            </p:spPr>
            <p:txBody>
              <a:bodyPr/>
              <a:lstStyle/>
              <a:p>
                <a:r>
                  <a:rPr lang="en-US">
                    <a:noFill/>
                    <a:latin typeface="Times New Roman"/>
                    <a:ea typeface="SimSun"/>
                    <a:cs typeface="Times New Roman"/>
                  </a:rPr>
                  <a:t> </a:t>
                </a:r>
              </a:p>
            </p:txBody>
          </p:sp>
        </mc:Fallback>
      </mc:AlternateContent>
      <p:sp>
        <p:nvSpPr>
          <p:cNvPr id="44" name="文本框 43">
            <a:extLst>
              <a:ext uri="{FF2B5EF4-FFF2-40B4-BE49-F238E27FC236}">
                <a16:creationId xmlns:a16="http://schemas.microsoft.com/office/drawing/2014/main" id="{C4BF3078-89FA-E744-2B24-A7E46432A287}"/>
              </a:ext>
            </a:extLst>
          </p:cNvPr>
          <p:cNvSpPr txBox="1"/>
          <p:nvPr/>
        </p:nvSpPr>
        <p:spPr>
          <a:xfrm>
            <a:off x="10780218" y="2129385"/>
            <a:ext cx="710170" cy="461665"/>
          </a:xfrm>
          <a:prstGeom prst="rect">
            <a:avLst/>
          </a:prstGeom>
          <a:noFill/>
        </p:spPr>
        <p:txBody>
          <a:bodyPr wrap="square">
            <a:spAutoFit/>
          </a:bodyPr>
          <a:lstStyle/>
          <a:p>
            <a:r>
              <a:rPr lang="en-US" altLang="zh-CN" b="1" dirty="0">
                <a:latin typeface="Times New Roman" panose="02020603050405020304" pitchFamily="18" charset="0"/>
                <a:ea typeface="SimSun" panose="02010600030101010101" pitchFamily="2" charset="-122"/>
                <a:cs typeface="Times New Roman" panose="02020603050405020304" pitchFamily="18" charset="0"/>
              </a:rPr>
              <a:t>0°</a:t>
            </a:r>
            <a:endParaRPr lang="zh-CN" altLang="en-US" dirty="0">
              <a:latin typeface="Times New Roman"/>
              <a:ea typeface="SimSun"/>
              <a:cs typeface="Times New Roman"/>
            </a:endParaRPr>
          </a:p>
        </p:txBody>
      </p:sp>
      <p:cxnSp>
        <p:nvCxnSpPr>
          <p:cNvPr id="45" name="直接连接符 44">
            <a:extLst>
              <a:ext uri="{FF2B5EF4-FFF2-40B4-BE49-F238E27FC236}">
                <a16:creationId xmlns:a16="http://schemas.microsoft.com/office/drawing/2014/main" id="{8CF17AC2-6B84-8E4A-5963-65BD2A58164F}"/>
              </a:ext>
            </a:extLst>
          </p:cNvPr>
          <p:cNvCxnSpPr>
            <a:cxnSpLocks/>
          </p:cNvCxnSpPr>
          <p:nvPr/>
        </p:nvCxnSpPr>
        <p:spPr bwMode="auto">
          <a:xfrm>
            <a:off x="5870855" y="1326028"/>
            <a:ext cx="0" cy="5341472"/>
          </a:xfrm>
          <a:prstGeom prst="line">
            <a:avLst/>
          </a:prstGeom>
          <a:ln>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0" name="文本框 49">
            <a:extLst>
              <a:ext uri="{FF2B5EF4-FFF2-40B4-BE49-F238E27FC236}">
                <a16:creationId xmlns:a16="http://schemas.microsoft.com/office/drawing/2014/main" id="{1C365F99-A87E-A483-7595-A9C235F024AE}"/>
              </a:ext>
            </a:extLst>
          </p:cNvPr>
          <p:cNvSpPr txBox="1"/>
          <p:nvPr/>
        </p:nvSpPr>
        <p:spPr>
          <a:xfrm>
            <a:off x="1009056" y="6625523"/>
            <a:ext cx="4026032" cy="276999"/>
          </a:xfrm>
          <a:prstGeom prst="rect">
            <a:avLst/>
          </a:prstGeom>
          <a:noFill/>
        </p:spPr>
        <p:txBody>
          <a:bodyPr wrap="square">
            <a:spAutoFit/>
          </a:bodyPr>
          <a:lstStyle/>
          <a:p>
            <a:r>
              <a:rPr lang="en-US" altLang="zh-CN" sz="1200" dirty="0">
                <a:latin typeface="Times New Roman"/>
                <a:ea typeface="SimSun"/>
                <a:cs typeface="Times New Roman"/>
              </a:rPr>
              <a:t> </a:t>
            </a:r>
            <a:r>
              <a:rPr lang="en-US" altLang="zh-CN" sz="1200" dirty="0">
                <a:latin typeface="Times New Roman" panose="02020603050405020304" pitchFamily="18" charset="0"/>
                <a:ea typeface="SimSun"/>
                <a:cs typeface="Times New Roman" panose="02020603050405020304" pitchFamily="18" charset="0"/>
              </a:rPr>
              <a:t>(a) Water film distribution           (b) Temperature distribution</a:t>
            </a:r>
            <a:endParaRPr lang="zh-CN" altLang="en-US" sz="1200" dirty="0">
              <a:latin typeface="Times New Roman" panose="02020603050405020304" pitchFamily="18" charset="0"/>
              <a:ea typeface="SimSun"/>
              <a:cs typeface="Times New Roman" panose="02020603050405020304" pitchFamily="18" charset="0"/>
            </a:endParaRPr>
          </a:p>
        </p:txBody>
      </p:sp>
      <p:sp>
        <p:nvSpPr>
          <p:cNvPr id="51" name="文本框 50">
            <a:extLst>
              <a:ext uri="{FF2B5EF4-FFF2-40B4-BE49-F238E27FC236}">
                <a16:creationId xmlns:a16="http://schemas.microsoft.com/office/drawing/2014/main" id="{E8F10DAA-1B87-26D8-3295-90220589847F}"/>
              </a:ext>
            </a:extLst>
          </p:cNvPr>
          <p:cNvSpPr txBox="1"/>
          <p:nvPr/>
        </p:nvSpPr>
        <p:spPr>
          <a:xfrm>
            <a:off x="6287838" y="6630999"/>
            <a:ext cx="4026032" cy="276999"/>
          </a:xfrm>
          <a:prstGeom prst="rect">
            <a:avLst/>
          </a:prstGeom>
          <a:noFill/>
        </p:spPr>
        <p:txBody>
          <a:bodyPr wrap="square">
            <a:spAutoFit/>
          </a:bodyPr>
          <a:lstStyle/>
          <a:p>
            <a:r>
              <a:rPr lang="en-US" altLang="zh-CN" sz="1200" dirty="0">
                <a:latin typeface="Times New Roman"/>
                <a:ea typeface="SimSun"/>
                <a:cs typeface="Times New Roman"/>
              </a:rPr>
              <a:t> </a:t>
            </a:r>
            <a:r>
              <a:rPr lang="en-US" altLang="zh-CN" sz="1200" dirty="0">
                <a:latin typeface="Times New Roman" panose="02020603050405020304" pitchFamily="18" charset="0"/>
                <a:ea typeface="SimSun"/>
                <a:cs typeface="Times New Roman" panose="02020603050405020304" pitchFamily="18" charset="0"/>
              </a:rPr>
              <a:t>(a) Water film distribution            (b) Temperature distribution</a:t>
            </a:r>
            <a:endParaRPr lang="zh-CN" altLang="en-US" sz="1200" dirty="0">
              <a:latin typeface="Times New Roman" panose="02020603050405020304" pitchFamily="18" charset="0"/>
              <a:ea typeface="SimSun"/>
              <a:cs typeface="Times New Roman" panose="02020603050405020304" pitchFamily="18" charset="0"/>
            </a:endParaRPr>
          </a:p>
        </p:txBody>
      </p:sp>
      <p:sp>
        <p:nvSpPr>
          <p:cNvPr id="36" name="文本框 35">
            <a:extLst>
              <a:ext uri="{FF2B5EF4-FFF2-40B4-BE49-F238E27FC236}">
                <a16:creationId xmlns:a16="http://schemas.microsoft.com/office/drawing/2014/main" id="{010AF22C-C85B-4839-B91D-C8BECB1E531A}"/>
              </a:ext>
            </a:extLst>
          </p:cNvPr>
          <p:cNvSpPr txBox="1"/>
          <p:nvPr/>
        </p:nvSpPr>
        <p:spPr>
          <a:xfrm>
            <a:off x="10442703" y="2635685"/>
            <a:ext cx="1622534" cy="369332"/>
          </a:xfrm>
          <a:prstGeom prst="rect">
            <a:avLst/>
          </a:prstGeom>
          <a:noFill/>
        </p:spPr>
        <p:txBody>
          <a:bodyPr wrap="square" tIns="0" bIns="0">
            <a:noAutofit/>
          </a:bodyPr>
          <a:lstStyle/>
          <a:p>
            <a:pPr algn="l">
              <a:lnSpc>
                <a:spcPct val="108000"/>
              </a:lnSpc>
              <a:spcAft>
                <a:spcPts val="300"/>
              </a:spcAft>
            </a:pPr>
            <a:r>
              <a:rPr lang="en-US" altLang="zh-CN" sz="1500" dirty="0">
                <a:latin typeface="Times New Roman" panose="02020603050405020304" pitchFamily="18" charset="0"/>
                <a:ea typeface="SimSun" panose="02010600030101010101" pitchFamily="2" charset="-122"/>
                <a:cs typeface="Times New Roman" panose="02020603050405020304" pitchFamily="18" charset="0"/>
              </a:rPr>
              <a:t>diffusion</a:t>
            </a:r>
            <a:r>
              <a:rPr sz="1230" lang="zh-CN">
                <a:solidFill>
                  <a:srgbClr val="24425A"/>
                </a:solidFill>
                <a:latin typeface="Times New Roman"/>
                <a:ea typeface="SimSun"/>
                <a:cs typeface="Times New Roman"/>
              </a:rPr>
              <a:t>  扩散</a:t>
            </a:r>
          </a:p>
        </p:txBody>
      </p:sp>
      <p:sp>
        <p:nvSpPr>
          <p:cNvPr id="2" name="灯片编号占位符 1">
            <a:extLst>
              <a:ext uri="{FF2B5EF4-FFF2-40B4-BE49-F238E27FC236}">
                <a16:creationId xmlns:a16="http://schemas.microsoft.com/office/drawing/2014/main" id="{D382A779-A490-47CF-8456-61598D49840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53</a:t>
            </a:fld>
            <a:endParaRPr lang="en-US" altLang="zh-CN">
              <a:latin typeface="Times New Roman"/>
              <a:ea typeface="SimSun"/>
              <a:cs typeface="Times New Roman"/>
            </a:endParaRPr>
          </a:p>
        </p:txBody>
      </p:sp>
      <p:sp>
        <p:nvSpPr>
          <p:cNvPr id="46" name="矩形 3">
            <a:extLst>
              <a:ext uri="{FF2B5EF4-FFF2-40B4-BE49-F238E27FC236}">
                <a16:creationId xmlns:a16="http://schemas.microsoft.com/office/drawing/2014/main" id="{44FA7186-E2A9-461D-8F58-50183D417095}"/>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sz="180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sz="1800">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sp>
        <p:nvSpPr>
          <p:cNvPr id="12302"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数据中心 IEC 性能与喷嘴优化</a:t>
            </a:r>
          </a:p>
        </p:txBody>
      </p:sp>
    </p:spTree>
    <p:extLst>
      <p:ext uri="{BB962C8B-B14F-4D97-AF65-F5344CB8AC3E}">
        <p14:creationId xmlns:p14="http://schemas.microsoft.com/office/powerpoint/2010/main" val="51184719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0" name="Rectangle 7">
            <a:extLst>
              <a:ext uri="{FF2B5EF4-FFF2-40B4-BE49-F238E27FC236}">
                <a16:creationId xmlns:a16="http://schemas.microsoft.com/office/drawing/2014/main" id="{4D3BD20E-6F9F-B7C8-61C3-26038124BDA9}"/>
              </a:ext>
            </a:extLst>
          </p:cNvPr>
          <p:cNvSpPr>
            <a:spLocks noChangeArrowheads="1"/>
          </p:cNvSpPr>
          <p:nvPr/>
        </p:nvSpPr>
        <p:spPr bwMode="auto">
          <a:xfrm>
            <a:off x="7031666" y="227926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Rectangle 6">
            <a:extLst>
              <a:ext uri="{FF2B5EF4-FFF2-40B4-BE49-F238E27FC236}">
                <a16:creationId xmlns:a16="http://schemas.microsoft.com/office/drawing/2014/main" id="{D944ADA9-E4DB-BAC5-2E46-A5A8D1CB4638}"/>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2" name="Rectangle 9">
            <a:extLst>
              <a:ext uri="{FF2B5EF4-FFF2-40B4-BE49-F238E27FC236}">
                <a16:creationId xmlns:a16="http://schemas.microsoft.com/office/drawing/2014/main" id="{9A2CD8E0-562C-7D40-5D09-97609FC84490}"/>
              </a:ext>
            </a:extLst>
          </p:cNvPr>
          <p:cNvSpPr>
            <a:spLocks noChangeArrowheads="1"/>
          </p:cNvSpPr>
          <p:nvPr/>
        </p:nvSpPr>
        <p:spPr bwMode="auto">
          <a:xfrm>
            <a:off x="4178649" y="8862983"/>
            <a:ext cx="38347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(c) Upper side configuration                      (d) Lower side configuration</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Fig. 11. The water film distribution of the four nozzle configurations</a:t>
            </a:r>
            <a:endParaRPr lang="en-US" altLang="zh-CN" sz="1800">
              <a:latin typeface="Times New Roman" panose="020B0604020202020204" pitchFamily="34" charset="0"/>
              <a:ea typeface="SimSun"/>
              <a:cs typeface="Times New Roman"/>
            </a:endParaRPr>
          </a:p>
        </p:txBody>
      </p:sp>
      <p:sp>
        <p:nvSpPr>
          <p:cNvPr id="13" name="Rectangle 16">
            <a:extLst>
              <a:ext uri="{FF2B5EF4-FFF2-40B4-BE49-F238E27FC236}">
                <a16:creationId xmlns:a16="http://schemas.microsoft.com/office/drawing/2014/main" id="{7079ADA1-6077-D0F4-96B2-9B52E3482C9B}"/>
              </a:ext>
            </a:extLst>
          </p:cNvPr>
          <p:cNvSpPr>
            <a:spLocks noChangeArrowheads="1"/>
          </p:cNvSpPr>
          <p:nvPr/>
        </p:nvSpPr>
        <p:spPr bwMode="auto">
          <a:xfrm>
            <a:off x="6285225" y="3544544"/>
            <a:ext cx="922047"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6" name="Rectangle 19">
            <a:extLst>
              <a:ext uri="{FF2B5EF4-FFF2-40B4-BE49-F238E27FC236}">
                <a16:creationId xmlns:a16="http://schemas.microsoft.com/office/drawing/2014/main" id="{5E372CFD-AED2-99D9-953E-AC44B6632B41}"/>
              </a:ext>
            </a:extLst>
          </p:cNvPr>
          <p:cNvSpPr>
            <a:spLocks noChangeArrowheads="1"/>
          </p:cNvSpPr>
          <p:nvPr/>
        </p:nvSpPr>
        <p:spPr bwMode="auto">
          <a:xfrm>
            <a:off x="4909848" y="10277975"/>
            <a:ext cx="36728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(a) Top configuration                              (b) Bottom configuration</a:t>
            </a:r>
            <a:endParaRPr lang="en-US" altLang="zh-CN" sz="400">
              <a:latin typeface="Times New Roman"/>
              <a:ea typeface="SimSun"/>
              <a:cs typeface="Times New Roman"/>
            </a:endParaRPr>
          </a:p>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Rectangle 2">
            <a:extLst>
              <a:ext uri="{FF2B5EF4-FFF2-40B4-BE49-F238E27FC236}">
                <a16:creationId xmlns:a16="http://schemas.microsoft.com/office/drawing/2014/main" id="{D3F246CD-5242-42C5-7BAF-F3BD7108C82B}"/>
              </a:ext>
            </a:extLst>
          </p:cNvPr>
          <p:cNvSpPr>
            <a:spLocks noChangeArrowheads="1"/>
          </p:cNvSpPr>
          <p:nvPr/>
        </p:nvSpPr>
        <p:spPr bwMode="auto">
          <a:xfrm>
            <a:off x="3177363" y="178847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1" name="Rectangle 7">
            <a:extLst>
              <a:ext uri="{FF2B5EF4-FFF2-40B4-BE49-F238E27FC236}">
                <a16:creationId xmlns:a16="http://schemas.microsoft.com/office/drawing/2014/main" id="{046FEBD5-1092-2CC6-EEFD-A1D95DA62367}"/>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1" name="Rectangle 8">
            <a:extLst>
              <a:ext uri="{FF2B5EF4-FFF2-40B4-BE49-F238E27FC236}">
                <a16:creationId xmlns:a16="http://schemas.microsoft.com/office/drawing/2014/main" id="{039425B3-1176-DAEB-7DA4-C7499804003B}"/>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25" name="Rectangle 15">
            <a:extLst>
              <a:ext uri="{FF2B5EF4-FFF2-40B4-BE49-F238E27FC236}">
                <a16:creationId xmlns:a16="http://schemas.microsoft.com/office/drawing/2014/main" id="{3C2848A0-313A-CE4D-13D5-B2C2451C03AF}"/>
              </a:ext>
            </a:extLst>
          </p:cNvPr>
          <p:cNvSpPr>
            <a:spLocks noChangeArrowheads="1"/>
          </p:cNvSpPr>
          <p:nvPr/>
        </p:nvSpPr>
        <p:spPr bwMode="auto">
          <a:xfrm>
            <a:off x="6091947" y="2455233"/>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30" name="Rectangle 20">
            <a:extLst>
              <a:ext uri="{FF2B5EF4-FFF2-40B4-BE49-F238E27FC236}">
                <a16:creationId xmlns:a16="http://schemas.microsoft.com/office/drawing/2014/main" id="{E25C9383-1457-16FB-D187-1745D52A2B69}"/>
              </a:ext>
            </a:extLst>
          </p:cNvPr>
          <p:cNvSpPr>
            <a:spLocks noChangeArrowheads="1"/>
          </p:cNvSpPr>
          <p:nvPr/>
        </p:nvSpPr>
        <p:spPr bwMode="auto">
          <a:xfrm>
            <a:off x="4729772" y="1074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Content Placeholder 23">
            <a:extLst>
              <a:ext uri="{FF2B5EF4-FFF2-40B4-BE49-F238E27FC236}">
                <a16:creationId xmlns:a16="http://schemas.microsoft.com/office/drawing/2014/main" id="{466B159F-0082-32B6-C383-D345196FE20F}"/>
              </a:ext>
            </a:extLst>
          </p:cNvPr>
          <p:cNvSpPr txBox="1">
            <a:spLocks/>
          </p:cNvSpPr>
          <p:nvPr/>
        </p:nvSpPr>
        <p:spPr bwMode="auto">
          <a:xfrm>
            <a:off x="320719" y="923375"/>
            <a:ext cx="1129978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lgn="l">
              <a:buClrTx/>
              <a:buNone/>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6.5 Assessment of the degree of enhancement</a:t>
            </a:r>
            <a:r>
              <a:rPr sz="1230" lang="zh-CN">
                <a:solidFill>
                  <a:srgbClr val="24425A"/>
                </a:solidFill>
                <a:latin typeface="Times New Roman"/>
                <a:ea typeface="SimSun"/>
                <a:cs typeface="Times New Roman"/>
              </a:rPr>
              <a:t>  性能强化效果评价</a:t>
            </a:r>
          </a:p>
        </p:txBody>
      </p:sp>
      <p:sp>
        <p:nvSpPr>
          <p:cNvPr id="8" name="文本框 7">
            <a:extLst>
              <a:ext uri="{FF2B5EF4-FFF2-40B4-BE49-F238E27FC236}">
                <a16:creationId xmlns:a16="http://schemas.microsoft.com/office/drawing/2014/main" id="{F18CDE3D-6B05-B651-E8E8-5FA790D2CF83}"/>
              </a:ext>
            </a:extLst>
          </p:cNvPr>
          <p:cNvSpPr txBox="1"/>
          <p:nvPr/>
        </p:nvSpPr>
        <p:spPr>
          <a:xfrm>
            <a:off x="998525" y="1324026"/>
            <a:ext cx="457200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Effect on coverage ratio and contact angle</a:t>
            </a:r>
            <a:r>
              <a:rPr sz="984" lang="zh-CN">
                <a:solidFill>
                  <a:srgbClr val="24425A"/>
                </a:solidFill>
                <a:latin typeface="Times New Roman"/>
                <a:ea typeface="SimSun"/>
                <a:cs typeface="Times New Roman"/>
              </a:rPr>
              <a:t>  对覆盖率与接触角的影响</a:t>
            </a:r>
          </a:p>
        </p:txBody>
      </p:sp>
      <p:sp>
        <p:nvSpPr>
          <p:cNvPr id="22" name="文本框 21">
            <a:extLst>
              <a:ext uri="{FF2B5EF4-FFF2-40B4-BE49-F238E27FC236}">
                <a16:creationId xmlns:a16="http://schemas.microsoft.com/office/drawing/2014/main" id="{105313E4-50FC-FB4C-44AC-873064AFEB0E}"/>
              </a:ext>
            </a:extLst>
          </p:cNvPr>
          <p:cNvSpPr txBox="1"/>
          <p:nvPr/>
        </p:nvSpPr>
        <p:spPr>
          <a:xfrm>
            <a:off x="5886406" y="1343997"/>
            <a:ext cx="4572000" cy="338554"/>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250" b="1" dirty="0">
                <a:latin typeface="Times New Roman" panose="02020603050405020304" pitchFamily="18" charset="0"/>
                <a:ea typeface="SimSun" panose="02010600030101010101" pitchFamily="2" charset="-122"/>
                <a:cs typeface="Times New Roman" panose="02020603050405020304" pitchFamily="18" charset="0"/>
              </a:rPr>
              <a:t>Comparison of the three performance indexes</a:t>
            </a:r>
            <a:r>
              <a:rPr sz="1025" lang="zh-CN">
                <a:solidFill>
                  <a:srgbClr val="24425A"/>
                </a:solidFill>
                <a:latin typeface="Times New Roman"/>
                <a:ea typeface="SimSun"/>
                <a:cs typeface="Times New Roman"/>
              </a:rPr>
              <a:t>  三项性能指标对比</a:t>
            </a:r>
          </a:p>
        </p:txBody>
      </p:sp>
      <p:sp>
        <p:nvSpPr>
          <p:cNvPr id="26" name="文本框 25">
            <a:extLst>
              <a:ext uri="{FF2B5EF4-FFF2-40B4-BE49-F238E27FC236}">
                <a16:creationId xmlns:a16="http://schemas.microsoft.com/office/drawing/2014/main" id="{AABEC4E5-8661-85F7-8E76-3E526B969F0B}"/>
              </a:ext>
            </a:extLst>
          </p:cNvPr>
          <p:cNvSpPr txBox="1"/>
          <p:nvPr/>
        </p:nvSpPr>
        <p:spPr>
          <a:xfrm>
            <a:off x="1364380" y="4741421"/>
            <a:ext cx="9455133" cy="1993879"/>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Both the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hydrophilic</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coating increase the wetting ratio by decreasing the contact angle</a:t>
            </a:r>
            <a:br/>
            <a:r>
              <a:rPr sz="984" lang="zh-CN">
                <a:solidFill>
                  <a:srgbClr val="24425A"/>
                </a:solidFill>
                <a:latin typeface="Times New Roman"/>
                <a:ea typeface="SimSun"/>
                <a:cs typeface="Times New Roman"/>
              </a:rPr>
              <a:t>亲水涂层与纤维涂层均可通过减小接触角提高润湿率。</a:t>
            </a:r>
          </a:p>
          <a:p>
            <a:pPr marL="285750" indent="-285750" algn="l">
              <a:buFont typeface="Arial" panose="020B0604020202020204" pitchFamily="34" charset="0"/>
              <a:buChar char="•"/>
              <a:lnSpc>
                <a:spcPct val="108000"/>
              </a:lnSpc>
              <a:spcAft>
                <a:spcPts val="300"/>
              </a:spcAft>
            </a:pP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Besides, the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coating also increases the diffusion rate of the water film compared to the hydrophilic one, thus achieving a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wetting ratio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close to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which is regarded as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complete wetting</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a:t>
            </a:r>
            <a:br/>
            <a:r>
              <a:rPr sz="984" lang="zh-CN">
                <a:solidFill>
                  <a:srgbClr val="24425A"/>
                </a:solidFill>
                <a:latin typeface="Times New Roman"/>
                <a:ea typeface="SimSun"/>
                <a:cs typeface="Times New Roman"/>
              </a:rPr>
              <a:t>纤维涂层还能提高水膜扩散速率，使润湿率接近 1，达到近乎完全润湿。</a:t>
            </a:r>
          </a:p>
          <a:p>
            <a:pPr marL="285750" indent="-285750" algn="l">
              <a:buFont typeface="Arial" panose="020B0604020202020204" pitchFamily="34" charset="0"/>
              <a:buChar char="•"/>
              <a:lnSpc>
                <a:spcPct val="108000"/>
              </a:lnSpc>
              <a:spcAft>
                <a:spcPts val="300"/>
              </a:spcAft>
            </a:pP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wet-bulb efficiency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of the IEC was optimized for both the increased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hydrophilic</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coating on the plate surface, by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5.7%</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14.5%</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 respectively.</a:t>
            </a:r>
            <a:br/>
            <a:r>
              <a:rPr sz="984" lang="zh-CN">
                <a:solidFill>
                  <a:srgbClr val="24425A"/>
                </a:solidFill>
                <a:latin typeface="Times New Roman"/>
                <a:ea typeface="SimSun"/>
                <a:cs typeface="Times New Roman"/>
              </a:rPr>
              <a:t>亲水涂层与纤维涂层分别使湿球效率提高 5.7% 和 14.5%。</a:t>
            </a:r>
          </a:p>
          <a:p>
            <a:pPr marL="285750" indent="-285750" algn="l">
              <a:buFont typeface="Arial" panose="020B0604020202020204" pitchFamily="34" charset="0"/>
              <a:buChar char="•"/>
              <a:lnSpc>
                <a:spcPct val="108000"/>
              </a:lnSpc>
              <a:spcAft>
                <a:spcPts val="300"/>
              </a:spcAft>
            </a:pP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The energy saving by pump resulting in a further increase for fiber coating in the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COP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value of </a:t>
            </a:r>
            <a:r>
              <a:rPr lang="en-US" altLang="zh-CN" sz="12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16.1%.</a:t>
            </a:r>
            <a:br/>
            <a:r>
              <a:rPr sz="984" lang="zh-CN">
                <a:solidFill>
                  <a:srgbClr val="24425A"/>
                </a:solidFill>
                <a:latin typeface="Times New Roman"/>
                <a:ea typeface="SimSun"/>
                <a:cs typeface="Times New Roman"/>
              </a:rPr>
              <a:t>纤维涂层还可降低水泵能耗，使 COP 提高 16.1%。</a:t>
            </a:r>
          </a:p>
        </p:txBody>
      </p:sp>
      <p:sp>
        <p:nvSpPr>
          <p:cNvPr id="9" name="灯片编号占位符 8">
            <a:extLst>
              <a:ext uri="{FF2B5EF4-FFF2-40B4-BE49-F238E27FC236}">
                <a16:creationId xmlns:a16="http://schemas.microsoft.com/office/drawing/2014/main" id="{E7E9F06F-6E16-48F3-8603-287868FEF054}"/>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54</a:t>
            </a:fld>
            <a:endParaRPr lang="en-US" altLang="zh-CN">
              <a:latin typeface="Times New Roman"/>
              <a:ea typeface="SimSun"/>
              <a:cs typeface="Times New Roman"/>
            </a:endParaRPr>
          </a:p>
        </p:txBody>
      </p:sp>
      <p:sp>
        <p:nvSpPr>
          <p:cNvPr id="31" name="矩形 3">
            <a:extLst>
              <a:ext uri="{FF2B5EF4-FFF2-40B4-BE49-F238E27FC236}">
                <a16:creationId xmlns:a16="http://schemas.microsoft.com/office/drawing/2014/main" id="{5C3D3106-14F3-4FB8-9862-B7884610548A}"/>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defRPr>
                <a:latin typeface="Times New Roman"/>
                <a:ea typeface="SimSun"/>
                <a:cs typeface="Times New Roman"/>
              </a:defRPr>
              <a:lnSpc>
                <a:spcPct val="100000"/>
              </a:lnSpc>
            </a:pPr>
            <a:r>
              <a:rPr lang="en-US" altLang="zh-CN" b="1" dirty="0" sz="180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sz="180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sz="1800">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sp>
        <p:nvSpPr>
          <p:cNvPr id="14" name="Rectangle 443">
            <a:extLst>
              <a:ext uri="{FF2B5EF4-FFF2-40B4-BE49-F238E27FC236}">
                <a16:creationId xmlns:a16="http://schemas.microsoft.com/office/drawing/2014/main" id="{EA3FDF09-59A2-4EAD-8C3A-D15ACC545777}"/>
              </a:ext>
            </a:extLst>
          </p:cNvPr>
          <p:cNvSpPr>
            <a:spLocks noChangeArrowheads="1"/>
          </p:cNvSpPr>
          <p:nvPr/>
        </p:nvSpPr>
        <p:spPr bwMode="auto">
          <a:xfrm>
            <a:off x="1506104" y="169211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0" name="对象 19">
            <a:extLst>
              <a:ext uri="{FF2B5EF4-FFF2-40B4-BE49-F238E27FC236}">
                <a16:creationId xmlns:a16="http://schemas.microsoft.com/office/drawing/2014/main" id="{75421DBD-6E01-4D05-A197-5DEE6CA9ED28}"/>
              </a:ext>
            </a:extLst>
          </p:cNvPr>
          <p:cNvGraphicFramePr>
            <a:graphicFrameLocks noChangeAspect="1"/>
          </p:cNvGraphicFramePr>
          <p:nvPr>
            <p:extLst>
              <p:ext uri="{D42A27DB-BD31-4B8C-83A1-F6EECF244321}">
                <p14:modId xmlns:p14="http://schemas.microsoft.com/office/powerpoint/2010/main" val="3336905763"/>
              </p:ext>
            </p:extLst>
          </p:nvPr>
        </p:nvGraphicFramePr>
        <p:xfrm>
          <a:off x="1514058" y="1708062"/>
          <a:ext cx="4194558" cy="3032013"/>
        </p:xfrm>
        <a:graphic>
          <a:graphicData uri="http://schemas.openxmlformats.org/presentationml/2006/ole">
            <mc:AlternateContent xmlns:mc="http://schemas.openxmlformats.org/markup-compatibility/2006">
              <mc:Choice xmlns:v="urn:schemas-microsoft-com:vml" Requires="v">
                <p:oleObj name="Graph" r:id="rId3" imgW="6940973" imgH="5004486" progId="Origin95.Graph">
                  <p:embed/>
                </p:oleObj>
              </mc:Choice>
              <mc:Fallback>
                <p:oleObj name="Graph" r:id="rId3" imgW="6940973" imgH="5004486" progId="Origin95.Graph">
                  <p:embed/>
                  <p:pic>
                    <p:nvPicPr>
                      <p:cNvPr id="0" name="Object 4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4058" y="1708062"/>
                        <a:ext cx="4194558" cy="3032013"/>
                      </a:xfrm>
                      <a:prstGeom prst="rect">
                        <a:avLst/>
                      </a:prstGeom>
                      <a:noFill/>
                    </p:spPr>
                  </p:pic>
                </p:oleObj>
              </mc:Fallback>
            </mc:AlternateContent>
          </a:graphicData>
        </a:graphic>
      </p:graphicFrame>
      <p:sp>
        <p:nvSpPr>
          <p:cNvPr id="23" name="Rectangle 445">
            <a:extLst>
              <a:ext uri="{FF2B5EF4-FFF2-40B4-BE49-F238E27FC236}">
                <a16:creationId xmlns:a16="http://schemas.microsoft.com/office/drawing/2014/main" id="{4DC83E49-3467-4F97-A462-DF65394B886E}"/>
              </a:ext>
            </a:extLst>
          </p:cNvPr>
          <p:cNvSpPr>
            <a:spLocks noChangeArrowheads="1"/>
          </p:cNvSpPr>
          <p:nvPr/>
        </p:nvSpPr>
        <p:spPr bwMode="auto">
          <a:xfrm>
            <a:off x="6483384" y="17884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4" name="对象 23">
            <a:extLst>
              <a:ext uri="{FF2B5EF4-FFF2-40B4-BE49-F238E27FC236}">
                <a16:creationId xmlns:a16="http://schemas.microsoft.com/office/drawing/2014/main" id="{D9C79B53-37D9-4791-8735-1C77A46A907A}"/>
              </a:ext>
            </a:extLst>
          </p:cNvPr>
          <p:cNvGraphicFramePr>
            <a:graphicFrameLocks noChangeAspect="1"/>
          </p:cNvGraphicFramePr>
          <p:nvPr>
            <p:extLst>
              <p:ext uri="{D42A27DB-BD31-4B8C-83A1-F6EECF244321}">
                <p14:modId xmlns:p14="http://schemas.microsoft.com/office/powerpoint/2010/main" val="2327258298"/>
              </p:ext>
            </p:extLst>
          </p:nvPr>
        </p:nvGraphicFramePr>
        <p:xfrm>
          <a:off x="6355250" y="1692111"/>
          <a:ext cx="4014154" cy="3018681"/>
        </p:xfrm>
        <a:graphic>
          <a:graphicData uri="http://schemas.openxmlformats.org/presentationml/2006/ole">
            <mc:AlternateContent xmlns:mc="http://schemas.openxmlformats.org/markup-compatibility/2006">
              <mc:Choice xmlns:v="urn:schemas-microsoft-com:vml" Requires="v">
                <p:oleObj name="Graph" r:id="rId5" imgW="6662246" imgH="5004486" progId="Origin95.Graph">
                  <p:embed/>
                </p:oleObj>
              </mc:Choice>
              <mc:Fallback>
                <p:oleObj name="Graph" r:id="rId5" imgW="6662246" imgH="5004486" progId="Origin95.Graph">
                  <p:embed/>
                  <p:pic>
                    <p:nvPicPr>
                      <p:cNvPr id="0" name="Object 4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5250" y="1692111"/>
                        <a:ext cx="4014154" cy="3018681"/>
                      </a:xfrm>
                      <a:prstGeom prst="rect">
                        <a:avLst/>
                      </a:prstGeom>
                      <a:noFill/>
                    </p:spPr>
                  </p:pic>
                </p:oleObj>
              </mc:Fallback>
            </mc:AlternateContent>
          </a:graphicData>
        </a:graphic>
      </p:graphicFrame>
      <p:sp>
        <p:nvSpPr>
          <p:cNvPr id="32"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数据中心 IEC 性能与喷嘴优化</a:t>
            </a:r>
          </a:p>
        </p:txBody>
      </p:sp>
    </p:spTree>
    <p:extLst>
      <p:ext uri="{BB962C8B-B14F-4D97-AF65-F5344CB8AC3E}">
        <p14:creationId xmlns:p14="http://schemas.microsoft.com/office/powerpoint/2010/main" val="9863508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55</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9677400"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l">
              <a:lnSpc>
                <a:spcPct val="108000"/>
              </a:lnSpc>
              <a:spcAft>
                <a:spcPts val="300"/>
              </a:spcAft>
            </a:pPr>
            <a:r>
              <a:rPr lang="en-US" altLang="zh-CN" sz="22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2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r>
              <a:rPr sz="1804" lang="zh-CN" b="1">
                <a:solidFill>
                  <a:srgbClr val="24425A"/>
                </a:solidFill>
                <a:latin typeface="Times New Roman"/>
                <a:ea typeface="SimSun"/>
                <a:cs typeface="Times New Roman"/>
              </a:rPr>
              <a:t>  汇报提纲</a:t>
            </a:r>
          </a:p>
        </p:txBody>
      </p:sp>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wrap="square" tIns="0" bIns="0">
            <a:noAutofit/>
          </a:bodyPr>
          <a:lstStyle/>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br/>
            <a:r>
              <a:rPr sz="1394" lang="zh-CN">
                <a:solidFill>
                  <a:srgbClr val="24425A"/>
                </a:solidFill>
                <a:latin typeface="Times New Roman"/>
                <a:ea typeface="SimSun"/>
                <a:cs typeface="Times New Roman"/>
              </a:rPr>
              <a:t>研究背景与文献综述</a:t>
            </a:r>
          </a:p>
          <a:p>
            <a:pPr marL="457200" indent="-457200" algn="l">
              <a:buAutoNum type="arabicPeriod"/>
              <a:lnSpc>
                <a:spcPct val="108000"/>
              </a:lnSpc>
              <a:spcAft>
                <a:spcPts val="300"/>
              </a:spcAft>
            </a:pPr>
            <a:r>
              <a:rPr lang="en-US" sz="1700" b="1" dirty="0">
                <a:solidFill>
                  <a:schemeClr val="tx1"/>
                </a:solidFill>
                <a:latin typeface="Times New Roman" panose="02020603050405020304" pitchFamily="18" charset="0"/>
                <a:ea typeface="SimSun"/>
                <a:cs typeface="Times New Roman" panose="02020603050405020304" pitchFamily="18" charset="0"/>
              </a:rPr>
              <a:t>Research gaps and objectives</a:t>
            </a:r>
            <a:br/>
            <a:r>
              <a:rPr sz="1394" lang="zh-CN">
                <a:solidFill>
                  <a:srgbClr val="24425A"/>
                </a:solidFill>
                <a:latin typeface="Times New Roman"/>
                <a:ea typeface="SimSun"/>
                <a:cs typeface="Times New Roman"/>
              </a:rPr>
              <a:t>研究不足与目标</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br/>
            <a:r>
              <a:rPr sz="1394" lang="zh-CN">
                <a:solidFill>
                  <a:srgbClr val="24425A"/>
                </a:solidFill>
                <a:latin typeface="Times New Roman"/>
                <a:ea typeface="SimSun"/>
                <a:cs typeface="Times New Roman"/>
              </a:rPr>
              <a:t>喷淋分布的 FDM 建模与优化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br/>
            <a:r>
              <a:rPr sz="1394" lang="zh-CN">
                <a:solidFill>
                  <a:srgbClr val="24425A"/>
                </a:solidFill>
                <a:latin typeface="Times New Roman"/>
                <a:ea typeface="SimSun"/>
                <a:cs typeface="Times New Roman"/>
              </a:rPr>
              <a:t>考虑水膜形成的 CFD 分析</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700" b="1" dirty="0" err="1">
                <a:solidFill>
                  <a:schemeClr val="tx1"/>
                </a:solidFill>
                <a:latin typeface="Times New Roman" panose="02020603050405020304" pitchFamily="18" charset="0"/>
                <a:ea typeface="SimSun"/>
                <a:cs typeface="Times New Roman" panose="02020603050405020304" pitchFamily="18" charset="0"/>
              </a:rPr>
              <a:t>modeling</a:t>
            </a:r>
            <a:r>
              <a:rPr lang="en-HK" sz="1700" b="1" dirty="0">
                <a:solidFill>
                  <a:schemeClr val="tx1"/>
                </a:solidFill>
                <a:latin typeface="Times New Roman" panose="02020603050405020304" pitchFamily="18" charset="0"/>
                <a:ea typeface="SimSun"/>
                <a:cs typeface="Times New Roman" panose="02020603050405020304" pitchFamily="18" charset="0"/>
              </a:rPr>
              <a:t> and GA</a:t>
            </a:r>
            <a:br/>
            <a:r>
              <a:rPr sz="1394" lang="zh-CN">
                <a:solidFill>
                  <a:srgbClr val="24425A"/>
                </a:solidFill>
                <a:latin typeface="Times New Roman"/>
                <a:ea typeface="SimSun"/>
                <a:cs typeface="Times New Roman"/>
              </a:rPr>
              <a:t>基于 ANN–GA 的喷淋策略优化</a:t>
            </a:r>
          </a:p>
          <a:p>
            <a:pPr marL="457200" indent="-457200" algn="l">
              <a:buAutoNum type="arabicPeriod"/>
              <a:lnSpc>
                <a:spcPct val="108000"/>
              </a:lnSpc>
              <a:spcAft>
                <a:spcPts val="300"/>
              </a:spcAft>
            </a:pPr>
            <a:r>
              <a:rPr lang="en-HK" sz="17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700" b="1" dirty="0" err="1">
                <a:solidFill>
                  <a:schemeClr val="tx1"/>
                </a:solidFill>
                <a:latin typeface="Times New Roman" panose="02020603050405020304" pitchFamily="18" charset="0"/>
                <a:ea typeface="SimSun"/>
                <a:cs typeface="Times New Roman" panose="02020603050405020304" pitchFamily="18" charset="0"/>
              </a:rPr>
              <a:t>centers</a:t>
            </a:r>
            <a:br/>
            <a:r>
              <a:rPr sz="1394" lang="zh-CN">
                <a:solidFill>
                  <a:srgbClr val="24425A"/>
                </a:solidFill>
                <a:latin typeface="Times New Roman"/>
                <a:ea typeface="SimSun"/>
                <a:cs typeface="Times New Roman"/>
              </a:rPr>
              <a:t>数据中心 IEC 性能与喷嘴优化</a:t>
            </a:r>
          </a:p>
          <a:p>
            <a:pPr marL="457200" indent="-457200" algn="l">
              <a:buAutoNum type="arabicPeriod"/>
              <a:lnSpc>
                <a:spcPct val="108000"/>
              </a:lnSpc>
              <a:spcAft>
                <a:spcPts val="300"/>
              </a:spcAft>
            </a:pPr>
            <a:r>
              <a:rPr lang="en-US" sz="1700" b="1" dirty="0">
                <a:solidFill>
                  <a:srgbClr val="C00000"/>
                </a:solidFill>
                <a:latin typeface="Times New Roman" panose="02020603050405020304" pitchFamily="18" charset="0"/>
                <a:ea typeface="SimSun"/>
                <a:cs typeface="Times New Roman" panose="02020603050405020304" pitchFamily="18" charset="0"/>
              </a:rPr>
              <a:t>Conclusions </a:t>
            </a:r>
            <a:r>
              <a:rPr lang="en-HK" sz="1700" b="1" dirty="0">
                <a:solidFill>
                  <a:srgbClr val="C00000"/>
                </a:solidFill>
                <a:latin typeface="Times New Roman" panose="02020603050405020304" pitchFamily="18" charset="0"/>
                <a:ea typeface="SimSun"/>
                <a:cs typeface="Times New Roman" panose="02020603050405020304" pitchFamily="18" charset="0"/>
              </a:rPr>
              <a:t>and</a:t>
            </a:r>
            <a:r>
              <a:rPr lang="zh-CN" altLang="en-US" sz="1700" b="1" dirty="0">
                <a:solidFill>
                  <a:srgbClr val="C00000"/>
                </a:solidFill>
                <a:latin typeface="Times New Roman" panose="02020603050405020304" pitchFamily="18" charset="0"/>
                <a:ea typeface="SimSun"/>
                <a:cs typeface="Times New Roman" panose="02020603050405020304" pitchFamily="18" charset="0"/>
              </a:rPr>
              <a:t> </a:t>
            </a:r>
            <a:r>
              <a:rPr lang="en-HK" altLang="zh-CN" sz="1700" b="1" dirty="0">
                <a:solidFill>
                  <a:srgbClr val="C00000"/>
                </a:solidFill>
                <a:latin typeface="Times New Roman" panose="02020603050405020304" pitchFamily="18" charset="0"/>
                <a:ea typeface="SimSun"/>
                <a:cs typeface="Times New Roman" panose="02020603050405020304" pitchFamily="18" charset="0"/>
              </a:rPr>
              <a:t>recommendations for future work</a:t>
            </a:r>
            <a:br/>
            <a:r>
              <a:rPr sz="1394" lang="zh-CN">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29946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56</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090C9A14-1C02-4370-8D30-CCEB9934F0DD}"/>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buClr>
                <a:srgbClr val="0099FF"/>
              </a:buClr>
              <a:lnSpc>
                <a:spcPct val="100000"/>
              </a:lnSpc>
            </a:pPr>
            <a:r>
              <a:rPr lang="en-US" altLang="zh-CN" sz="2000" b="1" dirty="0">
                <a:latin typeface="Times New Roman" panose="02020603050405020304" pitchFamily="18" charset="0"/>
                <a:ea typeface="SimSun"/>
                <a:cs typeface="Times New Roman" panose="02020603050405020304" pitchFamily="18" charset="0"/>
              </a:rPr>
              <a:t>7. </a:t>
            </a:r>
            <a:r>
              <a:rPr lang="en-HK" altLang="zh-CN" sz="2000" b="1" dirty="0">
                <a:latin typeface="Times New Roman" panose="02020603050405020304" pitchFamily="18" charset="0"/>
                <a:ea typeface="SimSun"/>
                <a:cs typeface="Times New Roman" panose="02020603050405020304" pitchFamily="18" charset="0"/>
              </a:rPr>
              <a:t>Conclusions and recommendations for future work</a:t>
            </a:r>
          </a:p>
        </p:txBody>
      </p:sp>
      <p:sp>
        <p:nvSpPr>
          <p:cNvPr id="5"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320564"/>
            <a:ext cx="10115550" cy="508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spcAft>
                <a:spcPts val="300"/>
              </a:spcAft>
            </a:pPr>
            <a:r>
              <a:rPr lang="en-HK" altLang="zh-CN" sz="1700" b="1" dirty="0">
                <a:latin typeface="Times New Roman" panose="02020603050405020304" pitchFamily="18" charset="0"/>
                <a:ea typeface="SimSun"/>
                <a:cs typeface="Times New Roman" panose="02020603050405020304" pitchFamily="18" charset="0"/>
              </a:rPr>
              <a:t>1. We developed a </a:t>
            </a:r>
            <a:r>
              <a:rPr lang="en-HK" altLang="zh-CN" sz="1700" b="1" dirty="0">
                <a:solidFill>
                  <a:srgbClr val="C00000"/>
                </a:solidFill>
                <a:latin typeface="Times New Roman" panose="02020603050405020304" pitchFamily="18" charset="0"/>
                <a:ea typeface="SimSun"/>
                <a:cs typeface="Times New Roman" panose="02020603050405020304" pitchFamily="18" charset="0"/>
              </a:rPr>
              <a:t>FDM model </a:t>
            </a:r>
            <a:r>
              <a:rPr lang="en-HK" altLang="zh-CN" sz="1700" b="1" dirty="0">
                <a:latin typeface="Times New Roman" panose="02020603050405020304" pitchFamily="18" charset="0"/>
                <a:ea typeface="SimSun"/>
                <a:cs typeface="Times New Roman" panose="02020603050405020304" pitchFamily="18" charset="0"/>
              </a:rPr>
              <a:t>to simulate the spray distribution above heat exchanger.</a:t>
            </a:r>
            <a:br/>
            <a:r>
              <a:rPr sz="1394" lang="zh-CN">
                <a:solidFill>
                  <a:srgbClr val="24425A"/>
                </a:solidFill>
                <a:latin typeface="Times New Roman"/>
                <a:ea typeface="SimSun"/>
                <a:cs typeface="Times New Roman"/>
              </a:rPr>
              <a:t>1. 建立了预测换热器上方喷淋分布的 FDM 模型。</a:t>
            </a:r>
          </a:p>
          <a:p>
            <a:pPr marL="360000" indent="36000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For the IEC with 400 mm length and width, the optimal nozzle arrangement scheme is the scheme with four nozzles separated by 160 mm along the </a:t>
            </a:r>
            <a:r>
              <a:rPr lang="en-HK" altLang="zh-CN" sz="1700" dirty="0" err="1">
                <a:latin typeface="Times New Roman" panose="02020603050405020304" pitchFamily="18" charset="0"/>
                <a:ea typeface="SimSun"/>
                <a:cs typeface="Times New Roman" panose="02020603050405020304" pitchFamily="18" charset="0"/>
              </a:rPr>
              <a:t>centerline</a:t>
            </a:r>
            <a:r>
              <a:rPr lang="en-HK" altLang="zh-CN" sz="1700" dirty="0">
                <a:latin typeface="Times New Roman" panose="02020603050405020304" pitchFamily="18" charset="0"/>
                <a:ea typeface="SimSun"/>
                <a:cs typeface="Times New Roman" panose="02020603050405020304" pitchFamily="18" charset="0"/>
              </a:rPr>
              <a:t>.</a:t>
            </a:r>
            <a:br/>
            <a:r>
              <a:rPr sz="1394" lang="zh-CN">
                <a:solidFill>
                  <a:srgbClr val="24425A"/>
                </a:solidFill>
                <a:latin typeface="Times New Roman"/>
                <a:ea typeface="SimSun"/>
                <a:cs typeface="Times New Roman"/>
              </a:rPr>
              <a:t>对于长、宽均为 400 mm 的 IEC，最优方案为四个喷嘴沿中心线布置，间距为 160 mm。</a:t>
            </a:r>
          </a:p>
          <a:p>
            <a:pPr marL="360000" indent="36000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With the same water flow rate supplied (220 L/h), the optimized </a:t>
            </a:r>
            <a:r>
              <a:rPr lang="en-HK" altLang="zh-CN" sz="1700" dirty="0" err="1">
                <a:latin typeface="Times New Roman" panose="02020603050405020304" pitchFamily="18" charset="0"/>
                <a:ea typeface="SimSun"/>
                <a:cs typeface="Times New Roman" panose="02020603050405020304" pitchFamily="18" charset="0"/>
              </a:rPr>
              <a:t>centerline</a:t>
            </a:r>
            <a:r>
              <a:rPr lang="en-HK" altLang="zh-CN" sz="1700" dirty="0">
                <a:latin typeface="Times New Roman" panose="02020603050405020304" pitchFamily="18" charset="0"/>
                <a:ea typeface="SimSun"/>
                <a:cs typeface="Times New Roman" panose="02020603050405020304" pitchFamily="18" charset="0"/>
              </a:rPr>
              <a:t> scheme could increase the wettability factor of the IEC plate surface from 0.48 to 0.89, and the COP is increased up to 16%.</a:t>
            </a:r>
            <a:br/>
            <a:r>
              <a:rPr sz="1394" lang="zh-CN">
                <a:solidFill>
                  <a:srgbClr val="24425A"/>
                </a:solidFill>
                <a:latin typeface="Times New Roman"/>
                <a:ea typeface="SimSun"/>
                <a:cs typeface="Times New Roman"/>
              </a:rPr>
              <a:t>在相同供水量（220 L/h）下，优化方案使板面润湿系数由 0.48 提高至 0.89，COP 提高达 16%。</a:t>
            </a:r>
          </a:p>
          <a:p>
            <a:pPr marL="0" indent="0" algn="l">
              <a:lnSpc>
                <a:spcPct val="108000"/>
              </a:lnSpc>
              <a:spcAft>
                <a:spcPts val="300"/>
              </a:spcAft>
            </a:pPr>
            <a:r>
              <a:rPr lang="en-HK" altLang="zh-CN" sz="1700" b="1" dirty="0">
                <a:latin typeface="Times New Roman" panose="02020603050405020304" pitchFamily="18" charset="0"/>
                <a:ea typeface="SimSun"/>
                <a:cs typeface="Times New Roman" panose="02020603050405020304" pitchFamily="18" charset="0"/>
              </a:rPr>
              <a:t>2. We proposed a novel </a:t>
            </a:r>
            <a:r>
              <a:rPr lang="en-HK" altLang="zh-CN" sz="1700" b="1" dirty="0">
                <a:solidFill>
                  <a:srgbClr val="C00000"/>
                </a:solidFill>
                <a:latin typeface="Times New Roman" panose="02020603050405020304" pitchFamily="18" charset="0"/>
                <a:ea typeface="SimSun"/>
                <a:cs typeface="Times New Roman" panose="02020603050405020304" pitchFamily="18" charset="0"/>
              </a:rPr>
              <a:t>3D CFD model </a:t>
            </a:r>
            <a:r>
              <a:rPr lang="en-HK" altLang="zh-CN" sz="1700" b="1" dirty="0">
                <a:latin typeface="Times New Roman" panose="02020603050405020304" pitchFamily="18" charset="0"/>
                <a:ea typeface="SimSun"/>
                <a:cs typeface="Times New Roman" panose="02020603050405020304" pitchFamily="18" charset="0"/>
              </a:rPr>
              <a:t>to investigate the water film inside wet channels, and the cooling performance of the whole IEC system.</a:t>
            </a:r>
            <a:br/>
            <a:r>
              <a:rPr sz="1394" lang="zh-CN">
                <a:solidFill>
                  <a:srgbClr val="24425A"/>
                </a:solidFill>
                <a:latin typeface="Times New Roman"/>
                <a:ea typeface="SimSun"/>
                <a:cs typeface="Times New Roman"/>
              </a:rPr>
              <a:t>2. 建立了研究湿通道水膜及 IEC 整体制冷性能的三维 CFD 模型。</a:t>
            </a:r>
          </a:p>
          <a:p>
            <a:pPr marL="360000" indent="36000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Optimal nozzle parameters for maximum coverage were determined to be a droplet diameter of </a:t>
            </a:r>
            <a:r>
              <a:rPr lang="en-HK" altLang="zh-CN" sz="1700" dirty="0">
                <a:solidFill>
                  <a:srgbClr val="C00000"/>
                </a:solidFill>
                <a:latin typeface="Times New Roman" panose="02020603050405020304" pitchFamily="18" charset="0"/>
                <a:ea typeface="SimSun"/>
                <a:cs typeface="Times New Roman" panose="02020603050405020304" pitchFamily="18" charset="0"/>
              </a:rPr>
              <a:t>0.25 mm</a:t>
            </a:r>
            <a:r>
              <a:rPr lang="en-HK" altLang="zh-CN" sz="1700" dirty="0">
                <a:latin typeface="Times New Roman" panose="02020603050405020304" pitchFamily="18" charset="0"/>
                <a:ea typeface="SimSun"/>
                <a:cs typeface="Times New Roman" panose="02020603050405020304" pitchFamily="18" charset="0"/>
              </a:rPr>
              <a:t>, a pressure of </a:t>
            </a:r>
            <a:r>
              <a:rPr lang="en-HK" altLang="zh-CN" sz="1700" dirty="0">
                <a:solidFill>
                  <a:srgbClr val="C00000"/>
                </a:solidFill>
                <a:latin typeface="Times New Roman" panose="02020603050405020304" pitchFamily="18" charset="0"/>
                <a:ea typeface="SimSun"/>
                <a:cs typeface="Times New Roman" panose="02020603050405020304" pitchFamily="18" charset="0"/>
              </a:rPr>
              <a:t>1.5 bar</a:t>
            </a:r>
            <a:r>
              <a:rPr lang="en-HK" altLang="zh-CN" sz="1700" dirty="0">
                <a:latin typeface="Times New Roman" panose="02020603050405020304" pitchFamily="18" charset="0"/>
                <a:ea typeface="SimSun"/>
                <a:cs typeface="Times New Roman" panose="02020603050405020304" pitchFamily="18" charset="0"/>
              </a:rPr>
              <a:t>, a flow rate of </a:t>
            </a:r>
            <a:r>
              <a:rPr lang="en-HK" altLang="zh-CN" sz="1700" dirty="0">
                <a:solidFill>
                  <a:srgbClr val="C00000"/>
                </a:solidFill>
                <a:latin typeface="Times New Roman" panose="02020603050405020304" pitchFamily="18" charset="0"/>
                <a:ea typeface="SimSun"/>
                <a:cs typeface="Times New Roman" panose="02020603050405020304" pitchFamily="18" charset="0"/>
              </a:rPr>
              <a:t>5.4 L/min</a:t>
            </a:r>
            <a:r>
              <a:rPr lang="en-HK" altLang="zh-CN" sz="1700" dirty="0">
                <a:latin typeface="Times New Roman" panose="02020603050405020304" pitchFamily="18" charset="0"/>
                <a:ea typeface="SimSun"/>
                <a:cs typeface="Times New Roman" panose="02020603050405020304" pitchFamily="18" charset="0"/>
              </a:rPr>
              <a:t>, and a spray cone angle of 68°</a:t>
            </a:r>
            <a:r>
              <a:rPr lang="en-US" altLang="zh-CN" sz="1700" dirty="0">
                <a:latin typeface="Times New Roman" panose="02020603050405020304" pitchFamily="18" charset="0"/>
                <a:ea typeface="SimSun"/>
                <a:cs typeface="Times New Roman" panose="02020603050405020304" pitchFamily="18" charset="0"/>
              </a:rPr>
              <a:t>. </a:t>
            </a:r>
            <a:br/>
            <a:r>
              <a:rPr sz="1394" lang="zh-CN">
                <a:solidFill>
                  <a:srgbClr val="24425A"/>
                </a:solidFill>
                <a:latin typeface="Times New Roman"/>
                <a:ea typeface="SimSun"/>
                <a:cs typeface="Times New Roman"/>
              </a:rPr>
              <a:t>最大覆盖率对应的最优参数为：液滴直径 0.25 mm、压力 1.5 bar、流量 5.4 L/min、喷雾锥角 68°。</a:t>
            </a:r>
          </a:p>
          <a:p>
            <a:pPr marL="360000" indent="360000" algn="l">
              <a:buFont typeface="Arial" panose="020B0604020202020204" pitchFamily="34" charset="0"/>
              <a:buChar char="•"/>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The refined IEC water distribution system employs a triangular nozzle arrangement based on distance analysis. This optimized configuration enhances water film coverage by </a:t>
            </a:r>
            <a:r>
              <a:rPr lang="en-HK" altLang="zh-CN" sz="1700" dirty="0">
                <a:solidFill>
                  <a:srgbClr val="C00000"/>
                </a:solidFill>
                <a:latin typeface="Times New Roman" panose="02020603050405020304" pitchFamily="18" charset="0"/>
                <a:ea typeface="SimSun"/>
                <a:cs typeface="Times New Roman" panose="02020603050405020304" pitchFamily="18" charset="0"/>
              </a:rPr>
              <a:t>20.9%</a:t>
            </a:r>
            <a:r>
              <a:rPr lang="en-HK" altLang="zh-CN" sz="1700" dirty="0">
                <a:latin typeface="Times New Roman" panose="02020603050405020304" pitchFamily="18" charset="0"/>
                <a:ea typeface="SimSun"/>
                <a:cs typeface="Times New Roman" panose="02020603050405020304" pitchFamily="18" charset="0"/>
              </a:rPr>
              <a:t> and significantly improves wet-bulb efficiency and COP by </a:t>
            </a:r>
            <a:r>
              <a:rPr lang="en-HK" altLang="zh-CN" sz="1700" dirty="0">
                <a:solidFill>
                  <a:srgbClr val="C00000"/>
                </a:solidFill>
                <a:latin typeface="Times New Roman" panose="02020603050405020304" pitchFamily="18" charset="0"/>
                <a:ea typeface="SimSun"/>
                <a:cs typeface="Times New Roman" panose="02020603050405020304" pitchFamily="18" charset="0"/>
              </a:rPr>
              <a:t>15.1%</a:t>
            </a:r>
            <a:r>
              <a:rPr lang="en-HK" altLang="zh-CN" sz="1700" dirty="0">
                <a:latin typeface="Times New Roman" panose="02020603050405020304" pitchFamily="18" charset="0"/>
                <a:ea typeface="SimSun"/>
                <a:cs typeface="Times New Roman" panose="02020603050405020304" pitchFamily="18" charset="0"/>
              </a:rPr>
              <a:t> and </a:t>
            </a:r>
            <a:r>
              <a:rPr lang="en-HK" altLang="zh-CN" sz="1700" dirty="0">
                <a:solidFill>
                  <a:srgbClr val="C00000"/>
                </a:solidFill>
                <a:latin typeface="Times New Roman" panose="02020603050405020304" pitchFamily="18" charset="0"/>
                <a:ea typeface="SimSun"/>
                <a:cs typeface="Times New Roman" panose="02020603050405020304" pitchFamily="18" charset="0"/>
              </a:rPr>
              <a:t>17.6%</a:t>
            </a:r>
            <a:r>
              <a:rPr lang="en-HK" altLang="zh-CN" sz="1700" dirty="0">
                <a:latin typeface="Times New Roman" panose="02020603050405020304" pitchFamily="18" charset="0"/>
                <a:ea typeface="SimSun"/>
                <a:cs typeface="Times New Roman" panose="02020603050405020304" pitchFamily="18" charset="0"/>
              </a:rPr>
              <a:t>, respectively.</a:t>
            </a:r>
            <a:br/>
            <a:r>
              <a:rPr sz="1394" lang="zh-CN">
                <a:solidFill>
                  <a:srgbClr val="24425A"/>
                </a:solidFill>
                <a:latin typeface="Times New Roman"/>
                <a:ea typeface="SimSun"/>
                <a:cs typeface="Times New Roman"/>
              </a:rPr>
              <a:t>基于间距分析采用三角形喷嘴布置后，水膜覆盖率提高 20.9%，湿球效率与 COP 分别提高 15.1% 和 17.6%。</a:t>
            </a:r>
          </a:p>
        </p:txBody>
      </p:sp>
      <p:sp>
        <p:nvSpPr>
          <p:cNvPr id="7" name="文本框 6">
            <a:extLst>
              <a:ext uri="{FF2B5EF4-FFF2-40B4-BE49-F238E27FC236}">
                <a16:creationId xmlns:a16="http://schemas.microsoft.com/office/drawing/2014/main" id="{94DEA585-E01D-4650-ACEA-BB07EA359E0B}"/>
              </a:ext>
            </a:extLst>
          </p:cNvPr>
          <p:cNvSpPr txBox="1"/>
          <p:nvPr/>
        </p:nvSpPr>
        <p:spPr>
          <a:xfrm>
            <a:off x="343776" y="945440"/>
            <a:ext cx="11276724"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7.1 Conclusions</a:t>
            </a:r>
            <a:r>
              <a:rPr sz="1230" lang="zh-CN">
                <a:solidFill>
                  <a:srgbClr val="24425A"/>
                </a:solidFill>
                <a:latin typeface="Times New Roman"/>
                <a:ea typeface="SimSun"/>
                <a:cs typeface="Times New Roman"/>
              </a:rPr>
              <a:t>  研究结论</a:t>
            </a:r>
          </a:p>
        </p:txBody>
      </p:sp>
      <p:sp>
        <p:nvSpPr>
          <p:cNvPr id="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2392556481"/>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57</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090C9A14-1C02-4370-8D30-CCEB9934F0DD}"/>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buClr>
                <a:srgbClr val="0099FF"/>
              </a:buClr>
              <a:lnSpc>
                <a:spcPct val="100000"/>
              </a:lnSpc>
            </a:pPr>
            <a:r>
              <a:rPr lang="en-US" altLang="zh-CN" sz="2000" b="1" dirty="0">
                <a:latin typeface="Times New Roman" panose="02020603050405020304" pitchFamily="18" charset="0"/>
                <a:ea typeface="SimSun"/>
                <a:cs typeface="Times New Roman" panose="02020603050405020304" pitchFamily="18" charset="0"/>
              </a:rPr>
              <a:t>7. </a:t>
            </a:r>
            <a:r>
              <a:rPr lang="en-HK" altLang="zh-CN" sz="2000" b="1" dirty="0">
                <a:latin typeface="Times New Roman" panose="02020603050405020304" pitchFamily="18" charset="0"/>
                <a:ea typeface="SimSun"/>
                <a:cs typeface="Times New Roman" panose="02020603050405020304" pitchFamily="18" charset="0"/>
              </a:rPr>
              <a:t>Conclusions and recommendations for future work</a:t>
            </a:r>
          </a:p>
        </p:txBody>
      </p:sp>
      <mc:AlternateContent xmlns:mc="http://schemas.openxmlformats.org/markup-compatibility/2006" xmlns:a14="http://schemas.microsoft.com/office/drawing/2010/main">
        <mc:Choice Requires="a14">
          <p:sp>
            <p:nvSpPr>
              <p:cNvPr id="5"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320564"/>
                <a:ext cx="10115550" cy="51264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just">
                  <a:lnSpc>
                    <a:spcPct val="150000"/>
                  </a:lnSpc>
                  <a:spcAft>
                    <a:spcPts val="600"/>
                  </a:spcAft>
                </a:pPr>
                <a:r>
                  <a:rPr lang="en-HK" altLang="zh-CN" sz="1800" b="1" dirty="0">
                    <a:latin typeface="Times New Roman" panose="02020603050405020304" pitchFamily="18" charset="0"/>
                    <a:ea typeface="SimSun"/>
                    <a:cs typeface="Times New Roman" panose="02020603050405020304" pitchFamily="18" charset="0"/>
                  </a:rPr>
                  <a:t>3. We trained a ML-based prediction model to estimate the performance of the IEC system, and GA was applied to optimize the </a:t>
                </a:r>
                <a:r>
                  <a:rPr lang="en-HK" altLang="zh-CN" sz="1800" b="1" dirty="0">
                    <a:solidFill>
                      <a:srgbClr val="C00000"/>
                    </a:solidFill>
                    <a:latin typeface="Times New Roman" panose="02020603050405020304" pitchFamily="18" charset="0"/>
                    <a:ea typeface="SimSun"/>
                    <a:cs typeface="Times New Roman" panose="02020603050405020304" pitchFamily="18" charset="0"/>
                  </a:rPr>
                  <a:t>IEC-ANN model</a:t>
                </a:r>
                <a:r>
                  <a:rPr lang="en-HK" altLang="zh-CN" sz="1800" b="1" dirty="0">
                    <a:latin typeface="Times New Roman" panose="02020603050405020304" pitchFamily="18" charset="0"/>
                    <a:ea typeface="SimSun"/>
                    <a:cs typeface="Times New Roman" panose="02020603050405020304" pitchFamily="18" charset="0"/>
                  </a:rPr>
                  <a:t>.</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The optimal parameters were found to be: nozzle pressure of </a:t>
                </a:r>
                <a:r>
                  <a:rPr lang="en-HK" altLang="zh-CN" sz="1600" dirty="0">
                    <a:solidFill>
                      <a:srgbClr val="C00000"/>
                    </a:solidFill>
                    <a:latin typeface="Times New Roman" panose="02020603050405020304" pitchFamily="18" charset="0"/>
                    <a:ea typeface="SimSun"/>
                    <a:cs typeface="Times New Roman" panose="02020603050405020304" pitchFamily="18" charset="0"/>
                  </a:rPr>
                  <a:t>0.15 MPa</a:t>
                </a:r>
                <a:r>
                  <a:rPr lang="en-HK" altLang="zh-CN" sz="1600" dirty="0">
                    <a:latin typeface="Times New Roman" panose="02020603050405020304" pitchFamily="18" charset="0"/>
                    <a:ea typeface="SimSun"/>
                    <a:cs typeface="Times New Roman" panose="02020603050405020304" pitchFamily="18" charset="0"/>
                  </a:rPr>
                  <a:t>, spacing of 85 mm, aperture of 6 mm, count of 11, spray density of 0.85 kg/(s</a:t>
                </a:r>
                <a14:m>
                  <m:oMath xmlns:m="http://schemas.openxmlformats.org/officeDocument/2006/math">
                    <m:r>
                      <a:rPr lang="en-HK" altLang="zh-CN" sz="1600" i="1" smtClean="0">
                        <a:latin typeface="Times New Roman" panose="02040503050406030204" pitchFamily="18" charset="0"/>
                        <a:ea typeface="SimSun" panose="02040503050406030204" pitchFamily="18" charset="0"/>
                        <a:cs typeface="Times New Roman" panose="02020603050405020304" pitchFamily="18" charset="0"/>
                      </a:rPr>
                      <m:t>∙</m:t>
                    </m:r>
                  </m:oMath>
                </a14:m>
                <a:r>
                  <a:rPr lang="en-HK" altLang="zh-CN" sz="1600" dirty="0">
                    <a:latin typeface="Times New Roman" panose="02020603050405020304" pitchFamily="18" charset="0"/>
                    <a:ea typeface="SimSun"/>
                    <a:cs typeface="Times New Roman" panose="02020603050405020304" pitchFamily="18" charset="0"/>
                  </a:rPr>
                  <a:t>m2), and air velocity of 2 m/s.</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The wet-bulb efficiency is 0.85, the pressure drop is 210 Pa, and the COP is 12.4, which represents a </a:t>
                </a:r>
                <a:r>
                  <a:rPr lang="en-HK" altLang="zh-CN" sz="1600" dirty="0">
                    <a:solidFill>
                      <a:srgbClr val="C00000"/>
                    </a:solidFill>
                    <a:latin typeface="Times New Roman" panose="02020603050405020304" pitchFamily="18" charset="0"/>
                    <a:ea typeface="SimSun"/>
                    <a:cs typeface="Times New Roman" panose="02020603050405020304" pitchFamily="18" charset="0"/>
                  </a:rPr>
                  <a:t>23.2%</a:t>
                </a:r>
                <a:r>
                  <a:rPr lang="en-HK" altLang="zh-CN" sz="1600" dirty="0">
                    <a:latin typeface="Times New Roman" panose="02020603050405020304" pitchFamily="18" charset="0"/>
                    <a:ea typeface="SimSun"/>
                    <a:cs typeface="Times New Roman" panose="02020603050405020304" pitchFamily="18" charset="0"/>
                  </a:rPr>
                  <a:t> improvement over the baseline system.</a:t>
                </a:r>
                <a:endParaRPr lang="en-US" altLang="zh-CN" sz="1800" dirty="0">
                  <a:latin typeface="Times New Roman" panose="02020603050405020304" pitchFamily="18" charset="0"/>
                  <a:ea typeface="SimSun"/>
                  <a:cs typeface="Times New Roman" panose="02020603050405020304" pitchFamily="18" charset="0"/>
                </a:endParaRPr>
              </a:p>
              <a:p>
                <a:pPr marL="0" indent="0" algn="just">
                  <a:lnSpc>
                    <a:spcPct val="150000"/>
                  </a:lnSpc>
                  <a:spcBef>
                    <a:spcPts val="600"/>
                  </a:spcBef>
                  <a:spcAft>
                    <a:spcPts val="600"/>
                  </a:spcAft>
                </a:pPr>
                <a:r>
                  <a:rPr lang="en-HK" altLang="zh-CN" sz="1800" b="1" dirty="0">
                    <a:latin typeface="Times New Roman" panose="02020603050405020304" pitchFamily="18" charset="0"/>
                    <a:ea typeface="SimSun"/>
                    <a:cs typeface="Times New Roman" panose="02020603050405020304" pitchFamily="18" charset="0"/>
                  </a:rPr>
                  <a:t>4. We developed a CFD model based on the </a:t>
                </a:r>
                <a:r>
                  <a:rPr lang="en-HK" altLang="zh-CN" sz="1800" b="1" dirty="0">
                    <a:solidFill>
                      <a:srgbClr val="C00000"/>
                    </a:solidFill>
                    <a:latin typeface="Times New Roman" panose="02020603050405020304" pitchFamily="18" charset="0"/>
                    <a:ea typeface="SimSun"/>
                    <a:cs typeface="Times New Roman" panose="02020603050405020304" pitchFamily="18" charset="0"/>
                  </a:rPr>
                  <a:t>diamond-shaped IEC </a:t>
                </a:r>
                <a:r>
                  <a:rPr lang="en-HK" altLang="zh-CN" sz="1800" b="1" dirty="0">
                    <a:latin typeface="Times New Roman" panose="02020603050405020304" pitchFamily="18" charset="0"/>
                    <a:ea typeface="SimSun"/>
                    <a:cs typeface="Times New Roman" panose="02020603050405020304" pitchFamily="18" charset="0"/>
                  </a:rPr>
                  <a:t>to explore the air-water flow, heat transfer, and mass transfer capabilities of the IEC as a heat recovery unit in data </a:t>
                </a:r>
                <a:r>
                  <a:rPr lang="en-HK" altLang="zh-CN" sz="1800" b="1" dirty="0" err="1">
                    <a:latin typeface="Times New Roman" panose="02020603050405020304" pitchFamily="18" charset="0"/>
                    <a:ea typeface="SimSun"/>
                    <a:cs typeface="Times New Roman" panose="02020603050405020304" pitchFamily="18" charset="0"/>
                  </a:rPr>
                  <a:t>centers</a:t>
                </a:r>
                <a:r>
                  <a:rPr lang="en-HK" altLang="zh-CN" sz="1800" b="1" dirty="0">
                    <a:latin typeface="Times New Roman" panose="02020603050405020304" pitchFamily="18" charset="0"/>
                    <a:ea typeface="SimSun"/>
                    <a:cs typeface="Times New Roman" panose="02020603050405020304" pitchFamily="18" charset="0"/>
                  </a:rPr>
                  <a:t>.</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The nozzles are installed as upper side configuration when the water film distribution area in the wet channel is the largest and the temperature drop is the best, with </a:t>
                </a:r>
                <a:r>
                  <a:rPr lang="en-HK" altLang="zh-CN" sz="1600" dirty="0">
                    <a:solidFill>
                      <a:srgbClr val="C00000"/>
                    </a:solidFill>
                    <a:latin typeface="Times New Roman" panose="02020603050405020304" pitchFamily="18" charset="0"/>
                    <a:ea typeface="SimSun"/>
                    <a:cs typeface="Times New Roman" panose="02020603050405020304" pitchFamily="18" charset="0"/>
                  </a:rPr>
                  <a:t>59.2%</a:t>
                </a:r>
                <a:r>
                  <a:rPr lang="en-HK" altLang="zh-CN" sz="1600" dirty="0">
                    <a:latin typeface="Times New Roman" panose="02020603050405020304" pitchFamily="18" charset="0"/>
                    <a:ea typeface="SimSun"/>
                    <a:cs typeface="Times New Roman" panose="02020603050405020304" pitchFamily="18" charset="0"/>
                  </a:rPr>
                  <a:t> and </a:t>
                </a:r>
                <a:r>
                  <a:rPr lang="en-HK" altLang="zh-CN" sz="1600" dirty="0">
                    <a:solidFill>
                      <a:srgbClr val="C00000"/>
                    </a:solidFill>
                    <a:latin typeface="Times New Roman" panose="02020603050405020304" pitchFamily="18" charset="0"/>
                    <a:ea typeface="SimSun"/>
                    <a:cs typeface="Times New Roman" panose="02020603050405020304" pitchFamily="18" charset="0"/>
                  </a:rPr>
                  <a:t>27.4%</a:t>
                </a:r>
                <a:r>
                  <a:rPr lang="en-HK" altLang="zh-CN" sz="1600" dirty="0">
                    <a:latin typeface="Times New Roman" panose="02020603050405020304" pitchFamily="18" charset="0"/>
                    <a:ea typeface="SimSun"/>
                    <a:cs typeface="Times New Roman" panose="02020603050405020304" pitchFamily="18" charset="0"/>
                  </a:rPr>
                  <a:t> improvement over the worst case</a:t>
                </a:r>
                <a:r>
                  <a:rPr lang="en-US" altLang="zh-CN" sz="1600" dirty="0">
                    <a:latin typeface="Times New Roman" panose="02020603050405020304" pitchFamily="18" charset="0"/>
                    <a:ea typeface="SimSun"/>
                    <a:cs typeface="Times New Roman" panose="02020603050405020304" pitchFamily="18" charset="0"/>
                  </a:rPr>
                  <a:t>. </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Benefit from the addition of hydrophilic coatings and fibre coatings, the water film coverage </a:t>
                </a:r>
                <a:r>
                  <a:rPr lang="en-US" altLang="zh-CN" sz="1600" dirty="0">
                    <a:latin typeface="Times New Roman" panose="02020603050405020304" pitchFamily="18" charset="0"/>
                    <a:ea typeface="SimSun"/>
                    <a:cs typeface="Times New Roman" panose="02020603050405020304" pitchFamily="18" charset="0"/>
                  </a:rPr>
                  <a:t>and</a:t>
                </a:r>
                <a:r>
                  <a:rPr lang="en-HK" altLang="zh-CN" sz="1600" dirty="0">
                    <a:latin typeface="Times New Roman" panose="02020603050405020304" pitchFamily="18" charset="0"/>
                    <a:ea typeface="SimSun"/>
                    <a:cs typeface="Times New Roman" panose="02020603050405020304" pitchFamily="18" charset="0"/>
                  </a:rPr>
                  <a:t> COP are increased by </a:t>
                </a:r>
                <a:r>
                  <a:rPr lang="en-HK" altLang="zh-CN" sz="1600" dirty="0">
                    <a:solidFill>
                      <a:srgbClr val="C00000"/>
                    </a:solidFill>
                    <a:latin typeface="Times New Roman" panose="02020603050405020304" pitchFamily="18" charset="0"/>
                    <a:ea typeface="SimSun"/>
                    <a:cs typeface="Times New Roman" panose="02020603050405020304" pitchFamily="18" charset="0"/>
                  </a:rPr>
                  <a:t>7.4%</a:t>
                </a:r>
                <a:r>
                  <a:rPr lang="en-HK" altLang="zh-CN" sz="1600" dirty="0">
                    <a:latin typeface="Times New Roman" panose="02020603050405020304" pitchFamily="18" charset="0"/>
                    <a:ea typeface="SimSun"/>
                    <a:cs typeface="Times New Roman" panose="02020603050405020304" pitchFamily="18" charset="0"/>
                  </a:rPr>
                  <a:t> and </a:t>
                </a:r>
                <a:r>
                  <a:rPr lang="en-HK" altLang="zh-CN" sz="1600" dirty="0">
                    <a:solidFill>
                      <a:srgbClr val="C00000"/>
                    </a:solidFill>
                    <a:latin typeface="Times New Roman" panose="02020603050405020304" pitchFamily="18" charset="0"/>
                    <a:ea typeface="SimSun"/>
                    <a:cs typeface="Times New Roman" panose="02020603050405020304" pitchFamily="18" charset="0"/>
                  </a:rPr>
                  <a:t>16.1%</a:t>
                </a:r>
                <a:r>
                  <a:rPr lang="en-HK" altLang="zh-CN" sz="1600" dirty="0">
                    <a:latin typeface="Times New Roman" panose="02020603050405020304" pitchFamily="18" charset="0"/>
                    <a:ea typeface="SimSun"/>
                    <a:cs typeface="Times New Roman" panose="02020603050405020304" pitchFamily="18" charset="0"/>
                  </a:rPr>
                  <a:t>, respectively. </a:t>
                </a:r>
                <a:endParaRPr lang="en-US" altLang="zh-CN" sz="1600" dirty="0">
                  <a:latin typeface="Times New Roman" panose="02020603050405020304" pitchFamily="18" charset="0"/>
                  <a:ea typeface="SimSun"/>
                  <a:cs typeface="Times New Roman" panose="02020603050405020304" pitchFamily="18" charset="0"/>
                </a:endParaRPr>
              </a:p>
            </p:txBody>
          </p:sp>
        </mc:Choice>
        <mc:Fallback xmlns="">
          <p:sp>
            <p:nvSpPr>
              <p:cNvPr id="5" name="文本框 2">
                <a:extLst>
                  <a:ext uri="{FF2B5EF4-FFF2-40B4-BE49-F238E27FC236}">
                    <a16:creationId xmlns:a16="http://schemas.microsoft.com/office/drawing/2014/main" id="{DB108DF9-9E69-4AC5-B2CD-3C185FB1F8B1}"/>
                  </a:ext>
                </a:extLst>
              </p:cNvPr>
              <p:cNvSpPr txBox="1">
                <a:spLocks noRot="1" noChangeAspect="1" noMove="1" noResize="1" noEditPoints="1" noAdjustHandles="1" noChangeArrowheads="1" noChangeShapeType="1" noTextEdit="1"/>
              </p:cNvSpPr>
              <p:nvPr/>
            </p:nvSpPr>
            <p:spPr bwMode="auto">
              <a:xfrm>
                <a:off x="1038225" y="1320564"/>
                <a:ext cx="10115550" cy="5126403"/>
              </a:xfrm>
              <a:prstGeom prst="rect">
                <a:avLst/>
              </a:prstGeom>
              <a:blipFill>
                <a:blip r:embed="rId2"/>
                <a:stretch>
                  <a:fillRect l="-482" r="-482" b="-5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latin typeface="Times New Roman"/>
                    <a:ea typeface="SimSun"/>
                    <a:cs typeface="Times New Roman"/>
                  </a:rPr>
                  <a:t> </a:t>
                </a:r>
              </a:p>
            </p:txBody>
          </p:sp>
        </mc:Fallback>
      </mc:AlternateContent>
      <p:sp>
        <p:nvSpPr>
          <p:cNvPr id="7" name="文本框 6">
            <a:extLst>
              <a:ext uri="{FF2B5EF4-FFF2-40B4-BE49-F238E27FC236}">
                <a16:creationId xmlns:a16="http://schemas.microsoft.com/office/drawing/2014/main" id="{94DEA585-E01D-4650-ACEA-BB07EA359E0B}"/>
              </a:ext>
            </a:extLst>
          </p:cNvPr>
          <p:cNvSpPr txBox="1"/>
          <p:nvPr/>
        </p:nvSpPr>
        <p:spPr>
          <a:xfrm>
            <a:off x="343776" y="945440"/>
            <a:ext cx="6153666" cy="369332"/>
          </a:xfrm>
          <a:prstGeom prst="rect">
            <a:avLst/>
          </a:prstGeom>
          <a:noFill/>
        </p:spPr>
        <p:txBody>
          <a:bodyPr wrap="square" rtlCol="0">
            <a:spAutoFit/>
          </a:bodyPr>
          <a:lstStyle/>
          <a:p>
            <a:pPr defTabSz="457200" eaLnBrk="1" fontAlgn="auto" hangingPunct="1">
              <a:spcBef>
                <a:spcPts val="0"/>
              </a:spcBef>
              <a:spcAft>
                <a:spcPts val="0"/>
              </a:spcAft>
            </a:pPr>
            <a:r>
              <a:rPr lang="en-HK" sz="1800" b="1" dirty="0">
                <a:solidFill>
                  <a:prstClr val="black"/>
                </a:solidFill>
                <a:latin typeface="Times New Roman" panose="02020603050405020304" pitchFamily="18" charset="0"/>
                <a:ea typeface="SimSun"/>
                <a:cs typeface="Times New Roman" panose="02020603050405020304" pitchFamily="18" charset="0"/>
              </a:rPr>
              <a:t>7.1 Conclusions</a:t>
            </a:r>
          </a:p>
        </p:txBody>
      </p:sp>
      <p:sp>
        <p:nvSpPr>
          <p:cNvPr id="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862976375"/>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58</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090C9A14-1C02-4370-8D30-CCEB9934F0DD}"/>
              </a:ext>
            </a:extLst>
          </p:cNvPr>
          <p:cNvSpPr>
            <a:spLocks noChangeArrowheads="1"/>
          </p:cNvSpPr>
          <p:nvPr/>
        </p:nvSpPr>
        <p:spPr bwMode="auto">
          <a:xfrm>
            <a:off x="960120" y="91440"/>
            <a:ext cx="7360920" cy="56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buClr>
                <a:srgbClr val="0099FF"/>
              </a:buClr>
              <a:lnSpc>
                <a:spcPct val="100000"/>
              </a:lnSpc>
            </a:pPr>
            <a:r>
              <a:rPr lang="en-US" altLang="zh-CN" sz="2000" b="1" dirty="0">
                <a:latin typeface="Times New Roman" panose="02020603050405020304" pitchFamily="18" charset="0"/>
                <a:ea typeface="SimSun"/>
                <a:cs typeface="Times New Roman" panose="02020603050405020304" pitchFamily="18" charset="0"/>
              </a:rPr>
              <a:t>7. </a:t>
            </a:r>
            <a:r>
              <a:rPr lang="en-HK" altLang="zh-CN" sz="2000" b="1" dirty="0">
                <a:latin typeface="Times New Roman" panose="02020603050405020304" pitchFamily="18" charset="0"/>
                <a:ea typeface="SimSun"/>
                <a:cs typeface="Times New Roman" panose="02020603050405020304" pitchFamily="18" charset="0"/>
              </a:rPr>
              <a:t>Conclusions and recommendations for future work</a:t>
            </a:r>
          </a:p>
        </p:txBody>
      </p:sp>
      <p:sp>
        <p:nvSpPr>
          <p:cNvPr id="7" name="文本框 6">
            <a:extLst>
              <a:ext uri="{FF2B5EF4-FFF2-40B4-BE49-F238E27FC236}">
                <a16:creationId xmlns:a16="http://schemas.microsoft.com/office/drawing/2014/main" id="{94DEA585-E01D-4650-ACEA-BB07EA359E0B}"/>
              </a:ext>
            </a:extLst>
          </p:cNvPr>
          <p:cNvSpPr txBox="1"/>
          <p:nvPr/>
        </p:nvSpPr>
        <p:spPr>
          <a:xfrm>
            <a:off x="343776" y="945440"/>
            <a:ext cx="11276724" cy="369332"/>
          </a:xfrm>
          <a:prstGeom prst="rect">
            <a:avLst/>
          </a:prstGeom>
          <a:noFill/>
        </p:spPr>
        <p:txBody>
          <a:bodyPr wrap="square" rtlCol="0" tIns="0" bIns="0">
            <a:noAutofit/>
          </a:bodyPr>
          <a:lstStyle/>
          <a:p>
            <a:pPr defTabSz="457200" eaLnBrk="1" fontAlgn="auto" hangingPunct="1" algn="l">
              <a:lnSpc>
                <a:spcPct val="108000"/>
              </a:lnSpc>
              <a:spcAft>
                <a:spcPts val="300"/>
              </a:spcAft>
            </a:pPr>
            <a:r>
              <a:rPr lang="en-HK" sz="1500" b="1" dirty="0">
                <a:solidFill>
                  <a:prstClr val="black"/>
                </a:solidFill>
                <a:latin typeface="Times New Roman" panose="02020603050405020304" pitchFamily="18" charset="0"/>
                <a:ea typeface="SimSun"/>
                <a:cs typeface="Times New Roman" panose="02020603050405020304" pitchFamily="18" charset="0"/>
              </a:rPr>
              <a:t>7.2 Future work</a:t>
            </a:r>
            <a:r>
              <a:rPr sz="1230" lang="zh-CN">
                <a:solidFill>
                  <a:srgbClr val="24425A"/>
                </a:solidFill>
                <a:latin typeface="Times New Roman"/>
                <a:ea typeface="SimSun"/>
                <a:cs typeface="Times New Roman"/>
              </a:rPr>
              <a:t>  未来研究方向</a:t>
            </a:r>
          </a:p>
        </p:txBody>
      </p:sp>
      <p:sp>
        <p:nvSpPr>
          <p:cNvPr id="6" name="文本框 2">
            <a:extLst>
              <a:ext uri="{FF2B5EF4-FFF2-40B4-BE49-F238E27FC236}">
                <a16:creationId xmlns:a16="http://schemas.microsoft.com/office/drawing/2014/main" id="{63BAE8E9-9F5B-4EBD-8AFF-5264AC060110}"/>
              </a:ext>
            </a:extLst>
          </p:cNvPr>
          <p:cNvSpPr txBox="1">
            <a:spLocks noChangeArrowheads="1"/>
          </p:cNvSpPr>
          <p:nvPr/>
        </p:nvSpPr>
        <p:spPr bwMode="auto">
          <a:xfrm>
            <a:off x="920318" y="1579744"/>
            <a:ext cx="10380955" cy="465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The primary focus of this study is on the common cross-flow plate-type IEC, which may not be applicable to other specialized types, such as tubular IEC. Therefore, it is necessary to conduct extensive simulations and experimental research on </a:t>
            </a:r>
            <a:r>
              <a:rPr lang="en-US" altLang="zh-CN" sz="1700" b="1" dirty="0">
                <a:solidFill>
                  <a:srgbClr val="AF1E3B"/>
                </a:solidFill>
                <a:latin typeface="Times New Roman" panose="02020603050405020304" pitchFamily="18" charset="0"/>
                <a:ea typeface="SimSun"/>
                <a:cs typeface="Times New Roman" panose="02020603050405020304" pitchFamily="18" charset="0"/>
              </a:rPr>
              <a:t>various types of IEC </a:t>
            </a:r>
            <a:r>
              <a:rPr lang="en-US" altLang="zh-CN" sz="1700" dirty="0">
                <a:latin typeface="Times New Roman" panose="02020603050405020304" pitchFamily="18" charset="0"/>
                <a:ea typeface="SimSun"/>
                <a:cs typeface="Times New Roman" panose="02020603050405020304" pitchFamily="18" charset="0"/>
              </a:rPr>
              <a:t>in the future to generalize the findings</a:t>
            </a:r>
            <a:r>
              <a:rPr lang="en-HK" altLang="zh-CN" sz="1700" dirty="0">
                <a:latin typeface="Times New Roman" panose="02020603050405020304" pitchFamily="18" charset="0"/>
                <a:ea typeface="SimSun"/>
                <a:cs typeface="Times New Roman" panose="02020603050405020304" pitchFamily="18" charset="0"/>
              </a:rPr>
              <a:t>.</a:t>
            </a:r>
            <a:br/>
            <a:r>
              <a:rPr sz="1394" lang="zh-CN">
                <a:solidFill>
                  <a:srgbClr val="24425A"/>
                </a:solidFill>
                <a:latin typeface="Times New Roman"/>
                <a:ea typeface="SimSun"/>
                <a:cs typeface="Times New Roman"/>
              </a:rPr>
              <a:t>本研究主要针对常规叉流板式 IEC，结论未必适用于管式等其他结构。未来需对不同类型 IEC 开展更多模拟与实验，以拓展结论的适用范围。</a:t>
            </a:r>
          </a:p>
          <a:p>
            <a:pPr marL="457200" indent="-457200" algn="l">
              <a:buFont typeface="+mj-lt"/>
              <a:buAutoNum type="arabicPeriod"/>
              <a:lnSpc>
                <a:spcPct val="108000"/>
              </a:lnSpc>
              <a:spcAft>
                <a:spcPts val="300"/>
              </a:spcAft>
            </a:pPr>
            <a:r>
              <a:rPr lang="en-US" altLang="zh-CN" sz="1700" dirty="0">
                <a:latin typeface="Times New Roman" panose="02020603050405020304" pitchFamily="18" charset="0"/>
                <a:ea typeface="SimSun"/>
                <a:cs typeface="Times New Roman" panose="02020603050405020304" pitchFamily="18" charset="0"/>
              </a:rPr>
              <a:t>For the </a:t>
            </a:r>
            <a:r>
              <a:rPr lang="en-US" altLang="zh-CN" sz="1700" b="1" dirty="0">
                <a:solidFill>
                  <a:srgbClr val="AF1E3B"/>
                </a:solidFill>
                <a:latin typeface="Times New Roman" panose="02020603050405020304" pitchFamily="18" charset="0"/>
                <a:ea typeface="SimSun"/>
                <a:cs typeface="Times New Roman" panose="02020603050405020304" pitchFamily="18" charset="0"/>
              </a:rPr>
              <a:t>three operating modes </a:t>
            </a:r>
            <a:r>
              <a:rPr lang="en-US" altLang="zh-CN" sz="1700" dirty="0">
                <a:latin typeface="Times New Roman" panose="02020603050405020304" pitchFamily="18" charset="0"/>
                <a:ea typeface="SimSun"/>
                <a:cs typeface="Times New Roman" panose="02020603050405020304" pitchFamily="18" charset="0"/>
              </a:rPr>
              <a:t>of the IEC system in data centers, it is crucial to regulate the start and stop cycles of the water spray system to meet indoor requirements while minimizing the energy consumption. Therefore, it is necessary to further control the activation states of the three modes based on climatic conditions.</a:t>
            </a:r>
            <a:br/>
            <a:r>
              <a:rPr sz="1394" lang="zh-CN">
                <a:solidFill>
                  <a:srgbClr val="24425A"/>
                </a:solidFill>
                <a:latin typeface="Times New Roman"/>
                <a:ea typeface="SimSun"/>
                <a:cs typeface="Times New Roman"/>
              </a:rPr>
              <a:t>针对数据中心 IEC 的三种运行模式，应根据气候条件优化模式切换及喷淋启停，在满足室内需求的同时降低能耗。</a:t>
            </a:r>
          </a:p>
          <a:p>
            <a:pPr marL="457200" indent="-457200" algn="l">
              <a:buFont typeface="+mj-lt"/>
              <a:buAutoNum type="arabicPeriod"/>
              <a:lnSpc>
                <a:spcPct val="108000"/>
              </a:lnSpc>
              <a:spcAft>
                <a:spcPts val="300"/>
              </a:spcAft>
            </a:pPr>
            <a:r>
              <a:rPr lang="en-HK" altLang="zh-CN" sz="1700" dirty="0">
                <a:latin typeface="Times New Roman" panose="02020603050405020304" pitchFamily="18" charset="0"/>
                <a:ea typeface="SimSun"/>
                <a:cs typeface="Times New Roman" panose="02020603050405020304" pitchFamily="18" charset="0"/>
              </a:rPr>
              <a:t>Future work will involve the development of ANN models for different spray parameters under </a:t>
            </a:r>
            <a:r>
              <a:rPr lang="en-HK" altLang="zh-CN" sz="1700" b="1" dirty="0">
                <a:solidFill>
                  <a:srgbClr val="AF1E3B"/>
                </a:solidFill>
                <a:latin typeface="Times New Roman" panose="02020603050405020304" pitchFamily="18" charset="0"/>
                <a:ea typeface="SimSun"/>
                <a:cs typeface="Times New Roman" panose="02020603050405020304" pitchFamily="18" charset="0"/>
              </a:rPr>
              <a:t>various climatic conditions</a:t>
            </a:r>
            <a:r>
              <a:rPr lang="en-HK" altLang="zh-CN" sz="1700" dirty="0">
                <a:solidFill>
                  <a:srgbClr val="AF1E3B"/>
                </a:solidFill>
                <a:latin typeface="Times New Roman" panose="02020603050405020304" pitchFamily="18" charset="0"/>
                <a:ea typeface="SimSun"/>
                <a:cs typeface="Times New Roman" panose="02020603050405020304" pitchFamily="18" charset="0"/>
              </a:rPr>
              <a:t> </a:t>
            </a:r>
            <a:r>
              <a:rPr lang="en-HK" altLang="zh-CN" sz="1700" dirty="0">
                <a:latin typeface="Times New Roman" panose="02020603050405020304" pitchFamily="18" charset="0"/>
                <a:ea typeface="SimSun"/>
                <a:cs typeface="Times New Roman" panose="02020603050405020304" pitchFamily="18" charset="0"/>
              </a:rPr>
              <a:t>to achieve a more comprehensive analysis and optimization of the IEC system.</a:t>
            </a:r>
            <a:br/>
            <a:r>
              <a:rPr sz="1394" lang="zh-CN">
                <a:solidFill>
                  <a:srgbClr val="24425A"/>
                </a:solidFill>
                <a:latin typeface="Times New Roman"/>
                <a:ea typeface="SimSun"/>
                <a:cs typeface="Times New Roman"/>
              </a:rPr>
              <a:t>未来可建立覆盖不同气候条件与喷淋参数的 ANN 模型，实现更全面的 IEC 性能分析与优化。</a:t>
            </a:r>
          </a:p>
        </p:txBody>
      </p:sp>
      <p:sp>
        <p:nvSpPr>
          <p:cNvPr id="9" name="TextBox 1"/>
          <p:cNvSpPr txBox="1"/>
          <p:nvPr/>
        </p:nvSpPr>
        <p:spPr>
          <a:xfrm>
            <a:off x="8458200" y="109728"/>
            <a:ext cx="3337560" cy="530352"/>
          </a:xfrm>
          <a:prstGeom prst="rect">
            <a:avLst/>
          </a:prstGeom>
          <a:noFill/>
        </p:spPr>
        <p:txBody>
          <a:bodyPr wrap="square" lIns="0" rIns="0" tIns="0" bIns="0">
            <a:spAutoFit/>
          </a:bodyPr>
          <a:lstStyle/>
          <a:p>
            <a:r>
              <a:rPr sz="1500" b="1">
                <a:solidFill>
                  <a:srgbClr val="24425A"/>
                </a:solidFill>
                <a:latin typeface="Times New Roman"/>
                <a:ea typeface="SimSun"/>
                <a:cs typeface="Times New Roman"/>
              </a:rPr>
              <a:t>结论与未来研究方向</a:t>
            </a:r>
          </a:p>
        </p:txBody>
      </p:sp>
    </p:spTree>
    <p:extLst>
      <p:ext uri="{BB962C8B-B14F-4D97-AF65-F5344CB8AC3E}">
        <p14:creationId xmlns:p14="http://schemas.microsoft.com/office/powerpoint/2010/main" val="3747626483"/>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1D70D177-0B28-4B6B-8630-603F2410E9D4}"/>
              </a:ext>
            </a:extLst>
          </p:cNvPr>
          <p:cNvSpPr>
            <a:spLocks noChangeArrowheads="1"/>
          </p:cNvSpPr>
          <p:nvPr/>
        </p:nvSpPr>
        <p:spPr bwMode="auto">
          <a:xfrm>
            <a:off x="911441" y="163095"/>
            <a:ext cx="9756559"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Academic contributions</a:t>
            </a:r>
            <a:r>
              <a:rPr sz="1804" lang="zh-CN" b="1">
                <a:solidFill>
                  <a:srgbClr val="24425A"/>
                </a:solidFill>
                <a:latin typeface="Times New Roman"/>
                <a:ea typeface="SimSun"/>
                <a:cs typeface="Times New Roman"/>
              </a:rPr>
              <a:t>  学术成果</a:t>
            </a:r>
          </a:p>
        </p:txBody>
      </p:sp>
      <p:sp>
        <p:nvSpPr>
          <p:cNvPr id="6" name="文本框 5">
            <a:extLst>
              <a:ext uri="{FF2B5EF4-FFF2-40B4-BE49-F238E27FC236}">
                <a16:creationId xmlns:a16="http://schemas.microsoft.com/office/drawing/2014/main" id="{4299D7EE-06FF-4935-BCDC-2BDB7DF62424}"/>
              </a:ext>
            </a:extLst>
          </p:cNvPr>
          <p:cNvSpPr txBox="1"/>
          <p:nvPr/>
        </p:nvSpPr>
        <p:spPr>
          <a:xfrm>
            <a:off x="507521" y="1082832"/>
            <a:ext cx="11319294" cy="5683094"/>
          </a:xfrm>
          <a:prstGeom prst="rect">
            <a:avLst/>
          </a:prstGeom>
          <a:noFill/>
        </p:spPr>
        <p:txBody>
          <a:bodyPr wrap="square" rtlCol="0">
            <a:spAutoFit/>
          </a:bodyPr>
          <a:lstStyle/>
          <a:p>
            <a:pPr algn="just">
              <a:spcAft>
                <a:spcPts val="800"/>
              </a:spcAft>
            </a:pPr>
            <a:r>
              <a:rPr lang="en-US" altLang="zh-CN" sz="1800" b="1" i="1" dirty="0">
                <a:latin typeface="Times New Roman" panose="02020603050405020304" pitchFamily="18" charset="0"/>
                <a:ea typeface="SimSun" panose="02010600030101010101" pitchFamily="2" charset="-122"/>
                <a:cs typeface="Times New Roman" panose="02020603050405020304" pitchFamily="18" charset="0"/>
              </a:rPr>
              <a:t>Published papers:</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[1] X. Ma, W. Shi, and H. Yang, “Study on water spraying distribution to improve the energy recovery performance of indirect evaporative coolers with nozzle arrangement optimization,” Applied Energy, vol. 318, 2022.</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[2] X. Ma, W. Shi, and H. Yang, “Improving the performance of indirect evaporative cooler for energy recovery from the perspective of nozzle configuration: A CFD model analysis,” Journal of Building Engineering, vol. 76, p. 107195, 2023/10/01/ 2023.</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[3] X. Ma, W. Shi, and H. Yang, “Spray parameter analysis and performance optimization of indirect evaporative cooler considering surface wettability,” Journal of Building Engineering, vol. 82, p. 108175, 2024/04/01/ 2024.</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[4] X. Ma, W. Shi, Lin Lu and H. Yang, “Performance assessment and optimization of water spray strategy for indirect evaporative cooler based on artificial neural network </a:t>
            </a:r>
            <a:r>
              <a:rPr lang="en-HK" altLang="zh-CN" sz="1600" dirty="0" err="1">
                <a:latin typeface="Times New Roman" panose="02020603050405020304" pitchFamily="18" charset="0"/>
                <a:ea typeface="SimSun" panose="02010600030101010101" pitchFamily="2" charset="-122"/>
                <a:cs typeface="Times New Roman"/>
              </a:rPr>
              <a:t>modeling</a:t>
            </a:r>
            <a:r>
              <a:rPr lang="en-HK" altLang="zh-CN" sz="1600" dirty="0">
                <a:latin typeface="Times New Roman" panose="02020603050405020304" pitchFamily="18" charset="0"/>
                <a:ea typeface="SimSun" panose="02010600030101010101" pitchFamily="2" charset="-122"/>
                <a:cs typeface="Times New Roman"/>
              </a:rPr>
              <a:t> and genetic algorithm,” Applied Energy, vol. 318, 2024.</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algn="just">
              <a:spcBef>
                <a:spcPts val="600"/>
              </a:spcBef>
              <a:spcAft>
                <a:spcPts val="600"/>
              </a:spcAft>
            </a:pPr>
            <a:r>
              <a:rPr lang="en-US" altLang="zh-CN" sz="1800" b="1" i="1" dirty="0">
                <a:latin typeface="Times New Roman" panose="02020603050405020304" pitchFamily="18" charset="0"/>
                <a:ea typeface="SimSun" panose="02010600030101010101" pitchFamily="2" charset="-122"/>
                <a:cs typeface="Times New Roman" panose="02020603050405020304" pitchFamily="18" charset="0"/>
              </a:rPr>
              <a:t>Conference papers:</a:t>
            </a:r>
          </a:p>
          <a:p>
            <a:pPr algn="just">
              <a:spcBef>
                <a:spcPts val="600"/>
              </a:spcBef>
              <a:spcAft>
                <a:spcPts val="600"/>
              </a:spcAft>
            </a:pPr>
            <a:r>
              <a:rPr lang="en-HK" altLang="zh-CN" sz="1600" dirty="0">
                <a:latin typeface="Times New Roman" panose="02020603050405020304" pitchFamily="18" charset="0"/>
                <a:ea typeface="SimSun" panose="02010600030101010101" pitchFamily="2" charset="-122"/>
                <a:cs typeface="Times New Roman"/>
              </a:rPr>
              <a:t>[1] X. MA, W. Shi, and H. Yang. Study on water spraying distribution for improvement of indirect evaporative coolers with nozzle arrangement optimization. The 13th International Conference on Applied Energy (ICAE2021), virtual, 29 Nov - 2 Dec, 2021.</a:t>
            </a:r>
          </a:p>
          <a:p>
            <a:pPr algn="just">
              <a:spcBef>
                <a:spcPts val="600"/>
              </a:spcBef>
              <a:spcAft>
                <a:spcPts val="600"/>
              </a:spcAft>
            </a:pPr>
            <a:r>
              <a:rPr lang="en-HK" altLang="zh-CN" sz="1600" dirty="0">
                <a:latin typeface="Times New Roman" panose="02020603050405020304" pitchFamily="18" charset="0"/>
                <a:ea typeface="SimSun" panose="02010600030101010101" pitchFamily="2" charset="-122"/>
                <a:cs typeface="Times New Roman"/>
              </a:rPr>
              <a:t>[2] X. MA, W. Shi, and H. Yang. Effect of spray nozzle parameters on surface wettability and performance improvement of indirect evaporative cooler. The 2022 MIT "A+B" Applied Energy Symposium (MITAB 2022), virtual, 5-8 July, 2022.</a:t>
            </a:r>
          </a:p>
          <a:p>
            <a:pPr algn="just">
              <a:spcBef>
                <a:spcPts val="600"/>
              </a:spcBef>
              <a:spcAft>
                <a:spcPts val="600"/>
              </a:spcAft>
            </a:pPr>
            <a:r>
              <a:rPr lang="en-HK" altLang="zh-CN" sz="1600" dirty="0">
                <a:latin typeface="Times New Roman" panose="02020603050405020304" pitchFamily="18" charset="0"/>
                <a:ea typeface="SimSun" panose="02010600030101010101" pitchFamily="2" charset="-122"/>
                <a:cs typeface="Times New Roman"/>
              </a:rPr>
              <a:t>[3] X. MA, W. Shi, and H. Yang. Development of a wettability combined CFD model of indirect evaporative cooler with spray and water film optimization. The 14th International Conference on Applied Energy (ICAE2022), Bochum, Germany, 8-11 Aug, 2022.</a:t>
            </a:r>
          </a:p>
          <a:p>
            <a:pPr algn="just">
              <a:spcBef>
                <a:spcPts val="600"/>
              </a:spcBef>
              <a:spcAft>
                <a:spcPts val="600"/>
              </a:spcAft>
            </a:pPr>
            <a:endParaRPr lang="en-US" altLang="zh-CN" sz="1600" dirty="0">
              <a:latin typeface="Times New Roman" panose="02020603050405020304" pitchFamily="18" charset="0"/>
              <a:ea typeface="SimSun" panose="02010600030101010101" pitchFamily="2" charset="-122"/>
              <a:cs typeface="Times New Roman"/>
            </a:endParaRPr>
          </a:p>
        </p:txBody>
      </p:sp>
      <p:sp>
        <p:nvSpPr>
          <p:cNvPr id="2" name="灯片编号占位符 1">
            <a:extLst>
              <a:ext uri="{FF2B5EF4-FFF2-40B4-BE49-F238E27FC236}">
                <a16:creationId xmlns:a16="http://schemas.microsoft.com/office/drawing/2014/main" id="{902CC68C-4AA8-48E0-9062-C9841BB473E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59</a:t>
            </a:fld>
            <a:endParaRPr lang="en-US" altLang="zh-CN">
              <a:latin typeface="Times New Roman"/>
              <a:ea typeface="SimSun"/>
              <a:cs typeface="Times New Roman"/>
            </a:endParaRPr>
          </a:p>
        </p:txBody>
      </p:sp>
    </p:spTree>
    <p:extLst>
      <p:ext uri="{BB962C8B-B14F-4D97-AF65-F5344CB8AC3E}">
        <p14:creationId xmlns:p14="http://schemas.microsoft.com/office/powerpoint/2010/main" val="4022355228"/>
      </p:ext>
    </p:extLst>
  </p:cSld>
  <p:clrMapOvr>
    <a:masterClrMapping/>
  </p:clrMapOvr>
  <mc:AlternateContent xmlns:mc="http://schemas.openxmlformats.org/markup-compatibility/2006" xmlns:p14="http://schemas.microsoft.com/office/powerpoint/2010/main">
    <mc:Choice Requires="p14">
      <p:transition spd="slow" p14:dur="2000" advTm="4687"/>
    </mc:Choice>
    <mc:Fallback xmlns="">
      <p:transition spd="slow" advTm="4687"/>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5"/>
          <p:cNvSpPr>
            <a:spLocks noChangeArrowheads="1"/>
          </p:cNvSpPr>
          <p:nvPr/>
        </p:nvSpPr>
        <p:spPr bwMode="auto">
          <a:xfrm>
            <a:off x="2192866" y="4419600"/>
            <a:ext cx="3124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9pPr>
          </a:lstStyle>
          <a:p>
            <a:pPr algn="ctr" eaLnBrk="1" hangingPunct="1">
              <a:buFontTx/>
              <a:buNone/>
            </a:pPr>
            <a:endParaRPr lang="zh-CN" altLang="zh-CN" sz="1600">
              <a:solidFill>
                <a:srgbClr val="000000"/>
              </a:solidFill>
              <a:latin typeface="Times New Roman"/>
              <a:ea typeface="SimSun" panose="020B0604020202020204" pitchFamily="34" charset="-128"/>
              <a:cs typeface="Times New Roman"/>
            </a:endParaRPr>
          </a:p>
        </p:txBody>
      </p:sp>
      <p:sp>
        <p:nvSpPr>
          <p:cNvPr id="19460" name="Rectangle 6"/>
          <p:cNvSpPr>
            <a:spLocks noGrp="1" noChangeArrowheads="1"/>
          </p:cNvSpPr>
          <p:nvPr>
            <p:ph type="ctrTitle" sz="quarter"/>
          </p:nvPr>
        </p:nvSpPr>
        <p:spPr>
          <a:xfrm>
            <a:off x="1638300" y="2438401"/>
            <a:ext cx="8915400" cy="1927225"/>
          </a:xfrm>
        </p:spPr>
        <p:txBody>
          <a:bodyPr wrap="square" tIns="0" bIns="0">
            <a:noAutofit/>
          </a:bodyPr>
          <a:lstStyle/>
          <a:p>
            <a:pPr algn="l">
              <a:lnSpc>
                <a:spcPct val="108000"/>
              </a:lnSpc>
              <a:spcAft>
                <a:spcPts val="300"/>
              </a:spcAft>
            </a:pPr>
            <a:r>
              <a:rPr lang="en-HK" altLang="zh-CN" sz="2600" i="1" dirty="0">
                <a:latin typeface="Times New Roman" panose="02020603050405020304" pitchFamily="18" charset="0"/>
                <a:ea typeface="SimSun" panose="02010600030101010101" pitchFamily="2" charset="-122"/>
                <a:cs typeface="Times New Roman" panose="02020603050405020304" pitchFamily="18" charset="0"/>
              </a:rPr>
              <a:t>T</a:t>
            </a:r>
            <a:r>
              <a:rPr lang="en-US" altLang="zh-CN" sz="2600" i="1" dirty="0">
                <a:latin typeface="Times New Roman" panose="02020603050405020304" pitchFamily="18" charset="0"/>
                <a:ea typeface="SimSun" panose="02010600030101010101" pitchFamily="2" charset="-122"/>
                <a:cs typeface="Times New Roman" panose="02020603050405020304" pitchFamily="18" charset="0"/>
              </a:rPr>
              <a:t>hank you!</a:t>
            </a:r>
            <a:r>
              <a:rPr sz="2132" lang="zh-CN">
                <a:solidFill>
                  <a:srgbClr val="24425A"/>
                </a:solidFill>
                <a:latin typeface="Times New Roman"/>
                <a:ea typeface="SimSun"/>
                <a:cs typeface="Times New Roman"/>
              </a:rPr>
              <a:t>  谢谢！ 敬请批评指正</a:t>
            </a:r>
          </a:p>
        </p:txBody>
      </p:sp>
      <p:sp>
        <p:nvSpPr>
          <p:cNvPr id="7" name="矩形 6">
            <a:extLst>
              <a:ext uri="{FF2B5EF4-FFF2-40B4-BE49-F238E27FC236}">
                <a16:creationId xmlns:a16="http://schemas.microsoft.com/office/drawing/2014/main" id="{67B468AD-3765-4211-97AE-355D9398DFA4}"/>
              </a:ext>
            </a:extLst>
          </p:cNvPr>
          <p:cNvSpPr/>
          <p:nvPr/>
        </p:nvSpPr>
        <p:spPr bwMode="auto">
          <a:xfrm>
            <a:off x="6875253" y="0"/>
            <a:ext cx="5316747" cy="120466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sp>
        <p:nvSpPr>
          <p:cNvPr id="9" name="灯片编号占位符 3">
            <a:extLst>
              <a:ext uri="{FF2B5EF4-FFF2-40B4-BE49-F238E27FC236}">
                <a16:creationId xmlns:a16="http://schemas.microsoft.com/office/drawing/2014/main" id="{6536BF76-C0A7-4A5C-858D-470D1876950F}"/>
              </a:ext>
            </a:extLst>
          </p:cNvPr>
          <p:cNvSpPr txBox="1">
            <a:spLocks/>
          </p:cNvSpPr>
          <p:nvPr/>
        </p:nvSpPr>
        <p:spPr>
          <a:xfrm>
            <a:off x="10058400" y="6395053"/>
            <a:ext cx="2133600" cy="365125"/>
          </a:xfrm>
          <a:prstGeom prst="rect">
            <a:avLst/>
          </a:prstGeom>
        </p:spPr>
        <p:txBody>
          <a:bodyPr/>
          <a:lstStyle>
            <a:defPPr>
              <a:defRPr lang="en-US">
                <a:latin typeface="Times New Roman"/>
                <a:ea typeface="SimSun"/>
                <a:cs typeface="Times New Roman"/>
              </a:defRPr>
            </a:defPPr>
            <a:lvl1pPr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4572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9144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3716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18288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2860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7432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2004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6576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r">
              <a:defRPr>
                <a:latin typeface="Times New Roman"/>
                <a:ea typeface="SimSun"/>
                <a:cs typeface="Times New Roman"/>
              </a:defRPr>
            </a:pPr>
            <a:fld id="{15884886-3D85-4AFD-9D94-33E4AF7428DD}" type="slidenum">
              <a:rPr lang="en-US" altLang="zh-CN" sz="1200">
                <a:solidFill>
                  <a:srgbClr val="898989"/>
                </a:solidFill>
                <a:latin typeface="Times New Roman"/>
                <a:ea typeface="SimSun"/>
                <a:cs typeface="Times New Roman"/>
              </a:rPr>
              <a:pPr algn="r">
                <a:defRPr>
                  <a:latin typeface="Times New Roman"/>
                  <a:ea typeface="SimSun"/>
                  <a:cs typeface="Times New Roman"/>
                </a:defRPr>
              </a:pPr>
              <a:t>60</a:t>
            </a:fld>
            <a:endParaRPr lang="en-US" altLang="zh-CN" sz="1200" dirty="0">
              <a:solidFill>
                <a:srgbClr val="898989"/>
              </a:solidFill>
              <a:latin typeface="Times New Roman"/>
              <a:ea typeface="SimSun"/>
              <a:cs typeface="Times New Roman"/>
            </a:endParaRPr>
          </a:p>
        </p:txBody>
      </p:sp>
      <p:sp>
        <p:nvSpPr>
          <p:cNvPr id="2" name="矩形 1">
            <a:extLst>
              <a:ext uri="{FF2B5EF4-FFF2-40B4-BE49-F238E27FC236}">
                <a16:creationId xmlns:a16="http://schemas.microsoft.com/office/drawing/2014/main" id="{8278B0D7-5E4A-4E2D-B1F8-C498ECFB25C3}"/>
              </a:ext>
            </a:extLst>
          </p:cNvPr>
          <p:cNvSpPr/>
          <p:nvPr/>
        </p:nvSpPr>
        <p:spPr bwMode="auto">
          <a:xfrm>
            <a:off x="10075653" y="146649"/>
            <a:ext cx="2346385" cy="1112593"/>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Tree>
    <p:extLst>
      <p:ext uri="{BB962C8B-B14F-4D97-AF65-F5344CB8AC3E}">
        <p14:creationId xmlns:p14="http://schemas.microsoft.com/office/powerpoint/2010/main" val="3499825183"/>
      </p:ext>
    </p:extLst>
  </p:cSld>
  <p:clrMapOvr>
    <a:masterClrMapping/>
  </p:clrMapOvr>
  <p:transition spd="slow" advTm="22901"/>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lgn="l">
              <a:buClrTx/>
              <a:buFont typeface="Wingdings" panose="05000000000000000000" pitchFamily="2" charset="2"/>
              <a:buChar char="Ø"/>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W</a:t>
            </a:r>
            <a:r>
              <a:rPr lang="en-US" altLang="zh-CN" sz="1500" b="1" kern="0" dirty="0">
                <a:latin typeface="Times New Roman" panose="02020603050405020304" pitchFamily="18" charset="0"/>
                <a:ea typeface="SimSun"/>
                <a:cs typeface="Times New Roman" panose="02020603050405020304" pitchFamily="18" charset="0"/>
              </a:rPr>
              <a:t>orking principle</a:t>
            </a:r>
            <a:r>
              <a:rPr sz="1230" lang="zh-CN">
                <a:solidFill>
                  <a:srgbClr val="24425A"/>
                </a:solidFill>
                <a:latin typeface="Times New Roman"/>
                <a:ea typeface="SimSun"/>
                <a:cs typeface="Times New Roman"/>
              </a:rPr>
              <a:t>  模型假设与适用性</a:t>
            </a:r>
          </a:p>
        </p:txBody>
      </p:sp>
      <p:sp>
        <p:nvSpPr>
          <p:cNvPr id="12" name="文本框 11">
            <a:extLst>
              <a:ext uri="{FF2B5EF4-FFF2-40B4-BE49-F238E27FC236}">
                <a16:creationId xmlns:a16="http://schemas.microsoft.com/office/drawing/2014/main" id="{5A6E6B83-037F-337A-2F2C-BA728907C8FA}"/>
              </a:ext>
            </a:extLst>
          </p:cNvPr>
          <p:cNvSpPr txBox="1"/>
          <p:nvPr/>
        </p:nvSpPr>
        <p:spPr>
          <a:xfrm>
            <a:off x="5570146" y="2890109"/>
            <a:ext cx="5565133" cy="2037050"/>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700" b="1" dirty="0">
                <a:latin typeface="Times New Roman" panose="02020603050405020304" pitchFamily="18" charset="0"/>
                <a:ea typeface="SimSun" panose="02010600030101010101" pitchFamily="2" charset="-122"/>
                <a:cs typeface="Times New Roman" panose="02020603050405020304" pitchFamily="18" charset="0"/>
              </a:rPr>
              <a:t>Non-Uniform Edges</a:t>
            </a:r>
            <a:r>
              <a:rPr lang="en-HK" altLang="zh-CN" sz="1700" dirty="0">
                <a:latin typeface="Times New Roman" panose="02020603050405020304" pitchFamily="18" charset="0"/>
                <a:ea typeface="SimSun" panose="02010600030101010101" pitchFamily="2" charset="-122"/>
                <a:cs typeface="Times New Roman" panose="02020603050405020304" pitchFamily="18" charset="0"/>
              </a:rPr>
              <a:t>: In reality, the edges of the spray area might not be perfectly straight or uniformly distributed.</a:t>
            </a:r>
            <a:br/>
            <a:r>
              <a:rPr sz="1394" lang="zh-CN">
                <a:solidFill>
                  <a:srgbClr val="24425A"/>
                </a:solidFill>
                <a:latin typeface="Times New Roman"/>
                <a:ea typeface="SimSun"/>
                <a:cs typeface="Times New Roman"/>
              </a:rPr>
              <a:t>边界不均匀：实际喷淋区域的边缘未必平直，分布也未必均匀。</a:t>
            </a:r>
          </a:p>
          <a:p>
            <a:pPr marL="285750" indent="-285750" algn="l">
              <a:buFont typeface="Arial" panose="020B0604020202020204" pitchFamily="34" charset="0"/>
              <a:buChar char="•"/>
              <a:lnSpc>
                <a:spcPct val="108000"/>
              </a:lnSpc>
              <a:spcAft>
                <a:spcPts val="300"/>
              </a:spcAft>
            </a:pPr>
            <a:r>
              <a:rPr lang="en-HK" altLang="zh-CN" sz="1700" b="1" dirty="0">
                <a:latin typeface="Times New Roman" panose="02020603050405020304" pitchFamily="18" charset="0"/>
                <a:ea typeface="SimSun" panose="02010600030101010101" pitchFamily="2" charset="-122"/>
                <a:cs typeface="Times New Roman" panose="02020603050405020304" pitchFamily="18" charset="0"/>
              </a:rPr>
              <a:t>Complex Geometries</a:t>
            </a:r>
            <a:r>
              <a:rPr lang="en-HK" altLang="zh-CN" sz="1700" dirty="0">
                <a:latin typeface="Times New Roman" panose="02020603050405020304" pitchFamily="18" charset="0"/>
                <a:ea typeface="SimSun" panose="02010600030101010101" pitchFamily="2" charset="-122"/>
                <a:cs typeface="Times New Roman" panose="02020603050405020304" pitchFamily="18" charset="0"/>
              </a:rPr>
              <a:t>: The actual spray might have a more complex geometry, such as an elliptical or fan-shaped distribution, which is oversimplified by a cone.</a:t>
            </a:r>
            <a:br/>
            <a:r>
              <a:rPr sz="1394" lang="zh-CN">
                <a:solidFill>
                  <a:srgbClr val="24425A"/>
                </a:solidFill>
                <a:latin typeface="Times New Roman"/>
                <a:ea typeface="SimSun"/>
                <a:cs typeface="Times New Roman"/>
              </a:rPr>
              <a:t>复杂几何形态：实际喷雾可能呈椭圆形或扇形，圆锥模型对其进行了简化。</a:t>
            </a: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61</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pic>
        <p:nvPicPr>
          <p:cNvPr id="16" name="图片 15">
            <a:extLst>
              <a:ext uri="{FF2B5EF4-FFF2-40B4-BE49-F238E27FC236}">
                <a16:creationId xmlns:a16="http://schemas.microsoft.com/office/drawing/2014/main" id="{EEE6AE59-936D-4886-9C6E-93468EC9E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721" y="1411964"/>
            <a:ext cx="3397479" cy="3036684"/>
          </a:xfrm>
          <a:prstGeom prst="rect">
            <a:avLst/>
          </a:prstGeom>
        </p:spPr>
      </p:pic>
      <p:sp>
        <p:nvSpPr>
          <p:cNvPr id="21" name="矩形 20">
            <a:extLst>
              <a:ext uri="{FF2B5EF4-FFF2-40B4-BE49-F238E27FC236}">
                <a16:creationId xmlns:a16="http://schemas.microsoft.com/office/drawing/2014/main" id="{4C39DAEE-41EF-4805-9722-7800E5711F56}"/>
              </a:ext>
            </a:extLst>
          </p:cNvPr>
          <p:cNvSpPr/>
          <p:nvPr/>
        </p:nvSpPr>
        <p:spPr>
          <a:xfrm>
            <a:off x="911441" y="4535650"/>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8.2 </a:t>
            </a:r>
            <a:r>
              <a:rPr lang="en-HK" sz="1200" dirty="0">
                <a:solidFill>
                  <a:prstClr val="black"/>
                </a:solidFill>
                <a:latin typeface="Times New Roman" panose="02020603050405020304" pitchFamily="18" charset="0"/>
                <a:ea typeface="SimSun"/>
                <a:cs typeface="Times New Roman" panose="02020603050405020304" pitchFamily="18" charset="0"/>
              </a:rPr>
              <a:t>Geometry used in volumetric flux distribution model</a:t>
            </a:r>
            <a:r>
              <a:rPr lang="en-US" sz="1200" baseline="30000" dirty="0">
                <a:solidFill>
                  <a:prstClr val="black"/>
                </a:solidFill>
                <a:latin typeface="Times New Roman" panose="02020603050405020304" pitchFamily="18" charset="0"/>
                <a:ea typeface="SimSun"/>
                <a:cs typeface="Times New Roman" panose="02020603050405020304" pitchFamily="18" charset="0"/>
              </a:rPr>
              <a:t> [1]</a:t>
            </a:r>
            <a:endParaRPr lang="en-HK" sz="1200" dirty="0">
              <a:solidFill>
                <a:prstClr val="black"/>
              </a:solidFill>
              <a:latin typeface="Times New Roman" panose="02020603050405020304" pitchFamily="18" charset="0"/>
              <a:ea typeface="SimSun"/>
              <a:cs typeface="Times New Roman" panose="02020603050405020304" pitchFamily="18" charset="0"/>
            </a:endParaRPr>
          </a:p>
        </p:txBody>
      </p:sp>
      <p:sp>
        <p:nvSpPr>
          <p:cNvPr id="22" name="矩形 21">
            <a:extLst>
              <a:ext uri="{FF2B5EF4-FFF2-40B4-BE49-F238E27FC236}">
                <a16:creationId xmlns:a16="http://schemas.microsoft.com/office/drawing/2014/main" id="{22F085F9-31D7-47A5-AEDD-519917B26AE2}"/>
              </a:ext>
            </a:extLst>
          </p:cNvPr>
          <p:cNvSpPr/>
          <p:nvPr/>
        </p:nvSpPr>
        <p:spPr>
          <a:xfrm>
            <a:off x="5396696" y="1439745"/>
            <a:ext cx="5641418" cy="1340211"/>
          </a:xfrm>
          <a:prstGeom prst="rect">
            <a:avLst/>
          </a:prstGeom>
        </p:spPr>
        <p:txBody>
          <a:bodyPr wrap="square" tIns="0" bIns="0">
            <a:noAutofit/>
          </a:bodyPr>
          <a:lstStyle/>
          <a:p>
            <a:pPr marL="285750" indent="-285750" algn="l">
              <a:buFont typeface="Wingdings" panose="05000000000000000000" pitchFamily="2" charset="2"/>
              <a:buChar char="v"/>
              <a:lnSpc>
                <a:spcPct val="108000"/>
              </a:lnSpc>
              <a:spcAft>
                <a:spcPts val="300"/>
              </a:spcAft>
            </a:pPr>
            <a:r>
              <a:rPr lang="en-HK" sz="1700" b="1" dirty="0">
                <a:latin typeface="Times New Roman" panose="02020603050405020304" pitchFamily="18" charset="0"/>
                <a:ea typeface="SimSun"/>
                <a:cs typeface="Times New Roman" panose="02020603050405020304" pitchFamily="18" charset="0"/>
              </a:rPr>
              <a:t>Assumption</a:t>
            </a:r>
            <a:r>
              <a:rPr lang="zh-CN" altLang="en-US" sz="1700" b="1" dirty="0">
                <a:latin typeface="Times New Roman" panose="02020603050405020304" pitchFamily="18" charset="0"/>
                <a:ea typeface="SimSun"/>
                <a:cs typeface="Times New Roman" panose="02020603050405020304" pitchFamily="18" charset="0"/>
              </a:rPr>
              <a:t>：</a:t>
            </a:r>
            <a:br/>
            <a:r>
              <a:rPr sz="1394" lang="zh-CN">
                <a:solidFill>
                  <a:srgbClr val="24425A"/>
                </a:solidFill>
                <a:latin typeface="Times New Roman"/>
                <a:ea typeface="SimSun"/>
                <a:cs typeface="Times New Roman"/>
              </a:rPr>
              <a:t>模型假设：</a:t>
            </a:r>
          </a:p>
          <a:p>
            <a:pPr algn="l">
              <a:lnSpc>
                <a:spcPct val="108000"/>
              </a:lnSpc>
              <a:spcAft>
                <a:spcPts val="300"/>
              </a:spcAft>
            </a:pPr>
            <a:r>
              <a:rPr lang="en-HK" sz="1700" dirty="0">
                <a:latin typeface="Times New Roman" panose="02020603050405020304" pitchFamily="18" charset="0"/>
                <a:ea typeface="SimSun"/>
                <a:cs typeface="Times New Roman" panose="02020603050405020304" pitchFamily="18" charset="0"/>
              </a:rPr>
              <a:t>The total spray flow rate, Q, is uniformly distributed over any spherical surface </a:t>
            </a:r>
            <a:r>
              <a:rPr lang="en-HK" sz="1700" dirty="0" err="1">
                <a:latin typeface="Times New Roman" panose="02020603050405020304" pitchFamily="18" charset="0"/>
                <a:ea typeface="SimSun"/>
                <a:cs typeface="Times New Roman" panose="02020603050405020304" pitchFamily="18" charset="0"/>
              </a:rPr>
              <a:t>centered</a:t>
            </a:r>
            <a:r>
              <a:rPr lang="en-HK" sz="1700" dirty="0">
                <a:latin typeface="Times New Roman" panose="02020603050405020304" pitchFamily="18" charset="0"/>
                <a:ea typeface="SimSun"/>
                <a:cs typeface="Times New Roman" panose="02020603050405020304" pitchFamily="18" charset="0"/>
              </a:rPr>
              <a:t> at the spray orifice.</a:t>
            </a:r>
            <a:br/>
            <a:r>
              <a:rPr sz="1394" lang="zh-CN">
                <a:solidFill>
                  <a:srgbClr val="24425A"/>
                </a:solidFill>
                <a:latin typeface="Times New Roman"/>
                <a:ea typeface="SimSun"/>
                <a:cs typeface="Times New Roman"/>
              </a:rPr>
              <a:t>总喷淋流量 Q 在以喷口为球心的任一球面上均匀分布。</a:t>
            </a:r>
          </a:p>
        </p:txBody>
      </p:sp>
      <p:sp>
        <p:nvSpPr>
          <p:cNvPr id="23" name="文本框 22">
            <a:extLst>
              <a:ext uri="{FF2B5EF4-FFF2-40B4-BE49-F238E27FC236}">
                <a16:creationId xmlns:a16="http://schemas.microsoft.com/office/drawing/2014/main" id="{3A92D006-AA92-4C25-A9DD-5947F2234E6F}"/>
              </a:ext>
            </a:extLst>
          </p:cNvPr>
          <p:cNvSpPr txBox="1"/>
          <p:nvPr/>
        </p:nvSpPr>
        <p:spPr>
          <a:xfrm>
            <a:off x="1219312" y="5138950"/>
            <a:ext cx="10098341" cy="1128450"/>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However, the results we obtain do not necessitate </a:t>
            </a:r>
            <a:r>
              <a:rPr lang="en-HK" altLang="zh-CN" sz="1350"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fine-grained precision </a:t>
            </a: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at every line and point, but rather within individual small grids. The </a:t>
            </a:r>
            <a:r>
              <a:rPr lang="en-HK" altLang="zh-CN" sz="1350"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foundational model </a:t>
            </a: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has already been validated, and the model we are using has also been successfully verified. To achieve more accurate analysis, we have employed the </a:t>
            </a:r>
            <a:r>
              <a:rPr lang="en-HK" altLang="zh-CN" sz="1350"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Discrete Phase Model (DPM) </a:t>
            </a:r>
            <a:r>
              <a:rPr lang="en-HK" altLang="zh-CN" sz="1350" dirty="0">
                <a:latin typeface="Times New Roman" panose="02020603050405020304" pitchFamily="18" charset="0"/>
                <a:ea typeface="SimSun" panose="02010600030101010101" pitchFamily="2" charset="-122"/>
                <a:cs typeface="Times New Roman" panose="02020603050405020304" pitchFamily="18" charset="0"/>
              </a:rPr>
              <a:t>in subsequent models to simulate the dispersion of spray droplets.</a:t>
            </a:r>
            <a:br/>
            <a:r>
              <a:rPr sz="1107" lang="zh-CN">
                <a:solidFill>
                  <a:srgbClr val="24425A"/>
                </a:solidFill>
                <a:latin typeface="Times New Roman"/>
                <a:ea typeface="SimSun"/>
                <a:cs typeface="Times New Roman"/>
              </a:rPr>
              <a:t>本研究关注各微小网格内的平均结果，而非每条线、每个点的精细分布。基础模型与本研究模型均已通过验证。为提高分析精度，后续模型采用离散相模型（DPM）模拟喷雾液滴的弥散过程。</a:t>
            </a:r>
          </a:p>
        </p:txBody>
      </p:sp>
      <p:sp>
        <p:nvSpPr>
          <p:cNvPr id="24" name="矩形 23">
            <a:extLst>
              <a:ext uri="{FF2B5EF4-FFF2-40B4-BE49-F238E27FC236}">
                <a16:creationId xmlns:a16="http://schemas.microsoft.com/office/drawing/2014/main" id="{AC39DB47-7C7D-4D48-B6E0-93C6E5F05628}"/>
              </a:ext>
            </a:extLst>
          </p:cNvPr>
          <p:cNvSpPr/>
          <p:nvPr/>
        </p:nvSpPr>
        <p:spPr bwMode="auto">
          <a:xfrm>
            <a:off x="5207748" y="1439745"/>
            <a:ext cx="5830366" cy="1177086"/>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Tree>
    <p:extLst>
      <p:ext uri="{BB962C8B-B14F-4D97-AF65-F5344CB8AC3E}">
        <p14:creationId xmlns:p14="http://schemas.microsoft.com/office/powerpoint/2010/main" val="23031893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491236"/>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lgn="l">
              <a:buClrTx/>
              <a:buFont typeface="Wingdings" panose="05000000000000000000" pitchFamily="2" charset="2"/>
              <a:buChar char="Ø"/>
              <a:defRPr>
                <a:latin typeface="Times New Roman"/>
                <a:ea typeface="SimSun"/>
                <a:cs typeface="Times New Roman"/>
              </a:defRPr>
              <a:lnSpc>
                <a:spcPct val="108000"/>
              </a:lnSpc>
              <a:spcAft>
                <a:spcPts val="300"/>
              </a:spcAft>
            </a:pPr>
            <a:r>
              <a:rPr lang="en-US" altLang="en-US" sz="1300" b="1" kern="0" dirty="0">
                <a:latin typeface="Times New Roman" panose="02020603050405020304" pitchFamily="18" charset="0"/>
                <a:ea typeface="SimSun"/>
                <a:cs typeface="Times New Roman" panose="02020603050405020304" pitchFamily="18" charset="0"/>
              </a:rPr>
              <a:t>Specific gaps in the four configurations</a:t>
            </a:r>
            <a:r>
              <a:rPr sz="1066" lang="zh-CN">
                <a:solidFill>
                  <a:srgbClr val="24425A"/>
                </a:solidFill>
                <a:latin typeface="Times New Roman"/>
                <a:ea typeface="SimSun"/>
                <a:cs typeface="Times New Roman"/>
              </a:rPr>
              <a:t>  四种布置方案的性能差异</a:t>
            </a:r>
          </a:p>
        </p:txBody>
      </p:sp>
      <p:sp>
        <p:nvSpPr>
          <p:cNvPr id="10" name="文本框 9">
            <a:extLst>
              <a:ext uri="{FF2B5EF4-FFF2-40B4-BE49-F238E27FC236}">
                <a16:creationId xmlns:a16="http://schemas.microsoft.com/office/drawing/2014/main" id="{F6E5958E-E7A8-8206-F4C3-2DB88B2C8BC3}"/>
              </a:ext>
            </a:extLst>
          </p:cNvPr>
          <p:cNvSpPr txBox="1"/>
          <p:nvPr/>
        </p:nvSpPr>
        <p:spPr>
          <a:xfrm>
            <a:off x="3371682" y="5024765"/>
            <a:ext cx="4895850" cy="280270"/>
          </a:xfrm>
          <a:prstGeom prst="rect">
            <a:avLst/>
          </a:prstGeom>
          <a:noFill/>
        </p:spPr>
        <p:txBody>
          <a:bodyPr wrap="square">
            <a:spAutoFit/>
          </a:bodyPr>
          <a:lstStyle/>
          <a:p>
            <a:pPr algn="ctr">
              <a:lnSpc>
                <a:spcPct val="107000"/>
              </a:lnSpc>
              <a:spcAft>
                <a:spcPts val="8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Fig. 8.5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The coverage ratio and outlet temperature of four configurations</a:t>
            </a:r>
            <a:endParaRPr lang="zh-CN" altLang="zh-CN" sz="12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1891380" y="5437664"/>
            <a:ext cx="8754206" cy="967573"/>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temperature drop </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follows the same trend as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the water film coverage coefficient</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a:t>
            </a:r>
            <a:br/>
            <a:r>
              <a:rPr sz="1025" lang="zh-CN">
                <a:solidFill>
                  <a:srgbClr val="24425A"/>
                </a:solidFill>
                <a:latin typeface="Times New Roman"/>
                <a:ea typeface="SimSun"/>
                <a:cs typeface="Times New Roman"/>
              </a:rPr>
              <a:t>温降与水膜覆盖系数呈相同变化趋势。</a:t>
            </a:r>
          </a:p>
          <a:p>
            <a:pPr marL="285750" indent="-285750" algn="l">
              <a:buFont typeface="Arial" panose="020B0604020202020204" pitchFamily="34" charset="0"/>
              <a:buChar char="•"/>
              <a:lnSpc>
                <a:spcPct val="108000"/>
              </a:lnSpc>
              <a:spcAft>
                <a:spcPts val="300"/>
              </a:spcAft>
            </a:pP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The best results are achieved in the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upper side</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 configuration, with a </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59.2% </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and</a:t>
            </a:r>
            <a:r>
              <a:rPr lang="en-US" altLang="zh-CN" sz="12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 27.4% </a:t>
            </a:r>
            <a:r>
              <a:rPr lang="en-US" altLang="zh-CN" sz="1250" dirty="0">
                <a:latin typeface="Times New Roman" panose="02020603050405020304" pitchFamily="18" charset="0"/>
                <a:ea typeface="SimSun" panose="02010600030101010101" pitchFamily="2" charset="-122"/>
                <a:cs typeface="Times New Roman" panose="02020603050405020304" pitchFamily="18" charset="0"/>
              </a:rPr>
              <a:t>improvement compared to the worst one. </a:t>
            </a:r>
            <a:br/>
            <a:r>
              <a:rPr sz="1025" lang="zh-CN">
                <a:solidFill>
                  <a:srgbClr val="24425A"/>
                </a:solidFill>
                <a:latin typeface="Times New Roman"/>
                <a:ea typeface="SimSun"/>
                <a:cs typeface="Times New Roman"/>
              </a:rPr>
              <a:t>上侧布置的效果最佳；与最差方案相比，两项性能指标分别提升 59.2% 和 27.4%。</a:t>
            </a: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62</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A0558D33-4505-4D7C-801F-DDEC2DE4CC81}"/>
              </a:ext>
            </a:extLst>
          </p:cNvPr>
          <p:cNvGraphicFramePr>
            <a:graphicFrameLocks noChangeAspect="1"/>
          </p:cNvGraphicFramePr>
          <p:nvPr/>
        </p:nvGraphicFramePr>
        <p:xfrm>
          <a:off x="3212064" y="1485357"/>
          <a:ext cx="4895851" cy="3685641"/>
        </p:xfrm>
        <a:graphic>
          <a:graphicData uri="http://schemas.openxmlformats.org/presentationml/2006/ole">
            <mc:AlternateContent xmlns:mc="http://schemas.openxmlformats.org/markup-compatibility/2006">
              <mc:Choice xmlns:v="urn:schemas-microsoft-com:vml" Requires="v">
                <p:oleObj name="Graph" r:id="rId3" imgW="6662246" imgH="5004486" progId="Origin95.Graph">
                  <p:embed/>
                </p:oleObj>
              </mc:Choice>
              <mc:Fallback>
                <p:oleObj name="Graph" r:id="rId3" imgW="6662246" imgH="5004486" progId="Origin95.Graph">
                  <p:embed/>
                  <p:pic>
                    <p:nvPicPr>
                      <p:cNvPr id="13" name="对象 12">
                        <a:extLst>
                          <a:ext uri="{FF2B5EF4-FFF2-40B4-BE49-F238E27FC236}">
                            <a16:creationId xmlns:a16="http://schemas.microsoft.com/office/drawing/2014/main" id="{A0558D33-4505-4D7C-801F-DDEC2DE4C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064" y="1485357"/>
                        <a:ext cx="4895851" cy="3685641"/>
                      </a:xfrm>
                      <a:prstGeom prst="rect">
                        <a:avLst/>
                      </a:prstGeom>
                      <a:noFill/>
                    </p:spPr>
                  </p:pic>
                </p:oleObj>
              </mc:Fallback>
            </mc:AlternateContent>
          </a:graphicData>
        </a:graphic>
      </p:graphicFrame>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spTree>
    <p:extLst>
      <p:ext uri="{BB962C8B-B14F-4D97-AF65-F5344CB8AC3E}">
        <p14:creationId xmlns:p14="http://schemas.microsoft.com/office/powerpoint/2010/main" val="237114335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lgn="l">
              <a:buClrTx/>
              <a:buFont typeface="Wingdings" panose="05000000000000000000" pitchFamily="2" charset="2"/>
              <a:buChar char="Ø"/>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IEC-ANN model</a:t>
            </a:r>
            <a:r>
              <a:rPr sz="1230" lang="zh-CN">
                <a:solidFill>
                  <a:srgbClr val="24425A"/>
                </a:solidFill>
                <a:latin typeface="Times New Roman"/>
                <a:ea typeface="SimSun"/>
                <a:cs typeface="Times New Roman"/>
              </a:rPr>
              <a:t>  IEC–ANN 模型</a:t>
            </a:r>
          </a:p>
        </p:txBody>
      </p:sp>
      <p:sp>
        <p:nvSpPr>
          <p:cNvPr id="12" name="文本框 11">
            <a:extLst>
              <a:ext uri="{FF2B5EF4-FFF2-40B4-BE49-F238E27FC236}">
                <a16:creationId xmlns:a16="http://schemas.microsoft.com/office/drawing/2014/main" id="{5A6E6B83-037F-337A-2F2C-BA728907C8FA}"/>
              </a:ext>
            </a:extLst>
          </p:cNvPr>
          <p:cNvSpPr txBox="1"/>
          <p:nvPr/>
        </p:nvSpPr>
        <p:spPr>
          <a:xfrm>
            <a:off x="6268483" y="1660745"/>
            <a:ext cx="5222033" cy="4578706"/>
          </a:xfrm>
          <a:prstGeom prst="rect">
            <a:avLst/>
          </a:prstGeom>
          <a:noFill/>
        </p:spPr>
        <p:txBody>
          <a:bodyPr wrap="square" tIns="0" bIns="0">
            <a:noAutofit/>
          </a:bodyPr>
          <a:lstStyle/>
          <a:p>
            <a:pPr marL="285750" indent="-285750" algn="l">
              <a:buFont typeface="Arial" panose="020B0604020202020204" pitchFamily="34" charset="0"/>
              <a:buChar char="•"/>
              <a:lnSpc>
                <a:spcPct val="108000"/>
              </a:lnSpc>
              <a:spcAft>
                <a:spcPts val="300"/>
              </a:spcAft>
            </a:pPr>
            <a:r>
              <a:rPr lang="en-HK" altLang="zh-CN" sz="1600" b="1" dirty="0">
                <a:latin typeface="Times New Roman" panose="02020603050405020304" pitchFamily="18" charset="0"/>
                <a:ea typeface="SimSun" panose="02010600030101010101" pitchFamily="2" charset="-122"/>
                <a:cs typeface="Times New Roman" panose="02020603050405020304" pitchFamily="18" charset="0"/>
              </a:rPr>
              <a:t>Accurate measurements: </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Use precise instruments to collect data. Regularly maintain equipment to ensure consistent accuracy.</a:t>
            </a:r>
            <a:br/>
            <a:r>
              <a:rPr sz="1312" lang="zh-CN">
                <a:solidFill>
                  <a:srgbClr val="24425A"/>
                </a:solidFill>
                <a:latin typeface="Times New Roman"/>
                <a:ea typeface="SimSun"/>
                <a:cs typeface="Times New Roman"/>
              </a:rPr>
              <a:t>精确测量：采用高精度仪器采集数据，并定期维护设备。</a:t>
            </a:r>
          </a:p>
          <a:p>
            <a:pPr marL="285750" indent="-285750" algn="l">
              <a:buFont typeface="Arial" panose="020B0604020202020204" pitchFamily="34" charset="0"/>
              <a:buChar char="•"/>
              <a:lnSpc>
                <a:spcPct val="108000"/>
              </a:lnSpc>
              <a:spcAft>
                <a:spcPts val="300"/>
              </a:spcAft>
            </a:pPr>
            <a:r>
              <a:rPr lang="en-HK" altLang="zh-CN" sz="1600" b="1" dirty="0">
                <a:latin typeface="Times New Roman" panose="02020603050405020304" pitchFamily="18" charset="0"/>
                <a:ea typeface="SimSun" panose="02010600030101010101" pitchFamily="2" charset="-122"/>
                <a:cs typeface="Times New Roman" panose="02020603050405020304" pitchFamily="18" charset="0"/>
              </a:rPr>
              <a:t>Replication and Validation</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 Conduct multiple trials and replicate experiments to validate results.</a:t>
            </a:r>
            <a:br/>
            <a:r>
              <a:rPr sz="1312" lang="zh-CN">
                <a:solidFill>
                  <a:srgbClr val="24425A"/>
                </a:solidFill>
                <a:latin typeface="Times New Roman"/>
                <a:ea typeface="SimSun"/>
                <a:cs typeface="Times New Roman"/>
              </a:rPr>
              <a:t>重复与验证：开展多次重复实验，验证结果的可靠性。</a:t>
            </a:r>
          </a:p>
          <a:p>
            <a:pPr marL="285750" indent="-285750" algn="l">
              <a:buFont typeface="Arial" panose="020B0604020202020204" pitchFamily="34" charset="0"/>
              <a:buChar char="•"/>
              <a:lnSpc>
                <a:spcPct val="108000"/>
              </a:lnSpc>
              <a:spcAft>
                <a:spcPts val="300"/>
              </a:spcAft>
            </a:pPr>
            <a:r>
              <a:rPr lang="en-HK" altLang="zh-CN" sz="1600" b="1" dirty="0">
                <a:latin typeface="Times New Roman" panose="02020603050405020304" pitchFamily="18" charset="0"/>
                <a:ea typeface="SimSun" panose="02010600030101010101" pitchFamily="2" charset="-122"/>
                <a:cs typeface="Times New Roman" panose="02020603050405020304" pitchFamily="18" charset="0"/>
              </a:rPr>
              <a:t>Normalization and standardization</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 Normalize data to ensure that different features contribute equally to the model training process.</a:t>
            </a:r>
            <a:br/>
            <a:r>
              <a:rPr sz="1312" lang="zh-CN">
                <a:solidFill>
                  <a:srgbClr val="24425A"/>
                </a:solidFill>
                <a:latin typeface="Times New Roman"/>
                <a:ea typeface="SimSun"/>
                <a:cs typeface="Times New Roman"/>
              </a:rPr>
              <a:t>归一化与标准化：统一特征尺度，避免不同量纲影响模型训练。</a:t>
            </a:r>
          </a:p>
          <a:p>
            <a:pPr marL="285750" indent="-285750" algn="l">
              <a:buFont typeface="Arial" panose="020B0604020202020204" pitchFamily="34" charset="0"/>
              <a:buChar char="•"/>
              <a:lnSpc>
                <a:spcPct val="108000"/>
              </a:lnSpc>
              <a:spcAft>
                <a:spcPts val="300"/>
              </a:spcAft>
            </a:pPr>
            <a:r>
              <a:rPr lang="en-HK" altLang="zh-CN" sz="1600" b="1" dirty="0">
                <a:latin typeface="Times New Roman" panose="02020603050405020304" pitchFamily="18" charset="0"/>
                <a:ea typeface="SimSun" panose="02010600030101010101" pitchFamily="2" charset="-122"/>
                <a:cs typeface="Times New Roman" panose="02020603050405020304" pitchFamily="18" charset="0"/>
              </a:rPr>
              <a:t>Cross-Validation: </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Use cross-validation techniques to assess the performance of the machine learning model. This helps in ensuring that the model generalizes well to unseen data.</a:t>
            </a:r>
            <a:br/>
            <a:r>
              <a:rPr sz="1312" lang="zh-CN">
                <a:solidFill>
                  <a:srgbClr val="24425A"/>
                </a:solidFill>
                <a:latin typeface="Times New Roman"/>
                <a:ea typeface="SimSun"/>
                <a:cs typeface="Times New Roman"/>
              </a:rPr>
              <a:t>交叉验证：评估模型对未见数据的泛化能力。</a:t>
            </a:r>
          </a:p>
          <a:p>
            <a:pPr marL="285750" indent="-285750" algn="l">
              <a:buFont typeface="Arial" panose="020B0604020202020204" pitchFamily="34" charset="0"/>
              <a:buChar char="•"/>
              <a:lnSpc>
                <a:spcPct val="108000"/>
              </a:lnSpc>
              <a:spcAft>
                <a:spcPts val="300"/>
              </a:spcAft>
            </a:pPr>
            <a:r>
              <a:rPr lang="en-HK" altLang="zh-CN" sz="1600" b="1" dirty="0">
                <a:latin typeface="Times New Roman" panose="02020603050405020304" pitchFamily="18" charset="0"/>
                <a:ea typeface="SimSun" panose="02010600030101010101" pitchFamily="2" charset="-122"/>
                <a:cs typeface="Times New Roman" panose="02020603050405020304" pitchFamily="18" charset="0"/>
              </a:rPr>
              <a:t>Evaluation metrics: </a:t>
            </a: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The reliability of the model was verified with the evaluation parameters</a:t>
            </a:r>
            <a:br/>
            <a:r>
              <a:rPr sz="1312" lang="zh-CN">
                <a:solidFill>
                  <a:srgbClr val="24425A"/>
                </a:solidFill>
                <a:latin typeface="Times New Roman"/>
                <a:ea typeface="SimSun"/>
                <a:cs typeface="Times New Roman"/>
              </a:rPr>
              <a:t>评价指标：采用模型评价参数验证预测可靠性。</a:t>
            </a: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63</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pic>
        <p:nvPicPr>
          <p:cNvPr id="25" name="图片 24">
            <a:extLst>
              <a:ext uri="{FF2B5EF4-FFF2-40B4-BE49-F238E27FC236}">
                <a16:creationId xmlns:a16="http://schemas.microsoft.com/office/drawing/2014/main" id="{94BC13B0-4A28-422E-A87C-E913D3996445}"/>
              </a:ext>
            </a:extLst>
          </p:cNvPr>
          <p:cNvPicPr/>
          <p:nvPr/>
        </p:nvPicPr>
        <p:blipFill>
          <a:blip r:embed="rId3">
            <a:extLst>
              <a:ext uri="{28A0092B-C50C-407E-A947-70E740481C1C}">
                <a14:useLocalDpi xmlns:a14="http://schemas.microsoft.com/office/drawing/2010/main" val="0"/>
              </a:ext>
            </a:extLst>
          </a:blip>
          <a:stretch>
            <a:fillRect/>
          </a:stretch>
        </p:blipFill>
        <p:spPr>
          <a:xfrm>
            <a:off x="410447" y="1746191"/>
            <a:ext cx="5513070" cy="3779520"/>
          </a:xfrm>
          <a:prstGeom prst="rect">
            <a:avLst/>
          </a:prstGeom>
        </p:spPr>
      </p:pic>
      <p:sp>
        <p:nvSpPr>
          <p:cNvPr id="26" name="矩形 25">
            <a:extLst>
              <a:ext uri="{FF2B5EF4-FFF2-40B4-BE49-F238E27FC236}">
                <a16:creationId xmlns:a16="http://schemas.microsoft.com/office/drawing/2014/main" id="{DF470D1D-9E7F-4D72-A435-F6956581D399}"/>
              </a:ext>
            </a:extLst>
          </p:cNvPr>
          <p:cNvSpPr/>
          <p:nvPr/>
        </p:nvSpPr>
        <p:spPr>
          <a:xfrm>
            <a:off x="1962612" y="5501922"/>
            <a:ext cx="3246851"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Fig.8.6 </a:t>
            </a:r>
            <a:r>
              <a:rPr lang="en-HK" sz="1200" dirty="0">
                <a:solidFill>
                  <a:prstClr val="black"/>
                </a:solidFill>
                <a:latin typeface="Times New Roman" panose="02020603050405020304" pitchFamily="18" charset="0"/>
                <a:ea typeface="SimSun"/>
                <a:cs typeface="Times New Roman" panose="02020603050405020304" pitchFamily="18" charset="0"/>
              </a:rPr>
              <a:t>Structure of the IEC-ANN model</a:t>
            </a:r>
          </a:p>
        </p:txBody>
      </p:sp>
    </p:spTree>
    <p:extLst>
      <p:ext uri="{BB962C8B-B14F-4D97-AF65-F5344CB8AC3E}">
        <p14:creationId xmlns:p14="http://schemas.microsoft.com/office/powerpoint/2010/main" val="153008397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wrap="square" tIns="0" bIns="0">
            <a:noAutofit/>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lgn="l">
              <a:buClrTx/>
              <a:buFont typeface="Wingdings" panose="05000000000000000000" pitchFamily="2" charset="2"/>
              <a:buChar char="Ø"/>
              <a:defRPr>
                <a:latin typeface="Times New Roman"/>
                <a:ea typeface="SimSun"/>
                <a:cs typeface="Times New Roman"/>
              </a:defRPr>
              <a:lnSpc>
                <a:spcPct val="108000"/>
              </a:lnSpc>
              <a:spcAft>
                <a:spcPts val="300"/>
              </a:spcAft>
            </a:pPr>
            <a:r>
              <a:rPr lang="en-US" altLang="en-US" sz="1500" b="1" kern="0" dirty="0">
                <a:latin typeface="Times New Roman" panose="02020603050405020304" pitchFamily="18" charset="0"/>
                <a:ea typeface="SimSun"/>
                <a:cs typeface="Times New Roman" panose="02020603050405020304" pitchFamily="18" charset="0"/>
              </a:rPr>
              <a:t>Validation of the film thickness</a:t>
            </a:r>
            <a:r>
              <a:rPr sz="1230" lang="zh-CN">
                <a:solidFill>
                  <a:srgbClr val="24425A"/>
                </a:solidFill>
                <a:latin typeface="Times New Roman"/>
                <a:ea typeface="SimSun"/>
                <a:cs typeface="Times New Roman"/>
              </a:rPr>
              <a:t>  水膜厚度验证</a:t>
            </a: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64</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97565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l" eaLnBrk="1" hangingPunct="1">
              <a:buClr>
                <a:srgbClr val="0099FF"/>
              </a:buClr>
              <a:lnSpc>
                <a:spcPct val="108000"/>
              </a:lnSpc>
              <a:spcAft>
                <a:spcPts val="300"/>
              </a:spcAft>
            </a:pPr>
            <a:r>
              <a:rPr lang="en-US" altLang="zh-CN" sz="2200" b="1" dirty="0">
                <a:latin typeface="Times New Roman" panose="02020603050405020304" pitchFamily="18" charset="0"/>
                <a:ea typeface="SimSun"/>
                <a:cs typeface="Times New Roman" panose="02020603050405020304" pitchFamily="18" charset="0"/>
              </a:rPr>
              <a:t>Appendix</a:t>
            </a:r>
            <a:r>
              <a:rPr sz="1804" lang="zh-CN" b="1">
                <a:solidFill>
                  <a:srgbClr val="24425A"/>
                </a:solidFill>
                <a:latin typeface="Times New Roman"/>
                <a:ea typeface="SimSun"/>
                <a:cs typeface="Times New Roman"/>
              </a:rPr>
              <a:t>  附录</a:t>
            </a:r>
          </a:p>
        </p:txBody>
      </p:sp>
      <p:graphicFrame>
        <p:nvGraphicFramePr>
          <p:cNvPr id="8" name="对象 7">
            <a:extLst>
              <a:ext uri="{FF2B5EF4-FFF2-40B4-BE49-F238E27FC236}">
                <a16:creationId xmlns:a16="http://schemas.microsoft.com/office/drawing/2014/main" id="{D5119FC1-DE95-4D40-81E9-985D8969E4BF}"/>
              </a:ext>
            </a:extLst>
          </p:cNvPr>
          <p:cNvGraphicFramePr>
            <a:graphicFrameLocks noChangeAspect="1"/>
          </p:cNvGraphicFramePr>
          <p:nvPr>
            <p:extLst>
              <p:ext uri="{D42A27DB-BD31-4B8C-83A1-F6EECF244321}">
                <p14:modId xmlns:p14="http://schemas.microsoft.com/office/powerpoint/2010/main" val="3488640969"/>
              </p:ext>
            </p:extLst>
          </p:nvPr>
        </p:nvGraphicFramePr>
        <p:xfrm>
          <a:off x="3914607" y="1340418"/>
          <a:ext cx="3810000" cy="3216275"/>
        </p:xfrm>
        <a:graphic>
          <a:graphicData uri="http://schemas.openxmlformats.org/presentationml/2006/ole">
            <mc:AlternateContent xmlns:mc="http://schemas.openxmlformats.org/markup-compatibility/2006">
              <mc:Choice xmlns:v="urn:schemas-microsoft-com:vml" Requires="v">
                <p:oleObj name="Graph" r:id="rId3" imgW="6246376" imgH="5282235" progId="Origin95.Graph">
                  <p:embed/>
                </p:oleObj>
              </mc:Choice>
              <mc:Fallback>
                <p:oleObj name="Graph" r:id="rId3" imgW="6246376" imgH="5282235" progId="Origin95.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607" y="1340418"/>
                        <a:ext cx="3810000" cy="321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3">
            <a:extLst>
              <a:ext uri="{FF2B5EF4-FFF2-40B4-BE49-F238E27FC236}">
                <a16:creationId xmlns:a16="http://schemas.microsoft.com/office/drawing/2014/main" id="{4E3D6147-4C76-42AA-B17D-C4B6E87525EC}"/>
              </a:ext>
            </a:extLst>
          </p:cNvPr>
          <p:cNvSpPr>
            <a:spLocks noChangeArrowheads="1"/>
          </p:cNvSpPr>
          <p:nvPr/>
        </p:nvSpPr>
        <p:spPr bwMode="auto">
          <a:xfrm>
            <a:off x="3116146" y="4460937"/>
            <a:ext cx="59597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b="1" dirty="0" bmk="_Toc168350228">
                <a:latin typeface="Times New Roman" panose="02020603050405020304" pitchFamily="18" charset="0"/>
                <a:ea typeface="SimSun" panose="02010600030101010101" pitchFamily="2" charset="-122"/>
                <a:cs typeface="Times New Roman" panose="02020603050405020304" pitchFamily="18" charset="0"/>
              </a:rPr>
              <a:t>Fig. 8.7 </a:t>
            </a:r>
            <a:r>
              <a:rPr lang="en-US" altLang="en-US" sz="1200" dirty="0" err="1" bmk="_Toc168350228">
                <a:latin typeface="Times New Roman" panose="02020603050405020304" pitchFamily="18" charset="0"/>
                <a:ea typeface="SimSun" panose="02010600030101010101" pitchFamily="2" charset="-122"/>
                <a:cs typeface="Times New Roman" panose="02020603050405020304" pitchFamily="18" charset="0"/>
              </a:rPr>
              <a:t>Valdation</a:t>
            </a:r>
            <a:r>
              <a:rPr lang="en-US" altLang="en-US" sz="1200" dirty="0" bmk="_Toc168350228">
                <a:latin typeface="Times New Roman" panose="02020603050405020304" pitchFamily="18" charset="0"/>
                <a:ea typeface="SimSun" panose="02010600030101010101" pitchFamily="2" charset="-122"/>
                <a:cs typeface="Times New Roman" panose="02020603050405020304" pitchFamily="18" charset="0"/>
              </a:rPr>
              <a:t> of film thickness between simulation results and Nusselt empirical formula</a:t>
            </a:r>
            <a:endParaRPr lang="en-US" altLang="en-US" sz="12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4" name="图片 13">
            <a:extLst>
              <a:ext uri="{FF2B5EF4-FFF2-40B4-BE49-F238E27FC236}">
                <a16:creationId xmlns:a16="http://schemas.microsoft.com/office/drawing/2014/main" id="{5FD60F98-ACFF-41DC-B62B-D643BCE5C681}"/>
              </a:ext>
            </a:extLst>
          </p:cNvPr>
          <p:cNvPicPr>
            <a:picLocks noChangeAspect="1"/>
          </p:cNvPicPr>
          <p:nvPr/>
        </p:nvPicPr>
        <p:blipFill>
          <a:blip r:embed="rId5"/>
          <a:stretch>
            <a:fillRect/>
          </a:stretch>
        </p:blipFill>
        <p:spPr>
          <a:xfrm>
            <a:off x="1326804" y="2786825"/>
            <a:ext cx="2468359" cy="642175"/>
          </a:xfrm>
          <a:prstGeom prst="rect">
            <a:avLst/>
          </a:prstGeom>
        </p:spPr>
      </p:pic>
      <p:pic>
        <p:nvPicPr>
          <p:cNvPr id="21" name="图片 20">
            <a:extLst>
              <a:ext uri="{FF2B5EF4-FFF2-40B4-BE49-F238E27FC236}">
                <a16:creationId xmlns:a16="http://schemas.microsoft.com/office/drawing/2014/main" id="{8B772533-C987-4453-BCC5-D5778C960FE7}"/>
              </a:ext>
            </a:extLst>
          </p:cNvPr>
          <p:cNvPicPr>
            <a:picLocks noChangeAspect="1"/>
          </p:cNvPicPr>
          <p:nvPr/>
        </p:nvPicPr>
        <p:blipFill>
          <a:blip r:embed="rId6"/>
          <a:stretch>
            <a:fillRect/>
          </a:stretch>
        </p:blipFill>
        <p:spPr>
          <a:xfrm>
            <a:off x="3635560" y="5434987"/>
            <a:ext cx="4847656" cy="906337"/>
          </a:xfrm>
          <a:prstGeom prst="rect">
            <a:avLst/>
          </a:prstGeom>
        </p:spPr>
      </p:pic>
      <p:sp>
        <p:nvSpPr>
          <p:cNvPr id="22" name="文本框 21">
            <a:extLst>
              <a:ext uri="{FF2B5EF4-FFF2-40B4-BE49-F238E27FC236}">
                <a16:creationId xmlns:a16="http://schemas.microsoft.com/office/drawing/2014/main" id="{85402440-9961-409A-BC48-AA94924C7796}"/>
              </a:ext>
            </a:extLst>
          </p:cNvPr>
          <p:cNvSpPr txBox="1"/>
          <p:nvPr/>
        </p:nvSpPr>
        <p:spPr>
          <a:xfrm>
            <a:off x="976980" y="5348561"/>
            <a:ext cx="2298065" cy="551180"/>
          </a:xfrm>
          <a:prstGeom prst="rect">
            <a:avLst/>
          </a:prstGeom>
          <a:noFill/>
        </p:spPr>
        <p:txBody>
          <a:bodyPr wrap="square" tIns="0" bIns="0">
            <a:noAutofit/>
          </a:bodyPr>
          <a:lstStyle/>
          <a:p>
            <a:pPr marL="285750" indent="-285750" algn="l">
              <a:buFont typeface="Wingdings" panose="05000000000000000000" pitchFamily="2" charset="2"/>
              <a:buChar char="Ø"/>
              <a:lnSpc>
                <a:spcPct val="108000"/>
              </a:lnSpc>
              <a:spcAft>
                <a:spcPts val="300"/>
              </a:spcAft>
            </a:pPr>
            <a:r>
              <a:rPr lang="en-US" altLang="zh-CN" sz="1500" dirty="0">
                <a:latin typeface="Times New Roman" panose="02020603050405020304" pitchFamily="18" charset="0"/>
                <a:ea typeface="SimSun" panose="02010600030101010101" pitchFamily="2" charset="-122"/>
                <a:cs typeface="Times New Roman" panose="02020603050405020304" pitchFamily="18" charset="0"/>
              </a:rPr>
              <a:t>Uncertainty analysis:</a:t>
            </a:r>
            <a:r>
              <a:rPr sz="1230" lang="zh-CN">
                <a:solidFill>
                  <a:srgbClr val="24425A"/>
                </a:solidFill>
                <a:latin typeface="Times New Roman"/>
                <a:ea typeface="SimSun"/>
                <a:cs typeface="Times New Roman"/>
              </a:rPr>
              <a:t>  不确定性分析：</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A4FFE56-DB2D-4766-A2FF-992EBB70A6BE}"/>
                  </a:ext>
                </a:extLst>
              </p:cNvPr>
              <p:cNvSpPr txBox="1"/>
              <p:nvPr/>
            </p:nvSpPr>
            <p:spPr>
              <a:xfrm>
                <a:off x="9309100" y="5719307"/>
                <a:ext cx="2298065" cy="338041"/>
              </a:xfrm>
              <a:prstGeom prst="rect">
                <a:avLst/>
              </a:prstGeom>
              <a:noFill/>
            </p:spPr>
            <p:txBody>
              <a:bodyPr wrap="square">
                <a:spAutoFit/>
              </a:bodyPr>
              <a:lstStyle/>
              <a:p>
                <a:pPr algn="just">
                  <a:lnSpc>
                    <a:spcPct val="107000"/>
                  </a:lnSpc>
                  <a:spcAft>
                    <a:spcPts val="800"/>
                  </a:spcAft>
                </a:pPr>
                <a:r>
                  <a:rPr lang="en-US" altLang="zh-CN" sz="1600" i="1" dirty="0">
                    <a:latin typeface="Times New Roman" panose="02020603050405020304" pitchFamily="18" charset="0"/>
                    <a:ea typeface="SimSun" panose="02010600030101010101" pitchFamily="2" charset="-122"/>
                    <a:cs typeface="Times New Roman" panose="02020603050405020304" pitchFamily="18" charset="0"/>
                  </a:rPr>
                  <a:t>Less than </a:t>
                </a:r>
                <a14:m>
                  <m:oMath xmlns:m="http://schemas.openxmlformats.org/officeDocument/2006/math">
                    <m:r>
                      <a:rPr lang="en-US" altLang="zh-CN" sz="1600" i="1" smtClean="0">
                        <a:latin typeface="Times New Roman" panose="02040503050406030204" pitchFamily="18" charset="0"/>
                        <a:ea typeface="SimSun" panose="02040503050406030204" pitchFamily="18" charset="0"/>
                        <a:cs typeface="Times New Roman" panose="02020603050405020304" pitchFamily="18" charset="0"/>
                      </a:rPr>
                      <m:t>±</m:t>
                    </m:r>
                  </m:oMath>
                </a14:m>
                <a:r>
                  <a:rPr lang="en-US" altLang="zh-CN" sz="1600" i="1" dirty="0">
                    <a:latin typeface="Times New Roman" panose="02020603050405020304" pitchFamily="18" charset="0"/>
                    <a:ea typeface="SimSun" panose="02010600030101010101" pitchFamily="2" charset="-122"/>
                    <a:cs typeface="Times New Roman" panose="02020603050405020304" pitchFamily="18" charset="0"/>
                  </a:rPr>
                  <a:t>2.5%</a:t>
                </a:r>
              </a:p>
            </p:txBody>
          </p:sp>
        </mc:Choice>
        <mc:Fallback xmlns="">
          <p:sp>
            <p:nvSpPr>
              <p:cNvPr id="23" name="文本框 22">
                <a:extLst>
                  <a:ext uri="{FF2B5EF4-FFF2-40B4-BE49-F238E27FC236}">
                    <a16:creationId xmlns:a16="http://schemas.microsoft.com/office/drawing/2014/main" id="{9A4FFE56-DB2D-4766-A2FF-992EBB70A6BE}"/>
                  </a:ext>
                </a:extLst>
              </p:cNvPr>
              <p:cNvSpPr txBox="1">
                <a:spLocks noRot="1" noChangeAspect="1" noMove="1" noResize="1" noEditPoints="1" noAdjustHandles="1" noChangeArrowheads="1" noChangeShapeType="1" noTextEdit="1"/>
              </p:cNvSpPr>
              <p:nvPr/>
            </p:nvSpPr>
            <p:spPr>
              <a:xfrm>
                <a:off x="9309100" y="5719307"/>
                <a:ext cx="2298065" cy="338041"/>
              </a:xfrm>
              <a:prstGeom prst="rect">
                <a:avLst/>
              </a:prstGeom>
              <a:blipFill>
                <a:blip r:embed="rId8"/>
                <a:stretch>
                  <a:fillRect l="-1326" t="-5357" b="-21429"/>
                </a:stretch>
              </a:blipFill>
            </p:spPr>
            <p:txBody>
              <a:bodyPr/>
              <a:lstStyle/>
              <a:p>
                <a:r>
                  <a:rPr lang="en-US">
                    <a:noFill/>
                    <a:latin typeface="Times New Roman"/>
                    <a:ea typeface="SimSun"/>
                    <a:cs typeface="Times New Roman"/>
                  </a:rPr>
                  <a:t> </a:t>
                </a:r>
              </a:p>
            </p:txBody>
          </p:sp>
        </mc:Fallback>
      </mc:AlternateContent>
    </p:spTree>
    <p:extLst>
      <p:ext uri="{BB962C8B-B14F-4D97-AF65-F5344CB8AC3E}">
        <p14:creationId xmlns:p14="http://schemas.microsoft.com/office/powerpoint/2010/main" val="39596878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theme/theme1.xml><?xml version="1.0" encoding="utf-8"?>
<a:theme xmlns:a="http://schemas.openxmlformats.org/drawingml/2006/main" name="EBPS Template">
  <a:themeElements>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fontScheme name="EBPS Template">
      <a:majorFont>
        <a:latin typeface="Times New Roman"/>
        <a:ea typeface="SimSun"/>
        <a:cs typeface="Times New Roman"/>
      </a:majorFont>
      <a:minorFont>
        <a:latin typeface="Times New Roman"/>
        <a:ea typeface="SimSu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Times New Roman" charset="0"/>
            <a:ea typeface="SimSun"/>
            <a:cs typeface="Times New Roman"/>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Times New Roman" charset="0"/>
            <a:ea typeface="SimSun"/>
            <a:cs typeface="Times New Roman"/>
          </a:defRPr>
        </a:defPPr>
      </a:lstStyle>
    </a:lnDef>
  </a:objectDefaults>
  <a:extraClrSchemeLst>
    <a:extraClrScheme>
      <a:clrScheme name="EBPS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BPS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BPS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BPS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BPS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BPS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BPS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EBPS Template 8">
        <a:dk1>
          <a:srgbClr val="000000"/>
        </a:dk1>
        <a:lt1>
          <a:srgbClr val="FFFFFF"/>
        </a:lt1>
        <a:dk2>
          <a:srgbClr val="000000"/>
        </a:dk2>
        <a:lt2>
          <a:srgbClr val="FFFFFF"/>
        </a:lt2>
        <a:accent1>
          <a:srgbClr val="5E8AC5"/>
        </a:accent1>
        <a:accent2>
          <a:srgbClr val="3333CC"/>
        </a:accent2>
        <a:accent3>
          <a:srgbClr val="AAAAAA"/>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9">
        <a:dk1>
          <a:srgbClr val="000000"/>
        </a:dk1>
        <a:lt1>
          <a:srgbClr val="FFFFFF"/>
        </a:lt1>
        <a:dk2>
          <a:srgbClr val="5F5F5F"/>
        </a:dk2>
        <a:lt2>
          <a:srgbClr val="FFFFFF"/>
        </a:lt2>
        <a:accent1>
          <a:srgbClr val="5E8AC5"/>
        </a:accent1>
        <a:accent2>
          <a:srgbClr val="3333CC"/>
        </a:accent2>
        <a:accent3>
          <a:srgbClr val="B6B6B6"/>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Times New Roman"/>
        <a:ea typeface="SimSun"/>
        <a:cs typeface="Times New Roman"/>
        <a:font script="Jpan" typeface="ＭＳ Ｐゴシック"/>
        <a:font script="Hang" typeface="맑은 고딕"/>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SimSun"/>
        <a:cs typeface="Times New Roman"/>
        <a:font script="Jpan" typeface="ＭＳ Ｐゴシック"/>
        <a:font script="Hang" typeface="맑은 고딕"/>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Times New Roman"/>
        <a:ea typeface="SimSun"/>
        <a:cs typeface="Times New Roman"/>
        <a:font script="Jpan" typeface="ＭＳ Ｐゴシック"/>
        <a:font script="Hang" typeface="맑은 고딕"/>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SimSun"/>
        <a:cs typeface="Times New Roman"/>
        <a:font script="Jpan" typeface="ＭＳ Ｐゴシック"/>
        <a:font script="Hang" typeface="맑은 고딕"/>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AE2D7EAEC63C4EB9A6CCE48167703A" ma:contentTypeVersion="11" ma:contentTypeDescription="Create a new document." ma:contentTypeScope="" ma:versionID="70f15698264e66e04027c1909e0eec60">
  <xsd:schema xmlns:xsd="http://www.w3.org/2001/XMLSchema" xmlns:xs="http://www.w3.org/2001/XMLSchema" xmlns:p="http://schemas.microsoft.com/office/2006/metadata/properties" xmlns:ns3="78d7862b-e3f7-4a3f-b8de-7e8da3dc00f5" targetNamespace="http://schemas.microsoft.com/office/2006/metadata/properties" ma:root="true" ma:fieldsID="0ee9222f9d4052335be8fc4654c5d93b" ns3:_="">
    <xsd:import namespace="78d7862b-e3f7-4a3f-b8de-7e8da3dc00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d7862b-e3f7-4a3f-b8de-7e8da3dc00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D513AF-6D58-416C-9136-CD82D9B364A5}">
  <ds:schemaRefs>
    <ds:schemaRef ds:uri="http://purl.org/dc/terms/"/>
    <ds:schemaRef ds:uri="http://schemas.microsoft.com/office/infopath/2007/PartnerControls"/>
    <ds:schemaRef ds:uri="http://purl.org/dc/dcmitype/"/>
    <ds:schemaRef ds:uri="http://schemas.microsoft.com/office/2006/documentManagement/types"/>
    <ds:schemaRef ds:uri="78d7862b-e3f7-4a3f-b8de-7e8da3dc00f5"/>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8D17963-6BF6-40F3-902C-7AE728A366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d7862b-e3f7-4a3f-b8de-7e8da3dc00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8F1482-78C7-4663-8EFF-B922E2EA20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Foundry</Template>
  <TotalTime>15686</TotalTime>
  <Words>6467</Words>
  <Application>Microsoft Office PowerPoint</Application>
  <PresentationFormat>宽屏</PresentationFormat>
  <Paragraphs>872</Paragraphs>
  <Slides>64</Slides>
  <Notes>61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7" baseType="lpstr">
      <vt:lpstr>Arial Unicode MS</vt:lpstr>
      <vt:lpstr>等线</vt:lpstr>
      <vt:lpstr>Arial</vt:lpstr>
      <vt:lpstr>Calibri</vt:lpstr>
      <vt:lpstr>Cambria Math</vt:lpstr>
      <vt:lpstr>Helvetica</vt:lpstr>
      <vt:lpstr>Tahoma</vt:lpstr>
      <vt:lpstr>Times</vt:lpstr>
      <vt:lpstr>Times New Roman</vt:lpstr>
      <vt:lpstr>Wingdings</vt:lpstr>
      <vt:lpstr>EBPS Template</vt:lpstr>
      <vt:lpstr>Visio</vt:lpstr>
      <vt:lpstr>Graph</vt:lpstr>
      <vt:lpstr>Development of new water spray strategies for improving the energy performance of indirect evaporative cooling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lpstr>PowerPoint 演示文稿</vt:lpstr>
      <vt:lpstr>PowerPoint 演示文稿</vt:lpstr>
      <vt:lpstr>PowerPoint 演示文稿</vt:lpstr>
      <vt:lpstr>PowerPoint 演示文稿</vt:lpstr>
    </vt:vector>
  </TitlesOfParts>
  <Company>Sharat Naik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Xiaochen MA</cp:lastModifiedBy>
  <cp:revision>380</cp:revision>
  <cp:lastPrinted>2020-11-02T12:22:48Z</cp:lastPrinted>
  <dcterms:created xsi:type="dcterms:W3CDTF">2000-03-11T19:50:14Z</dcterms:created>
  <dcterms:modified xsi:type="dcterms:W3CDTF">2026-10-26T00:20:06Z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0x010100DFAE2D7EAEC63C4EB9A6CCE48167703A</vt:lpwstr>
  </property>
</Properties>
</file>