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13">
  <p:sldMasterIdLst>
    <p:sldMasterId id="2147485796" r:id="rId4"/>
  </p:sldMasterIdLst>
  <p:notesMasterIdLst>
    <p:notesMasterId r:id="rId69"/>
  </p:notesMasterIdLst>
  <p:handoutMasterIdLst>
    <p:handoutMasterId r:id="rId70"/>
  </p:handoutMasterIdLst>
  <p:sldIdLst>
    <p:sldId id="407" r:id="rId5"/>
    <p:sldId id="863" r:id="rId6"/>
    <p:sldId id="864" r:id="rId7"/>
    <p:sldId id="427" r:id="rId8"/>
    <p:sldId id="428" r:id="rId9"/>
    <p:sldId id="873" r:id="rId10"/>
    <p:sldId id="429" r:id="rId11"/>
    <p:sldId id="430" r:id="rId12"/>
    <p:sldId id="453" r:id="rId13"/>
    <p:sldId id="480" r:id="rId14"/>
    <p:sldId id="840" r:id="rId15"/>
    <p:sldId id="432" r:id="rId16"/>
    <p:sldId id="793" r:id="rId17"/>
    <p:sldId id="857" r:id="rId18"/>
    <p:sldId id="865" r:id="rId19"/>
    <p:sldId id="435" r:id="rId20"/>
    <p:sldId id="436" r:id="rId21"/>
    <p:sldId id="439" r:id="rId22"/>
    <p:sldId id="438" r:id="rId23"/>
    <p:sldId id="440" r:id="rId24"/>
    <p:sldId id="870" r:id="rId25"/>
    <p:sldId id="476" r:id="rId26"/>
    <p:sldId id="477" r:id="rId27"/>
    <p:sldId id="478" r:id="rId28"/>
    <p:sldId id="866" r:id="rId29"/>
    <p:sldId id="455" r:id="rId30"/>
    <p:sldId id="462" r:id="rId31"/>
    <p:sldId id="463" r:id="rId32"/>
    <p:sldId id="466" r:id="rId33"/>
    <p:sldId id="858" r:id="rId34"/>
    <p:sldId id="469" r:id="rId35"/>
    <p:sldId id="468" r:id="rId36"/>
    <p:sldId id="470" r:id="rId37"/>
    <p:sldId id="472" r:id="rId38"/>
    <p:sldId id="473" r:id="rId39"/>
    <p:sldId id="867" r:id="rId40"/>
    <p:sldId id="838" r:id="rId41"/>
    <p:sldId id="848" r:id="rId42"/>
    <p:sldId id="849" r:id="rId43"/>
    <p:sldId id="850" r:id="rId44"/>
    <p:sldId id="851" r:id="rId45"/>
    <p:sldId id="852" r:id="rId46"/>
    <p:sldId id="853" r:id="rId47"/>
    <p:sldId id="856" r:id="rId48"/>
    <p:sldId id="855" r:id="rId49"/>
    <p:sldId id="868" r:id="rId50"/>
    <p:sldId id="485" r:id="rId51"/>
    <p:sldId id="486" r:id="rId52"/>
    <p:sldId id="487" r:id="rId53"/>
    <p:sldId id="488" r:id="rId54"/>
    <p:sldId id="859" r:id="rId55"/>
    <p:sldId id="876" r:id="rId56"/>
    <p:sldId id="489" r:id="rId57"/>
    <p:sldId id="824" r:id="rId58"/>
    <p:sldId id="869" r:id="rId59"/>
    <p:sldId id="860" r:id="rId60"/>
    <p:sldId id="861" r:id="rId61"/>
    <p:sldId id="862" r:id="rId62"/>
    <p:sldId id="786" r:id="rId63"/>
    <p:sldId id="452" r:id="rId64"/>
    <p:sldId id="874" r:id="rId65"/>
    <p:sldId id="871" r:id="rId66"/>
    <p:sldId id="875" r:id="rId67"/>
    <p:sldId id="872" r:id="rId68"/>
  </p:sldIdLst>
  <p:sldSz cx="12192000" cy="6858000"/>
  <p:notesSz cx="9928225" cy="6797675"/>
  <p:defaultTex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 wenchao511 [Student]" initials="Sw[" lastIdx="1" clrIdx="0">
    <p:extLst>
      <p:ext uri="{19B8F6BF-5375-455C-9EA6-DF929625EA0E}">
        <p15:presenceInfo xmlns:p15="http://schemas.microsoft.com/office/powerpoint/2012/main" userId="S::19109659r@connect.polyu.hk::e28bb6dc-d76d-4393-bdfd-a20e3f6f43cc" providerId="AD"/>
      </p:ext>
    </p:extLst>
  </p:cmAuthor>
  <p:cmAuthor id="2" name="SHI, wenchao511 [Student]" initials="Sw[ [2]" lastIdx="2" clrIdx="1">
    <p:extLst>
      <p:ext uri="{19B8F6BF-5375-455C-9EA6-DF929625EA0E}">
        <p15:presenceInfo xmlns:p15="http://schemas.microsoft.com/office/powerpoint/2012/main" userId="SHI, wenchao511 [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1E3B"/>
    <a:srgbClr val="DFF1CB"/>
    <a:srgbClr val="C9E8A8"/>
    <a:srgbClr val="EFC4F0"/>
    <a:srgbClr val="E5C4E5"/>
    <a:srgbClr val="FFE080"/>
    <a:srgbClr val="B96E87"/>
    <a:srgbClr val="5B98E8"/>
    <a:srgbClr val="A3C5F2"/>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5256" autoAdjust="0"/>
  </p:normalViewPr>
  <p:slideViewPr>
    <p:cSldViewPr snapToGrid="0">
      <p:cViewPr varScale="1">
        <p:scale>
          <a:sx n="70" d="100"/>
          <a:sy n="70" d="100"/>
        </p:scale>
        <p:origin x="288" y="45"/>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970" y="58"/>
      </p:cViewPr>
      <p:guideLst>
        <p:guide orient="horz" pos="2141"/>
        <p:guide pos="312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1" name="Rectangle 3"/>
          <p:cNvSpPr>
            <a:spLocks noGrp="1" noChangeArrowheads="1"/>
          </p:cNvSpPr>
          <p:nvPr>
            <p:ph type="dt" sz="quarter" idx="1"/>
          </p:nvPr>
        </p:nvSpPr>
        <p:spPr bwMode="auto">
          <a:xfrm>
            <a:off x="5623759"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2" name="Rectangle 4"/>
          <p:cNvSpPr>
            <a:spLocks noGrp="1" noChangeArrowheads="1"/>
          </p:cNvSpPr>
          <p:nvPr>
            <p:ph type="ftr" sz="quarter" idx="2"/>
          </p:nvPr>
        </p:nvSpPr>
        <p:spPr bwMode="auto">
          <a:xfrm>
            <a:off x="0"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3" name="Rectangle 5"/>
          <p:cNvSpPr>
            <a:spLocks noGrp="1" noChangeArrowheads="1"/>
          </p:cNvSpPr>
          <p:nvPr>
            <p:ph type="sldNum" sz="quarter" idx="3"/>
          </p:nvPr>
        </p:nvSpPr>
        <p:spPr bwMode="auto">
          <a:xfrm>
            <a:off x="5623759"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3833" eaLnBrk="1" hangingPunct="1">
              <a:defRPr sz="1200" smtClean="0">
                <a:latin typeface="Times New Roman" panose="020B0604020202020204" pitchFamily="34" charset="0"/>
                <a:ea typeface="SimSun"/>
                <a:cs typeface="Times New Roman"/>
              </a:defRPr>
            </a:lvl1pPr>
          </a:lstStyle>
          <a:p>
            <a:pPr>
              <a:defRPr>
                <a:latin typeface="Times New Roman"/>
                <a:ea typeface="SimSun"/>
                <a:cs typeface="Times New Roman"/>
              </a:defRPr>
            </a:pPr>
            <a:fld id="{DD90D8D4-A28F-4BFE-8A9D-4445065CF981}" type="slidenum">
              <a:rPr lang="en-GB" altLang="zh-CN">
                <a:latin typeface="Times New Roman"/>
                <a:ea typeface="SimSun"/>
                <a:cs typeface="Times New Roman"/>
              </a:rPr>
              <a:pPr>
                <a:defRPr>
                  <a:latin typeface="Times New Roman"/>
                  <a:ea typeface="SimSun"/>
                  <a:cs typeface="Times New Roman"/>
                </a:defRPr>
              </a:pPr>
              <a:t>‹#›</a:t>
            </a:fld>
            <a:endParaRPr lang="en-GB" altLang="zh-CN">
              <a:latin typeface="Times New Roman"/>
              <a:ea typeface="SimSun"/>
              <a:cs typeface="Times New Roman"/>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5" name="Rectangle 3"/>
          <p:cNvSpPr>
            <a:spLocks noGrp="1" noChangeArrowheads="1"/>
          </p:cNvSpPr>
          <p:nvPr>
            <p:ph type="dt" idx="1"/>
          </p:nvPr>
        </p:nvSpPr>
        <p:spPr bwMode="auto">
          <a:xfrm>
            <a:off x="5625356"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7412" name="Rectangle 4"/>
          <p:cNvSpPr>
            <a:spLocks noGrp="1" noRot="1" noChangeAspect="1" noChangeArrowheads="1" noTextEdit="1"/>
          </p:cNvSpPr>
          <p:nvPr>
            <p:ph type="sldImg" idx="2"/>
          </p:nvPr>
        </p:nvSpPr>
        <p:spPr bwMode="auto">
          <a:xfrm>
            <a:off x="2697163" y="509588"/>
            <a:ext cx="4537075" cy="2552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7" name="Rectangle 5"/>
          <p:cNvSpPr>
            <a:spLocks noGrp="1" noChangeArrowheads="1"/>
          </p:cNvSpPr>
          <p:nvPr>
            <p:ph type="body" sz="quarter" idx="3"/>
          </p:nvPr>
        </p:nvSpPr>
        <p:spPr bwMode="auto">
          <a:xfrm>
            <a:off x="1324084" y="3227929"/>
            <a:ext cx="7280059" cy="3060244"/>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p>
            <a:pPr lvl="0"/>
            <a:r>
              <a:rPr lang="en-US" altLang="zh-TW" noProof="0">
                <a:latin typeface="Times New Roman"/>
                <a:ea typeface="SimSun"/>
                <a:cs typeface="Times New Roman"/>
              </a:rPr>
              <a:t>Click to edit Master text styles</a:t>
            </a:r>
          </a:p>
          <a:p>
            <a:pPr lvl="1"/>
            <a:r>
              <a:rPr lang="en-US" altLang="zh-TW" noProof="0">
                <a:latin typeface="Times New Roman"/>
                <a:ea typeface="SimSun"/>
                <a:cs typeface="Times New Roman"/>
              </a:rPr>
              <a:t>Second level</a:t>
            </a:r>
          </a:p>
          <a:p>
            <a:pPr lvl="2"/>
            <a:r>
              <a:rPr lang="en-US" altLang="zh-TW" noProof="0">
                <a:latin typeface="Times New Roman"/>
                <a:ea typeface="SimSun"/>
                <a:cs typeface="Times New Roman"/>
              </a:rPr>
              <a:t>Third level</a:t>
            </a:r>
          </a:p>
          <a:p>
            <a:pPr lvl="3"/>
            <a:r>
              <a:rPr lang="en-US" altLang="zh-TW" noProof="0">
                <a:latin typeface="Times New Roman"/>
                <a:ea typeface="SimSun"/>
                <a:cs typeface="Times New Roman"/>
              </a:rPr>
              <a:t>Fourth level</a:t>
            </a:r>
          </a:p>
          <a:p>
            <a:pPr lvl="4"/>
            <a:r>
              <a:rPr lang="en-US" altLang="zh-TW" noProof="0">
                <a:latin typeface="Times New Roman"/>
                <a:ea typeface="SimSun"/>
                <a:cs typeface="Times New Roman"/>
              </a:rPr>
              <a:t>Fifth level</a:t>
            </a:r>
          </a:p>
        </p:txBody>
      </p:sp>
      <p:sp>
        <p:nvSpPr>
          <p:cNvPr id="136198" name="Rectangle 6"/>
          <p:cNvSpPr>
            <a:spLocks noGrp="1" noChangeArrowheads="1"/>
          </p:cNvSpPr>
          <p:nvPr>
            <p:ph type="ftr" sz="quarter" idx="4"/>
          </p:nvPr>
        </p:nvSpPr>
        <p:spPr bwMode="auto">
          <a:xfrm>
            <a:off x="0"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9" name="Rectangle 7"/>
          <p:cNvSpPr>
            <a:spLocks noGrp="1" noChangeArrowheads="1"/>
          </p:cNvSpPr>
          <p:nvPr>
            <p:ph type="sldNum" sz="quarter" idx="5"/>
          </p:nvPr>
        </p:nvSpPr>
        <p:spPr bwMode="auto">
          <a:xfrm>
            <a:off x="5625356"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2231" eaLnBrk="1" hangingPunct="1">
              <a:defRPr sz="1200" smtClean="0">
                <a:latin typeface="Times New Roman"/>
                <a:ea typeface="SimSun" pitchFamily="18" charset="-120"/>
                <a:cs typeface="Times New Roman"/>
              </a:defRPr>
            </a:lvl1pPr>
          </a:lstStyle>
          <a:p>
            <a:pPr>
              <a:defRPr>
                <a:latin typeface="Times New Roman"/>
                <a:ea typeface="SimSun"/>
                <a:cs typeface="Times New Roman"/>
              </a:defRPr>
            </a:pPr>
            <a:fld id="{E9539218-AF35-4C29-B7A1-DCC55E5102B9}" type="slidenum">
              <a:rPr lang="zh-TW" altLang="en-US">
                <a:latin typeface="Times New Roman"/>
                <a:ea typeface="SimSun"/>
                <a:cs typeface="Times New Roman"/>
              </a:rPr>
              <a:pPr>
                <a:defRPr>
                  <a:latin typeface="Times New Roman"/>
                  <a:ea typeface="SimSun"/>
                  <a:cs typeface="Times New Roman"/>
                </a:defRPr>
              </a:pPr>
              <a:t>‹#›</a:t>
            </a:fld>
            <a:endParaRPr lang="en-US" altLang="zh-TW">
              <a:latin typeface="Times New Roman"/>
              <a:ea typeface="SimSun"/>
              <a:cs typeface="Times New Roman"/>
            </a:endParaRP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1pPr>
    <a:lvl2pPr marL="4572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2pPr>
    <a:lvl3pPr marL="9144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3pPr>
    <a:lvl4pPr marL="13716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4pPr>
    <a:lvl5pPr marL="18288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5pPr>
    <a:lvl6pPr marL="2286000" algn="l" defTabSz="914400" rtl="0" eaLnBrk="1" latinLnBrk="0" hangingPunct="1">
      <a:defRPr sz="1200" kern="1200">
        <a:solidFill>
          <a:schemeClr val="tx1"/>
        </a:solidFill>
        <a:latin typeface="Times New Roman"/>
        <a:ea typeface="SimSun"/>
        <a:cs typeface="Times New Roman"/>
      </a:defRPr>
    </a:lvl6pPr>
    <a:lvl7pPr marL="2743200" algn="l" defTabSz="914400" rtl="0" eaLnBrk="1" latinLnBrk="0" hangingPunct="1">
      <a:defRPr sz="1200" kern="1200">
        <a:solidFill>
          <a:schemeClr val="tx1"/>
        </a:solidFill>
        <a:latin typeface="Times New Roman"/>
        <a:ea typeface="SimSun"/>
        <a:cs typeface="Times New Roman"/>
      </a:defRPr>
    </a:lvl7pPr>
    <a:lvl8pPr marL="3200400" algn="l" defTabSz="914400" rtl="0" eaLnBrk="1" latinLnBrk="0" hangingPunct="1">
      <a:defRPr sz="1200" kern="1200">
        <a:solidFill>
          <a:schemeClr val="tx1"/>
        </a:solidFill>
        <a:latin typeface="Times New Roman"/>
        <a:ea typeface="SimSun"/>
        <a:cs typeface="Times New Roman"/>
      </a:defRPr>
    </a:lvl8pPr>
    <a:lvl9pPr marL="3657600" algn="l" defTabSz="914400" rtl="0" eaLnBrk="1" latinLnBrk="0" hangingPunct="1">
      <a:defRPr sz="1200" kern="1200">
        <a:solidFill>
          <a:schemeClr val="tx1"/>
        </a:solidFill>
        <a:latin typeface="Times New Roman"/>
        <a:ea typeface="SimSun"/>
        <a:cs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D183629-4450-420A-874F-A414BC07E25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a:t>
            </a:fld>
            <a:endParaRPr lang="en-US" altLang="zh-TW">
              <a:latin typeface="Times New Roman"/>
              <a:ea typeface="SimSun"/>
              <a:cs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a:t>
            </a:fld>
            <a:endParaRPr lang="en-US" altLang="zh-TW">
              <a:latin typeface="Times New Roman"/>
              <a:ea typeface="SimSun"/>
              <a:cs typeface="Times New Roman"/>
            </a:endParaRPr>
          </a:p>
        </p:txBody>
      </p:sp>
    </p:spTree>
    <p:extLst>
      <p:ext uri="{BB962C8B-B14F-4D97-AF65-F5344CB8AC3E}">
        <p14:creationId xmlns:p14="http://schemas.microsoft.com/office/powerpoint/2010/main" val="3939062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a:t>
            </a:fld>
            <a:endParaRPr lang="en-US" altLang="zh-TW">
              <a:latin typeface="Times New Roman"/>
              <a:ea typeface="SimSun"/>
              <a:cs typeface="Times New Roman"/>
            </a:endParaRPr>
          </a:p>
        </p:txBody>
      </p:sp>
    </p:spTree>
    <p:extLst>
      <p:ext uri="{BB962C8B-B14F-4D97-AF65-F5344CB8AC3E}">
        <p14:creationId xmlns:p14="http://schemas.microsoft.com/office/powerpoint/2010/main" val="238092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E9194E2F-0629-48BC-9DB1-C6B062ACE9A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a:t>
            </a:fld>
            <a:endParaRPr lang="en-US" altLang="zh-TW">
              <a:latin typeface="Times New Roman"/>
              <a:ea typeface="SimSun"/>
              <a:cs typeface="Times New Roman"/>
            </a:endParaRPr>
          </a:p>
        </p:txBody>
      </p:sp>
    </p:spTree>
    <p:extLst>
      <p:ext uri="{BB962C8B-B14F-4D97-AF65-F5344CB8AC3E}">
        <p14:creationId xmlns:p14="http://schemas.microsoft.com/office/powerpoint/2010/main" val="106052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17E7CBE-4A32-468F-A9E0-471668CC128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a:t>
            </a:fld>
            <a:endParaRPr lang="en-US" altLang="zh-TW">
              <a:latin typeface="Times New Roman"/>
              <a:ea typeface="SimSun"/>
              <a:cs typeface="Times New Roman"/>
            </a:endParaRPr>
          </a:p>
        </p:txBody>
      </p:sp>
    </p:spTree>
    <p:extLst>
      <p:ext uri="{BB962C8B-B14F-4D97-AF65-F5344CB8AC3E}">
        <p14:creationId xmlns:p14="http://schemas.microsoft.com/office/powerpoint/2010/main" val="108657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a:t>
            </a:fld>
            <a:endParaRPr lang="en-US" altLang="zh-TW">
              <a:latin typeface="Times New Roman"/>
              <a:ea typeface="SimSun"/>
              <a:cs typeface="Times New Roman"/>
            </a:endParaRPr>
          </a:p>
        </p:txBody>
      </p:sp>
    </p:spTree>
    <p:extLst>
      <p:ext uri="{BB962C8B-B14F-4D97-AF65-F5344CB8AC3E}">
        <p14:creationId xmlns:p14="http://schemas.microsoft.com/office/powerpoint/2010/main" val="3545261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3B03EF-6637-4470-9731-4452CD9946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7</a:t>
            </a:fld>
            <a:endParaRPr lang="en-US" altLang="zh-TW">
              <a:latin typeface="Times New Roman"/>
              <a:ea typeface="SimSun"/>
              <a:cs typeface="Times New Roman"/>
            </a:endParaRPr>
          </a:p>
        </p:txBody>
      </p:sp>
    </p:spTree>
    <p:extLst>
      <p:ext uri="{BB962C8B-B14F-4D97-AF65-F5344CB8AC3E}">
        <p14:creationId xmlns:p14="http://schemas.microsoft.com/office/powerpoint/2010/main" val="4280419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50893CB9-CF87-40A4-8B4F-74D87A137085}"/>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D902CAD-1E20-4C8B-9C2D-649EABBE31F1}"/>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9</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61B53A0-4448-48C2-AE73-953308D24AA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10</a:t>
            </a:fld>
            <a:endParaRPr lang="en-US" altLang="zh-TW">
              <a:latin typeface="Times New Roman"/>
              <a:ea typeface="SimSun"/>
              <a:cs typeface="Times New Roman"/>
            </a:endParaRPr>
          </a:p>
        </p:txBody>
      </p:sp>
    </p:spTree>
    <p:extLst>
      <p:ext uri="{BB962C8B-B14F-4D97-AF65-F5344CB8AC3E}">
        <p14:creationId xmlns:p14="http://schemas.microsoft.com/office/powerpoint/2010/main" val="327345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11</a:t>
            </a:fld>
            <a:endParaRPr lang="en-US" altLang="zh-TW">
              <a:latin typeface="Times New Roman"/>
              <a:ea typeface="SimSun"/>
              <a:cs typeface="Times New Roman"/>
            </a:endParaRPr>
          </a:p>
        </p:txBody>
      </p:sp>
    </p:spTree>
    <p:extLst>
      <p:ext uri="{BB962C8B-B14F-4D97-AF65-F5344CB8AC3E}">
        <p14:creationId xmlns:p14="http://schemas.microsoft.com/office/powerpoint/2010/main" val="1684739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4033C81-BCEA-4740-8588-86E6A68D77A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12</a:t>
            </a:fld>
            <a:endParaRPr lang="en-US" altLang="zh-TW">
              <a:latin typeface="Times New Roman"/>
              <a:ea typeface="SimSun"/>
              <a:cs typeface="Times New Roman"/>
            </a:endParaRPr>
          </a:p>
        </p:txBody>
      </p:sp>
    </p:spTree>
    <p:extLst>
      <p:ext uri="{BB962C8B-B14F-4D97-AF65-F5344CB8AC3E}">
        <p14:creationId xmlns:p14="http://schemas.microsoft.com/office/powerpoint/2010/main" val="3410370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13</a:t>
            </a:fld>
            <a:endParaRPr lang="en-US" altLang="zh-TW">
              <a:latin typeface="Times New Roman"/>
              <a:ea typeface="SimSun"/>
              <a:cs typeface="Times New Roman"/>
            </a:endParaRPr>
          </a:p>
        </p:txBody>
      </p:sp>
    </p:spTree>
    <p:extLst>
      <p:ext uri="{BB962C8B-B14F-4D97-AF65-F5344CB8AC3E}">
        <p14:creationId xmlns:p14="http://schemas.microsoft.com/office/powerpoint/2010/main" val="2536067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14</a:t>
            </a:fld>
            <a:endParaRPr lang="en-US" altLang="zh-TW">
              <a:latin typeface="Times New Roman"/>
              <a:ea typeface="SimSun"/>
              <a:cs typeface="Times New Roman"/>
            </a:endParaRPr>
          </a:p>
        </p:txBody>
      </p:sp>
    </p:spTree>
    <p:extLst>
      <p:ext uri="{BB962C8B-B14F-4D97-AF65-F5344CB8AC3E}">
        <p14:creationId xmlns:p14="http://schemas.microsoft.com/office/powerpoint/2010/main" val="423748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15</a:t>
            </a:fld>
            <a:endParaRPr lang="en-US" altLang="zh-TW">
              <a:latin typeface="Times New Roman"/>
              <a:ea typeface="SimSun"/>
              <a:cs typeface="Times New Roman"/>
            </a:endParaRPr>
          </a:p>
        </p:txBody>
      </p:sp>
    </p:spTree>
    <p:extLst>
      <p:ext uri="{BB962C8B-B14F-4D97-AF65-F5344CB8AC3E}">
        <p14:creationId xmlns:p14="http://schemas.microsoft.com/office/powerpoint/2010/main" val="1285053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FC6054D-4157-4F34-AEFF-180F948111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16</a:t>
            </a:fld>
            <a:endParaRPr lang="en-US" altLang="zh-TW">
              <a:latin typeface="Times New Roman"/>
              <a:ea typeface="SimSun"/>
              <a:cs typeface="Times New Roman"/>
            </a:endParaRPr>
          </a:p>
        </p:txBody>
      </p:sp>
    </p:spTree>
    <p:extLst>
      <p:ext uri="{BB962C8B-B14F-4D97-AF65-F5344CB8AC3E}">
        <p14:creationId xmlns:p14="http://schemas.microsoft.com/office/powerpoint/2010/main" val="2761430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6667500-A233-453C-869A-044BCE9806C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DE09066-3333-4E50-9686-EFB47E14E8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18</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2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50305" indent="-288579"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54316"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16042"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77768"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39495"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3001221"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62947"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924673"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fld id="{C4C20F0C-580E-42DF-9542-BF2972995143}" type="slidenum">
              <a:rPr lang="en-US" altLang="zh-CN" sz="1200">
                <a:solidFill>
                  <a:srgbClr val="000000"/>
                </a:solidFill>
                <a:latin typeface="Times New Roman" panose="020B0604020202020204" pitchFamily="34" charset="0"/>
                <a:ea typeface="SimSun" panose="020B0600070205080204" pitchFamily="34" charset="-128"/>
                <a:cs typeface="Times New Roman"/>
              </a:rPr>
              <a:pPr/>
              <a:t>19</a:t>
            </a:fld>
            <a:endParaRPr lang="en-US" altLang="zh-CN" sz="1200">
              <a:solidFill>
                <a:srgbClr val="000000"/>
              </a:solidFill>
              <a:latin typeface="Times New Roman" panose="020B0604020202020204" pitchFamily="34" charset="0"/>
              <a:ea typeface="SimSun" panose="020B0600070205080204" pitchFamily="34" charset="-128"/>
              <a:cs typeface="Times New Roman"/>
            </a:endParaRPr>
          </a:p>
        </p:txBody>
      </p:sp>
    </p:spTree>
    <p:extLst>
      <p:ext uri="{BB962C8B-B14F-4D97-AF65-F5344CB8AC3E}">
        <p14:creationId xmlns:p14="http://schemas.microsoft.com/office/powerpoint/2010/main" val="3541596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A131342-79FE-4B23-8C14-4E3EE10072E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20</a:t>
            </a:fld>
            <a:endParaRPr lang="en-US" altLang="zh-TW">
              <a:latin typeface="Times New Roman"/>
              <a:ea typeface="SimSun"/>
              <a:cs typeface="Times New Roman"/>
            </a:endParaRPr>
          </a:p>
        </p:txBody>
      </p:sp>
    </p:spTree>
    <p:extLst>
      <p:ext uri="{BB962C8B-B14F-4D97-AF65-F5344CB8AC3E}">
        <p14:creationId xmlns:p14="http://schemas.microsoft.com/office/powerpoint/2010/main" val="951924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BF7A27E-ADA4-4831-819F-84B7AC088F8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21</a:t>
            </a:fld>
            <a:endParaRPr lang="en-US" altLang="zh-TW">
              <a:latin typeface="Times New Roman"/>
              <a:ea typeface="SimSun"/>
              <a:cs typeface="Times New Roman"/>
            </a:endParaRPr>
          </a:p>
        </p:txBody>
      </p:sp>
    </p:spTree>
    <p:extLst>
      <p:ext uri="{BB962C8B-B14F-4D97-AF65-F5344CB8AC3E}">
        <p14:creationId xmlns:p14="http://schemas.microsoft.com/office/powerpoint/2010/main" val="1925810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5D714F-7E49-48B2-81F6-CF4D5BF7FE3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22</a:t>
            </a:fld>
            <a:endParaRPr lang="en-US" altLang="zh-TW">
              <a:latin typeface="Times New Roman"/>
              <a:ea typeface="SimSun"/>
              <a:cs typeface="Times New Roman"/>
            </a:endParaRPr>
          </a:p>
        </p:txBody>
      </p:sp>
    </p:spTree>
    <p:extLst>
      <p:ext uri="{BB962C8B-B14F-4D97-AF65-F5344CB8AC3E}">
        <p14:creationId xmlns:p14="http://schemas.microsoft.com/office/powerpoint/2010/main" val="4188642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9725D98-16E5-465F-A249-F39F9E34A67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23</a:t>
            </a:fld>
            <a:endParaRPr lang="en-US" altLang="zh-TW">
              <a:latin typeface="Times New Roman"/>
              <a:ea typeface="SimSun"/>
              <a:cs typeface="Times New Roman"/>
            </a:endParaRPr>
          </a:p>
        </p:txBody>
      </p:sp>
    </p:spTree>
    <p:extLst>
      <p:ext uri="{BB962C8B-B14F-4D97-AF65-F5344CB8AC3E}">
        <p14:creationId xmlns:p14="http://schemas.microsoft.com/office/powerpoint/2010/main" val="1401306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E4ABEE-E535-4301-B188-1D17E971406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24</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25</a:t>
            </a:fld>
            <a:endParaRPr lang="en-US" altLang="zh-TW">
              <a:latin typeface="Times New Roman"/>
              <a:ea typeface="SimSun"/>
              <a:cs typeface="Times New Roman"/>
            </a:endParaRPr>
          </a:p>
        </p:txBody>
      </p:sp>
    </p:spTree>
    <p:extLst>
      <p:ext uri="{BB962C8B-B14F-4D97-AF65-F5344CB8AC3E}">
        <p14:creationId xmlns:p14="http://schemas.microsoft.com/office/powerpoint/2010/main" val="3131673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3503936-1935-40B5-8DD7-B64E67B9B6F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26</a:t>
            </a:fld>
            <a:endParaRPr lang="en-US" altLang="zh-TW">
              <a:latin typeface="Times New Roman"/>
              <a:ea typeface="SimSun"/>
              <a:cs typeface="Times New Roman"/>
            </a:endParaRPr>
          </a:p>
        </p:txBody>
      </p:sp>
    </p:spTree>
    <p:extLst>
      <p:ext uri="{BB962C8B-B14F-4D97-AF65-F5344CB8AC3E}">
        <p14:creationId xmlns:p14="http://schemas.microsoft.com/office/powerpoint/2010/main" val="907725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F4354850-8E40-409E-BC36-4237B1608B3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8014DB-1BC7-405E-9940-73D11F68CB4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28</a:t>
            </a:fld>
            <a:endParaRPr lang="en-US" altLang="zh-TW">
              <a:latin typeface="Times New Roman"/>
              <a:ea typeface="SimSun"/>
              <a:cs typeface="Times New Roman"/>
            </a:endParaRPr>
          </a:p>
        </p:txBody>
      </p:sp>
    </p:spTree>
    <p:extLst>
      <p:ext uri="{BB962C8B-B14F-4D97-AF65-F5344CB8AC3E}">
        <p14:creationId xmlns:p14="http://schemas.microsoft.com/office/powerpoint/2010/main" val="23246404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29</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30</a:t>
            </a:fld>
            <a:endParaRPr lang="en-US" altLang="zh-TW">
              <a:latin typeface="Times New Roman"/>
              <a:ea typeface="SimSun"/>
              <a:cs typeface="Times New Roman"/>
            </a:endParaRPr>
          </a:p>
        </p:txBody>
      </p:sp>
    </p:spTree>
    <p:extLst>
      <p:ext uri="{BB962C8B-B14F-4D97-AF65-F5344CB8AC3E}">
        <p14:creationId xmlns:p14="http://schemas.microsoft.com/office/powerpoint/2010/main" val="392172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ACDF66-476E-4AE4-9B23-EA436B49DDE9}"/>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31</a:t>
            </a:fld>
            <a:endParaRPr lang="en-US" altLang="zh-TW">
              <a:latin typeface="Times New Roman"/>
              <a:ea typeface="SimSun"/>
              <a:cs typeface="Times New Roman"/>
            </a:endParaRPr>
          </a:p>
        </p:txBody>
      </p:sp>
    </p:spTree>
    <p:extLst>
      <p:ext uri="{BB962C8B-B14F-4D97-AF65-F5344CB8AC3E}">
        <p14:creationId xmlns:p14="http://schemas.microsoft.com/office/powerpoint/2010/main" val="34573606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14EFEF5-6D8D-4118-BD5A-02D919F6891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32</a:t>
            </a:fld>
            <a:endParaRPr lang="en-US" altLang="zh-TW">
              <a:latin typeface="Times New Roman"/>
              <a:ea typeface="SimSun"/>
              <a:cs typeface="Times New Roman"/>
            </a:endParaRPr>
          </a:p>
        </p:txBody>
      </p:sp>
    </p:spTree>
    <p:extLst>
      <p:ext uri="{BB962C8B-B14F-4D97-AF65-F5344CB8AC3E}">
        <p14:creationId xmlns:p14="http://schemas.microsoft.com/office/powerpoint/2010/main" val="7721055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6B97D1-3E6B-4E7F-B21C-910F0053E46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33</a:t>
            </a:fld>
            <a:endParaRPr lang="en-US" altLang="zh-TW">
              <a:latin typeface="Times New Roman"/>
              <a:ea typeface="SimSun"/>
              <a:cs typeface="Times New Roman"/>
            </a:endParaRPr>
          </a:p>
        </p:txBody>
      </p:sp>
    </p:spTree>
    <p:extLst>
      <p:ext uri="{BB962C8B-B14F-4D97-AF65-F5344CB8AC3E}">
        <p14:creationId xmlns:p14="http://schemas.microsoft.com/office/powerpoint/2010/main" val="873895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3DA9766-0269-4B09-9B70-5550489D81D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34</a:t>
            </a:fld>
            <a:endParaRPr lang="en-US" altLang="zh-TW">
              <a:latin typeface="Times New Roman"/>
              <a:ea typeface="SimSun"/>
              <a:cs typeface="Times New Roman"/>
            </a:endParaRPr>
          </a:p>
        </p:txBody>
      </p:sp>
    </p:spTree>
    <p:extLst>
      <p:ext uri="{BB962C8B-B14F-4D97-AF65-F5344CB8AC3E}">
        <p14:creationId xmlns:p14="http://schemas.microsoft.com/office/powerpoint/2010/main" val="1373143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E992F0C-E04C-4FDA-A244-FDC90C1AC88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35</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36</a:t>
            </a:fld>
            <a:endParaRPr lang="en-US" altLang="zh-TW">
              <a:latin typeface="Times New Roman"/>
              <a:ea typeface="SimSun"/>
              <a:cs typeface="Times New Roman"/>
            </a:endParaRPr>
          </a:p>
        </p:txBody>
      </p:sp>
    </p:spTree>
    <p:extLst>
      <p:ext uri="{BB962C8B-B14F-4D97-AF65-F5344CB8AC3E}">
        <p14:creationId xmlns:p14="http://schemas.microsoft.com/office/powerpoint/2010/main" val="1163953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E4E0FD1-B8C2-4BD0-9DC8-3C61854374F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37</a:t>
            </a:fld>
            <a:endParaRPr lang="en-US" altLang="zh-TW">
              <a:latin typeface="Times New Roman"/>
              <a:ea typeface="SimSun"/>
              <a:cs typeface="Times New Roman"/>
            </a:endParaRPr>
          </a:p>
        </p:txBody>
      </p:sp>
    </p:spTree>
    <p:extLst>
      <p:ext uri="{BB962C8B-B14F-4D97-AF65-F5344CB8AC3E}">
        <p14:creationId xmlns:p14="http://schemas.microsoft.com/office/powerpoint/2010/main" val="6337299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B8974FC-000C-4ED8-ABA9-BF0F90FAFA9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299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39</a:t>
            </a:fld>
            <a:endParaRPr lang="en-US" altLang="zh-TW">
              <a:latin typeface="Times New Roman"/>
              <a:ea typeface="SimSun"/>
              <a:cs typeface="Times New Roman"/>
            </a:endParaRPr>
          </a:p>
        </p:txBody>
      </p:sp>
    </p:spTree>
    <p:extLst>
      <p:ext uri="{BB962C8B-B14F-4D97-AF65-F5344CB8AC3E}">
        <p14:creationId xmlns:p14="http://schemas.microsoft.com/office/powerpoint/2010/main" val="42132405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40</a:t>
            </a:fld>
            <a:endParaRPr lang="en-US" altLang="zh-TW">
              <a:latin typeface="Times New Roman"/>
              <a:ea typeface="SimSun"/>
              <a:cs typeface="Times New Roman"/>
            </a:endParaRPr>
          </a:p>
        </p:txBody>
      </p:sp>
    </p:spTree>
    <p:extLst>
      <p:ext uri="{BB962C8B-B14F-4D97-AF65-F5344CB8AC3E}">
        <p14:creationId xmlns:p14="http://schemas.microsoft.com/office/powerpoint/2010/main" val="24667812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41</a:t>
            </a:fld>
            <a:endParaRPr lang="en-US" altLang="zh-TW">
              <a:latin typeface="Times New Roman"/>
              <a:ea typeface="SimSun"/>
              <a:cs typeface="Times New Roman"/>
            </a:endParaRPr>
          </a:p>
        </p:txBody>
      </p:sp>
    </p:spTree>
    <p:extLst>
      <p:ext uri="{BB962C8B-B14F-4D97-AF65-F5344CB8AC3E}">
        <p14:creationId xmlns:p14="http://schemas.microsoft.com/office/powerpoint/2010/main" val="37647169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42</a:t>
            </a:fld>
            <a:endParaRPr lang="en-US" altLang="zh-TW">
              <a:latin typeface="Times New Roman"/>
              <a:ea typeface="SimSun"/>
              <a:cs typeface="Times New Roman"/>
            </a:endParaRPr>
          </a:p>
        </p:txBody>
      </p:sp>
    </p:spTree>
    <p:extLst>
      <p:ext uri="{BB962C8B-B14F-4D97-AF65-F5344CB8AC3E}">
        <p14:creationId xmlns:p14="http://schemas.microsoft.com/office/powerpoint/2010/main" val="3537489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43</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4509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44</a:t>
            </a:fld>
            <a:endParaRPr lang="en-US" altLang="zh-TW">
              <a:latin typeface="Times New Roman"/>
              <a:ea typeface="SimSun"/>
              <a:cs typeface="Times New Roman"/>
            </a:endParaRPr>
          </a:p>
        </p:txBody>
      </p:sp>
    </p:spTree>
    <p:extLst>
      <p:ext uri="{BB962C8B-B14F-4D97-AF65-F5344CB8AC3E}">
        <p14:creationId xmlns:p14="http://schemas.microsoft.com/office/powerpoint/2010/main" val="3884202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45</a:t>
            </a:fld>
            <a:endParaRPr lang="en-US" altLang="zh-TW">
              <a:latin typeface="Times New Roman"/>
              <a:ea typeface="SimSun"/>
              <a:cs typeface="Times New Roman"/>
            </a:endParaRPr>
          </a:p>
        </p:txBody>
      </p:sp>
    </p:spTree>
    <p:extLst>
      <p:ext uri="{BB962C8B-B14F-4D97-AF65-F5344CB8AC3E}">
        <p14:creationId xmlns:p14="http://schemas.microsoft.com/office/powerpoint/2010/main" val="2021144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46</a:t>
            </a:fld>
            <a:endParaRPr lang="en-US" altLang="zh-TW">
              <a:latin typeface="Times New Roman"/>
              <a:ea typeface="SimSun"/>
              <a:cs typeface="Times New Roman"/>
            </a:endParaRPr>
          </a:p>
        </p:txBody>
      </p:sp>
    </p:spTree>
    <p:extLst>
      <p:ext uri="{BB962C8B-B14F-4D97-AF65-F5344CB8AC3E}">
        <p14:creationId xmlns:p14="http://schemas.microsoft.com/office/powerpoint/2010/main" val="4166321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05A4EE8-2B30-44DE-B5E4-842990079C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47</a:t>
            </a:fld>
            <a:endParaRPr lang="en-US" altLang="zh-TW">
              <a:latin typeface="Times New Roman"/>
              <a:ea typeface="SimSun"/>
              <a:cs typeface="Times New Roman"/>
            </a:endParaRPr>
          </a:p>
        </p:txBody>
      </p:sp>
    </p:spTree>
    <p:extLst>
      <p:ext uri="{BB962C8B-B14F-4D97-AF65-F5344CB8AC3E}">
        <p14:creationId xmlns:p14="http://schemas.microsoft.com/office/powerpoint/2010/main" val="27980035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AC08C26-8868-4C8A-A123-F673C7BA2CD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48</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947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1AE4B6-F39C-4E87-93C7-37870B38C2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49</a:t>
            </a:fld>
            <a:endParaRPr lang="en-US" altLang="zh-TW">
              <a:latin typeface="Times New Roman"/>
              <a:ea typeface="SimSun"/>
              <a:cs typeface="Times New Roman"/>
            </a:endParaRPr>
          </a:p>
        </p:txBody>
      </p:sp>
    </p:spTree>
    <p:extLst>
      <p:ext uri="{BB962C8B-B14F-4D97-AF65-F5344CB8AC3E}">
        <p14:creationId xmlns:p14="http://schemas.microsoft.com/office/powerpoint/2010/main" val="41414579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50</a:t>
            </a:fld>
            <a:endParaRPr lang="en-US" altLang="zh-TW">
              <a:latin typeface="Times New Roman"/>
              <a:ea typeface="SimSun"/>
              <a:cs typeface="Times New Roman"/>
            </a:endParaRPr>
          </a:p>
        </p:txBody>
      </p:sp>
    </p:spTree>
    <p:extLst>
      <p:ext uri="{BB962C8B-B14F-4D97-AF65-F5344CB8AC3E}">
        <p14:creationId xmlns:p14="http://schemas.microsoft.com/office/powerpoint/2010/main" val="39477620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51</a:t>
            </a:fld>
            <a:endParaRPr lang="en-US" altLang="zh-TW">
              <a:latin typeface="Times New Roman"/>
              <a:ea typeface="SimSun"/>
              <a:cs typeface="Times New Roman"/>
            </a:endParaRPr>
          </a:p>
        </p:txBody>
      </p:sp>
    </p:spTree>
    <p:extLst>
      <p:ext uri="{BB962C8B-B14F-4D97-AF65-F5344CB8AC3E}">
        <p14:creationId xmlns:p14="http://schemas.microsoft.com/office/powerpoint/2010/main" val="1397508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52</a:t>
            </a:fld>
            <a:endParaRPr lang="en-US" altLang="zh-TW">
              <a:latin typeface="Times New Roman"/>
              <a:ea typeface="SimSun"/>
              <a:cs typeface="Times New Roman"/>
            </a:endParaRPr>
          </a:p>
        </p:txBody>
      </p:sp>
    </p:spTree>
    <p:extLst>
      <p:ext uri="{BB962C8B-B14F-4D97-AF65-F5344CB8AC3E}">
        <p14:creationId xmlns:p14="http://schemas.microsoft.com/office/powerpoint/2010/main" val="32520879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A4DF25D-3FF5-43A0-9E4A-789601482A8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53</a:t>
            </a:fld>
            <a:endParaRPr lang="en-US" altLang="zh-TW">
              <a:latin typeface="Times New Roman"/>
              <a:ea typeface="SimSun"/>
              <a:cs typeface="Times New Roman"/>
            </a:endParaRPr>
          </a:p>
        </p:txBody>
      </p:sp>
    </p:spTree>
    <p:extLst>
      <p:ext uri="{BB962C8B-B14F-4D97-AF65-F5344CB8AC3E}">
        <p14:creationId xmlns:p14="http://schemas.microsoft.com/office/powerpoint/2010/main" val="1828563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C7FD3AC-C2CF-4840-9228-0337133862C3}"/>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54</a:t>
            </a:fld>
            <a:endParaRPr lang="en-US" altLang="zh-TW">
              <a:latin typeface="Times New Roman"/>
              <a:ea typeface="SimSun"/>
              <a:cs typeface="Times New Roman"/>
            </a:endParaRPr>
          </a:p>
        </p:txBody>
      </p:sp>
    </p:spTree>
    <p:extLst>
      <p:ext uri="{BB962C8B-B14F-4D97-AF65-F5344CB8AC3E}">
        <p14:creationId xmlns:p14="http://schemas.microsoft.com/office/powerpoint/2010/main" val="37577499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55</a:t>
            </a:fld>
            <a:endParaRPr lang="en-US" altLang="zh-TW">
              <a:latin typeface="Times New Roman"/>
              <a:ea typeface="SimSun"/>
              <a:cs typeface="Times New Roman"/>
            </a:endParaRPr>
          </a:p>
        </p:txBody>
      </p:sp>
    </p:spTree>
    <p:extLst>
      <p:ext uri="{BB962C8B-B14F-4D97-AF65-F5344CB8AC3E}">
        <p14:creationId xmlns:p14="http://schemas.microsoft.com/office/powerpoint/2010/main" val="259585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endParaRPr lang="zh-CN" altLang="en-US">
              <a:latin typeface="Times New Roman"/>
              <a:ea typeface="SimSun"/>
              <a:cs typeface="Times New Roman"/>
            </a:endParaRPr>
          </a:p>
        </p:txBody>
      </p:sp>
      <p:sp>
        <p:nvSpPr>
          <p:cNvPr id="5" name="灯片编号占位符 4">
            <a:extLst>
              <a:ext uri="{FF2B5EF4-FFF2-40B4-BE49-F238E27FC236}">
                <a16:creationId xmlns:a16="http://schemas.microsoft.com/office/drawing/2014/main" id="{68FC9E79-C983-4002-BE8C-8533DCFD7CA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59</a:t>
            </a:fld>
            <a:endParaRPr lang="en-US" altLang="zh-TW">
              <a:latin typeface="Times New Roman"/>
              <a:ea typeface="SimSun"/>
              <a:cs typeface="Times New Roman"/>
            </a:endParaRPr>
          </a:p>
        </p:txBody>
      </p:sp>
    </p:spTree>
    <p:extLst>
      <p:ext uri="{BB962C8B-B14F-4D97-AF65-F5344CB8AC3E}">
        <p14:creationId xmlns:p14="http://schemas.microsoft.com/office/powerpoint/2010/main" val="13660568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319CB7E-98B4-4AD0-ADE3-D778A181B5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60</a:t>
            </a:fld>
            <a:endParaRPr lang="en-US" altLang="zh-TW">
              <a:latin typeface="Times New Roman"/>
              <a:ea typeface="SimSun"/>
              <a:cs typeface="Times New Roman"/>
            </a:endParaRPr>
          </a:p>
        </p:txBody>
      </p:sp>
    </p:spTree>
    <p:extLst>
      <p:ext uri="{BB962C8B-B14F-4D97-AF65-F5344CB8AC3E}">
        <p14:creationId xmlns:p14="http://schemas.microsoft.com/office/powerpoint/2010/main" val="32946175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61</a:t>
            </a:fld>
            <a:endParaRPr lang="en-US" altLang="zh-TW">
              <a:latin typeface="Times New Roman"/>
              <a:ea typeface="SimSun"/>
              <a:cs typeface="Times New Roman"/>
            </a:endParaRPr>
          </a:p>
        </p:txBody>
      </p:sp>
    </p:spTree>
    <p:extLst>
      <p:ext uri="{BB962C8B-B14F-4D97-AF65-F5344CB8AC3E}">
        <p14:creationId xmlns:p14="http://schemas.microsoft.com/office/powerpoint/2010/main" val="11832758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62</a:t>
            </a:fld>
            <a:endParaRPr lang="en-US" altLang="zh-TW">
              <a:latin typeface="Times New Roman"/>
              <a:ea typeface="SimSun"/>
              <a:cs typeface="Times New Roman"/>
            </a:endParaRPr>
          </a:p>
        </p:txBody>
      </p:sp>
    </p:spTree>
    <p:extLst>
      <p:ext uri="{BB962C8B-B14F-4D97-AF65-F5344CB8AC3E}">
        <p14:creationId xmlns:p14="http://schemas.microsoft.com/office/powerpoint/2010/main" val="41043015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63</a:t>
            </a:fld>
            <a:endParaRPr lang="en-US" altLang="zh-TW">
              <a:latin typeface="Times New Roman"/>
              <a:ea typeface="SimSun"/>
              <a:cs typeface="Times New Roman"/>
            </a:endParaRPr>
          </a:p>
        </p:txBody>
      </p:sp>
    </p:spTree>
    <p:extLst>
      <p:ext uri="{BB962C8B-B14F-4D97-AF65-F5344CB8AC3E}">
        <p14:creationId xmlns:p14="http://schemas.microsoft.com/office/powerpoint/2010/main" val="13636292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64</a:t>
            </a:fld>
            <a:endParaRPr lang="en-US" altLang="zh-TW">
              <a:latin typeface="Times New Roman"/>
              <a:ea typeface="SimSun"/>
              <a:cs typeface="Times New Roman"/>
            </a:endParaRPr>
          </a:p>
        </p:txBody>
      </p:sp>
    </p:spTree>
    <p:extLst>
      <p:ext uri="{BB962C8B-B14F-4D97-AF65-F5344CB8AC3E}">
        <p14:creationId xmlns:p14="http://schemas.microsoft.com/office/powerpoint/2010/main" val="1185310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307139"/>
            <a:ext cx="12192000" cy="53975"/>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fr-FR" altLang="zh-CN" sz="2400">
              <a:solidFill>
                <a:schemeClr val="tx1"/>
              </a:solidFill>
              <a:latin typeface="Times New Roman" panose="02020603050405020304" pitchFamily="18" charset="0"/>
              <a:ea typeface="SimSun"/>
              <a:cs typeface="Times New Roman" panose="020B0604020202020204" pitchFamily="34" charset="-122"/>
            </a:endParaRPr>
          </a:p>
        </p:txBody>
      </p:sp>
      <p:sp>
        <p:nvSpPr>
          <p:cNvPr id="5" name="Rectangle 3"/>
          <p:cNvSpPr>
            <a:spLocks noChangeArrowheads="1"/>
          </p:cNvSpPr>
          <p:nvPr/>
        </p:nvSpPr>
        <p:spPr bwMode="auto">
          <a:xfrm>
            <a:off x="0" y="1685925"/>
            <a:ext cx="12192000" cy="2286000"/>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zh-CN" altLang="zh-CN" sz="1000">
              <a:solidFill>
                <a:schemeClr val="tx1"/>
              </a:solidFill>
              <a:latin typeface="Times New Roman" panose="020B0604020202020204" pitchFamily="34" charset="0"/>
              <a:ea typeface="SimSun"/>
              <a:cs typeface="Times New Roman" panose="020B0604020202020204" pitchFamily="34" charset="0"/>
            </a:endParaRPr>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4448174"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r="1828"/>
          <a:stretch>
            <a:fillRect/>
          </a:stretch>
        </p:blipFill>
        <p:spPr bwMode="auto">
          <a:xfrm>
            <a:off x="7019924" y="0"/>
            <a:ext cx="517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5"/>
          <p:cNvSpPr>
            <a:spLocks noGrp="1" noChangeArrowheads="1"/>
          </p:cNvSpPr>
          <p:nvPr>
            <p:ph type="ctrTitle" sz="quarter"/>
          </p:nvPr>
        </p:nvSpPr>
        <p:spPr>
          <a:xfrm>
            <a:off x="605367" y="2032001"/>
            <a:ext cx="10363200" cy="1470025"/>
          </a:xfrm>
        </p:spPr>
        <p:txBody>
          <a:bodyPr/>
          <a:lstStyle>
            <a:lvl1pPr>
              <a:lnSpc>
                <a:spcPct val="100000"/>
              </a:lnSpc>
              <a:defRPr sz="2400" b="1">
                <a:solidFill>
                  <a:schemeClr val="bg1"/>
                </a:solidFi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5126" name="Rectangle 6"/>
          <p:cNvSpPr>
            <a:spLocks noGrp="1" noChangeArrowheads="1"/>
          </p:cNvSpPr>
          <p:nvPr>
            <p:ph type="subTitle" sz="quarter" idx="1"/>
          </p:nvPr>
        </p:nvSpPr>
        <p:spPr>
          <a:xfrm>
            <a:off x="7226300" y="4310063"/>
            <a:ext cx="3776133" cy="1752600"/>
          </a:xfrm>
        </p:spPr>
        <p:txBody>
          <a:bodyPr/>
          <a:lstStyle>
            <a:lvl1pPr marL="0" indent="0" algn="ctr">
              <a:buFontTx/>
              <a:buNone/>
              <a:defRPr sz="1400">
                <a:latin typeface="Times New Roman"/>
                <a:ea typeface="SimSun"/>
                <a:cs typeface="Times New Roman"/>
              </a:defRPr>
            </a:lvl1pPr>
          </a:lstStyle>
          <a:p>
            <a:r>
              <a:rPr lang="en-US">
                <a:latin typeface="Times New Roman"/>
                <a:ea typeface="SimSun"/>
                <a:cs typeface="Times New Roman"/>
              </a:rPr>
              <a:t>Click to edit Master subtitle style</a:t>
            </a:r>
          </a:p>
        </p:txBody>
      </p:sp>
    </p:spTree>
    <p:extLst>
      <p:ext uri="{BB962C8B-B14F-4D97-AF65-F5344CB8AC3E}">
        <p14:creationId xmlns:p14="http://schemas.microsoft.com/office/powerpoint/2010/main" val="1984300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日期占位符 3"/>
          <p:cNvSpPr>
            <a:spLocks noGrp="1"/>
          </p:cNvSpPr>
          <p:nvPr>
            <p:ph type="dt" sz="half"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页脚占位符 4"/>
          <p:cNvSpPr>
            <a:spLocks noGrp="1"/>
          </p:cNvSpPr>
          <p:nvPr>
            <p:ph type="ftr"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5"/>
          <p:cNvSpPr>
            <a:spLocks noGrp="1"/>
          </p:cNvSpPr>
          <p:nvPr>
            <p:ph type="sldNum" sz="quarter" idx="12"/>
          </p:nvPr>
        </p:nvSpPr>
        <p:spPr>
          <a:xfrm>
            <a:off x="9309100" y="6400801"/>
            <a:ext cx="2844800" cy="365125"/>
          </a:xfrm>
        </p:spPr>
        <p:txBody>
          <a:bodyPr/>
          <a:lstStyle>
            <a:lvl1pPr>
              <a:defRPr b="1" smtClean="0">
                <a:solidFill>
                  <a:schemeClr val="tx1"/>
                </a:solidFill>
                <a:latin typeface="Times New Roman"/>
                <a:ea typeface="SimSun"/>
                <a:cs typeface="Times New Roman"/>
              </a:defRPr>
            </a:lvl1p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a:t>
            </a:fld>
            <a:endParaRPr lang="en-US" altLang="zh-CN" dirty="0">
              <a:latin typeface="Times New Roman"/>
              <a:ea typeface="SimSun"/>
              <a:cs typeface="Times New Roman"/>
            </a:endParaRPr>
          </a:p>
        </p:txBody>
      </p:sp>
    </p:spTree>
    <p:extLst>
      <p:ext uri="{BB962C8B-B14F-4D97-AF65-F5344CB8AC3E}">
        <p14:creationId xmlns:p14="http://schemas.microsoft.com/office/powerpoint/2010/main" val="3277080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a:ea typeface="SimSun"/>
                <a:cs typeface="Times New Roman"/>
              </a:defRPr>
            </a:lvl1pPr>
            <a:lvl2pPr marL="457200" indent="0">
              <a:buNone/>
              <a:defRPr sz="1800">
                <a:latin typeface="Times New Roman"/>
                <a:ea typeface="SimSun"/>
                <a:cs typeface="Times New Roman"/>
              </a:defRPr>
            </a:lvl2pPr>
            <a:lvl3pPr marL="914400" indent="0">
              <a:buNone/>
              <a:defRPr sz="1600">
                <a:latin typeface="Times New Roman"/>
                <a:ea typeface="SimSun"/>
                <a:cs typeface="Times New Roman"/>
              </a:defRPr>
            </a:lvl3pPr>
            <a:lvl4pPr marL="1371600" indent="0">
              <a:buNone/>
              <a:defRPr sz="1400">
                <a:latin typeface="Times New Roman"/>
                <a:ea typeface="SimSun"/>
                <a:cs typeface="Times New Roman"/>
              </a:defRPr>
            </a:lvl4pPr>
            <a:lvl5pPr marL="1828800" indent="0">
              <a:buNone/>
              <a:defRPr sz="1400">
                <a:latin typeface="Times New Roman"/>
                <a:ea typeface="SimSun"/>
                <a:cs typeface="Times New Roman"/>
              </a:defRPr>
            </a:lvl5pPr>
            <a:lvl6pPr marL="2286000" indent="0">
              <a:buNone/>
              <a:defRPr sz="1400">
                <a:latin typeface="Times New Roman"/>
                <a:ea typeface="SimSun"/>
                <a:cs typeface="Times New Roman"/>
              </a:defRPr>
            </a:lvl6pPr>
            <a:lvl7pPr marL="2743200" indent="0">
              <a:buNone/>
              <a:defRPr sz="1400">
                <a:latin typeface="Times New Roman"/>
                <a:ea typeface="SimSun"/>
                <a:cs typeface="Times New Roman"/>
              </a:defRPr>
            </a:lvl7pPr>
            <a:lvl8pPr marL="3200400" indent="0">
              <a:buNone/>
              <a:defRPr sz="1400">
                <a:latin typeface="Times New Roman"/>
                <a:ea typeface="SimSun"/>
                <a:cs typeface="Times New Roman"/>
              </a:defRPr>
            </a:lvl8pPr>
            <a:lvl9pPr marL="3657600" indent="0">
              <a:buNone/>
              <a:defRPr sz="14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4318643B-F044-403A-A26B-E19A2779F296}"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6"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33486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half" idx="2"/>
          </p:nvPr>
        </p:nvSpPr>
        <p:spPr>
          <a:xfrm>
            <a:off x="6402918" y="1266826"/>
            <a:ext cx="5513916"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382F559E-D686-4501-B9B1-B66DF32CCD44}"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3687366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7"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8"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132E20B-2FAD-4EA5-8E1A-D35CF873D98B}"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9"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873076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E3BADF75-6C80-4FD4-8F49-963DFD143859}"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4714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3"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1EC92CF4-4B23-48B8-BC45-AC3B141B1498}"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4"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90972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atin typeface="Times New Roman"/>
                <a:ea typeface="SimSun"/>
                <a:cs typeface="Times New Roman"/>
              </a:defRPr>
            </a:lvl1pPr>
            <a:lvl2pPr>
              <a:defRPr sz="2800">
                <a:latin typeface="Times New Roman"/>
                <a:ea typeface="SimSun"/>
                <a:cs typeface="Times New Roman"/>
              </a:defRPr>
            </a:lvl2pPr>
            <a:lvl3pPr>
              <a:defRPr sz="2400">
                <a:latin typeface="Times New Roman"/>
                <a:ea typeface="SimSun"/>
                <a:cs typeface="Times New Roman"/>
              </a:defRPr>
            </a:lvl3pPr>
            <a:lvl4pPr>
              <a:defRPr sz="2000">
                <a:latin typeface="Times New Roman"/>
                <a:ea typeface="SimSun"/>
                <a:cs typeface="Times New Roman"/>
              </a:defRPr>
            </a:lvl4pPr>
            <a:lvl5pPr>
              <a:defRPr sz="2000">
                <a:latin typeface="Times New Roman"/>
                <a:ea typeface="SimSun"/>
                <a:cs typeface="Times New Roman"/>
              </a:defRPr>
            </a:lvl5pPr>
            <a:lvl6pPr>
              <a:defRPr sz="2000">
                <a:latin typeface="Times New Roman"/>
                <a:ea typeface="SimSun"/>
                <a:cs typeface="Times New Roman"/>
              </a:defRPr>
            </a:lvl6pPr>
            <a:lvl7pPr>
              <a:defRPr sz="2000">
                <a:latin typeface="Times New Roman"/>
                <a:ea typeface="SimSun"/>
                <a:cs typeface="Times New Roman"/>
              </a:defRPr>
            </a:lvl7pPr>
            <a:lvl8pPr>
              <a:defRPr sz="2000">
                <a:latin typeface="Times New Roman"/>
                <a:ea typeface="SimSun"/>
                <a:cs typeface="Times New Roman"/>
              </a:defRPr>
            </a:lvl8pPr>
            <a:lvl9pPr>
              <a:defRPr sz="20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Times New Roman"/>
                <a:ea typeface="SimSun"/>
                <a:cs typeface="Times New Roman"/>
              </a:defRPr>
            </a:lvl1pPr>
            <a:lvl2pPr marL="457200" indent="0">
              <a:buNone/>
              <a:defRPr sz="1200">
                <a:latin typeface="Times New Roman"/>
                <a:ea typeface="SimSun"/>
                <a:cs typeface="Times New Roman"/>
              </a:defRPr>
            </a:lvl2pPr>
            <a:lvl3pPr marL="914400" indent="0">
              <a:buNone/>
              <a:defRPr sz="1000">
                <a:latin typeface="Times New Roman"/>
                <a:ea typeface="SimSun"/>
                <a:cs typeface="Times New Roman"/>
              </a:defRPr>
            </a:lvl3pPr>
            <a:lvl4pPr marL="1371600" indent="0">
              <a:buNone/>
              <a:defRPr sz="900">
                <a:latin typeface="Times New Roman"/>
                <a:ea typeface="SimSun"/>
                <a:cs typeface="Times New Roman"/>
              </a:defRPr>
            </a:lvl4pPr>
            <a:lvl5pPr marL="1828800" indent="0">
              <a:buNone/>
              <a:defRPr sz="900">
                <a:latin typeface="Times New Roman"/>
                <a:ea typeface="SimSun"/>
                <a:cs typeface="Times New Roman"/>
              </a:defRPr>
            </a:lvl5pPr>
            <a:lvl6pPr marL="2286000" indent="0">
              <a:buNone/>
              <a:defRPr sz="900">
                <a:latin typeface="Times New Roman"/>
                <a:ea typeface="SimSun"/>
                <a:cs typeface="Times New Roman"/>
              </a:defRPr>
            </a:lvl6pPr>
            <a:lvl7pPr marL="2743200" indent="0">
              <a:buNone/>
              <a:defRPr sz="900">
                <a:latin typeface="Times New Roman"/>
                <a:ea typeface="SimSun"/>
                <a:cs typeface="Times New Roman"/>
              </a:defRPr>
            </a:lvl7pPr>
            <a:lvl8pPr marL="3200400" indent="0">
              <a:buNone/>
              <a:defRPr sz="900">
                <a:latin typeface="Times New Roman"/>
                <a:ea typeface="SimSun"/>
                <a:cs typeface="Times New Roman"/>
              </a:defRPr>
            </a:lvl8pPr>
            <a:lvl9pPr marL="3657600" indent="0">
              <a:buNone/>
              <a:defRPr sz="9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BD49AF38-BE50-4A44-A420-A5410B37805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63434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813984" y="0"/>
            <a:ext cx="10261600" cy="838200"/>
          </a:xfrm>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quarter" idx="2"/>
          </p:nvPr>
        </p:nvSpPr>
        <p:spPr>
          <a:xfrm>
            <a:off x="6402918" y="1266825"/>
            <a:ext cx="5513916" cy="2338388"/>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Content Placeholder 4"/>
          <p:cNvSpPr>
            <a:spLocks noGrp="1"/>
          </p:cNvSpPr>
          <p:nvPr>
            <p:ph sz="quarter" idx="3"/>
          </p:nvPr>
        </p:nvSpPr>
        <p:spPr>
          <a:xfrm>
            <a:off x="6402918" y="3757614"/>
            <a:ext cx="5513916" cy="2338387"/>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6"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7"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63A3B1E-E2F6-4459-B9A7-7A059C28BC97}"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8"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665704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0"/>
            <a:ext cx="11389784" cy="6096000"/>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627A70D2-390B-4F3A-A683-62955420082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44262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813984" y="0"/>
            <a:ext cx="1026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latin typeface="Times New Roman"/>
                <a:ea typeface="SimSun"/>
                <a:cs typeface="Times New Roman"/>
              </a:rPr>
              <a:t>Click to edit Master title style</a:t>
            </a:r>
          </a:p>
        </p:txBody>
      </p:sp>
      <p:sp>
        <p:nvSpPr>
          <p:cNvPr id="2051" name="Rectangle 3"/>
          <p:cNvSpPr>
            <a:spLocks noGrp="1" noChangeArrowheads="1"/>
          </p:cNvSpPr>
          <p:nvPr>
            <p:ph type="body" idx="1"/>
          </p:nvPr>
        </p:nvSpPr>
        <p:spPr bwMode="auto">
          <a:xfrm>
            <a:off x="685801" y="1266826"/>
            <a:ext cx="11231033"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latin typeface="Times New Roman"/>
                <a:ea typeface="SimSun"/>
                <a:cs typeface="Times New Roman"/>
              </a:rPr>
              <a:t>Click to edit Master text styles</a:t>
            </a:r>
          </a:p>
          <a:p>
            <a:pPr lvl="1"/>
            <a:r>
              <a:rPr lang="en-US" altLang="zh-CN">
                <a:latin typeface="Times New Roman"/>
                <a:ea typeface="SimSun"/>
                <a:cs typeface="Times New Roman"/>
              </a:rPr>
              <a:t>Second level</a:t>
            </a:r>
          </a:p>
          <a:p>
            <a:pPr lvl="2"/>
            <a:r>
              <a:rPr lang="en-US" altLang="zh-CN">
                <a:latin typeface="Times New Roman"/>
                <a:ea typeface="SimSun"/>
                <a:cs typeface="Times New Roman"/>
              </a:rPr>
              <a:t>Third level</a:t>
            </a:r>
          </a:p>
          <a:p>
            <a:pPr lvl="3"/>
            <a:r>
              <a:rPr lang="en-US" altLang="zh-CN">
                <a:latin typeface="Times New Roman"/>
                <a:ea typeface="SimSun"/>
                <a:cs typeface="Times New Roman"/>
              </a:rPr>
              <a:t>Fourth level</a:t>
            </a:r>
          </a:p>
          <a:p>
            <a:pPr lvl="4"/>
            <a:r>
              <a:rPr lang="en-US" altLang="zh-CN">
                <a:latin typeface="Times New Roman"/>
                <a:ea typeface="SimSun"/>
                <a:cs typeface="Times New Roman"/>
              </a:rPr>
              <a:t>Fifth level</a:t>
            </a:r>
          </a:p>
        </p:txBody>
      </p:sp>
      <p:pic>
        <p:nvPicPr>
          <p:cNvPr id="2052" name="Picture 5" descr="polylogo"/>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 y="-15875"/>
            <a:ext cx="895349"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bwMode="auto">
          <a:xfrm>
            <a:off x="0" y="914400"/>
            <a:ext cx="203200" cy="5943600"/>
          </a:xfrm>
          <a:prstGeom prst="rect">
            <a:avLst/>
          </a:prstGeom>
          <a:gradFill>
            <a:gsLst>
              <a:gs pos="42000">
                <a:srgbClr val="A50021"/>
              </a:gs>
              <a:gs pos="0">
                <a:schemeClr val="accent1">
                  <a:lumMod val="5000"/>
                  <a:lumOff val="95000"/>
                </a:schemeClr>
              </a:gs>
              <a:gs pos="61000">
                <a:srgbClr val="A50021"/>
              </a:gs>
              <a:gs pos="100000">
                <a:schemeClr val="accent1">
                  <a:lumMod val="30000"/>
                  <a:lumOff val="7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2" name="Rectangle 1"/>
          <p:cNvSpPr/>
          <p:nvPr userDrawn="1"/>
        </p:nvSpPr>
        <p:spPr bwMode="auto">
          <a:xfrm rot="5400000">
            <a:off x="6072982" y="-5204618"/>
            <a:ext cx="46037" cy="12192000"/>
          </a:xfrm>
          <a:prstGeom prst="rect">
            <a:avLst/>
          </a:prstGeom>
          <a:gradFill>
            <a:gsLst>
              <a:gs pos="0">
                <a:schemeClr val="accent1">
                  <a:lumMod val="5000"/>
                  <a:lumOff val="95000"/>
                </a:schemeClr>
              </a:gs>
              <a:gs pos="100000">
                <a:srgbClr val="A50021"/>
              </a:gs>
              <a:gs pos="100000">
                <a:schemeClr val="accent5">
                  <a:lumMod val="60000"/>
                  <a:lumOff val="4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3" name="页脚占位符 2"/>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latin typeface="Times New Roman"/>
                <a:ea typeface="SimSun"/>
                <a:cs typeface="Times New Roman"/>
              </a:defRPr>
            </a:lvl1pPr>
          </a:lstStyle>
          <a:p>
            <a:pPr>
              <a:defRPr>
                <a:latin typeface="Times New Roman"/>
                <a:ea typeface="SimSun"/>
                <a:cs typeface="Times New Roman"/>
              </a:defRPr>
            </a:pPr>
            <a:fld id="{478E3191-473E-4F99-9695-3EEFEE2024C3}"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Tree>
  </p:cSld>
  <p:clrMap bg1="lt1" tx1="dk1" bg2="lt2" tx2="dk2" accent1="accent1" accent2="accent2" accent3="accent3" accent4="accent4" accent5="accent5" accent6="accent6" hlink="hlink" folHlink="folHlink"/>
  <p:sldLayoutIdLst>
    <p:sldLayoutId id="2147486057" r:id="rId1"/>
    <p:sldLayoutId id="2147486058" r:id="rId2"/>
    <p:sldLayoutId id="2147486037" r:id="rId3"/>
    <p:sldLayoutId id="2147486038" r:id="rId4"/>
    <p:sldLayoutId id="2147486039" r:id="rId5"/>
    <p:sldLayoutId id="2147486040" r:id="rId6"/>
    <p:sldLayoutId id="2147486041" r:id="rId7"/>
    <p:sldLayoutId id="2147486042" r:id="rId8"/>
    <p:sldLayoutId id="2147486043" r:id="rId9"/>
    <p:sldLayoutId id="2147486044" r:id="rId10"/>
  </p:sldLayoutIdLst>
  <p:hf hdr="0" ftr="0" dt="0"/>
  <p:txStyles>
    <p:titleStyle>
      <a:lvl1pPr algn="l" rtl="0" eaLnBrk="0" fontAlgn="base" hangingPunct="0">
        <a:lnSpc>
          <a:spcPts val="2800"/>
        </a:lnSpc>
        <a:spcBef>
          <a:spcPct val="0"/>
        </a:spcBef>
        <a:spcAft>
          <a:spcPct val="0"/>
        </a:spcAft>
        <a:defRPr sz="3200">
          <a:solidFill>
            <a:schemeClr val="tx1"/>
          </a:solidFill>
          <a:latin typeface="Times New Roman"/>
          <a:ea typeface="SimSun" panose="020B0600070205080204" pitchFamily="34" charset="-128"/>
          <a:cs typeface="Times New Roman" pitchFamily="-111" charset="-128"/>
        </a:defRPr>
      </a:lvl1pPr>
      <a:lvl2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2pPr>
      <a:lvl3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3pPr>
      <a:lvl4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4pPr>
      <a:lvl5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5pPr>
      <a:lvl6pPr marL="457200" algn="l" rtl="0" fontAlgn="base">
        <a:lnSpc>
          <a:spcPts val="2800"/>
        </a:lnSpc>
        <a:spcBef>
          <a:spcPct val="0"/>
        </a:spcBef>
        <a:spcAft>
          <a:spcPct val="0"/>
        </a:spcAft>
        <a:defRPr sz="2600">
          <a:solidFill>
            <a:schemeClr val="tx1"/>
          </a:solidFill>
          <a:latin typeface="Times New Roman" charset="0"/>
          <a:ea typeface="SimSun"/>
          <a:cs typeface="Times New Roman"/>
        </a:defRPr>
      </a:lvl6pPr>
      <a:lvl7pPr marL="914400" algn="l" rtl="0" fontAlgn="base">
        <a:lnSpc>
          <a:spcPts val="2800"/>
        </a:lnSpc>
        <a:spcBef>
          <a:spcPct val="0"/>
        </a:spcBef>
        <a:spcAft>
          <a:spcPct val="0"/>
        </a:spcAft>
        <a:defRPr sz="2600">
          <a:solidFill>
            <a:schemeClr val="tx1"/>
          </a:solidFill>
          <a:latin typeface="Times New Roman" charset="0"/>
          <a:ea typeface="SimSun"/>
          <a:cs typeface="Times New Roman"/>
        </a:defRPr>
      </a:lvl7pPr>
      <a:lvl8pPr marL="1371600" algn="l" rtl="0" fontAlgn="base">
        <a:lnSpc>
          <a:spcPts val="2800"/>
        </a:lnSpc>
        <a:spcBef>
          <a:spcPct val="0"/>
        </a:spcBef>
        <a:spcAft>
          <a:spcPct val="0"/>
        </a:spcAft>
        <a:defRPr sz="2600">
          <a:solidFill>
            <a:schemeClr val="tx1"/>
          </a:solidFill>
          <a:latin typeface="Times New Roman" charset="0"/>
          <a:ea typeface="SimSun"/>
          <a:cs typeface="Times New Roman"/>
        </a:defRPr>
      </a:lvl8pPr>
      <a:lvl9pPr marL="1828800" algn="l" rtl="0" fontAlgn="base">
        <a:lnSpc>
          <a:spcPts val="2800"/>
        </a:lnSpc>
        <a:spcBef>
          <a:spcPct val="0"/>
        </a:spcBef>
        <a:spcAft>
          <a:spcPct val="0"/>
        </a:spcAft>
        <a:defRPr sz="2600">
          <a:solidFill>
            <a:schemeClr val="tx1"/>
          </a:solidFill>
          <a:latin typeface="Times New Roman" charset="0"/>
          <a:ea typeface="SimSun"/>
          <a:cs typeface="Times New Roman"/>
        </a:defRPr>
      </a:lvl9pPr>
    </p:titleStyle>
    <p:body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p:bodyStyle>
    <p:otherStyle>
      <a:defPPr>
        <a:defRPr lang="en-US">
          <a:latin typeface="Times New Roman"/>
          <a:ea typeface="SimSun"/>
          <a:cs typeface="Times New Roman"/>
        </a:defRPr>
      </a:defPPr>
      <a:lvl1pPr marL="0" algn="l" defTabSz="457200" rtl="0" eaLnBrk="1" latinLnBrk="0" hangingPunct="1">
        <a:defRPr sz="1800" kern="1200">
          <a:solidFill>
            <a:schemeClr val="tx1"/>
          </a:solidFill>
          <a:latin typeface="Times New Roman"/>
          <a:ea typeface="SimSun"/>
          <a:cs typeface="Times New Roman"/>
        </a:defRPr>
      </a:lvl1pPr>
      <a:lvl2pPr marL="457200" algn="l" defTabSz="457200" rtl="0" eaLnBrk="1" latinLnBrk="0" hangingPunct="1">
        <a:defRPr sz="1800" kern="1200">
          <a:solidFill>
            <a:schemeClr val="tx1"/>
          </a:solidFill>
          <a:latin typeface="Times New Roman"/>
          <a:ea typeface="SimSun"/>
          <a:cs typeface="Times New Roman"/>
        </a:defRPr>
      </a:lvl2pPr>
      <a:lvl3pPr marL="914400" algn="l" defTabSz="457200" rtl="0" eaLnBrk="1" latinLnBrk="0" hangingPunct="1">
        <a:defRPr sz="1800" kern="1200">
          <a:solidFill>
            <a:schemeClr val="tx1"/>
          </a:solidFill>
          <a:latin typeface="Times New Roman"/>
          <a:ea typeface="SimSun"/>
          <a:cs typeface="Times New Roman"/>
        </a:defRPr>
      </a:lvl3pPr>
      <a:lvl4pPr marL="1371600" algn="l" defTabSz="457200" rtl="0" eaLnBrk="1" latinLnBrk="0" hangingPunct="1">
        <a:defRPr sz="1800" kern="1200">
          <a:solidFill>
            <a:schemeClr val="tx1"/>
          </a:solidFill>
          <a:latin typeface="Times New Roman"/>
          <a:ea typeface="SimSun"/>
          <a:cs typeface="Times New Roman"/>
        </a:defRPr>
      </a:lvl4pPr>
      <a:lvl5pPr marL="1828800" algn="l" defTabSz="457200" rtl="0" eaLnBrk="1" latinLnBrk="0" hangingPunct="1">
        <a:defRPr sz="1800" kern="1200">
          <a:solidFill>
            <a:schemeClr val="tx1"/>
          </a:solidFill>
          <a:latin typeface="Times New Roman"/>
          <a:ea typeface="SimSun"/>
          <a:cs typeface="Times New Roman"/>
        </a:defRPr>
      </a:lvl5pPr>
      <a:lvl6pPr marL="2286000" algn="l" defTabSz="457200" rtl="0" eaLnBrk="1" latinLnBrk="0" hangingPunct="1">
        <a:defRPr sz="1800" kern="1200">
          <a:solidFill>
            <a:schemeClr val="tx1"/>
          </a:solidFill>
          <a:latin typeface="Times New Roman"/>
          <a:ea typeface="SimSun"/>
          <a:cs typeface="Times New Roman"/>
        </a:defRPr>
      </a:lvl6pPr>
      <a:lvl7pPr marL="2743200" algn="l" defTabSz="457200" rtl="0" eaLnBrk="1" latinLnBrk="0" hangingPunct="1">
        <a:defRPr sz="1800" kern="1200">
          <a:solidFill>
            <a:schemeClr val="tx1"/>
          </a:solidFill>
          <a:latin typeface="Times New Roman"/>
          <a:ea typeface="SimSun"/>
          <a:cs typeface="Times New Roman"/>
        </a:defRPr>
      </a:lvl7pPr>
      <a:lvl8pPr marL="3200400" algn="l" defTabSz="457200" rtl="0" eaLnBrk="1" latinLnBrk="0" hangingPunct="1">
        <a:defRPr sz="1800" kern="1200">
          <a:solidFill>
            <a:schemeClr val="tx1"/>
          </a:solidFill>
          <a:latin typeface="Times New Roman"/>
          <a:ea typeface="SimSun"/>
          <a:cs typeface="Times New Roman"/>
        </a:defRPr>
      </a:lvl8pPr>
      <a:lvl9pPr marL="3657600" algn="l" defTabSz="457200" rtl="0" eaLnBrk="1" latinLnBrk="0" hangingPunct="1">
        <a:defRPr sz="1800" kern="1200">
          <a:solidFill>
            <a:schemeClr val="tx1"/>
          </a:solidFill>
          <a:latin typeface="Times New Roman"/>
          <a:ea typeface="SimSun"/>
          <a:cs typeface="Times New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oleObject" Target="../embeddings/oleObject1.bin"/><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10" Type="http://schemas.openxmlformats.org/officeDocument/2006/relationships/image" Target="../media/image31.png"/><Relationship Id="rId4" Type="http://schemas.openxmlformats.org/officeDocument/2006/relationships/image" Target="../media/image27.emf"/><Relationship Id="rId9" Type="http://schemas.openxmlformats.org/officeDocument/2006/relationships/image" Target="../media/image30.png"/><Relationship Id="rId1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emf"/></Relationships>
</file>

<file path=ppt/slides/_rels/slide19.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41.png"/><Relationship Id="rId5" Type="http://schemas.openxmlformats.org/officeDocument/2006/relationships/image" Target="../media/image46.png"/><Relationship Id="rId10" Type="http://schemas.openxmlformats.org/officeDocument/2006/relationships/image" Target="../media/image40.png"/><Relationship Id="rId4" Type="http://schemas.openxmlformats.org/officeDocument/2006/relationships/image" Target="../media/image45.png"/><Relationship Id="rId9" Type="http://schemas.openxmlformats.org/officeDocument/2006/relationships/image" Target="../media/image390.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bin"/><Relationship Id="rId7" Type="http://schemas.openxmlformats.org/officeDocument/2006/relationships/image" Target="../media/image44.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43.jpg"/><Relationship Id="rId4" Type="http://schemas.openxmlformats.org/officeDocument/2006/relationships/image" Target="../media/image54.png"/><Relationship Id="rId9" Type="http://schemas.openxmlformats.org/officeDocument/2006/relationships/image" Target="../media/image45.emf"/></Relationships>
</file>

<file path=ppt/slides/_rels/slide2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image" Target="../media/image50.png"/><Relationship Id="rId7" Type="http://schemas.openxmlformats.org/officeDocument/2006/relationships/oleObject" Target="../embeddings/oleObject5.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4.png"/><Relationship Id="rId10" Type="http://schemas.openxmlformats.org/officeDocument/2006/relationships/image" Target="../media/image53.emf"/><Relationship Id="rId4" Type="http://schemas.openxmlformats.org/officeDocument/2006/relationships/image" Target="../media/image51.png"/><Relationship Id="rId9"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6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27.xml"/><Relationship Id="rId16"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67.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emf"/></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6.emf"/><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8" Type="http://schemas.openxmlformats.org/officeDocument/2006/relationships/hyperlink" Target="https://www.sciencedirect.com/science/article/pii/S0029549314001496#bib0005" TargetMode="External"/><Relationship Id="rId3" Type="http://schemas.openxmlformats.org/officeDocument/2006/relationships/oleObject" Target="../embeddings/oleObject10.bin"/><Relationship Id="rId7" Type="http://schemas.openxmlformats.org/officeDocument/2006/relationships/image" Target="../media/image99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980.png"/><Relationship Id="rId10" Type="http://schemas.openxmlformats.org/officeDocument/2006/relationships/image" Target="../media/image1010.png"/><Relationship Id="rId4" Type="http://schemas.openxmlformats.org/officeDocument/2006/relationships/image" Target="../media/image77.emf"/><Relationship Id="rId9" Type="http://schemas.openxmlformats.org/officeDocument/2006/relationships/image" Target="../media/image1000.png"/></Relationships>
</file>

<file path=ppt/slides/_rels/slide3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oleObject" Target="../embeddings/oleObject11.bin"/><Relationship Id="rId7"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78.emf"/><Relationship Id="rId9" Type="http://schemas.openxmlformats.org/officeDocument/2006/relationships/image" Target="../media/image93.png"/></Relationships>
</file>

<file path=ppt/slides/_rels/slide3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oleObject" Target="../embeddings/oleObject12.bin"/><Relationship Id="rId7" Type="http://schemas.openxmlformats.org/officeDocument/2006/relationships/image" Target="../media/image9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1.png"/><Relationship Id="rId4" Type="http://schemas.openxmlformats.org/officeDocument/2006/relationships/image" Target="../media/image94.emf"/></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104.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59.jpg"/><Relationship Id="rId7" Type="http://schemas.openxmlformats.org/officeDocument/2006/relationships/image" Target="../media/image106.em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08.emf"/><Relationship Id="rId5" Type="http://schemas.openxmlformats.org/officeDocument/2006/relationships/image" Target="../media/image105.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07.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39.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12.png"/><Relationship Id="rId4" Type="http://schemas.openxmlformats.org/officeDocument/2006/relationships/image" Target="../media/image131.png"/></Relationships>
</file>

<file path=ppt/slides/_rels/slide40.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2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15.png"/><Relationship Id="rId4" Type="http://schemas.openxmlformats.org/officeDocument/2006/relationships/image" Target="../media/image114.png"/></Relationships>
</file>

<file path=ppt/slides/_rels/slide4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30.png"/></Relationships>
</file>

<file path=ppt/slides/_rels/slide42.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17.png"/><Relationship Id="rId7" Type="http://schemas.openxmlformats.org/officeDocument/2006/relationships/image" Target="../media/image12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19.png"/><Relationship Id="rId4" Type="http://schemas.openxmlformats.org/officeDocument/2006/relationships/image" Target="../media/image118.png"/></Relationships>
</file>

<file path=ppt/slides/_rels/slide43.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3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23.png"/><Relationship Id="rId4" Type="http://schemas.openxmlformats.org/officeDocument/2006/relationships/image" Target="../media/image122.png"/></Relationships>
</file>

<file path=ppt/slides/_rels/slide4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4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132.png"/><Relationship Id="rId7" Type="http://schemas.openxmlformats.org/officeDocument/2006/relationships/image" Target="../media/image133.e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53.png"/><Relationship Id="rId9" Type="http://schemas.openxmlformats.org/officeDocument/2006/relationships/image" Target="../media/image134.emf"/></Relationships>
</file>

<file path=ppt/slides/_rels/slide4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40.emf"/><Relationship Id="rId5" Type="http://schemas.openxmlformats.org/officeDocument/2006/relationships/oleObject" Target="../embeddings/oleObject19.bin"/><Relationship Id="rId4" Type="http://schemas.openxmlformats.org/officeDocument/2006/relationships/image" Target="../media/image139.png"/></Relationships>
</file>

<file path=ppt/slides/_rels/slide50.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1.png"/><Relationship Id="rId7" Type="http://schemas.openxmlformats.org/officeDocument/2006/relationships/image" Target="../media/image146.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49.png"/><Relationship Id="rId5" Type="http://schemas.openxmlformats.org/officeDocument/2006/relationships/image" Target="../media/image144.png"/><Relationship Id="rId10" Type="http://schemas.openxmlformats.org/officeDocument/2006/relationships/image" Target="../media/image148.png"/><Relationship Id="rId4" Type="http://schemas.openxmlformats.org/officeDocument/2006/relationships/image" Target="../media/image142.jpeg"/><Relationship Id="rId9" Type="http://schemas.openxmlformats.org/officeDocument/2006/relationships/image" Target="../media/image103.png"/></Relationships>
</file>

<file path=ppt/slides/_rels/slide51.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0.png"/><Relationship Id="rId7" Type="http://schemas.openxmlformats.org/officeDocument/2006/relationships/image" Target="../media/image15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2.png"/><Relationship Id="rId10" Type="http://schemas.openxmlformats.org/officeDocument/2006/relationships/image" Target="../media/image159.png"/><Relationship Id="rId4" Type="http://schemas.openxmlformats.org/officeDocument/2006/relationships/image" Target="../media/image151.png"/><Relationship Id="rId9" Type="http://schemas.openxmlformats.org/officeDocument/2006/relationships/image" Target="../media/image158.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53.xml.rels><?xml version="1.0" encoding="UTF-8" standalone="yes"?>
<Relationships xmlns="http://schemas.openxmlformats.org/package/2006/relationships"><Relationship Id="rId8" Type="http://schemas.openxmlformats.org/officeDocument/2006/relationships/image" Target="../media/image166.jpg"/><Relationship Id="rId3" Type="http://schemas.openxmlformats.org/officeDocument/2006/relationships/image" Target="../media/image161.png"/><Relationship Id="rId7" Type="http://schemas.openxmlformats.org/officeDocument/2006/relationships/image" Target="../media/image165.jp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 Id="rId9" Type="http://schemas.openxmlformats.org/officeDocument/2006/relationships/image" Target="../media/image191.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68.emf"/><Relationship Id="rId5" Type="http://schemas.openxmlformats.org/officeDocument/2006/relationships/oleObject" Target="../embeddings/oleObject22.bin"/><Relationship Id="rId4" Type="http://schemas.openxmlformats.org/officeDocument/2006/relationships/image" Target="../media/image167.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6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oleObject" Target="../embeddings/oleObject23.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ubTitle" sz="quarter" idx="1"/>
          </p:nvPr>
        </p:nvSpPr>
        <p:spPr>
          <a:xfrm>
            <a:off x="3352800" y="4038600"/>
            <a:ext cx="5334000" cy="1981200"/>
          </a:xfrm>
        </p:spPr>
        <p:txBody>
          <a:bodyPr/>
          <a:lstStyle/>
          <a:p>
            <a:pPr>
              <a:lnSpc>
                <a:spcPct val="90000"/>
              </a:lnSpc>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Presenter: MA </a:t>
            </a:r>
            <a:r>
              <a:rPr lang="en-US" altLang="zh-CN" sz="2000" b="1" dirty="0" err="1">
                <a:latin typeface="Times New Roman" panose="02020603050405020304" pitchFamily="18" charset="0"/>
                <a:ea typeface="SimSun" panose="02010600030101010101" pitchFamily="2" charset="-122"/>
                <a:cs typeface="Times New Roman" panose="02020603050405020304" pitchFamily="18" charset="0"/>
              </a:rPr>
              <a:t>Xiaochen</a:t>
            </a:r>
            <a:endParaRPr lang="en-US" altLang="zh-CN" sz="20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22 July 2024</a:t>
            </a:r>
          </a:p>
        </p:txBody>
      </p:sp>
      <p:sp>
        <p:nvSpPr>
          <p:cNvPr id="19459" name="Rectangle 5"/>
          <p:cNvSpPr>
            <a:spLocks noChangeArrowheads="1"/>
          </p:cNvSpPr>
          <p:nvPr/>
        </p:nvSpPr>
        <p:spPr bwMode="auto">
          <a:xfrm>
            <a:off x="2057400" y="43434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19460" name="Rectangle 6"/>
          <p:cNvSpPr>
            <a:spLocks noGrp="1" noChangeArrowheads="1"/>
          </p:cNvSpPr>
          <p:nvPr>
            <p:ph type="ctrTitle" sz="quarter"/>
          </p:nvPr>
        </p:nvSpPr>
        <p:spPr>
          <a:xfrm>
            <a:off x="429623" y="2043100"/>
            <a:ext cx="11332753" cy="1469803"/>
          </a:xfrm>
        </p:spPr>
        <p:txBody>
          <a:bodyPr wrap="square" tIns="0" bIns="0">
            <a:noAutofit/>
          </a:bodyPr>
          <a:lstStyle/>
          <a:p>
            <a:pPr algn="l">
              <a:lnSpc>
                <a:spcPct val="108000"/>
              </a:lnSpc>
              <a:spcAft>
                <a:spcPts val="300"/>
              </a:spcAft>
            </a:pPr>
            <a:r>
              <a:rPr lang="en-US" altLang="zh-CN" sz="2600" dirty="0">
                <a:latin typeface="Times New Roman" panose="02020603050405020304" pitchFamily="18" charset="0"/>
                <a:ea typeface="SimSun" panose="02010600030101010101" pitchFamily="2" charset="-122"/>
                <a:cs typeface="Times New Roman" panose="02020603050405020304" pitchFamily="18" charset="0"/>
              </a:rPr>
              <a:t>Development of new water spray strategies for improving the energy performance of indirect evaporative cooling systems</a:t>
            </a:r>
            <a:br/>
            <a:r>
              <a:rPr sz="2132" lang="zh-CN">
                <a:solidFill>
                  <a:srgbClr val="FFFFFF"/>
                </a:solidFill>
                <a:latin typeface="Times New Roman"/>
                <a:ea typeface="SimSun"/>
                <a:cs typeface="Times New Roman"/>
              </a:rPr>
              <a:t>新型喷淋策略开发及其对间接蒸发冷却系统能效的提升</a:t>
            </a:r>
          </a:p>
        </p:txBody>
      </p:sp>
      <p:sp>
        <p:nvSpPr>
          <p:cNvPr id="7" name="矩形 6">
            <a:extLst>
              <a:ext uri="{FF2B5EF4-FFF2-40B4-BE49-F238E27FC236}">
                <a16:creationId xmlns:a16="http://schemas.microsoft.com/office/drawing/2014/main" id="{67B468AD-3765-4211-97AE-355D9398DFA4}"/>
              </a:ext>
            </a:extLst>
          </p:cNvPr>
          <p:cNvSpPr/>
          <p:nvPr/>
        </p:nvSpPr>
        <p:spPr bwMode="auto">
          <a:xfrm>
            <a:off x="5943600" y="1"/>
            <a:ext cx="4724400" cy="111259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pic>
        <p:nvPicPr>
          <p:cNvPr id="4" name="图片 3">
            <a:extLst>
              <a:ext uri="{FF2B5EF4-FFF2-40B4-BE49-F238E27FC236}">
                <a16:creationId xmlns:a16="http://schemas.microsoft.com/office/drawing/2014/main" id="{019CDA59-C27E-4F69-8FD6-A3C0FE27BCCA}"/>
              </a:ext>
            </a:extLst>
          </p:cNvPr>
          <p:cNvPicPr>
            <a:picLocks noChangeAspect="1"/>
          </p:cNvPicPr>
          <p:nvPr/>
        </p:nvPicPr>
        <p:blipFill>
          <a:blip r:embed="rId3"/>
          <a:stretch>
            <a:fillRect/>
          </a:stretch>
        </p:blipFill>
        <p:spPr>
          <a:xfrm>
            <a:off x="6864165" y="87822"/>
            <a:ext cx="5327835" cy="878576"/>
          </a:xfrm>
          <a:prstGeom prst="rect">
            <a:avLst/>
          </a:prstGeom>
        </p:spPr>
      </p:pic>
    </p:spTree>
  </p:cSld>
  <p:clrMapOvr>
    <a:masterClrMapping/>
  </p:clrMapOvr>
  <p:transition spd="slow" advTm="22901"/>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3746978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rgbClr val="C00000"/>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25933970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A062160-D6C2-4E46-9E7A-5FDC78CED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2770" y="2617405"/>
            <a:ext cx="2585179" cy="2786400"/>
          </a:xfrm>
          <a:prstGeom prst="rect">
            <a:avLst/>
          </a:prstGeom>
        </p:spPr>
      </p:pic>
      <p:pic>
        <p:nvPicPr>
          <p:cNvPr id="38" name="图片 37">
            <a:extLst>
              <a:ext uri="{FF2B5EF4-FFF2-40B4-BE49-F238E27FC236}">
                <a16:creationId xmlns:a16="http://schemas.microsoft.com/office/drawing/2014/main" id="{A6DEFF5E-18E8-4D1C-A209-C5CEBAA93C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635" y="2824134"/>
            <a:ext cx="4377809" cy="2344857"/>
          </a:xfrm>
          <a:prstGeom prst="rect">
            <a:avLst/>
          </a:prstGeom>
        </p:spPr>
      </p:pic>
      <p:sp>
        <p:nvSpPr>
          <p:cNvPr id="40" name="文本框 39">
            <a:extLst>
              <a:ext uri="{FF2B5EF4-FFF2-40B4-BE49-F238E27FC236}">
                <a16:creationId xmlns:a16="http://schemas.microsoft.com/office/drawing/2014/main" id="{F73C51D1-DEE3-4BAE-A79D-C4452E0CB51E}"/>
              </a:ext>
            </a:extLst>
          </p:cNvPr>
          <p:cNvSpPr txBox="1"/>
          <p:nvPr/>
        </p:nvSpPr>
        <p:spPr>
          <a:xfrm>
            <a:off x="2491224" y="3035550"/>
            <a:ext cx="662474"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US</a:t>
            </a:r>
          </a:p>
        </p:txBody>
      </p:sp>
      <p:sp>
        <p:nvSpPr>
          <p:cNvPr id="41" name="文本框 40">
            <a:extLst>
              <a:ext uri="{FF2B5EF4-FFF2-40B4-BE49-F238E27FC236}">
                <a16:creationId xmlns:a16="http://schemas.microsoft.com/office/drawing/2014/main" id="{2BD2EA56-3D70-4313-A15A-57E24D0A4D2B}"/>
              </a:ext>
            </a:extLst>
          </p:cNvPr>
          <p:cNvSpPr txBox="1"/>
          <p:nvPr/>
        </p:nvSpPr>
        <p:spPr>
          <a:xfrm>
            <a:off x="2220338" y="3956743"/>
            <a:ext cx="1090126"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World</a:t>
            </a:r>
          </a:p>
        </p:txBody>
      </p:sp>
      <p:sp>
        <p:nvSpPr>
          <p:cNvPr id="42" name="文本框 41">
            <a:extLst>
              <a:ext uri="{FF2B5EF4-FFF2-40B4-BE49-F238E27FC236}">
                <a16:creationId xmlns:a16="http://schemas.microsoft.com/office/drawing/2014/main" id="{F34C4778-A79B-4411-A787-0C9210E1434A}"/>
              </a:ext>
            </a:extLst>
          </p:cNvPr>
          <p:cNvSpPr txBox="1"/>
          <p:nvPr/>
        </p:nvSpPr>
        <p:spPr>
          <a:xfrm>
            <a:off x="3153479" y="4362902"/>
            <a:ext cx="979065"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Times New Roman" panose="020B0604020202020204" pitchFamily="34" charset="0"/>
                <a:ea typeface="SimSun"/>
                <a:cs typeface="Times New Roman" panose="020B0604020202020204" pitchFamily="34" charset="0"/>
              </a:rPr>
              <a:t>China</a:t>
            </a:r>
          </a:p>
        </p:txBody>
      </p:sp>
      <p:cxnSp>
        <p:nvCxnSpPr>
          <p:cNvPr id="43" name="直接箭头连接符 42">
            <a:extLst>
              <a:ext uri="{FF2B5EF4-FFF2-40B4-BE49-F238E27FC236}">
                <a16:creationId xmlns:a16="http://schemas.microsoft.com/office/drawing/2014/main" id="{4E1A74DE-2A9D-4489-A6E9-6C2581FECEDE}"/>
              </a:ext>
            </a:extLst>
          </p:cNvPr>
          <p:cNvCxnSpPr/>
          <p:nvPr/>
        </p:nvCxnSpPr>
        <p:spPr>
          <a:xfrm>
            <a:off x="2902845" y="3193137"/>
            <a:ext cx="466530" cy="0"/>
          </a:xfrm>
          <a:prstGeom prst="straightConnector1">
            <a:avLst/>
          </a:prstGeom>
          <a:noFill/>
          <a:ln w="22225" cap="flat" cmpd="sng" algn="ctr">
            <a:solidFill>
              <a:srgbClr val="DA7E3E"/>
            </a:solidFill>
            <a:prstDash val="solid"/>
            <a:miter lim="800000"/>
            <a:tailEnd type="triangle"/>
          </a:ln>
          <a:effectLst/>
        </p:spPr>
      </p:cxnSp>
      <p:cxnSp>
        <p:nvCxnSpPr>
          <p:cNvPr id="44" name="直接箭头连接符 43">
            <a:extLst>
              <a:ext uri="{FF2B5EF4-FFF2-40B4-BE49-F238E27FC236}">
                <a16:creationId xmlns:a16="http://schemas.microsoft.com/office/drawing/2014/main" id="{4F260449-8138-4D88-BDAA-502C48094806}"/>
              </a:ext>
            </a:extLst>
          </p:cNvPr>
          <p:cNvCxnSpPr>
            <a:cxnSpLocks/>
          </p:cNvCxnSpPr>
          <p:nvPr/>
        </p:nvCxnSpPr>
        <p:spPr>
          <a:xfrm flipV="1">
            <a:off x="3742839" y="4272458"/>
            <a:ext cx="493290" cy="124280"/>
          </a:xfrm>
          <a:prstGeom prst="straightConnector1">
            <a:avLst/>
          </a:prstGeom>
          <a:noFill/>
          <a:ln w="22225" cap="flat" cmpd="sng" algn="ctr">
            <a:solidFill>
              <a:srgbClr val="B2030B"/>
            </a:solidFill>
            <a:prstDash val="solid"/>
            <a:miter lim="800000"/>
            <a:tailEnd type="triangle"/>
          </a:ln>
          <a:effectLst/>
        </p:spPr>
      </p:cxnSp>
      <p:cxnSp>
        <p:nvCxnSpPr>
          <p:cNvPr id="45" name="直接箭头连接符 44">
            <a:extLst>
              <a:ext uri="{FF2B5EF4-FFF2-40B4-BE49-F238E27FC236}">
                <a16:creationId xmlns:a16="http://schemas.microsoft.com/office/drawing/2014/main" id="{D5D89A26-E711-4EBB-8A5F-C35610160EED}"/>
              </a:ext>
            </a:extLst>
          </p:cNvPr>
          <p:cNvCxnSpPr>
            <a:cxnSpLocks/>
          </p:cNvCxnSpPr>
          <p:nvPr/>
        </p:nvCxnSpPr>
        <p:spPr>
          <a:xfrm flipV="1">
            <a:off x="2910410" y="4077935"/>
            <a:ext cx="593013" cy="69871"/>
          </a:xfrm>
          <a:prstGeom prst="straightConnector1">
            <a:avLst/>
          </a:prstGeom>
          <a:noFill/>
          <a:ln w="22225" cap="flat" cmpd="sng" algn="ctr">
            <a:solidFill>
              <a:srgbClr val="2A899B"/>
            </a:solidFill>
            <a:prstDash val="solid"/>
            <a:miter lim="800000"/>
            <a:tailEnd type="triangle"/>
          </a:ln>
          <a:effectLst/>
        </p:spPr>
      </p:cxnSp>
      <p:sp>
        <p:nvSpPr>
          <p:cNvPr id="46" name="矩形 4">
            <a:extLst>
              <a:ext uri="{FF2B5EF4-FFF2-40B4-BE49-F238E27FC236}">
                <a16:creationId xmlns:a16="http://schemas.microsoft.com/office/drawing/2014/main" id="{F07FE167-2C4A-4929-B2CE-A58C30E33794}"/>
              </a:ext>
            </a:extLst>
          </p:cNvPr>
          <p:cNvSpPr>
            <a:spLocks noChangeArrowheads="1"/>
          </p:cNvSpPr>
          <p:nvPr/>
        </p:nvSpPr>
        <p:spPr bwMode="auto">
          <a:xfrm>
            <a:off x="1141120" y="5487152"/>
            <a:ext cx="46307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defTabSz="457200" eaLnBrk="1" fontAlgn="auto" hangingPunct="1">
              <a:spcBef>
                <a:spcPts val="0"/>
              </a:spcBef>
              <a:spcAft>
                <a:spcPts val="0"/>
              </a:spcAft>
            </a:pPr>
            <a:r>
              <a:rPr lang="en-GB" altLang="zh-CN" sz="1400" b="1" dirty="0">
                <a:solidFill>
                  <a:srgbClr val="C00000"/>
                </a:solidFill>
                <a:latin typeface="Times New Roman" panose="02020603050405020304" pitchFamily="18" charset="0"/>
                <a:ea typeface="SimSun" panose="02010600030101010101" pitchFamily="2" charset="-122"/>
                <a:cs typeface="Times New Roman"/>
              </a:rPr>
              <a:t>Electricity use for space cooling, 2000-2017</a:t>
            </a:r>
            <a:endParaRPr lang="zh-CN" altLang="en-US" sz="1400" b="1" dirty="0">
              <a:solidFill>
                <a:srgbClr val="C00000"/>
              </a:solidFill>
              <a:latin typeface="Times New Roman" panose="020F0502020204030204" pitchFamily="34" charset="0"/>
              <a:ea typeface="SimSun" panose="02010600030101010101" pitchFamily="2" charset="-122"/>
              <a:cs typeface="Times New Roman"/>
            </a:endParaRPr>
          </a:p>
        </p:txBody>
      </p:sp>
      <p:pic>
        <p:nvPicPr>
          <p:cNvPr id="47" name="图片 46">
            <a:extLst>
              <a:ext uri="{FF2B5EF4-FFF2-40B4-BE49-F238E27FC236}">
                <a16:creationId xmlns:a16="http://schemas.microsoft.com/office/drawing/2014/main" id="{C2AC8092-6D8C-456C-B4BA-665797B5FADE}"/>
              </a:ext>
            </a:extLst>
          </p:cNvPr>
          <p:cNvPicPr>
            <a:picLocks noChangeAspect="1"/>
          </p:cNvPicPr>
          <p:nvPr/>
        </p:nvPicPr>
        <p:blipFill rotWithShape="1">
          <a:blip r:embed="rId5">
            <a:extLst>
              <a:ext uri="{28A0092B-C50C-407E-A947-70E740481C1C}">
                <a14:useLocalDpi xmlns:a14="http://schemas.microsoft.com/office/drawing/2010/main" val="0"/>
              </a:ext>
            </a:extLst>
          </a:blip>
          <a:srcRect b="88606"/>
          <a:stretch/>
        </p:blipFill>
        <p:spPr>
          <a:xfrm>
            <a:off x="1435634" y="5309309"/>
            <a:ext cx="1249680" cy="223139"/>
          </a:xfrm>
          <a:prstGeom prst="rect">
            <a:avLst/>
          </a:prstGeom>
        </p:spPr>
      </p:pic>
      <p:pic>
        <p:nvPicPr>
          <p:cNvPr id="48" name="图片 47">
            <a:extLst>
              <a:ext uri="{FF2B5EF4-FFF2-40B4-BE49-F238E27FC236}">
                <a16:creationId xmlns:a16="http://schemas.microsoft.com/office/drawing/2014/main" id="{F7F8BA0D-1129-45CC-88BE-B276830696E4}"/>
              </a:ext>
            </a:extLst>
          </p:cNvPr>
          <p:cNvPicPr>
            <a:picLocks noChangeAspect="1"/>
          </p:cNvPicPr>
          <p:nvPr/>
        </p:nvPicPr>
        <p:blipFill rotWithShape="1">
          <a:blip r:embed="rId5">
            <a:extLst>
              <a:ext uri="{28A0092B-C50C-407E-A947-70E740481C1C}">
                <a14:useLocalDpi xmlns:a14="http://schemas.microsoft.com/office/drawing/2010/main" val="0"/>
              </a:ext>
            </a:extLst>
          </a:blip>
          <a:srcRect t="31724" b="56398"/>
          <a:stretch/>
        </p:blipFill>
        <p:spPr>
          <a:xfrm>
            <a:off x="2404623" y="5350768"/>
            <a:ext cx="1249680" cy="232618"/>
          </a:xfrm>
          <a:prstGeom prst="rect">
            <a:avLst/>
          </a:prstGeom>
        </p:spPr>
      </p:pic>
      <p:pic>
        <p:nvPicPr>
          <p:cNvPr id="49" name="图片 48">
            <a:extLst>
              <a:ext uri="{FF2B5EF4-FFF2-40B4-BE49-F238E27FC236}">
                <a16:creationId xmlns:a16="http://schemas.microsoft.com/office/drawing/2014/main" id="{47E3AAB7-59A1-4076-856A-240922A37C7E}"/>
              </a:ext>
            </a:extLst>
          </p:cNvPr>
          <p:cNvPicPr>
            <a:picLocks noChangeAspect="1"/>
          </p:cNvPicPr>
          <p:nvPr/>
        </p:nvPicPr>
        <p:blipFill rotWithShape="1">
          <a:blip r:embed="rId5">
            <a:extLst>
              <a:ext uri="{28A0092B-C50C-407E-A947-70E740481C1C}">
                <a14:useLocalDpi xmlns:a14="http://schemas.microsoft.com/office/drawing/2010/main" val="0"/>
              </a:ext>
            </a:extLst>
          </a:blip>
          <a:srcRect t="61234" b="29834"/>
          <a:stretch/>
        </p:blipFill>
        <p:spPr>
          <a:xfrm>
            <a:off x="3531722" y="5333421"/>
            <a:ext cx="1249680" cy="174912"/>
          </a:xfrm>
          <a:prstGeom prst="rect">
            <a:avLst/>
          </a:prstGeom>
        </p:spPr>
      </p:pic>
      <p:pic>
        <p:nvPicPr>
          <p:cNvPr id="50" name="图片 49">
            <a:extLst>
              <a:ext uri="{FF2B5EF4-FFF2-40B4-BE49-F238E27FC236}">
                <a16:creationId xmlns:a16="http://schemas.microsoft.com/office/drawing/2014/main" id="{65296F2D-8698-4025-8BC8-B1B69B56387E}"/>
              </a:ext>
            </a:extLst>
          </p:cNvPr>
          <p:cNvPicPr>
            <a:picLocks noChangeAspect="1"/>
          </p:cNvPicPr>
          <p:nvPr/>
        </p:nvPicPr>
        <p:blipFill rotWithShape="1">
          <a:blip r:embed="rId5">
            <a:extLst>
              <a:ext uri="{28A0092B-C50C-407E-A947-70E740481C1C}">
                <a14:useLocalDpi xmlns:a14="http://schemas.microsoft.com/office/drawing/2010/main" val="0"/>
              </a:ext>
            </a:extLst>
          </a:blip>
          <a:srcRect t="89805"/>
          <a:stretch/>
        </p:blipFill>
        <p:spPr>
          <a:xfrm>
            <a:off x="4658821" y="5296345"/>
            <a:ext cx="1249680" cy="199649"/>
          </a:xfrm>
          <a:prstGeom prst="rect">
            <a:avLst/>
          </a:prstGeom>
        </p:spPr>
      </p:pic>
      <p:sp>
        <p:nvSpPr>
          <p:cNvPr id="51" name="矩形 50">
            <a:extLst>
              <a:ext uri="{FF2B5EF4-FFF2-40B4-BE49-F238E27FC236}">
                <a16:creationId xmlns:a16="http://schemas.microsoft.com/office/drawing/2014/main" id="{9B162169-8957-4488-A548-B25E28DBB077}"/>
              </a:ext>
            </a:extLst>
          </p:cNvPr>
          <p:cNvSpPr/>
          <p:nvPr/>
        </p:nvSpPr>
        <p:spPr>
          <a:xfrm>
            <a:off x="6762313" y="5471452"/>
            <a:ext cx="4345805" cy="307777"/>
          </a:xfrm>
          <a:prstGeom prst="rect">
            <a:avLst/>
          </a:prstGeom>
        </p:spPr>
        <p:txBody>
          <a:bodyPr wrap="none">
            <a:spAutoFit/>
          </a:bodyPr>
          <a:lstStyle/>
          <a:p>
            <a:pPr defTabSz="457200" eaLnBrk="1" fontAlgn="auto" hangingPunct="1">
              <a:spcBef>
                <a:spcPts val="0"/>
              </a:spcBef>
              <a:spcAft>
                <a:spcPts val="0"/>
              </a:spcAft>
            </a:pPr>
            <a:r>
              <a:rPr lang="en-HK" sz="1400" b="1" dirty="0">
                <a:solidFill>
                  <a:srgbClr val="C00000"/>
                </a:solidFill>
                <a:latin typeface="Times New Roman" panose="02020603050405020304" pitchFamily="18" charset="0"/>
                <a:ea typeface="SimSun" panose="02010600030101010101" pitchFamily="2" charset="-122"/>
                <a:cs typeface="Times New Roman"/>
              </a:rPr>
              <a:t>Electricity Consumption by End-use in HK, 2011-2021</a:t>
            </a:r>
          </a:p>
        </p:txBody>
      </p:sp>
      <p:sp>
        <p:nvSpPr>
          <p:cNvPr id="52" name="椭圆 51">
            <a:extLst>
              <a:ext uri="{FF2B5EF4-FFF2-40B4-BE49-F238E27FC236}">
                <a16:creationId xmlns:a16="http://schemas.microsoft.com/office/drawing/2014/main" id="{5A13769F-3A53-4F54-A265-70ABFBF13E9D}"/>
              </a:ext>
            </a:extLst>
          </p:cNvPr>
          <p:cNvSpPr/>
          <p:nvPr/>
        </p:nvSpPr>
        <p:spPr>
          <a:xfrm>
            <a:off x="9264545" y="338756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sp>
        <p:nvSpPr>
          <p:cNvPr id="53" name="椭圆 52">
            <a:extLst>
              <a:ext uri="{FF2B5EF4-FFF2-40B4-BE49-F238E27FC236}">
                <a16:creationId xmlns:a16="http://schemas.microsoft.com/office/drawing/2014/main" id="{D9503317-0037-46EA-8238-6E263CF3BE6A}"/>
              </a:ext>
            </a:extLst>
          </p:cNvPr>
          <p:cNvSpPr/>
          <p:nvPr/>
        </p:nvSpPr>
        <p:spPr>
          <a:xfrm>
            <a:off x="9587048" y="310465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cxnSp>
        <p:nvCxnSpPr>
          <p:cNvPr id="54" name="直接箭头连接符 53">
            <a:extLst>
              <a:ext uri="{FF2B5EF4-FFF2-40B4-BE49-F238E27FC236}">
                <a16:creationId xmlns:a16="http://schemas.microsoft.com/office/drawing/2014/main" id="{599F89E1-666E-4BB7-A690-12313EE46B14}"/>
              </a:ext>
            </a:extLst>
          </p:cNvPr>
          <p:cNvCxnSpPr>
            <a:cxnSpLocks/>
            <a:endCxn id="56" idx="0"/>
          </p:cNvCxnSpPr>
          <p:nvPr/>
        </p:nvCxnSpPr>
        <p:spPr>
          <a:xfrm>
            <a:off x="9579527" y="3706477"/>
            <a:ext cx="124506" cy="188411"/>
          </a:xfrm>
          <a:prstGeom prst="straightConnector1">
            <a:avLst/>
          </a:prstGeom>
          <a:noFill/>
          <a:ln w="19050" cap="flat" cmpd="sng" algn="ctr">
            <a:solidFill>
              <a:srgbClr val="C00000"/>
            </a:solidFill>
            <a:prstDash val="solid"/>
            <a:miter lim="800000"/>
            <a:tailEnd type="triangle"/>
          </a:ln>
          <a:effectLst/>
        </p:spPr>
      </p:cxnSp>
      <p:sp>
        <p:nvSpPr>
          <p:cNvPr id="55" name="矩形 54">
            <a:extLst>
              <a:ext uri="{FF2B5EF4-FFF2-40B4-BE49-F238E27FC236}">
                <a16:creationId xmlns:a16="http://schemas.microsoft.com/office/drawing/2014/main" id="{22B5F679-ED50-4DA4-AF20-4969400B3586}"/>
              </a:ext>
            </a:extLst>
          </p:cNvPr>
          <p:cNvSpPr/>
          <p:nvPr/>
        </p:nvSpPr>
        <p:spPr>
          <a:xfrm>
            <a:off x="9324064" y="3910605"/>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56" name="文本框 55">
            <a:extLst>
              <a:ext uri="{FF2B5EF4-FFF2-40B4-BE49-F238E27FC236}">
                <a16:creationId xmlns:a16="http://schemas.microsoft.com/office/drawing/2014/main" id="{CBCA25D8-979F-4E66-9F25-6F5E1000D302}"/>
              </a:ext>
            </a:extLst>
          </p:cNvPr>
          <p:cNvSpPr txBox="1"/>
          <p:nvPr/>
        </p:nvSpPr>
        <p:spPr>
          <a:xfrm>
            <a:off x="9256973" y="3894888"/>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Times New Roman" panose="020F0502020204030204"/>
                <a:ea typeface="SimSun"/>
                <a:cs typeface="Times New Roman"/>
              </a:rPr>
              <a:t>1.30GWh</a:t>
            </a:r>
          </a:p>
        </p:txBody>
      </p:sp>
      <p:cxnSp>
        <p:nvCxnSpPr>
          <p:cNvPr id="57" name="直接箭头连接符 56">
            <a:extLst>
              <a:ext uri="{FF2B5EF4-FFF2-40B4-BE49-F238E27FC236}">
                <a16:creationId xmlns:a16="http://schemas.microsoft.com/office/drawing/2014/main" id="{B82E30C0-E92B-4DA0-92C7-EB150BEB3353}"/>
              </a:ext>
            </a:extLst>
          </p:cNvPr>
          <p:cNvCxnSpPr>
            <a:cxnSpLocks/>
          </p:cNvCxnSpPr>
          <p:nvPr/>
        </p:nvCxnSpPr>
        <p:spPr>
          <a:xfrm flipV="1">
            <a:off x="9741656" y="2951483"/>
            <a:ext cx="183494" cy="166567"/>
          </a:xfrm>
          <a:prstGeom prst="straightConnector1">
            <a:avLst/>
          </a:prstGeom>
          <a:noFill/>
          <a:ln w="19050" cap="flat" cmpd="sng" algn="ctr">
            <a:solidFill>
              <a:srgbClr val="C00000"/>
            </a:solidFill>
            <a:prstDash val="solid"/>
            <a:miter lim="800000"/>
            <a:tailEnd type="triangle"/>
          </a:ln>
          <a:effectLst/>
        </p:spPr>
      </p:cxnSp>
      <p:sp>
        <p:nvSpPr>
          <p:cNvPr id="58" name="文本框 57">
            <a:extLst>
              <a:ext uri="{FF2B5EF4-FFF2-40B4-BE49-F238E27FC236}">
                <a16:creationId xmlns:a16="http://schemas.microsoft.com/office/drawing/2014/main" id="{8B8B4ADA-D2B5-400E-9AF2-27A934395748}"/>
              </a:ext>
            </a:extLst>
          </p:cNvPr>
          <p:cNvSpPr txBox="1"/>
          <p:nvPr/>
        </p:nvSpPr>
        <p:spPr>
          <a:xfrm>
            <a:off x="9769937" y="2680612"/>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Times New Roman" panose="020F0502020204030204"/>
                <a:ea typeface="SimSun"/>
                <a:cs typeface="Times New Roman"/>
              </a:rPr>
              <a:t>1.46GWh</a:t>
            </a:r>
          </a:p>
        </p:txBody>
      </p:sp>
      <p:sp>
        <p:nvSpPr>
          <p:cNvPr id="59" name="矩形 58">
            <a:extLst>
              <a:ext uri="{FF2B5EF4-FFF2-40B4-BE49-F238E27FC236}">
                <a16:creationId xmlns:a16="http://schemas.microsoft.com/office/drawing/2014/main" id="{E1C98E01-18AB-475C-A476-9474CA24C796}"/>
              </a:ext>
            </a:extLst>
          </p:cNvPr>
          <p:cNvSpPr/>
          <p:nvPr/>
        </p:nvSpPr>
        <p:spPr>
          <a:xfrm>
            <a:off x="9824620" y="2699632"/>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60" name="矩形 59">
            <a:extLst>
              <a:ext uri="{FF2B5EF4-FFF2-40B4-BE49-F238E27FC236}">
                <a16:creationId xmlns:a16="http://schemas.microsoft.com/office/drawing/2014/main" id="{6D526305-CC20-4C59-96C4-DB8AA9D455F6}"/>
              </a:ext>
            </a:extLst>
          </p:cNvPr>
          <p:cNvSpPr/>
          <p:nvPr/>
        </p:nvSpPr>
        <p:spPr>
          <a:xfrm>
            <a:off x="595011" y="5811524"/>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International Energy Agency (IEA). The Future of Cooling in China. 2019</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62" name="矩形 61">
            <a:extLst>
              <a:ext uri="{FF2B5EF4-FFF2-40B4-BE49-F238E27FC236}">
                <a16:creationId xmlns:a16="http://schemas.microsoft.com/office/drawing/2014/main" id="{A179BD5E-94DC-4FE0-BFC3-B493299A2E24}"/>
              </a:ext>
            </a:extLst>
          </p:cNvPr>
          <p:cNvSpPr/>
          <p:nvPr/>
        </p:nvSpPr>
        <p:spPr>
          <a:xfrm>
            <a:off x="5582562" y="5795824"/>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EMSD. Hong Kong Energy End-use Data. 2023</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30" name="Rectangle 18">
            <a:extLst>
              <a:ext uri="{FF2B5EF4-FFF2-40B4-BE49-F238E27FC236}">
                <a16:creationId xmlns:a16="http://schemas.microsoft.com/office/drawing/2014/main" id="{42A46E62-DD70-4B57-AEA1-D6CF1A17DDD1}"/>
              </a:ext>
            </a:extLst>
          </p:cNvPr>
          <p:cNvSpPr/>
          <p:nvPr/>
        </p:nvSpPr>
        <p:spPr>
          <a:xfrm>
            <a:off x="3033996" y="6243421"/>
            <a:ext cx="6444397" cy="369332"/>
          </a:xfrm>
          <a:prstGeom prst="rect">
            <a:avLst/>
          </a:prstGeom>
        </p:spPr>
        <p:txBody>
          <a:bodyPr wrap="square">
            <a:spAutoFit/>
          </a:bodyPr>
          <a:lstStyle>
            <a:defPPr>
              <a:defRPr lang="zh-CN">
                <a:latin typeface="Times New Roman"/>
                <a:ea typeface="SimSun"/>
                <a:cs typeface="Times New Roman"/>
              </a:defRPr>
            </a:defPPr>
            <a:lvl1pPr marL="0" algn="l" defTabSz="914400" rtl="0" eaLnBrk="1" latinLnBrk="0" hangingPunct="1">
              <a:defRPr sz="1800" kern="1200">
                <a:solidFill>
                  <a:schemeClr val="tx1"/>
                </a:solidFill>
                <a:latin typeface="Times New Roman"/>
                <a:ea typeface="SimSun"/>
                <a:cs typeface="Times New Roman"/>
              </a:defRPr>
            </a:lvl1pPr>
            <a:lvl2pPr marL="457200" algn="l" defTabSz="914400" rtl="0" eaLnBrk="1" latinLnBrk="0" hangingPunct="1">
              <a:defRPr sz="1800" kern="1200">
                <a:solidFill>
                  <a:schemeClr val="tx1"/>
                </a:solidFill>
                <a:latin typeface="Times New Roman"/>
                <a:ea typeface="SimSun"/>
                <a:cs typeface="Times New Roman"/>
              </a:defRPr>
            </a:lvl2pPr>
            <a:lvl3pPr marL="914400" algn="l" defTabSz="914400" rtl="0" eaLnBrk="1" latinLnBrk="0" hangingPunct="1">
              <a:defRPr sz="1800" kern="1200">
                <a:solidFill>
                  <a:schemeClr val="tx1"/>
                </a:solidFill>
                <a:latin typeface="Times New Roman"/>
                <a:ea typeface="SimSun"/>
                <a:cs typeface="Times New Roman"/>
              </a:defRPr>
            </a:lvl3pPr>
            <a:lvl4pPr marL="1371600" algn="l" defTabSz="914400" rtl="0" eaLnBrk="1" latinLnBrk="0" hangingPunct="1">
              <a:defRPr sz="1800" kern="1200">
                <a:solidFill>
                  <a:schemeClr val="tx1"/>
                </a:solidFill>
                <a:latin typeface="Times New Roman"/>
                <a:ea typeface="SimSun"/>
                <a:cs typeface="Times New Roman"/>
              </a:defRPr>
            </a:lvl4pPr>
            <a:lvl5pPr marL="1828800" algn="l" defTabSz="914400" rtl="0" eaLnBrk="1" latinLnBrk="0" hangingPunct="1">
              <a:defRPr sz="1800" kern="1200">
                <a:solidFill>
                  <a:schemeClr val="tx1"/>
                </a:solidFill>
                <a:latin typeface="Times New Roman"/>
                <a:ea typeface="SimSun"/>
                <a:cs typeface="Times New Roman"/>
              </a:defRPr>
            </a:lvl5pPr>
            <a:lvl6pPr marL="2286000" algn="l" defTabSz="914400" rtl="0" eaLnBrk="1" latinLnBrk="0" hangingPunct="1">
              <a:defRPr sz="1800" kern="1200">
                <a:solidFill>
                  <a:schemeClr val="tx1"/>
                </a:solidFill>
                <a:latin typeface="Times New Roman"/>
                <a:ea typeface="SimSun"/>
                <a:cs typeface="Times New Roman"/>
              </a:defRPr>
            </a:lvl6pPr>
            <a:lvl7pPr marL="2743200" algn="l" defTabSz="914400" rtl="0" eaLnBrk="1" latinLnBrk="0" hangingPunct="1">
              <a:defRPr sz="1800" kern="1200">
                <a:solidFill>
                  <a:schemeClr val="tx1"/>
                </a:solidFill>
                <a:latin typeface="Times New Roman"/>
                <a:ea typeface="SimSun"/>
                <a:cs typeface="Times New Roman"/>
              </a:defRPr>
            </a:lvl7pPr>
            <a:lvl8pPr marL="3200400" algn="l" defTabSz="914400" rtl="0" eaLnBrk="1" latinLnBrk="0" hangingPunct="1">
              <a:defRPr sz="1800" kern="1200">
                <a:solidFill>
                  <a:schemeClr val="tx1"/>
                </a:solidFill>
                <a:latin typeface="Times New Roman"/>
                <a:ea typeface="SimSun"/>
                <a:cs typeface="Times New Roman"/>
              </a:defRPr>
            </a:lvl8pPr>
            <a:lvl9pPr marL="3657600" algn="l" defTabSz="914400" rtl="0" eaLnBrk="1" latinLnBrk="0" hangingPunct="1">
              <a:defRPr sz="1800" kern="1200">
                <a:solidFill>
                  <a:schemeClr val="tx1"/>
                </a:solidFill>
                <a:latin typeface="Times New Roman"/>
                <a:ea typeface="SimSun"/>
                <a:cs typeface="Times New Roman"/>
              </a:defRPr>
            </a:lvl9pPr>
          </a:lstStyle>
          <a:p>
            <a:pPr algn="ctr" fontAlgn="auto">
              <a:spcBef>
                <a:spcPts val="0"/>
              </a:spcBef>
              <a:spcAft>
                <a:spcPts val="0"/>
              </a:spcAft>
            </a:pPr>
            <a:r>
              <a:rPr lang="en-US" b="1" dirty="0">
                <a:solidFill>
                  <a:prstClr val="black"/>
                </a:solidFill>
                <a:latin typeface="Times New Roman" panose="02020603050405020304" pitchFamily="18" charset="0"/>
                <a:ea typeface="SimSun"/>
                <a:cs typeface="Times New Roman" panose="02020603050405020304" pitchFamily="18" charset="0"/>
              </a:rPr>
              <a:t>Seek </a:t>
            </a:r>
            <a:r>
              <a:rPr lang="en-US" b="1" dirty="0">
                <a:latin typeface="Times New Roman" panose="02020603050405020304" pitchFamily="18" charset="0"/>
                <a:ea typeface="SimSun"/>
                <a:cs typeface="Times New Roman" panose="02020603050405020304" pitchFamily="18" charset="0"/>
              </a:rPr>
              <a:t>for environmental friendly technology </a:t>
            </a:r>
            <a:r>
              <a:rPr lang="en-US" b="1" dirty="0">
                <a:solidFill>
                  <a:prstClr val="black"/>
                </a:solidFill>
                <a:latin typeface="Times New Roman" panose="02020603050405020304" pitchFamily="18" charset="0"/>
                <a:ea typeface="SimSun"/>
                <a:cs typeface="Times New Roman" panose="02020603050405020304" pitchFamily="18" charset="0"/>
              </a:rPr>
              <a:t>for </a:t>
            </a:r>
            <a:r>
              <a:rPr lang="en-US" b="1" dirty="0">
                <a:solidFill>
                  <a:srgbClr val="C00000"/>
                </a:solidFill>
                <a:latin typeface="Times New Roman" panose="02020603050405020304" pitchFamily="18" charset="0"/>
                <a:ea typeface="SimSun"/>
                <a:cs typeface="Times New Roman" panose="02020603050405020304" pitchFamily="18" charset="0"/>
              </a:rPr>
              <a:t>cooling</a:t>
            </a:r>
          </a:p>
        </p:txBody>
      </p:sp>
      <p:sp>
        <p:nvSpPr>
          <p:cNvPr id="31" name="圆角矩形 44">
            <a:extLst>
              <a:ext uri="{FF2B5EF4-FFF2-40B4-BE49-F238E27FC236}">
                <a16:creationId xmlns:a16="http://schemas.microsoft.com/office/drawing/2014/main" id="{F21C7A4B-900A-4EC1-9FAD-679EE6457F62}"/>
              </a:ext>
            </a:extLst>
          </p:cNvPr>
          <p:cNvSpPr/>
          <p:nvPr/>
        </p:nvSpPr>
        <p:spPr>
          <a:xfrm>
            <a:off x="3189624" y="6138939"/>
            <a:ext cx="6240945" cy="615497"/>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2" name="灯片编号占位符 1">
            <a:extLst>
              <a:ext uri="{FF2B5EF4-FFF2-40B4-BE49-F238E27FC236}">
                <a16:creationId xmlns:a16="http://schemas.microsoft.com/office/drawing/2014/main" id="{8962393A-D9AD-4A23-9C19-5ADAE49EB84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a:t>
            </a:fld>
            <a:endParaRPr lang="en-US" altLang="zh-CN">
              <a:latin typeface="Times New Roman"/>
              <a:ea typeface="SimSun"/>
              <a:cs typeface="Times New Roman"/>
            </a:endParaRPr>
          </a:p>
        </p:txBody>
      </p:sp>
      <p:sp>
        <p:nvSpPr>
          <p:cNvPr id="63"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建筑制冷能耗</a:t>
            </a:r>
          </a:p>
        </p:txBody>
      </p:sp>
      <p:sp>
        <p:nvSpPr>
          <p:cNvPr id="64"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1.1 Cooling energy use in buildings</a:t>
            </a:r>
          </a:p>
        </p:txBody>
      </p:sp>
      <p:sp>
        <p:nvSpPr>
          <p:cNvPr id="65"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66"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67" name="文本框 36">
            <a:extLst>
              <a:ext uri="{FF2B5EF4-FFF2-40B4-BE49-F238E27FC236}">
                <a16:creationId xmlns:a16="http://schemas.microsoft.com/office/drawing/2014/main" id="{3551DB90-1D98-4950-83C0-04E9F6A855D4}"/>
              </a:ext>
            </a:extLst>
          </p:cNvPr>
          <p:cNvSpPr txBox="1"/>
          <p:nvPr/>
        </p:nvSpPr>
        <p:spPr>
          <a:xfrm>
            <a:off x="1196477" y="1333909"/>
            <a:ext cx="5123739" cy="566674"/>
          </a:xfrm>
          <a:prstGeom prst="rect">
            <a:avLst/>
          </a:prstGeom>
          <a:noFill/>
          <a:ln>
            <a:noFill/>
          </a:ln>
        </p:spPr>
        <p:txBody>
          <a:bodyPr wrap="square" rtlCol="0" lIns="0" rIns="0" tIns="0" bIns="0">
            <a:noAutofit/>
          </a:bodyPr>
          <a:lstStyle/>
          <a:p>
            <a:pPr marL="0" indent="0" defTabSz="457200" eaLnBrk="1" fontAlgn="auto" hangingPunct="1" algn="l">
              <a:lnSpc>
                <a:spcPct val="108000"/>
              </a:lnSpc>
              <a:buNone/>
            </a:pPr>
            <a:r>
              <a:rPr lang="en-HK" sz="1650" b="1" dirty="0">
                <a:solidFill>
                  <a:prstClr val="black"/>
                </a:solidFill>
                <a:latin typeface="Times New Roman" panose="02020603050405020304" pitchFamily="18" charset="0"/>
                <a:ea typeface="SimSun"/>
                <a:cs typeface="Times New Roman" panose="02020603050405020304" pitchFamily="18" charset="0"/>
              </a:rPr>
              <a:t>China: </a:t>
            </a:r>
            <a:r>
              <a:rPr lang="en-HK" sz="1650" dirty="0">
                <a:solidFill>
                  <a:prstClr val="black"/>
                </a:solidFill>
                <a:latin typeface="Times New Roman" panose="02020603050405020304" pitchFamily="18" charset="0"/>
                <a:ea typeface="SimSun"/>
                <a:cs typeface="Times New Roman" panose="02020603050405020304" pitchFamily="18" charset="0"/>
              </a:rPr>
              <a:t>cooling energy use has been growing fast in </a:t>
            </a:r>
            <a:r>
              <a:rPr lang="en-US" altLang="zh-CN" sz="1650" dirty="0">
                <a:solidFill>
                  <a:prstClr val="black"/>
                </a:solidFill>
                <a:latin typeface="Times New Roman" panose="02020603050405020304" pitchFamily="18" charset="0"/>
                <a:ea typeface="SimSun"/>
                <a:cs typeface="Times New Roman" panose="02020603050405020304" pitchFamily="18" charset="0"/>
              </a:rPr>
              <a:t>past 10 years</a:t>
            </a:r>
            <a:r>
              <a:rPr lang="en-HK" sz="1650" dirty="0">
                <a:solidFill>
                  <a:prstClr val="black"/>
                </a:solidFill>
                <a:latin typeface="Times New Roman" panose="02020603050405020304" pitchFamily="18" charset="0"/>
                <a:ea typeface="SimSun"/>
                <a:cs typeface="Times New Roman" panose="02020603050405020304" pitchFamily="18" charset="0"/>
              </a:rPr>
              <a:t>, accounting for </a:t>
            </a:r>
            <a:r>
              <a:rPr lang="en-HK" sz="1650" dirty="0">
                <a:solidFill>
                  <a:srgbClr val="C00000"/>
                </a:solidFill>
                <a:latin typeface="Times New Roman" panose="02020603050405020304" pitchFamily="18" charset="0"/>
                <a:ea typeface="SimSun"/>
                <a:cs typeface="Times New Roman" panose="02020603050405020304" pitchFamily="18" charset="0"/>
              </a:rPr>
              <a:t>1/5</a:t>
            </a:r>
            <a:r>
              <a:rPr lang="en-HK" sz="1650" dirty="0">
                <a:solidFill>
                  <a:prstClr val="black"/>
                </a:solidFill>
                <a:latin typeface="Times New Roman" panose="02020603050405020304" pitchFamily="18" charset="0"/>
                <a:ea typeface="SimSun"/>
                <a:cs typeface="Times New Roman" panose="02020603050405020304" pitchFamily="18" charset="0"/>
              </a:rPr>
              <a:t> of global cooling energy use.</a:t>
            </a:r>
          </a:p>
        </p:txBody>
      </p:sp>
      <p:sp>
        <p:nvSpPr>
          <p:cNvPr id="68" name="TextBox 1"/>
          <p:cNvSpPr txBox="1"/>
          <p:nvPr/>
        </p:nvSpPr>
        <p:spPr>
          <a:xfrm>
            <a:off x="6649399" y="1347625"/>
            <a:ext cx="3865276"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中国：过去十年，制冷能耗快速增长，约占全球制冷能耗的五分之一。</a:t>
            </a:r>
          </a:p>
        </p:txBody>
      </p:sp>
      <p:sp>
        <p:nvSpPr>
          <p:cNvPr id="69" name="文本框 36">
            <a:extLst>
              <a:ext uri="{FF2B5EF4-FFF2-40B4-BE49-F238E27FC236}">
                <a16:creationId xmlns:a16="http://schemas.microsoft.com/office/drawing/2014/main" id="{3551DB90-1D98-4950-83C0-04E9F6A855D4}"/>
              </a:ext>
            </a:extLst>
          </p:cNvPr>
          <p:cNvSpPr txBox="1"/>
          <p:nvPr/>
        </p:nvSpPr>
        <p:spPr>
          <a:xfrm>
            <a:off x="1196477" y="1900583"/>
            <a:ext cx="5123739" cy="805561"/>
          </a:xfrm>
          <a:prstGeom prst="rect">
            <a:avLst/>
          </a:prstGeom>
          <a:noFill/>
          <a:ln>
            <a:noFill/>
          </a:ln>
        </p:spPr>
        <p:txBody>
          <a:bodyPr wrap="square" rtlCol="0" lIns="0" rIns="0" tIns="0" bIns="0">
            <a:noAutofit/>
          </a:bodyPr>
          <a:lstStyle/>
          <a:p>
            <a:pPr marL="0" indent="0" defTabSz="457200" eaLnBrk="1" fontAlgn="auto" hangingPunct="1" algn="l">
              <a:lnSpc>
                <a:spcPct val="108000"/>
              </a:lnSpc>
              <a:buNone/>
            </a:pPr>
            <a:r>
              <a:rPr lang="en-HK" sz="1650" b="1" dirty="0">
                <a:solidFill>
                  <a:prstClr val="black"/>
                </a:solidFill>
                <a:latin typeface="Times New Roman" panose="02020603050405020304" pitchFamily="18" charset="0"/>
                <a:ea typeface="SimSun"/>
                <a:cs typeface="Times New Roman" panose="02020603050405020304" pitchFamily="18" charset="0"/>
              </a:rPr>
              <a:t>Hong Kong: </a:t>
            </a:r>
            <a:r>
              <a:rPr lang="en-HK" sz="1650" dirty="0">
                <a:solidFill>
                  <a:prstClr val="black"/>
                </a:solidFill>
                <a:latin typeface="Times New Roman" panose="02020603050405020304" pitchFamily="18" charset="0"/>
                <a:ea typeface="SimSun"/>
                <a:cs typeface="Times New Roman" panose="02020603050405020304" pitchFamily="18" charset="0"/>
              </a:rPr>
              <a:t>the electricity end use for A/C increased by </a:t>
            </a:r>
            <a:r>
              <a:rPr lang="en-HK" sz="1650" dirty="0">
                <a:solidFill>
                  <a:srgbClr val="C00000"/>
                </a:solidFill>
                <a:latin typeface="Times New Roman" panose="02020603050405020304" pitchFamily="18" charset="0"/>
                <a:ea typeface="SimSun"/>
                <a:cs typeface="Times New Roman" panose="02020603050405020304" pitchFamily="18" charset="0"/>
              </a:rPr>
              <a:t>29% </a:t>
            </a:r>
            <a:r>
              <a:rPr lang="en-HK" sz="1650" dirty="0">
                <a:solidFill>
                  <a:prstClr val="black"/>
                </a:solidFill>
                <a:latin typeface="Times New Roman" panose="02020603050405020304" pitchFamily="18" charset="0"/>
                <a:ea typeface="SimSun"/>
                <a:cs typeface="Times New Roman" panose="02020603050405020304" pitchFamily="18" charset="0"/>
              </a:rPr>
              <a:t>in past 10 years and is about </a:t>
            </a:r>
            <a:r>
              <a:rPr lang="en-HK" sz="1650" dirty="0">
                <a:solidFill>
                  <a:srgbClr val="C00000"/>
                </a:solidFill>
                <a:latin typeface="Times New Roman" panose="02020603050405020304" pitchFamily="18" charset="0"/>
                <a:ea typeface="SimSun"/>
                <a:cs typeface="Times New Roman" panose="02020603050405020304" pitchFamily="18" charset="0"/>
              </a:rPr>
              <a:t>30%</a:t>
            </a:r>
            <a:r>
              <a:rPr lang="en-HK" sz="1650" dirty="0">
                <a:solidFill>
                  <a:prstClr val="black"/>
                </a:solidFill>
                <a:latin typeface="Times New Roman" panose="02020603050405020304" pitchFamily="18" charset="0"/>
                <a:ea typeface="SimSun"/>
                <a:cs typeface="Times New Roman" panose="02020603050405020304" pitchFamily="18" charset="0"/>
              </a:rPr>
              <a:t> of the total electricity use in building sector.</a:t>
            </a:r>
          </a:p>
        </p:txBody>
      </p:sp>
      <p:sp>
        <p:nvSpPr>
          <p:cNvPr id="70" name="TextBox 1"/>
          <p:cNvSpPr txBox="1"/>
          <p:nvPr/>
        </p:nvSpPr>
        <p:spPr>
          <a:xfrm>
            <a:off x="6649399" y="1914299"/>
            <a:ext cx="3865276"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香港：过去十年，空调用电量增长了 29%，约占建筑部门总用电量的 30%。</a:t>
            </a:r>
          </a:p>
        </p:txBody>
      </p:sp>
    </p:spTree>
    <p:extLst>
      <p:ext uri="{BB962C8B-B14F-4D97-AF65-F5344CB8AC3E}">
        <p14:creationId xmlns:p14="http://schemas.microsoft.com/office/powerpoint/2010/main" val="166296069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arn(inVertical)">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7946878-A9AF-49F9-845B-00C79F50A193}"/>
              </a:ext>
            </a:extLst>
          </p:cNvPr>
          <p:cNvSpPr txBox="1"/>
          <p:nvPr/>
        </p:nvSpPr>
        <p:spPr>
          <a:xfrm>
            <a:off x="978030" y="2059893"/>
            <a:ext cx="6102652" cy="646331"/>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SimSun"/>
                <a:cs typeface="Times New Roman" panose="02020603050405020304" pitchFamily="18" charset="0"/>
              </a:rPr>
              <a:t>Conventional IEC: </a:t>
            </a:r>
            <a:r>
              <a:rPr lang="en-HK" sz="1800" dirty="0">
                <a:solidFill>
                  <a:prstClr val="black"/>
                </a:solidFill>
                <a:latin typeface="Times New Roman" panose="02020603050405020304" pitchFamily="18" charset="0"/>
                <a:ea typeface="SimSun"/>
                <a:cs typeface="Times New Roman" panose="02020603050405020304" pitchFamily="18" charset="0"/>
              </a:rPr>
              <a:t>for sensible cooling-dominant buildings under </a:t>
            </a:r>
            <a:r>
              <a:rPr lang="en-HK" sz="1800" dirty="0">
                <a:solidFill>
                  <a:srgbClr val="C00000"/>
                </a:solidFill>
                <a:latin typeface="Times New Roman" panose="02020603050405020304" pitchFamily="18" charset="0"/>
                <a:ea typeface="SimSun"/>
                <a:cs typeface="Times New Roman" panose="02020603050405020304" pitchFamily="18" charset="0"/>
              </a:rPr>
              <a:t>dry climates.</a:t>
            </a:r>
          </a:p>
        </p:txBody>
      </p:sp>
      <p:pic>
        <p:nvPicPr>
          <p:cNvPr id="9" name="图片 8">
            <a:extLst>
              <a:ext uri="{FF2B5EF4-FFF2-40B4-BE49-F238E27FC236}">
                <a16:creationId xmlns:a16="http://schemas.microsoft.com/office/drawing/2014/main" id="{1C454FAB-55F7-4E97-9EC7-976100049800}"/>
              </a:ext>
            </a:extLst>
          </p:cNvPr>
          <p:cNvPicPr>
            <a:picLocks noChangeAspect="1"/>
          </p:cNvPicPr>
          <p:nvPr/>
        </p:nvPicPr>
        <p:blipFill>
          <a:blip r:embed="rId3"/>
          <a:stretch>
            <a:fillRect/>
          </a:stretch>
        </p:blipFill>
        <p:spPr>
          <a:xfrm>
            <a:off x="7579339" y="1020824"/>
            <a:ext cx="3459521" cy="2393092"/>
          </a:xfrm>
          <a:prstGeom prst="rect">
            <a:avLst/>
          </a:prstGeom>
        </p:spPr>
      </p:pic>
      <p:sp>
        <p:nvSpPr>
          <p:cNvPr id="10" name="文本框 9">
            <a:extLst>
              <a:ext uri="{FF2B5EF4-FFF2-40B4-BE49-F238E27FC236}">
                <a16:creationId xmlns:a16="http://schemas.microsoft.com/office/drawing/2014/main" id="{139F39C9-1B87-4875-9CAD-E40F11DAA6E0}"/>
              </a:ext>
            </a:extLst>
          </p:cNvPr>
          <p:cNvSpPr txBox="1"/>
          <p:nvPr/>
        </p:nvSpPr>
        <p:spPr>
          <a:xfrm>
            <a:off x="978030" y="2877074"/>
            <a:ext cx="6116890"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SimSun"/>
                <a:cs typeface="Times New Roman" panose="02020603050405020304" pitchFamily="18" charset="0"/>
              </a:rPr>
              <a:t>Updated IEC: </a:t>
            </a:r>
            <a:r>
              <a:rPr lang="en-HK" sz="1800" dirty="0">
                <a:solidFill>
                  <a:prstClr val="black"/>
                </a:solidFill>
                <a:latin typeface="Times New Roman" panose="02020603050405020304" pitchFamily="18" charset="0"/>
                <a:ea typeface="SimSun"/>
                <a:cs typeface="Times New Roman" panose="02020603050405020304" pitchFamily="18" charset="0"/>
              </a:rPr>
              <a:t>for energy recovery in </a:t>
            </a:r>
            <a:r>
              <a:rPr lang="en-HK" sz="1800" dirty="0">
                <a:solidFill>
                  <a:srgbClr val="C00000"/>
                </a:solidFill>
                <a:latin typeface="Times New Roman" panose="02020603050405020304" pitchFamily="18" charset="0"/>
                <a:ea typeface="SimSun"/>
                <a:cs typeface="Times New Roman" panose="02020603050405020304" pitchFamily="18" charset="0"/>
              </a:rPr>
              <a:t>hot and humid regions.</a:t>
            </a:r>
          </a:p>
        </p:txBody>
      </p:sp>
      <p:pic>
        <p:nvPicPr>
          <p:cNvPr id="11" name="图片 10">
            <a:extLst>
              <a:ext uri="{FF2B5EF4-FFF2-40B4-BE49-F238E27FC236}">
                <a16:creationId xmlns:a16="http://schemas.microsoft.com/office/drawing/2014/main" id="{6C167412-4EB0-46B9-9050-AE92F86F961B}"/>
              </a:ext>
            </a:extLst>
          </p:cNvPr>
          <p:cNvPicPr>
            <a:picLocks noChangeAspect="1"/>
          </p:cNvPicPr>
          <p:nvPr/>
        </p:nvPicPr>
        <p:blipFill>
          <a:blip r:embed="rId4"/>
          <a:stretch>
            <a:fillRect/>
          </a:stretch>
        </p:blipFill>
        <p:spPr>
          <a:xfrm>
            <a:off x="1164472" y="3719757"/>
            <a:ext cx="5708644" cy="1980000"/>
          </a:xfrm>
          <a:prstGeom prst="rect">
            <a:avLst/>
          </a:prstGeom>
        </p:spPr>
      </p:pic>
      <p:sp>
        <p:nvSpPr>
          <p:cNvPr id="13" name="矩形 12">
            <a:extLst>
              <a:ext uri="{FF2B5EF4-FFF2-40B4-BE49-F238E27FC236}">
                <a16:creationId xmlns:a16="http://schemas.microsoft.com/office/drawing/2014/main" id="{CD0DF357-23A7-4ED1-9E7C-FF2280E96EFC}"/>
              </a:ext>
            </a:extLst>
          </p:cNvPr>
          <p:cNvSpPr/>
          <p:nvPr/>
        </p:nvSpPr>
        <p:spPr>
          <a:xfrm>
            <a:off x="7690096" y="4114392"/>
            <a:ext cx="3214535" cy="646331"/>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SimSun"/>
                <a:cs typeface="Times New Roman" panose="02020603050405020304" pitchFamily="18" charset="0"/>
              </a:rPr>
              <a:t>Key point: </a:t>
            </a:r>
            <a:r>
              <a:rPr lang="en-HK" sz="1800" dirty="0">
                <a:solidFill>
                  <a:prstClr val="black"/>
                </a:solidFill>
                <a:latin typeface="Times New Roman" panose="02020603050405020304" pitchFamily="18" charset="0"/>
                <a:ea typeface="SimSun"/>
                <a:cs typeface="Times New Roman" panose="02020603050405020304" pitchFamily="18" charset="0"/>
              </a:rPr>
              <a:t>the </a:t>
            </a:r>
            <a:r>
              <a:rPr lang="en-US" altLang="zh-CN" sz="1800" dirty="0">
                <a:solidFill>
                  <a:prstClr val="black"/>
                </a:solidFill>
                <a:latin typeface="Times New Roman" panose="02020603050405020304" pitchFamily="18" charset="0"/>
                <a:ea typeface="SimSun"/>
                <a:cs typeface="Times New Roman" panose="02020603050405020304" pitchFamily="18" charset="0"/>
              </a:rPr>
              <a:t>process of </a:t>
            </a:r>
            <a:r>
              <a:rPr lang="en-HK" sz="1800" dirty="0">
                <a:solidFill>
                  <a:prstClr val="black"/>
                </a:solidFill>
                <a:latin typeface="Times New Roman" panose="02020603050405020304" pitchFamily="18" charset="0"/>
                <a:ea typeface="SimSun"/>
                <a:cs typeface="Times New Roman" panose="02020603050405020304" pitchFamily="18" charset="0"/>
              </a:rPr>
              <a:t>evaporation of water into air.  </a:t>
            </a:r>
          </a:p>
        </p:txBody>
      </p:sp>
      <p:sp>
        <p:nvSpPr>
          <p:cNvPr id="14" name="矩形 13">
            <a:extLst>
              <a:ext uri="{FF2B5EF4-FFF2-40B4-BE49-F238E27FC236}">
                <a16:creationId xmlns:a16="http://schemas.microsoft.com/office/drawing/2014/main" id="{B42C4010-8AF0-4BD0-A3CC-94D27DF8E5FB}"/>
              </a:ext>
            </a:extLst>
          </p:cNvPr>
          <p:cNvSpPr/>
          <p:nvPr/>
        </p:nvSpPr>
        <p:spPr>
          <a:xfrm>
            <a:off x="1828869" y="6455109"/>
            <a:ext cx="8534263" cy="246221"/>
          </a:xfrm>
          <a:prstGeom prst="rect">
            <a:avLst/>
          </a:prstGeom>
        </p:spPr>
        <p:txBody>
          <a:bodyPr wrap="square">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 statistical </a:t>
            </a:r>
            <a:r>
              <a:rPr lang="en-HK"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modeling</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approach on the performance prediction of indirect evaporative cooling energy recovery systems. 2019 </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16" name="矩形 15">
            <a:extLst>
              <a:ext uri="{FF2B5EF4-FFF2-40B4-BE49-F238E27FC236}">
                <a16:creationId xmlns:a16="http://schemas.microsoft.com/office/drawing/2014/main" id="{22ABFBB9-871B-4085-A46D-679911E48F7B}"/>
              </a:ext>
            </a:extLst>
          </p:cNvPr>
          <p:cNvSpPr/>
          <p:nvPr/>
        </p:nvSpPr>
        <p:spPr>
          <a:xfrm>
            <a:off x="7949152" y="3430356"/>
            <a:ext cx="3209533"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Fig.1.2.1 </a:t>
            </a:r>
            <a:r>
              <a:rPr lang="en-HK" sz="1200" dirty="0">
                <a:solidFill>
                  <a:prstClr val="black"/>
                </a:solidFill>
                <a:latin typeface="Times New Roman" panose="02020603050405020304" pitchFamily="18" charset="0"/>
                <a:ea typeface="SimSun"/>
                <a:cs typeface="Times New Roman" panose="02020603050405020304" pitchFamily="18" charset="0"/>
              </a:rPr>
              <a:t>Schematic diagram of a traditional IEC</a:t>
            </a:r>
          </a:p>
          <a:p>
            <a:pPr defTabSz="457200" eaLnBrk="1" fontAlgn="auto" hangingPunct="1">
              <a:spcBef>
                <a:spcPts val="0"/>
              </a:spcBef>
              <a:spcAft>
                <a:spcPts val="0"/>
              </a:spcAft>
            </a:pPr>
            <a:endParaRPr lang="en-HK" sz="1400"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4CE88D99-8FF1-4BB2-80F5-5D2C72231F59}"/>
              </a:ext>
            </a:extLst>
          </p:cNvPr>
          <p:cNvSpPr/>
          <p:nvPr/>
        </p:nvSpPr>
        <p:spPr>
          <a:xfrm>
            <a:off x="2192731" y="5754065"/>
            <a:ext cx="3673250"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Fig.1.2.2 </a:t>
            </a:r>
            <a:r>
              <a:rPr lang="en-HK" sz="1200" dirty="0">
                <a:solidFill>
                  <a:prstClr val="black"/>
                </a:solidFill>
                <a:latin typeface="Times New Roman" panose="02020603050405020304" pitchFamily="18" charset="0"/>
                <a:ea typeface="SimSun"/>
                <a:cs typeface="Times New Roman" panose="02020603050405020304" pitchFamily="18" charset="0"/>
              </a:rPr>
              <a:t>System diagram of an IEC for energy recovery</a:t>
            </a:r>
          </a:p>
          <a:p>
            <a:pPr defTabSz="457200" eaLnBrk="1" fontAlgn="auto" hangingPunct="1">
              <a:spcBef>
                <a:spcPts val="0"/>
              </a:spcBef>
              <a:spcAft>
                <a:spcPts val="0"/>
              </a:spcAft>
            </a:pPr>
            <a:endParaRPr lang="en-HK" sz="1400" dirty="0">
              <a:solidFill>
                <a:prstClr val="black"/>
              </a:solidFill>
              <a:latin typeface="Times New Roman" panose="020B0604020202020204" pitchFamily="34" charset="0"/>
              <a:ea typeface="SimSun"/>
              <a:cs typeface="Times New Roman" panose="020B0604020202020204" pitchFamily="34" charset="0"/>
            </a:endParaRPr>
          </a:p>
        </p:txBody>
      </p:sp>
      <p:sp>
        <p:nvSpPr>
          <p:cNvPr id="19" name="圆角矩形 44">
            <a:extLst>
              <a:ext uri="{FF2B5EF4-FFF2-40B4-BE49-F238E27FC236}">
                <a16:creationId xmlns:a16="http://schemas.microsoft.com/office/drawing/2014/main" id="{40DE1E30-75F0-43E9-BAA7-7AE86F43BB84}"/>
              </a:ext>
            </a:extLst>
          </p:cNvPr>
          <p:cNvSpPr/>
          <p:nvPr/>
        </p:nvSpPr>
        <p:spPr>
          <a:xfrm>
            <a:off x="7704333" y="4047766"/>
            <a:ext cx="3209533" cy="852578"/>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2" name="文本框 1">
            <a:extLst>
              <a:ext uri="{FF2B5EF4-FFF2-40B4-BE49-F238E27FC236}">
                <a16:creationId xmlns:a16="http://schemas.microsoft.com/office/drawing/2014/main" id="{5206DD3F-AB6C-4127-9134-1BFC5812D031}"/>
              </a:ext>
            </a:extLst>
          </p:cNvPr>
          <p:cNvSpPr txBox="1"/>
          <p:nvPr/>
        </p:nvSpPr>
        <p:spPr>
          <a:xfrm>
            <a:off x="8675260" y="5419740"/>
            <a:ext cx="1854978" cy="461665"/>
          </a:xfrm>
          <a:prstGeom prst="rect">
            <a:avLst/>
          </a:prstGeom>
          <a:noFill/>
        </p:spPr>
        <p:txBody>
          <a:bodyPr wrap="square" rtlCol="0">
            <a:spAutoFit/>
          </a:bodyPr>
          <a:lstStyle/>
          <a:p>
            <a:r>
              <a:rPr lang="en-HK" b="1" i="1" dirty="0">
                <a:solidFill>
                  <a:srgbClr val="C00000"/>
                </a:solidFill>
                <a:latin typeface="Times New Roman" panose="02020603050405020304" pitchFamily="18" charset="0"/>
                <a:ea typeface="SimSun"/>
                <a:cs typeface="Times New Roman" panose="02020603050405020304" pitchFamily="18" charset="0"/>
              </a:rPr>
              <a:t>Enhanced!</a:t>
            </a:r>
          </a:p>
        </p:txBody>
      </p:sp>
      <p:sp>
        <p:nvSpPr>
          <p:cNvPr id="3" name="箭头: 下 2">
            <a:extLst>
              <a:ext uri="{FF2B5EF4-FFF2-40B4-BE49-F238E27FC236}">
                <a16:creationId xmlns:a16="http://schemas.microsoft.com/office/drawing/2014/main" id="{25EAB784-FFDA-4CA2-A466-A53200F0FCFE}"/>
              </a:ext>
            </a:extLst>
          </p:cNvPr>
          <p:cNvSpPr/>
          <p:nvPr/>
        </p:nvSpPr>
        <p:spPr bwMode="auto">
          <a:xfrm>
            <a:off x="9273141" y="5003051"/>
            <a:ext cx="184826" cy="400249"/>
          </a:xfrm>
          <a:prstGeom prst="down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4" name="灯片编号占位符 3">
            <a:extLst>
              <a:ext uri="{FF2B5EF4-FFF2-40B4-BE49-F238E27FC236}">
                <a16:creationId xmlns:a16="http://schemas.microsoft.com/office/drawing/2014/main" id="{4E66AE7F-39D1-46F6-9803-1881DC508F2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a:t>
            </a:fld>
            <a:endParaRPr lang="en-US" altLang="zh-CN">
              <a:latin typeface="Times New Roman"/>
              <a:ea typeface="SimSun"/>
              <a:cs typeface="Times New Roman"/>
            </a:endParaRPr>
          </a:p>
        </p:txBody>
      </p:sp>
      <p:sp>
        <p:nvSpPr>
          <p:cNvPr id="22"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间接蒸发冷却（IEC）技术的发展</a:t>
            </a:r>
          </a:p>
        </p:txBody>
      </p:sp>
      <p:sp>
        <p:nvSpPr>
          <p:cNvPr id="23"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1.2 Development of indirect evaporative cooling (IEC)</a:t>
            </a:r>
          </a:p>
        </p:txBody>
      </p:sp>
      <p:sp>
        <p:nvSpPr>
          <p:cNvPr id="24"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25"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6" name="矩形 11">
            <a:extLst>
              <a:ext uri="{FF2B5EF4-FFF2-40B4-BE49-F238E27FC236}">
                <a16:creationId xmlns:a16="http://schemas.microsoft.com/office/drawing/2014/main" id="{3BFBECD2-63D3-4D41-B32B-6D1470A4DA26}"/>
              </a:ext>
            </a:extLst>
          </p:cNvPr>
          <p:cNvSpPr/>
          <p:nvPr/>
        </p:nvSpPr>
        <p:spPr>
          <a:xfrm>
            <a:off x="822338" y="1292040"/>
            <a:ext cx="6502840" cy="726059"/>
          </a:xfrm>
          <a:prstGeom prst="rect">
            <a:avLst/>
          </a:prstGeom>
          <a:ln>
            <a:noFill/>
          </a:ln>
        </p:spPr>
        <p:txBody>
          <a:bodyPr wrap="square" lIns="0" rIns="0" tIns="0" bIns="0">
            <a:noAutofit/>
          </a:bodyPr>
          <a:lstStyle/>
          <a:p>
            <a:pPr marL="0" indent="0" defTabSz="457200" eaLnBrk="1" fontAlgn="auto" hangingPunct="1" algn="l">
              <a:lnSpc>
                <a:spcPct val="108000"/>
              </a:lnSpc>
              <a:buNone/>
            </a:pPr>
            <a:r>
              <a:rPr lang="en-HK" sz="1350" dirty="0">
                <a:solidFill>
                  <a:prstClr val="black"/>
                </a:solidFill>
                <a:latin typeface="Times New Roman" panose="02020603050405020304" pitchFamily="18" charset="0"/>
                <a:ea typeface="SimSun"/>
                <a:cs typeface="Times New Roman" panose="02020603050405020304" pitchFamily="18" charset="0"/>
              </a:rPr>
              <a:t>The IEC technology is a green and energy-saving technology that uses </a:t>
            </a:r>
            <a:r>
              <a:rPr lang="en-HK" sz="1350" dirty="0">
                <a:solidFill>
                  <a:srgbClr val="C00000"/>
                </a:solidFill>
                <a:latin typeface="Times New Roman" panose="02020603050405020304" pitchFamily="18" charset="0"/>
                <a:ea typeface="SimSun"/>
                <a:cs typeface="Times New Roman" panose="02020603050405020304" pitchFamily="18" charset="0"/>
              </a:rPr>
              <a:t>water</a:t>
            </a:r>
            <a:r>
              <a:rPr lang="en-HK" sz="1350" dirty="0">
                <a:solidFill>
                  <a:prstClr val="black"/>
                </a:solidFill>
                <a:latin typeface="Times New Roman" panose="02020603050405020304" pitchFamily="18" charset="0"/>
                <a:ea typeface="SimSun"/>
                <a:cs typeface="Times New Roman" panose="02020603050405020304" pitchFamily="18" charset="0"/>
              </a:rPr>
              <a:t> to </a:t>
            </a:r>
            <a:r>
              <a:rPr lang="en-HK" sz="1350" dirty="0">
                <a:solidFill>
                  <a:srgbClr val="C00000"/>
                </a:solidFill>
                <a:latin typeface="Times New Roman" panose="02020603050405020304" pitchFamily="18" charset="0"/>
                <a:ea typeface="SimSun"/>
                <a:cs typeface="Times New Roman" panose="02020603050405020304" pitchFamily="18" charset="0"/>
              </a:rPr>
              <a:t>evaporate</a:t>
            </a:r>
            <a:r>
              <a:rPr lang="en-HK" sz="1350" dirty="0">
                <a:solidFill>
                  <a:prstClr val="black"/>
                </a:solidFill>
                <a:latin typeface="Times New Roman" panose="02020603050405020304" pitchFamily="18" charset="0"/>
                <a:ea typeface="SimSun"/>
                <a:cs typeface="Times New Roman" panose="02020603050405020304" pitchFamily="18" charset="0"/>
              </a:rPr>
              <a:t> and absorb heat for cooling.</a:t>
            </a:r>
          </a:p>
        </p:txBody>
      </p:sp>
      <p:sp>
        <p:nvSpPr>
          <p:cNvPr id="27" name="TextBox 1"/>
          <p:cNvSpPr txBox="1"/>
          <p:nvPr/>
        </p:nvSpPr>
        <p:spPr>
          <a:xfrm>
            <a:off x="822338" y="1724094"/>
            <a:ext cx="6502840" cy="294004"/>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间接蒸发冷却（IEC）利用水蒸发吸热实现降温，是一种绿色节能技术。</a:t>
            </a:r>
          </a:p>
        </p:txBody>
      </p:sp>
    </p:spTree>
    <p:extLst>
      <p:ext uri="{BB962C8B-B14F-4D97-AF65-F5344CB8AC3E}">
        <p14:creationId xmlns:p14="http://schemas.microsoft.com/office/powerpoint/2010/main" val="329859860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10" name="文本框 9">
            <a:extLst>
              <a:ext uri="{FF2B5EF4-FFF2-40B4-BE49-F238E27FC236}">
                <a16:creationId xmlns:a16="http://schemas.microsoft.com/office/drawing/2014/main" id="{F6E5958E-E7A8-8206-F4C3-2DB88B2C8BC3}"/>
              </a:ext>
            </a:extLst>
          </p:cNvPr>
          <p:cNvSpPr txBox="1"/>
          <p:nvPr/>
        </p:nvSpPr>
        <p:spPr>
          <a:xfrm>
            <a:off x="3475592" y="4042391"/>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8.1 </a:t>
            </a:r>
            <a:r>
              <a:rPr lang="en-HK" altLang="zh-CN" sz="1200" dirty="0">
                <a:latin typeface="Times New Roman" panose="02020603050405020304" pitchFamily="18" charset="0"/>
                <a:ea typeface="SimSun" panose="02010600030101010101" pitchFamily="2" charset="-122"/>
                <a:cs typeface="Times New Roman" panose="02020603050405020304" pitchFamily="18" charset="0"/>
              </a:rPr>
              <a:t>(a) schematics and (b) psychrometric process of traditional IEC</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3" name="图片 12">
            <a:extLst>
              <a:ext uri="{FF2B5EF4-FFF2-40B4-BE49-F238E27FC236}">
                <a16:creationId xmlns:a16="http://schemas.microsoft.com/office/drawing/2014/main" id="{52554368-D56A-48DB-BCF5-F219E06A7B6C}"/>
              </a:ext>
            </a:extLst>
          </p:cNvPr>
          <p:cNvPicPr>
            <a:picLocks noChangeAspect="1"/>
          </p:cNvPicPr>
          <p:nvPr/>
        </p:nvPicPr>
        <p:blipFill>
          <a:blip r:embed="rId3"/>
          <a:stretch>
            <a:fillRect/>
          </a:stretch>
        </p:blipFill>
        <p:spPr>
          <a:xfrm>
            <a:off x="1993119" y="1451399"/>
            <a:ext cx="8024576" cy="2549304"/>
          </a:xfrm>
          <a:prstGeom prst="rect">
            <a:avLst/>
          </a:prstGeom>
        </p:spPr>
      </p:pic>
      <p:sp>
        <p:nvSpPr>
          <p:cNvPr id="21"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工作原理</a:t>
            </a:r>
          </a:p>
        </p:txBody>
      </p:sp>
      <p:sp>
        <p:nvSpPr>
          <p:cNvPr id="22"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Working principle</a:t>
            </a:r>
          </a:p>
        </p:txBody>
      </p:sp>
      <p:sp>
        <p:nvSpPr>
          <p:cNvPr id="23"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4"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5" name="文本框 11">
            <a:extLst>
              <a:ext uri="{FF2B5EF4-FFF2-40B4-BE49-F238E27FC236}">
                <a16:creationId xmlns:a16="http://schemas.microsoft.com/office/drawing/2014/main" id="{5A6E6B83-037F-337A-2F2C-BA728907C8FA}"/>
              </a:ext>
            </a:extLst>
          </p:cNvPr>
          <p:cNvSpPr txBox="1"/>
          <p:nvPr/>
        </p:nvSpPr>
        <p:spPr>
          <a:xfrm>
            <a:off x="1718897" y="4936200"/>
            <a:ext cx="4802263" cy="1174750"/>
          </a:xfrm>
          <a:prstGeom prst="rect">
            <a:avLst/>
          </a:prstGeom>
          <a:noFill/>
          <a:ln>
            <a:noFill/>
          </a:ln>
        </p:spPr>
        <p:txBody>
          <a:bodyPr wrap="square" lIns="0" rIns="0" tIns="0" bIns="0">
            <a:noAutofit/>
          </a:bodyPr>
          <a:lstStyle/>
          <a:p>
            <a:pPr marL="0" indent="0" algn="l">
              <a:lnSpc>
                <a:spcPct val="108000"/>
              </a:lnSpc>
              <a:buNone/>
            </a:pP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When IEC is applied in hot and humid areas, the </a:t>
            </a:r>
            <a:r>
              <a:rPr lang="en-HK" altLang="zh-CN" sz="1500"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primary air </a:t>
            </a: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humidity is high and the wet-bulb temperature of the </a:t>
            </a:r>
            <a:r>
              <a:rPr lang="en-HK" altLang="zh-CN" sz="1500"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secondary air (exhaust air)</a:t>
            </a: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 in the air-conditioned space is low, resulting in condensation where the temperature of the plate surface is lower than the dew-point temperature of the primary air.</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26" name="TextBox 1"/>
          <p:cNvSpPr txBox="1"/>
          <p:nvPr/>
        </p:nvSpPr>
        <p:spPr>
          <a:xfrm>
            <a:off x="6850343" y="4949916"/>
            <a:ext cx="3622759" cy="1174750"/>
          </a:xfrm>
          <a:prstGeom prst="rect">
            <a:avLst/>
          </a:prstGeom>
          <a:noFill/>
        </p:spPr>
        <p:txBody>
          <a:bodyPr wrap="square" lIns="0" rIns="0" tIns="0" bIns="0">
            <a:spAutoFit/>
          </a:bodyPr>
          <a:lstStyle/>
          <a:p>
            <a:pPr>
              <a:lnSpc>
                <a:spcPct val="105000"/>
              </a:lnSpc>
              <a:spcAft>
                <a:spcPts val="0"/>
              </a:spcAft>
            </a:pPr>
            <a:r>
              <a:rPr sz="1500" b="0">
                <a:solidFill>
                  <a:srgbClr val="303030"/>
                </a:solidFill>
                <a:latin typeface="Times New Roman"/>
                <a:ea typeface="SimSun"/>
                <a:cs typeface="Times New Roman"/>
              </a:rPr>
              <a:t>在湿热地区，一次空气湿度较高，而空调空间排风作为二次空气时，其湿球温度较低。当换热板表面温度低于一次空气露点温度时，一次空气侧会发生冷凝。</a:t>
            </a:r>
          </a:p>
        </p:txBody>
      </p:sp>
    </p:spTree>
    <p:extLst>
      <p:ext uri="{BB962C8B-B14F-4D97-AF65-F5344CB8AC3E}">
        <p14:creationId xmlns:p14="http://schemas.microsoft.com/office/powerpoint/2010/main" val="4086103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箭头: 右 8">
            <a:extLst>
              <a:ext uri="{FF2B5EF4-FFF2-40B4-BE49-F238E27FC236}">
                <a16:creationId xmlns:a16="http://schemas.microsoft.com/office/drawing/2014/main" id="{5C3AF333-D36D-439E-9EC5-9E2C6211B517}"/>
              </a:ext>
            </a:extLst>
          </p:cNvPr>
          <p:cNvSpPr/>
          <p:nvPr/>
        </p:nvSpPr>
        <p:spPr>
          <a:xfrm>
            <a:off x="3811517" y="1865649"/>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3600"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800">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2400">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2400" b="0" i="1" kern="0" dirty="0">
              <a:solidFill>
                <a:srgbClr val="000000"/>
              </a:solidFill>
              <a:latin typeface="Times New Roman" panose="02020603050405020304" pitchFamily="18" charset="0"/>
              <a:ea typeface="SimSun" panose="02010600030101010101" pitchFamily="2" charset="-122"/>
              <a:cs typeface="Times New Roman"/>
            </a:endParaRPr>
          </a:p>
        </p:txBody>
      </p:sp>
      <p:pic>
        <p:nvPicPr>
          <p:cNvPr id="10" name="图片 9">
            <a:extLst>
              <a:ext uri="{FF2B5EF4-FFF2-40B4-BE49-F238E27FC236}">
                <a16:creationId xmlns:a16="http://schemas.microsoft.com/office/drawing/2014/main" id="{145283EF-9DC4-4754-A67B-07468085ABBF}"/>
              </a:ext>
            </a:extLst>
          </p:cNvPr>
          <p:cNvPicPr>
            <a:picLocks noChangeAspect="1"/>
          </p:cNvPicPr>
          <p:nvPr/>
        </p:nvPicPr>
        <p:blipFill rotWithShape="1">
          <a:blip r:embed="rId6">
            <a:extLst>
              <a:ext uri="{28A0092B-C50C-407E-A947-70E740481C1C}">
                <a14:useLocalDpi xmlns:a14="http://schemas.microsoft.com/office/drawing/2010/main" val="0"/>
              </a:ext>
            </a:extLst>
          </a:blip>
          <a:srcRect r="39584"/>
          <a:stretch/>
        </p:blipFill>
        <p:spPr>
          <a:xfrm>
            <a:off x="1744725" y="3119572"/>
            <a:ext cx="3505958" cy="1402933"/>
          </a:xfrm>
          <a:prstGeom prst="rect">
            <a:avLst/>
          </a:prstGeom>
        </p:spPr>
      </p:pic>
      <p:sp>
        <p:nvSpPr>
          <p:cNvPr id="11" name="矩形 10">
            <a:extLst>
              <a:ext uri="{FF2B5EF4-FFF2-40B4-BE49-F238E27FC236}">
                <a16:creationId xmlns:a16="http://schemas.microsoft.com/office/drawing/2014/main" id="{CAA5E4BC-7257-4E7D-B55A-5E7F7A558561}"/>
              </a:ext>
            </a:extLst>
          </p:cNvPr>
          <p:cNvSpPr/>
          <p:nvPr/>
        </p:nvSpPr>
        <p:spPr>
          <a:xfrm>
            <a:off x="6259409" y="2665506"/>
            <a:ext cx="2321469"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2000" dirty="0">
                <a:solidFill>
                  <a:prstClr val="black"/>
                </a:solidFill>
                <a:latin typeface="Times New Roman" panose="02020603050405020304" pitchFamily="18" charset="0"/>
                <a:ea typeface="SimSun"/>
                <a:cs typeface="Times New Roman" panose="02020603050405020304" pitchFamily="18" charset="0"/>
              </a:rPr>
              <a:t>Air flow direction</a:t>
            </a:r>
          </a:p>
        </p:txBody>
      </p:sp>
      <p:pic>
        <p:nvPicPr>
          <p:cNvPr id="12" name="图片 11">
            <a:extLst>
              <a:ext uri="{FF2B5EF4-FFF2-40B4-BE49-F238E27FC236}">
                <a16:creationId xmlns:a16="http://schemas.microsoft.com/office/drawing/2014/main" id="{53D0933D-9024-4FB6-9D0B-438AE4E2C6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70773" y="3234971"/>
            <a:ext cx="5293392" cy="2493211"/>
          </a:xfrm>
          <a:prstGeom prst="rect">
            <a:avLst/>
          </a:prstGeom>
        </p:spPr>
      </p:pic>
      <p:pic>
        <p:nvPicPr>
          <p:cNvPr id="13" name="图片 12">
            <a:extLst>
              <a:ext uri="{FF2B5EF4-FFF2-40B4-BE49-F238E27FC236}">
                <a16:creationId xmlns:a16="http://schemas.microsoft.com/office/drawing/2014/main" id="{F8E1EDF5-DB63-43BD-9B4E-4ECD2AB65D20}"/>
              </a:ext>
            </a:extLst>
          </p:cNvPr>
          <p:cNvPicPr>
            <a:picLocks noChangeAspect="1"/>
          </p:cNvPicPr>
          <p:nvPr/>
        </p:nvPicPr>
        <p:blipFill rotWithShape="1">
          <a:blip r:embed="rId6">
            <a:extLst>
              <a:ext uri="{28A0092B-C50C-407E-A947-70E740481C1C}">
                <a14:useLocalDpi xmlns:a14="http://schemas.microsoft.com/office/drawing/2010/main" val="0"/>
              </a:ext>
            </a:extLst>
          </a:blip>
          <a:srcRect l="60117"/>
          <a:stretch/>
        </p:blipFill>
        <p:spPr>
          <a:xfrm>
            <a:off x="2203521" y="4481577"/>
            <a:ext cx="2314434" cy="1402933"/>
          </a:xfrm>
          <a:prstGeom prst="rect">
            <a:avLst/>
          </a:prstGeom>
        </p:spPr>
      </p:pic>
      <p:sp>
        <p:nvSpPr>
          <p:cNvPr id="14" name="矩形 13">
            <a:extLst>
              <a:ext uri="{FF2B5EF4-FFF2-40B4-BE49-F238E27FC236}">
                <a16:creationId xmlns:a16="http://schemas.microsoft.com/office/drawing/2014/main" id="{1660984A-5705-45EB-800B-BE30FF291B07}"/>
              </a:ext>
            </a:extLst>
          </p:cNvPr>
          <p:cNvSpPr/>
          <p:nvPr/>
        </p:nvSpPr>
        <p:spPr>
          <a:xfrm>
            <a:off x="1291291" y="5909414"/>
            <a:ext cx="3782254"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Fig.1.3.1 </a:t>
            </a:r>
            <a:r>
              <a:rPr lang="en-HK" sz="1200" dirty="0">
                <a:solidFill>
                  <a:prstClr val="black"/>
                </a:solidFill>
                <a:latin typeface="Times New Roman" panose="02020603050405020304" pitchFamily="18" charset="0"/>
                <a:ea typeface="SimSun"/>
                <a:cs typeface="Times New Roman" panose="02020603050405020304" pitchFamily="18" charset="0"/>
              </a:rPr>
              <a:t>Plate with different pitch or protrusion geometry</a:t>
            </a:r>
          </a:p>
        </p:txBody>
      </p:sp>
      <p:sp>
        <p:nvSpPr>
          <p:cNvPr id="15" name="矩形 14">
            <a:extLst>
              <a:ext uri="{FF2B5EF4-FFF2-40B4-BE49-F238E27FC236}">
                <a16:creationId xmlns:a16="http://schemas.microsoft.com/office/drawing/2014/main" id="{FC5F9486-09F4-4DE1-A107-43036D5C7A83}"/>
              </a:ext>
            </a:extLst>
          </p:cNvPr>
          <p:cNvSpPr/>
          <p:nvPr/>
        </p:nvSpPr>
        <p:spPr>
          <a:xfrm>
            <a:off x="6827975" y="5909414"/>
            <a:ext cx="3157531"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Fig.1.3.2 </a:t>
            </a:r>
            <a:r>
              <a:rPr lang="en-HK" sz="1200" dirty="0">
                <a:solidFill>
                  <a:prstClr val="black"/>
                </a:solidFill>
                <a:latin typeface="Times New Roman" panose="02020603050405020304" pitchFamily="18" charset="0"/>
                <a:ea typeface="SimSun"/>
                <a:cs typeface="Times New Roman" panose="02020603050405020304" pitchFamily="18" charset="0"/>
              </a:rPr>
              <a:t>Scheme of Top and Side configuration</a:t>
            </a:r>
          </a:p>
        </p:txBody>
      </p:sp>
      <p:sp>
        <p:nvSpPr>
          <p:cNvPr id="20" name="矩形 19">
            <a:extLst>
              <a:ext uri="{FF2B5EF4-FFF2-40B4-BE49-F238E27FC236}">
                <a16:creationId xmlns:a16="http://schemas.microsoft.com/office/drawing/2014/main" id="{C32FA8AC-8E88-4DAB-A20C-C129DA0584AD}"/>
              </a:ext>
            </a:extLst>
          </p:cNvPr>
          <p:cNvSpPr/>
          <p:nvPr/>
        </p:nvSpPr>
        <p:spPr>
          <a:xfrm>
            <a:off x="1959006" y="6259757"/>
            <a:ext cx="8534263" cy="400110"/>
          </a:xfrm>
          <a:prstGeom prst="rect">
            <a:avLst/>
          </a:prstGeom>
        </p:spPr>
        <p:txBody>
          <a:bodyPr wrap="square">
            <a:spAutoFit/>
          </a:bodyPr>
          <a:lstStyle/>
          <a:p>
            <a:pPr algn="ctr" defTabSz="457200" eaLnBrk="1" fontAlgn="auto" hangingPunct="1">
              <a:spcAft>
                <a:spcPts val="0"/>
              </a:spcAft>
            </a:pPr>
            <a:r>
              <a:rPr lang="en-HK" altLang="en-US" sz="1000" i="1" dirty="0">
                <a:solidFill>
                  <a:prstClr val="black"/>
                </a:solidFill>
                <a:latin typeface="Times New Roman" panose="020B0604020202020204" pitchFamily="34" charset="0"/>
                <a:ea typeface="SimSun"/>
                <a:cs typeface="Times New Roman" panose="020B0604020202020204" pitchFamily="34" charset="0"/>
              </a:rPr>
              <a:t>S</a:t>
            </a:r>
            <a:r>
              <a:rPr lang="en-US" altLang="zh-CN" sz="100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plates coating on performance of an indirect evaporative cooling system. 2019;</a:t>
            </a:r>
          </a:p>
          <a:p>
            <a:pPr algn="ctr" defTabSz="457200" eaLnBrk="1" fontAlgn="auto" hangingPunct="1">
              <a:spcAft>
                <a:spcPts val="0"/>
              </a:spcAft>
            </a:pPr>
            <a:r>
              <a:rPr lang="en-HK" altLang="zh-CN" sz="100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heat exchanger plates geometry on performance of an indirect evaporative cooling system, 2020</a:t>
            </a:r>
            <a:endParaRPr lang="en-HK" altLang="en-US" sz="1000" i="1" dirty="0">
              <a:solidFill>
                <a:prstClr val="black"/>
              </a:solidFill>
              <a:latin typeface="Times New Roman" panose="020B0604020202020204" pitchFamily="34" charset="0"/>
              <a:ea typeface="SimSun"/>
              <a:cs typeface="Times New Roman" panose="020B0604020202020204" pitchFamily="34" charset="0"/>
            </a:endParaRPr>
          </a:p>
        </p:txBody>
      </p:sp>
      <p:sp>
        <p:nvSpPr>
          <p:cNvPr id="18" name="矩形 17">
            <a:extLst>
              <a:ext uri="{FF2B5EF4-FFF2-40B4-BE49-F238E27FC236}">
                <a16:creationId xmlns:a16="http://schemas.microsoft.com/office/drawing/2014/main" id="{8A51D581-844B-4922-B4E6-85A9AAF4D125}"/>
              </a:ext>
            </a:extLst>
          </p:cNvPr>
          <p:cNvSpPr/>
          <p:nvPr/>
        </p:nvSpPr>
        <p:spPr>
          <a:xfrm>
            <a:off x="1170411" y="2666384"/>
            <a:ext cx="1943161"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2000" dirty="0">
                <a:solidFill>
                  <a:prstClr val="black"/>
                </a:solidFill>
                <a:latin typeface="Times New Roman" panose="02020603050405020304" pitchFamily="18" charset="0"/>
                <a:ea typeface="SimSun"/>
                <a:cs typeface="Times New Roman" panose="02020603050405020304" pitchFamily="18" charset="0"/>
              </a:rPr>
              <a:t>Plate structure</a:t>
            </a:r>
          </a:p>
        </p:txBody>
      </p:sp>
      <p:sp>
        <p:nvSpPr>
          <p:cNvPr id="21" name="矩形 20">
            <a:extLst>
              <a:ext uri="{FF2B5EF4-FFF2-40B4-BE49-F238E27FC236}">
                <a16:creationId xmlns:a16="http://schemas.microsoft.com/office/drawing/2014/main" id="{78281F5F-93D5-4DAE-A76D-59CFFE3A72BB}"/>
              </a:ext>
            </a:extLst>
          </p:cNvPr>
          <p:cNvSpPr/>
          <p:nvPr/>
        </p:nvSpPr>
        <p:spPr>
          <a:xfrm>
            <a:off x="1170411" y="1321706"/>
            <a:ext cx="1824859"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2000" dirty="0">
                <a:solidFill>
                  <a:prstClr val="black"/>
                </a:solidFill>
                <a:latin typeface="Times New Roman" panose="02020603050405020304" pitchFamily="18" charset="0"/>
                <a:ea typeface="SimSun"/>
                <a:cs typeface="Times New Roman" panose="02020603050405020304" pitchFamily="18" charset="0"/>
              </a:rPr>
              <a:t>Water supply</a:t>
            </a:r>
          </a:p>
        </p:txBody>
      </p:sp>
      <p:sp>
        <p:nvSpPr>
          <p:cNvPr id="2" name="灯片编号占位符 1">
            <a:extLst>
              <a:ext uri="{FF2B5EF4-FFF2-40B4-BE49-F238E27FC236}">
                <a16:creationId xmlns:a16="http://schemas.microsoft.com/office/drawing/2014/main" id="{C4D37DC7-6603-45E5-9710-38C89138650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7</a:t>
            </a:fld>
            <a:endParaRPr lang="en-US" altLang="zh-CN" dirty="0">
              <a:latin typeface="Times New Roman"/>
              <a:ea typeface="SimSun"/>
              <a:cs typeface="Times New Roman"/>
            </a:endParaRPr>
          </a:p>
        </p:txBody>
      </p:sp>
      <p:sp>
        <p:nvSpPr>
          <p:cNvPr id="22" name="箭头: 右 21">
            <a:extLst>
              <a:ext uri="{FF2B5EF4-FFF2-40B4-BE49-F238E27FC236}">
                <a16:creationId xmlns:a16="http://schemas.microsoft.com/office/drawing/2014/main" id="{08250E77-0F66-4150-93A9-601564A34DE7}"/>
              </a:ext>
            </a:extLst>
          </p:cNvPr>
          <p:cNvSpPr/>
          <p:nvPr/>
        </p:nvSpPr>
        <p:spPr>
          <a:xfrm>
            <a:off x="3811517" y="2161942"/>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3600"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800">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2400">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2400" b="0" i="1" kern="0" dirty="0">
              <a:solidFill>
                <a:srgbClr val="000000"/>
              </a:solidFill>
              <a:latin typeface="Times New Roman" panose="02020603050405020304" pitchFamily="18" charset="0"/>
              <a:ea typeface="SimSun" panose="02010600030101010101" pitchFamily="2" charset="-122"/>
              <a:cs typeface="Times New Roman"/>
            </a:endParaRPr>
          </a:p>
        </p:txBody>
      </p:sp>
      <p:sp>
        <p:nvSpPr>
          <p:cNvPr id="23"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二次空气通道的润湿性研究</a:t>
            </a:r>
          </a:p>
        </p:txBody>
      </p:sp>
      <p:sp>
        <p:nvSpPr>
          <p:cNvPr id="24"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1.3 Research on wettability of secondary air channel</a:t>
            </a:r>
          </a:p>
        </p:txBody>
      </p:sp>
      <p:sp>
        <p:nvSpPr>
          <p:cNvPr id="25"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26"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7" name="文本框 6">
            <a:extLst>
              <a:ext uri="{FF2B5EF4-FFF2-40B4-BE49-F238E27FC236}">
                <a16:creationId xmlns:a16="http://schemas.microsoft.com/office/drawing/2014/main" id="{F13C73EA-AFF4-4314-A19B-943ED48BE4C5}"/>
              </a:ext>
            </a:extLst>
          </p:cNvPr>
          <p:cNvSpPr txBox="1"/>
          <p:nvPr/>
        </p:nvSpPr>
        <p:spPr>
          <a:xfrm>
            <a:off x="1520346" y="1729825"/>
            <a:ext cx="4842326" cy="566674"/>
          </a:xfrm>
          <a:prstGeom prst="rect">
            <a:avLst/>
          </a:prstGeom>
          <a:noFill/>
          <a:ln>
            <a:noFill/>
          </a:ln>
        </p:spPr>
        <p:txBody>
          <a:bodyPr wrap="square" rtlCol="0" lIns="0" rIns="0" tIns="0" bIns="0">
            <a:noAutofit/>
          </a:bodyPr>
          <a:lstStyle/>
          <a:p>
            <a:pPr marL="0" indent="0" defTabSz="457200" eaLnBrk="1" fontAlgn="auto" hangingPunct="1" algn="l">
              <a:lnSpc>
                <a:spcPct val="108000"/>
              </a:lnSpc>
              <a:buNone/>
            </a:pPr>
            <a:r>
              <a:rPr lang="en-HK" sz="1650" dirty="0">
                <a:solidFill>
                  <a:prstClr val="black"/>
                </a:solidFill>
                <a:latin typeface="Times New Roman" panose="02020603050405020304" pitchFamily="18" charset="0"/>
                <a:ea typeface="SimSun"/>
                <a:cs typeface="Times New Roman" panose="02020603050405020304" pitchFamily="18" charset="0"/>
              </a:rPr>
              <a:t>Low water supply               Low wettability and heat &amp; mass transfer</a:t>
            </a:r>
          </a:p>
        </p:txBody>
      </p:sp>
      <p:sp>
        <p:nvSpPr>
          <p:cNvPr id="28" name="TextBox 1"/>
          <p:cNvSpPr txBox="1"/>
          <p:nvPr/>
        </p:nvSpPr>
        <p:spPr>
          <a:xfrm>
            <a:off x="6691855" y="1743540"/>
            <a:ext cx="3652982"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供水量过低 → 润湿不足，传热传质性能下降</a:t>
            </a:r>
          </a:p>
        </p:txBody>
      </p:sp>
      <p:sp>
        <p:nvSpPr>
          <p:cNvPr id="29" name="文本框 6">
            <a:extLst>
              <a:ext uri="{FF2B5EF4-FFF2-40B4-BE49-F238E27FC236}">
                <a16:creationId xmlns:a16="http://schemas.microsoft.com/office/drawing/2014/main" id="{F13C73EA-AFF4-4314-A19B-943ED48BE4C5}"/>
              </a:ext>
            </a:extLst>
          </p:cNvPr>
          <p:cNvSpPr txBox="1"/>
          <p:nvPr/>
        </p:nvSpPr>
        <p:spPr>
          <a:xfrm>
            <a:off x="1520346" y="2296499"/>
            <a:ext cx="4842326" cy="566674"/>
          </a:xfrm>
          <a:prstGeom prst="rect">
            <a:avLst/>
          </a:prstGeom>
          <a:noFill/>
          <a:ln>
            <a:noFill/>
          </a:ln>
        </p:spPr>
        <p:txBody>
          <a:bodyPr wrap="square" rtlCol="0" lIns="0" rIns="0" tIns="0" bIns="0">
            <a:noAutofit/>
          </a:bodyPr>
          <a:lstStyle/>
          <a:p>
            <a:pPr marL="0" indent="0" defTabSz="457200" eaLnBrk="1" fontAlgn="auto" hangingPunct="1" algn="l">
              <a:lnSpc>
                <a:spcPct val="108000"/>
              </a:lnSpc>
              <a:buNone/>
            </a:pPr>
            <a:r>
              <a:rPr lang="en-HK" sz="1650" dirty="0">
                <a:solidFill>
                  <a:prstClr val="black"/>
                </a:solidFill>
                <a:latin typeface="Times New Roman" panose="02020603050405020304" pitchFamily="18" charset="0"/>
                <a:ea typeface="SimSun"/>
                <a:cs typeface="Times New Roman" panose="02020603050405020304" pitchFamily="18" charset="0"/>
              </a:rPr>
              <a:t>High water supply              Higher film thickness and thermal resistance </a:t>
            </a:r>
          </a:p>
        </p:txBody>
      </p:sp>
      <p:sp>
        <p:nvSpPr>
          <p:cNvPr id="30" name="TextBox 1"/>
          <p:cNvSpPr txBox="1"/>
          <p:nvPr/>
        </p:nvSpPr>
        <p:spPr>
          <a:xfrm>
            <a:off x="6691855" y="2310215"/>
            <a:ext cx="3652982"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供水量过高 → 水膜增厚，传热热阻增大</a:t>
            </a:r>
          </a:p>
        </p:txBody>
      </p:sp>
    </p:spTree>
    <p:extLst>
      <p:ext uri="{BB962C8B-B14F-4D97-AF65-F5344CB8AC3E}">
        <p14:creationId xmlns:p14="http://schemas.microsoft.com/office/powerpoint/2010/main" val="4329823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564FF9B8-0D28-4CAC-A562-6424332E77C7}"/>
              </a:ext>
            </a:extLst>
          </p:cNvPr>
          <p:cNvPicPr>
            <a:picLocks noChangeAspect="1"/>
          </p:cNvPicPr>
          <p:nvPr/>
        </p:nvPicPr>
        <p:blipFill>
          <a:blip r:embed="rId3"/>
          <a:stretch>
            <a:fillRect/>
          </a:stretch>
        </p:blipFill>
        <p:spPr>
          <a:xfrm>
            <a:off x="6362621" y="1721279"/>
            <a:ext cx="4919082" cy="4222913"/>
          </a:xfrm>
          <a:prstGeom prst="rect">
            <a:avLst/>
          </a:prstGeom>
        </p:spPr>
      </p:pic>
      <p:pic>
        <p:nvPicPr>
          <p:cNvPr id="7" name="图片 6">
            <a:extLst>
              <a:ext uri="{FF2B5EF4-FFF2-40B4-BE49-F238E27FC236}">
                <a16:creationId xmlns:a16="http://schemas.microsoft.com/office/drawing/2014/main" id="{B35B12EB-A562-42F7-84F4-D83D5AC6A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8961" y="1660828"/>
            <a:ext cx="2895890" cy="1476822"/>
          </a:xfrm>
          <a:prstGeom prst="rect">
            <a:avLst/>
          </a:prstGeom>
        </p:spPr>
      </p:pic>
      <p:sp>
        <p:nvSpPr>
          <p:cNvPr id="8" name="文本框 7">
            <a:extLst>
              <a:ext uri="{FF2B5EF4-FFF2-40B4-BE49-F238E27FC236}">
                <a16:creationId xmlns:a16="http://schemas.microsoft.com/office/drawing/2014/main" id="{CFEA6F62-D93B-4DE6-B8E2-1D5C6626D810}"/>
              </a:ext>
            </a:extLst>
          </p:cNvPr>
          <p:cNvSpPr txBox="1"/>
          <p:nvPr/>
        </p:nvSpPr>
        <p:spPr>
          <a:xfrm>
            <a:off x="906767" y="1260718"/>
            <a:ext cx="1931684"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2000" dirty="0">
                <a:solidFill>
                  <a:prstClr val="black"/>
                </a:solidFill>
                <a:latin typeface="Times New Roman" panose="02020603050405020304" pitchFamily="18" charset="0"/>
                <a:ea typeface="SimSun"/>
                <a:cs typeface="Times New Roman" panose="02020603050405020304" pitchFamily="18" charset="0"/>
              </a:rPr>
              <a:t>Arrangement</a:t>
            </a:r>
          </a:p>
        </p:txBody>
      </p:sp>
      <p:sp>
        <p:nvSpPr>
          <p:cNvPr id="9" name="文本框 8">
            <a:extLst>
              <a:ext uri="{FF2B5EF4-FFF2-40B4-BE49-F238E27FC236}">
                <a16:creationId xmlns:a16="http://schemas.microsoft.com/office/drawing/2014/main" id="{9E4AB835-1458-4B7E-86C3-561D053D893C}"/>
              </a:ext>
            </a:extLst>
          </p:cNvPr>
          <p:cNvSpPr txBox="1"/>
          <p:nvPr/>
        </p:nvSpPr>
        <p:spPr>
          <a:xfrm>
            <a:off x="910297" y="3343277"/>
            <a:ext cx="1223046"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2000" dirty="0">
                <a:solidFill>
                  <a:prstClr val="black"/>
                </a:solidFill>
                <a:latin typeface="Times New Roman" panose="02020603050405020304" pitchFamily="18" charset="0"/>
                <a:ea typeface="SimSun"/>
                <a:cs typeface="Times New Roman" panose="02020603050405020304" pitchFamily="18" charset="0"/>
              </a:rPr>
              <a:t>T</a:t>
            </a:r>
            <a:r>
              <a:rPr lang="en-US" altLang="zh-CN" sz="2000" dirty="0" err="1">
                <a:solidFill>
                  <a:prstClr val="black"/>
                </a:solidFill>
                <a:latin typeface="Times New Roman" panose="02020603050405020304" pitchFamily="18" charset="0"/>
                <a:ea typeface="SimSun"/>
                <a:cs typeface="Times New Roman" panose="02020603050405020304" pitchFamily="18" charset="0"/>
              </a:rPr>
              <a:t>ypes</a:t>
            </a:r>
            <a:endParaRPr lang="en-HK" sz="2000" dirty="0">
              <a:solidFill>
                <a:prstClr val="black"/>
              </a:solidFill>
              <a:latin typeface="Times New Roman" panose="02020603050405020304" pitchFamily="18" charset="0"/>
              <a:ea typeface="SimSun"/>
              <a:cs typeface="Times New Roman" panose="02020603050405020304" pitchFamily="18" charset="0"/>
            </a:endParaRPr>
          </a:p>
        </p:txBody>
      </p:sp>
      <p:pic>
        <p:nvPicPr>
          <p:cNvPr id="10" name="图片 9">
            <a:extLst>
              <a:ext uri="{FF2B5EF4-FFF2-40B4-BE49-F238E27FC236}">
                <a16:creationId xmlns:a16="http://schemas.microsoft.com/office/drawing/2014/main" id="{DBD39E2F-B5DF-4E80-A0FD-4E702CDC2B66}"/>
              </a:ext>
            </a:extLst>
          </p:cNvPr>
          <p:cNvPicPr>
            <a:picLocks noChangeAspect="1"/>
          </p:cNvPicPr>
          <p:nvPr/>
        </p:nvPicPr>
        <p:blipFill rotWithShape="1">
          <a:blip r:embed="rId5">
            <a:extLst>
              <a:ext uri="{28A0092B-C50C-407E-A947-70E740481C1C}">
                <a14:useLocalDpi xmlns:a14="http://schemas.microsoft.com/office/drawing/2010/main" val="0"/>
              </a:ext>
            </a:extLst>
          </a:blip>
          <a:srcRect r="41511"/>
          <a:stretch/>
        </p:blipFill>
        <p:spPr>
          <a:xfrm>
            <a:off x="1652249" y="3700825"/>
            <a:ext cx="2947537" cy="1259872"/>
          </a:xfrm>
          <a:prstGeom prst="rect">
            <a:avLst/>
          </a:prstGeom>
        </p:spPr>
      </p:pic>
      <p:pic>
        <p:nvPicPr>
          <p:cNvPr id="11" name="图片 10">
            <a:extLst>
              <a:ext uri="{FF2B5EF4-FFF2-40B4-BE49-F238E27FC236}">
                <a16:creationId xmlns:a16="http://schemas.microsoft.com/office/drawing/2014/main" id="{A6BE8FC5-02EE-4E51-ACCA-994E65E01EFB}"/>
              </a:ext>
            </a:extLst>
          </p:cNvPr>
          <p:cNvPicPr>
            <a:picLocks noChangeAspect="1"/>
          </p:cNvPicPr>
          <p:nvPr/>
        </p:nvPicPr>
        <p:blipFill rotWithShape="1">
          <a:blip r:embed="rId5">
            <a:extLst>
              <a:ext uri="{28A0092B-C50C-407E-A947-70E740481C1C}">
                <a14:useLocalDpi xmlns:a14="http://schemas.microsoft.com/office/drawing/2010/main" val="0"/>
              </a:ext>
            </a:extLst>
          </a:blip>
          <a:srcRect l="58833"/>
          <a:stretch/>
        </p:blipFill>
        <p:spPr>
          <a:xfrm>
            <a:off x="2014867" y="5030651"/>
            <a:ext cx="1995091" cy="1211580"/>
          </a:xfrm>
          <a:prstGeom prst="rect">
            <a:avLst/>
          </a:prstGeom>
        </p:spPr>
      </p:pic>
      <p:sp>
        <p:nvSpPr>
          <p:cNvPr id="12" name="矩形 11">
            <a:extLst>
              <a:ext uri="{FF2B5EF4-FFF2-40B4-BE49-F238E27FC236}">
                <a16:creationId xmlns:a16="http://schemas.microsoft.com/office/drawing/2014/main" id="{75E41081-C36A-4D1C-AECE-41C93056FDE2}"/>
              </a:ext>
            </a:extLst>
          </p:cNvPr>
          <p:cNvSpPr/>
          <p:nvPr/>
        </p:nvSpPr>
        <p:spPr>
          <a:xfrm>
            <a:off x="1372956" y="3126651"/>
            <a:ext cx="3278911"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Fig.1.3.3 </a:t>
            </a:r>
            <a:r>
              <a:rPr lang="en-HK" sz="1200" dirty="0">
                <a:solidFill>
                  <a:prstClr val="black"/>
                </a:solidFill>
                <a:latin typeface="Times New Roman" panose="02020603050405020304" pitchFamily="18" charset="0"/>
                <a:ea typeface="SimSun"/>
                <a:cs typeface="Times New Roman" panose="02020603050405020304" pitchFamily="18" charset="0"/>
              </a:rPr>
              <a:t>The photos of water distribution effect</a:t>
            </a:r>
            <a:r>
              <a:rPr lang="en-US" sz="1200" baseline="30000" dirty="0">
                <a:solidFill>
                  <a:prstClr val="black"/>
                </a:solidFill>
                <a:latin typeface="Times New Roman" panose="02020603050405020304" pitchFamily="18" charset="0"/>
                <a:ea typeface="SimSun"/>
                <a:cs typeface="Times New Roman" panose="02020603050405020304" pitchFamily="18" charset="0"/>
              </a:rPr>
              <a:t>[1]</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8E7CFE02-F62C-43D5-B3A7-84E54DB6610B}"/>
              </a:ext>
            </a:extLst>
          </p:cNvPr>
          <p:cNvSpPr/>
          <p:nvPr/>
        </p:nvSpPr>
        <p:spPr>
          <a:xfrm>
            <a:off x="1460500" y="6210354"/>
            <a:ext cx="3541354"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Fig.1.3.4 </a:t>
            </a:r>
            <a:r>
              <a:rPr lang="en-HK" sz="1200" dirty="0">
                <a:solidFill>
                  <a:prstClr val="black"/>
                </a:solidFill>
                <a:latin typeface="Times New Roman" panose="02020603050405020304" pitchFamily="18" charset="0"/>
                <a:ea typeface="SimSun"/>
                <a:cs typeface="Times New Roman" panose="02020603050405020304" pitchFamily="18" charset="0"/>
              </a:rPr>
              <a:t>Five types of commonly used spray nozzle</a:t>
            </a:r>
            <a:r>
              <a:rPr lang="en-US" sz="1200" baseline="30000" dirty="0">
                <a:solidFill>
                  <a:prstClr val="black"/>
                </a:solidFill>
                <a:latin typeface="Times New Roman" panose="02020603050405020304" pitchFamily="18" charset="0"/>
                <a:ea typeface="SimSun"/>
                <a:cs typeface="Times New Roman" panose="02020603050405020304" pitchFamily="18" charset="0"/>
              </a:rPr>
              <a:t>[1]</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4" name="矩形 13">
            <a:extLst>
              <a:ext uri="{FF2B5EF4-FFF2-40B4-BE49-F238E27FC236}">
                <a16:creationId xmlns:a16="http://schemas.microsoft.com/office/drawing/2014/main" id="{C8350991-79F4-40F0-BD4B-2486795F9C6A}"/>
              </a:ext>
            </a:extLst>
          </p:cNvPr>
          <p:cNvSpPr/>
          <p:nvPr/>
        </p:nvSpPr>
        <p:spPr>
          <a:xfrm>
            <a:off x="6637653" y="5935438"/>
            <a:ext cx="4369017"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Fig.1.3.5 </a:t>
            </a:r>
            <a:r>
              <a:rPr lang="en-HK" sz="1200" dirty="0">
                <a:solidFill>
                  <a:prstClr val="black"/>
                </a:solidFill>
                <a:latin typeface="Times New Roman" panose="02020603050405020304" pitchFamily="18" charset="0"/>
                <a:ea typeface="SimSun"/>
                <a:cs typeface="Times New Roman" panose="02020603050405020304" pitchFamily="18" charset="0"/>
              </a:rPr>
              <a:t>Water distribution volume of spraying nozzles(220 L/h)</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r>
              <a:rPr lang="en-US" sz="1200" baseline="30000" dirty="0">
                <a:solidFill>
                  <a:prstClr val="black"/>
                </a:solidFill>
                <a:latin typeface="Times New Roman" panose="020F0502020204030204"/>
                <a:ea typeface="SimSun"/>
                <a:cs typeface="Times New Roman"/>
              </a:rPr>
              <a:t>]</a:t>
            </a:r>
            <a:endParaRPr lang="en-HK" sz="1200" baseline="30000" dirty="0">
              <a:solidFill>
                <a:prstClr val="black"/>
              </a:solidFill>
              <a:latin typeface="Times New Roman" panose="020F0502020204030204"/>
              <a:ea typeface="SimSun"/>
              <a:cs typeface="Times New Roman"/>
            </a:endParaRPr>
          </a:p>
        </p:txBody>
      </p:sp>
      <p:sp>
        <p:nvSpPr>
          <p:cNvPr id="19" name="矩形 18">
            <a:extLst>
              <a:ext uri="{FF2B5EF4-FFF2-40B4-BE49-F238E27FC236}">
                <a16:creationId xmlns:a16="http://schemas.microsoft.com/office/drawing/2014/main" id="{D91E4C07-B92B-4844-BBED-212125B89E9F}"/>
              </a:ext>
            </a:extLst>
          </p:cNvPr>
          <p:cNvSpPr/>
          <p:nvPr/>
        </p:nvSpPr>
        <p:spPr>
          <a:xfrm>
            <a:off x="906766" y="6480683"/>
            <a:ext cx="9662662" cy="261290"/>
          </a:xfrm>
          <a:prstGeom prst="rect">
            <a:avLst/>
          </a:prstGeom>
        </p:spPr>
        <p:txBody>
          <a:bodyPr wrap="square">
            <a:spAutoFit/>
          </a:bodyPr>
          <a:lstStyle/>
          <a:p>
            <a:pPr marL="406400" indent="-406400" defTabSz="457200" eaLnBrk="1" fontAlgn="auto" hangingPunct="1">
              <a:lnSpc>
                <a:spcPct val="107000"/>
              </a:lnSpc>
              <a:spcBef>
                <a:spcPts val="0"/>
              </a:spcBef>
              <a:spcAft>
                <a:spcPts val="0"/>
              </a:spcAft>
            </a:pPr>
            <a:r>
              <a:rPr lang="en-US" sz="11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Sun T, Huang X, Chen Y, Zhang H. Experimental investigation of water spraying in an indirect evaporative cooler from nozzle type and spray strategy perspectives. </a:t>
            </a:r>
            <a:endParaRPr lang="en-HK" sz="11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B482234-D86D-4C48-BC4C-1674A8712D21}"/>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8</a:t>
            </a:fld>
            <a:endParaRPr lang="en-US" altLang="zh-CN">
              <a:latin typeface="Times New Roman"/>
              <a:ea typeface="SimSun"/>
              <a:cs typeface="Times New Roman"/>
            </a:endParaRPr>
          </a:p>
        </p:txBody>
      </p:sp>
      <p:sp>
        <p:nvSpPr>
          <p:cNvPr id="17" name="文本框 16">
            <a:extLst>
              <a:ext uri="{FF2B5EF4-FFF2-40B4-BE49-F238E27FC236}">
                <a16:creationId xmlns:a16="http://schemas.microsoft.com/office/drawing/2014/main" id="{A36BCB2F-72AD-4008-B678-9A07005B8EA9}"/>
              </a:ext>
            </a:extLst>
          </p:cNvPr>
          <p:cNvSpPr txBox="1"/>
          <p:nvPr/>
        </p:nvSpPr>
        <p:spPr>
          <a:xfrm>
            <a:off x="6162675" y="1258391"/>
            <a:ext cx="1931684"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2000" dirty="0">
                <a:solidFill>
                  <a:prstClr val="black"/>
                </a:solidFill>
                <a:latin typeface="Times New Roman" panose="02020603050405020304" pitchFamily="18" charset="0"/>
                <a:ea typeface="SimSun"/>
                <a:cs typeface="Times New Roman" panose="02020603050405020304" pitchFamily="18" charset="0"/>
              </a:rPr>
              <a:t>D</a:t>
            </a:r>
            <a:r>
              <a:rPr lang="en-US" altLang="zh-CN" sz="2000" dirty="0" err="1">
                <a:solidFill>
                  <a:prstClr val="black"/>
                </a:solidFill>
                <a:latin typeface="Times New Roman" panose="02020603050405020304" pitchFamily="18" charset="0"/>
                <a:ea typeface="SimSun"/>
                <a:cs typeface="Times New Roman" panose="02020603050405020304" pitchFamily="18" charset="0"/>
              </a:rPr>
              <a:t>istributions</a:t>
            </a:r>
            <a:endParaRPr lang="en-HK" sz="2000" dirty="0">
              <a:solidFill>
                <a:prstClr val="black"/>
              </a:solidFill>
              <a:latin typeface="Times New Roman" panose="02020603050405020304" pitchFamily="18" charset="0"/>
              <a:ea typeface="SimSun"/>
              <a:cs typeface="Times New Roman" panose="02020603050405020304" pitchFamily="18" charset="0"/>
            </a:endParaRPr>
          </a:p>
        </p:txBody>
      </p:sp>
      <p:sp>
        <p:nvSpPr>
          <p:cNvPr id="21"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喷淋喷嘴</a:t>
            </a:r>
          </a:p>
        </p:txBody>
      </p:sp>
      <p:sp>
        <p:nvSpPr>
          <p:cNvPr id="22"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Water spray nozzle</a:t>
            </a:r>
          </a:p>
        </p:txBody>
      </p:sp>
      <p:sp>
        <p:nvSpPr>
          <p:cNvPr id="23"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24"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817558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5CBF3B0-E901-4873-A723-7AA928F89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347" y="1378030"/>
            <a:ext cx="7148037" cy="4184569"/>
          </a:xfrm>
          <a:prstGeom prst="rect">
            <a:avLst/>
          </a:prstGeom>
        </p:spPr>
      </p:pic>
      <p:sp>
        <p:nvSpPr>
          <p:cNvPr id="13" name="矩形 12">
            <a:extLst>
              <a:ext uri="{FF2B5EF4-FFF2-40B4-BE49-F238E27FC236}">
                <a16:creationId xmlns:a16="http://schemas.microsoft.com/office/drawing/2014/main" id="{8E7CFE02-F62C-43D5-B3A7-84E54DB6610B}"/>
              </a:ext>
            </a:extLst>
          </p:cNvPr>
          <p:cNvSpPr/>
          <p:nvPr/>
        </p:nvSpPr>
        <p:spPr>
          <a:xfrm>
            <a:off x="4888438" y="5562599"/>
            <a:ext cx="2428870" cy="461665"/>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Fig.1.3.5 </a:t>
            </a:r>
            <a:r>
              <a:rPr lang="en-HK" sz="1200" dirty="0">
                <a:solidFill>
                  <a:prstClr val="black"/>
                </a:solidFill>
                <a:latin typeface="Times New Roman" panose="02020603050405020304" pitchFamily="18" charset="0"/>
                <a:ea typeface="SimSun"/>
                <a:cs typeface="Times New Roman" panose="02020603050405020304" pitchFamily="18" charset="0"/>
              </a:rPr>
              <a:t>Previous model of the IEC</a:t>
            </a:r>
            <a:endParaRPr lang="en-HK" sz="1200"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5" name="椭圆 4">
            <a:extLst>
              <a:ext uri="{FF2B5EF4-FFF2-40B4-BE49-F238E27FC236}">
                <a16:creationId xmlns:a16="http://schemas.microsoft.com/office/drawing/2014/main" id="{3D378700-1184-42B0-BC78-8BC8371E099F}"/>
              </a:ext>
            </a:extLst>
          </p:cNvPr>
          <p:cNvSpPr/>
          <p:nvPr/>
        </p:nvSpPr>
        <p:spPr bwMode="auto">
          <a:xfrm>
            <a:off x="3409651" y="1791989"/>
            <a:ext cx="290049" cy="2751071"/>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sp>
        <p:nvSpPr>
          <p:cNvPr id="20" name="椭圆 19">
            <a:extLst>
              <a:ext uri="{FF2B5EF4-FFF2-40B4-BE49-F238E27FC236}">
                <a16:creationId xmlns:a16="http://schemas.microsoft.com/office/drawing/2014/main" id="{E3DEC194-6E28-4884-990E-FFC1823815C8}"/>
              </a:ext>
            </a:extLst>
          </p:cNvPr>
          <p:cNvSpPr/>
          <p:nvPr/>
        </p:nvSpPr>
        <p:spPr bwMode="auto">
          <a:xfrm>
            <a:off x="6122388" y="1723413"/>
            <a:ext cx="290049" cy="2835108"/>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sp>
        <p:nvSpPr>
          <p:cNvPr id="21" name="椭圆 20">
            <a:extLst>
              <a:ext uri="{FF2B5EF4-FFF2-40B4-BE49-F238E27FC236}">
                <a16:creationId xmlns:a16="http://schemas.microsoft.com/office/drawing/2014/main" id="{F029131F-E6FC-4848-92C8-DA8DDA95290A}"/>
              </a:ext>
            </a:extLst>
          </p:cNvPr>
          <p:cNvSpPr/>
          <p:nvPr/>
        </p:nvSpPr>
        <p:spPr bwMode="auto">
          <a:xfrm>
            <a:off x="8610981" y="1802399"/>
            <a:ext cx="290049" cy="2710543"/>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chemeClr val="bg2"/>
              </a:solidFill>
              <a:latin typeface="Times New Roman" charset="0"/>
              <a:ea typeface="SimSun"/>
              <a:cs typeface="Times New Roman"/>
            </a:endParaRPr>
          </a:p>
        </p:txBody>
      </p:sp>
      <p:cxnSp>
        <p:nvCxnSpPr>
          <p:cNvPr id="17" name="直接箭头连接符 16">
            <a:extLst>
              <a:ext uri="{FF2B5EF4-FFF2-40B4-BE49-F238E27FC236}">
                <a16:creationId xmlns:a16="http://schemas.microsoft.com/office/drawing/2014/main" id="{A2AD6BAD-522A-4E0D-92A7-68563455EA24}"/>
              </a:ext>
            </a:extLst>
          </p:cNvPr>
          <p:cNvCxnSpPr>
            <a:cxnSpLocks/>
            <a:stCxn id="5" idx="4"/>
          </p:cNvCxnSpPr>
          <p:nvPr/>
        </p:nvCxnSpPr>
        <p:spPr bwMode="auto">
          <a:xfrm>
            <a:off x="3554676" y="4543060"/>
            <a:ext cx="1927751" cy="1377303"/>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2E955AA-A101-4E43-A9B9-F5FF16A3C183}"/>
              </a:ext>
            </a:extLst>
          </p:cNvPr>
          <p:cNvCxnSpPr>
            <a:cxnSpLocks/>
            <a:stCxn id="20" idx="4"/>
          </p:cNvCxnSpPr>
          <p:nvPr/>
        </p:nvCxnSpPr>
        <p:spPr bwMode="auto">
          <a:xfrm>
            <a:off x="6267413" y="4558521"/>
            <a:ext cx="0" cy="1345541"/>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2C0854CB-3A56-4522-BCA5-2E5F1FDAFB38}"/>
              </a:ext>
            </a:extLst>
          </p:cNvPr>
          <p:cNvCxnSpPr>
            <a:cxnSpLocks/>
          </p:cNvCxnSpPr>
          <p:nvPr/>
        </p:nvCxnSpPr>
        <p:spPr bwMode="auto">
          <a:xfrm flipH="1">
            <a:off x="6709720" y="4490009"/>
            <a:ext cx="2057921" cy="1454844"/>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sp>
        <p:nvSpPr>
          <p:cNvPr id="27" name="文本框 26">
            <a:extLst>
              <a:ext uri="{FF2B5EF4-FFF2-40B4-BE49-F238E27FC236}">
                <a16:creationId xmlns:a16="http://schemas.microsoft.com/office/drawing/2014/main" id="{503B77FD-B937-426C-8785-AAC4A219E9AD}"/>
              </a:ext>
            </a:extLst>
          </p:cNvPr>
          <p:cNvSpPr txBox="1"/>
          <p:nvPr/>
        </p:nvSpPr>
        <p:spPr>
          <a:xfrm>
            <a:off x="1556127" y="5904062"/>
            <a:ext cx="9313860"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SimSun"/>
                <a:cs typeface="Times New Roman" panose="02020603050405020304" pitchFamily="18" charset="0"/>
              </a:rPr>
              <a:t>Assumption: </a:t>
            </a:r>
            <a:r>
              <a:rPr lang="en-HK" sz="1800" dirty="0">
                <a:solidFill>
                  <a:prstClr val="black"/>
                </a:solidFill>
                <a:latin typeface="Times New Roman" panose="02020603050405020304" pitchFamily="18" charset="0"/>
                <a:ea typeface="SimSun"/>
                <a:cs typeface="Times New Roman" panose="02020603050405020304" pitchFamily="18" charset="0"/>
              </a:rPr>
              <a:t>the thin water film </a:t>
            </a:r>
            <a:r>
              <a:rPr lang="en-HK" sz="1800" dirty="0">
                <a:solidFill>
                  <a:srgbClr val="A60626"/>
                </a:solidFill>
                <a:latin typeface="Times New Roman" panose="02020603050405020304" pitchFamily="18" charset="0"/>
                <a:ea typeface="SimSun"/>
                <a:cs typeface="Times New Roman" panose="02020603050405020304" pitchFamily="18" charset="0"/>
              </a:rPr>
              <a:t>entirely and evenly </a:t>
            </a:r>
            <a:r>
              <a:rPr lang="en-HK" sz="1800" dirty="0">
                <a:solidFill>
                  <a:prstClr val="black"/>
                </a:solidFill>
                <a:latin typeface="Times New Roman" panose="02020603050405020304" pitchFamily="18" charset="0"/>
                <a:ea typeface="SimSun"/>
                <a:cs typeface="Times New Roman" panose="02020603050405020304" pitchFamily="18" charset="0"/>
              </a:rPr>
              <a:t>covered the surface of the wet channel</a:t>
            </a:r>
            <a:r>
              <a:rPr lang="en-HK" sz="1600" dirty="0">
                <a:solidFill>
                  <a:prstClr val="black"/>
                </a:solidFill>
                <a:latin typeface="Times New Roman" panose="02020603050405020304" pitchFamily="18" charset="0"/>
                <a:ea typeface="SimSun"/>
                <a:cs typeface="Times New Roman" panose="02020603050405020304" pitchFamily="18" charset="0"/>
              </a:rPr>
              <a:t>.</a:t>
            </a:r>
            <a:endParaRPr lang="en-HK" sz="1600" dirty="0">
              <a:solidFill>
                <a:srgbClr val="247FAB"/>
              </a:solidFill>
              <a:latin typeface="Times New Roman" panose="02020603050405020304" pitchFamily="18" charset="0"/>
              <a:ea typeface="SimSun"/>
              <a:cs typeface="Times New Roman" panose="02020603050405020304" pitchFamily="18" charset="0"/>
            </a:endParaRPr>
          </a:p>
        </p:txBody>
      </p:sp>
      <p:sp>
        <p:nvSpPr>
          <p:cNvPr id="28" name="矩形 27">
            <a:extLst>
              <a:ext uri="{FF2B5EF4-FFF2-40B4-BE49-F238E27FC236}">
                <a16:creationId xmlns:a16="http://schemas.microsoft.com/office/drawing/2014/main" id="{71FD4503-2693-4DBE-B8D8-827EE31A8078}"/>
              </a:ext>
            </a:extLst>
          </p:cNvPr>
          <p:cNvSpPr/>
          <p:nvPr/>
        </p:nvSpPr>
        <p:spPr>
          <a:xfrm>
            <a:off x="5408670" y="6273394"/>
            <a:ext cx="1080745" cy="523220"/>
          </a:xfrm>
          <a:prstGeom prst="rect">
            <a:avLst/>
          </a:prstGeom>
        </p:spPr>
        <p:txBody>
          <a:bodyPr wrap="none">
            <a:spAutoFit/>
          </a:bodyPr>
          <a:lstStyle/>
          <a:p>
            <a:r>
              <a:rPr lang="en-US" sz="2800" b="1" i="1" dirty="0">
                <a:solidFill>
                  <a:srgbClr val="A60626"/>
                </a:solidFill>
                <a:latin typeface="Times New Roman" panose="02020603050405020304" pitchFamily="18" charset="0"/>
                <a:ea typeface="SimSun"/>
                <a:cs typeface="Times New Roman" panose="02020603050405020304" pitchFamily="18" charset="0"/>
              </a:rPr>
              <a:t>Ideal!</a:t>
            </a:r>
            <a:endParaRPr lang="en-HK" sz="2800" b="1" i="1" dirty="0">
              <a:solidFill>
                <a:srgbClr val="A60626"/>
              </a:solidFill>
              <a:latin typeface="Times New Roman" panose="02020603050405020304" pitchFamily="18" charset="0"/>
              <a:ea typeface="SimSun"/>
              <a:cs typeface="Times New Roman" panose="02020603050405020304" pitchFamily="18" charset="0"/>
            </a:endParaRPr>
          </a:p>
        </p:txBody>
      </p:sp>
      <p:sp>
        <p:nvSpPr>
          <p:cNvPr id="2" name="灯片编号占位符 1">
            <a:extLst>
              <a:ext uri="{FF2B5EF4-FFF2-40B4-BE49-F238E27FC236}">
                <a16:creationId xmlns:a16="http://schemas.microsoft.com/office/drawing/2014/main" id="{25AA2B23-CD6E-49B1-AE8D-2AC5B4516E1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9</a:t>
            </a:fld>
            <a:endParaRPr lang="en-US" altLang="zh-CN">
              <a:latin typeface="Times New Roman"/>
              <a:ea typeface="SimSun"/>
              <a:cs typeface="Times New Roman"/>
            </a:endParaRPr>
          </a:p>
        </p:txBody>
      </p:sp>
      <p:sp>
        <p:nvSpPr>
          <p:cNvPr id="2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现有 IEC 模型研究</a:t>
            </a:r>
          </a:p>
        </p:txBody>
      </p:sp>
      <p:sp>
        <p:nvSpPr>
          <p:cNvPr id="3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1.4 Research on previous model</a:t>
            </a:r>
          </a:p>
        </p:txBody>
      </p:sp>
      <p:sp>
        <p:nvSpPr>
          <p:cNvPr id="3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3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860269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660984A-5705-45EB-800B-BE30FF291B07}"/>
              </a:ext>
            </a:extLst>
          </p:cNvPr>
          <p:cNvSpPr/>
          <p:nvPr/>
        </p:nvSpPr>
        <p:spPr>
          <a:xfrm>
            <a:off x="4102185" y="3300147"/>
            <a:ext cx="3627468" cy="276999"/>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Fig.1.5.1 </a:t>
            </a:r>
            <a:r>
              <a:rPr lang="en-US" sz="1200" dirty="0">
                <a:solidFill>
                  <a:prstClr val="black"/>
                </a:solidFill>
                <a:latin typeface="Times New Roman" panose="02020603050405020304" pitchFamily="18" charset="0"/>
                <a:ea typeface="SimSun"/>
                <a:cs typeface="Times New Roman" panose="02020603050405020304" pitchFamily="18" charset="0"/>
              </a:rPr>
              <a:t>Schematics diagram of IEC followed by AHU</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pic>
        <p:nvPicPr>
          <p:cNvPr id="2" name="图片 1">
            <a:extLst>
              <a:ext uri="{FF2B5EF4-FFF2-40B4-BE49-F238E27FC236}">
                <a16:creationId xmlns:a16="http://schemas.microsoft.com/office/drawing/2014/main" id="{BB091CBB-CBBD-6E24-920D-550D736160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8495" y="1348465"/>
            <a:ext cx="6195010" cy="1980000"/>
          </a:xfrm>
          <a:prstGeom prst="rect">
            <a:avLst/>
          </a:prstGeom>
        </p:spPr>
      </p:pic>
      <p:sp>
        <p:nvSpPr>
          <p:cNvPr id="4" name="文本框 3">
            <a:extLst>
              <a:ext uri="{FF2B5EF4-FFF2-40B4-BE49-F238E27FC236}">
                <a16:creationId xmlns:a16="http://schemas.microsoft.com/office/drawing/2014/main" id="{CF835B20-1FE2-5AD4-5C0C-9C88D6FC8312}"/>
              </a:ext>
            </a:extLst>
          </p:cNvPr>
          <p:cNvSpPr txBox="1"/>
          <p:nvPr/>
        </p:nvSpPr>
        <p:spPr>
          <a:xfrm>
            <a:off x="2274773" y="6178467"/>
            <a:ext cx="8278662" cy="400110"/>
          </a:xfrm>
          <a:prstGeom prst="rect">
            <a:avLst/>
          </a:prstGeom>
          <a:noFill/>
        </p:spPr>
        <p:txBody>
          <a:bodyPr wrap="square">
            <a:spAutoFit/>
          </a:bodyPr>
          <a:lstStyle/>
          <a:p>
            <a:r>
              <a:rPr lang="zh-CN" altLang="en-US" sz="2000" dirty="0">
                <a:solidFill>
                  <a:prstClr val="black"/>
                </a:solidFill>
                <a:latin typeface="Times New Roman" panose="02020603050405020304" pitchFamily="18" charset="0"/>
                <a:ea typeface="SimSun"/>
                <a:cs typeface="Times New Roman" panose="02020603050405020304" pitchFamily="18" charset="0"/>
              </a:rPr>
              <a:t>A more </a:t>
            </a:r>
            <a:r>
              <a:rPr lang="zh-CN" altLang="en-US" sz="2000" b="1" i="1" dirty="0">
                <a:solidFill>
                  <a:srgbClr val="C00000"/>
                </a:solidFill>
                <a:latin typeface="Times New Roman" panose="02020603050405020304" pitchFamily="18" charset="0"/>
                <a:ea typeface="SimSun"/>
                <a:cs typeface="Times New Roman" panose="02020603050405020304" pitchFamily="18" charset="0"/>
              </a:rPr>
              <a:t>standardized nozzle arrangement guideline </a:t>
            </a:r>
            <a:r>
              <a:rPr lang="zh-CN" altLang="en-US" sz="2000" dirty="0">
                <a:solidFill>
                  <a:prstClr val="black"/>
                </a:solidFill>
                <a:latin typeface="Times New Roman" panose="02020603050405020304" pitchFamily="18" charset="0"/>
                <a:ea typeface="SimSun"/>
                <a:cs typeface="Times New Roman" panose="02020603050405020304" pitchFamily="18" charset="0"/>
              </a:rPr>
              <a:t>has not yet emerged</a:t>
            </a:r>
            <a:r>
              <a:rPr lang="en-US" altLang="zh-CN" sz="2000" dirty="0">
                <a:solidFill>
                  <a:prstClr val="black"/>
                </a:solidFill>
                <a:latin typeface="Times New Roman" panose="02020603050405020304" pitchFamily="18" charset="0"/>
                <a:ea typeface="SimSun"/>
                <a:cs typeface="Times New Roman" panose="02020603050405020304" pitchFamily="18" charset="0"/>
              </a:rPr>
              <a:t>.</a:t>
            </a:r>
            <a:endParaRPr lang="zh-CN" altLang="en-US" sz="2000" dirty="0">
              <a:solidFill>
                <a:prstClr val="black"/>
              </a:solidFill>
              <a:latin typeface="Times New Roman" panose="02020603050405020304" pitchFamily="18" charset="0"/>
              <a:ea typeface="SimSun"/>
              <a:cs typeface="Times New Roman" panose="02020603050405020304" pitchFamily="18" charset="0"/>
            </a:endParaRPr>
          </a:p>
        </p:txBody>
      </p:sp>
      <p:pic>
        <p:nvPicPr>
          <p:cNvPr id="5" name="图片 4">
            <a:extLst>
              <a:ext uri="{FF2B5EF4-FFF2-40B4-BE49-F238E27FC236}">
                <a16:creationId xmlns:a16="http://schemas.microsoft.com/office/drawing/2014/main" id="{BB35BE47-F0F4-4F1C-98DE-F2162EE38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5695" y="3965897"/>
            <a:ext cx="3805759" cy="1980000"/>
          </a:xfrm>
          <a:prstGeom prst="rect">
            <a:avLst/>
          </a:prstGeom>
        </p:spPr>
      </p:pic>
      <p:pic>
        <p:nvPicPr>
          <p:cNvPr id="8" name="图片 7">
            <a:extLst>
              <a:ext uri="{FF2B5EF4-FFF2-40B4-BE49-F238E27FC236}">
                <a16:creationId xmlns:a16="http://schemas.microsoft.com/office/drawing/2014/main" id="{7B9C0565-9603-4709-98FF-1206B8A58E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1453" y="3973457"/>
            <a:ext cx="2996400" cy="1980000"/>
          </a:xfrm>
          <a:prstGeom prst="rect">
            <a:avLst/>
          </a:prstGeom>
        </p:spPr>
      </p:pic>
      <p:sp>
        <p:nvSpPr>
          <p:cNvPr id="18" name="矩形 17">
            <a:extLst>
              <a:ext uri="{FF2B5EF4-FFF2-40B4-BE49-F238E27FC236}">
                <a16:creationId xmlns:a16="http://schemas.microsoft.com/office/drawing/2014/main" id="{C43E418A-A63E-41B4-ACD9-BD1EECBBCE6B}"/>
              </a:ext>
            </a:extLst>
          </p:cNvPr>
          <p:cNvSpPr/>
          <p:nvPr/>
        </p:nvSpPr>
        <p:spPr>
          <a:xfrm>
            <a:off x="900996" y="3586237"/>
            <a:ext cx="5430141"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2000" dirty="0">
                <a:solidFill>
                  <a:prstClr val="black"/>
                </a:solidFill>
                <a:latin typeface="Times New Roman" panose="02020603050405020304" pitchFamily="18" charset="0"/>
                <a:ea typeface="SimSun"/>
                <a:cs typeface="Times New Roman" panose="02020603050405020304" pitchFamily="18" charset="0"/>
              </a:rPr>
              <a:t>Various nozzle settings for diamond-shaped IEC</a:t>
            </a:r>
          </a:p>
        </p:txBody>
      </p:sp>
      <p:sp>
        <p:nvSpPr>
          <p:cNvPr id="19" name="圆角矩形 44">
            <a:extLst>
              <a:ext uri="{FF2B5EF4-FFF2-40B4-BE49-F238E27FC236}">
                <a16:creationId xmlns:a16="http://schemas.microsoft.com/office/drawing/2014/main" id="{EFA8BA0F-3A53-4119-8208-58CDB0207DAD}"/>
              </a:ext>
            </a:extLst>
          </p:cNvPr>
          <p:cNvSpPr/>
          <p:nvPr/>
        </p:nvSpPr>
        <p:spPr>
          <a:xfrm>
            <a:off x="2123476" y="6178468"/>
            <a:ext cx="7793751" cy="512075"/>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800" kern="0">
              <a:solidFill>
                <a:prstClr val="white"/>
              </a:solidFill>
              <a:latin typeface="Times New Roman"/>
              <a:ea typeface="SimSun"/>
              <a:cs typeface="Times New Roman"/>
            </a:endParaRPr>
          </a:p>
        </p:txBody>
      </p:sp>
      <p:sp>
        <p:nvSpPr>
          <p:cNvPr id="3" name="灯片编号占位符 2">
            <a:extLst>
              <a:ext uri="{FF2B5EF4-FFF2-40B4-BE49-F238E27FC236}">
                <a16:creationId xmlns:a16="http://schemas.microsoft.com/office/drawing/2014/main" id="{B2548687-009F-4747-894B-0D4F64FF02E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10</a:t>
            </a:fld>
            <a:endParaRPr lang="en-US" altLang="zh-CN">
              <a:latin typeface="Times New Roman"/>
              <a:ea typeface="SimSun"/>
              <a:cs typeface="Times New Roman"/>
            </a:endParaRPr>
          </a:p>
        </p:txBody>
      </p:sp>
      <p:sp>
        <p:nvSpPr>
          <p:cNvPr id="20"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IEC 作为能量回收单元</a:t>
            </a:r>
          </a:p>
        </p:txBody>
      </p:sp>
      <p:sp>
        <p:nvSpPr>
          <p:cNvPr id="21"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1.5 IEC as the recovery unit</a:t>
            </a:r>
          </a:p>
        </p:txBody>
      </p:sp>
      <p:sp>
        <p:nvSpPr>
          <p:cNvPr id="22"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1. Research background and literature review</a:t>
            </a:r>
          </a:p>
        </p:txBody>
      </p:sp>
      <p:cxnSp>
        <p:nvCxnSpPr>
          <p:cNvPr id="23"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886700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11</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rgbClr val="C00000"/>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37589162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C26C1E1-6E4F-47BE-9F5A-82EE8FEB8C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12</a:t>
            </a:fld>
            <a:endParaRPr lang="en-US" altLang="zh-CN">
              <a:latin typeface="Times New Roman"/>
              <a:ea typeface="SimSun"/>
              <a:cs typeface="Times New Roman"/>
            </a:endParaRPr>
          </a:p>
        </p:txBody>
      </p:sp>
      <p:sp>
        <p:nvSpPr>
          <p:cNvPr id="8"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研究不足</a:t>
            </a:r>
          </a:p>
        </p:txBody>
      </p:sp>
      <p:sp>
        <p:nvSpPr>
          <p:cNvPr id="9"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2.1 Research gaps</a:t>
            </a:r>
          </a:p>
        </p:txBody>
      </p:sp>
      <p:sp>
        <p:nvSpPr>
          <p:cNvPr id="10"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2. Research gaps and objectives</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1301847"/>
            <a:ext cx="557822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Most of the existing analysis about water spray of IEC are based on experimental data, and few mathematical models can </a:t>
            </a:r>
            <a:r>
              <a:rPr lang="en-HK" altLang="zh-CN" sz="1650" b="1" dirty="0">
                <a:solidFill>
                  <a:srgbClr val="AF1E3B"/>
                </a:solidFill>
                <a:latin typeface="Times New Roman" panose="02020603050405020304" pitchFamily="18" charset="0"/>
                <a:ea typeface="SimSun"/>
                <a:cs typeface="Times New Roman" panose="02020603050405020304" pitchFamily="18" charset="0"/>
              </a:rPr>
              <a:t>quantitatively simulate </a:t>
            </a:r>
            <a:r>
              <a:rPr lang="en-HK" altLang="zh-CN" sz="1650" dirty="0">
                <a:latin typeface="Times New Roman" panose="02020603050405020304" pitchFamily="18" charset="0"/>
                <a:ea typeface="SimSun"/>
                <a:cs typeface="Times New Roman" panose="02020603050405020304" pitchFamily="18" charset="0"/>
              </a:rPr>
              <a:t>the various parameters.</a:t>
            </a:r>
            <a:endParaRPr lang="en-US" altLang="zh-CN" sz="1800" dirty="0">
              <a:latin typeface="Times New Roman" panose="02020603050405020304" pitchFamily="18" charset="0"/>
              <a:ea typeface="SimSun"/>
              <a:cs typeface="Times New Roman" panose="02020603050405020304" pitchFamily="18" charset="0"/>
            </a:endParaRPr>
          </a:p>
        </p:txBody>
      </p:sp>
      <p:sp>
        <p:nvSpPr>
          <p:cNvPr id="13" name="TextBox 1"/>
          <p:cNvSpPr txBox="1"/>
          <p:nvPr/>
        </p:nvSpPr>
        <p:spPr>
          <a:xfrm>
            <a:off x="660272" y="1301847"/>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1</a:t>
            </a:r>
          </a:p>
        </p:txBody>
      </p:sp>
      <p:cxnSp>
        <p:nvCxnSpPr>
          <p:cNvPr id="14" name="Connector 1"/>
          <p:cNvCxnSpPr/>
          <p:nvPr/>
        </p:nvCxnSpPr>
        <p:spPr>
          <a:xfrm>
            <a:off x="962024" y="2066259"/>
            <a:ext cx="10115551"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5" name="TextBox 1"/>
          <p:cNvSpPr txBox="1"/>
          <p:nvPr/>
        </p:nvSpPr>
        <p:spPr>
          <a:xfrm>
            <a:off x="6869437" y="1315562"/>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现有 IEC 喷淋分析多依赖实验数据，能够定量模拟各项参数的数学模型较少。</a:t>
            </a:r>
          </a:p>
        </p:txBody>
      </p:sp>
      <p:sp>
        <p:nvSpPr>
          <p:cNvPr id="16"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2107408"/>
            <a:ext cx="557822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existing heat and mass transfer model of IEC has not fully discussed on the </a:t>
            </a:r>
            <a:r>
              <a:rPr lang="en-HK" altLang="zh-CN" sz="1650" b="1" dirty="0">
                <a:solidFill>
                  <a:srgbClr val="AF1E3B"/>
                </a:solidFill>
                <a:latin typeface="Times New Roman" panose="02020603050405020304" pitchFamily="18" charset="0"/>
                <a:ea typeface="SimSun"/>
                <a:cs typeface="Times New Roman" panose="02020603050405020304" pitchFamily="18" charset="0"/>
              </a:rPr>
              <a:t>wetting ratio</a:t>
            </a:r>
            <a:r>
              <a:rPr lang="en-HK" altLang="zh-CN" sz="1650" dirty="0">
                <a:latin typeface="Times New Roman" panose="02020603050405020304" pitchFamily="18" charset="0"/>
                <a:ea typeface="SimSun"/>
                <a:cs typeface="Times New Roman" panose="02020603050405020304" pitchFamily="18" charset="0"/>
              </a:rPr>
              <a:t>, and the ideal assumption needs to be corrected</a:t>
            </a:r>
            <a:r>
              <a:rPr lang="en-US" altLang="zh-CN" sz="1650" dirty="0">
                <a:latin typeface="Times New Roman" panose="02020603050405020304" pitchFamily="18" charset="0"/>
                <a:ea typeface="SimSun"/>
                <a:cs typeface="Times New Roman" panose="02020603050405020304" pitchFamily="18" charset="0"/>
              </a:rPr>
              <a:t>. </a:t>
            </a:r>
          </a:p>
        </p:txBody>
      </p:sp>
      <p:sp>
        <p:nvSpPr>
          <p:cNvPr id="17" name="TextBox 1"/>
          <p:cNvSpPr txBox="1"/>
          <p:nvPr/>
        </p:nvSpPr>
        <p:spPr>
          <a:xfrm>
            <a:off x="660272" y="2107408"/>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2</a:t>
            </a:r>
          </a:p>
        </p:txBody>
      </p:sp>
      <p:cxnSp>
        <p:nvCxnSpPr>
          <p:cNvPr id="18" name="Connector 1"/>
          <p:cNvCxnSpPr/>
          <p:nvPr/>
        </p:nvCxnSpPr>
        <p:spPr>
          <a:xfrm>
            <a:off x="962024" y="2871821"/>
            <a:ext cx="10115551"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9" name="TextBox 1"/>
          <p:cNvSpPr txBox="1"/>
          <p:nvPr/>
        </p:nvSpPr>
        <p:spPr>
          <a:xfrm>
            <a:off x="6869437" y="2121124"/>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现有传热传质模型对润湿率的讨论不足，需修正完全润湿的理想假设。</a:t>
            </a:r>
          </a:p>
        </p:txBody>
      </p:sp>
      <p:sp>
        <p:nvSpPr>
          <p:cNvPr id="20"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2912969"/>
            <a:ext cx="557822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current 2D model is not enough to accurately simulate the state of the </a:t>
            </a:r>
            <a:r>
              <a:rPr lang="en-HK" altLang="zh-CN" sz="1650" b="1" dirty="0">
                <a:solidFill>
                  <a:srgbClr val="AF1E3B"/>
                </a:solidFill>
                <a:latin typeface="Times New Roman" panose="02020603050405020304" pitchFamily="18" charset="0"/>
                <a:ea typeface="SimSun"/>
                <a:cs typeface="Times New Roman" panose="02020603050405020304" pitchFamily="18" charset="0"/>
              </a:rPr>
              <a:t>water film distribution</a:t>
            </a:r>
            <a:r>
              <a:rPr lang="en-HK" altLang="zh-CN" sz="1650" dirty="0">
                <a:latin typeface="Times New Roman" panose="02020603050405020304" pitchFamily="18" charset="0"/>
                <a:ea typeface="SimSun"/>
                <a:cs typeface="Times New Roman" panose="02020603050405020304" pitchFamily="18" charset="0"/>
              </a:rPr>
              <a:t>, and to deal with more complex hydraulic and thermal properties</a:t>
            </a:r>
            <a:r>
              <a:rPr lang="en-US" altLang="zh-CN" sz="1650" dirty="0">
                <a:latin typeface="Times New Roman" panose="02020603050405020304" pitchFamily="18" charset="0"/>
                <a:ea typeface="SimSun"/>
                <a:cs typeface="Times New Roman" panose="02020603050405020304" pitchFamily="18" charset="0"/>
              </a:rPr>
              <a:t>.</a:t>
            </a:r>
          </a:p>
        </p:txBody>
      </p:sp>
      <p:sp>
        <p:nvSpPr>
          <p:cNvPr id="21" name="TextBox 1"/>
          <p:cNvSpPr txBox="1"/>
          <p:nvPr/>
        </p:nvSpPr>
        <p:spPr>
          <a:xfrm>
            <a:off x="660272" y="2912969"/>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3</a:t>
            </a:r>
          </a:p>
        </p:txBody>
      </p:sp>
      <p:cxnSp>
        <p:nvCxnSpPr>
          <p:cNvPr id="22" name="Connector 1"/>
          <p:cNvCxnSpPr/>
          <p:nvPr/>
        </p:nvCxnSpPr>
        <p:spPr>
          <a:xfrm>
            <a:off x="962024" y="3677381"/>
            <a:ext cx="10115551"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3" name="TextBox 1"/>
          <p:cNvSpPr txBox="1"/>
          <p:nvPr/>
        </p:nvSpPr>
        <p:spPr>
          <a:xfrm>
            <a:off x="6869437" y="2926685"/>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二维模型难以准确描述水膜分布，也难以处理复杂的水力与热力特性。</a:t>
            </a:r>
          </a:p>
        </p:txBody>
      </p:sp>
      <p:sp>
        <p:nvSpPr>
          <p:cNvPr id="24"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3718530"/>
            <a:ext cx="557822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The </a:t>
            </a:r>
            <a:r>
              <a:rPr lang="en-US" altLang="zh-CN" sz="1650" b="1" dirty="0">
                <a:solidFill>
                  <a:srgbClr val="AF1E3B"/>
                </a:solidFill>
                <a:latin typeface="Times New Roman" panose="02020603050405020304" pitchFamily="18" charset="0"/>
                <a:ea typeface="SimSun"/>
                <a:cs typeface="Times New Roman" panose="02020603050405020304" pitchFamily="18" charset="0"/>
              </a:rPr>
              <a:t>optimal nozzle arrangement </a:t>
            </a:r>
            <a:r>
              <a:rPr lang="en-US" altLang="zh-CN" sz="1650" dirty="0">
                <a:latin typeface="Times New Roman" panose="02020603050405020304" pitchFamily="18" charset="0"/>
                <a:ea typeface="SimSun"/>
                <a:cs typeface="Times New Roman" panose="02020603050405020304" pitchFamily="18" charset="0"/>
              </a:rPr>
              <a:t>and</a:t>
            </a:r>
            <a:r>
              <a:rPr lang="en-US" altLang="zh-CN" sz="1650" b="1" dirty="0">
                <a:solidFill>
                  <a:srgbClr val="AF1E3B"/>
                </a:solidFill>
                <a:latin typeface="Times New Roman" panose="02020603050405020304" pitchFamily="18" charset="0"/>
                <a:ea typeface="SimSun"/>
                <a:cs typeface="Times New Roman" panose="02020603050405020304" pitchFamily="18" charset="0"/>
              </a:rPr>
              <a:t> parameter setting </a:t>
            </a:r>
            <a:r>
              <a:rPr lang="en-US" altLang="zh-CN" sz="1650" dirty="0">
                <a:latin typeface="Times New Roman" panose="02020603050405020304" pitchFamily="18" charset="0"/>
                <a:ea typeface="SimSun"/>
                <a:cs typeface="Times New Roman" panose="02020603050405020304" pitchFamily="18" charset="0"/>
              </a:rPr>
              <a:t>to maintain the best wetted situation of the IEC wet channel have not been identified.</a:t>
            </a:r>
          </a:p>
        </p:txBody>
      </p:sp>
      <p:sp>
        <p:nvSpPr>
          <p:cNvPr id="25" name="TextBox 1"/>
          <p:cNvSpPr txBox="1"/>
          <p:nvPr/>
        </p:nvSpPr>
        <p:spPr>
          <a:xfrm>
            <a:off x="660272" y="3718529"/>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4</a:t>
            </a:r>
          </a:p>
        </p:txBody>
      </p:sp>
      <p:cxnSp>
        <p:nvCxnSpPr>
          <p:cNvPr id="26" name="Connector 1"/>
          <p:cNvCxnSpPr/>
          <p:nvPr/>
        </p:nvCxnSpPr>
        <p:spPr>
          <a:xfrm>
            <a:off x="962024" y="4482942"/>
            <a:ext cx="10115551"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7" name="TextBox 1"/>
          <p:cNvSpPr txBox="1"/>
          <p:nvPr/>
        </p:nvSpPr>
        <p:spPr>
          <a:xfrm>
            <a:off x="6869437" y="3732245"/>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湿通道达到最佳润湿状态所需的喷嘴布置与参数尚不明确。</a:t>
            </a:r>
          </a:p>
        </p:txBody>
      </p:sp>
      <p:sp>
        <p:nvSpPr>
          <p:cNvPr id="28"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4524091"/>
            <a:ext cx="557822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There is a need for </a:t>
            </a:r>
            <a:r>
              <a:rPr lang="en-US" altLang="zh-CN" sz="1650" b="1" dirty="0">
                <a:solidFill>
                  <a:srgbClr val="AF1E3B"/>
                </a:solidFill>
                <a:latin typeface="Times New Roman" panose="02020603050405020304" pitchFamily="18" charset="0"/>
                <a:ea typeface="SimSun"/>
                <a:cs typeface="Times New Roman" panose="02020603050405020304" pitchFamily="18" charset="0"/>
              </a:rPr>
              <a:t>straightforward</a:t>
            </a:r>
            <a:r>
              <a:rPr lang="en-HK" altLang="zh-CN" sz="1650" b="1" dirty="0">
                <a:solidFill>
                  <a:srgbClr val="AF1E3B"/>
                </a:solidFill>
                <a:latin typeface="Times New Roman" panose="02020603050405020304" pitchFamily="18" charset="0"/>
                <a:ea typeface="SimSun"/>
                <a:cs typeface="Times New Roman" panose="02020603050405020304" pitchFamily="18" charset="0"/>
              </a:rPr>
              <a:t> method </a:t>
            </a:r>
            <a:r>
              <a:rPr lang="en-HK" altLang="zh-CN" sz="1650" dirty="0">
                <a:latin typeface="Times New Roman" panose="02020603050405020304" pitchFamily="18" charset="0"/>
                <a:ea typeface="SimSun"/>
                <a:cs typeface="Times New Roman" panose="02020603050405020304" pitchFamily="18" charset="0"/>
              </a:rPr>
              <a:t>to predict the IEC performance </a:t>
            </a:r>
            <a:r>
              <a:rPr lang="en-US" altLang="zh-CN" sz="1650" dirty="0">
                <a:latin typeface="Times New Roman" panose="02020603050405020304" pitchFamily="18" charset="0"/>
                <a:ea typeface="SimSun"/>
                <a:cs typeface="Times New Roman" panose="02020603050405020304" pitchFamily="18" charset="0"/>
              </a:rPr>
              <a:t>for use in reality </a:t>
            </a:r>
            <a:r>
              <a:rPr lang="en-HK" altLang="zh-CN" sz="1650" dirty="0">
                <a:latin typeface="Times New Roman" panose="02020603050405020304" pitchFamily="18" charset="0"/>
                <a:ea typeface="SimSun"/>
                <a:cs typeface="Times New Roman" panose="02020603050405020304" pitchFamily="18" charset="0"/>
              </a:rPr>
              <a:t>and optimize spray design parameters </a:t>
            </a:r>
            <a:r>
              <a:rPr lang="en-US" altLang="zh-CN" sz="1650" dirty="0">
                <a:latin typeface="Times New Roman" panose="02020603050405020304" pitchFamily="18" charset="0"/>
                <a:ea typeface="SimSun"/>
                <a:cs typeface="Times New Roman" panose="02020603050405020304" pitchFamily="18" charset="0"/>
              </a:rPr>
              <a:t>in large scale projects</a:t>
            </a:r>
            <a:r>
              <a:rPr lang="en-HK" altLang="zh-CN" sz="1650" dirty="0">
                <a:latin typeface="Times New Roman" panose="02020603050405020304" pitchFamily="18" charset="0"/>
                <a:ea typeface="SimSun"/>
                <a:cs typeface="Times New Roman" panose="02020603050405020304" pitchFamily="18" charset="0"/>
              </a:rPr>
              <a:t>.</a:t>
            </a:r>
            <a:endParaRPr lang="en-US" altLang="zh-CN" sz="1800" dirty="0">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660272" y="4524090"/>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5</a:t>
            </a:r>
          </a:p>
        </p:txBody>
      </p:sp>
      <p:cxnSp>
        <p:nvCxnSpPr>
          <p:cNvPr id="30" name="Connector 1"/>
          <p:cNvCxnSpPr/>
          <p:nvPr/>
        </p:nvCxnSpPr>
        <p:spPr>
          <a:xfrm>
            <a:off x="962024" y="5288503"/>
            <a:ext cx="10115551"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31" name="TextBox 1"/>
          <p:cNvSpPr txBox="1"/>
          <p:nvPr/>
        </p:nvSpPr>
        <p:spPr>
          <a:xfrm>
            <a:off x="6869437" y="4537806"/>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大型工程需要简便、高效的 IEC 性能预测与喷淋参数优化方法。</a:t>
            </a:r>
          </a:p>
        </p:txBody>
      </p:sp>
      <p:sp>
        <p:nvSpPr>
          <p:cNvPr id="32"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5329652"/>
            <a:ext cx="5578229" cy="5666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a:t>
            </a:r>
            <a:r>
              <a:rPr lang="en-HK" altLang="zh-CN" sz="1650"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650" dirty="0">
                <a:latin typeface="Times New Roman" panose="02020603050405020304" pitchFamily="18" charset="0"/>
                <a:ea typeface="SimSun"/>
                <a:cs typeface="Times New Roman" panose="02020603050405020304" pitchFamily="18" charset="0"/>
              </a:rPr>
              <a:t>used as heat recovery units combined with AHU in DCs require targeted water spray system settings.</a:t>
            </a:r>
            <a:endParaRPr lang="en-US" altLang="zh-CN" sz="1800" dirty="0">
              <a:latin typeface="Times New Roman" panose="02020603050405020304" pitchFamily="18" charset="0"/>
              <a:ea typeface="SimSun"/>
              <a:cs typeface="Times New Roman" panose="02020603050405020304" pitchFamily="18" charset="0"/>
            </a:endParaRPr>
          </a:p>
        </p:txBody>
      </p:sp>
      <p:sp>
        <p:nvSpPr>
          <p:cNvPr id="33" name="TextBox 1"/>
          <p:cNvSpPr txBox="1"/>
          <p:nvPr/>
        </p:nvSpPr>
        <p:spPr>
          <a:xfrm>
            <a:off x="660272" y="5329651"/>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6</a:t>
            </a:r>
          </a:p>
        </p:txBody>
      </p:sp>
      <p:sp>
        <p:nvSpPr>
          <p:cNvPr id="34" name="TextBox 1"/>
          <p:cNvSpPr txBox="1"/>
          <p:nvPr/>
        </p:nvSpPr>
        <p:spPr>
          <a:xfrm>
            <a:off x="6869437" y="5343367"/>
            <a:ext cx="4208137"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数据中心采用的菱形 IEC 与空气处理机组（AHU）耦合时，需要有针对性的喷淋设计。</a:t>
            </a:r>
          </a:p>
        </p:txBody>
      </p:sp>
    </p:spTree>
    <p:extLst>
      <p:ext uri="{BB962C8B-B14F-4D97-AF65-F5344CB8AC3E}">
        <p14:creationId xmlns:p14="http://schemas.microsoft.com/office/powerpoint/2010/main" val="17157592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13</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研究目标</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2.2 Research objectives</a:t>
            </a:r>
          </a:p>
        </p:txBody>
      </p:sp>
      <p:sp>
        <p:nvSpPr>
          <p:cNvPr id="1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2. Research gaps and objectives</a:t>
            </a:r>
          </a:p>
        </p:txBody>
      </p:sp>
      <p:cxnSp>
        <p:nvCxnSpPr>
          <p:cNvPr id="1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3"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1336348"/>
            <a:ext cx="5627091" cy="5666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To</a:t>
            </a:r>
            <a:r>
              <a:rPr lang="zh-CN" altLang="en-US" sz="1650" dirty="0">
                <a:latin typeface="Times New Roman" panose="02020603050405020304" pitchFamily="18" charset="0"/>
                <a:ea typeface="SimSun"/>
                <a:cs typeface="Times New Roman" panose="02020603050405020304" pitchFamily="18" charset="0"/>
              </a:rPr>
              <a:t> </a:t>
            </a:r>
            <a:r>
              <a:rPr lang="en-US" altLang="zh-CN" sz="1650" dirty="0">
                <a:latin typeface="Times New Roman" panose="02020603050405020304" pitchFamily="18" charset="0"/>
                <a:ea typeface="SimSun"/>
                <a:cs typeface="Times New Roman" panose="02020603050405020304" pitchFamily="18" charset="0"/>
              </a:rPr>
              <a:t>propose a </a:t>
            </a:r>
            <a:r>
              <a:rPr lang="en-US" altLang="zh-CN" sz="1650" b="1" dirty="0">
                <a:solidFill>
                  <a:srgbClr val="AF1E3B"/>
                </a:solidFill>
                <a:latin typeface="Times New Roman" panose="02020603050405020304" pitchFamily="18" charset="0"/>
                <a:ea typeface="SimSun"/>
                <a:cs typeface="Times New Roman" panose="02020603050405020304" pitchFamily="18" charset="0"/>
              </a:rPr>
              <a:t>FDM model </a:t>
            </a:r>
            <a:r>
              <a:rPr lang="en-US" altLang="zh-CN" sz="1650" dirty="0">
                <a:latin typeface="Times New Roman" panose="02020603050405020304" pitchFamily="18" charset="0"/>
                <a:ea typeface="SimSun"/>
                <a:cs typeface="Times New Roman" panose="02020603050405020304" pitchFamily="18" charset="0"/>
              </a:rPr>
              <a:t>for predicting the </a:t>
            </a:r>
            <a:r>
              <a:rPr lang="en-US" altLang="zh-CN" sz="1650" b="1" dirty="0">
                <a:solidFill>
                  <a:srgbClr val="AF1E3B"/>
                </a:solidFill>
                <a:latin typeface="Times New Roman" panose="02020603050405020304" pitchFamily="18" charset="0"/>
                <a:ea typeface="SimSun"/>
                <a:cs typeface="Times New Roman" panose="02020603050405020304" pitchFamily="18" charset="0"/>
              </a:rPr>
              <a:t>water spray distribution </a:t>
            </a:r>
            <a:r>
              <a:rPr lang="en-US" altLang="zh-CN" sz="1650" dirty="0">
                <a:latin typeface="Times New Roman" panose="02020603050405020304" pitchFamily="18" charset="0"/>
                <a:ea typeface="SimSun"/>
                <a:cs typeface="Times New Roman" panose="02020603050405020304" pitchFamily="18" charset="0"/>
              </a:rPr>
              <a:t>of the nozzles in IEC.</a:t>
            </a:r>
          </a:p>
        </p:txBody>
      </p:sp>
      <p:sp>
        <p:nvSpPr>
          <p:cNvPr id="14" name="TextBox 1"/>
          <p:cNvSpPr txBox="1"/>
          <p:nvPr/>
        </p:nvSpPr>
        <p:spPr>
          <a:xfrm>
            <a:off x="693610" y="1336348"/>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1</a:t>
            </a:r>
          </a:p>
        </p:txBody>
      </p:sp>
      <p:cxnSp>
        <p:nvCxnSpPr>
          <p:cNvPr id="15" name="Connector 1"/>
          <p:cNvCxnSpPr/>
          <p:nvPr/>
        </p:nvCxnSpPr>
        <p:spPr>
          <a:xfrm>
            <a:off x="995363" y="1861874"/>
            <a:ext cx="10201274"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6" name="TextBox 1"/>
          <p:cNvSpPr txBox="1"/>
          <p:nvPr/>
        </p:nvSpPr>
        <p:spPr>
          <a:xfrm>
            <a:off x="6951638" y="1350064"/>
            <a:ext cx="4244998"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建立有限差分（FDM）模型，预测 IEC 喷嘴的喷淋分布。</a:t>
            </a:r>
          </a:p>
        </p:txBody>
      </p:sp>
      <p:sp>
        <p:nvSpPr>
          <p:cNvPr id="17"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1903022"/>
            <a:ext cx="5627091" cy="5666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To establish a </a:t>
            </a:r>
            <a:r>
              <a:rPr lang="en-US" altLang="zh-CN" sz="1650" b="1" dirty="0">
                <a:solidFill>
                  <a:srgbClr val="AF1E3B"/>
                </a:solidFill>
                <a:latin typeface="Times New Roman" panose="02020603050405020304" pitchFamily="18" charset="0"/>
                <a:ea typeface="SimSun"/>
                <a:cs typeface="Times New Roman" panose="02020603050405020304" pitchFamily="18" charset="0"/>
              </a:rPr>
              <a:t>3D CFD model </a:t>
            </a:r>
            <a:r>
              <a:rPr lang="en-US" altLang="zh-CN" sz="1650" dirty="0">
                <a:latin typeface="Times New Roman" panose="02020603050405020304" pitchFamily="18" charset="0"/>
                <a:ea typeface="SimSun"/>
                <a:cs typeface="Times New Roman" panose="02020603050405020304" pitchFamily="18" charset="0"/>
              </a:rPr>
              <a:t>to identify the formation and flow state of the water membrane covering the plate surface.</a:t>
            </a:r>
          </a:p>
        </p:txBody>
      </p:sp>
      <p:sp>
        <p:nvSpPr>
          <p:cNvPr id="18" name="TextBox 1"/>
          <p:cNvSpPr txBox="1"/>
          <p:nvPr/>
        </p:nvSpPr>
        <p:spPr>
          <a:xfrm>
            <a:off x="693610" y="1903022"/>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2</a:t>
            </a:r>
          </a:p>
        </p:txBody>
      </p:sp>
      <p:cxnSp>
        <p:nvCxnSpPr>
          <p:cNvPr id="19" name="Connector 1"/>
          <p:cNvCxnSpPr/>
          <p:nvPr/>
        </p:nvCxnSpPr>
        <p:spPr>
          <a:xfrm>
            <a:off x="995363" y="2428548"/>
            <a:ext cx="10201274"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0" name="TextBox 1"/>
          <p:cNvSpPr txBox="1"/>
          <p:nvPr/>
        </p:nvSpPr>
        <p:spPr>
          <a:xfrm>
            <a:off x="6951638" y="1916738"/>
            <a:ext cx="4244998"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建立三维 CFD 模型，研究换热板表面水膜的形成与流动状态。</a:t>
            </a:r>
          </a:p>
        </p:txBody>
      </p:sp>
      <p:sp>
        <p:nvSpPr>
          <p:cNvPr id="21"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2469696"/>
            <a:ext cx="5627091"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To set up the</a:t>
            </a:r>
            <a:r>
              <a:rPr lang="en-US" altLang="zh-CN" sz="1650" b="1" dirty="0">
                <a:solidFill>
                  <a:srgbClr val="C00000"/>
                </a:solidFill>
                <a:latin typeface="Times New Roman" panose="02020603050405020304" pitchFamily="18" charset="0"/>
                <a:ea typeface="SimSun"/>
                <a:cs typeface="Times New Roman" panose="02020603050405020304" pitchFamily="18" charset="0"/>
              </a:rPr>
              <a:t> </a:t>
            </a:r>
            <a:r>
              <a:rPr lang="en-US" altLang="zh-CN" sz="1650" b="1" dirty="0">
                <a:solidFill>
                  <a:srgbClr val="AF1E3B"/>
                </a:solidFill>
                <a:latin typeface="Times New Roman" panose="02020603050405020304" pitchFamily="18" charset="0"/>
                <a:ea typeface="SimSun"/>
                <a:cs typeface="Times New Roman" panose="02020603050405020304" pitchFamily="18" charset="0"/>
              </a:rPr>
              <a:t>test bench </a:t>
            </a:r>
            <a:r>
              <a:rPr lang="en-US" altLang="zh-CN" sz="1650" dirty="0">
                <a:latin typeface="Times New Roman" panose="02020603050405020304" pitchFamily="18" charset="0"/>
                <a:ea typeface="SimSun"/>
                <a:cs typeface="Times New Roman" panose="02020603050405020304" pitchFamily="18" charset="0"/>
              </a:rPr>
              <a:t>with the complete IEC system that can investigate the </a:t>
            </a:r>
            <a:r>
              <a:rPr lang="en-US" altLang="zh-CN" sz="1650" b="1" dirty="0">
                <a:solidFill>
                  <a:srgbClr val="AF1E3B"/>
                </a:solidFill>
                <a:latin typeface="Times New Roman" panose="02020603050405020304" pitchFamily="18" charset="0"/>
                <a:ea typeface="SimSun"/>
                <a:cs typeface="Times New Roman" panose="02020603050405020304" pitchFamily="18" charset="0"/>
              </a:rPr>
              <a:t>practical wetted sections </a:t>
            </a:r>
            <a:r>
              <a:rPr lang="en-US" altLang="zh-CN" sz="1650" dirty="0">
                <a:latin typeface="Times New Roman" panose="02020603050405020304" pitchFamily="18" charset="0"/>
                <a:ea typeface="SimSun"/>
                <a:cs typeface="Times New Roman" panose="02020603050405020304" pitchFamily="18" charset="0"/>
              </a:rPr>
              <a:t>in single channel pair for model verification.</a:t>
            </a:r>
          </a:p>
        </p:txBody>
      </p:sp>
      <p:sp>
        <p:nvSpPr>
          <p:cNvPr id="22" name="TextBox 1"/>
          <p:cNvSpPr txBox="1"/>
          <p:nvPr/>
        </p:nvSpPr>
        <p:spPr>
          <a:xfrm>
            <a:off x="693610" y="2469696"/>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3</a:t>
            </a:r>
          </a:p>
        </p:txBody>
      </p:sp>
      <p:cxnSp>
        <p:nvCxnSpPr>
          <p:cNvPr id="23" name="Connector 1"/>
          <p:cNvCxnSpPr/>
          <p:nvPr/>
        </p:nvCxnSpPr>
        <p:spPr>
          <a:xfrm>
            <a:off x="995363" y="3234109"/>
            <a:ext cx="10201274"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4" name="TextBox 1"/>
          <p:cNvSpPr txBox="1"/>
          <p:nvPr/>
        </p:nvSpPr>
        <p:spPr>
          <a:xfrm>
            <a:off x="6951638" y="2483412"/>
            <a:ext cx="4244998"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搭建完整 IEC 实验台，测量单对通道的实际润湿区域并验证模型。</a:t>
            </a:r>
          </a:p>
        </p:txBody>
      </p:sp>
      <p:sp>
        <p:nvSpPr>
          <p:cNvPr id="25"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3275257"/>
            <a:ext cx="5627091" cy="5666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To conduct the </a:t>
            </a:r>
            <a:r>
              <a:rPr lang="en-US" altLang="zh-CN" sz="1650" b="1" dirty="0">
                <a:solidFill>
                  <a:srgbClr val="AF1E3B"/>
                </a:solidFill>
                <a:latin typeface="Times New Roman" panose="02020603050405020304" pitchFamily="18" charset="0"/>
                <a:ea typeface="SimSun"/>
                <a:cs typeface="Times New Roman" panose="02020603050405020304" pitchFamily="18" charset="0"/>
              </a:rPr>
              <a:t>parametric analysis</a:t>
            </a:r>
            <a:r>
              <a:rPr lang="en-US" altLang="zh-CN" sz="1650" dirty="0">
                <a:solidFill>
                  <a:srgbClr val="AF1E3B"/>
                </a:solidFill>
                <a:latin typeface="Times New Roman" panose="02020603050405020304" pitchFamily="18" charset="0"/>
                <a:ea typeface="SimSun"/>
                <a:cs typeface="Times New Roman" panose="02020603050405020304" pitchFamily="18" charset="0"/>
              </a:rPr>
              <a:t> </a:t>
            </a:r>
            <a:r>
              <a:rPr lang="en-US" altLang="zh-CN" sz="1650" dirty="0">
                <a:latin typeface="Times New Roman" panose="02020603050405020304" pitchFamily="18" charset="0"/>
                <a:ea typeface="SimSun"/>
                <a:cs typeface="Times New Roman" panose="02020603050405020304" pitchFamily="18" charset="0"/>
              </a:rPr>
              <a:t>and determine the</a:t>
            </a:r>
            <a:r>
              <a:rPr lang="en-US" altLang="zh-CN" sz="1650" b="1" dirty="0">
                <a:latin typeface="Times New Roman" panose="02020603050405020304" pitchFamily="18" charset="0"/>
                <a:ea typeface="SimSun"/>
                <a:cs typeface="Times New Roman" panose="02020603050405020304" pitchFamily="18" charset="0"/>
              </a:rPr>
              <a:t> </a:t>
            </a:r>
            <a:r>
              <a:rPr lang="en-US" altLang="zh-CN" sz="1650" b="1" dirty="0">
                <a:solidFill>
                  <a:srgbClr val="AF1E3B"/>
                </a:solidFill>
                <a:latin typeface="Times New Roman" panose="02020603050405020304" pitchFamily="18" charset="0"/>
                <a:ea typeface="SimSun"/>
                <a:cs typeface="Times New Roman" panose="02020603050405020304" pitchFamily="18" charset="0"/>
              </a:rPr>
              <a:t>optimal water spraying strategies</a:t>
            </a:r>
            <a:r>
              <a:rPr lang="en-US" altLang="zh-CN" sz="1650" b="1" dirty="0">
                <a:solidFill>
                  <a:srgbClr val="C00000"/>
                </a:solidFill>
                <a:latin typeface="Times New Roman" panose="02020603050405020304" pitchFamily="18" charset="0"/>
                <a:ea typeface="SimSun"/>
                <a:cs typeface="Times New Roman" panose="02020603050405020304" pitchFamily="18" charset="0"/>
              </a:rPr>
              <a:t> </a:t>
            </a:r>
            <a:r>
              <a:rPr lang="en-US" altLang="zh-CN" sz="1650" dirty="0">
                <a:latin typeface="Times New Roman" panose="02020603050405020304" pitchFamily="18" charset="0"/>
                <a:ea typeface="SimSun"/>
                <a:cs typeface="Times New Roman" panose="02020603050405020304" pitchFamily="18" charset="0"/>
              </a:rPr>
              <a:t>for IEC system.</a:t>
            </a:r>
          </a:p>
        </p:txBody>
      </p:sp>
      <p:sp>
        <p:nvSpPr>
          <p:cNvPr id="26" name="TextBox 1"/>
          <p:cNvSpPr txBox="1"/>
          <p:nvPr/>
        </p:nvSpPr>
        <p:spPr>
          <a:xfrm>
            <a:off x="693610" y="3275257"/>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4</a:t>
            </a:r>
          </a:p>
        </p:txBody>
      </p:sp>
      <p:cxnSp>
        <p:nvCxnSpPr>
          <p:cNvPr id="27" name="Connector 1"/>
          <p:cNvCxnSpPr/>
          <p:nvPr/>
        </p:nvCxnSpPr>
        <p:spPr>
          <a:xfrm>
            <a:off x="995363" y="3800783"/>
            <a:ext cx="10201274"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8" name="TextBox 1"/>
          <p:cNvSpPr txBox="1"/>
          <p:nvPr/>
        </p:nvSpPr>
        <p:spPr>
          <a:xfrm>
            <a:off x="6951638" y="3288973"/>
            <a:ext cx="4244998"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开展参数分析，确定 IEC 系统的最优喷淋策略。</a:t>
            </a:r>
          </a:p>
        </p:txBody>
      </p:sp>
      <p:sp>
        <p:nvSpPr>
          <p:cNvPr id="29"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3841931"/>
            <a:ext cx="5627091"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To develop high-efficiency prediction model based on </a:t>
            </a:r>
            <a:r>
              <a:rPr lang="en-HK" altLang="zh-CN" sz="1650" b="1" dirty="0">
                <a:solidFill>
                  <a:srgbClr val="AF1E3B"/>
                </a:solidFill>
                <a:latin typeface="Times New Roman" panose="02020603050405020304" pitchFamily="18" charset="0"/>
                <a:ea typeface="SimSun"/>
                <a:cs typeface="Times New Roman" panose="02020603050405020304" pitchFamily="18" charset="0"/>
              </a:rPr>
              <a:t>ML</a:t>
            </a:r>
            <a:r>
              <a:rPr lang="en-HK" altLang="zh-CN" sz="1650" dirty="0">
                <a:latin typeface="Times New Roman" panose="02020603050405020304" pitchFamily="18" charset="0"/>
                <a:ea typeface="SimSun"/>
                <a:cs typeface="Times New Roman" panose="02020603050405020304" pitchFamily="18" charset="0"/>
              </a:rPr>
              <a:t> to accurately predict the performance of IEC system combined with </a:t>
            </a:r>
            <a:r>
              <a:rPr lang="en-HK" altLang="zh-CN" sz="1650" b="1" dirty="0">
                <a:solidFill>
                  <a:srgbClr val="AF1E3B"/>
                </a:solidFill>
                <a:latin typeface="Times New Roman" panose="02020603050405020304" pitchFamily="18" charset="0"/>
                <a:ea typeface="SimSun"/>
                <a:cs typeface="Times New Roman" panose="02020603050405020304" pitchFamily="18" charset="0"/>
              </a:rPr>
              <a:t>genetic algorithm </a:t>
            </a:r>
            <a:r>
              <a:rPr lang="en-HK" altLang="zh-CN" sz="1650" dirty="0">
                <a:latin typeface="Times New Roman" panose="02020603050405020304" pitchFamily="18" charset="0"/>
                <a:ea typeface="SimSun"/>
                <a:cs typeface="Times New Roman" panose="02020603050405020304" pitchFamily="18" charset="0"/>
              </a:rPr>
              <a:t>for multi-objective </a:t>
            </a:r>
            <a:r>
              <a:rPr lang="en-HK" altLang="zh-CN" sz="1650" b="1" dirty="0">
                <a:solidFill>
                  <a:srgbClr val="AF1E3B"/>
                </a:solidFill>
                <a:latin typeface="Times New Roman" panose="02020603050405020304" pitchFamily="18" charset="0"/>
                <a:ea typeface="SimSun"/>
                <a:cs typeface="Times New Roman" panose="02020603050405020304" pitchFamily="18" charset="0"/>
              </a:rPr>
              <a:t>optimization</a:t>
            </a:r>
            <a:r>
              <a:rPr lang="en-HK" altLang="zh-CN" sz="1650" dirty="0">
                <a:latin typeface="Times New Roman" panose="02020603050405020304" pitchFamily="18" charset="0"/>
                <a:ea typeface="SimSun"/>
                <a:cs typeface="Times New Roman" panose="02020603050405020304" pitchFamily="18" charset="0"/>
              </a:rPr>
              <a:t>.</a:t>
            </a:r>
            <a:endParaRPr lang="en-US" altLang="zh-CN" sz="1800" dirty="0">
              <a:latin typeface="Times New Roman" panose="02020603050405020304" pitchFamily="18" charset="0"/>
              <a:ea typeface="SimSun"/>
              <a:cs typeface="Times New Roman" panose="02020603050405020304" pitchFamily="18" charset="0"/>
            </a:endParaRPr>
          </a:p>
        </p:txBody>
      </p:sp>
      <p:sp>
        <p:nvSpPr>
          <p:cNvPr id="30" name="TextBox 1"/>
          <p:cNvSpPr txBox="1"/>
          <p:nvPr/>
        </p:nvSpPr>
        <p:spPr>
          <a:xfrm>
            <a:off x="693610" y="3841931"/>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5</a:t>
            </a:r>
          </a:p>
        </p:txBody>
      </p:sp>
      <p:cxnSp>
        <p:nvCxnSpPr>
          <p:cNvPr id="31" name="Connector 1"/>
          <p:cNvCxnSpPr/>
          <p:nvPr/>
        </p:nvCxnSpPr>
        <p:spPr>
          <a:xfrm>
            <a:off x="995363" y="4606344"/>
            <a:ext cx="10201274"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32" name="TextBox 1"/>
          <p:cNvSpPr txBox="1"/>
          <p:nvPr/>
        </p:nvSpPr>
        <p:spPr>
          <a:xfrm>
            <a:off x="6951638" y="3855647"/>
            <a:ext cx="4244998"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建立高效的机器学习预测模型，结合遗传算法开展多目标优化。</a:t>
            </a:r>
          </a:p>
        </p:txBody>
      </p:sp>
      <p:sp>
        <p:nvSpPr>
          <p:cNvPr id="33"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4647492"/>
            <a:ext cx="5627091"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To establish and verified a</a:t>
            </a:r>
            <a:r>
              <a:rPr lang="en-US" altLang="zh-CN" sz="1650" b="1" dirty="0">
                <a:solidFill>
                  <a:srgbClr val="C00000"/>
                </a:solidFill>
                <a:latin typeface="Times New Roman" panose="02020603050405020304" pitchFamily="18" charset="0"/>
                <a:ea typeface="SimSun"/>
                <a:cs typeface="Times New Roman" panose="02020603050405020304" pitchFamily="18" charset="0"/>
              </a:rPr>
              <a:t> </a:t>
            </a:r>
            <a:r>
              <a:rPr lang="en-HK" altLang="zh-CN" sz="1650" b="1" dirty="0">
                <a:solidFill>
                  <a:srgbClr val="AF1E3B"/>
                </a:solidFill>
                <a:latin typeface="Times New Roman" panose="02020603050405020304" pitchFamily="18" charset="0"/>
                <a:ea typeface="SimSun"/>
                <a:cs typeface="Times New Roman" panose="02020603050405020304" pitchFamily="18" charset="0"/>
              </a:rPr>
              <a:t>CFD model</a:t>
            </a:r>
            <a:r>
              <a:rPr lang="en-HK" altLang="zh-CN" sz="1650" dirty="0">
                <a:solidFill>
                  <a:srgbClr val="AF1E3B"/>
                </a:solidFill>
                <a:latin typeface="Times New Roman" panose="02020603050405020304" pitchFamily="18" charset="0"/>
                <a:ea typeface="SimSun"/>
                <a:cs typeface="Times New Roman" panose="02020603050405020304" pitchFamily="18" charset="0"/>
              </a:rPr>
              <a:t> </a:t>
            </a:r>
            <a:r>
              <a:rPr lang="en-HK" altLang="zh-CN" sz="1650" dirty="0">
                <a:latin typeface="Times New Roman" panose="02020603050405020304" pitchFamily="18" charset="0"/>
                <a:ea typeface="SimSun"/>
                <a:cs typeface="Times New Roman" panose="02020603050405020304" pitchFamily="18" charset="0"/>
              </a:rPr>
              <a:t>based on the </a:t>
            </a:r>
            <a:r>
              <a:rPr lang="en-HK" altLang="zh-CN" sz="1650"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650" dirty="0">
                <a:latin typeface="Times New Roman" panose="02020603050405020304" pitchFamily="18" charset="0"/>
                <a:ea typeface="SimSun"/>
                <a:cs typeface="Times New Roman" panose="02020603050405020304" pitchFamily="18" charset="0"/>
              </a:rPr>
              <a:t>to explore the optimal nozzle configurations and performances, as well as the </a:t>
            </a:r>
            <a:r>
              <a:rPr lang="en-HK" altLang="zh-CN" sz="1650" dirty="0">
                <a:solidFill>
                  <a:schemeClr val="bg2"/>
                </a:solidFill>
                <a:latin typeface="Times New Roman" panose="02020603050405020304" pitchFamily="18" charset="0"/>
                <a:ea typeface="SimSun"/>
                <a:cs typeface="Times New Roman" panose="02020603050405020304" pitchFamily="18" charset="0"/>
              </a:rPr>
              <a:t>enhancement strategies </a:t>
            </a:r>
            <a:r>
              <a:rPr lang="en-HK" altLang="zh-CN" sz="1650" dirty="0">
                <a:latin typeface="Times New Roman" panose="02020603050405020304" pitchFamily="18" charset="0"/>
                <a:ea typeface="SimSun"/>
                <a:cs typeface="Times New Roman" panose="02020603050405020304" pitchFamily="18" charset="0"/>
              </a:rPr>
              <a:t>for IEC in DCs</a:t>
            </a:r>
            <a:endParaRPr lang="en-US" altLang="zh-CN" sz="1800" dirty="0">
              <a:latin typeface="Times New Roman" panose="02020603050405020304" pitchFamily="18" charset="0"/>
              <a:ea typeface="SimSun"/>
              <a:cs typeface="Times New Roman" panose="02020603050405020304" pitchFamily="18" charset="0"/>
            </a:endParaRPr>
          </a:p>
        </p:txBody>
      </p:sp>
      <p:sp>
        <p:nvSpPr>
          <p:cNvPr id="34" name="TextBox 1"/>
          <p:cNvSpPr txBox="1"/>
          <p:nvPr/>
        </p:nvSpPr>
        <p:spPr>
          <a:xfrm>
            <a:off x="693610" y="4647492"/>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6</a:t>
            </a:r>
          </a:p>
        </p:txBody>
      </p:sp>
      <p:sp>
        <p:nvSpPr>
          <p:cNvPr id="35" name="TextBox 1"/>
          <p:cNvSpPr txBox="1"/>
          <p:nvPr/>
        </p:nvSpPr>
        <p:spPr>
          <a:xfrm>
            <a:off x="6951638" y="4661207"/>
            <a:ext cx="4244998"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建立并验证菱形 IEC 的 CFD 模型，优化喷嘴布置并研究数据中心应用中的性能强化策略。</a:t>
            </a:r>
          </a:p>
        </p:txBody>
      </p:sp>
    </p:spTree>
    <p:extLst>
      <p:ext uri="{BB962C8B-B14F-4D97-AF65-F5344CB8AC3E}">
        <p14:creationId xmlns:p14="http://schemas.microsoft.com/office/powerpoint/2010/main" val="1626659428"/>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14</a:t>
            </a:fld>
            <a:endParaRPr lang="en-US" altLang="zh-CN">
              <a:latin typeface="Times New Roman"/>
              <a:ea typeface="SimSun"/>
              <a:cs typeface="Times New Roman"/>
            </a:endParaRPr>
          </a:p>
        </p:txBody>
      </p:sp>
      <p:sp>
        <p:nvSpPr>
          <p:cNvPr id="4" name="Rectangle 2">
            <a:extLst>
              <a:ext uri="{FF2B5EF4-FFF2-40B4-BE49-F238E27FC236}">
                <a16:creationId xmlns:a16="http://schemas.microsoft.com/office/drawing/2014/main" id="{70A53435-5E66-4FD2-B6E6-769376465AC2}"/>
              </a:ext>
            </a:extLst>
          </p:cNvPr>
          <p:cNvSpPr>
            <a:spLocks noChangeArrowheads="1"/>
          </p:cNvSpPr>
          <p:nvPr/>
        </p:nvSpPr>
        <p:spPr bwMode="auto">
          <a:xfrm>
            <a:off x="962025" y="323639"/>
            <a:ext cx="143218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5" name="对象 4">
            <a:extLst>
              <a:ext uri="{FF2B5EF4-FFF2-40B4-BE49-F238E27FC236}">
                <a16:creationId xmlns:a16="http://schemas.microsoft.com/office/drawing/2014/main" id="{8024DDC6-D731-4D53-AF6A-1F4C29FC01F4}"/>
              </a:ext>
            </a:extLst>
          </p:cNvPr>
          <p:cNvGraphicFramePr>
            <a:graphicFrameLocks noChangeAspect="1"/>
          </p:cNvGraphicFramePr>
          <p:nvPr>
            <p:extLst>
              <p:ext uri="{D42A27DB-BD31-4B8C-83A1-F6EECF244321}">
                <p14:modId xmlns:p14="http://schemas.microsoft.com/office/powerpoint/2010/main" val="3166520294"/>
              </p:ext>
            </p:extLst>
          </p:nvPr>
        </p:nvGraphicFramePr>
        <p:xfrm>
          <a:off x="1162050" y="231565"/>
          <a:ext cx="10258425" cy="6534361"/>
        </p:xfrm>
        <a:graphic>
          <a:graphicData uri="http://schemas.openxmlformats.org/presentationml/2006/ole">
            <mc:AlternateContent xmlns:mc="http://schemas.openxmlformats.org/markup-compatibility/2006">
              <mc:Choice xmlns:v="urn:schemas-microsoft-com:vml" Requires="v">
                <p:oleObj name="Visio" r:id="rId3" imgW="12420571" imgH="7917098" progId="Visio.Drawing.15">
                  <p:embed/>
                </p:oleObj>
              </mc:Choice>
              <mc:Fallback>
                <p:oleObj name="Visio" r:id="rId3" imgW="12420571" imgH="791709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31565"/>
                        <a:ext cx="10258425" cy="6534361"/>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1258FFE4-CC42-9598-ED29-2045DC52D9E2}"/>
              </a:ext>
            </a:extLst>
          </p:cNvPr>
          <p:cNvSpPr/>
          <p:nvPr/>
        </p:nvSpPr>
        <p:spPr bwMode="auto">
          <a:xfrm>
            <a:off x="1339566" y="309473"/>
            <a:ext cx="1211435" cy="456001"/>
          </a:xfrm>
          <a:prstGeom prst="rect">
            <a:avLst/>
          </a:prstGeom>
          <a:solidFill>
            <a:srgbClr val="FFE08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3</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1200" dirty="0">
                <a:solidFill>
                  <a:schemeClr val="bg2"/>
                </a:solidFill>
                <a:latin typeface="Times New Roman" panose="02020603050405020304" pitchFamily="18" charset="0"/>
                <a:ea typeface="SimSun"/>
                <a:cs typeface="Times New Roman" panose="02020603050405020304" pitchFamily="18" charset="0"/>
              </a:rPr>
              <a:t>FDM model</a:t>
            </a:r>
            <a:endParaRPr kumimoji="0" lang="zh-CN" altLang="en-US" sz="1200"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
        <p:nvSpPr>
          <p:cNvPr id="7" name="矩形 6">
            <a:extLst>
              <a:ext uri="{FF2B5EF4-FFF2-40B4-BE49-F238E27FC236}">
                <a16:creationId xmlns:a16="http://schemas.microsoft.com/office/drawing/2014/main" id="{67269DCB-2C8E-C839-90D8-3233BED13225}"/>
              </a:ext>
            </a:extLst>
          </p:cNvPr>
          <p:cNvSpPr/>
          <p:nvPr/>
        </p:nvSpPr>
        <p:spPr bwMode="auto">
          <a:xfrm>
            <a:off x="4324688" y="3070835"/>
            <a:ext cx="1113394" cy="408055"/>
          </a:xfrm>
          <a:prstGeom prst="rect">
            <a:avLst/>
          </a:prstGeom>
          <a:solidFill>
            <a:srgbClr val="EFC4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5</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1200" dirty="0">
                <a:solidFill>
                  <a:schemeClr val="bg2"/>
                </a:solidFill>
                <a:latin typeface="Times New Roman" panose="02020603050405020304" pitchFamily="18" charset="0"/>
                <a:ea typeface="SimSun"/>
                <a:cs typeface="Times New Roman" panose="02020603050405020304" pitchFamily="18" charset="0"/>
              </a:rPr>
              <a:t>ANN model</a:t>
            </a:r>
            <a:endParaRPr kumimoji="0" lang="zh-CN" altLang="en-US" sz="1200"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
        <p:nvSpPr>
          <p:cNvPr id="8" name="矩形 7">
            <a:extLst>
              <a:ext uri="{FF2B5EF4-FFF2-40B4-BE49-F238E27FC236}">
                <a16:creationId xmlns:a16="http://schemas.microsoft.com/office/drawing/2014/main" id="{C3D91274-9D7B-8228-FB25-8D25A4EADA54}"/>
              </a:ext>
            </a:extLst>
          </p:cNvPr>
          <p:cNvSpPr/>
          <p:nvPr/>
        </p:nvSpPr>
        <p:spPr bwMode="auto">
          <a:xfrm>
            <a:off x="6444033" y="1155659"/>
            <a:ext cx="1043765" cy="536130"/>
          </a:xfrm>
          <a:prstGeom prst="rect">
            <a:avLst/>
          </a:prstGeom>
          <a:solidFill>
            <a:srgbClr val="C9E8A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4</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1050" dirty="0">
                <a:solidFill>
                  <a:schemeClr val="bg2"/>
                </a:solidFill>
                <a:latin typeface="Times New Roman" panose="02020603050405020304" pitchFamily="18" charset="0"/>
                <a:ea typeface="SimSun"/>
                <a:cs typeface="Times New Roman" panose="02020603050405020304" pitchFamily="18" charset="0"/>
              </a:rPr>
              <a:t>Common cross-flow type IEC</a:t>
            </a:r>
            <a:endParaRPr kumimoji="0" lang="zh-CN" altLang="en-US" sz="1050"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
        <p:nvSpPr>
          <p:cNvPr id="9" name="矩形 8">
            <a:extLst>
              <a:ext uri="{FF2B5EF4-FFF2-40B4-BE49-F238E27FC236}">
                <a16:creationId xmlns:a16="http://schemas.microsoft.com/office/drawing/2014/main" id="{425BEDB0-1A94-E868-8308-2B33529EE459}"/>
              </a:ext>
            </a:extLst>
          </p:cNvPr>
          <p:cNvSpPr/>
          <p:nvPr/>
        </p:nvSpPr>
        <p:spPr bwMode="auto">
          <a:xfrm>
            <a:off x="7753039" y="1155659"/>
            <a:ext cx="908443" cy="515280"/>
          </a:xfrm>
          <a:prstGeom prst="rect">
            <a:avLst/>
          </a:prstGeom>
          <a:solidFill>
            <a:srgbClr val="DFF1CB"/>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6</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1050" dirty="0">
                <a:solidFill>
                  <a:schemeClr val="bg2"/>
                </a:solidFill>
                <a:latin typeface="Times New Roman" panose="02020603050405020304" pitchFamily="18" charset="0"/>
                <a:ea typeface="SimSun"/>
                <a:cs typeface="Times New Roman" panose="02020603050405020304" pitchFamily="18" charset="0"/>
              </a:rPr>
              <a:t>Diamond-shaped IEC</a:t>
            </a:r>
            <a:endParaRPr kumimoji="0" lang="zh-CN" altLang="en-US" sz="1050"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Tree>
    <p:extLst>
      <p:ext uri="{BB962C8B-B14F-4D97-AF65-F5344CB8AC3E}">
        <p14:creationId xmlns:p14="http://schemas.microsoft.com/office/powerpoint/2010/main" val="3914939096"/>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15</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rgbClr val="C00000"/>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10044434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36EF977-B5E6-4612-B4E0-760D482E886E}"/>
              </a:ext>
            </a:extLst>
          </p:cNvPr>
          <p:cNvPicPr>
            <a:picLocks noChangeAspect="1"/>
          </p:cNvPicPr>
          <p:nvPr/>
        </p:nvPicPr>
        <p:blipFill>
          <a:blip r:embed="rId3"/>
          <a:stretch>
            <a:fillRect/>
          </a:stretch>
        </p:blipFill>
        <p:spPr>
          <a:xfrm>
            <a:off x="6608996" y="4282820"/>
            <a:ext cx="4584112" cy="1952100"/>
          </a:xfrm>
          <a:prstGeom prst="rect">
            <a:avLst/>
          </a:prstGeom>
        </p:spPr>
      </p:pic>
      <p:pic>
        <p:nvPicPr>
          <p:cNvPr id="7" name="图片 6">
            <a:extLst>
              <a:ext uri="{FF2B5EF4-FFF2-40B4-BE49-F238E27FC236}">
                <a16:creationId xmlns:a16="http://schemas.microsoft.com/office/drawing/2014/main" id="{B8BE0C2B-0B3E-4C2D-9420-4C3ECFCE5D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382" y="1035157"/>
            <a:ext cx="3397479" cy="3036684"/>
          </a:xfrm>
          <a:prstGeom prst="rect">
            <a:avLst/>
          </a:prstGeom>
        </p:spPr>
      </p:pic>
      <p:pic>
        <p:nvPicPr>
          <p:cNvPr id="10" name="图片 9">
            <a:extLst>
              <a:ext uri="{FF2B5EF4-FFF2-40B4-BE49-F238E27FC236}">
                <a16:creationId xmlns:a16="http://schemas.microsoft.com/office/drawing/2014/main" id="{997745E3-102C-45DA-8D4E-780E6123C0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908" y="1520194"/>
            <a:ext cx="5087333" cy="3240000"/>
          </a:xfrm>
          <a:prstGeom prst="rect">
            <a:avLst/>
          </a:prstGeom>
        </p:spPr>
      </p:pic>
      <p:sp>
        <p:nvSpPr>
          <p:cNvPr id="11" name="椭圆 10">
            <a:extLst>
              <a:ext uri="{FF2B5EF4-FFF2-40B4-BE49-F238E27FC236}">
                <a16:creationId xmlns:a16="http://schemas.microsoft.com/office/drawing/2014/main" id="{79F29C5C-DF92-4F2A-8E3C-E689D058AF2E}"/>
              </a:ext>
            </a:extLst>
          </p:cNvPr>
          <p:cNvSpPr/>
          <p:nvPr/>
        </p:nvSpPr>
        <p:spPr>
          <a:xfrm>
            <a:off x="1755844" y="1569937"/>
            <a:ext cx="1573452" cy="828259"/>
          </a:xfrm>
          <a:prstGeom prst="ellipse">
            <a:avLst/>
          </a:prstGeom>
          <a:noFill/>
          <a:ln w="127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dirty="0">
              <a:solidFill>
                <a:prstClr val="white"/>
              </a:solidFill>
              <a:latin typeface="Times New Roman" panose="020F0502020204030204"/>
              <a:ea typeface="SimSun"/>
              <a:cs typeface="Times New Roman"/>
            </a:endParaRPr>
          </a:p>
        </p:txBody>
      </p:sp>
      <p:cxnSp>
        <p:nvCxnSpPr>
          <p:cNvPr id="12" name="直接箭头连接符 11">
            <a:extLst>
              <a:ext uri="{FF2B5EF4-FFF2-40B4-BE49-F238E27FC236}">
                <a16:creationId xmlns:a16="http://schemas.microsoft.com/office/drawing/2014/main" id="{1F4553F9-4CD6-40EF-8B1C-5D11EEAD4DA7}"/>
              </a:ext>
            </a:extLst>
          </p:cNvPr>
          <p:cNvCxnSpPr>
            <a:cxnSpLocks/>
          </p:cNvCxnSpPr>
          <p:nvPr/>
        </p:nvCxnSpPr>
        <p:spPr>
          <a:xfrm flipV="1">
            <a:off x="3329296" y="1618728"/>
            <a:ext cx="4185929" cy="290034"/>
          </a:xfrm>
          <a:prstGeom prst="straightConnector1">
            <a:avLst/>
          </a:prstGeom>
          <a:noFill/>
          <a:ln w="6350" cap="flat" cmpd="sng" algn="ctr">
            <a:solidFill>
              <a:srgbClr val="C00000"/>
            </a:solidFill>
            <a:prstDash val="solid"/>
            <a:miter lim="800000"/>
            <a:tailEnd type="triangle"/>
          </a:ln>
          <a:effectLst/>
        </p:spPr>
      </p:cxnSp>
      <p:sp>
        <p:nvSpPr>
          <p:cNvPr id="17" name="矩形 16">
            <a:extLst>
              <a:ext uri="{FF2B5EF4-FFF2-40B4-BE49-F238E27FC236}">
                <a16:creationId xmlns:a16="http://schemas.microsoft.com/office/drawing/2014/main" id="{1BB2590E-3C33-462D-856F-620D5822B162}"/>
              </a:ext>
            </a:extLst>
          </p:cNvPr>
          <p:cNvSpPr/>
          <p:nvPr/>
        </p:nvSpPr>
        <p:spPr>
          <a:xfrm>
            <a:off x="1402676" y="4947054"/>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3.1.1 </a:t>
            </a:r>
            <a:r>
              <a:rPr lang="en-HK" sz="1200" dirty="0">
                <a:solidFill>
                  <a:prstClr val="black"/>
                </a:solidFill>
                <a:latin typeface="Times New Roman" panose="02020603050405020304" pitchFamily="18" charset="0"/>
                <a:ea typeface="SimSun"/>
                <a:cs typeface="Times New Roman" panose="02020603050405020304" pitchFamily="18" charset="0"/>
              </a:rPr>
              <a:t>Configuration of an IEC system</a:t>
            </a:r>
          </a:p>
        </p:txBody>
      </p:sp>
      <p:sp>
        <p:nvSpPr>
          <p:cNvPr id="23" name="矩形 22">
            <a:extLst>
              <a:ext uri="{FF2B5EF4-FFF2-40B4-BE49-F238E27FC236}">
                <a16:creationId xmlns:a16="http://schemas.microsoft.com/office/drawing/2014/main" id="{E3C7E495-B22F-4CB1-BAC0-69116BBB6588}"/>
              </a:ext>
            </a:extLst>
          </p:cNvPr>
          <p:cNvSpPr/>
          <p:nvPr/>
        </p:nvSpPr>
        <p:spPr>
          <a:xfrm>
            <a:off x="6740410" y="4071841"/>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3.1.2 </a:t>
            </a:r>
            <a:r>
              <a:rPr lang="en-HK" sz="1200"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sp>
        <p:nvSpPr>
          <p:cNvPr id="24" name="矩形 23">
            <a:extLst>
              <a:ext uri="{FF2B5EF4-FFF2-40B4-BE49-F238E27FC236}">
                <a16:creationId xmlns:a16="http://schemas.microsoft.com/office/drawing/2014/main" id="{E2930FF6-07BE-4486-A5C5-CEA70EC2414A}"/>
              </a:ext>
            </a:extLst>
          </p:cNvPr>
          <p:cNvSpPr/>
          <p:nvPr/>
        </p:nvSpPr>
        <p:spPr>
          <a:xfrm>
            <a:off x="7515225" y="6164188"/>
            <a:ext cx="4792063"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3.1.3 </a:t>
            </a:r>
            <a:r>
              <a:rPr lang="en-HK" sz="1200" dirty="0">
                <a:solidFill>
                  <a:prstClr val="black"/>
                </a:solidFill>
                <a:latin typeface="Times New Roman" panose="02020603050405020304" pitchFamily="18" charset="0"/>
                <a:ea typeface="SimSun"/>
                <a:cs typeface="Times New Roman" panose="02020603050405020304" pitchFamily="18" charset="0"/>
              </a:rPr>
              <a:t>Three scenarios of spray impact area</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25" name="矩形 24">
            <a:extLst>
              <a:ext uri="{FF2B5EF4-FFF2-40B4-BE49-F238E27FC236}">
                <a16:creationId xmlns:a16="http://schemas.microsoft.com/office/drawing/2014/main" id="{7DB86AE5-5915-4DED-8B6C-85D34F70AFB5}"/>
              </a:ext>
            </a:extLst>
          </p:cNvPr>
          <p:cNvSpPr/>
          <p:nvPr/>
        </p:nvSpPr>
        <p:spPr>
          <a:xfrm>
            <a:off x="1552576" y="6611780"/>
            <a:ext cx="9979897" cy="246221"/>
          </a:xfrm>
          <a:prstGeom prst="rect">
            <a:avLst/>
          </a:prstGeom>
        </p:spPr>
        <p:txBody>
          <a:bodyPr wrap="square">
            <a:spAutoFit/>
          </a:bodyPr>
          <a:lstStyle/>
          <a:p>
            <a:pPr defTabSz="457200" eaLnBrk="1" fontAlgn="auto" hangingPunct="1">
              <a:spcBef>
                <a:spcPts val="0"/>
              </a:spcBef>
              <a:spcAft>
                <a:spcPts val="0"/>
              </a:spcAft>
            </a:pPr>
            <a:r>
              <a:rPr lang="en-US" sz="10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a:t>
            </a:r>
            <a:r>
              <a:rPr lang="en-US" sz="1000"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Mudawar</a:t>
            </a:r>
            <a:r>
              <a:rPr lang="en-US" sz="10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I, Estes KA. Optimizing and predicting CHF in spray cooling of a square surface. J Heat Transfer 1996;118:672–9. https://doi.org/10.1115/1.2822685.</a:t>
            </a:r>
            <a:endParaRPr lang="en-HK" sz="1000" dirty="0">
              <a:solidFill>
                <a:prstClr val="black"/>
              </a:solidFill>
              <a:latin typeface="Times New Roman" panose="02020603050405020304" pitchFamily="18" charset="0"/>
              <a:ea typeface="SimSun"/>
              <a:cs typeface="Times New Roman" panose="02020603050405020304" pitchFamily="18" charset="0"/>
            </a:endParaRPr>
          </a:p>
        </p:txBody>
      </p:sp>
      <p:sp>
        <p:nvSpPr>
          <p:cNvPr id="3" name="灯片编号占位符 2">
            <a:extLst>
              <a:ext uri="{FF2B5EF4-FFF2-40B4-BE49-F238E27FC236}">
                <a16:creationId xmlns:a16="http://schemas.microsoft.com/office/drawing/2014/main" id="{B5045246-EE37-4BB8-A189-B23A691781C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16</a:t>
            </a:fld>
            <a:endParaRPr lang="en-US" altLang="zh-CN" dirty="0">
              <a:latin typeface="Times New Roman"/>
              <a:ea typeface="SimSun"/>
              <a:cs typeface="Times New Roman"/>
            </a:endParaRPr>
          </a:p>
        </p:txBody>
      </p:sp>
      <p:sp>
        <p:nvSpPr>
          <p:cNvPr id="26"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数学模型</a:t>
            </a:r>
          </a:p>
        </p:txBody>
      </p:sp>
      <p:sp>
        <p:nvSpPr>
          <p:cNvPr id="27"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3.1 Mathematical model</a:t>
            </a:r>
          </a:p>
        </p:txBody>
      </p:sp>
      <p:sp>
        <p:nvSpPr>
          <p:cNvPr id="28"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FDM model for nozzle optimization of IEC</a:t>
            </a:r>
          </a:p>
        </p:txBody>
      </p:sp>
      <p:cxnSp>
        <p:nvCxnSpPr>
          <p:cNvPr id="2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0" name="矩形 1">
            <a:extLst>
              <a:ext uri="{FF2B5EF4-FFF2-40B4-BE49-F238E27FC236}">
                <a16:creationId xmlns:a16="http://schemas.microsoft.com/office/drawing/2014/main" id="{BFC2E9D6-DD4B-40D6-8701-5917191F2CDA}"/>
              </a:ext>
            </a:extLst>
          </p:cNvPr>
          <p:cNvSpPr/>
          <p:nvPr/>
        </p:nvSpPr>
        <p:spPr>
          <a:xfrm>
            <a:off x="998892" y="5199053"/>
            <a:ext cx="4792063" cy="516128"/>
          </a:xfrm>
          <a:prstGeom prst="rect">
            <a:avLst/>
          </a:prstGeom>
          <a:ln>
            <a:noFill/>
          </a:ln>
        </p:spPr>
        <p:txBody>
          <a:bodyPr wrap="square" lIns="0" rIns="0" tIns="0" bIns="0">
            <a:noAutofit/>
          </a:bodyPr>
          <a:lstStyle/>
          <a:p>
            <a:pPr marL="0" indent="0" algn="l">
              <a:lnSpc>
                <a:spcPct val="108000"/>
              </a:lnSpc>
              <a:buNone/>
            </a:pPr>
            <a:r>
              <a:rPr lang="en-HK" sz="1300" b="1" dirty="0">
                <a:latin typeface="Times New Roman" panose="02020603050405020304" pitchFamily="18" charset="0"/>
                <a:ea typeface="SimSun"/>
                <a:cs typeface="Times New Roman" panose="02020603050405020304" pitchFamily="18" charset="0"/>
              </a:rPr>
              <a:t>Assumption</a:t>
            </a:r>
            <a:r>
              <a:rPr lang="zh-CN" altLang="en-US" sz="1300" b="1" dirty="0">
                <a:latin typeface="Times New Roman" panose="02020603050405020304" pitchFamily="18" charset="0"/>
                <a:ea typeface="SimSun"/>
                <a:cs typeface="Times New Roman" panose="02020603050405020304" pitchFamily="18" charset="0"/>
              </a:rPr>
              <a:t>：</a:t>
            </a:r>
            <a:endParaRPr lang="en-HK" altLang="zh-CN" sz="1600" b="1" dirty="0">
              <a:latin typeface="Times New Roman" panose="02020603050405020304" pitchFamily="18" charset="0"/>
              <a:ea typeface="SimSun"/>
              <a:cs typeface="Times New Roman" panose="02020603050405020304" pitchFamily="18" charset="0"/>
            </a:endParaRPr>
          </a:p>
        </p:txBody>
      </p:sp>
      <p:sp>
        <p:nvSpPr>
          <p:cNvPr id="31" name="TextBox 1"/>
          <p:cNvSpPr txBox="1"/>
          <p:nvPr/>
        </p:nvSpPr>
        <p:spPr>
          <a:xfrm>
            <a:off x="998892" y="5428415"/>
            <a:ext cx="4792063"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模型假设：</a:t>
            </a:r>
          </a:p>
        </p:txBody>
      </p:sp>
      <p:sp>
        <p:nvSpPr>
          <p:cNvPr id="32" name="矩形 1">
            <a:extLst>
              <a:ext uri="{FF2B5EF4-FFF2-40B4-BE49-F238E27FC236}">
                <a16:creationId xmlns:a16="http://schemas.microsoft.com/office/drawing/2014/main" id="{BFC2E9D6-DD4B-40D6-8701-5917191F2CDA}"/>
              </a:ext>
            </a:extLst>
          </p:cNvPr>
          <p:cNvSpPr/>
          <p:nvPr/>
        </p:nvSpPr>
        <p:spPr>
          <a:xfrm>
            <a:off x="998892" y="5715181"/>
            <a:ext cx="4792063" cy="704342"/>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300" dirty="0" err="1">
                <a:latin typeface="Times New Roman" panose="02020603050405020304" pitchFamily="18" charset="0"/>
                <a:ea typeface="SimSun"/>
                <a:cs typeface="Times New Roman" panose="02020603050405020304" pitchFamily="18" charset="0"/>
              </a:rPr>
              <a:t>centered</a:t>
            </a:r>
            <a:r>
              <a:rPr lang="en-HK" sz="1300" dirty="0">
                <a:latin typeface="Times New Roman" panose="02020603050405020304" pitchFamily="18" charset="0"/>
                <a:ea typeface="SimSun"/>
                <a:cs typeface="Times New Roman" panose="02020603050405020304" pitchFamily="18" charset="0"/>
              </a:rPr>
              <a:t> at the spray orifice.</a:t>
            </a:r>
          </a:p>
        </p:txBody>
      </p:sp>
      <p:sp>
        <p:nvSpPr>
          <p:cNvPr id="33" name="TextBox 1"/>
          <p:cNvSpPr txBox="1"/>
          <p:nvPr/>
        </p:nvSpPr>
        <p:spPr>
          <a:xfrm>
            <a:off x="998892" y="6132757"/>
            <a:ext cx="4792063"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总喷淋流量 Q 在以喷口为球心的任一球面上均匀分布。</a:t>
            </a:r>
          </a:p>
        </p:txBody>
      </p:sp>
    </p:spTree>
    <p:extLst>
      <p:ext uri="{BB962C8B-B14F-4D97-AF65-F5344CB8AC3E}">
        <p14:creationId xmlns:p14="http://schemas.microsoft.com/office/powerpoint/2010/main" val="155050902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7" name="对象 26">
            <a:extLst>
              <a:ext uri="{FF2B5EF4-FFF2-40B4-BE49-F238E27FC236}">
                <a16:creationId xmlns:a16="http://schemas.microsoft.com/office/drawing/2014/main" id="{721F317A-D05B-4100-A9B4-D94F506BE036}"/>
              </a:ext>
            </a:extLst>
          </p:cNvPr>
          <p:cNvGraphicFramePr>
            <a:graphicFrameLocks noChangeAspect="1"/>
          </p:cNvGraphicFramePr>
          <p:nvPr>
            <p:extLst>
              <p:ext uri="{D42A27DB-BD31-4B8C-83A1-F6EECF244321}">
                <p14:modId xmlns:p14="http://schemas.microsoft.com/office/powerpoint/2010/main" val="2614438092"/>
              </p:ext>
            </p:extLst>
          </p:nvPr>
        </p:nvGraphicFramePr>
        <p:xfrm>
          <a:off x="4147664" y="3694666"/>
          <a:ext cx="3862129" cy="3015754"/>
        </p:xfrm>
        <a:graphic>
          <a:graphicData uri="http://schemas.openxmlformats.org/presentationml/2006/ole">
            <mc:AlternateContent xmlns:mc="http://schemas.openxmlformats.org/markup-compatibility/2006">
              <mc:Choice xmlns:v="urn:schemas-microsoft-com:vml" Requires="v">
                <p:oleObj name="Graph" r:id="rId3" imgW="6940973" imgH="5420971" progId="Origin50.Graph">
                  <p:embed/>
                </p:oleObj>
              </mc:Choice>
              <mc:Fallback>
                <p:oleObj name="Graph" r:id="rId3" imgW="6940973" imgH="5420971"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664" y="3694666"/>
                        <a:ext cx="3862129" cy="301575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F1180BE-ECF2-4826-AE0C-151653CEE077}"/>
                  </a:ext>
                </a:extLst>
              </p:cNvPr>
              <p:cNvSpPr/>
              <p:nvPr/>
            </p:nvSpPr>
            <p:spPr>
              <a:xfrm>
                <a:off x="386739" y="1325869"/>
                <a:ext cx="3702307" cy="132812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sz="1800" dirty="0">
                    <a:solidFill>
                      <a:prstClr val="black"/>
                    </a:solidFill>
                    <a:latin typeface="Times New Roman" panose="02020603050405020304" pitchFamily="18" charset="0"/>
                    <a:ea typeface="SimSun"/>
                    <a:cs typeface="Times New Roman" panose="02020603050405020304" pitchFamily="18" charset="0"/>
                  </a:rPr>
                  <a:t>Boundary </a:t>
                </a:r>
                <a:r>
                  <a:rPr lang="en-US"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condition</a:t>
                </a:r>
                <a:r>
                  <a:rPr lang="en-HK"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a:p>
                <a:pPr defTabSz="457200" eaLnBrk="1" fontAlgn="auto">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𝑥</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𝑦</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𝐻</m:t>
                                  </m:r>
                                  <m:r>
                                    <a:rPr lang="en-US" sz="1400" i="1">
                                      <a:solidFill>
                                        <a:prstClr val="black"/>
                                      </a:solidFill>
                                      <a:latin typeface="Times New Roman" panose="02040503050406030204" pitchFamily="18" charset="0"/>
                                      <a:ea typeface="SimSun"/>
                                      <a:cs typeface="Times New Roman"/>
                                    </a:rPr>
                                    <m:t>×</m:t>
                                  </m:r>
                                  <m:func>
                                    <m:funcPr>
                                      <m:ctrlPr>
                                        <a:rPr lang="en-US" sz="1400">
                                          <a:solidFill>
                                            <a:prstClr val="black"/>
                                          </a:solidFill>
                                          <a:latin typeface="Times New Roman" panose="02040503050406030204" pitchFamily="18" charset="0"/>
                                          <a:ea typeface="SimSun"/>
                                          <a:cs typeface="Times New Roman"/>
                                        </a:rPr>
                                      </m:ctrlPr>
                                    </m:funcPr>
                                    <m:fName>
                                      <m:r>
                                        <m:rPr>
                                          <m:sty m:val="p"/>
                                        </m:rPr>
                                        <a:rPr lang="en-US" sz="1400">
                                          <a:solidFill>
                                            <a:prstClr val="black"/>
                                          </a:solidFill>
                                          <a:latin typeface="Times New Roman" panose="02040503050406030204" pitchFamily="18" charset="0"/>
                                          <a:ea typeface="SimSun"/>
                                          <a:cs typeface="Times New Roman"/>
                                        </a:rPr>
                                        <m:t>tan</m:t>
                                      </m:r>
                                    </m:fName>
                                    <m:e>
                                      <m:f>
                                        <m:fPr>
                                          <m:ctrlPr>
                                            <a:rPr lang="en-US" sz="1400" i="1">
                                              <a:solidFill>
                                                <a:prstClr val="black"/>
                                              </a:solidFill>
                                              <a:latin typeface="Times New Roman" panose="02040503050406030204" pitchFamily="18" charset="0"/>
                                              <a:ea typeface="SimSun"/>
                                              <a:cs typeface="Times New Roman"/>
                                            </a:rPr>
                                          </m:ctrlPr>
                                        </m:fPr>
                                        <m:num>
                                          <m:r>
                                            <a:rPr lang="en-US" sz="1400" i="1">
                                              <a:solidFill>
                                                <a:prstClr val="black"/>
                                              </a:solidFill>
                                              <a:latin typeface="Times New Roman" panose="02040503050406030204" pitchFamily="18" charset="0"/>
                                              <a:ea typeface="SimSun"/>
                                              <a:cs typeface="Times New Roman"/>
                                            </a:rPr>
                                            <m:t>𝜃</m:t>
                                          </m:r>
                                        </m:num>
                                        <m:den>
                                          <m:r>
                                            <a:rPr lang="en-US" sz="1400">
                                              <a:solidFill>
                                                <a:prstClr val="black"/>
                                              </a:solidFill>
                                              <a:latin typeface="Times New Roman" panose="02040503050406030204" pitchFamily="18" charset="0"/>
                                              <a:ea typeface="SimSun"/>
                                              <a:cs typeface="Times New Roman"/>
                                            </a:rPr>
                                            <m:t>2</m:t>
                                          </m:r>
                                        </m:den>
                                      </m:f>
                                    </m:e>
                                  </m:func>
                                </m:e>
                              </m:d>
                            </m:e>
                            <m:sup>
                              <m:r>
                                <a:rPr lang="en-US" sz="1400">
                                  <a:solidFill>
                                    <a:prstClr val="black"/>
                                  </a:solidFill>
                                  <a:latin typeface="Times New Roman" panose="02040503050406030204" pitchFamily="18" charset="0"/>
                                  <a:ea typeface="SimSun"/>
                                  <a:cs typeface="Times New Roman"/>
                                </a:rPr>
                                <m:t>2</m:t>
                              </m:r>
                            </m:sup>
                          </m:sSup>
                        </m:e>
                      </m:eqArr>
                    </m:oMath>
                  </m:oMathPara>
                </a14:m>
                <a:endParaRPr lang="en-HK" sz="1400" dirty="0">
                  <a:solidFill>
                    <a:prstClr val="black"/>
                  </a:solidFill>
                  <a:latin typeface="Times New Roman" panose="020F0502020204030204"/>
                  <a:ea typeface="SimSun"/>
                  <a:cs typeface="Times New Roman"/>
                </a:endParaRPr>
              </a:p>
              <a:p>
                <a:pPr defTabSz="457200" eaLnBrk="1" fontAlgn="auto" hangingPunct="1">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𝑥</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𝑥</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𝑎</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m:t>
                          </m:r>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𝑦</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𝑦</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𝑏</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=1</m:t>
                          </m:r>
                        </m:e>
                      </m:eqArr>
                    </m:oMath>
                  </m:oMathPara>
                </a14:m>
                <a:endParaRPr lang="en-HK" altLang="zh-CN" sz="1400" dirty="0">
                  <a:solidFill>
                    <a:prstClr val="black"/>
                  </a:solidFill>
                  <a:latin typeface="Times New Roman" panose="020B0604020202020204" pitchFamily="34" charset="0"/>
                  <a:ea typeface="SimSun" panose="02010600030101010101" pitchFamily="2" charset="-122"/>
                  <a:cs typeface="Times New Roman" panose="020B0604020202020204" pitchFamily="34" charset="0"/>
                </a:endParaRPr>
              </a:p>
            </p:txBody>
          </p:sp>
        </mc:Choice>
        <mc:Fallback xmlns="">
          <p:sp>
            <p:nvSpPr>
              <p:cNvPr id="2" name="矩形 1">
                <a:extLst>
                  <a:ext uri="{FF2B5EF4-FFF2-40B4-BE49-F238E27FC236}">
                    <a16:creationId xmlns:a16="http://schemas.microsoft.com/office/drawing/2014/main" id="{3F1180BE-ECF2-4826-AE0C-151653CEE077}"/>
                  </a:ext>
                </a:extLst>
              </p:cNvPr>
              <p:cNvSpPr>
                <a:spLocks noRot="1" noChangeAspect="1" noMove="1" noResize="1" noEditPoints="1" noAdjustHandles="1" noChangeArrowheads="1" noChangeShapeType="1" noTextEdit="1"/>
              </p:cNvSpPr>
              <p:nvPr/>
            </p:nvSpPr>
            <p:spPr>
              <a:xfrm>
                <a:off x="386739" y="1325869"/>
                <a:ext cx="3702307" cy="1328120"/>
              </a:xfrm>
              <a:prstGeom prst="rect">
                <a:avLst/>
              </a:prstGeom>
              <a:blipFill>
                <a:blip r:embed="rId6"/>
                <a:stretch>
                  <a:fillRect l="-658" t="-2294"/>
                </a:stretch>
              </a:blipFill>
            </p:spPr>
            <p:txBody>
              <a:bodyPr/>
              <a:lstStyle/>
              <a:p>
                <a:r>
                  <a:rPr lang="en-US">
                    <a:noFill/>
                    <a:latin typeface="Times New Roman"/>
                    <a:ea typeface="SimSun"/>
                    <a:cs typeface="Times New Roman"/>
                  </a:rPr>
                  <a:t> </a:t>
                </a:r>
              </a:p>
            </p:txBody>
          </p:sp>
        </mc:Fallback>
      </mc:AlternateContent>
      <p:sp>
        <p:nvSpPr>
          <p:cNvPr id="3" name="矩形 2">
            <a:extLst>
              <a:ext uri="{FF2B5EF4-FFF2-40B4-BE49-F238E27FC236}">
                <a16:creationId xmlns:a16="http://schemas.microsoft.com/office/drawing/2014/main" id="{75BA3A70-0BD7-421C-A684-35C6EABF3E1B}"/>
              </a:ext>
            </a:extLst>
          </p:cNvPr>
          <p:cNvSpPr/>
          <p:nvPr/>
        </p:nvSpPr>
        <p:spPr>
          <a:xfrm>
            <a:off x="386739" y="4979133"/>
            <a:ext cx="3655873"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Volume flux of spray surface area:</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8E42BD7-6979-4C2C-A4DC-8263F33608C9}"/>
                  </a:ext>
                </a:extLst>
              </p:cNvPr>
              <p:cNvSpPr/>
              <p:nvPr/>
            </p:nvSpPr>
            <p:spPr>
              <a:xfrm>
                <a:off x="1199044" y="5331534"/>
                <a:ext cx="2520562"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a:cs typeface="Times New Roman"/>
                            </a:rPr>
                          </m:ctrlPr>
                        </m:eqArrPr>
                        <m:e>
                          <m:r>
                            <a:rPr lang="en-HK" sz="1200">
                              <a:solidFill>
                                <a:prstClr val="black"/>
                              </a:solidFill>
                              <a:latin typeface="Times New Roman" panose="02040503050406030204" pitchFamily="18" charset="0"/>
                              <a:ea typeface="SimSun"/>
                              <a:cs typeface="Times New Roman"/>
                            </a:rPr>
                            <m:t>&amp;</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2</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𝑐𝑜𝑠</m:t>
                          </m:r>
                          <m:r>
                            <a:rPr lang="en-HK" sz="1200" i="1">
                              <a:solidFill>
                                <a:prstClr val="black"/>
                              </a:solidFill>
                              <a:latin typeface="Times New Roman" panose="02040503050406030204" pitchFamily="18" charset="0"/>
                              <a:ea typeface="SimSun"/>
                              <a:cs typeface="Times New Roman"/>
                            </a:rPr>
                            <m:t>𝛼</m:t>
                          </m:r>
                          <m:r>
                            <a:rPr lang="en-HK" sz="1200">
                              <a:solidFill>
                                <a:prstClr val="black"/>
                              </a:solidFill>
                              <a:latin typeface="Times New Roman" panose="02040503050406030204" pitchFamily="18" charset="0"/>
                              <a:ea typeface="SimSun"/>
                              <a:cs typeface="Times New Roman"/>
                            </a:rPr>
                            <m:t>#</m:t>
                          </m:r>
                        </m:e>
                      </m:eqArr>
                    </m:oMath>
                  </m:oMathPara>
                </a14:m>
                <a:endParaRPr lang="en-HK" sz="1200" dirty="0">
                  <a:solidFill>
                    <a:prstClr val="black"/>
                  </a:solidFill>
                  <a:latin typeface="Times New Roman" panose="020F0502020204030204"/>
                  <a:ea typeface="SimSun"/>
                  <a:cs typeface="Times New Roman"/>
                </a:endParaRPr>
              </a:p>
            </p:txBody>
          </p:sp>
        </mc:Choice>
        <mc:Fallback xmlns="">
          <p:sp>
            <p:nvSpPr>
              <p:cNvPr id="4" name="矩形 3">
                <a:extLst>
                  <a:ext uri="{FF2B5EF4-FFF2-40B4-BE49-F238E27FC236}">
                    <a16:creationId xmlns:a16="http://schemas.microsoft.com/office/drawing/2014/main" id="{28E42BD7-6979-4C2C-A4DC-8263F33608C9}"/>
                  </a:ext>
                </a:extLst>
              </p:cNvPr>
              <p:cNvSpPr>
                <a:spLocks noRot="1" noChangeAspect="1" noMove="1" noResize="1" noEditPoints="1" noAdjustHandles="1" noChangeArrowheads="1" noChangeShapeType="1" noTextEdit="1"/>
              </p:cNvSpPr>
              <p:nvPr/>
            </p:nvSpPr>
            <p:spPr>
              <a:xfrm>
                <a:off x="1199044" y="5331534"/>
                <a:ext cx="2520562" cy="621773"/>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BB0DF55-EC34-4F6B-86C1-EF2AF1F7BCB1}"/>
                  </a:ext>
                </a:extLst>
              </p:cNvPr>
              <p:cNvSpPr/>
              <p:nvPr/>
            </p:nvSpPr>
            <p:spPr>
              <a:xfrm>
                <a:off x="962499" y="5995519"/>
                <a:ext cx="3147144"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200" i="1">
                          <a:solidFill>
                            <a:prstClr val="black"/>
                          </a:solidFill>
                          <a:latin typeface="Times New Roman" panose="02040503050406030204" pitchFamily="18" charset="0"/>
                          <a:ea typeface="SimSun"/>
                          <a:cs typeface="Times New Roman"/>
                        </a:rPr>
                        <m:t>𝑑𝑄</m:t>
                      </m:r>
                      <m:r>
                        <a:rPr lang="en-HK" sz="1200">
                          <a:solidFill>
                            <a:prstClr val="black"/>
                          </a:solidFill>
                          <a:latin typeface="Times New Roman" panose="02040503050406030204" pitchFamily="18" charset="0"/>
                          <a:ea typeface="SimSun"/>
                          <a:cs typeface="Times New Roman"/>
                        </a:rPr>
                        <m:t>=</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i="1">
                          <a:solidFill>
                            <a:prstClr val="black"/>
                          </a:solidFill>
                          <a:latin typeface="Times New Roman" panose="02040503050406030204" pitchFamily="18" charset="0"/>
                          <a:ea typeface="SimSun"/>
                          <a:cs typeface="Times New Roman"/>
                        </a:rPr>
                        <m:t>𝑑𝑥𝑑𝑦</m:t>
                      </m:r>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𝐻</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3</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i="1">
                          <a:solidFill>
                            <a:prstClr val="black"/>
                          </a:solidFill>
                          <a:latin typeface="Times New Roman" panose="02040503050406030204" pitchFamily="18" charset="0"/>
                          <a:ea typeface="SimSun"/>
                          <a:cs typeface="Times New Roman"/>
                        </a:rPr>
                        <m:t>𝑑𝑥𝑑𝑦</m:t>
                      </m:r>
                    </m:oMath>
                  </m:oMathPara>
                </a14:m>
                <a:endParaRPr lang="en-HK" sz="12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BBB0DF55-EC34-4F6B-86C1-EF2AF1F7BCB1}"/>
                  </a:ext>
                </a:extLst>
              </p:cNvPr>
              <p:cNvSpPr>
                <a:spLocks noRot="1" noChangeAspect="1" noMove="1" noResize="1" noEditPoints="1" noAdjustHandles="1" noChangeArrowheads="1" noChangeShapeType="1" noTextEdit="1"/>
              </p:cNvSpPr>
              <p:nvPr/>
            </p:nvSpPr>
            <p:spPr>
              <a:xfrm>
                <a:off x="962499" y="5995519"/>
                <a:ext cx="3147144" cy="621773"/>
              </a:xfrm>
              <a:prstGeom prst="rect">
                <a:avLst/>
              </a:prstGeom>
              <a:blipFill>
                <a:blip r:embed="rId8"/>
                <a:stretch>
                  <a:fillRect/>
                </a:stretch>
              </a:blipFill>
            </p:spPr>
            <p:txBody>
              <a:bodyPr/>
              <a:lstStyle/>
              <a:p>
                <a:r>
                  <a:rPr lang="en-US">
                    <a:noFill/>
                    <a:latin typeface="Times New Roman"/>
                    <a:ea typeface="SimSun"/>
                    <a:cs typeface="Times New Roman"/>
                  </a:rPr>
                  <a:t> </a:t>
                </a:r>
              </a:p>
            </p:txBody>
          </p:sp>
        </mc:Fallback>
      </mc:AlternateContent>
      <p:sp>
        <p:nvSpPr>
          <p:cNvPr id="6" name="矩形 5">
            <a:extLst>
              <a:ext uri="{FF2B5EF4-FFF2-40B4-BE49-F238E27FC236}">
                <a16:creationId xmlns:a16="http://schemas.microsoft.com/office/drawing/2014/main" id="{D81325FD-6598-416B-A911-A27A5BFE0A26}"/>
              </a:ext>
            </a:extLst>
          </p:cNvPr>
          <p:cNvSpPr/>
          <p:nvPr/>
        </p:nvSpPr>
        <p:spPr>
          <a:xfrm>
            <a:off x="388929" y="2694872"/>
            <a:ext cx="3095719"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Imaginary spherical surface</a:t>
            </a:r>
            <a:r>
              <a:rPr lang="en-HK" sz="1600" dirty="0">
                <a:solidFill>
                  <a:prstClr val="black"/>
                </a:solidFill>
                <a:latin typeface="Times New Roman" panose="02020603050405020304" pitchFamily="18" charset="0"/>
                <a:ea typeface="SimSun"/>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ACE45A-EBFE-4DE9-B77A-056DA9265416}"/>
                  </a:ext>
                </a:extLst>
              </p:cNvPr>
              <p:cNvSpPr/>
              <p:nvPr/>
            </p:nvSpPr>
            <p:spPr>
              <a:xfrm>
                <a:off x="1199044" y="3059368"/>
                <a:ext cx="1750800" cy="353238"/>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400" i="1">
                          <a:solidFill>
                            <a:prstClr val="black"/>
                          </a:solidFill>
                          <a:latin typeface="Times New Roman" panose="02040503050406030204" pitchFamily="18" charset="0"/>
                          <a:ea typeface="SimSun"/>
                          <a:cs typeface="Times New Roman"/>
                        </a:rPr>
                        <m:t>𝑅</m:t>
                      </m:r>
                      <m:r>
                        <a:rPr lang="en-HK" sz="1400">
                          <a:solidFill>
                            <a:prstClr val="black"/>
                          </a:solidFill>
                          <a:latin typeface="Times New Roman" panose="02040503050406030204" pitchFamily="18" charset="0"/>
                          <a:ea typeface="SimSun"/>
                          <a:cs typeface="Times New Roman"/>
                        </a:rPr>
                        <m:t>=</m:t>
                      </m:r>
                      <m:rad>
                        <m:radPr>
                          <m:degHide m:val="on"/>
                          <m:ctrlPr>
                            <a:rPr lang="en-HK" sz="1400" i="1">
                              <a:solidFill>
                                <a:prstClr val="black"/>
                              </a:solidFill>
                              <a:latin typeface="Times New Roman" panose="02040503050406030204" pitchFamily="18" charset="0"/>
                              <a:ea typeface="SimSun"/>
                              <a:cs typeface="Times New Roman"/>
                            </a:rPr>
                          </m:ctrlPr>
                        </m:radPr>
                        <m:deg/>
                        <m:e>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𝑥</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𝑦</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𝐻</m:t>
                              </m:r>
                            </m:e>
                            <m:sup>
                              <m:r>
                                <a:rPr lang="en-HK" sz="1400">
                                  <a:solidFill>
                                    <a:prstClr val="black"/>
                                  </a:solidFill>
                                  <a:latin typeface="Times New Roman" panose="02040503050406030204" pitchFamily="18" charset="0"/>
                                  <a:ea typeface="SimSun"/>
                                  <a:cs typeface="Times New Roman"/>
                                </a:rPr>
                                <m:t>2</m:t>
                              </m:r>
                            </m:sup>
                          </m:sSup>
                        </m:e>
                      </m:rad>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EFACE45A-EBFE-4DE9-B77A-056DA9265416}"/>
                  </a:ext>
                </a:extLst>
              </p:cNvPr>
              <p:cNvSpPr>
                <a:spLocks noRot="1" noChangeAspect="1" noMove="1" noResize="1" noEditPoints="1" noAdjustHandles="1" noChangeArrowheads="1" noChangeShapeType="1" noTextEdit="1"/>
              </p:cNvSpPr>
              <p:nvPr/>
            </p:nvSpPr>
            <p:spPr>
              <a:xfrm>
                <a:off x="1199044" y="3059368"/>
                <a:ext cx="1750800" cy="353238"/>
              </a:xfrm>
              <a:prstGeom prst="rect">
                <a:avLst/>
              </a:prstGeom>
              <a:blipFill>
                <a:blip r:embed="rId9"/>
                <a:stretch>
                  <a:fillRect b="-1724"/>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5313A41-88CC-4CA8-A22A-534DE7410CD8}"/>
                  </a:ext>
                </a:extLst>
              </p:cNvPr>
              <p:cNvSpPr/>
              <p:nvPr/>
            </p:nvSpPr>
            <p:spPr>
              <a:xfrm>
                <a:off x="-865966" y="3375394"/>
                <a:ext cx="6096000" cy="1481046"/>
              </a:xfrm>
              <a:prstGeom prst="rect">
                <a:avLst/>
              </a:prstGeom>
            </p:spPr>
            <p:txBody>
              <a:bodyPr>
                <a:spAutoFit/>
              </a:bodyPr>
              <a:lstStyle/>
              <a:p>
                <a:pPr algn="ctr">
                  <a:spcAft>
                    <a:spcPts val="0"/>
                  </a:spcAft>
                </a:pPr>
                <a14:m>
                  <m:oMathPara xmlns:m="http://schemas.openxmlformats.org/officeDocument/2006/math">
                    <m:oMath>
                      <m:r>
                        <a:rPr lang="en-US" sz="1400" i="1">
                          <a:latin typeface="Times New Roman" panose="02040503050406030204" pitchFamily="18" charset="0"/>
                          <a:ea typeface="SimSun" panose="02010600030101010101" pitchFamily="2" charset="-122"/>
                          <a:cs typeface="Times New Roman" panose="02020603050405020304" pitchFamily="18" charset="0"/>
                        </a:rPr>
                        <m:t> </m:t>
                      </m:r>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𝐻</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𝑅</m:t>
                          </m:r>
                        </m:den>
                      </m:f>
                      <m:r>
                        <a:rPr lang="en-US" sz="1400" i="1">
                          <a:latin typeface="Times New Roman" panose="02040503050406030204" pitchFamily="18" charset="0"/>
                          <a:ea typeface="SimSun" panose="02010600030101010101" pitchFamily="2" charset="-122"/>
                          <a:cs typeface="Times New Roman" panose="02020603050405020304" pitchFamily="18" charset="0"/>
                        </a:rPr>
                        <m:t>  </m:t>
                      </m:r>
                    </m:oMath>
                  </m:oMathPara>
                </a14:m>
                <a:endParaRPr lang="en-HK" sz="1400" i="1" dirty="0">
                  <a:latin typeface="Times New Roman" panose="02040503050406030204" pitchFamily="18" charset="0"/>
                  <a:ea typeface="SimSun" panose="02010600030101010101" pitchFamily="2" charset="-122"/>
                  <a:cs typeface="Times New Roman" panose="02020603050405020304" pitchFamily="18" charset="0"/>
                </a:endParaRPr>
              </a:p>
              <a:p>
                <a:pPr algn="ctr">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𝑑𝐴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𝑠𝑖𝑛</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𝑑</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panose="02020603050405020304" pitchFamily="18" charset="0"/>
                  <a:ea typeface="SimSun" panose="02010600030101010101" pitchFamily="2" charset="-122"/>
                  <a:cs typeface="Times New Roman" panose="02020603050405020304" pitchFamily="18" charset="0"/>
                </a:endParaRPr>
              </a:p>
              <a:p>
                <a:pPr algn="just">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latin typeface="Times New Roman" panose="02040503050406030204" pitchFamily="18" charset="0"/>
                                  <a:ea typeface="SimSun" panose="02010600030101010101" pitchFamily="2" charset="-122"/>
                                  <a:cs typeface="Times New Roman" panose="02020603050405020304" pitchFamily="18" charset="0"/>
                                </a:rPr>
                              </m:ctrlPr>
                            </m:fPr>
                            <m:num>
                              <m:d>
                                <m:dPr>
                                  <m:begChr m:val="["/>
                                  <m:endChr m:val="]"/>
                                  <m:ctrlPr>
                                    <a:rPr lang="en-US" sz="1400">
                                      <a:latin typeface="Times New Roman" panose="02040503050406030204" pitchFamily="18" charset="0"/>
                                      <a:ea typeface="SimSun" panose="02010600030101010101" pitchFamily="2" charset="-122"/>
                                      <a:cs typeface="Times New Roman" panose="02020603050405020304" pitchFamily="18" charset="0"/>
                                    </a:rPr>
                                  </m:ctrlPr>
                                </m:dPr>
                                <m:e>
                                  <m:r>
                                    <a:rPr lang="en-US" sz="1400">
                                      <a:latin typeface="Times New Roman" panose="02040503050406030204" pitchFamily="18" charset="0"/>
                                      <a:ea typeface="SimSun" panose="02010600030101010101" pitchFamily="2" charset="-122"/>
                                      <a:cs typeface="Times New Roman" panose="02020603050405020304" pitchFamily="18" charset="0"/>
                                    </a:rPr>
                                    <m:t>1</m:t>
                                  </m:r>
                                  <m:r>
                                    <a:rPr lang="en-US" sz="1400" i="1">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400">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400">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400" i="1">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𝜃</m:t>
                                              </m:r>
                                            </m:num>
                                            <m:den>
                                              <m:r>
                                                <a:rPr lang="en-US" sz="1400">
                                                  <a:latin typeface="Times New Roman" panose="02040503050406030204" pitchFamily="18" charset="0"/>
                                                  <a:ea typeface="SimSun" panose="02010600030101010101" pitchFamily="2" charset="-122"/>
                                                  <a:cs typeface="Times New Roman" panose="02020603050405020304" pitchFamily="18" charset="0"/>
                                                </a:rPr>
                                                <m:t>2</m:t>
                                              </m:r>
                                            </m:den>
                                          </m:f>
                                        </m:e>
                                      </m:d>
                                    </m:e>
                                  </m:func>
                                </m:e>
                              </m:d>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a:ea typeface="SimSun"/>
                  <a:cs typeface="Times New Roman"/>
                </a:endParaRPr>
              </a:p>
            </p:txBody>
          </p:sp>
        </mc:Choice>
        <mc:Fallback xmlns="">
          <p:sp>
            <p:nvSpPr>
              <p:cNvPr id="8" name="矩形 7">
                <a:extLst>
                  <a:ext uri="{FF2B5EF4-FFF2-40B4-BE49-F238E27FC236}">
                    <a16:creationId xmlns:a16="http://schemas.microsoft.com/office/drawing/2014/main" id="{85313A41-88CC-4CA8-A22A-534DE7410CD8}"/>
                  </a:ext>
                </a:extLst>
              </p:cNvPr>
              <p:cNvSpPr>
                <a:spLocks noRot="1" noChangeAspect="1" noMove="1" noResize="1" noEditPoints="1" noAdjustHandles="1" noChangeArrowheads="1" noChangeShapeType="1" noTextEdit="1"/>
              </p:cNvSpPr>
              <p:nvPr/>
            </p:nvSpPr>
            <p:spPr>
              <a:xfrm>
                <a:off x="-865966" y="3375394"/>
                <a:ext cx="6096000" cy="1481046"/>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67F9244A-EAB9-4A7B-8F26-6F4AB0F29C64}"/>
              </a:ext>
            </a:extLst>
          </p:cNvPr>
          <p:cNvSpPr/>
          <p:nvPr/>
        </p:nvSpPr>
        <p:spPr>
          <a:xfrm>
            <a:off x="4086518" y="3492981"/>
            <a:ext cx="2345514"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Grid independence: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11" name="矩形 10">
            <a:extLst>
              <a:ext uri="{FF2B5EF4-FFF2-40B4-BE49-F238E27FC236}">
                <a16:creationId xmlns:a16="http://schemas.microsoft.com/office/drawing/2014/main" id="{8CA7E5A9-851F-479C-BBB2-B769415132CD}"/>
              </a:ext>
            </a:extLst>
          </p:cNvPr>
          <p:cNvSpPr/>
          <p:nvPr/>
        </p:nvSpPr>
        <p:spPr>
          <a:xfrm>
            <a:off x="4078136" y="1078708"/>
            <a:ext cx="3258264"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Differential element division: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pic>
        <p:nvPicPr>
          <p:cNvPr id="12" name="图片 11">
            <a:extLst>
              <a:ext uri="{FF2B5EF4-FFF2-40B4-BE49-F238E27FC236}">
                <a16:creationId xmlns:a16="http://schemas.microsoft.com/office/drawing/2014/main" id="{4BE7B695-C333-499B-BAF4-1000334E1CE5}"/>
              </a:ext>
            </a:extLst>
          </p:cNvPr>
          <p:cNvPicPr/>
          <p:nvPr/>
        </p:nvPicPr>
        <p:blipFill>
          <a:blip r:embed="rId11">
            <a:extLst>
              <a:ext uri="{28A0092B-C50C-407E-A947-70E740481C1C}">
                <a14:useLocalDpi xmlns:a14="http://schemas.microsoft.com/office/drawing/2010/main" val="0"/>
              </a:ext>
            </a:extLst>
          </a:blip>
          <a:stretch>
            <a:fillRect/>
          </a:stretch>
        </p:blipFill>
        <p:spPr>
          <a:xfrm>
            <a:off x="5506114" y="1350283"/>
            <a:ext cx="2484273" cy="1319282"/>
          </a:xfrm>
          <a:prstGeom prst="rect">
            <a:avLst/>
          </a:prstGeom>
        </p:spPr>
      </p:pic>
      <p:pic>
        <p:nvPicPr>
          <p:cNvPr id="13" name="图片 12">
            <a:extLst>
              <a:ext uri="{FF2B5EF4-FFF2-40B4-BE49-F238E27FC236}">
                <a16:creationId xmlns:a16="http://schemas.microsoft.com/office/drawing/2014/main" id="{D7C7AB55-A93B-47FB-96A7-966DC1534839}"/>
              </a:ext>
            </a:extLst>
          </p:cNvPr>
          <p:cNvPicPr/>
          <p:nvPr/>
        </p:nvPicPr>
        <p:blipFill>
          <a:blip r:embed="rId12">
            <a:extLst>
              <a:ext uri="{28A0092B-C50C-407E-A947-70E740481C1C}">
                <a14:useLocalDpi xmlns:a14="http://schemas.microsoft.com/office/drawing/2010/main" val="0"/>
              </a:ext>
            </a:extLst>
          </a:blip>
          <a:stretch>
            <a:fillRect/>
          </a:stretch>
        </p:blipFill>
        <p:spPr>
          <a:xfrm>
            <a:off x="4268032" y="1681647"/>
            <a:ext cx="1238082" cy="1002334"/>
          </a:xfrm>
          <a:prstGeom prst="rect">
            <a:avLst/>
          </a:prstGeom>
        </p:spPr>
      </p:pic>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0A8CD6AA-A02A-4168-AD8E-381AA197D84E}"/>
                  </a:ext>
                </a:extLst>
              </p:cNvPr>
              <p:cNvSpPr/>
              <p:nvPr/>
            </p:nvSpPr>
            <p:spPr>
              <a:xfrm>
                <a:off x="2992149" y="2789469"/>
                <a:ext cx="6096000" cy="642805"/>
              </a:xfrm>
              <a:prstGeom prst="rect">
                <a:avLst/>
              </a:prstGeom>
            </p:spPr>
            <p:txBody>
              <a:bodyPr>
                <a:spAutoFit/>
              </a:bodyPr>
              <a:lstStyle/>
              <a:p>
                <a:pPr algn="just" defTabSz="457200" eaLnBrk="1" fontAlgn="auto">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eqArrPr>
                        <m:e>
                          <m:sSub>
                            <m:sSub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e>
                            <m:sub>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𝑗</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ub>
                          </m:sSub>
                          <m:r>
                            <m:rPr>
                              <m:brk/>
                            </m:r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num>
                                    <m:den>
                                      <m:sSup>
                                        <m:sSup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𝜋</m:t>
                                          </m:r>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ad>
                                                <m:radPr>
                                                  <m:degHide m:val="on"/>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radPr>
                                                <m:deg/>
                                                <m:e>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e>
                                              </m:rad>
                                            </m:e>
                                          </m:d>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d>
                                        <m:dPr>
                                          <m:begChr m:val="["/>
                                          <m:endChr m:val="]"/>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𝜃</m:t>
                                                      </m:r>
                                                    </m:num>
                                                    <m:den>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den>
                                                  </m:f>
                                                </m:e>
                                              </m:d>
                                            </m:e>
                                          </m:func>
                                        </m:e>
                                      </m:d>
                                    </m:den>
                                  </m:f>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𝑑𝑥𝑑𝑦</m:t>
                                  </m:r>
                                </m:e>
                              </m:nary>
                            </m:e>
                          </m:nary>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0A8CD6AA-A02A-4168-AD8E-381AA197D84E}"/>
                  </a:ext>
                </a:extLst>
              </p:cNvPr>
              <p:cNvSpPr>
                <a:spLocks noRot="1" noChangeAspect="1" noMove="1" noResize="1" noEditPoints="1" noAdjustHandles="1" noChangeArrowheads="1" noChangeShapeType="1" noTextEdit="1"/>
              </p:cNvSpPr>
              <p:nvPr/>
            </p:nvSpPr>
            <p:spPr>
              <a:xfrm>
                <a:off x="2992149" y="2789469"/>
                <a:ext cx="6096000" cy="642805"/>
              </a:xfrm>
              <a:prstGeom prst="rect">
                <a:avLst/>
              </a:prstGeom>
              <a:blipFill>
                <a:blip r:embed="rId13"/>
                <a:stretch>
                  <a:fillRect/>
                </a:stretch>
              </a:blipFill>
            </p:spPr>
            <p:txBody>
              <a:bodyPr/>
              <a:lstStyle/>
              <a:p>
                <a:r>
                  <a:rPr lang="en-US">
                    <a:noFill/>
                    <a:latin typeface="Times New Roman"/>
                    <a:ea typeface="SimSun"/>
                    <a:cs typeface="Times New Roman"/>
                  </a:rPr>
                  <a:t> </a:t>
                </a:r>
              </a:p>
            </p:txBody>
          </p:sp>
        </mc:Fallback>
      </mc:AlternateContent>
      <p:sp>
        <p:nvSpPr>
          <p:cNvPr id="15" name="矩形 14">
            <a:extLst>
              <a:ext uri="{FF2B5EF4-FFF2-40B4-BE49-F238E27FC236}">
                <a16:creationId xmlns:a16="http://schemas.microsoft.com/office/drawing/2014/main" id="{B3DAD248-BB63-410B-93D2-EEE45B7FED29}"/>
              </a:ext>
            </a:extLst>
          </p:cNvPr>
          <p:cNvSpPr/>
          <p:nvPr/>
        </p:nvSpPr>
        <p:spPr>
          <a:xfrm>
            <a:off x="4772172" y="6558683"/>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Fig.3.2.1 </a:t>
            </a:r>
            <a:r>
              <a:rPr lang="en-HK" sz="1200" dirty="0">
                <a:latin typeface="Times New Roman" panose="02020603050405020304" pitchFamily="18" charset="0"/>
                <a:ea typeface="SimSun"/>
                <a:cs typeface="Times New Roman" panose="02020603050405020304" pitchFamily="18" charset="0"/>
              </a:rPr>
              <a:t>Proof of grid independence</a:t>
            </a:r>
          </a:p>
        </p:txBody>
      </p:sp>
      <p:sp>
        <p:nvSpPr>
          <p:cNvPr id="16" name="灯片编号占位符 15">
            <a:extLst>
              <a:ext uri="{FF2B5EF4-FFF2-40B4-BE49-F238E27FC236}">
                <a16:creationId xmlns:a16="http://schemas.microsoft.com/office/drawing/2014/main" id="{7C0267CB-089B-4557-984A-DB1AE2D8570C}"/>
              </a:ext>
            </a:extLst>
          </p:cNvPr>
          <p:cNvSpPr>
            <a:spLocks noGrp="1"/>
          </p:cNvSpPr>
          <p:nvPr>
            <p:ph type="sldNum" sz="quarter" idx="12"/>
          </p:nvPr>
        </p:nvSpPr>
        <p:spPr>
          <a:xfrm>
            <a:off x="9264711" y="648754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17</a:t>
            </a:fld>
            <a:endParaRPr lang="en-US" altLang="zh-CN">
              <a:latin typeface="Times New Roman"/>
              <a:ea typeface="SimSun"/>
              <a:cs typeface="Times New Roman"/>
            </a:endParaRPr>
          </a:p>
        </p:txBody>
      </p:sp>
      <p:pic>
        <p:nvPicPr>
          <p:cNvPr id="20" name="图片 19">
            <a:extLst>
              <a:ext uri="{FF2B5EF4-FFF2-40B4-BE49-F238E27FC236}">
                <a16:creationId xmlns:a16="http://schemas.microsoft.com/office/drawing/2014/main" id="{C3A47AC5-2B11-4EBD-B925-F22AAE0E552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84469" y="1688619"/>
            <a:ext cx="3342867" cy="4046213"/>
          </a:xfrm>
          <a:prstGeom prst="rect">
            <a:avLst/>
          </a:prstGeom>
        </p:spPr>
      </p:pic>
      <p:sp>
        <p:nvSpPr>
          <p:cNvPr id="22" name="矩形 21">
            <a:extLst>
              <a:ext uri="{FF2B5EF4-FFF2-40B4-BE49-F238E27FC236}">
                <a16:creationId xmlns:a16="http://schemas.microsoft.com/office/drawing/2014/main" id="{B78B787F-784D-4CAD-8D60-2CE3AA6748E4}"/>
              </a:ext>
            </a:extLst>
          </p:cNvPr>
          <p:cNvSpPr/>
          <p:nvPr/>
        </p:nvSpPr>
        <p:spPr>
          <a:xfrm>
            <a:off x="8113865" y="1201401"/>
            <a:ext cx="3518977"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Simulation process (MATLAB)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23" name="矩形 22">
            <a:extLst>
              <a:ext uri="{FF2B5EF4-FFF2-40B4-BE49-F238E27FC236}">
                <a16:creationId xmlns:a16="http://schemas.microsoft.com/office/drawing/2014/main" id="{D37DC1B0-6F53-4232-A698-3439F87647A9}"/>
              </a:ext>
            </a:extLst>
          </p:cNvPr>
          <p:cNvSpPr/>
          <p:nvPr/>
        </p:nvSpPr>
        <p:spPr>
          <a:xfrm>
            <a:off x="8528343" y="5796757"/>
            <a:ext cx="3055118" cy="461665"/>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3.2.2 </a:t>
            </a:r>
            <a:r>
              <a:rPr lang="en-HK" sz="1200" dirty="0">
                <a:latin typeface="Times New Roman" panose="02020603050405020304" pitchFamily="18" charset="0"/>
                <a:ea typeface="SimSun"/>
                <a:cs typeface="Times New Roman" panose="02020603050405020304" pitchFamily="18" charset="0"/>
              </a:rPr>
              <a:t>Flow chart of simulation procedure</a:t>
            </a:r>
          </a:p>
          <a:p>
            <a:endParaRPr lang="en-HK" sz="1200" dirty="0">
              <a:latin typeface="Times New Roman" panose="020B0604020202020204" pitchFamily="34" charset="0"/>
              <a:ea typeface="SimSun"/>
              <a:cs typeface="Times New Roman" panose="020B0604020202020204" pitchFamily="34" charset="0"/>
            </a:endParaRPr>
          </a:p>
        </p:txBody>
      </p:sp>
      <p:sp>
        <p:nvSpPr>
          <p:cNvPr id="2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模型方程</a:t>
            </a:r>
          </a:p>
        </p:txBody>
      </p:sp>
      <p:sp>
        <p:nvSpPr>
          <p:cNvPr id="3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3.2 Model equations</a:t>
            </a:r>
          </a:p>
        </p:txBody>
      </p:sp>
      <p:sp>
        <p:nvSpPr>
          <p:cNvPr id="3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a:t>
            </a:r>
          </a:p>
        </p:txBody>
      </p:sp>
      <p:cxnSp>
        <p:nvCxnSpPr>
          <p:cNvPr id="3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54287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 name="对象 15">
            <a:extLst>
              <a:ext uri="{FF2B5EF4-FFF2-40B4-BE49-F238E27FC236}">
                <a16:creationId xmlns:a16="http://schemas.microsoft.com/office/drawing/2014/main" id="{E385AD6F-9D60-417F-AB5C-D745CFB401EA}"/>
              </a:ext>
            </a:extLst>
          </p:cNvPr>
          <p:cNvGraphicFramePr>
            <a:graphicFrameLocks noChangeAspect="1"/>
          </p:cNvGraphicFramePr>
          <p:nvPr>
            <p:extLst>
              <p:ext uri="{D42A27DB-BD31-4B8C-83A1-F6EECF244321}">
                <p14:modId xmlns:p14="http://schemas.microsoft.com/office/powerpoint/2010/main" val="3567545382"/>
              </p:ext>
            </p:extLst>
          </p:nvPr>
        </p:nvGraphicFramePr>
        <p:xfrm>
          <a:off x="6885594" y="1474689"/>
          <a:ext cx="4178001" cy="3457538"/>
        </p:xfrm>
        <a:graphic>
          <a:graphicData uri="http://schemas.openxmlformats.org/presentationml/2006/ole">
            <mc:AlternateContent xmlns:mc="http://schemas.openxmlformats.org/markup-compatibility/2006">
              <mc:Choice xmlns:v="urn:schemas-microsoft-com:vml" Requires="v">
                <p:oleObj name="Graph" r:id="rId3" imgW="6384906" imgH="5282235" progId="Origin50.Graph">
                  <p:embed/>
                </p:oleObj>
              </mc:Choice>
              <mc:Fallback>
                <p:oleObj name="Graph" r:id="rId3" imgW="6384906" imgH="5282235"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5594" y="1474689"/>
                        <a:ext cx="4178001" cy="3457538"/>
                      </a:xfrm>
                      <a:prstGeom prst="rect">
                        <a:avLst/>
                      </a:prstGeom>
                      <a:noFill/>
                    </p:spPr>
                  </p:pic>
                </p:oleObj>
              </mc:Fallback>
            </mc:AlternateContent>
          </a:graphicData>
        </a:graphic>
      </p:graphicFrame>
      <p:pic>
        <p:nvPicPr>
          <p:cNvPr id="3" name="图片 2">
            <a:extLst>
              <a:ext uri="{FF2B5EF4-FFF2-40B4-BE49-F238E27FC236}">
                <a16:creationId xmlns:a16="http://schemas.microsoft.com/office/drawing/2014/main" id="{31066FB5-E48A-4263-927E-D4B5E2AEDF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640" y="3839344"/>
            <a:ext cx="4739982" cy="2520000"/>
          </a:xfrm>
          <a:prstGeom prst="rect">
            <a:avLst/>
          </a:prstGeom>
        </p:spPr>
      </p:pic>
      <p:sp>
        <p:nvSpPr>
          <p:cNvPr id="5" name="矩形 4">
            <a:extLst>
              <a:ext uri="{FF2B5EF4-FFF2-40B4-BE49-F238E27FC236}">
                <a16:creationId xmlns:a16="http://schemas.microsoft.com/office/drawing/2014/main" id="{CAF00261-34FA-4ECD-A573-3967B1E4F44B}"/>
              </a:ext>
            </a:extLst>
          </p:cNvPr>
          <p:cNvSpPr/>
          <p:nvPr/>
        </p:nvSpPr>
        <p:spPr>
          <a:xfrm>
            <a:off x="956177" y="1488750"/>
            <a:ext cx="157607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Condition: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76E1F98-FD43-4050-A1E8-D860DABC40CF}"/>
                  </a:ext>
                </a:extLst>
              </p:cNvPr>
              <p:cNvSpPr/>
              <p:nvPr/>
            </p:nvSpPr>
            <p:spPr>
              <a:xfrm>
                <a:off x="1288203" y="1842686"/>
                <a:ext cx="5826584" cy="1785104"/>
              </a:xfrm>
              <a:prstGeom prst="rect">
                <a:avLst/>
              </a:prstGeom>
            </p:spPr>
            <p:txBody>
              <a:bodyPr wrap="square">
                <a:spAutoFit/>
              </a:bodyPr>
              <a:lstStyle/>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Q=220 L/h,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Spray cone angle 45°,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Nozzle height 330 mm without inclined angle,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number is 10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10,</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size is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60mm.</a:t>
                </a:r>
              </a:p>
            </p:txBody>
          </p:sp>
        </mc:Choice>
        <mc:Fallback xmlns="">
          <p:sp>
            <p:nvSpPr>
              <p:cNvPr id="6" name="矩形 5">
                <a:extLst>
                  <a:ext uri="{FF2B5EF4-FFF2-40B4-BE49-F238E27FC236}">
                    <a16:creationId xmlns:a16="http://schemas.microsoft.com/office/drawing/2014/main" id="{176E1F98-FD43-4050-A1E8-D860DABC40CF}"/>
                  </a:ext>
                </a:extLst>
              </p:cNvPr>
              <p:cNvSpPr>
                <a:spLocks noRot="1" noChangeAspect="1" noMove="1" noResize="1" noEditPoints="1" noAdjustHandles="1" noChangeArrowheads="1" noChangeShapeType="1" noTextEdit="1"/>
              </p:cNvSpPr>
              <p:nvPr/>
            </p:nvSpPr>
            <p:spPr>
              <a:xfrm>
                <a:off x="1288203" y="1842686"/>
                <a:ext cx="5826584" cy="1785104"/>
              </a:xfrm>
              <a:prstGeom prst="rect">
                <a:avLst/>
              </a:prstGeom>
              <a:blipFill>
                <a:blip r:embed="rId7"/>
                <a:stretch>
                  <a:fillRect l="-837" t="-1706" b="-4437"/>
                </a:stretch>
              </a:blipFill>
            </p:spPr>
            <p:txBody>
              <a:bodyPr/>
              <a:lstStyle/>
              <a:p>
                <a:r>
                  <a:rPr lang="en-US">
                    <a:noFill/>
                    <a:latin typeface="Times New Roman"/>
                    <a:ea typeface="SimSun"/>
                    <a:cs typeface="Times New Roman"/>
                  </a:rPr>
                  <a:t> </a:t>
                </a:r>
              </a:p>
            </p:txBody>
          </p:sp>
        </mc:Fallback>
      </mc:AlternateContent>
      <p:sp>
        <p:nvSpPr>
          <p:cNvPr id="7" name="矩形 6">
            <a:extLst>
              <a:ext uri="{FF2B5EF4-FFF2-40B4-BE49-F238E27FC236}">
                <a16:creationId xmlns:a16="http://schemas.microsoft.com/office/drawing/2014/main" id="{1D6E575A-1BAA-495C-9A4F-C625BE84BAF2}"/>
              </a:ext>
            </a:extLst>
          </p:cNvPr>
          <p:cNvSpPr/>
          <p:nvPr/>
        </p:nvSpPr>
        <p:spPr>
          <a:xfrm>
            <a:off x="6764988" y="1191432"/>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8" name="矩形 7">
            <a:extLst>
              <a:ext uri="{FF2B5EF4-FFF2-40B4-BE49-F238E27FC236}">
                <a16:creationId xmlns:a16="http://schemas.microsoft.com/office/drawing/2014/main" id="{F39F54A4-73F9-47DE-8A44-242E65CFCB32}"/>
              </a:ext>
            </a:extLst>
          </p:cNvPr>
          <p:cNvSpPr/>
          <p:nvPr/>
        </p:nvSpPr>
        <p:spPr>
          <a:xfrm>
            <a:off x="7005145" y="5391940"/>
            <a:ext cx="4607910" cy="400110"/>
          </a:xfrm>
          <a:prstGeom prst="rect">
            <a:avLst/>
          </a:prstGeom>
        </p:spPr>
        <p:txBody>
          <a:bodyPr wrap="square">
            <a:spAutoFit/>
          </a:bodyPr>
          <a:lstStyle/>
          <a:p>
            <a:pPr defTabSz="457200" eaLnBrk="1" fontAlgn="auto" hangingPunct="1">
              <a:spcBef>
                <a:spcPts val="0"/>
              </a:spcBef>
              <a:spcAft>
                <a:spcPts val="0"/>
              </a:spcAft>
            </a:pPr>
            <a:r>
              <a:rPr lang="en-US" sz="200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altLang="zh-CN" sz="200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a</a:t>
            </a:r>
            <a:r>
              <a:rPr lang="en-US" sz="200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cceptable.</a:t>
            </a:r>
            <a:r>
              <a:rPr lang="en-US" sz="200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endParaRPr lang="en-HK" sz="2000" b="1" i="1" dirty="0">
              <a:solidFill>
                <a:prstClr val="black"/>
              </a:solidFill>
              <a:latin typeface="Times New Roman" panose="02020603050405020304" pitchFamily="18" charset="0"/>
              <a:ea typeface="SimSun"/>
              <a:cs typeface="Times New Roman" panose="02020603050405020304" pitchFamily="18" charset="0"/>
            </a:endParaRPr>
          </a:p>
        </p:txBody>
      </p:sp>
      <p:sp>
        <p:nvSpPr>
          <p:cNvPr id="12" name="矩形 11">
            <a:extLst>
              <a:ext uri="{FF2B5EF4-FFF2-40B4-BE49-F238E27FC236}">
                <a16:creationId xmlns:a16="http://schemas.microsoft.com/office/drawing/2014/main" id="{432B8ECB-2DBF-4ECE-93FD-8ADC7D4825D6}"/>
              </a:ext>
            </a:extLst>
          </p:cNvPr>
          <p:cNvSpPr/>
          <p:nvPr/>
        </p:nvSpPr>
        <p:spPr>
          <a:xfrm>
            <a:off x="2732540" y="6293899"/>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3.3.1 </a:t>
            </a:r>
            <a:r>
              <a:rPr lang="en-HK" sz="1200" dirty="0">
                <a:solidFill>
                  <a:prstClr val="black"/>
                </a:solidFill>
                <a:latin typeface="Times New Roman" panose="02020603050405020304" pitchFamily="18" charset="0"/>
                <a:ea typeface="SimSun"/>
                <a:cs typeface="Times New Roman" panose="02020603050405020304" pitchFamily="18" charset="0"/>
              </a:rPr>
              <a:t>Experiment bench</a:t>
            </a:r>
          </a:p>
        </p:txBody>
      </p:sp>
      <p:sp>
        <p:nvSpPr>
          <p:cNvPr id="13" name="矩形 12">
            <a:extLst>
              <a:ext uri="{FF2B5EF4-FFF2-40B4-BE49-F238E27FC236}">
                <a16:creationId xmlns:a16="http://schemas.microsoft.com/office/drawing/2014/main" id="{3450D832-42A3-4396-AF51-9EEB6188644E}"/>
              </a:ext>
            </a:extLst>
          </p:cNvPr>
          <p:cNvSpPr/>
          <p:nvPr/>
        </p:nvSpPr>
        <p:spPr>
          <a:xfrm>
            <a:off x="8116491" y="4932227"/>
            <a:ext cx="2114746" cy="283257"/>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3.3.2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9" name="灯片编号占位符 8">
            <a:extLst>
              <a:ext uri="{FF2B5EF4-FFF2-40B4-BE49-F238E27FC236}">
                <a16:creationId xmlns:a16="http://schemas.microsoft.com/office/drawing/2014/main" id="{B3DA9FD2-B64A-4050-B0C5-362FD003963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18</a:t>
            </a:fld>
            <a:endParaRPr lang="en-US" altLang="zh-CN" dirty="0">
              <a:latin typeface="Times New Roman"/>
              <a:ea typeface="SimSun"/>
              <a:cs typeface="Times New Roman"/>
            </a:endParaRPr>
          </a:p>
        </p:txBody>
      </p:sp>
      <p:sp>
        <p:nvSpPr>
          <p:cNvPr id="1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实验验证</a:t>
            </a:r>
          </a:p>
        </p:txBody>
      </p:sp>
      <p:sp>
        <p:nvSpPr>
          <p:cNvPr id="1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3.3 Experiment validation</a:t>
            </a:r>
          </a:p>
        </p:txBody>
      </p:sp>
      <p:sp>
        <p:nvSpPr>
          <p:cNvPr id="19"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20"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24795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B6EDBB7A-178D-4498-B61C-F2E57641B09D}"/>
              </a:ext>
            </a:extLst>
          </p:cNvPr>
          <p:cNvGraphicFramePr>
            <a:graphicFrameLocks noGrp="1"/>
          </p:cNvGraphicFramePr>
          <p:nvPr/>
        </p:nvGraphicFramePr>
        <p:xfrm>
          <a:off x="993672" y="2129804"/>
          <a:ext cx="4489082" cy="1566473"/>
        </p:xfrm>
        <a:graphic>
          <a:graphicData uri="http://schemas.openxmlformats.org/drawingml/2006/table">
            <a:tbl>
              <a:tblPr firstRow="1" firstCol="1" bandRow="1">
                <a:tableStyleId>{69012ECD-51FC-41F1-AA8D-1B2483CD663E}</a:tableStyleId>
              </a:tblPr>
              <a:tblGrid>
                <a:gridCol w="653930">
                  <a:extLst>
                    <a:ext uri="{9D8B030D-6E8A-4147-A177-3AD203B41FA5}">
                      <a16:colId xmlns:a16="http://schemas.microsoft.com/office/drawing/2014/main" val="1492680179"/>
                    </a:ext>
                  </a:extLst>
                </a:gridCol>
                <a:gridCol w="994299">
                  <a:extLst>
                    <a:ext uri="{9D8B030D-6E8A-4147-A177-3AD203B41FA5}">
                      <a16:colId xmlns:a16="http://schemas.microsoft.com/office/drawing/2014/main" val="1099582554"/>
                    </a:ext>
                  </a:extLst>
                </a:gridCol>
                <a:gridCol w="985421">
                  <a:extLst>
                    <a:ext uri="{9D8B030D-6E8A-4147-A177-3AD203B41FA5}">
                      <a16:colId xmlns:a16="http://schemas.microsoft.com/office/drawing/2014/main" val="936513701"/>
                    </a:ext>
                  </a:extLst>
                </a:gridCol>
                <a:gridCol w="850135">
                  <a:extLst>
                    <a:ext uri="{9D8B030D-6E8A-4147-A177-3AD203B41FA5}">
                      <a16:colId xmlns:a16="http://schemas.microsoft.com/office/drawing/2014/main" val="2488443368"/>
                    </a:ext>
                  </a:extLst>
                </a:gridCol>
                <a:gridCol w="1005297">
                  <a:extLst>
                    <a:ext uri="{9D8B030D-6E8A-4147-A177-3AD203B41FA5}">
                      <a16:colId xmlns:a16="http://schemas.microsoft.com/office/drawing/2014/main" val="2263846524"/>
                    </a:ext>
                  </a:extLst>
                </a:gridCol>
              </a:tblGrid>
              <a:tr h="688419">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Nozzle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Orifice</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diameter</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(mm)</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Volumetric flow</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rate </a:t>
                      </a:r>
                      <a:endParaRPr lang="en-HK" sz="1400"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 </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Pressure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Spray angle</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1</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2.4</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1.9-8.4</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45-50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2</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3.0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2.9-13</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0.4-10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60-70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3</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3.2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6.7-16.2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a:effectLst/>
                          <a:latin typeface="Times New Roman" panose="02020603050405020304" pitchFamily="18" charset="0"/>
                          <a:ea typeface="SimSun"/>
                          <a:cs typeface="Times New Roman" panose="02020603050405020304" pitchFamily="18" charset="0"/>
                        </a:rPr>
                        <a:t>0.4-10</a:t>
                      </a:r>
                      <a:endParaRPr lang="en-HK" sz="14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70-75</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pic>
        <p:nvPicPr>
          <p:cNvPr id="6" name="图片 5">
            <a:extLst>
              <a:ext uri="{FF2B5EF4-FFF2-40B4-BE49-F238E27FC236}">
                <a16:creationId xmlns:a16="http://schemas.microsoft.com/office/drawing/2014/main" id="{E9030BCD-2D58-4A13-BAA4-AA512AA549C4}"/>
              </a:ext>
            </a:extLst>
          </p:cNvPr>
          <p:cNvPicPr>
            <a:picLocks noChangeAspect="1"/>
          </p:cNvPicPr>
          <p:nvPr/>
        </p:nvPicPr>
        <p:blipFill rotWithShape="1">
          <a:blip r:embed="rId3">
            <a:extLst>
              <a:ext uri="{28A0092B-C50C-407E-A947-70E740481C1C}">
                <a14:useLocalDpi xmlns:a14="http://schemas.microsoft.com/office/drawing/2010/main" val="0"/>
              </a:ext>
            </a:extLst>
          </a:blip>
          <a:srcRect t="1" r="3191" b="33534"/>
          <a:stretch/>
        </p:blipFill>
        <p:spPr>
          <a:xfrm>
            <a:off x="7025944" y="1824097"/>
            <a:ext cx="1508456" cy="1557915"/>
          </a:xfrm>
          <a:prstGeom prst="rect">
            <a:avLst/>
          </a:prstGeom>
        </p:spPr>
      </p:pic>
      <p:pic>
        <p:nvPicPr>
          <p:cNvPr id="7" name="图片 6">
            <a:extLst>
              <a:ext uri="{FF2B5EF4-FFF2-40B4-BE49-F238E27FC236}">
                <a16:creationId xmlns:a16="http://schemas.microsoft.com/office/drawing/2014/main" id="{D21BA7C6-A9E6-4037-A95D-BF85FEB91C10}"/>
              </a:ext>
            </a:extLst>
          </p:cNvPr>
          <p:cNvPicPr/>
          <p:nvPr/>
        </p:nvPicPr>
        <p:blipFill>
          <a:blip r:embed="rId4">
            <a:extLst>
              <a:ext uri="{28A0092B-C50C-407E-A947-70E740481C1C}">
                <a14:useLocalDpi xmlns:a14="http://schemas.microsoft.com/office/drawing/2010/main" val="0"/>
              </a:ext>
            </a:extLst>
          </a:blip>
          <a:stretch>
            <a:fillRect/>
          </a:stretch>
        </p:blipFill>
        <p:spPr>
          <a:xfrm>
            <a:off x="8737049" y="1742835"/>
            <a:ext cx="1917332" cy="1793121"/>
          </a:xfrm>
          <a:prstGeom prst="rect">
            <a:avLst/>
          </a:prstGeom>
        </p:spPr>
      </p:pic>
      <p:graphicFrame>
        <p:nvGraphicFramePr>
          <p:cNvPr id="8" name="表格 7">
            <a:extLst>
              <a:ext uri="{FF2B5EF4-FFF2-40B4-BE49-F238E27FC236}">
                <a16:creationId xmlns:a16="http://schemas.microsoft.com/office/drawing/2014/main" id="{7B07609B-CAAB-4FF6-932E-E4CDAA452014}"/>
              </a:ext>
            </a:extLst>
          </p:cNvPr>
          <p:cNvGraphicFramePr>
            <a:graphicFrameLocks noGrp="1"/>
          </p:cNvGraphicFramePr>
          <p:nvPr/>
        </p:nvGraphicFramePr>
        <p:xfrm>
          <a:off x="993672" y="4071414"/>
          <a:ext cx="4489082" cy="1793825"/>
        </p:xfrm>
        <a:graphic>
          <a:graphicData uri="http://schemas.openxmlformats.org/drawingml/2006/table">
            <a:tbl>
              <a:tblPr firstRow="1" firstCol="1" bandRow="1">
                <a:tableStyleId>{69012ECD-51FC-41F1-AA8D-1B2483CD663E}</a:tableStyleId>
              </a:tblPr>
              <a:tblGrid>
                <a:gridCol w="1081229">
                  <a:extLst>
                    <a:ext uri="{9D8B030D-6E8A-4147-A177-3AD203B41FA5}">
                      <a16:colId xmlns:a16="http://schemas.microsoft.com/office/drawing/2014/main" val="1492680179"/>
                    </a:ext>
                  </a:extLst>
                </a:gridCol>
                <a:gridCol w="1380306">
                  <a:extLst>
                    <a:ext uri="{9D8B030D-6E8A-4147-A177-3AD203B41FA5}">
                      <a16:colId xmlns:a16="http://schemas.microsoft.com/office/drawing/2014/main" val="1099582554"/>
                    </a:ext>
                  </a:extLst>
                </a:gridCol>
                <a:gridCol w="732775">
                  <a:extLst>
                    <a:ext uri="{9D8B030D-6E8A-4147-A177-3AD203B41FA5}">
                      <a16:colId xmlns:a16="http://schemas.microsoft.com/office/drawing/2014/main" val="936513701"/>
                    </a:ext>
                  </a:extLst>
                </a:gridCol>
                <a:gridCol w="1294772">
                  <a:extLst>
                    <a:ext uri="{9D8B030D-6E8A-4147-A177-3AD203B41FA5}">
                      <a16:colId xmlns:a16="http://schemas.microsoft.com/office/drawing/2014/main" val="2488443368"/>
                    </a:ext>
                  </a:extLst>
                </a:gridCol>
              </a:tblGrid>
              <a:tr h="688419">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bg1"/>
                          </a:solidFill>
                          <a:effectLst/>
                          <a:latin typeface="Times New Roman" panose="02020603050405020304" pitchFamily="18" charset="0"/>
                          <a:ea typeface="SimSun"/>
                          <a:cs typeface="Times New Roman" panose="02020603050405020304" pitchFamily="18" charset="0"/>
                        </a:rPr>
                        <a:t>Instrument</a:t>
                      </a: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HK" sz="1400" dirty="0">
                          <a:effectLst/>
                          <a:latin typeface="Times New Roman" panose="02020603050405020304" pitchFamily="18" charset="0"/>
                          <a:ea typeface="SimSun"/>
                          <a:cs typeface="Times New Roman" panose="02020603050405020304" pitchFamily="18" charset="0"/>
                        </a:rPr>
                        <a:t>Parameter</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Range </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Accuracy</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kern="1200" dirty="0">
                          <a:solidFill>
                            <a:schemeClr val="tx1"/>
                          </a:solidFill>
                          <a:effectLst/>
                          <a:latin typeface="Times New Roman" panose="02020603050405020304" pitchFamily="18" charset="0"/>
                          <a:ea typeface="SimSun"/>
                          <a:cs typeface="Times New Roman" panose="02020603050405020304" pitchFamily="18" charset="0"/>
                        </a:rPr>
                        <a:t>Flowmeter</a:t>
                      </a:r>
                      <a:endParaRPr lang="en-HK" sz="1400" b="1" kern="1200" dirty="0">
                        <a:solidFill>
                          <a:schemeClr val="tx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flow rate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1.9-8.4</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Pressure gage</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pressure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2.9-13</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800" b="1" kern="1200">
                          <a:solidFill>
                            <a:schemeClr val="lt1"/>
                          </a:solidFill>
                          <a:latin typeface="Times New Roman" panose="020F0502020204030204"/>
                          <a:ea typeface="SimSun"/>
                          <a:cs typeface="Times New Roman"/>
                        </a:defRPr>
                      </a:lvl1pPr>
                      <a:lvl2pPr marL="457200" algn="l" defTabSz="457200" rtl="0" eaLnBrk="1" latinLnBrk="0" hangingPunct="1">
                        <a:defRPr sz="1800" b="1" kern="1200">
                          <a:solidFill>
                            <a:schemeClr val="lt1"/>
                          </a:solidFill>
                          <a:latin typeface="Times New Roman" panose="020F0502020204030204"/>
                          <a:ea typeface="SimSun"/>
                          <a:cs typeface="Times New Roman"/>
                        </a:defRPr>
                      </a:lvl2pPr>
                      <a:lvl3pPr marL="914400" algn="l" defTabSz="457200" rtl="0" eaLnBrk="1" latinLnBrk="0" hangingPunct="1">
                        <a:defRPr sz="1800" b="1" kern="1200">
                          <a:solidFill>
                            <a:schemeClr val="lt1"/>
                          </a:solidFill>
                          <a:latin typeface="Times New Roman" panose="020F0502020204030204"/>
                          <a:ea typeface="SimSun"/>
                          <a:cs typeface="Times New Roman"/>
                        </a:defRPr>
                      </a:lvl3pPr>
                      <a:lvl4pPr marL="1371600" algn="l" defTabSz="457200" rtl="0" eaLnBrk="1" latinLnBrk="0" hangingPunct="1">
                        <a:defRPr sz="1800" b="1" kern="1200">
                          <a:solidFill>
                            <a:schemeClr val="lt1"/>
                          </a:solidFill>
                          <a:latin typeface="Times New Roman" panose="020F0502020204030204"/>
                          <a:ea typeface="SimSun"/>
                          <a:cs typeface="Times New Roman"/>
                        </a:defRPr>
                      </a:lvl4pPr>
                      <a:lvl5pPr marL="1828800" algn="l" defTabSz="457200" rtl="0" eaLnBrk="1" latinLnBrk="0" hangingPunct="1">
                        <a:defRPr sz="1800" b="1" kern="1200">
                          <a:solidFill>
                            <a:schemeClr val="lt1"/>
                          </a:solidFill>
                          <a:latin typeface="Times New Roman" panose="020F0502020204030204"/>
                          <a:ea typeface="SimSun"/>
                          <a:cs typeface="Times New Roman"/>
                        </a:defRPr>
                      </a:lvl5pPr>
                      <a:lvl6pPr marL="2286000" algn="l" defTabSz="457200" rtl="0" eaLnBrk="1" latinLnBrk="0" hangingPunct="1">
                        <a:defRPr sz="1800" b="1" kern="1200">
                          <a:solidFill>
                            <a:schemeClr val="lt1"/>
                          </a:solidFill>
                          <a:latin typeface="Times New Roman" panose="020F0502020204030204"/>
                          <a:ea typeface="SimSun"/>
                          <a:cs typeface="Times New Roman"/>
                        </a:defRPr>
                      </a:lvl6pPr>
                      <a:lvl7pPr marL="2743200" algn="l" defTabSz="457200" rtl="0" eaLnBrk="1" latinLnBrk="0" hangingPunct="1">
                        <a:defRPr sz="1800" b="1" kern="1200">
                          <a:solidFill>
                            <a:schemeClr val="lt1"/>
                          </a:solidFill>
                          <a:latin typeface="Times New Roman" panose="020F0502020204030204"/>
                          <a:ea typeface="SimSun"/>
                          <a:cs typeface="Times New Roman"/>
                        </a:defRPr>
                      </a:lvl7pPr>
                      <a:lvl8pPr marL="3200400" algn="l" defTabSz="457200" rtl="0" eaLnBrk="1" latinLnBrk="0" hangingPunct="1">
                        <a:defRPr sz="1800" b="1" kern="1200">
                          <a:solidFill>
                            <a:schemeClr val="lt1"/>
                          </a:solidFill>
                          <a:latin typeface="Times New Roman" panose="020F0502020204030204"/>
                          <a:ea typeface="SimSun"/>
                          <a:cs typeface="Times New Roman"/>
                        </a:defRPr>
                      </a:lvl8pPr>
                      <a:lvl9pPr marL="3657600" algn="l" defTabSz="457200" rtl="0" eaLnBrk="1" latinLnBrk="0" hangingPunct="1">
                        <a:defRPr sz="1800"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400" dirty="0">
                          <a:solidFill>
                            <a:schemeClr val="tx1"/>
                          </a:solidFill>
                          <a:effectLst/>
                          <a:latin typeface="Times New Roman" panose="02020603050405020304" pitchFamily="18" charset="0"/>
                          <a:ea typeface="SimSun"/>
                          <a:cs typeface="Times New Roman" panose="02020603050405020304" pitchFamily="18" charset="0"/>
                        </a:rPr>
                        <a:t>Measuring cylinder</a:t>
                      </a:r>
                      <a:endParaRPr lang="en-HK" sz="14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r>
                        <a:rPr lang="en-HK" sz="1400" kern="1200" dirty="0">
                          <a:effectLst/>
                          <a:latin typeface="Times New Roman" panose="02020603050405020304" pitchFamily="18" charset="0"/>
                          <a:ea typeface="SimSun"/>
                          <a:cs typeface="Times New Roman" panose="02020603050405020304" pitchFamily="18" charset="0"/>
                        </a:rPr>
                        <a:t>Water volume</a:t>
                      </a:r>
                      <a:endParaRPr lang="en-HK" sz="1400"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6.7-16.2</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800" kern="1200">
                          <a:solidFill>
                            <a:schemeClr val="dk1"/>
                          </a:solidFill>
                          <a:latin typeface="Times New Roman" panose="020F0502020204030204"/>
                          <a:ea typeface="SimSun"/>
                          <a:cs typeface="Times New Roman"/>
                        </a:defRPr>
                      </a:lvl1pPr>
                      <a:lvl2pPr marL="457200" algn="l" defTabSz="457200" rtl="0" eaLnBrk="1" latinLnBrk="0" hangingPunct="1">
                        <a:defRPr sz="1800" kern="1200">
                          <a:solidFill>
                            <a:schemeClr val="dk1"/>
                          </a:solidFill>
                          <a:latin typeface="Times New Roman" panose="020F0502020204030204"/>
                          <a:ea typeface="SimSun"/>
                          <a:cs typeface="Times New Roman"/>
                        </a:defRPr>
                      </a:lvl2pPr>
                      <a:lvl3pPr marL="914400" algn="l" defTabSz="457200" rtl="0" eaLnBrk="1" latinLnBrk="0" hangingPunct="1">
                        <a:defRPr sz="1800" kern="1200">
                          <a:solidFill>
                            <a:schemeClr val="dk1"/>
                          </a:solidFill>
                          <a:latin typeface="Times New Roman" panose="020F0502020204030204"/>
                          <a:ea typeface="SimSun"/>
                          <a:cs typeface="Times New Roman"/>
                        </a:defRPr>
                      </a:lvl3pPr>
                      <a:lvl4pPr marL="1371600" algn="l" defTabSz="457200" rtl="0" eaLnBrk="1" latinLnBrk="0" hangingPunct="1">
                        <a:defRPr sz="1800" kern="1200">
                          <a:solidFill>
                            <a:schemeClr val="dk1"/>
                          </a:solidFill>
                          <a:latin typeface="Times New Roman" panose="020F0502020204030204"/>
                          <a:ea typeface="SimSun"/>
                          <a:cs typeface="Times New Roman"/>
                        </a:defRPr>
                      </a:lvl4pPr>
                      <a:lvl5pPr marL="1828800" algn="l" defTabSz="457200" rtl="0" eaLnBrk="1" latinLnBrk="0" hangingPunct="1">
                        <a:defRPr sz="1800" kern="1200">
                          <a:solidFill>
                            <a:schemeClr val="dk1"/>
                          </a:solidFill>
                          <a:latin typeface="Times New Roman" panose="020F0502020204030204"/>
                          <a:ea typeface="SimSun"/>
                          <a:cs typeface="Times New Roman"/>
                        </a:defRPr>
                      </a:lvl5pPr>
                      <a:lvl6pPr marL="2286000" algn="l" defTabSz="457200" rtl="0" eaLnBrk="1" latinLnBrk="0" hangingPunct="1">
                        <a:defRPr sz="1800" kern="1200">
                          <a:solidFill>
                            <a:schemeClr val="dk1"/>
                          </a:solidFill>
                          <a:latin typeface="Times New Roman" panose="020F0502020204030204"/>
                          <a:ea typeface="SimSun"/>
                          <a:cs typeface="Times New Roman"/>
                        </a:defRPr>
                      </a:lvl6pPr>
                      <a:lvl7pPr marL="2743200" algn="l" defTabSz="457200" rtl="0" eaLnBrk="1" latinLnBrk="0" hangingPunct="1">
                        <a:defRPr sz="1800" kern="1200">
                          <a:solidFill>
                            <a:schemeClr val="dk1"/>
                          </a:solidFill>
                          <a:latin typeface="Times New Roman" panose="020F0502020204030204"/>
                          <a:ea typeface="SimSun"/>
                          <a:cs typeface="Times New Roman"/>
                        </a:defRPr>
                      </a:lvl7pPr>
                      <a:lvl8pPr marL="3200400" algn="l" defTabSz="457200" rtl="0" eaLnBrk="1" latinLnBrk="0" hangingPunct="1">
                        <a:defRPr sz="1800" kern="1200">
                          <a:solidFill>
                            <a:schemeClr val="dk1"/>
                          </a:solidFill>
                          <a:latin typeface="Times New Roman" panose="020F0502020204030204"/>
                          <a:ea typeface="SimSun"/>
                          <a:cs typeface="Times New Roman"/>
                        </a:defRPr>
                      </a:lvl8pPr>
                      <a:lvl9pPr marL="3657600" algn="l" defTabSz="457200" rtl="0" eaLnBrk="1" latinLnBrk="0" hangingPunct="1">
                        <a:defRPr sz="1800"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400" dirty="0">
                          <a:effectLst/>
                          <a:latin typeface="Times New Roman" panose="02020603050405020304" pitchFamily="18" charset="0"/>
                          <a:ea typeface="SimSun"/>
                          <a:cs typeface="Times New Roman" panose="02020603050405020304" pitchFamily="18" charset="0"/>
                        </a:rPr>
                        <a:t>0.4-10</a:t>
                      </a:r>
                      <a:endParaRPr lang="en-HK"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sp>
        <p:nvSpPr>
          <p:cNvPr id="12" name="矩形 11">
            <a:extLst>
              <a:ext uri="{FF2B5EF4-FFF2-40B4-BE49-F238E27FC236}">
                <a16:creationId xmlns:a16="http://schemas.microsoft.com/office/drawing/2014/main" id="{27391731-49C3-4478-AA8F-533231BC2DF4}"/>
              </a:ext>
            </a:extLst>
          </p:cNvPr>
          <p:cNvSpPr/>
          <p:nvPr/>
        </p:nvSpPr>
        <p:spPr>
          <a:xfrm>
            <a:off x="7780172" y="6398438"/>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8.3 </a:t>
            </a:r>
            <a:r>
              <a:rPr lang="en-HK" sz="1200" dirty="0">
                <a:solidFill>
                  <a:prstClr val="black"/>
                </a:solidFill>
                <a:latin typeface="Times New Roman" panose="02020603050405020304" pitchFamily="18" charset="0"/>
                <a:ea typeface="SimSun"/>
                <a:cs typeface="Times New Roman" panose="02020603050405020304" pitchFamily="18" charset="0"/>
              </a:rPr>
              <a:t>Photos of test instrument</a:t>
            </a:r>
          </a:p>
        </p:txBody>
      </p:sp>
      <p:sp>
        <p:nvSpPr>
          <p:cNvPr id="13" name="矩形 12">
            <a:extLst>
              <a:ext uri="{FF2B5EF4-FFF2-40B4-BE49-F238E27FC236}">
                <a16:creationId xmlns:a16="http://schemas.microsoft.com/office/drawing/2014/main" id="{016A5827-1BF1-428B-B40E-8930B035533B}"/>
              </a:ext>
            </a:extLst>
          </p:cNvPr>
          <p:cNvSpPr/>
          <p:nvPr/>
        </p:nvSpPr>
        <p:spPr>
          <a:xfrm>
            <a:off x="917267" y="1794035"/>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8.1 </a:t>
            </a:r>
            <a:r>
              <a:rPr lang="en-HK" sz="1400"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14" name="矩形 13">
            <a:extLst>
              <a:ext uri="{FF2B5EF4-FFF2-40B4-BE49-F238E27FC236}">
                <a16:creationId xmlns:a16="http://schemas.microsoft.com/office/drawing/2014/main" id="{9782D03B-DB3C-4802-AB9A-7D478BF27D5F}"/>
              </a:ext>
            </a:extLst>
          </p:cNvPr>
          <p:cNvSpPr/>
          <p:nvPr/>
        </p:nvSpPr>
        <p:spPr>
          <a:xfrm>
            <a:off x="907889" y="3722380"/>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8.2 </a:t>
            </a:r>
            <a:r>
              <a:rPr lang="en-HK" sz="1400" dirty="0">
                <a:solidFill>
                  <a:prstClr val="black"/>
                </a:solidFill>
                <a:latin typeface="Times New Roman" panose="02020603050405020304" pitchFamily="18" charset="0"/>
                <a:ea typeface="SimSun"/>
                <a:cs typeface="Times New Roman" panose="02020603050405020304" pitchFamily="18" charset="0"/>
              </a:rPr>
              <a:t>Instrument parameters list</a:t>
            </a:r>
          </a:p>
        </p:txBody>
      </p:sp>
      <p:pic>
        <p:nvPicPr>
          <p:cNvPr id="15" name="图片 14">
            <a:extLst>
              <a:ext uri="{FF2B5EF4-FFF2-40B4-BE49-F238E27FC236}">
                <a16:creationId xmlns:a16="http://schemas.microsoft.com/office/drawing/2014/main" id="{C022CD82-34CA-450C-A69C-80B92DAA0A22}"/>
              </a:ext>
            </a:extLst>
          </p:cNvPr>
          <p:cNvPicPr>
            <a:picLocks noChangeAspect="1"/>
          </p:cNvPicPr>
          <p:nvPr/>
        </p:nvPicPr>
        <p:blipFill>
          <a:blip r:embed="rId5"/>
          <a:stretch>
            <a:fillRect/>
          </a:stretch>
        </p:blipFill>
        <p:spPr>
          <a:xfrm>
            <a:off x="7228595" y="3722380"/>
            <a:ext cx="1508455" cy="1430168"/>
          </a:xfrm>
          <a:prstGeom prst="rect">
            <a:avLst/>
          </a:prstGeom>
        </p:spPr>
      </p:pic>
      <p:pic>
        <p:nvPicPr>
          <p:cNvPr id="16" name="图片 15">
            <a:extLst>
              <a:ext uri="{FF2B5EF4-FFF2-40B4-BE49-F238E27FC236}">
                <a16:creationId xmlns:a16="http://schemas.microsoft.com/office/drawing/2014/main" id="{EB747129-FC9B-4B86-9191-BFD1F05FF46F}"/>
              </a:ext>
            </a:extLst>
          </p:cNvPr>
          <p:cNvPicPr>
            <a:picLocks noChangeAspect="1"/>
          </p:cNvPicPr>
          <p:nvPr/>
        </p:nvPicPr>
        <p:blipFill>
          <a:blip r:embed="rId6"/>
          <a:stretch>
            <a:fillRect/>
          </a:stretch>
        </p:blipFill>
        <p:spPr>
          <a:xfrm>
            <a:off x="8255387" y="5153580"/>
            <a:ext cx="1404818" cy="1226503"/>
          </a:xfrm>
          <a:prstGeom prst="rect">
            <a:avLst/>
          </a:prstGeom>
        </p:spPr>
      </p:pic>
      <p:pic>
        <p:nvPicPr>
          <p:cNvPr id="17" name="图片 16">
            <a:extLst>
              <a:ext uri="{FF2B5EF4-FFF2-40B4-BE49-F238E27FC236}">
                <a16:creationId xmlns:a16="http://schemas.microsoft.com/office/drawing/2014/main" id="{0961E9B6-4010-4919-B44E-FD0F2920E5D0}"/>
              </a:ext>
            </a:extLst>
          </p:cNvPr>
          <p:cNvPicPr>
            <a:picLocks noChangeAspect="1"/>
          </p:cNvPicPr>
          <p:nvPr/>
        </p:nvPicPr>
        <p:blipFill>
          <a:blip r:embed="rId7"/>
          <a:stretch>
            <a:fillRect/>
          </a:stretch>
        </p:blipFill>
        <p:spPr>
          <a:xfrm>
            <a:off x="8769666" y="3722380"/>
            <a:ext cx="1584245" cy="1429360"/>
          </a:xfrm>
          <a:prstGeom prst="rect">
            <a:avLst/>
          </a:prstGeom>
        </p:spPr>
      </p:pic>
      <p:sp>
        <p:nvSpPr>
          <p:cNvPr id="18" name="矩形 17">
            <a:extLst>
              <a:ext uri="{FF2B5EF4-FFF2-40B4-BE49-F238E27FC236}">
                <a16:creationId xmlns:a16="http://schemas.microsoft.com/office/drawing/2014/main" id="{134E097A-F791-46FB-A270-EF66965E1CED}"/>
              </a:ext>
            </a:extLst>
          </p:cNvPr>
          <p:cNvSpPr/>
          <p:nvPr/>
        </p:nvSpPr>
        <p:spPr>
          <a:xfrm>
            <a:off x="7593360" y="3440460"/>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3.3.1 </a:t>
            </a:r>
            <a:r>
              <a:rPr lang="en-HK" sz="1200" dirty="0">
                <a:solidFill>
                  <a:prstClr val="black"/>
                </a:solidFill>
                <a:latin typeface="Times New Roman" panose="02020603050405020304" pitchFamily="18" charset="0"/>
                <a:ea typeface="SimSun"/>
                <a:cs typeface="Times New Roman" panose="02020603050405020304" pitchFamily="18" charset="0"/>
              </a:rPr>
              <a:t>Photos of the nozzles</a:t>
            </a:r>
          </a:p>
        </p:txBody>
      </p:sp>
      <p:sp>
        <p:nvSpPr>
          <p:cNvPr id="20" name="灯片编号占位符 3">
            <a:extLst>
              <a:ext uri="{FF2B5EF4-FFF2-40B4-BE49-F238E27FC236}">
                <a16:creationId xmlns:a16="http://schemas.microsoft.com/office/drawing/2014/main" id="{6AEADC08-85C1-46B6-9C3C-44F0ED3D35E9}"/>
              </a:ext>
            </a:extLst>
          </p:cNvPr>
          <p:cNvSpPr>
            <a:spLocks noGrp="1"/>
          </p:cNvSpPr>
          <p:nvPr>
            <p:ph type="sldNum" sz="quarter" idx="12"/>
          </p:nvPr>
        </p:nvSpPr>
        <p:spPr>
          <a:xfrm>
            <a:off x="9989392" y="6492875"/>
            <a:ext cx="21336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19</a:t>
            </a:fld>
            <a:endParaRPr lang="en-US" altLang="zh-CN" dirty="0">
              <a:latin typeface="Times New Roman"/>
              <a:ea typeface="SimSun"/>
              <a:cs typeface="Times New Roman"/>
            </a:endParaRPr>
          </a:p>
        </p:txBody>
      </p:sp>
      <p:sp>
        <p:nvSpPr>
          <p:cNvPr id="22"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实验仪器选型</a:t>
            </a:r>
          </a:p>
        </p:txBody>
      </p:sp>
      <p:sp>
        <p:nvSpPr>
          <p:cNvPr id="23"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Instrument selection</a:t>
            </a:r>
          </a:p>
        </p:txBody>
      </p:sp>
      <p:sp>
        <p:nvSpPr>
          <p:cNvPr id="24"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5"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12174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95711F7-5B13-4371-9CD5-5D3334820BD0}"/>
                  </a:ext>
                </a:extLst>
              </p:cNvPr>
              <p:cNvSpPr/>
              <p:nvPr/>
            </p:nvSpPr>
            <p:spPr>
              <a:xfrm>
                <a:off x="1677699" y="1544385"/>
                <a:ext cx="4931887" cy="1872564"/>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distribution</a:t>
                </a:r>
              </a:p>
              <a:p>
                <a:pPr marL="285750" indent="-285750" defTabSz="457200" eaLnBrk="1" fontAlgn="auto" hangingPunct="1">
                  <a:spcBef>
                    <a:spcPts val="0"/>
                  </a:spcBef>
                  <a:spcAft>
                    <a:spcPts val="0"/>
                  </a:spcAft>
                  <a:buFont typeface="Wingdings" panose="05000000000000000000" pitchFamily="2" charset="2"/>
                  <a:buChar char="Ø"/>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Uniformity coefficient: </a:t>
                </a:r>
              </a:p>
              <a:p>
                <a:pPr defTabSz="457200" eaLnBrk="1" fontAlgn="auto" hangingPunct="1">
                  <a:spcBef>
                    <a:spcPts val="0"/>
                  </a:spcBef>
                  <a:spcAft>
                    <a:spcPts val="0"/>
                  </a:spcAft>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Coverage ratio: </a:t>
                </a:r>
                <a14:m>
                  <m:oMath xmlns:m="http://schemas.openxmlformats.org/officeDocument/2006/math">
                    <m:r>
                      <a:rPr lang="en-HK" sz="1800">
                        <a:solidFill>
                          <a:prstClr val="black"/>
                        </a:solidFill>
                        <a:latin typeface="Times New Roman" panose="02040503050406030204" pitchFamily="18" charset="0"/>
                        <a:ea typeface="SimSun"/>
                        <a:cs typeface="Times New Roman"/>
                      </a:rPr>
                      <m:t> </m:t>
                    </m:r>
                    <m:r>
                      <m:rPr>
                        <m:sty m:val="p"/>
                      </m:rPr>
                      <a:rPr lang="en-US" sz="1800">
                        <a:solidFill>
                          <a:prstClr val="black"/>
                        </a:solidFill>
                        <a:latin typeface="Times New Roman" panose="02040503050406030204" pitchFamily="18" charset="0"/>
                        <a:ea typeface="SimSun"/>
                        <a:cs typeface="Times New Roman"/>
                      </a:rPr>
                      <m:t>γ</m:t>
                    </m:r>
                    <m:r>
                      <a:rPr lang="en-US" sz="1800">
                        <a:solidFill>
                          <a:prstClr val="black"/>
                        </a:solidFill>
                        <a:latin typeface="Times New Roman" panose="02040503050406030204" pitchFamily="18" charset="0"/>
                        <a:ea typeface="SimSun"/>
                        <a:cs typeface="Times New Roman"/>
                      </a:rPr>
                      <m:t>=</m:t>
                    </m:r>
                    <m:f>
                      <m:fPr>
                        <m:ctrlPr>
                          <a:rPr lang="en-HK" sz="1800" i="1">
                            <a:solidFill>
                              <a:prstClr val="black"/>
                            </a:solidFill>
                            <a:latin typeface="Times New Roman" panose="02040503050406030204" pitchFamily="18" charset="0"/>
                            <a:ea typeface="SimSun"/>
                            <a:cs typeface="Times New Roman"/>
                          </a:rPr>
                        </m:ctrlPr>
                      </m:fPr>
                      <m:num>
                        <m:sSub>
                          <m:sSubPr>
                            <m:ctrlPr>
                              <a:rPr lang="en-US" sz="1800" i="1">
                                <a:solidFill>
                                  <a:prstClr val="black"/>
                                </a:solidFill>
                                <a:latin typeface="Times New Roman" panose="02040503050406030204" pitchFamily="18" charset="0"/>
                                <a:ea typeface="SimSun"/>
                                <a:cs typeface="Times New Roman"/>
                              </a:rPr>
                            </m:ctrlPr>
                          </m:sSubPr>
                          <m:e>
                            <m:r>
                              <a:rPr lang="en-US" sz="1800" i="1">
                                <a:solidFill>
                                  <a:prstClr val="black"/>
                                </a:solidFill>
                                <a:latin typeface="Times New Roman" panose="02040503050406030204" pitchFamily="18" charset="0"/>
                                <a:ea typeface="SimSun"/>
                                <a:cs typeface="Times New Roman"/>
                              </a:rPr>
                              <m:t>𝑆</m:t>
                            </m:r>
                          </m:e>
                          <m:sub>
                            <m:r>
                              <a:rPr lang="en-US" sz="1800" i="1">
                                <a:solidFill>
                                  <a:prstClr val="black"/>
                                </a:solidFill>
                                <a:latin typeface="Times New Roman" panose="02040503050406030204" pitchFamily="18" charset="0"/>
                                <a:ea typeface="SimSun"/>
                                <a:cs typeface="Times New Roman"/>
                              </a:rPr>
                              <m:t>𝑤</m:t>
                            </m:r>
                          </m:sub>
                        </m:sSub>
                      </m:num>
                      <m:den>
                        <m:r>
                          <a:rPr lang="en-US" sz="1800" i="1">
                            <a:solidFill>
                              <a:prstClr val="black"/>
                            </a:solidFill>
                            <a:latin typeface="Times New Roman" panose="02040503050406030204" pitchFamily="18" charset="0"/>
                            <a:ea typeface="SimSun"/>
                            <a:cs typeface="Times New Roman"/>
                          </a:rPr>
                          <m:t>𝑆</m:t>
                        </m:r>
                      </m:den>
                    </m:f>
                  </m:oMath>
                </a14:m>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prstClr val="black"/>
                  </a:solidFill>
                  <a:latin typeface="Times New Roman" panose="020B0604020202020204" pitchFamily="34" charset="0"/>
                  <a:ea typeface="SimSun"/>
                  <a:cs typeface="Times New Roman" panose="020B0604020202020204" pitchFamily="34" charset="0"/>
                </a:endParaRPr>
              </a:p>
            </p:txBody>
          </p:sp>
        </mc:Choice>
        <mc:Fallback xmlns="">
          <p:sp>
            <p:nvSpPr>
              <p:cNvPr id="4" name="矩形 3">
                <a:extLst>
                  <a:ext uri="{FF2B5EF4-FFF2-40B4-BE49-F238E27FC236}">
                    <a16:creationId xmlns:a16="http://schemas.microsoft.com/office/drawing/2014/main" id="{995711F7-5B13-4371-9CD5-5D3334820BD0}"/>
                  </a:ext>
                </a:extLst>
              </p:cNvPr>
              <p:cNvSpPr>
                <a:spLocks noRot="1" noChangeAspect="1" noMove="1" noResize="1" noEditPoints="1" noAdjustHandles="1" noChangeArrowheads="1" noChangeShapeType="1" noTextEdit="1"/>
              </p:cNvSpPr>
              <p:nvPr/>
            </p:nvSpPr>
            <p:spPr>
              <a:xfrm>
                <a:off x="1677699" y="1544385"/>
                <a:ext cx="4931887" cy="1872564"/>
              </a:xfrm>
              <a:prstGeom prst="rect">
                <a:avLst/>
              </a:prstGeom>
              <a:blipFill>
                <a:blip r:embed="rId3"/>
                <a:stretch>
                  <a:fillRect l="-1112" t="-162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0EF7F27-4875-480E-8001-F9840C8D6E6D}"/>
                  </a:ext>
                </a:extLst>
              </p:cNvPr>
              <p:cNvSpPr/>
              <p:nvPr/>
            </p:nvSpPr>
            <p:spPr>
              <a:xfrm>
                <a:off x="3852414" y="1824747"/>
                <a:ext cx="1783116" cy="785921"/>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HK" sz="1400">
                          <a:solidFill>
                            <a:prstClr val="black"/>
                          </a:solidFill>
                          <a:latin typeface="Times New Roman" panose="02040503050406030204" pitchFamily="18" charset="0"/>
                          <a:ea typeface="SimSun"/>
                          <a:cs typeface="Times New Roman"/>
                        </a:rPr>
                        <m:t>ξ</m:t>
                      </m:r>
                      <m:r>
                        <a:rPr lang="en-HK" sz="1400">
                          <a:solidFill>
                            <a:prstClr val="black"/>
                          </a:solidFill>
                          <a:latin typeface="Times New Roman" panose="02040503050406030204" pitchFamily="18" charset="0"/>
                          <a:ea typeface="SimSun"/>
                          <a:cs typeface="Times New Roman"/>
                        </a:rPr>
                        <m:t>=</m:t>
                      </m:r>
                      <m:f>
                        <m:fPr>
                          <m:ctrlPr>
                            <a:rPr lang="en-HK" sz="1400">
                              <a:solidFill>
                                <a:prstClr val="black"/>
                              </a:solidFill>
                              <a:latin typeface="Times New Roman" panose="02040503050406030204" pitchFamily="18" charset="0"/>
                              <a:ea typeface="SimSun"/>
                              <a:cs typeface="Times New Roman"/>
                            </a:rPr>
                          </m:ctrlPr>
                        </m:fPr>
                        <m:num>
                          <m:r>
                            <a:rPr lang="en-HK" sz="1400">
                              <a:solidFill>
                                <a:prstClr val="black"/>
                              </a:solidFill>
                              <a:latin typeface="Times New Roman" panose="02040503050406030204" pitchFamily="18" charset="0"/>
                              <a:ea typeface="SimSun"/>
                              <a:cs typeface="Times New Roman"/>
                            </a:rPr>
                            <m:t>1</m:t>
                          </m:r>
                        </m:num>
                        <m:den>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den>
                      </m:f>
                      <m:d>
                        <m:dPr>
                          <m:ctrlPr>
                            <a:rPr lang="en-HK" sz="1400" i="1">
                              <a:solidFill>
                                <a:prstClr val="black"/>
                              </a:solidFill>
                              <a:latin typeface="Times New Roman" panose="02040503050406030204" pitchFamily="18" charset="0"/>
                              <a:ea typeface="SimSun"/>
                              <a:cs typeface="Times New Roman"/>
                            </a:rPr>
                          </m:ctrlPr>
                        </m:dPr>
                        <m:e>
                          <m:rad>
                            <m:radPr>
                              <m:degHide m:val="on"/>
                              <m:ctrlPr>
                                <a:rPr lang="en-HK" sz="1400" i="1">
                                  <a:solidFill>
                                    <a:prstClr val="black"/>
                                  </a:solidFill>
                                  <a:latin typeface="Times New Roman" panose="02040503050406030204" pitchFamily="18" charset="0"/>
                                  <a:ea typeface="SimSun"/>
                                  <a:cs typeface="Times New Roman"/>
                                </a:rPr>
                              </m:ctrlPr>
                            </m:radPr>
                            <m:deg/>
                            <m:e>
                              <m:f>
                                <m:fPr>
                                  <m:ctrlPr>
                                    <a:rPr lang="en-HK" sz="1400" i="1">
                                      <a:solidFill>
                                        <a:prstClr val="black"/>
                                      </a:solidFill>
                                      <a:latin typeface="Times New Roman" panose="02040503050406030204" pitchFamily="18" charset="0"/>
                                      <a:ea typeface="SimSun"/>
                                      <a:cs typeface="Times New Roman"/>
                                    </a:rPr>
                                  </m:ctrlPr>
                                </m:fPr>
                                <m:num>
                                  <m:nary>
                                    <m:naryPr>
                                      <m:chr m:val="∑"/>
                                      <m:limLoc m:val="subSup"/>
                                      <m:ctrlPr>
                                        <a:rPr lang="en-HK" sz="1400" i="1">
                                          <a:solidFill>
                                            <a:prstClr val="black"/>
                                          </a:solidFill>
                                          <a:latin typeface="Times New Roman" panose="02040503050406030204" pitchFamily="18" charset="0"/>
                                          <a:ea typeface="SimSun"/>
                                          <a:cs typeface="Times New Roman"/>
                                        </a:rPr>
                                      </m:ctrlPr>
                                    </m:naryPr>
                                    <m:sub>
                                      <m:r>
                                        <a:rPr lang="en-HK" sz="1400" i="1">
                                          <a:solidFill>
                                            <a:prstClr val="black"/>
                                          </a:solidFill>
                                          <a:latin typeface="Times New Roman" panose="02040503050406030204" pitchFamily="18" charset="0"/>
                                          <a:ea typeface="SimSun"/>
                                          <a:cs typeface="Times New Roman"/>
                                        </a:rPr>
                                        <m:t>𝑖</m:t>
                                      </m:r>
                                    </m:sub>
                                    <m:sup>
                                      <m:r>
                                        <a:rPr lang="en-HK" sz="1400" i="1">
                                          <a:solidFill>
                                            <a:prstClr val="black"/>
                                          </a:solidFill>
                                          <a:latin typeface="Times New Roman" panose="02040503050406030204" pitchFamily="18" charset="0"/>
                                          <a:ea typeface="SimSun"/>
                                          <a:cs typeface="Times New Roman"/>
                                        </a:rPr>
                                        <m:t>𝑁</m:t>
                                      </m:r>
                                    </m:sup>
                                    <m:e>
                                      <m:sSub>
                                        <m:sSubPr>
                                          <m:ctrlPr>
                                            <a:rPr lang="en-HK" sz="1400" i="1">
                                              <a:solidFill>
                                                <a:prstClr val="black"/>
                                              </a:solidFill>
                                              <a:latin typeface="Times New Roman" panose="02040503050406030204" pitchFamily="18" charset="0"/>
                                              <a:ea typeface="SimSun"/>
                                              <a:cs typeface="Times New Roman"/>
                                            </a:rPr>
                                          </m:ctrlPr>
                                        </m:sSubPr>
                                        <m:e>
                                          <m:r>
                                            <a:rPr lang="en-HK" sz="1400" i="1">
                                              <a:solidFill>
                                                <a:prstClr val="black"/>
                                              </a:solidFill>
                                              <a:latin typeface="Times New Roman" panose="02040503050406030204" pitchFamily="18" charset="0"/>
                                              <a:ea typeface="SimSun"/>
                                              <a:cs typeface="Times New Roman"/>
                                            </a:rPr>
                                            <m:t>𝑥</m:t>
                                          </m:r>
                                        </m:e>
                                        <m:sub>
                                          <m:r>
                                            <a:rPr lang="en-HK" sz="1400" i="1">
                                              <a:solidFill>
                                                <a:prstClr val="black"/>
                                              </a:solidFill>
                                              <a:latin typeface="Times New Roman" panose="02040503050406030204" pitchFamily="18" charset="0"/>
                                              <a:ea typeface="SimSun"/>
                                              <a:cs typeface="Times New Roman"/>
                                            </a:rPr>
                                            <m:t>𝑖</m:t>
                                          </m:r>
                                        </m:sub>
                                      </m:sSub>
                                      <m:r>
                                        <a:rPr lang="en-HK" sz="1400">
                                          <a:solidFill>
                                            <a:prstClr val="black"/>
                                          </a:solidFill>
                                          <a:latin typeface="Times New Roman" panose="02040503050406030204" pitchFamily="18" charset="0"/>
                                          <a:ea typeface="SimSun"/>
                                          <a:cs typeface="Times New Roman"/>
                                        </a:rPr>
                                        <m:t>−</m:t>
                                      </m:r>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e>
                                  </m:nary>
                                </m:num>
                                <m:den>
                                  <m:r>
                                    <a:rPr lang="en-HK" sz="1400" i="1">
                                      <a:solidFill>
                                        <a:prstClr val="black"/>
                                      </a:solidFill>
                                      <a:latin typeface="Times New Roman" panose="02040503050406030204" pitchFamily="18" charset="0"/>
                                      <a:ea typeface="SimSun"/>
                                      <a:cs typeface="Times New Roman"/>
                                    </a:rPr>
                                    <m:t>𝑁</m:t>
                                  </m:r>
                                </m:den>
                              </m:f>
                            </m:e>
                          </m:rad>
                        </m:e>
                      </m:d>
                    </m:oMath>
                  </m:oMathPara>
                </a14:m>
                <a:endParaRPr lang="en-HK" sz="14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50EF7F27-4875-480E-8001-F9840C8D6E6D}"/>
                  </a:ext>
                </a:extLst>
              </p:cNvPr>
              <p:cNvSpPr>
                <a:spLocks noRot="1" noChangeAspect="1" noMove="1" noResize="1" noEditPoints="1" noAdjustHandles="1" noChangeArrowheads="1" noChangeShapeType="1" noTextEdit="1"/>
              </p:cNvSpPr>
              <p:nvPr/>
            </p:nvSpPr>
            <p:spPr>
              <a:xfrm>
                <a:off x="3852414" y="1824747"/>
                <a:ext cx="1783116" cy="785921"/>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886C2-ACAD-4374-BE41-CAF6E2238FDF}"/>
                  </a:ext>
                </a:extLst>
              </p:cNvPr>
              <p:cNvSpPr/>
              <p:nvPr/>
            </p:nvSpPr>
            <p:spPr>
              <a:xfrm>
                <a:off x="1677699" y="3517904"/>
                <a:ext cx="4931887" cy="299364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membrane</a:t>
                </a:r>
              </a:p>
              <a:p>
                <a:pPr defTabSz="457200" eaLnBrk="1" fontAlgn="auto" hangingPunct="1">
                  <a:spcBef>
                    <a:spcPts val="0"/>
                  </a:spcBef>
                  <a:spcAft>
                    <a:spcPts val="0"/>
                  </a:spcAft>
                </a:pPr>
                <a:endParaRPr lang="en-US" sz="1600" dirty="0">
                  <a:solidFill>
                    <a:prstClr val="black"/>
                  </a:solidFill>
                  <a:latin typeface="Times New Roman" panose="020B0604020202020204" pitchFamily="34" charset="0"/>
                  <a:ea typeface="SimSun"/>
                  <a:cs typeface="Times New Roman" panose="020B0604020202020204" pitchFamily="34"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Reynolds </a:t>
                </a:r>
                <a:r>
                  <a:rPr lang="en-US"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number</a:t>
                </a:r>
                <a:r>
                  <a:rPr lang="en-HK"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14:m>
                  <m:oMath xmlns:m="http://schemas.openxmlformats.org/officeDocument/2006/math">
                    <m:sSub>
                      <m:sSubPr>
                        <m:ctrlPr>
                          <a:rPr lang="en-HK" sz="1600" i="1">
                            <a:solidFill>
                              <a:prstClr val="black"/>
                            </a:solidFill>
                            <a:latin typeface="Times New Roman" panose="02040503050406030204" pitchFamily="18" charset="0"/>
                            <a:ea typeface="SimSun"/>
                            <a:cs typeface="Times New Roman"/>
                          </a:rPr>
                        </m:ctrlPr>
                      </m:sSubPr>
                      <m:e>
                        <m:r>
                          <a:rPr lang="en-HK" sz="1600" i="1">
                            <a:solidFill>
                              <a:prstClr val="black"/>
                            </a:solidFill>
                            <a:latin typeface="Times New Roman" panose="02040503050406030204" pitchFamily="18" charset="0"/>
                            <a:ea typeface="SimSun"/>
                            <a:cs typeface="Times New Roman"/>
                          </a:rPr>
                          <m:t>   </m:t>
                        </m:r>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𝑚</m:t>
                            </m:r>
                          </m:e>
                          <m:sub>
                            <m:r>
                              <a:rPr lang="en-US" sz="1600" i="1">
                                <a:solidFill>
                                  <a:prstClr val="black"/>
                                </a:solidFill>
                                <a:latin typeface="Times New Roman" panose="02040503050406030204" pitchFamily="18" charset="0"/>
                                <a:ea typeface="SimSun"/>
                                <a:cs typeface="Times New Roman"/>
                              </a:rPr>
                              <m:t>𝑤</m:t>
                            </m:r>
                          </m:sub>
                        </m:sSub>
                      </m:num>
                      <m:den>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𝐿</m:t>
                            </m:r>
                          </m:e>
                          <m:sub>
                            <m:r>
                              <a:rPr lang="en-US" sz="1600" i="1">
                                <a:solidFill>
                                  <a:prstClr val="black"/>
                                </a:solidFill>
                                <a:latin typeface="Times New Roman" panose="02040503050406030204" pitchFamily="18" charset="0"/>
                                <a:ea typeface="SimSun"/>
                                <a:cs typeface="Times New Roman"/>
                              </a:rPr>
                              <m:t>𝑓</m:t>
                            </m:r>
                          </m:sub>
                        </m:sSub>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𝜇</m:t>
                            </m:r>
                          </m:e>
                          <m:sub>
                            <m:r>
                              <a:rPr lang="en-US" sz="1600" i="1">
                                <a:solidFill>
                                  <a:prstClr val="black"/>
                                </a:solidFill>
                                <a:latin typeface="Times New Roman" panose="02040503050406030204" pitchFamily="18" charset="0"/>
                                <a:ea typeface="SimSun"/>
                                <a:cs typeface="Times New Roman"/>
                              </a:rPr>
                              <m:t>𝑤</m:t>
                            </m:r>
                          </m:sub>
                        </m:sSub>
                      </m:den>
                    </m:f>
                  </m:oMath>
                </a14:m>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Velocity: </a:t>
                </a:r>
                <a14:m>
                  <m:oMath xmlns:m="http://schemas.openxmlformats.org/officeDocument/2006/math">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𝑣</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=1.5×</m:t>
                    </m:r>
                    <m:sSup>
                      <m:sSupPr>
                        <m:ctrlPr>
                          <a:rPr lang="en-HK" sz="1600" i="1">
                            <a:solidFill>
                              <a:prstClr val="black"/>
                            </a:solidFill>
                            <a:latin typeface="Times New Roman" panose="02040503050406030204" pitchFamily="18" charset="0"/>
                            <a:ea typeface="SimSun"/>
                            <a:cs typeface="Times New Roman"/>
                          </a:rPr>
                        </m:ctrlPr>
                      </m:sSupPr>
                      <m:e>
                        <m:d>
                          <m:dPr>
                            <m:ctrlPr>
                              <a:rPr lang="en-HK" sz="1600" i="1">
                                <a:solidFill>
                                  <a:prstClr val="black"/>
                                </a:solidFill>
                                <a:latin typeface="Times New Roman" panose="02040503050406030204" pitchFamily="18" charset="0"/>
                                <a:ea typeface="SimSun"/>
                                <a:cs typeface="Times New Roman"/>
                              </a:rPr>
                            </m:ctrlPr>
                          </m:dPr>
                          <m:e>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panose="02040503050406030204" pitchFamily="18" charset="0"/>
                                        <a:cs typeface="Times New Roman"/>
                                      </a:rPr>
                                    </m:ctrlPr>
                                  </m:sSubPr>
                                  <m:e>
                                    <m:r>
                                      <a:rPr lang="en-US" sz="1600" i="1">
                                        <a:solidFill>
                                          <a:prstClr val="black"/>
                                        </a:solidFill>
                                        <a:latin typeface="Times New Roman" panose="02040503050406030204" pitchFamily="18" charset="0"/>
                                        <a:ea typeface="SimSun" panose="02040503050406030204" pitchFamily="18" charset="0"/>
                                        <a:cs typeface="Times New Roman"/>
                                      </a:rPr>
                                      <m:t>𝜇</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𝑔</m:t>
                                </m:r>
                              </m:num>
                              <m:den>
                                <m:r>
                                  <a:rPr lang="en-US" sz="1600" i="1">
                                    <a:solidFill>
                                      <a:prstClr val="black"/>
                                    </a:solidFill>
                                    <a:latin typeface="Times New Roman" panose="02040503050406030204" pitchFamily="18" charset="0"/>
                                    <a:ea typeface="SimSun"/>
                                    <a:cs typeface="Times New Roman"/>
                                  </a:rPr>
                                  <m:t>48</m:t>
                                </m:r>
                              </m:den>
                            </m:f>
                          </m:e>
                        </m:d>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1</m:t>
                            </m:r>
                          </m:num>
                          <m:den>
                            <m:r>
                              <a:rPr lang="en-US" sz="1600" i="1">
                                <a:solidFill>
                                  <a:prstClr val="black"/>
                                </a:solidFill>
                                <a:latin typeface="Times New Roman" panose="02040503050406030204" pitchFamily="18" charset="0"/>
                                <a:ea typeface="SimSun"/>
                                <a:cs typeface="Times New Roman"/>
                              </a:rPr>
                              <m:t>3</m:t>
                            </m:r>
                          </m:den>
                        </m:f>
                      </m:sup>
                    </m:sSup>
                    <m:sSup>
                      <m:sSupPr>
                        <m:ctrlPr>
                          <a:rPr lang="en-US" sz="1600" i="1">
                            <a:solidFill>
                              <a:prstClr val="black"/>
                            </a:solidFill>
                            <a:latin typeface="Times New Roman" panose="02040503050406030204" pitchFamily="18" charset="0"/>
                            <a:ea typeface="SimSun"/>
                            <a:cs typeface="Times New Roman"/>
                          </a:rPr>
                        </m:ctrlPr>
                      </m:sSupPr>
                      <m:e>
                        <m:r>
                          <a:rPr lang="en-US" sz="1600" i="1">
                            <a:solidFill>
                              <a:prstClr val="black"/>
                            </a:solidFill>
                            <a:latin typeface="Times New Roman" panose="02040503050406030204" pitchFamily="18" charset="0"/>
                            <a:ea typeface="SimSun"/>
                            <a:cs typeface="Times New Roman"/>
                          </a:rPr>
                          <m:t>(</m:t>
                        </m:r>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2</m:t>
                            </m:r>
                          </m:num>
                          <m:den>
                            <m:r>
                              <a:rPr lang="en-US" sz="1600" i="1">
                                <a:solidFill>
                                  <a:prstClr val="black"/>
                                </a:solidFill>
                                <a:latin typeface="Times New Roman" panose="02040503050406030204" pitchFamily="18" charset="0"/>
                                <a:ea typeface="SimSun"/>
                                <a:cs typeface="Times New Roman"/>
                              </a:rPr>
                              <m:t>3</m:t>
                            </m:r>
                          </m:den>
                        </m:f>
                      </m:sup>
                    </m:sSup>
                  </m:oMath>
                </a14:m>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Spraying density: </a:t>
                </a: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Water membrane thickness:</a:t>
                </a:r>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srgbClr val="A30000"/>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HK" sz="1600" b="1" dirty="0">
                    <a:solidFill>
                      <a:srgbClr val="A30000"/>
                    </a:solidFill>
                    <a:latin typeface="Times New Roman" panose="02020603050405020304" pitchFamily="18" charset="0"/>
                    <a:ea typeface="SimSun"/>
                    <a:cs typeface="Times New Roman" panose="02020603050405020304" pitchFamily="18" charset="0"/>
                  </a:rPr>
                  <a:t>Wettability factor</a:t>
                </a:r>
                <a:r>
                  <a:rPr lang="en-HK" sz="1600" dirty="0">
                    <a:solidFill>
                      <a:prstClr val="black"/>
                    </a:solidFill>
                    <a:latin typeface="Times New Roman" panose="02020603050405020304" pitchFamily="18" charset="0"/>
                    <a:ea typeface="SimSun"/>
                    <a:cs typeface="Times New Roman" panose="02020603050405020304" pitchFamily="18" charset="0"/>
                  </a:rPr>
                  <a:t>: </a:t>
                </a:r>
                <a:endParaRPr lang="en-US" sz="1600" dirty="0">
                  <a:solidFill>
                    <a:prstClr val="black"/>
                  </a:solidFill>
                  <a:latin typeface="Times New Roman" panose="02020603050405020304" pitchFamily="18" charset="0"/>
                  <a:ea typeface="SimSun"/>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D29886C2-ACAD-4374-BE41-CAF6E2238FDF}"/>
                  </a:ext>
                </a:extLst>
              </p:cNvPr>
              <p:cNvSpPr>
                <a:spLocks noRot="1" noChangeAspect="1" noMove="1" noResize="1" noEditPoints="1" noAdjustHandles="1" noChangeArrowheads="1" noChangeShapeType="1" noTextEdit="1"/>
              </p:cNvSpPr>
              <p:nvPr/>
            </p:nvSpPr>
            <p:spPr>
              <a:xfrm>
                <a:off x="1677699" y="3517904"/>
                <a:ext cx="4931887" cy="2993640"/>
              </a:xfrm>
              <a:prstGeom prst="rect">
                <a:avLst/>
              </a:prstGeom>
              <a:blipFill>
                <a:blip r:embed="rId5"/>
                <a:stretch>
                  <a:fillRect l="-1112" t="-1018" b="-183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308DDAB-5310-4C84-B837-AE646A4A7FB0}"/>
                  </a:ext>
                </a:extLst>
              </p:cNvPr>
              <p:cNvSpPr/>
              <p:nvPr/>
            </p:nvSpPr>
            <p:spPr>
              <a:xfrm>
                <a:off x="3351510" y="5073059"/>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D308DDAB-5310-4C84-B837-AE646A4A7FB0}"/>
                  </a:ext>
                </a:extLst>
              </p:cNvPr>
              <p:cNvSpPr>
                <a:spLocks noRot="1" noChangeAspect="1" noMove="1" noResize="1" noEditPoints="1" noAdjustHandles="1" noChangeArrowheads="1" noChangeShapeType="1" noTextEdit="1"/>
              </p:cNvSpPr>
              <p:nvPr/>
            </p:nvSpPr>
            <p:spPr>
              <a:xfrm>
                <a:off x="3351510" y="5073059"/>
                <a:ext cx="1308307" cy="558614"/>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F87DF60-5F15-42B2-8460-4D61F95C40C6}"/>
                  </a:ext>
                </a:extLst>
              </p:cNvPr>
              <p:cNvSpPr/>
              <p:nvPr/>
            </p:nvSpPr>
            <p:spPr>
              <a:xfrm>
                <a:off x="4282601" y="5439046"/>
                <a:ext cx="1367618" cy="695062"/>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d>
                            <m:d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r>
                                        <a:rPr lang="en-US" sz="1400" i="1">
                                          <a:solidFill>
                                            <a:prstClr val="black"/>
                                          </a:solidFill>
                                          <a:latin typeface="Times New Roman" panose="02040503050406030204" pitchFamily="18" charset="0"/>
                                          <a:ea typeface="SimSun" panose="02040503050406030204" pitchFamily="18" charset="0"/>
                                          <a:cs typeface="Times New Roman" panose="02020603050405020304" pitchFamily="18" charset="0"/>
                                        </a:rPr>
                                        <m:t>𝜇</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num>
                                <m:den>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𝑔</m:t>
                                  </m:r>
                                </m:den>
                              </m:f>
                            </m:e>
                          </m:d>
                        </m:e>
                        <m:sup>
                          <m:f>
                            <m:f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den>
                          </m:f>
                        </m:sup>
                      </m:sSup>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6F87DF60-5F15-42B2-8460-4D61F95C40C6}"/>
                  </a:ext>
                </a:extLst>
              </p:cNvPr>
              <p:cNvSpPr>
                <a:spLocks noRot="1" noChangeAspect="1" noMove="1" noResize="1" noEditPoints="1" noAdjustHandles="1" noChangeArrowheads="1" noChangeShapeType="1" noTextEdit="1"/>
              </p:cNvSpPr>
              <p:nvPr/>
            </p:nvSpPr>
            <p:spPr>
              <a:xfrm>
                <a:off x="4282601" y="5439046"/>
                <a:ext cx="1367618" cy="695062"/>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F8DDE0-1E96-4E88-B9E3-C464B695CFFA}"/>
                  </a:ext>
                </a:extLst>
              </p:cNvPr>
              <p:cNvSpPr/>
              <p:nvPr/>
            </p:nvSpPr>
            <p:spPr>
              <a:xfrm>
                <a:off x="3529263" y="6024027"/>
                <a:ext cx="1596270" cy="537840"/>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σ</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f>
                        <m:f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ℎ</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𝑣</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9" name="矩形 8">
                <a:extLst>
                  <a:ext uri="{FF2B5EF4-FFF2-40B4-BE49-F238E27FC236}">
                    <a16:creationId xmlns:a16="http://schemas.microsoft.com/office/drawing/2014/main" id="{31F8DDE0-1E96-4E88-B9E3-C464B695CFFA}"/>
                  </a:ext>
                </a:extLst>
              </p:cNvPr>
              <p:cNvSpPr>
                <a:spLocks noRot="1" noChangeAspect="1" noMove="1" noResize="1" noEditPoints="1" noAdjustHandles="1" noChangeArrowheads="1" noChangeShapeType="1" noTextEdit="1"/>
              </p:cNvSpPr>
              <p:nvPr/>
            </p:nvSpPr>
            <p:spPr>
              <a:xfrm>
                <a:off x="3529263" y="6024027"/>
                <a:ext cx="1596270" cy="537840"/>
              </a:xfrm>
              <a:prstGeom prst="rect">
                <a:avLst/>
              </a:prstGeom>
              <a:blipFill>
                <a:blip r:embed="rId8"/>
                <a:stretch>
                  <a:fillRect b="-2273"/>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E96617A6-5933-491A-A373-11ADE0AC5851}"/>
              </a:ext>
            </a:extLst>
          </p:cNvPr>
          <p:cNvSpPr/>
          <p:nvPr/>
        </p:nvSpPr>
        <p:spPr>
          <a:xfrm>
            <a:off x="6623004" y="4847944"/>
            <a:ext cx="4931887" cy="1354217"/>
          </a:xfrm>
          <a:prstGeom prst="rect">
            <a:avLst/>
          </a:prstGeom>
        </p:spPr>
        <p:txBody>
          <a:bodyPr wrap="square">
            <a:spAutoFit/>
          </a:bodyPr>
          <a:lstStyle/>
          <a:p>
            <a:pPr defTabSz="457200" eaLnBrk="1" fontAlgn="auto" hangingPunct="1">
              <a:spcBef>
                <a:spcPts val="0"/>
              </a:spcBef>
              <a:spcAft>
                <a:spcPts val="0"/>
              </a:spcAft>
            </a:pPr>
            <a:endParaRPr lang="en-US" sz="1800" dirty="0">
              <a:solidFill>
                <a:prstClr val="black"/>
              </a:solidFill>
              <a:latin typeface="Times New Roman" panose="020B0604020202020204" pitchFamily="34" charset="0"/>
              <a:ea typeface="SimSun"/>
              <a:cs typeface="Times New Roman" panose="020B0604020202020204" pitchFamily="34"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Wet-bulb efficiency: </a:t>
            </a: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HK" sz="1600" dirty="0">
                <a:solidFill>
                  <a:prstClr val="black"/>
                </a:solidFill>
                <a:latin typeface="Times New Roman" panose="02020603050405020304" pitchFamily="18" charset="0"/>
                <a:ea typeface="SimSun"/>
                <a:cs typeface="Times New Roman" panose="02020603050405020304" pitchFamily="18" charset="0"/>
              </a:rPr>
              <a:t>Cooling capacity:</a:t>
            </a:r>
          </a:p>
          <a:p>
            <a:pPr defTabSz="457200" eaLnBrk="1" fontAlgn="auto" hangingPunct="1">
              <a:spcBef>
                <a:spcPts val="0"/>
              </a:spcBef>
              <a:spcAft>
                <a:spcPts val="0"/>
              </a:spcAft>
            </a:pPr>
            <a:endParaRPr lang="en-HK" sz="1600" dirty="0">
              <a:solidFill>
                <a:prstClr val="black"/>
              </a:solidFill>
              <a:latin typeface="Times New Roman" panose="020B0604020202020204" pitchFamily="34" charset="0"/>
              <a:ea typeface="SimSun"/>
              <a:cs typeface="Times New Roman" panose="020B0604020202020204" pitchFamily="34"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6FFDB3F-9583-40DD-9EBE-33075881A0B2}"/>
                  </a:ext>
                </a:extLst>
              </p:cNvPr>
              <p:cNvSpPr txBox="1"/>
              <p:nvPr/>
            </p:nvSpPr>
            <p:spPr>
              <a:xfrm>
                <a:off x="7819435" y="4984252"/>
                <a:ext cx="3134360" cy="546945"/>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𝜂</m:t>
                          </m:r>
                        </m:e>
                        <m:sub>
                          <m:r>
                            <a:rPr lang="zh-CN" altLang="en-US" sz="1400" i="1">
                              <a:solidFill>
                                <a:prstClr val="black"/>
                              </a:solidFill>
                              <a:latin typeface="Times New Roman" panose="02040503050406030204" pitchFamily="18" charset="0"/>
                              <a:ea typeface="SimSun"/>
                              <a:cs typeface="Times New Roman"/>
                            </a:rPr>
                            <m:t>𝑤𝑏</m:t>
                          </m:r>
                        </m:sub>
                      </m:sSub>
                      <m:r>
                        <a:rPr lang="zh-CN" altLang="en-US" sz="1400">
                          <a:solidFill>
                            <a:prstClr val="black"/>
                          </a:solidFill>
                          <a:latin typeface="Times New Roman" panose="02040503050406030204" pitchFamily="18" charset="0"/>
                          <a:ea typeface="SimSun"/>
                          <a:cs typeface="Times New Roman"/>
                        </a:rPr>
                        <m:t>=</m:t>
                      </m:r>
                      <m:f>
                        <m:fPr>
                          <m:ctrlPr>
                            <a:rPr lang="zh-CN" altLang="en-US" sz="1400" i="1">
                              <a:solidFill>
                                <a:srgbClr val="836967"/>
                              </a:solidFill>
                              <a:latin typeface="Times New Roman" panose="02040503050406030204" pitchFamily="18" charset="0"/>
                              <a:ea typeface="SimSun"/>
                              <a:cs typeface="Times New Roman"/>
                            </a:rPr>
                          </m:ctrlPr>
                        </m:fPr>
                        <m:num>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num>
                        <m:den>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𝑤𝑏</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𝑠</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den>
                      </m:f>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2" name="文本框 11">
                <a:extLst>
                  <a:ext uri="{FF2B5EF4-FFF2-40B4-BE49-F238E27FC236}">
                    <a16:creationId xmlns:a16="http://schemas.microsoft.com/office/drawing/2014/main" id="{C6FFDB3F-9583-40DD-9EBE-33075881A0B2}"/>
                  </a:ext>
                </a:extLst>
              </p:cNvPr>
              <p:cNvSpPr txBox="1">
                <a:spLocks noRot="1" noChangeAspect="1" noMove="1" noResize="1" noEditPoints="1" noAdjustHandles="1" noChangeArrowheads="1" noChangeShapeType="1" noTextEdit="1"/>
              </p:cNvSpPr>
              <p:nvPr/>
            </p:nvSpPr>
            <p:spPr>
              <a:xfrm>
                <a:off x="7819435" y="4984252"/>
                <a:ext cx="3134360" cy="546945"/>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ACD5137-AC2E-491D-831E-DDDF70F49F2F}"/>
                  </a:ext>
                </a:extLst>
              </p:cNvPr>
              <p:cNvSpPr txBox="1"/>
              <p:nvPr/>
            </p:nvSpPr>
            <p:spPr>
              <a:xfrm>
                <a:off x="7802111" y="5620531"/>
                <a:ext cx="3134360" cy="339773"/>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𝑄</m:t>
                          </m:r>
                        </m:e>
                        <m:sub>
                          <m:r>
                            <a:rPr lang="zh-CN" altLang="en-US" sz="1400" i="1">
                              <a:solidFill>
                                <a:prstClr val="black"/>
                              </a:solidFill>
                              <a:latin typeface="Times New Roman" panose="02040503050406030204" pitchFamily="18" charset="0"/>
                              <a:ea typeface="SimSun"/>
                              <a:cs typeface="Times New Roman"/>
                            </a:rPr>
                            <m:t>𝑐</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𝑚</m:t>
                          </m:r>
                        </m:e>
                        <m:sub>
                          <m:r>
                            <a:rPr lang="zh-CN" altLang="en-US" sz="1400" i="1">
                              <a:solidFill>
                                <a:prstClr val="black"/>
                              </a:solidFill>
                              <a:latin typeface="Times New Roman" panose="02040503050406030204" pitchFamily="18" charset="0"/>
                              <a:ea typeface="SimSun"/>
                              <a:cs typeface="Times New Roman"/>
                            </a:rPr>
                            <m:t>𝑝</m:t>
                          </m:r>
                        </m:sub>
                      </m:sSub>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𝑐</m:t>
                          </m:r>
                        </m:e>
                        <m:sub>
                          <m:r>
                            <a:rPr lang="zh-CN" altLang="en-US" sz="1400" i="1">
                              <a:solidFill>
                                <a:prstClr val="black"/>
                              </a:solidFill>
                              <a:latin typeface="Times New Roman" panose="02040503050406030204" pitchFamily="18" charset="0"/>
                              <a:ea typeface="SimSun"/>
                              <a:cs typeface="Times New Roman"/>
                            </a:rPr>
                            <m:t>𝑝𝑎</m:t>
                          </m:r>
                        </m:sub>
                      </m:sSub>
                      <m:d>
                        <m:dPr>
                          <m:ctrlPr>
                            <a:rPr lang="zh-CN" altLang="en-US" sz="1400" i="1">
                              <a:solidFill>
                                <a:srgbClr val="836967"/>
                              </a:solidFill>
                              <a:latin typeface="Times New Roman" panose="02040503050406030204" pitchFamily="18" charset="0"/>
                              <a:ea typeface="SimSun"/>
                              <a:cs typeface="Times New Roman"/>
                            </a:rPr>
                          </m:ctrlPr>
                        </m:dPr>
                        <m:e>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e>
                      </m:d>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3" name="文本框 12">
                <a:extLst>
                  <a:ext uri="{FF2B5EF4-FFF2-40B4-BE49-F238E27FC236}">
                    <a16:creationId xmlns:a16="http://schemas.microsoft.com/office/drawing/2014/main" id="{1ACD5137-AC2E-491D-831E-DDDF70F49F2F}"/>
                  </a:ext>
                </a:extLst>
              </p:cNvPr>
              <p:cNvSpPr txBox="1">
                <a:spLocks noRot="1" noChangeAspect="1" noMove="1" noResize="1" noEditPoints="1" noAdjustHandles="1" noChangeArrowheads="1" noChangeShapeType="1" noTextEdit="1"/>
              </p:cNvSpPr>
              <p:nvPr/>
            </p:nvSpPr>
            <p:spPr>
              <a:xfrm>
                <a:off x="7802111" y="5620531"/>
                <a:ext cx="3134360" cy="339773"/>
              </a:xfrm>
              <a:prstGeom prst="rect">
                <a:avLst/>
              </a:prstGeom>
              <a:blipFill>
                <a:blip r:embed="rId10"/>
                <a:stretch>
                  <a:fillRect b="-178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8876B4F8-F90D-443A-9617-8CBA13CF691A}"/>
              </a:ext>
            </a:extLst>
          </p:cNvPr>
          <p:cNvSpPr>
            <a:spLocks noGrp="1"/>
          </p:cNvSpPr>
          <p:nvPr>
            <p:ph type="sldNum" sz="quarter" idx="12"/>
          </p:nvPr>
        </p:nvSpPr>
        <p:spPr>
          <a:xfrm>
            <a:off x="9222552" y="648341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20</a:t>
            </a:fld>
            <a:endParaRPr lang="en-US" altLang="zh-CN">
              <a:latin typeface="Times New Roman"/>
              <a:ea typeface="SimSun"/>
              <a:cs typeface="Times New Roman"/>
            </a:endParaRPr>
          </a:p>
        </p:txBody>
      </p:sp>
      <p:sp>
        <p:nvSpPr>
          <p:cNvPr id="11" name="矩形: 圆角 10">
            <a:extLst>
              <a:ext uri="{FF2B5EF4-FFF2-40B4-BE49-F238E27FC236}">
                <a16:creationId xmlns:a16="http://schemas.microsoft.com/office/drawing/2014/main" id="{8B347E6B-7A7E-48C2-9DC4-433797CC6B6F}"/>
              </a:ext>
            </a:extLst>
          </p:cNvPr>
          <p:cNvSpPr/>
          <p:nvPr/>
        </p:nvSpPr>
        <p:spPr bwMode="auto">
          <a:xfrm>
            <a:off x="1380629" y="1379461"/>
            <a:ext cx="4489037" cy="1872564"/>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7" name="矩形: 圆角 16">
            <a:extLst>
              <a:ext uri="{FF2B5EF4-FFF2-40B4-BE49-F238E27FC236}">
                <a16:creationId xmlns:a16="http://schemas.microsoft.com/office/drawing/2014/main" id="{7B205D15-E9F6-4A81-912A-2A763F7787D2}"/>
              </a:ext>
            </a:extLst>
          </p:cNvPr>
          <p:cNvSpPr/>
          <p:nvPr/>
        </p:nvSpPr>
        <p:spPr bwMode="auto">
          <a:xfrm>
            <a:off x="1380629" y="3504278"/>
            <a:ext cx="4489037" cy="3134092"/>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9" name="矩形 18">
            <a:extLst>
              <a:ext uri="{FF2B5EF4-FFF2-40B4-BE49-F238E27FC236}">
                <a16:creationId xmlns:a16="http://schemas.microsoft.com/office/drawing/2014/main" id="{1F6334B0-7C24-414B-B40A-8C4940EF649A}"/>
              </a:ext>
            </a:extLst>
          </p:cNvPr>
          <p:cNvSpPr/>
          <p:nvPr/>
        </p:nvSpPr>
        <p:spPr bwMode="auto">
          <a:xfrm>
            <a:off x="6654594" y="2718826"/>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76750317-A2D6-4907-9498-450E08BB728F}"/>
                  </a:ext>
                </a:extLst>
              </p:cNvPr>
              <p:cNvSpPr/>
              <p:nvPr/>
            </p:nvSpPr>
            <p:spPr>
              <a:xfrm>
                <a:off x="6588015" y="1480628"/>
                <a:ext cx="3624838" cy="3205108"/>
              </a:xfrm>
              <a:prstGeom prst="rect">
                <a:avLst/>
              </a:prstGeom>
            </p:spPr>
            <p:txBody>
              <a:bodyPr wrap="square">
                <a:spAutoFit/>
              </a:bodyPr>
              <a:lstStyle/>
              <a:p>
                <a:pPr marL="285750" indent="-285750" defTabSz="457200" eaLnBrk="1" fontAlgn="auto" hangingPunct="1">
                  <a:lnSpc>
                    <a:spcPts val="2800"/>
                  </a:lnSpc>
                  <a:spcBef>
                    <a:spcPts val="0"/>
                  </a:spcBef>
                  <a:spcAft>
                    <a:spcPts val="60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IEC performance</a:t>
                </a:r>
                <a:endParaRPr lang="en-US" sz="1800" dirty="0">
                  <a:latin typeface="Times New Roman" panose="02020603050405020304" pitchFamily="18" charset="0"/>
                  <a:ea typeface="SimSun"/>
                  <a:cs typeface="Times New Roman" panose="02020603050405020304" pitchFamily="18" charset="0"/>
                </a:endParaRPr>
              </a:p>
              <a:p>
                <a:pPr>
                  <a:lnSpc>
                    <a:spcPts val="2800"/>
                  </a:lnSpc>
                </a:pPr>
                <a:r>
                  <a:rPr lang="en-US" sz="1800" dirty="0">
                    <a:latin typeface="Times New Roman" panose="02020603050405020304" pitchFamily="18" charset="0"/>
                    <a:ea typeface="SimSun"/>
                    <a:cs typeface="Times New Roman" panose="02020603050405020304" pitchFamily="18" charset="0"/>
                  </a:rPr>
                  <a:t>Pressure </a:t>
                </a:r>
                <a:r>
                  <a:rPr lang="en-US" sz="1800" dirty="0">
                    <a:solidFill>
                      <a:prstClr val="black"/>
                    </a:solidFill>
                    <a:latin typeface="Times New Roman" panose="02020603050405020304" pitchFamily="18" charset="0"/>
                    <a:ea typeface="SimSun"/>
                    <a:cs typeface="Times New Roman" panose="02020603050405020304" pitchFamily="18" charset="0"/>
                  </a:rPr>
                  <a:t>drop</a:t>
                </a:r>
                <a:r>
                  <a:rPr lang="en-US" sz="1800" dirty="0">
                    <a:latin typeface="Times New Roman" panose="02020603050405020304" pitchFamily="18" charset="0"/>
                    <a:ea typeface="SimSun"/>
                    <a:cs typeface="Times New Roman" panose="02020603050405020304" pitchFamily="18" charset="0"/>
                  </a:rPr>
                  <a:t>: </a:t>
                </a:r>
                <a14:m>
                  <m:oMath xmlns:m="http://schemas.openxmlformats.org/officeDocument/2006/math">
                    <m:eqArr>
                      <m:eqArrPr>
                        <m:ctrlPr>
                          <a:rPr lang="en-HK" sz="1600" i="1">
                            <a:latin typeface="Times New Roman" panose="02040503050406030204" pitchFamily="18" charset="0"/>
                            <a:ea typeface="SimSun"/>
                            <a:cs typeface="Times New Roman"/>
                          </a:rPr>
                        </m:ctrlPr>
                      </m:eqArrPr>
                      <m:e>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𝑓</m:t>
                                </m:r>
                              </m:e>
                              <m:sub>
                                <m:r>
                                  <a:rPr lang="en-US" sz="1600" i="1">
                                    <a:latin typeface="Times New Roman" panose="02040503050406030204" pitchFamily="18" charset="0"/>
                                    <a:ea typeface="SimSun"/>
                                    <a:cs typeface="Times New Roman"/>
                                  </a:rPr>
                                  <m:t>𝑅𝑒</m:t>
                                </m:r>
                              </m:sub>
                            </m:sSub>
                            <m:r>
                              <a:rPr lang="en-US" sz="1600" i="1">
                                <a:latin typeface="Times New Roman" panose="02040503050406030204" pitchFamily="18" charset="0"/>
                                <a:ea typeface="SimSun"/>
                                <a:cs typeface="Times New Roman"/>
                              </a:rPr>
                              <m:t>𝐿</m:t>
                            </m:r>
                            <m:r>
                              <a:rPr lang="en-US" sz="1600" i="1">
                                <a:latin typeface="Times New Roman" panose="02040503050406030204" pitchFamily="18" charset="0"/>
                                <a:ea typeface="SimSun"/>
                                <a:cs typeface="Times New Roman"/>
                              </a:rPr>
                              <m:t>𝜌</m:t>
                            </m:r>
                            <m:sSup>
                              <m:sSupPr>
                                <m:ctrlPr>
                                  <a:rPr lang="en-US" sz="1600" i="1">
                                    <a:latin typeface="Times New Roman" panose="02040503050406030204" pitchFamily="18" charset="0"/>
                                    <a:ea typeface="SimSun"/>
                                    <a:cs typeface="Times New Roman"/>
                                  </a:rPr>
                                </m:ctrlPr>
                              </m:sSupPr>
                              <m:e>
                                <m:r>
                                  <a:rPr lang="en-US" sz="1600" i="1">
                                    <a:latin typeface="Times New Roman" panose="02040503050406030204" pitchFamily="18" charset="0"/>
                                    <a:ea typeface="SimSun"/>
                                    <a:cs typeface="Times New Roman"/>
                                  </a:rPr>
                                  <m:t>𝑢</m:t>
                                </m:r>
                              </m:e>
                              <m:sup>
                                <m:r>
                                  <a:rPr lang="en-US" sz="1600" i="1">
                                    <a:latin typeface="Times New Roman" panose="02040503050406030204" pitchFamily="18" charset="0"/>
                                    <a:ea typeface="SimSun"/>
                                    <a:cs typeface="Times New Roman"/>
                                  </a:rPr>
                                  <m:t>2</m:t>
                                </m:r>
                              </m:sup>
                            </m:sSup>
                          </m:num>
                          <m:den>
                            <m:r>
                              <a:rPr lang="en-US" sz="1600" i="1">
                                <a:latin typeface="Times New Roman" panose="02040503050406030204" pitchFamily="18" charset="0"/>
                                <a:ea typeface="SimSun"/>
                                <a:cs typeface="Times New Roman"/>
                              </a:rPr>
                              <m:t>2</m:t>
                            </m:r>
                            <m:r>
                              <a:rPr lang="en-US" sz="1600" i="1">
                                <a:latin typeface="Times New Roman" panose="02040503050406030204" pitchFamily="18" charset="0"/>
                                <a:ea typeface="SimSun"/>
                                <a:cs typeface="Times New Roman"/>
                              </a:rPr>
                              <m:t>𝑅𝑒</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𝑑</m:t>
                                </m:r>
                              </m:e>
                              <m:sub>
                                <m:r>
                                  <a:rPr lang="en-US" sz="1600" i="1">
                                    <a:latin typeface="Times New Roman" panose="02040503050406030204" pitchFamily="18" charset="0"/>
                                    <a:ea typeface="SimSun"/>
                                    <a:cs typeface="Times New Roman"/>
                                  </a:rPr>
                                  <m:t>𝑒</m:t>
                                </m:r>
                              </m:sub>
                            </m:sSub>
                          </m:den>
                        </m:f>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US" sz="1800" dirty="0">
                    <a:latin typeface="Times New Roman" panose="02020603050405020304" pitchFamily="18" charset="0"/>
                    <a:ea typeface="SimSun"/>
                    <a:cs typeface="Times New Roman" panose="02020603050405020304" pitchFamily="18" charset="0"/>
                  </a:rPr>
                  <a:t>Fan consumption: </a:t>
                </a:r>
                <a14:m>
                  <m:oMath xmlns:m="http://schemas.openxmlformats.org/officeDocument/2006/math">
                    <m:eqArr>
                      <m:eqArrPr>
                        <m:ctrlPr>
                          <a:rPr lang="en-HK" sz="1600" i="1">
                            <a:latin typeface="Times New Roman" panose="02040503050406030204" pitchFamily="18" charset="0"/>
                            <a:ea typeface="SimSun"/>
                            <a:cs typeface="Times New Roman"/>
                          </a:rPr>
                        </m:ctrlPr>
                      </m:eqArrPr>
                      <m:e>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𝑄</m:t>
                            </m:r>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3600×1000×</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0</m:t>
                                </m:r>
                              </m:sub>
                            </m:sSub>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1</m:t>
                                </m:r>
                              </m:sub>
                            </m:sSub>
                          </m:den>
                        </m:f>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𝐾</m:t>
                        </m:r>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Pump consumption: </a:t>
                </a:r>
                <a14:m>
                  <m:oMath xmlns:m="http://schemas.openxmlformats.org/officeDocument/2006/math">
                    <m:eqArr>
                      <m:eqArrPr>
                        <m:ctrlPr>
                          <a:rPr lang="en-HK" sz="1400" i="1">
                            <a:latin typeface="Times New Roman" panose="02040503050406030204" pitchFamily="18" charset="0"/>
                            <a:ea typeface="SimSun"/>
                            <a:cs typeface="Times New Roman"/>
                          </a:rPr>
                        </m:ctrlPr>
                      </m:eqArr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𝑊</m:t>
                            </m:r>
                          </m:e>
                          <m:sub>
                            <m:r>
                              <a:rPr lang="en-US" sz="1400" i="1">
                                <a:latin typeface="Times New Roman" panose="02040503050406030204" pitchFamily="18" charset="0"/>
                                <a:ea typeface="SimSun"/>
                                <a:cs typeface="Times New Roman"/>
                              </a:rPr>
                              <m:t>𝑝𝑢𝑚𝑝</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𝑚</m:t>
                            </m:r>
                          </m:e>
                          <m:sub>
                            <m:r>
                              <a:rPr lang="en-US" sz="1400" i="1">
                                <a:latin typeface="Times New Roman" panose="02040503050406030204" pitchFamily="18" charset="0"/>
                                <a:ea typeface="SimSun"/>
                                <a:cs typeface="Times New Roman"/>
                              </a:rPr>
                              <m:t>𝑤</m:t>
                            </m:r>
                          </m:sub>
                        </m:sSub>
                        <m:r>
                          <a:rPr lang="en-US" sz="1400" i="1">
                            <a:latin typeface="Times New Roman" panose="02040503050406030204" pitchFamily="18" charset="0"/>
                            <a:ea typeface="SimSun"/>
                            <a:cs typeface="Times New Roman"/>
                          </a:rPr>
                          <m:t>𝑔</m:t>
                        </m:r>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𝑔𝑟𝑎𝑣𝑖𝑡𝑦</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𝑛𝑜𝑧𝑧𝑙𝑒𝑠</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𝑣𝑎𝑙𝑣𝑒𝑠</m:t>
                                </m:r>
                              </m:sub>
                            </m:sSub>
                          </m:e>
                        </m:d>
                        <m:r>
                          <a:rPr lang="en-HK" sz="1400" i="1">
                            <a:latin typeface="Times New Roman" panose="02040503050406030204" pitchFamily="18" charset="0"/>
                            <a:ea typeface="SimSun"/>
                            <a:cs typeface="Times New Roman"/>
                          </a:rPr>
                          <m:t>×</m:t>
                        </m:r>
                        <m:r>
                          <a:rPr lang="en-HK" sz="1400" i="1">
                            <a:latin typeface="Times New Roman" panose="02040503050406030204" pitchFamily="18" charset="0"/>
                            <a:ea typeface="SimSun"/>
                            <a:cs typeface="Times New Roman"/>
                          </a:rPr>
                          <m:t>𝐾</m:t>
                        </m:r>
                      </m:e>
                    </m:eqArr>
                  </m:oMath>
                </a14:m>
                <a:endParaRPr lang="en-HK"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The coefficient of performance: </a:t>
                </a:r>
                <a14:m>
                  <m:oMath xmlns:m="http://schemas.openxmlformats.org/officeDocument/2006/math">
                    <m:r>
                      <a:rPr lang="en-US" sz="1600" i="1">
                        <a:latin typeface="Times New Roman" panose="02040503050406030204" pitchFamily="18" charset="0"/>
                        <a:ea typeface="SimSun"/>
                        <a:cs typeface="Times New Roman"/>
                      </a:rPr>
                      <m:t>𝐶𝑂𝑃</m:t>
                    </m:r>
                    <m:r>
                      <a:rPr lang="en-US" sz="1600" i="1">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𝑄</m:t>
                            </m:r>
                          </m:e>
                          <m:sub>
                            <m:r>
                              <a:rPr lang="en-US" sz="1600" i="1">
                                <a:latin typeface="Times New Roman" panose="02040503050406030204" pitchFamily="18" charset="0"/>
                                <a:ea typeface="SimSun"/>
                                <a:cs typeface="Times New Roman"/>
                              </a:rPr>
                              <m:t>𝑝</m:t>
                            </m:r>
                          </m:sub>
                        </m:sSub>
                      </m:num>
                      <m:den>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i="1">
                            <a:latin typeface="Times New Roman" panose="02040503050406030204" pitchFamily="18" charset="0"/>
                            <a:ea typeface="SimSun"/>
                            <a:cs typeface="Times New Roman"/>
                          </a:rPr>
                          <m:t>+</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𝑝𝑢𝑚𝑝</m:t>
                            </m:r>
                          </m:sub>
                        </m:sSub>
                      </m:den>
                    </m:f>
                  </m:oMath>
                </a14:m>
                <a:endParaRPr lang="en-HK" sz="1600" dirty="0">
                  <a:latin typeface="Times New Roman" panose="020B0604020202020204" pitchFamily="34" charset="0"/>
                  <a:ea typeface="SimSun"/>
                  <a:cs typeface="Times New Roman" panose="020B0604020202020204" pitchFamily="34" charset="0"/>
                </a:endParaRPr>
              </a:p>
            </p:txBody>
          </p:sp>
        </mc:Choice>
        <mc:Fallback xmlns="">
          <p:sp>
            <p:nvSpPr>
              <p:cNvPr id="20" name="矩形 19">
                <a:extLst>
                  <a:ext uri="{FF2B5EF4-FFF2-40B4-BE49-F238E27FC236}">
                    <a16:creationId xmlns:a16="http://schemas.microsoft.com/office/drawing/2014/main" id="{76750317-A2D6-4907-9498-450E08BB728F}"/>
                  </a:ext>
                </a:extLst>
              </p:cNvPr>
              <p:cNvSpPr>
                <a:spLocks noRot="1" noChangeAspect="1" noMove="1" noResize="1" noEditPoints="1" noAdjustHandles="1" noChangeArrowheads="1" noChangeShapeType="1" noTextEdit="1"/>
              </p:cNvSpPr>
              <p:nvPr/>
            </p:nvSpPr>
            <p:spPr>
              <a:xfrm>
                <a:off x="6588015" y="1480628"/>
                <a:ext cx="3624838" cy="3205108"/>
              </a:xfrm>
              <a:prstGeom prst="rect">
                <a:avLst/>
              </a:prstGeom>
              <a:blipFill>
                <a:blip r:embed="rId11"/>
                <a:stretch>
                  <a:fillRect l="-1515" r="-7071"/>
                </a:stretch>
              </a:blipFill>
            </p:spPr>
            <p:txBody>
              <a:bodyPr/>
              <a:lstStyle/>
              <a:p>
                <a:r>
                  <a:rPr lang="en-US">
                    <a:noFill/>
                    <a:latin typeface="Times New Roman"/>
                    <a:ea typeface="SimSun"/>
                    <a:cs typeface="Times New Roman"/>
                  </a:rPr>
                  <a:t> </a:t>
                </a:r>
              </a:p>
            </p:txBody>
          </p:sp>
        </mc:Fallback>
      </mc:AlternateContent>
      <p:sp>
        <p:nvSpPr>
          <p:cNvPr id="21" name="矩形: 圆角 20">
            <a:extLst>
              <a:ext uri="{FF2B5EF4-FFF2-40B4-BE49-F238E27FC236}">
                <a16:creationId xmlns:a16="http://schemas.microsoft.com/office/drawing/2014/main" id="{1309ED2F-F544-47BC-99F1-90A1AA32B9A2}"/>
              </a:ext>
            </a:extLst>
          </p:cNvPr>
          <p:cNvSpPr/>
          <p:nvPr/>
        </p:nvSpPr>
        <p:spPr bwMode="auto">
          <a:xfrm>
            <a:off x="6161185" y="1379460"/>
            <a:ext cx="4483767" cy="5258909"/>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2" name="矩形 21">
            <a:extLst>
              <a:ext uri="{FF2B5EF4-FFF2-40B4-BE49-F238E27FC236}">
                <a16:creationId xmlns:a16="http://schemas.microsoft.com/office/drawing/2014/main" id="{152E01CA-34F4-4696-9F96-5062403B90C1}"/>
              </a:ext>
            </a:extLst>
          </p:cNvPr>
          <p:cNvSpPr/>
          <p:nvPr/>
        </p:nvSpPr>
        <p:spPr bwMode="auto">
          <a:xfrm>
            <a:off x="6684575" y="357251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3" name="矩形 22">
            <a:extLst>
              <a:ext uri="{FF2B5EF4-FFF2-40B4-BE49-F238E27FC236}">
                <a16:creationId xmlns:a16="http://schemas.microsoft.com/office/drawing/2014/main" id="{D801FA2E-E0E2-4767-BA62-A384CE395DA4}"/>
              </a:ext>
            </a:extLst>
          </p:cNvPr>
          <p:cNvSpPr/>
          <p:nvPr/>
        </p:nvSpPr>
        <p:spPr bwMode="auto">
          <a:xfrm>
            <a:off x="7260754" y="440883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4" name="矩形 23">
            <a:extLst>
              <a:ext uri="{FF2B5EF4-FFF2-40B4-BE49-F238E27FC236}">
                <a16:creationId xmlns:a16="http://schemas.microsoft.com/office/drawing/2014/main" id="{4710880B-9F98-4084-86BF-2923D8B1AE9F}"/>
              </a:ext>
            </a:extLst>
          </p:cNvPr>
          <p:cNvSpPr/>
          <p:nvPr/>
        </p:nvSpPr>
        <p:spPr bwMode="auto">
          <a:xfrm>
            <a:off x="7852006" y="4412333"/>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sp>
        <p:nvSpPr>
          <p:cNvPr id="2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性能评价指标</a:t>
            </a:r>
          </a:p>
        </p:txBody>
      </p:sp>
      <p:sp>
        <p:nvSpPr>
          <p:cNvPr id="2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3.4 Performance indexes</a:t>
            </a:r>
          </a:p>
        </p:txBody>
      </p:sp>
      <p:sp>
        <p:nvSpPr>
          <p:cNvPr id="2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2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38580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568EE4D-6AB2-499B-ABF8-7E00C95A3C08}"/>
              </a:ext>
            </a:extLst>
          </p:cNvPr>
          <p:cNvSpPr/>
          <p:nvPr/>
        </p:nvSpPr>
        <p:spPr>
          <a:xfrm>
            <a:off x="1536432" y="1842407"/>
            <a:ext cx="298107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Water density modification</a:t>
            </a:r>
          </a:p>
        </p:txBody>
      </p:sp>
      <p:sp>
        <p:nvSpPr>
          <p:cNvPr id="7" name="矩形 6">
            <a:extLst>
              <a:ext uri="{FF2B5EF4-FFF2-40B4-BE49-F238E27FC236}">
                <a16:creationId xmlns:a16="http://schemas.microsoft.com/office/drawing/2014/main" id="{FB7567DF-D2B5-4E92-83AE-DA5F85BA1736}"/>
              </a:ext>
            </a:extLst>
          </p:cNvPr>
          <p:cNvSpPr/>
          <p:nvPr/>
        </p:nvSpPr>
        <p:spPr>
          <a:xfrm>
            <a:off x="1687913" y="2328195"/>
            <a:ext cx="2392001" cy="338554"/>
          </a:xfrm>
          <a:prstGeom prst="rect">
            <a:avLst/>
          </a:prstGeom>
        </p:spPr>
        <p:txBody>
          <a:bodyPr wrap="none">
            <a:spAutoFit/>
          </a:bodyPr>
          <a:lstStyle/>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Original spraying density</a:t>
            </a:r>
            <a:r>
              <a:rPr lang="en-US" sz="1600" dirty="0">
                <a:solidFill>
                  <a:prstClr val="black"/>
                </a:solidFill>
                <a:latin typeface="Times New Roman" panose="020B0604020202020204" pitchFamily="34" charset="0"/>
                <a:ea typeface="SimSun"/>
                <a:cs typeface="Times New Roman" panose="020B0604020202020204" pitchFamily="34" charset="0"/>
              </a:rPr>
              <a:t>: </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2897123-5B2E-44C6-9546-F002E9796C0F}"/>
                  </a:ext>
                </a:extLst>
              </p:cNvPr>
              <p:cNvSpPr/>
              <p:nvPr/>
            </p:nvSpPr>
            <p:spPr>
              <a:xfrm>
                <a:off x="4005559" y="2222442"/>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C2897123-5B2E-44C6-9546-F002E9796C0F}"/>
                  </a:ext>
                </a:extLst>
              </p:cNvPr>
              <p:cNvSpPr>
                <a:spLocks noRot="1" noChangeAspect="1" noMove="1" noResize="1" noEditPoints="1" noAdjustHandles="1" noChangeArrowheads="1" noChangeShapeType="1" noTextEdit="1"/>
              </p:cNvSpPr>
              <p:nvPr/>
            </p:nvSpPr>
            <p:spPr>
              <a:xfrm>
                <a:off x="4005559" y="2222442"/>
                <a:ext cx="1308307" cy="558614"/>
              </a:xfrm>
              <a:prstGeom prst="rect">
                <a:avLst/>
              </a:prstGeom>
              <a:blipFill>
                <a:blip r:embed="rId4"/>
                <a:stretch>
                  <a:fillRect b="-1099"/>
                </a:stretch>
              </a:blipFill>
            </p:spPr>
            <p:txBody>
              <a:bodyPr/>
              <a:lstStyle/>
              <a:p>
                <a:r>
                  <a:rPr lang="en-US">
                    <a:noFill/>
                    <a:latin typeface="Times New Roman"/>
                    <a:ea typeface="SimSun"/>
                    <a:cs typeface="Times New Roman"/>
                  </a:rPr>
                  <a:t> </a:t>
                </a:r>
              </a:p>
            </p:txBody>
          </p:sp>
        </mc:Fallback>
      </mc:AlternateContent>
      <p:sp>
        <p:nvSpPr>
          <p:cNvPr id="10" name="矩形 9">
            <a:extLst>
              <a:ext uri="{FF2B5EF4-FFF2-40B4-BE49-F238E27FC236}">
                <a16:creationId xmlns:a16="http://schemas.microsoft.com/office/drawing/2014/main" id="{365A11DE-7118-406B-9E8D-65F063DDD022}"/>
              </a:ext>
            </a:extLst>
          </p:cNvPr>
          <p:cNvSpPr/>
          <p:nvPr/>
        </p:nvSpPr>
        <p:spPr>
          <a:xfrm>
            <a:off x="1816589" y="6031469"/>
            <a:ext cx="1473480" cy="369332"/>
          </a:xfrm>
          <a:prstGeom prst="rect">
            <a:avLst/>
          </a:prstGeom>
        </p:spPr>
        <p:txBody>
          <a:bodyPr wrap="none">
            <a:spAutoFit/>
          </a:bodyPr>
          <a:lstStyle/>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Ideal scenario</a:t>
            </a:r>
          </a:p>
        </p:txBody>
      </p:sp>
      <p:sp>
        <p:nvSpPr>
          <p:cNvPr id="11" name="矩形 10">
            <a:extLst>
              <a:ext uri="{FF2B5EF4-FFF2-40B4-BE49-F238E27FC236}">
                <a16:creationId xmlns:a16="http://schemas.microsoft.com/office/drawing/2014/main" id="{35BBD14C-4AD1-4782-A85F-6A33F5323102}"/>
              </a:ext>
            </a:extLst>
          </p:cNvPr>
          <p:cNvSpPr/>
          <p:nvPr/>
        </p:nvSpPr>
        <p:spPr>
          <a:xfrm>
            <a:off x="5355892" y="6031469"/>
            <a:ext cx="1678665" cy="369332"/>
          </a:xfrm>
          <a:prstGeom prst="rect">
            <a:avLst/>
          </a:prstGeom>
        </p:spPr>
        <p:txBody>
          <a:bodyPr wrap="none">
            <a:spAutoFit/>
          </a:bodyPr>
          <a:lstStyle/>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Reality scenario</a:t>
            </a:r>
          </a:p>
        </p:txBody>
      </p:sp>
      <p:pic>
        <p:nvPicPr>
          <p:cNvPr id="12" name="图片 11">
            <a:extLst>
              <a:ext uri="{FF2B5EF4-FFF2-40B4-BE49-F238E27FC236}">
                <a16:creationId xmlns:a16="http://schemas.microsoft.com/office/drawing/2014/main" id="{360BD3B8-8AB3-43AF-AD63-7422515FA9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5165" y="2858179"/>
            <a:ext cx="3562356" cy="2048112"/>
          </a:xfrm>
          <a:prstGeom prst="rect">
            <a:avLst/>
          </a:prstGeom>
        </p:spPr>
      </p:pic>
      <p:sp>
        <p:nvSpPr>
          <p:cNvPr id="13" name="椭圆 12">
            <a:extLst>
              <a:ext uri="{FF2B5EF4-FFF2-40B4-BE49-F238E27FC236}">
                <a16:creationId xmlns:a16="http://schemas.microsoft.com/office/drawing/2014/main" id="{2A9E1777-AA53-4FF1-A2B3-EB091B6898E2}"/>
              </a:ext>
            </a:extLst>
          </p:cNvPr>
          <p:cNvSpPr/>
          <p:nvPr/>
        </p:nvSpPr>
        <p:spPr>
          <a:xfrm>
            <a:off x="9003387" y="3617747"/>
            <a:ext cx="262647" cy="340468"/>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800" kern="0">
              <a:solidFill>
                <a:prstClr val="white"/>
              </a:solidFill>
              <a:latin typeface="Times New Roman" panose="020F0502020204030204"/>
              <a:ea typeface="SimSun"/>
              <a:cs typeface="Times New Roman"/>
            </a:endParaRPr>
          </a:p>
        </p:txBody>
      </p:sp>
      <p:sp>
        <p:nvSpPr>
          <p:cNvPr id="17" name="矩形 16">
            <a:extLst>
              <a:ext uri="{FF2B5EF4-FFF2-40B4-BE49-F238E27FC236}">
                <a16:creationId xmlns:a16="http://schemas.microsoft.com/office/drawing/2014/main" id="{9B191E51-CD88-4DD4-A748-84FCFC12D6A3}"/>
              </a:ext>
            </a:extLst>
          </p:cNvPr>
          <p:cNvSpPr/>
          <p:nvPr/>
        </p:nvSpPr>
        <p:spPr>
          <a:xfrm>
            <a:off x="8834234" y="5113545"/>
            <a:ext cx="3654907"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3.5.1 </a:t>
            </a:r>
            <a:r>
              <a:rPr lang="en-HK" sz="1200" dirty="0">
                <a:solidFill>
                  <a:prstClr val="black"/>
                </a:solidFill>
                <a:latin typeface="Times New Roman" panose="02020603050405020304" pitchFamily="18" charset="0"/>
                <a:ea typeface="SimSun"/>
                <a:cs typeface="Times New Roman" panose="02020603050405020304" pitchFamily="18" charset="0"/>
              </a:rPr>
              <a:t>H</a:t>
            </a:r>
            <a:r>
              <a:rPr lang="en-US" altLang="zh-CN"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eat and mass </a:t>
            </a:r>
            <a:r>
              <a:rPr lang="en-HK" sz="1200" dirty="0">
                <a:solidFill>
                  <a:prstClr val="black"/>
                </a:solidFill>
                <a:latin typeface="Times New Roman" panose="02020603050405020304" pitchFamily="18" charset="0"/>
                <a:ea typeface="SimSun"/>
                <a:cs typeface="Times New Roman" panose="02020603050405020304" pitchFamily="18" charset="0"/>
              </a:rPr>
              <a:t>transfer of the </a:t>
            </a:r>
          </a:p>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            secondary air flow channel</a:t>
            </a:r>
          </a:p>
        </p:txBody>
      </p:sp>
      <p:sp>
        <p:nvSpPr>
          <p:cNvPr id="2" name="灯片编号占位符 1">
            <a:extLst>
              <a:ext uri="{FF2B5EF4-FFF2-40B4-BE49-F238E27FC236}">
                <a16:creationId xmlns:a16="http://schemas.microsoft.com/office/drawing/2014/main" id="{C2A57EB6-2B08-4E86-ADC5-FFFA37F5EED7}"/>
              </a:ext>
            </a:extLst>
          </p:cNvPr>
          <p:cNvSpPr>
            <a:spLocks noGrp="1"/>
          </p:cNvSpPr>
          <p:nvPr>
            <p:ph type="sldNum" sz="quarter" idx="12"/>
          </p:nvPr>
        </p:nvSpPr>
        <p:spPr>
          <a:xfrm>
            <a:off x="9266034"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21</a:t>
            </a:fld>
            <a:endParaRPr lang="en-US" altLang="zh-CN" dirty="0">
              <a:latin typeface="Times New Roman"/>
              <a:ea typeface="SimSun"/>
              <a:cs typeface="Times New Roman"/>
            </a:endParaRPr>
          </a:p>
        </p:txBody>
      </p:sp>
      <p:sp>
        <p:nvSpPr>
          <p:cNvPr id="14" name="Rectangle 2">
            <a:extLst>
              <a:ext uri="{FF2B5EF4-FFF2-40B4-BE49-F238E27FC236}">
                <a16:creationId xmlns:a16="http://schemas.microsoft.com/office/drawing/2014/main" id="{3E98F2FE-7A59-425D-B694-FD31049822E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0" name="对象 19">
            <a:extLst>
              <a:ext uri="{FF2B5EF4-FFF2-40B4-BE49-F238E27FC236}">
                <a16:creationId xmlns:a16="http://schemas.microsoft.com/office/drawing/2014/main" id="{8418C967-C800-4B36-B473-179EB889762C}"/>
              </a:ext>
            </a:extLst>
          </p:cNvPr>
          <p:cNvGraphicFramePr>
            <a:graphicFrameLocks noChangeAspect="1"/>
          </p:cNvGraphicFramePr>
          <p:nvPr/>
        </p:nvGraphicFramePr>
        <p:xfrm>
          <a:off x="419100" y="2816725"/>
          <a:ext cx="3853356" cy="3214992"/>
        </p:xfrm>
        <a:graphic>
          <a:graphicData uri="http://schemas.openxmlformats.org/presentationml/2006/ole">
            <mc:AlternateContent xmlns:mc="http://schemas.openxmlformats.org/markup-compatibility/2006">
              <mc:Choice xmlns:v="urn:schemas-microsoft-com:vml" Requires="v">
                <p:oleObj name="Graph" r:id="rId6" imgW="6384906" imgH="5420971" progId="Origin50.Graph">
                  <p:embed/>
                </p:oleObj>
              </mc:Choice>
              <mc:Fallback>
                <p:oleObj name="Graph" r:id="rId6" imgW="6384906" imgH="5420971" progId="Origin50.Graph">
                  <p:embed/>
                  <p:pic>
                    <p:nvPicPr>
                      <p:cNvPr id="20" name="对象 19">
                        <a:extLst>
                          <a:ext uri="{FF2B5EF4-FFF2-40B4-BE49-F238E27FC236}">
                            <a16:creationId xmlns:a16="http://schemas.microsoft.com/office/drawing/2014/main" id="{8418C967-C800-4B36-B473-179EB88976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 y="2816725"/>
                        <a:ext cx="3853356" cy="3214992"/>
                      </a:xfrm>
                      <a:prstGeom prst="rect">
                        <a:avLst/>
                      </a:prstGeom>
                      <a:noFill/>
                    </p:spPr>
                  </p:pic>
                </p:oleObj>
              </mc:Fallback>
            </mc:AlternateContent>
          </a:graphicData>
        </a:graphic>
      </p:graphicFrame>
      <p:sp>
        <p:nvSpPr>
          <p:cNvPr id="21" name="Rectangle 4">
            <a:extLst>
              <a:ext uri="{FF2B5EF4-FFF2-40B4-BE49-F238E27FC236}">
                <a16:creationId xmlns:a16="http://schemas.microsoft.com/office/drawing/2014/main" id="{C6F8DE7B-769F-40B8-8AF9-1F5EE5343E6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2" name="对象 21">
            <a:extLst>
              <a:ext uri="{FF2B5EF4-FFF2-40B4-BE49-F238E27FC236}">
                <a16:creationId xmlns:a16="http://schemas.microsoft.com/office/drawing/2014/main" id="{AB3C3E67-99AF-4D54-A704-013D219F90A2}"/>
              </a:ext>
            </a:extLst>
          </p:cNvPr>
          <p:cNvGraphicFramePr>
            <a:graphicFrameLocks noChangeAspect="1"/>
          </p:cNvGraphicFramePr>
          <p:nvPr/>
        </p:nvGraphicFramePr>
        <p:xfrm>
          <a:off x="4225647" y="2921176"/>
          <a:ext cx="3575327" cy="3073921"/>
        </p:xfrm>
        <a:graphic>
          <a:graphicData uri="http://schemas.openxmlformats.org/presentationml/2006/ole">
            <mc:AlternateContent xmlns:mc="http://schemas.openxmlformats.org/markup-compatibility/2006">
              <mc:Choice xmlns:v="urn:schemas-microsoft-com:vml" Requires="v">
                <p:oleObj name="Graph" r:id="rId8" imgW="6107567" imgH="5282235" progId="Origin50.Graph">
                  <p:embed/>
                </p:oleObj>
              </mc:Choice>
              <mc:Fallback>
                <p:oleObj name="Graph" r:id="rId8" imgW="6107567" imgH="5282235" progId="Origin50.Graph">
                  <p:embed/>
                  <p:pic>
                    <p:nvPicPr>
                      <p:cNvPr id="22" name="对象 21">
                        <a:extLst>
                          <a:ext uri="{FF2B5EF4-FFF2-40B4-BE49-F238E27FC236}">
                            <a16:creationId xmlns:a16="http://schemas.microsoft.com/office/drawing/2014/main" id="{AB3C3E67-99AF-4D54-A704-013D219F90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5647" y="2921176"/>
                        <a:ext cx="3575327" cy="3073921"/>
                      </a:xfrm>
                      <a:prstGeom prst="rect">
                        <a:avLst/>
                      </a:prstGeom>
                      <a:noFill/>
                    </p:spPr>
                  </p:pic>
                </p:oleObj>
              </mc:Fallback>
            </mc:AlternateContent>
          </a:graphicData>
        </a:graphic>
      </p:graphicFrame>
      <p:sp>
        <p:nvSpPr>
          <p:cNvPr id="23"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通道内的喷淋密度与润湿性</a:t>
            </a:r>
          </a:p>
        </p:txBody>
      </p:sp>
      <p:sp>
        <p:nvSpPr>
          <p:cNvPr id="24"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3.5.1 The water density and wettability in channels</a:t>
            </a:r>
          </a:p>
        </p:txBody>
      </p:sp>
      <p:sp>
        <p:nvSpPr>
          <p:cNvPr id="25"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26"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70720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4728E8C-08D8-4CB7-9715-B9B4E0E5F1BE}"/>
              </a:ext>
            </a:extLst>
          </p:cNvPr>
          <p:cNvSpPr/>
          <p:nvPr/>
        </p:nvSpPr>
        <p:spPr>
          <a:xfrm>
            <a:off x="1379078" y="1613225"/>
            <a:ext cx="253146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Arrangement schemes</a:t>
            </a:r>
          </a:p>
        </p:txBody>
      </p:sp>
      <p:pic>
        <p:nvPicPr>
          <p:cNvPr id="7" name="图片 6">
            <a:extLst>
              <a:ext uri="{FF2B5EF4-FFF2-40B4-BE49-F238E27FC236}">
                <a16:creationId xmlns:a16="http://schemas.microsoft.com/office/drawing/2014/main" id="{037BA7FE-40E9-437E-86AE-9FCD3E8E17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1271" b="61733"/>
          <a:stretch/>
        </p:blipFill>
        <p:spPr bwMode="auto">
          <a:xfrm>
            <a:off x="7293631" y="1306872"/>
            <a:ext cx="1350279" cy="1260000"/>
          </a:xfrm>
          <a:prstGeom prst="rect">
            <a:avLst/>
          </a:prstGeom>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CB3668D4-0B59-42BD-A70F-53B540351F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867" t="53966" r="51931" b="11619"/>
          <a:stretch/>
        </p:blipFill>
        <p:spPr bwMode="auto">
          <a:xfrm>
            <a:off x="8773092" y="1341696"/>
            <a:ext cx="1220023" cy="114480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6920EDB-9D69-4594-A6C5-2AB1453745AA}"/>
                  </a:ext>
                </a:extLst>
              </p:cNvPr>
              <p:cNvSpPr/>
              <p:nvPr/>
            </p:nvSpPr>
            <p:spPr>
              <a:xfrm>
                <a:off x="1705231" y="2018375"/>
                <a:ext cx="5207963" cy="661720"/>
              </a:xfrm>
              <a:prstGeom prst="rect">
                <a:avLst/>
              </a:prstGeom>
            </p:spPr>
            <p:txBody>
              <a:bodyPr wrap="square">
                <a:spAutoFit/>
              </a:bodyPr>
              <a:lstStyle/>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size of heat exchanger: 400 mm </a:t>
                </a:r>
                <a14:m>
                  <m:oMath xmlns:m="http://schemas.openxmlformats.org/officeDocument/2006/math">
                    <m:r>
                      <a:rPr lang="en-HK" sz="1600" i="1" smtClean="0">
                        <a:solidFill>
                          <a:prstClr val="black"/>
                        </a:solidFill>
                        <a:latin typeface="Times New Roman" panose="02040503050406030204" pitchFamily="18" charset="0"/>
                        <a:ea typeface="SimSun" panose="02040503050406030204" pitchFamily="18" charset="0"/>
                        <a:cs typeface="Times New Roman" panose="02020603050405020304" pitchFamily="18" charset="0"/>
                      </a:rPr>
                      <m:t>×</m:t>
                    </m:r>
                  </m:oMath>
                </a14:m>
                <a:r>
                  <a:rPr lang="en-HK" sz="1600" dirty="0">
                    <a:solidFill>
                      <a:prstClr val="black"/>
                    </a:solidFill>
                    <a:latin typeface="Times New Roman" panose="02020603050405020304" pitchFamily="18" charset="0"/>
                    <a:ea typeface="SimSun"/>
                    <a:cs typeface="Times New Roman" panose="02020603050405020304" pitchFamily="18" charset="0"/>
                  </a:rPr>
                  <a:t> 400 mm</a:t>
                </a:r>
              </a:p>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height of the nozzle: 300 mm</a:t>
                </a:r>
              </a:p>
            </p:txBody>
          </p:sp>
        </mc:Choice>
        <mc:Fallback xmlns="">
          <p:sp>
            <p:nvSpPr>
              <p:cNvPr id="11" name="矩形 10">
                <a:extLst>
                  <a:ext uri="{FF2B5EF4-FFF2-40B4-BE49-F238E27FC236}">
                    <a16:creationId xmlns:a16="http://schemas.microsoft.com/office/drawing/2014/main" id="{66920EDB-9D69-4594-A6C5-2AB1453745AA}"/>
                  </a:ext>
                </a:extLst>
              </p:cNvPr>
              <p:cNvSpPr>
                <a:spLocks noRot="1" noChangeAspect="1" noMove="1" noResize="1" noEditPoints="1" noAdjustHandles="1" noChangeArrowheads="1" noChangeShapeType="1" noTextEdit="1"/>
              </p:cNvSpPr>
              <p:nvPr/>
            </p:nvSpPr>
            <p:spPr>
              <a:xfrm>
                <a:off x="1705231" y="2018375"/>
                <a:ext cx="5207963" cy="661720"/>
              </a:xfrm>
              <a:prstGeom prst="rect">
                <a:avLst/>
              </a:prstGeom>
              <a:blipFill>
                <a:blip r:embed="rId6"/>
                <a:stretch>
                  <a:fillRect l="-703" t="-2752" b="-11009"/>
                </a:stretch>
              </a:blipFill>
            </p:spPr>
            <p:txBody>
              <a:bodyPr/>
              <a:lstStyle/>
              <a:p>
                <a:r>
                  <a:rPr lang="en-US">
                    <a:noFill/>
                    <a:latin typeface="Times New Roman"/>
                    <a:ea typeface="SimSun"/>
                    <a:cs typeface="Times New Roman"/>
                  </a:rPr>
                  <a:t> </a:t>
                </a:r>
              </a:p>
            </p:txBody>
          </p:sp>
        </mc:Fallback>
      </mc:AlternateContent>
      <p:sp>
        <p:nvSpPr>
          <p:cNvPr id="12" name="矩形 11">
            <a:extLst>
              <a:ext uri="{FF2B5EF4-FFF2-40B4-BE49-F238E27FC236}">
                <a16:creationId xmlns:a16="http://schemas.microsoft.com/office/drawing/2014/main" id="{217AF81E-EF44-45C7-A6E4-50B612F2B928}"/>
              </a:ext>
            </a:extLst>
          </p:cNvPr>
          <p:cNvSpPr/>
          <p:nvPr/>
        </p:nvSpPr>
        <p:spPr>
          <a:xfrm>
            <a:off x="2843847" y="6211928"/>
            <a:ext cx="6686365" cy="553998"/>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Spray optimal arrangement: </a:t>
            </a:r>
            <a:r>
              <a:rPr lang="en-HK" sz="1600" dirty="0">
                <a:solidFill>
                  <a:srgbClr val="A30000"/>
                </a:solidFill>
                <a:latin typeface="Times New Roman" panose="02020603050405020304" pitchFamily="18" charset="0"/>
                <a:ea typeface="SimSun"/>
                <a:cs typeface="Times New Roman" panose="02020603050405020304" pitchFamily="18" charset="0"/>
              </a:rPr>
              <a:t>Cent</a:t>
            </a:r>
            <a:r>
              <a:rPr lang="en-US" altLang="zh-CN" sz="1600" dirty="0" err="1">
                <a:solidFill>
                  <a:srgbClr val="A30000"/>
                </a:solidFill>
                <a:latin typeface="Times New Roman" panose="02020603050405020304" pitchFamily="18" charset="0"/>
                <a:ea typeface="SimSun"/>
                <a:cs typeface="Times New Roman" panose="02020603050405020304" pitchFamily="18" charset="0"/>
              </a:rPr>
              <a:t>er</a:t>
            </a:r>
            <a:r>
              <a:rPr lang="en-HK" sz="1600" dirty="0">
                <a:solidFill>
                  <a:srgbClr val="A30000"/>
                </a:solidFill>
                <a:latin typeface="Times New Roman" panose="02020603050405020304" pitchFamily="18" charset="0"/>
                <a:ea typeface="SimSun"/>
                <a:cs typeface="Times New Roman" panose="02020603050405020304" pitchFamily="18" charset="0"/>
              </a:rPr>
              <a:t>line</a:t>
            </a:r>
            <a:r>
              <a:rPr lang="en-HK" sz="1600" dirty="0">
                <a:solidFill>
                  <a:prstClr val="black"/>
                </a:solidFill>
                <a:latin typeface="Times New Roman" panose="02020603050405020304" pitchFamily="18" charset="0"/>
                <a:ea typeface="SimSun"/>
                <a:cs typeface="Times New Roman" panose="02020603050405020304" pitchFamily="18" charset="0"/>
              </a:rPr>
              <a:t> with </a:t>
            </a:r>
            <a:r>
              <a:rPr lang="en-HK" sz="1600" dirty="0">
                <a:solidFill>
                  <a:srgbClr val="A30000"/>
                </a:solidFill>
                <a:latin typeface="Times New Roman" panose="02020603050405020304" pitchFamily="18" charset="0"/>
                <a:ea typeface="SimSun"/>
                <a:cs typeface="Times New Roman" panose="02020603050405020304" pitchFamily="18" charset="0"/>
              </a:rPr>
              <a:t>160 mm </a:t>
            </a:r>
            <a:r>
              <a:rPr lang="en-HK" sz="1600" dirty="0">
                <a:solidFill>
                  <a:prstClr val="black"/>
                </a:solidFill>
                <a:latin typeface="Times New Roman" panose="02020603050405020304" pitchFamily="18" charset="0"/>
                <a:ea typeface="SimSun"/>
                <a:cs typeface="Times New Roman" panose="02020603050405020304" pitchFamily="18" charset="0"/>
              </a:rPr>
              <a:t>distance.</a:t>
            </a:r>
          </a:p>
          <a:p>
            <a:pPr defTabSz="457200" eaLnBrk="1" fontAlgn="auto" hangingPunct="1">
              <a:spcBef>
                <a:spcPts val="0"/>
              </a:spcBef>
              <a:spcAft>
                <a:spcPts val="0"/>
              </a:spcAft>
            </a:pPr>
            <a:endParaRPr lang="en-HK" sz="1400" dirty="0">
              <a:solidFill>
                <a:prstClr val="black"/>
              </a:solidFill>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0A6EA3F4-D166-469F-8FF3-91A46C8B3E01}"/>
              </a:ext>
            </a:extLst>
          </p:cNvPr>
          <p:cNvSpPr/>
          <p:nvPr/>
        </p:nvSpPr>
        <p:spPr>
          <a:xfrm>
            <a:off x="7439768" y="2483862"/>
            <a:ext cx="2492990" cy="307777"/>
          </a:xfrm>
          <a:prstGeom prst="rect">
            <a:avLst/>
          </a:prstGeom>
        </p:spPr>
        <p:txBody>
          <a:bodyPr wrap="none">
            <a:spAutoFit/>
          </a:bodyPr>
          <a:lstStyle/>
          <a:p>
            <a:pPr algn="ctr" defTabSz="457200" eaLnBrk="1" fontAlgn="auto">
              <a:spcBef>
                <a:spcPts val="0"/>
              </a:spcBef>
              <a:spcAft>
                <a:spcPts val="0"/>
              </a:spcAft>
            </a:pPr>
            <a:r>
              <a:rPr lang="en-US" sz="14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 Diagonal         (b) Centerline</a:t>
            </a:r>
            <a:endParaRPr lang="en-HK" sz="14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矩形 16">
            <a:extLst>
              <a:ext uri="{FF2B5EF4-FFF2-40B4-BE49-F238E27FC236}">
                <a16:creationId xmlns:a16="http://schemas.microsoft.com/office/drawing/2014/main" id="{C2D13C86-5010-4DE5-A895-B7F88753292E}"/>
              </a:ext>
            </a:extLst>
          </p:cNvPr>
          <p:cNvSpPr/>
          <p:nvPr/>
        </p:nvSpPr>
        <p:spPr>
          <a:xfrm>
            <a:off x="7439231" y="2750676"/>
            <a:ext cx="3053210"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3.5.2 </a:t>
            </a:r>
            <a:r>
              <a:rPr lang="en-HK" sz="1200" dirty="0">
                <a:solidFill>
                  <a:prstClr val="black"/>
                </a:solidFill>
                <a:latin typeface="Times New Roman" panose="02020603050405020304" pitchFamily="18" charset="0"/>
                <a:ea typeface="SimSun"/>
                <a:cs typeface="Times New Roman" panose="02020603050405020304" pitchFamily="18" charset="0"/>
              </a:rPr>
              <a:t>Nozzle arrangement schemes</a:t>
            </a:r>
          </a:p>
        </p:txBody>
      </p:sp>
      <p:sp>
        <p:nvSpPr>
          <p:cNvPr id="18" name="矩形 17">
            <a:extLst>
              <a:ext uri="{FF2B5EF4-FFF2-40B4-BE49-F238E27FC236}">
                <a16:creationId xmlns:a16="http://schemas.microsoft.com/office/drawing/2014/main" id="{BEB984EE-A871-407E-B74B-62BB1A4B974C}"/>
              </a:ext>
            </a:extLst>
          </p:cNvPr>
          <p:cNvSpPr/>
          <p:nvPr/>
        </p:nvSpPr>
        <p:spPr>
          <a:xfrm>
            <a:off x="1379078" y="2918498"/>
            <a:ext cx="5207964" cy="338554"/>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00" dirty="0">
                <a:solidFill>
                  <a:prstClr val="black"/>
                </a:solidFill>
                <a:latin typeface="Times New Roman" panose="02020603050405020304" pitchFamily="18" charset="0"/>
                <a:ea typeface="SimSun"/>
                <a:cs typeface="Times New Roman" panose="02020603050405020304" pitchFamily="18" charset="0"/>
              </a:rPr>
              <a:t>The effect of the nozzle distance on the spray distribution</a:t>
            </a:r>
          </a:p>
        </p:txBody>
      </p:sp>
      <p:sp>
        <p:nvSpPr>
          <p:cNvPr id="19" name="矩形 18">
            <a:extLst>
              <a:ext uri="{FF2B5EF4-FFF2-40B4-BE49-F238E27FC236}">
                <a16:creationId xmlns:a16="http://schemas.microsoft.com/office/drawing/2014/main" id="{C301A508-1B3D-4F15-BBC8-D01E9083B3E9}"/>
              </a:ext>
            </a:extLst>
          </p:cNvPr>
          <p:cNvSpPr/>
          <p:nvPr/>
        </p:nvSpPr>
        <p:spPr>
          <a:xfrm>
            <a:off x="2843847" y="6473538"/>
            <a:ext cx="6253539"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Uniformity coefficient is </a:t>
            </a:r>
            <a:r>
              <a:rPr lang="en-HK" sz="1600" dirty="0">
                <a:solidFill>
                  <a:srgbClr val="A30000"/>
                </a:solidFill>
                <a:latin typeface="Times New Roman" panose="02020603050405020304" pitchFamily="18" charset="0"/>
                <a:ea typeface="SimSun"/>
                <a:cs typeface="Times New Roman" panose="02020603050405020304" pitchFamily="18" charset="0"/>
              </a:rPr>
              <a:t>0.74</a:t>
            </a:r>
            <a:r>
              <a:rPr lang="en-HK" sz="1600" dirty="0">
                <a:solidFill>
                  <a:prstClr val="black"/>
                </a:solidFill>
                <a:latin typeface="Times New Roman" panose="02020603050405020304" pitchFamily="18" charset="0"/>
                <a:ea typeface="SimSun"/>
                <a:cs typeface="Times New Roman" panose="02020603050405020304" pitchFamily="18" charset="0"/>
              </a:rPr>
              <a:t> and coverage ratio is </a:t>
            </a:r>
            <a:r>
              <a:rPr lang="en-HK" sz="1600" dirty="0">
                <a:solidFill>
                  <a:srgbClr val="A30000"/>
                </a:solidFill>
                <a:latin typeface="Times New Roman" panose="02020603050405020304" pitchFamily="18" charset="0"/>
                <a:ea typeface="SimSun"/>
                <a:cs typeface="Times New Roman" panose="02020603050405020304" pitchFamily="18" charset="0"/>
              </a:rPr>
              <a:t>0.72</a:t>
            </a:r>
            <a:r>
              <a:rPr lang="en-HK" sz="1600" dirty="0">
                <a:solidFill>
                  <a:prstClr val="black"/>
                </a:solidFill>
                <a:latin typeface="Times New Roman" panose="02020603050405020304" pitchFamily="18" charset="0"/>
                <a:ea typeface="SimSun"/>
                <a:cs typeface="Times New Roman" panose="02020603050405020304" pitchFamily="18" charset="0"/>
              </a:rPr>
              <a:t>.</a:t>
            </a:r>
          </a:p>
        </p:txBody>
      </p:sp>
      <p:sp>
        <p:nvSpPr>
          <p:cNvPr id="2" name="灯片编号占位符 1">
            <a:extLst>
              <a:ext uri="{FF2B5EF4-FFF2-40B4-BE49-F238E27FC236}">
                <a16:creationId xmlns:a16="http://schemas.microsoft.com/office/drawing/2014/main" id="{6D0E81DE-025E-4176-B7F5-E905DD8D3302}"/>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22</a:t>
            </a:fld>
            <a:endParaRPr lang="en-US" altLang="zh-CN">
              <a:latin typeface="Times New Roman"/>
              <a:ea typeface="SimSun"/>
              <a:cs typeface="Times New Roman"/>
            </a:endParaRPr>
          </a:p>
        </p:txBody>
      </p:sp>
      <p:sp>
        <p:nvSpPr>
          <p:cNvPr id="23" name="矩形 22">
            <a:extLst>
              <a:ext uri="{FF2B5EF4-FFF2-40B4-BE49-F238E27FC236}">
                <a16:creationId xmlns:a16="http://schemas.microsoft.com/office/drawing/2014/main" id="{6CC0698A-1A8C-401D-B546-403765FDA322}"/>
              </a:ext>
            </a:extLst>
          </p:cNvPr>
          <p:cNvSpPr/>
          <p:nvPr/>
        </p:nvSpPr>
        <p:spPr>
          <a:xfrm>
            <a:off x="1480323" y="3263712"/>
            <a:ext cx="2328971" cy="338554"/>
          </a:xfrm>
          <a:prstGeom prst="rect">
            <a:avLst/>
          </a:prstGeom>
        </p:spPr>
        <p:txBody>
          <a:bodyPr wrap="non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Uniformity coefficient</a:t>
            </a:r>
          </a:p>
        </p:txBody>
      </p:sp>
      <p:sp>
        <p:nvSpPr>
          <p:cNvPr id="24" name="矩形 23">
            <a:extLst>
              <a:ext uri="{FF2B5EF4-FFF2-40B4-BE49-F238E27FC236}">
                <a16:creationId xmlns:a16="http://schemas.microsoft.com/office/drawing/2014/main" id="{A37078DB-BEBA-4BBB-9C0C-BCF534FD04C8}"/>
              </a:ext>
            </a:extLst>
          </p:cNvPr>
          <p:cNvSpPr/>
          <p:nvPr/>
        </p:nvSpPr>
        <p:spPr>
          <a:xfrm>
            <a:off x="6169541" y="3263712"/>
            <a:ext cx="1689886" cy="338554"/>
          </a:xfrm>
          <a:prstGeom prst="rect">
            <a:avLst/>
          </a:prstGeom>
        </p:spPr>
        <p:txBody>
          <a:bodyPr wrap="non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Coverage ratio</a:t>
            </a:r>
          </a:p>
        </p:txBody>
      </p:sp>
      <p:sp>
        <p:nvSpPr>
          <p:cNvPr id="3" name="Rectangle 2">
            <a:extLst>
              <a:ext uri="{FF2B5EF4-FFF2-40B4-BE49-F238E27FC236}">
                <a16:creationId xmlns:a16="http://schemas.microsoft.com/office/drawing/2014/main" id="{B82B9D44-92C7-447B-AF2B-A48FAA6CB0F4}"/>
              </a:ext>
            </a:extLst>
          </p:cNvPr>
          <p:cNvSpPr>
            <a:spLocks noChangeArrowheads="1"/>
          </p:cNvSpPr>
          <p:nvPr/>
        </p:nvSpPr>
        <p:spPr bwMode="auto">
          <a:xfrm>
            <a:off x="1233577" y="3546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4" name="对象 3">
            <a:extLst>
              <a:ext uri="{FF2B5EF4-FFF2-40B4-BE49-F238E27FC236}">
                <a16:creationId xmlns:a16="http://schemas.microsoft.com/office/drawing/2014/main" id="{C33FC933-619B-4D13-82B7-349F555167D5}"/>
              </a:ext>
            </a:extLst>
          </p:cNvPr>
          <p:cNvGraphicFramePr>
            <a:graphicFrameLocks noChangeAspect="1"/>
          </p:cNvGraphicFramePr>
          <p:nvPr>
            <p:extLst>
              <p:ext uri="{D42A27DB-BD31-4B8C-83A1-F6EECF244321}">
                <p14:modId xmlns:p14="http://schemas.microsoft.com/office/powerpoint/2010/main" val="587168674"/>
              </p:ext>
            </p:extLst>
          </p:nvPr>
        </p:nvGraphicFramePr>
        <p:xfrm>
          <a:off x="1705231" y="3468228"/>
          <a:ext cx="3319131" cy="2806090"/>
        </p:xfrm>
        <a:graphic>
          <a:graphicData uri="http://schemas.openxmlformats.org/presentationml/2006/ole">
            <mc:AlternateContent xmlns:mc="http://schemas.openxmlformats.org/markup-compatibility/2006">
              <mc:Choice xmlns:v="urn:schemas-microsoft-com:vml" Requires="v">
                <p:oleObj name="Graph" r:id="rId7" imgW="6107567" imgH="5143222" progId="Origin95.Graph">
                  <p:embed/>
                </p:oleObj>
              </mc:Choice>
              <mc:Fallback>
                <p:oleObj name="Graph" r:id="rId7" imgW="6107567" imgH="5143222" progId="Origin95.Graph">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5231" y="3468228"/>
                        <a:ext cx="3319131" cy="2806090"/>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317BF5D-9588-451C-9B65-3388997C097B}"/>
              </a:ext>
            </a:extLst>
          </p:cNvPr>
          <p:cNvSpPr>
            <a:spLocks noChangeArrowheads="1"/>
          </p:cNvSpPr>
          <p:nvPr/>
        </p:nvSpPr>
        <p:spPr bwMode="auto">
          <a:xfrm>
            <a:off x="6503102" y="34722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9" name="对象 8">
            <a:extLst>
              <a:ext uri="{FF2B5EF4-FFF2-40B4-BE49-F238E27FC236}">
                <a16:creationId xmlns:a16="http://schemas.microsoft.com/office/drawing/2014/main" id="{CF63ED6A-DA18-48B6-B902-078F7E027B74}"/>
              </a:ext>
            </a:extLst>
          </p:cNvPr>
          <p:cNvGraphicFramePr>
            <a:graphicFrameLocks noChangeAspect="1"/>
          </p:cNvGraphicFramePr>
          <p:nvPr>
            <p:extLst>
              <p:ext uri="{D42A27DB-BD31-4B8C-83A1-F6EECF244321}">
                <p14:modId xmlns:p14="http://schemas.microsoft.com/office/powerpoint/2010/main" val="3117146516"/>
              </p:ext>
            </p:extLst>
          </p:nvPr>
        </p:nvGraphicFramePr>
        <p:xfrm>
          <a:off x="6503102" y="3472210"/>
          <a:ext cx="3319131" cy="2833724"/>
        </p:xfrm>
        <a:graphic>
          <a:graphicData uri="http://schemas.openxmlformats.org/presentationml/2006/ole">
            <mc:AlternateContent xmlns:mc="http://schemas.openxmlformats.org/markup-compatibility/2006">
              <mc:Choice xmlns:v="urn:schemas-microsoft-com:vml" Requires="v">
                <p:oleObj name="Graph" r:id="rId9" imgW="6107567" imgH="5282235" progId="Origin95.Graph">
                  <p:embed/>
                </p:oleObj>
              </mc:Choice>
              <mc:Fallback>
                <p:oleObj name="Graph" r:id="rId9" imgW="6107567" imgH="5282235" progId="Origin95.Graph">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03102" y="3472210"/>
                        <a:ext cx="3319131" cy="2833724"/>
                      </a:xfrm>
                      <a:prstGeom prst="rect">
                        <a:avLst/>
                      </a:prstGeom>
                      <a:noFill/>
                    </p:spPr>
                  </p:pic>
                </p:oleObj>
              </mc:Fallback>
            </mc:AlternateContent>
          </a:graphicData>
        </a:graphic>
      </p:graphicFrame>
      <p:sp>
        <p:nvSpPr>
          <p:cNvPr id="2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多喷嘴喷淋结果</a:t>
            </a:r>
          </a:p>
        </p:txBody>
      </p:sp>
      <p:sp>
        <p:nvSpPr>
          <p:cNvPr id="2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3.5.2 Results of multiple nozzles</a:t>
            </a:r>
          </a:p>
        </p:txBody>
      </p:sp>
      <p:sp>
        <p:nvSpPr>
          <p:cNvPr id="2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2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8697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26B9BE8-4BC3-4600-8861-591984032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080" y="3217800"/>
            <a:ext cx="3479308" cy="2698239"/>
          </a:xfrm>
          <a:prstGeom prst="rect">
            <a:avLst/>
          </a:prstGeom>
        </p:spPr>
      </p:pic>
      <p:pic>
        <p:nvPicPr>
          <p:cNvPr id="3" name="图片 2">
            <a:extLst>
              <a:ext uri="{FF2B5EF4-FFF2-40B4-BE49-F238E27FC236}">
                <a16:creationId xmlns:a16="http://schemas.microsoft.com/office/drawing/2014/main" id="{B57CA2B8-CD4D-4BC2-BDAF-DB95580D22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0142" y="3217801"/>
            <a:ext cx="3459780" cy="2728196"/>
          </a:xfrm>
          <a:prstGeom prst="rect">
            <a:avLst/>
          </a:prstGeom>
        </p:spPr>
      </p:pic>
      <p:sp>
        <p:nvSpPr>
          <p:cNvPr id="6" name="矩形 5">
            <a:extLst>
              <a:ext uri="{FF2B5EF4-FFF2-40B4-BE49-F238E27FC236}">
                <a16:creationId xmlns:a16="http://schemas.microsoft.com/office/drawing/2014/main" id="{C4728E8C-08D8-4CB7-9715-B9B4E0E5F1BE}"/>
              </a:ext>
            </a:extLst>
          </p:cNvPr>
          <p:cNvSpPr/>
          <p:nvPr/>
        </p:nvSpPr>
        <p:spPr>
          <a:xfrm>
            <a:off x="1435864" y="1629369"/>
            <a:ext cx="3204723"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Original arrangement scheme</a:t>
            </a:r>
          </a:p>
        </p:txBody>
      </p:sp>
      <p:sp>
        <p:nvSpPr>
          <p:cNvPr id="12" name="矩形 11">
            <a:extLst>
              <a:ext uri="{FF2B5EF4-FFF2-40B4-BE49-F238E27FC236}">
                <a16:creationId xmlns:a16="http://schemas.microsoft.com/office/drawing/2014/main" id="{217AF81E-EF44-45C7-A6E4-50B612F2B928}"/>
              </a:ext>
            </a:extLst>
          </p:cNvPr>
          <p:cNvSpPr/>
          <p:nvPr/>
        </p:nvSpPr>
        <p:spPr>
          <a:xfrm>
            <a:off x="2427633" y="6163669"/>
            <a:ext cx="2871837"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Wettability value: 0.48</a:t>
            </a:r>
          </a:p>
        </p:txBody>
      </p:sp>
      <p:sp>
        <p:nvSpPr>
          <p:cNvPr id="17" name="矩形 16">
            <a:extLst>
              <a:ext uri="{FF2B5EF4-FFF2-40B4-BE49-F238E27FC236}">
                <a16:creationId xmlns:a16="http://schemas.microsoft.com/office/drawing/2014/main" id="{C2D13C86-5010-4DE5-A895-B7F88753292E}"/>
              </a:ext>
            </a:extLst>
          </p:cNvPr>
          <p:cNvSpPr/>
          <p:nvPr/>
        </p:nvSpPr>
        <p:spPr>
          <a:xfrm>
            <a:off x="2324250" y="5886670"/>
            <a:ext cx="27715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3.5.3 </a:t>
            </a:r>
            <a:r>
              <a:rPr lang="en-HK" sz="1200" dirty="0">
                <a:solidFill>
                  <a:prstClr val="black"/>
                </a:solidFill>
                <a:latin typeface="Times New Roman" panose="02020603050405020304" pitchFamily="18" charset="0"/>
                <a:ea typeface="SimSun"/>
                <a:cs typeface="Times New Roman" panose="02020603050405020304" pitchFamily="18" charset="0"/>
              </a:rPr>
              <a:t>Original arrangement scheme </a:t>
            </a:r>
          </a:p>
        </p:txBody>
      </p:sp>
      <p:pic>
        <p:nvPicPr>
          <p:cNvPr id="15" name="图片 14">
            <a:extLst>
              <a:ext uri="{FF2B5EF4-FFF2-40B4-BE49-F238E27FC236}">
                <a16:creationId xmlns:a16="http://schemas.microsoft.com/office/drawing/2014/main" id="{281A0B71-939A-459F-9895-FE0BD0F58189}"/>
              </a:ext>
            </a:extLst>
          </p:cNvPr>
          <p:cNvPicPr/>
          <p:nvPr/>
        </p:nvPicPr>
        <p:blipFill rotWithShape="1">
          <a:blip r:embed="rId5" cstate="print">
            <a:extLst>
              <a:ext uri="{28A0092B-C50C-407E-A947-70E740481C1C}">
                <a14:useLocalDpi xmlns:a14="http://schemas.microsoft.com/office/drawing/2010/main" val="0"/>
              </a:ext>
            </a:extLst>
          </a:blip>
          <a:srcRect r="53313"/>
          <a:stretch/>
        </p:blipFill>
        <p:spPr bwMode="auto">
          <a:xfrm>
            <a:off x="2572719" y="2060102"/>
            <a:ext cx="1440000" cy="1263454"/>
          </a:xfrm>
          <a:prstGeom prst="rect">
            <a:avLst/>
          </a:prstGeom>
          <a:ln>
            <a:noFill/>
          </a:ln>
          <a:extLst>
            <a:ext uri="{53640926-AAD7-44D8-BBD7-CCE9431645EC}">
              <a14:shadowObscured xmlns:a14="http://schemas.microsoft.com/office/drawing/2010/main"/>
            </a:ext>
          </a:extLst>
        </p:spPr>
      </p:pic>
      <p:pic>
        <p:nvPicPr>
          <p:cNvPr id="16" name="图片 15">
            <a:extLst>
              <a:ext uri="{FF2B5EF4-FFF2-40B4-BE49-F238E27FC236}">
                <a16:creationId xmlns:a16="http://schemas.microsoft.com/office/drawing/2014/main" id="{5E5CFAC3-E335-4901-BB86-4EFB9FB40F8A}"/>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7491763" y="2030867"/>
            <a:ext cx="1263600" cy="1263600"/>
          </a:xfrm>
          <a:prstGeom prst="rect">
            <a:avLst/>
          </a:prstGeom>
        </p:spPr>
      </p:pic>
      <p:sp>
        <p:nvSpPr>
          <p:cNvPr id="22" name="矩形 21">
            <a:extLst>
              <a:ext uri="{FF2B5EF4-FFF2-40B4-BE49-F238E27FC236}">
                <a16:creationId xmlns:a16="http://schemas.microsoft.com/office/drawing/2014/main" id="{FBE49DA3-3150-407A-A87B-4E36686596FE}"/>
              </a:ext>
            </a:extLst>
          </p:cNvPr>
          <p:cNvSpPr/>
          <p:nvPr/>
        </p:nvSpPr>
        <p:spPr>
          <a:xfrm>
            <a:off x="7092086" y="5916039"/>
            <a:ext cx="277156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3.5.4 </a:t>
            </a:r>
            <a:r>
              <a:rPr lang="en-HK" sz="1200" dirty="0">
                <a:solidFill>
                  <a:prstClr val="black"/>
                </a:solidFill>
                <a:latin typeface="Times New Roman" panose="02020603050405020304" pitchFamily="18" charset="0"/>
                <a:ea typeface="SimSun"/>
                <a:cs typeface="Times New Roman" panose="02020603050405020304" pitchFamily="18" charset="0"/>
              </a:rPr>
              <a:t>Optimized arrangement scheme</a:t>
            </a:r>
          </a:p>
        </p:txBody>
      </p:sp>
      <p:sp>
        <p:nvSpPr>
          <p:cNvPr id="23" name="矩形 22">
            <a:extLst>
              <a:ext uri="{FF2B5EF4-FFF2-40B4-BE49-F238E27FC236}">
                <a16:creationId xmlns:a16="http://schemas.microsoft.com/office/drawing/2014/main" id="{65CD633F-5A8D-486B-8716-9D8B8A5261DB}"/>
              </a:ext>
            </a:extLst>
          </p:cNvPr>
          <p:cNvSpPr/>
          <p:nvPr/>
        </p:nvSpPr>
        <p:spPr>
          <a:xfrm>
            <a:off x="6064560" y="1612079"/>
            <a:ext cx="346761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Optimized arrangement scheme </a:t>
            </a:r>
          </a:p>
        </p:txBody>
      </p:sp>
      <p:sp>
        <p:nvSpPr>
          <p:cNvPr id="28" name="矩形 27">
            <a:extLst>
              <a:ext uri="{FF2B5EF4-FFF2-40B4-BE49-F238E27FC236}">
                <a16:creationId xmlns:a16="http://schemas.microsoft.com/office/drawing/2014/main" id="{D4976721-7031-423F-B9FF-99CFDAE48F29}"/>
              </a:ext>
            </a:extLst>
          </p:cNvPr>
          <p:cNvSpPr/>
          <p:nvPr/>
        </p:nvSpPr>
        <p:spPr>
          <a:xfrm>
            <a:off x="6983368" y="6204889"/>
            <a:ext cx="2697817"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00" dirty="0">
                <a:solidFill>
                  <a:prstClr val="black"/>
                </a:solidFill>
                <a:latin typeface="Times New Roman" panose="02020603050405020304" pitchFamily="18" charset="0"/>
                <a:ea typeface="SimSun"/>
                <a:cs typeface="Times New Roman" panose="02020603050405020304" pitchFamily="18" charset="0"/>
              </a:rPr>
              <a:t>Wettability value: 0.89</a:t>
            </a:r>
          </a:p>
        </p:txBody>
      </p:sp>
      <p:sp>
        <p:nvSpPr>
          <p:cNvPr id="29" name="矩形 28">
            <a:extLst>
              <a:ext uri="{FF2B5EF4-FFF2-40B4-BE49-F238E27FC236}">
                <a16:creationId xmlns:a16="http://schemas.microsoft.com/office/drawing/2014/main" id="{26F1B659-8693-4A46-8667-A91895DF15EA}"/>
              </a:ext>
            </a:extLst>
          </p:cNvPr>
          <p:cNvSpPr/>
          <p:nvPr/>
        </p:nvSpPr>
        <p:spPr>
          <a:xfrm>
            <a:off x="9316256" y="6214031"/>
            <a:ext cx="729859" cy="369332"/>
          </a:xfrm>
          <a:prstGeom prst="rect">
            <a:avLst/>
          </a:prstGeom>
        </p:spPr>
        <p:txBody>
          <a:bodyPr wrap="square">
            <a:spAutoFit/>
          </a:bodyPr>
          <a:lstStyle/>
          <a:p>
            <a:pPr defTabSz="457200" eaLnBrk="1" fontAlgn="auto" hangingPunct="1">
              <a:spcBef>
                <a:spcPts val="0"/>
              </a:spcBef>
              <a:spcAft>
                <a:spcPts val="0"/>
              </a:spcAft>
            </a:pPr>
            <a:r>
              <a:rPr lang="en-HK" sz="1800" b="1" dirty="0">
                <a:solidFill>
                  <a:srgbClr val="A30000"/>
                </a:solidFill>
                <a:latin typeface="Times New Roman" panose="02020603050405020304" pitchFamily="18" charset="0"/>
                <a:ea typeface="SimSun"/>
                <a:cs typeface="Times New Roman" panose="02020603050405020304" pitchFamily="18" charset="0"/>
              </a:rPr>
              <a:t>46% </a:t>
            </a:r>
          </a:p>
        </p:txBody>
      </p:sp>
      <p:sp>
        <p:nvSpPr>
          <p:cNvPr id="9" name="箭头: 上 8">
            <a:extLst>
              <a:ext uri="{FF2B5EF4-FFF2-40B4-BE49-F238E27FC236}">
                <a16:creationId xmlns:a16="http://schemas.microsoft.com/office/drawing/2014/main" id="{EF3D36B4-A021-41F9-8941-CBE13AB75163}"/>
              </a:ext>
            </a:extLst>
          </p:cNvPr>
          <p:cNvSpPr/>
          <p:nvPr/>
        </p:nvSpPr>
        <p:spPr bwMode="auto">
          <a:xfrm>
            <a:off x="9902198" y="6193037"/>
            <a:ext cx="177222" cy="338554"/>
          </a:xfrm>
          <a:prstGeom prst="upArrow">
            <a:avLst/>
          </a:prstGeom>
          <a:solidFill>
            <a:srgbClr val="A30000"/>
          </a:solidFill>
          <a:ln w="9525" cap="flat" cmpd="sng" algn="ctr">
            <a:solidFill>
              <a:srgbClr val="A3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2" name="灯片编号占位符 1">
            <a:extLst>
              <a:ext uri="{FF2B5EF4-FFF2-40B4-BE49-F238E27FC236}">
                <a16:creationId xmlns:a16="http://schemas.microsoft.com/office/drawing/2014/main" id="{D6143030-507C-45D8-AC60-1D401236027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23</a:t>
            </a:fld>
            <a:endParaRPr lang="en-US" altLang="zh-CN" dirty="0">
              <a:latin typeface="Times New Roman"/>
              <a:ea typeface="SimSun"/>
              <a:cs typeface="Times New Roman"/>
            </a:endParaRPr>
          </a:p>
        </p:txBody>
      </p:sp>
      <p:sp>
        <p:nvSpPr>
          <p:cNvPr id="30"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原始与优化布置方案对比</a:t>
            </a:r>
          </a:p>
        </p:txBody>
      </p:sp>
      <p:sp>
        <p:nvSpPr>
          <p:cNvPr id="31"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3.5.3 Comparison between original and optimized schemes</a:t>
            </a:r>
          </a:p>
        </p:txBody>
      </p:sp>
      <p:sp>
        <p:nvSpPr>
          <p:cNvPr id="32"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33"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30556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730" y="4799818"/>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5091" y="4922138"/>
            <a:ext cx="403860" cy="396240"/>
          </a:xfrm>
          <a:prstGeom prst="rect">
            <a:avLst/>
          </a:prstGeom>
        </p:spPr>
      </p:pic>
      <p:sp>
        <p:nvSpPr>
          <p:cNvPr id="16" name="矩形 15">
            <a:extLst>
              <a:ext uri="{FF2B5EF4-FFF2-40B4-BE49-F238E27FC236}">
                <a16:creationId xmlns:a16="http://schemas.microsoft.com/office/drawing/2014/main" id="{34568366-1EBB-4BEA-9843-705BF866DA92}"/>
              </a:ext>
            </a:extLst>
          </p:cNvPr>
          <p:cNvSpPr/>
          <p:nvPr/>
        </p:nvSpPr>
        <p:spPr>
          <a:xfrm>
            <a:off x="2106611" y="5091438"/>
            <a:ext cx="3732616"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3.5.5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the dehumidification rate </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3EC4E648-8DBF-4B25-87C4-3AFDBCA0FCF7}"/>
              </a:ext>
            </a:extLst>
          </p:cNvPr>
          <p:cNvSpPr/>
          <p:nvPr/>
        </p:nvSpPr>
        <p:spPr>
          <a:xfrm>
            <a:off x="7161255" y="4714833"/>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15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COP</a:t>
            </a:r>
          </a:p>
        </p:txBody>
      </p:sp>
      <p:pic>
        <p:nvPicPr>
          <p:cNvPr id="3" name="图片 2">
            <a:extLst>
              <a:ext uri="{FF2B5EF4-FFF2-40B4-BE49-F238E27FC236}">
                <a16:creationId xmlns:a16="http://schemas.microsoft.com/office/drawing/2014/main" id="{628488B4-BF20-401B-A0CC-A9F331195E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7594" y="2113065"/>
            <a:ext cx="3467198" cy="2905163"/>
          </a:xfrm>
          <a:prstGeom prst="rect">
            <a:avLst/>
          </a:prstGeom>
        </p:spPr>
      </p:pic>
      <p:pic>
        <p:nvPicPr>
          <p:cNvPr id="19" name="图片 18">
            <a:extLst>
              <a:ext uri="{FF2B5EF4-FFF2-40B4-BE49-F238E27FC236}">
                <a16:creationId xmlns:a16="http://schemas.microsoft.com/office/drawing/2014/main" id="{AA5372B4-9714-4EE0-8851-F064274F08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4815" y="2227872"/>
            <a:ext cx="3299746" cy="2888230"/>
          </a:xfrm>
          <a:prstGeom prst="rect">
            <a:avLst/>
          </a:prstGeom>
        </p:spPr>
      </p:pic>
      <p:sp>
        <p:nvSpPr>
          <p:cNvPr id="20" name="矩形 19">
            <a:extLst>
              <a:ext uri="{FF2B5EF4-FFF2-40B4-BE49-F238E27FC236}">
                <a16:creationId xmlns:a16="http://schemas.microsoft.com/office/drawing/2014/main" id="{7A1E5716-2774-4AB8-BE52-30382057EF8E}"/>
              </a:ext>
            </a:extLst>
          </p:cNvPr>
          <p:cNvSpPr/>
          <p:nvPr/>
        </p:nvSpPr>
        <p:spPr>
          <a:xfrm>
            <a:off x="1462689" y="1769935"/>
            <a:ext cx="2428870"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For dehumidification</a:t>
            </a:r>
          </a:p>
        </p:txBody>
      </p:sp>
      <p:sp>
        <p:nvSpPr>
          <p:cNvPr id="21" name="矩形 20">
            <a:extLst>
              <a:ext uri="{FF2B5EF4-FFF2-40B4-BE49-F238E27FC236}">
                <a16:creationId xmlns:a16="http://schemas.microsoft.com/office/drawing/2014/main" id="{D58F90EF-8332-4CF8-9B57-86FE30E52EB6}"/>
              </a:ext>
            </a:extLst>
          </p:cNvPr>
          <p:cNvSpPr/>
          <p:nvPr/>
        </p:nvSpPr>
        <p:spPr>
          <a:xfrm>
            <a:off x="6167022" y="1800039"/>
            <a:ext cx="1849609"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800" dirty="0">
                <a:solidFill>
                  <a:prstClr val="black"/>
                </a:solidFill>
                <a:latin typeface="Times New Roman" panose="02020603050405020304" pitchFamily="18" charset="0"/>
                <a:ea typeface="SimSun"/>
                <a:cs typeface="Times New Roman" panose="02020603050405020304" pitchFamily="18" charset="0"/>
              </a:rPr>
              <a:t>For COP value</a:t>
            </a:r>
          </a:p>
        </p:txBody>
      </p:sp>
      <p:sp>
        <p:nvSpPr>
          <p:cNvPr id="2" name="灯片编号占位符 1">
            <a:extLst>
              <a:ext uri="{FF2B5EF4-FFF2-40B4-BE49-F238E27FC236}">
                <a16:creationId xmlns:a16="http://schemas.microsoft.com/office/drawing/2014/main" id="{876FC50E-68FC-43B7-BAE5-7142E3986B0C}"/>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24</a:t>
            </a:fld>
            <a:endParaRPr lang="en-US" altLang="zh-CN">
              <a:latin typeface="Times New Roman"/>
              <a:ea typeface="SimSun"/>
              <a:cs typeface="Times New Roman"/>
            </a:endParaRPr>
          </a:p>
        </p:txBody>
      </p:sp>
      <p:sp>
        <p:nvSpPr>
          <p:cNvPr id="25" name="矩形 24">
            <a:extLst>
              <a:ext uri="{FF2B5EF4-FFF2-40B4-BE49-F238E27FC236}">
                <a16:creationId xmlns:a16="http://schemas.microsoft.com/office/drawing/2014/main" id="{6786030D-C7EA-4D06-9765-8B90B1BDE786}"/>
              </a:ext>
            </a:extLst>
          </p:cNvPr>
          <p:cNvSpPr/>
          <p:nvPr/>
        </p:nvSpPr>
        <p:spPr>
          <a:xfrm>
            <a:off x="7091826" y="5118044"/>
            <a:ext cx="3732616" cy="461665"/>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3.5.6 </a:t>
            </a:r>
            <a:r>
              <a:rPr lang="en-HK" sz="1200" dirty="0">
                <a:solidFill>
                  <a:prstClr val="black"/>
                </a:solidFill>
                <a:latin typeface="Times New Roman" panose="02020603050405020304" pitchFamily="18" charset="0"/>
                <a:ea typeface="SimSun"/>
                <a:cs typeface="Times New Roman" panose="02020603050405020304" pitchFamily="18" charset="0"/>
              </a:rPr>
              <a:t>Average value of the COP</a:t>
            </a:r>
          </a:p>
          <a:p>
            <a:pPr defTabSz="457200" eaLnBrk="1" fontAlgn="auto" hangingPunct="1">
              <a:spcBef>
                <a:spcPts val="0"/>
              </a:spcBef>
              <a:spcAft>
                <a:spcPts val="0"/>
              </a:spcAft>
            </a:pPr>
            <a:endParaRPr lang="en-HK" sz="1200" dirty="0">
              <a:solidFill>
                <a:prstClr val="black"/>
              </a:solidFill>
              <a:latin typeface="Times New Roman" panose="020B0604020202020204" pitchFamily="34" charset="0"/>
              <a:ea typeface="SimSun"/>
              <a:cs typeface="Times New Roman" panose="020B0604020202020204" pitchFamily="34" charset="0"/>
            </a:endParaRPr>
          </a:p>
        </p:txBody>
      </p:sp>
      <p:sp>
        <p:nvSpPr>
          <p:cNvPr id="26"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优化喷嘴布置带来的性能提升</a:t>
            </a:r>
          </a:p>
        </p:txBody>
      </p:sp>
      <p:sp>
        <p:nvSpPr>
          <p:cNvPr id="27"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3.5.4 Performance improvement with optimized nozzle arrangement</a:t>
            </a:r>
          </a:p>
        </p:txBody>
      </p:sp>
      <p:sp>
        <p:nvSpPr>
          <p:cNvPr id="28"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3. Development of numerical model for nozzle optimization of IEC with experimental validation</a:t>
            </a:r>
          </a:p>
        </p:txBody>
      </p:sp>
      <p:cxnSp>
        <p:nvCxnSpPr>
          <p:cNvPr id="2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0" name="矩形 17">
            <a:extLst>
              <a:ext uri="{FF2B5EF4-FFF2-40B4-BE49-F238E27FC236}">
                <a16:creationId xmlns:a16="http://schemas.microsoft.com/office/drawing/2014/main" id="{B3B165FD-229B-457C-BFBB-10E12C3FB96D}"/>
              </a:ext>
            </a:extLst>
          </p:cNvPr>
          <p:cNvSpPr/>
          <p:nvPr/>
        </p:nvSpPr>
        <p:spPr>
          <a:xfrm>
            <a:off x="2371700" y="5553103"/>
            <a:ext cx="4042541" cy="552196"/>
          </a:xfrm>
          <a:prstGeom prst="rect">
            <a:avLst/>
          </a:prstGeom>
          <a:ln>
            <a:noFill/>
          </a:ln>
        </p:spPr>
        <p:txBody>
          <a:bodyPr wrap="square" lIns="0" rIns="0" tIns="0" bIns="0">
            <a:noAutofit/>
          </a:bodyPr>
          <a:lstStyle/>
          <a:p>
            <a:pPr marL="0" indent="0" algn="l">
              <a:lnSpc>
                <a:spcPct val="108000"/>
              </a:lnSpc>
              <a:buNone/>
            </a:pPr>
            <a:r>
              <a:rPr lang="en-HK" sz="1600" dirty="0">
                <a:solidFill>
                  <a:prstClr val="black"/>
                </a:solidFill>
                <a:latin typeface="Times New Roman" panose="02020603050405020304" pitchFamily="18" charset="0"/>
                <a:ea typeface="SimSun"/>
                <a:cs typeface="Times New Roman" panose="02020603050405020304" pitchFamily="18" charset="0"/>
              </a:rPr>
              <a:t>The improvement of </a:t>
            </a:r>
            <a:r>
              <a:rPr lang="en-HK" sz="1600" dirty="0">
                <a:solidFill>
                  <a:srgbClr val="A30000"/>
                </a:solidFill>
                <a:latin typeface="Times New Roman" panose="02020603050405020304" pitchFamily="18" charset="0"/>
                <a:ea typeface="SimSun"/>
                <a:cs typeface="Times New Roman" panose="02020603050405020304" pitchFamily="18" charset="0"/>
              </a:rPr>
              <a:t>dehumidification rate </a:t>
            </a:r>
            <a:r>
              <a:rPr lang="en-HK" sz="1600" dirty="0">
                <a:solidFill>
                  <a:prstClr val="black"/>
                </a:solidFill>
                <a:latin typeface="Times New Roman" panose="02020603050405020304" pitchFamily="18" charset="0"/>
                <a:ea typeface="SimSun"/>
                <a:cs typeface="Times New Roman" panose="02020603050405020304" pitchFamily="18" charset="0"/>
              </a:rPr>
              <a:t>is </a:t>
            </a:r>
            <a:r>
              <a:rPr lang="en-HK" sz="1600" dirty="0">
                <a:solidFill>
                  <a:srgbClr val="A30000"/>
                </a:solidFill>
                <a:latin typeface="Times New Roman" panose="02020603050405020304" pitchFamily="18" charset="0"/>
                <a:ea typeface="SimSun"/>
                <a:cs typeface="Times New Roman" panose="02020603050405020304" pitchFamily="18" charset="0"/>
              </a:rPr>
              <a:t>5.85%</a:t>
            </a:r>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sz="1600" dirty="0">
                <a:solidFill>
                  <a:prstClr val="black"/>
                </a:solidFill>
                <a:latin typeface="Times New Roman" panose="020B0604020202020204" pitchFamily="34" charset="0"/>
                <a:ea typeface="SimSun"/>
                <a:cs typeface="Times New Roman" panose="020B0604020202020204" pitchFamily="34" charset="0"/>
              </a:rPr>
              <a:t>.</a:t>
            </a:r>
          </a:p>
        </p:txBody>
      </p:sp>
      <p:sp>
        <p:nvSpPr>
          <p:cNvPr id="31" name="TextBox 1"/>
          <p:cNvSpPr txBox="1"/>
          <p:nvPr/>
        </p:nvSpPr>
        <p:spPr>
          <a:xfrm>
            <a:off x="6743424" y="5566819"/>
            <a:ext cx="3049636" cy="552195"/>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除湿率提高 5.85%。</a:t>
            </a:r>
          </a:p>
        </p:txBody>
      </p:sp>
      <p:sp>
        <p:nvSpPr>
          <p:cNvPr id="32" name="矩形 17">
            <a:extLst>
              <a:ext uri="{FF2B5EF4-FFF2-40B4-BE49-F238E27FC236}">
                <a16:creationId xmlns:a16="http://schemas.microsoft.com/office/drawing/2014/main" id="{B3B165FD-229B-457C-BFBB-10E12C3FB96D}"/>
              </a:ext>
            </a:extLst>
          </p:cNvPr>
          <p:cNvSpPr/>
          <p:nvPr/>
        </p:nvSpPr>
        <p:spPr>
          <a:xfrm>
            <a:off x="2371700" y="6105299"/>
            <a:ext cx="4042541" cy="320548"/>
          </a:xfrm>
          <a:prstGeom prst="rect">
            <a:avLst/>
          </a:prstGeom>
          <a:ln>
            <a:noFill/>
          </a:ln>
        </p:spPr>
        <p:txBody>
          <a:bodyPr wrap="square" lIns="0" rIns="0" tIns="0" bIns="0">
            <a:noAutofit/>
          </a:bodyPr>
          <a:lstStyle/>
          <a:p>
            <a:pPr marL="0" indent="0" algn="l">
              <a:lnSpc>
                <a:spcPct val="108000"/>
              </a:lnSpc>
              <a:buNone/>
            </a:pPr>
            <a:r>
              <a:rPr lang="en-HK" sz="1600" dirty="0">
                <a:solidFill>
                  <a:prstClr val="black"/>
                </a:solidFill>
                <a:latin typeface="Times New Roman" panose="02020603050405020304" pitchFamily="18" charset="0"/>
                <a:ea typeface="SimSun"/>
                <a:cs typeface="Times New Roman" panose="02020603050405020304" pitchFamily="18" charset="0"/>
              </a:rPr>
              <a:t>The improvement of </a:t>
            </a:r>
            <a:r>
              <a:rPr lang="en-HK" sz="1600" dirty="0">
                <a:solidFill>
                  <a:srgbClr val="A30000"/>
                </a:solidFill>
                <a:latin typeface="Times New Roman" panose="02020603050405020304" pitchFamily="18" charset="0"/>
                <a:ea typeface="SimSun"/>
                <a:cs typeface="Times New Roman" panose="02020603050405020304" pitchFamily="18" charset="0"/>
              </a:rPr>
              <a:t>COP</a:t>
            </a:r>
            <a:r>
              <a:rPr lang="en-HK" sz="1600" dirty="0">
                <a:solidFill>
                  <a:prstClr val="black"/>
                </a:solidFill>
                <a:latin typeface="Times New Roman" panose="02020603050405020304" pitchFamily="18" charset="0"/>
                <a:ea typeface="SimSun"/>
                <a:cs typeface="Times New Roman" panose="02020603050405020304" pitchFamily="18" charset="0"/>
              </a:rPr>
              <a:t> value is </a:t>
            </a:r>
            <a:r>
              <a:rPr lang="en-HK" sz="1600" dirty="0">
                <a:solidFill>
                  <a:srgbClr val="A30000"/>
                </a:solidFill>
                <a:latin typeface="Times New Roman" panose="02020603050405020304" pitchFamily="18" charset="0"/>
                <a:ea typeface="SimSun"/>
                <a:cs typeface="Times New Roman" panose="02020603050405020304" pitchFamily="18" charset="0"/>
              </a:rPr>
              <a:t>16% </a:t>
            </a:r>
            <a:r>
              <a:rPr lang="en-HK" sz="1600" dirty="0">
                <a:solidFill>
                  <a:prstClr val="black"/>
                </a:solidFill>
                <a:latin typeface="Times New Roman" panose="02020603050405020304" pitchFamily="18" charset="0"/>
                <a:ea typeface="SimSun"/>
                <a:cs typeface="Times New Roman" panose="02020603050405020304" pitchFamily="18" charset="0"/>
              </a:rPr>
              <a:t>.</a:t>
            </a:r>
          </a:p>
        </p:txBody>
      </p:sp>
      <p:sp>
        <p:nvSpPr>
          <p:cNvPr id="33" name="TextBox 1"/>
          <p:cNvSpPr txBox="1"/>
          <p:nvPr/>
        </p:nvSpPr>
        <p:spPr>
          <a:xfrm>
            <a:off x="6743424" y="6119015"/>
            <a:ext cx="3049636" cy="320547"/>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性能系数（COP）提高 16%。</a:t>
            </a:r>
          </a:p>
        </p:txBody>
      </p:sp>
    </p:spTree>
    <p:extLst>
      <p:ext uri="{BB962C8B-B14F-4D97-AF65-F5344CB8AC3E}">
        <p14:creationId xmlns:p14="http://schemas.microsoft.com/office/powerpoint/2010/main" val="1154817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25</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rgbClr val="C00000"/>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246297694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7CB8AF9-DC9E-4161-A939-0CC337370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46" y="1980471"/>
            <a:ext cx="2729792" cy="4796950"/>
          </a:xfrm>
          <a:prstGeom prst="rect">
            <a:avLst/>
          </a:prstGeom>
        </p:spPr>
      </p:pic>
      <p:sp>
        <p:nvSpPr>
          <p:cNvPr id="2" name="灯片编号占位符 1">
            <a:extLst>
              <a:ext uri="{FF2B5EF4-FFF2-40B4-BE49-F238E27FC236}">
                <a16:creationId xmlns:a16="http://schemas.microsoft.com/office/drawing/2014/main" id="{6E844E5D-FE2B-4D13-BD02-DAE1F502FF5E}"/>
              </a:ext>
            </a:extLst>
          </p:cNvPr>
          <p:cNvSpPr>
            <a:spLocks noGrp="1"/>
          </p:cNvSpPr>
          <p:nvPr>
            <p:ph type="sldNum" sz="quarter" idx="12"/>
          </p:nvPr>
        </p:nvSpPr>
        <p:spPr>
          <a:xfrm>
            <a:off x="9233742" y="6412296"/>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26</a:t>
            </a:fld>
            <a:endParaRPr lang="en-US" altLang="zh-CN">
              <a:latin typeface="Times New Roman"/>
              <a:ea typeface="SimSun"/>
              <a:cs typeface="Times New Roman"/>
            </a:endParaRPr>
          </a:p>
        </p:txBody>
      </p:sp>
      <p:sp>
        <p:nvSpPr>
          <p:cNvPr id="7" name="椭圆 6">
            <a:extLst>
              <a:ext uri="{FF2B5EF4-FFF2-40B4-BE49-F238E27FC236}">
                <a16:creationId xmlns:a16="http://schemas.microsoft.com/office/drawing/2014/main" id="{E9CAB4BB-262F-45A3-879E-41998BBBE8E4}"/>
              </a:ext>
            </a:extLst>
          </p:cNvPr>
          <p:cNvSpPr/>
          <p:nvPr/>
        </p:nvSpPr>
        <p:spPr bwMode="auto">
          <a:xfrm>
            <a:off x="9964977" y="5710159"/>
            <a:ext cx="943493" cy="894178"/>
          </a:xfrm>
          <a:prstGeom prst="ellipse">
            <a:avLst/>
          </a:prstGeom>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dirty="0">
              <a:solidFill>
                <a:srgbClr val="A60626"/>
              </a:solidFill>
              <a:latin typeface="Times New Roman" charset="0"/>
              <a:ea typeface="SimSun"/>
              <a:cs typeface="Times New Roman"/>
            </a:endParaRPr>
          </a:p>
        </p:txBody>
      </p:sp>
      <p:sp>
        <p:nvSpPr>
          <p:cNvPr id="9" name="矩形 8">
            <a:extLst>
              <a:ext uri="{FF2B5EF4-FFF2-40B4-BE49-F238E27FC236}">
                <a16:creationId xmlns:a16="http://schemas.microsoft.com/office/drawing/2014/main" id="{9922598D-9535-4E3E-A25D-BA28755CF18D}"/>
              </a:ext>
            </a:extLst>
          </p:cNvPr>
          <p:cNvSpPr/>
          <p:nvPr/>
        </p:nvSpPr>
        <p:spPr>
          <a:xfrm>
            <a:off x="4265583" y="5778563"/>
            <a:ext cx="3157011"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Fig.4.1.2 </a:t>
            </a:r>
            <a:r>
              <a:rPr lang="en-HK" sz="1200" dirty="0">
                <a:latin typeface="Times New Roman" panose="02020603050405020304" pitchFamily="18" charset="0"/>
                <a:ea typeface="SimSun"/>
                <a:cs typeface="Times New Roman" panose="02020603050405020304" pitchFamily="18" charset="0"/>
              </a:rPr>
              <a:t>Configuration of an IEC system</a:t>
            </a:r>
          </a:p>
        </p:txBody>
      </p:sp>
      <p:pic>
        <p:nvPicPr>
          <p:cNvPr id="10" name="图片 9">
            <a:extLst>
              <a:ext uri="{FF2B5EF4-FFF2-40B4-BE49-F238E27FC236}">
                <a16:creationId xmlns:a16="http://schemas.microsoft.com/office/drawing/2014/main" id="{3BE9E6F9-F6C2-4EFA-A99F-C75EA8A46D72}"/>
              </a:ext>
            </a:extLst>
          </p:cNvPr>
          <p:cNvPicPr/>
          <p:nvPr/>
        </p:nvPicPr>
        <p:blipFill>
          <a:blip r:embed="rId4">
            <a:extLst>
              <a:ext uri="{28A0092B-C50C-407E-A947-70E740481C1C}">
                <a14:useLocalDpi xmlns:a14="http://schemas.microsoft.com/office/drawing/2010/main" val="0"/>
              </a:ext>
            </a:extLst>
          </a:blip>
          <a:stretch>
            <a:fillRect/>
          </a:stretch>
        </p:blipFill>
        <p:spPr>
          <a:xfrm>
            <a:off x="7978839" y="2157644"/>
            <a:ext cx="3483145" cy="2999479"/>
          </a:xfrm>
          <a:prstGeom prst="rect">
            <a:avLst/>
          </a:prstGeom>
        </p:spPr>
      </p:pic>
      <p:sp>
        <p:nvSpPr>
          <p:cNvPr id="11" name="矩形 10">
            <a:extLst>
              <a:ext uri="{FF2B5EF4-FFF2-40B4-BE49-F238E27FC236}">
                <a16:creationId xmlns:a16="http://schemas.microsoft.com/office/drawing/2014/main" id="{9E61F4F3-7295-48C8-8C55-DD777A473AEF}"/>
              </a:ext>
            </a:extLst>
          </p:cNvPr>
          <p:cNvSpPr/>
          <p:nvPr/>
        </p:nvSpPr>
        <p:spPr>
          <a:xfrm>
            <a:off x="7705457" y="5251685"/>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Fig.4.1.3 </a:t>
            </a:r>
            <a:r>
              <a:rPr lang="en-HK" sz="1200" dirty="0">
                <a:latin typeface="Times New Roman" panose="02020603050405020304" pitchFamily="18" charset="0"/>
                <a:ea typeface="SimSun"/>
                <a:cs typeface="Times New Roman" panose="02020603050405020304" pitchFamily="18" charset="0"/>
              </a:rPr>
              <a:t>Geometry used in volumetric flux distribution model</a:t>
            </a:r>
            <a:endParaRPr lang="en-HK" sz="1200" dirty="0">
              <a:latin typeface="Times New Roman" panose="020B0604020202020204" pitchFamily="34" charset="0"/>
              <a:ea typeface="SimSun"/>
              <a:cs typeface="Times New Roman" panose="020B0604020202020204" pitchFamily="34"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CC4EC12-D2E2-4BFE-80BA-21509A6B70CA}"/>
                  </a:ext>
                </a:extLst>
              </p:cNvPr>
              <p:cNvSpPr/>
              <p:nvPr/>
            </p:nvSpPr>
            <p:spPr>
              <a:xfrm>
                <a:off x="9964977" y="5862508"/>
                <a:ext cx="854849" cy="557076"/>
              </a:xfrm>
              <a:prstGeom prst="rect">
                <a:avLst/>
              </a:prstGeom>
            </p:spPr>
            <p:txBody>
              <a:bodyPr wrap="none">
                <a:spAutoFit/>
              </a:bodyPr>
              <a:lstStyle/>
              <a:p>
                <a:pPr/>
                <a14:m>
                  <m:oMathPara xmlns:m="http://schemas.openxmlformats.org/officeDocument/2006/math">
                    <m:oMath>
                      <m:r>
                        <a:rPr lang="en-HK" sz="1400" i="1">
                          <a:latin typeface="Times New Roman" panose="02040503050406030204" pitchFamily="18" charset="0"/>
                          <a:ea typeface="SimSun"/>
                          <a:cs typeface="Times New Roman"/>
                        </a:rPr>
                        <m:t>𝜑</m:t>
                      </m:r>
                      <m:r>
                        <a:rPr lang="en-HK" sz="1400">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𝑤</m:t>
                              </m:r>
                            </m:sub>
                          </m:sSub>
                        </m:num>
                        <m:den>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𝑝𝑙</m:t>
                              </m:r>
                            </m:sub>
                          </m:sSub>
                        </m:den>
                      </m:f>
                    </m:oMath>
                  </m:oMathPara>
                </a14:m>
                <a:endParaRPr lang="en-HK" sz="1400" dirty="0">
                  <a:latin typeface="Times New Roman"/>
                  <a:ea typeface="SimSun"/>
                  <a:cs typeface="Times New Roman"/>
                </a:endParaRPr>
              </a:p>
            </p:txBody>
          </p:sp>
        </mc:Choice>
        <mc:Fallback xmlns="">
          <p:sp>
            <p:nvSpPr>
              <p:cNvPr id="12" name="矩形 11">
                <a:extLst>
                  <a:ext uri="{FF2B5EF4-FFF2-40B4-BE49-F238E27FC236}">
                    <a16:creationId xmlns:a16="http://schemas.microsoft.com/office/drawing/2014/main" id="{4CC4EC12-D2E2-4BFE-80BA-21509A6B70CA}"/>
                  </a:ext>
                </a:extLst>
              </p:cNvPr>
              <p:cNvSpPr>
                <a:spLocks noRot="1" noChangeAspect="1" noMove="1" noResize="1" noEditPoints="1" noAdjustHandles="1" noChangeArrowheads="1" noChangeShapeType="1" noTextEdit="1"/>
              </p:cNvSpPr>
              <p:nvPr/>
            </p:nvSpPr>
            <p:spPr>
              <a:xfrm>
                <a:off x="9964977" y="5862508"/>
                <a:ext cx="854849" cy="557076"/>
              </a:xfrm>
              <a:prstGeom prst="rect">
                <a:avLst/>
              </a:prstGeom>
              <a:blipFill>
                <a:blip r:embed="rId5"/>
                <a:stretch>
                  <a:fillRect b="-1099"/>
                </a:stretch>
              </a:blipFill>
            </p:spPr>
            <p:txBody>
              <a:bodyPr/>
              <a:lstStyle/>
              <a:p>
                <a:r>
                  <a:rPr lang="en-US">
                    <a:noFill/>
                    <a:latin typeface="Times New Roman"/>
                    <a:ea typeface="SimSun"/>
                    <a:cs typeface="Times New Roman"/>
                  </a:rPr>
                  <a:t> </a:t>
                </a:r>
              </a:p>
            </p:txBody>
          </p:sp>
        </mc:Fallback>
      </mc:AlternateContent>
      <p:sp>
        <p:nvSpPr>
          <p:cNvPr id="13" name="矩形 12">
            <a:extLst>
              <a:ext uri="{FF2B5EF4-FFF2-40B4-BE49-F238E27FC236}">
                <a16:creationId xmlns:a16="http://schemas.microsoft.com/office/drawing/2014/main" id="{B5DA5B7F-FDDD-4602-A2BF-D99B9D52C614}"/>
              </a:ext>
            </a:extLst>
          </p:cNvPr>
          <p:cNvSpPr/>
          <p:nvPr/>
        </p:nvSpPr>
        <p:spPr>
          <a:xfrm>
            <a:off x="8488547" y="5987158"/>
            <a:ext cx="1612942" cy="338554"/>
          </a:xfrm>
          <a:prstGeom prst="rect">
            <a:avLst/>
          </a:prstGeom>
        </p:spPr>
        <p:txBody>
          <a:bodyPr wrap="none">
            <a:spAutoFit/>
          </a:bodyPr>
          <a:lstStyle/>
          <a:p>
            <a:r>
              <a:rPr lang="en-HK" sz="1600" dirty="0">
                <a:latin typeface="Times New Roman" panose="02020603050405020304" pitchFamily="18" charset="0"/>
                <a:ea typeface="SimSun"/>
                <a:cs typeface="Times New Roman" panose="02020603050405020304" pitchFamily="18" charset="0"/>
              </a:rPr>
              <a:t>Coverage factor: </a:t>
            </a:r>
          </a:p>
        </p:txBody>
      </p:sp>
      <p:sp>
        <p:nvSpPr>
          <p:cNvPr id="14" name="矩形 13">
            <a:extLst>
              <a:ext uri="{FF2B5EF4-FFF2-40B4-BE49-F238E27FC236}">
                <a16:creationId xmlns:a16="http://schemas.microsoft.com/office/drawing/2014/main" id="{9BDD8AE5-E139-4D61-B1EF-042597C2DE2B}"/>
              </a:ext>
            </a:extLst>
          </p:cNvPr>
          <p:cNvSpPr/>
          <p:nvPr/>
        </p:nvSpPr>
        <p:spPr>
          <a:xfrm>
            <a:off x="3709338" y="1469299"/>
            <a:ext cx="2866490" cy="338554"/>
          </a:xfrm>
          <a:prstGeom prst="rect">
            <a:avLst/>
          </a:prstGeom>
        </p:spPr>
        <p:txBody>
          <a:bodyPr wrap="none">
            <a:spAutoFit/>
          </a:bodyPr>
          <a:lstStyle/>
          <a:p>
            <a:pPr marL="285750" indent="-285750">
              <a:buFont typeface="Wingdings" panose="05000000000000000000" pitchFamily="2" charset="2"/>
              <a:buChar char="Ø"/>
            </a:pPr>
            <a:r>
              <a:rPr lang="en-HK" sz="1600" dirty="0">
                <a:latin typeface="Times New Roman" panose="02020603050405020304" pitchFamily="18" charset="0"/>
                <a:ea typeface="SimSun"/>
                <a:cs typeface="Times New Roman" panose="02020603050405020304" pitchFamily="18" charset="0"/>
              </a:rPr>
              <a:t>Model of single wet channel </a:t>
            </a:r>
          </a:p>
        </p:txBody>
      </p:sp>
      <p:sp>
        <p:nvSpPr>
          <p:cNvPr id="15" name="矩形 14">
            <a:extLst>
              <a:ext uri="{FF2B5EF4-FFF2-40B4-BE49-F238E27FC236}">
                <a16:creationId xmlns:a16="http://schemas.microsoft.com/office/drawing/2014/main" id="{E9CFA491-2490-4D9F-93B9-D66A35988A3D}"/>
              </a:ext>
            </a:extLst>
          </p:cNvPr>
          <p:cNvSpPr/>
          <p:nvPr/>
        </p:nvSpPr>
        <p:spPr>
          <a:xfrm>
            <a:off x="7235996" y="1469282"/>
            <a:ext cx="4535268" cy="338554"/>
          </a:xfrm>
          <a:prstGeom prst="rect">
            <a:avLst/>
          </a:prstGeom>
        </p:spPr>
        <p:txBody>
          <a:bodyPr wrap="square">
            <a:spAutoFit/>
          </a:bodyPr>
          <a:lstStyle/>
          <a:p>
            <a:pPr marL="285750" indent="-285750">
              <a:buFont typeface="Wingdings" panose="05000000000000000000" pitchFamily="2" charset="2"/>
              <a:buChar char="Ø"/>
            </a:pPr>
            <a:r>
              <a:rPr lang="en-HK" sz="1600" dirty="0">
                <a:latin typeface="Times New Roman" panose="02020603050405020304" pitchFamily="18" charset="0"/>
                <a:ea typeface="SimSun"/>
                <a:cs typeface="Times New Roman" panose="02020603050405020304" pitchFamily="18" charset="0"/>
              </a:rPr>
              <a:t>Different heat transfer for different coverage area</a:t>
            </a:r>
          </a:p>
        </p:txBody>
      </p:sp>
      <p:pic>
        <p:nvPicPr>
          <p:cNvPr id="16" name="图片 15">
            <a:extLst>
              <a:ext uri="{FF2B5EF4-FFF2-40B4-BE49-F238E27FC236}">
                <a16:creationId xmlns:a16="http://schemas.microsoft.com/office/drawing/2014/main" id="{73D5DB88-9437-457C-9E6D-7E2E73638BA1}"/>
              </a:ext>
            </a:extLst>
          </p:cNvPr>
          <p:cNvPicPr/>
          <p:nvPr/>
        </p:nvPicPr>
        <p:blipFill>
          <a:blip r:embed="rId6">
            <a:extLst>
              <a:ext uri="{28A0092B-C50C-407E-A947-70E740481C1C}">
                <a14:useLocalDpi xmlns:a14="http://schemas.microsoft.com/office/drawing/2010/main" val="0"/>
              </a:ext>
            </a:extLst>
          </a:blip>
          <a:stretch>
            <a:fillRect/>
          </a:stretch>
        </p:blipFill>
        <p:spPr>
          <a:xfrm>
            <a:off x="4787491" y="1975695"/>
            <a:ext cx="1968490" cy="3635026"/>
          </a:xfrm>
          <a:prstGeom prst="rect">
            <a:avLst/>
          </a:prstGeom>
        </p:spPr>
      </p:pic>
      <p:sp>
        <p:nvSpPr>
          <p:cNvPr id="18" name="矩形 17">
            <a:extLst>
              <a:ext uri="{FF2B5EF4-FFF2-40B4-BE49-F238E27FC236}">
                <a16:creationId xmlns:a16="http://schemas.microsoft.com/office/drawing/2014/main" id="{65E5F680-4B2B-41F7-8B28-D80F0CFCB1C0}"/>
              </a:ext>
            </a:extLst>
          </p:cNvPr>
          <p:cNvSpPr/>
          <p:nvPr/>
        </p:nvSpPr>
        <p:spPr>
          <a:xfrm>
            <a:off x="594591" y="1469299"/>
            <a:ext cx="1306768" cy="338554"/>
          </a:xfrm>
          <a:prstGeom prst="rect">
            <a:avLst/>
          </a:prstGeom>
        </p:spPr>
        <p:txBody>
          <a:bodyPr wrap="none">
            <a:spAutoFit/>
          </a:bodyPr>
          <a:lstStyle/>
          <a:p>
            <a:pPr marL="285750" indent="-285750">
              <a:buFont typeface="Wingdings" panose="05000000000000000000" pitchFamily="2" charset="2"/>
              <a:buChar char="Ø"/>
            </a:pPr>
            <a:r>
              <a:rPr lang="en-HK" sz="1600" dirty="0">
                <a:latin typeface="Times New Roman" panose="02020603050405020304" pitchFamily="18" charset="0"/>
                <a:ea typeface="SimSun"/>
                <a:cs typeface="Times New Roman" panose="02020603050405020304" pitchFamily="18" charset="0"/>
              </a:rPr>
              <a:t>Flowchart</a:t>
            </a:r>
          </a:p>
        </p:txBody>
      </p:sp>
      <p:sp>
        <p:nvSpPr>
          <p:cNvPr id="20"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模型描述（ANSYS）</a:t>
            </a:r>
          </a:p>
        </p:txBody>
      </p:sp>
      <p:sp>
        <p:nvSpPr>
          <p:cNvPr id="21"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4.1 Model description (ANSYS)</a:t>
            </a:r>
          </a:p>
        </p:txBody>
      </p:sp>
      <p:sp>
        <p:nvSpPr>
          <p:cNvPr id="22"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23"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476545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7" name="图片 46">
            <a:extLst>
              <a:ext uri="{FF2B5EF4-FFF2-40B4-BE49-F238E27FC236}">
                <a16:creationId xmlns:a16="http://schemas.microsoft.com/office/drawing/2014/main" id="{688A77F0-8416-4D0B-8E46-BBEA898A5C8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912437" y="3723758"/>
            <a:ext cx="553085" cy="1547495"/>
          </a:xfrm>
          <a:prstGeom prst="rect">
            <a:avLst/>
          </a:prstGeom>
          <a:noFill/>
        </p:spPr>
      </p:pic>
      <p:sp>
        <p:nvSpPr>
          <p:cNvPr id="18" name="矩形 17">
            <a:extLst>
              <a:ext uri="{FF2B5EF4-FFF2-40B4-BE49-F238E27FC236}">
                <a16:creationId xmlns:a16="http://schemas.microsoft.com/office/drawing/2014/main" id="{6709DF6D-D34C-4D60-B37D-56C4DA8F6791}"/>
              </a:ext>
            </a:extLst>
          </p:cNvPr>
          <p:cNvSpPr/>
          <p:nvPr/>
        </p:nvSpPr>
        <p:spPr>
          <a:xfrm>
            <a:off x="1179133" y="1334647"/>
            <a:ext cx="2258952"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(1) Conservation of mass</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9784B58F-FAD0-4985-94F1-077B985EA0E2}"/>
                  </a:ext>
                </a:extLst>
              </p:cNvPr>
              <p:cNvSpPr/>
              <p:nvPr/>
            </p:nvSpPr>
            <p:spPr>
              <a:xfrm>
                <a:off x="1528202" y="1626427"/>
                <a:ext cx="2086597" cy="560538"/>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𝑢</m:t>
                          </m:r>
                        </m:e>
                      </m:d>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19" name="矩形 18">
                <a:extLst>
                  <a:ext uri="{FF2B5EF4-FFF2-40B4-BE49-F238E27FC236}">
                    <a16:creationId xmlns:a16="http://schemas.microsoft.com/office/drawing/2014/main" id="{9784B58F-FAD0-4985-94F1-077B985EA0E2}"/>
                  </a:ext>
                </a:extLst>
              </p:cNvPr>
              <p:cNvSpPr>
                <a:spLocks noRot="1" noChangeAspect="1" noMove="1" noResize="1" noEditPoints="1" noAdjustHandles="1" noChangeArrowheads="1" noChangeShapeType="1" noTextEdit="1"/>
              </p:cNvSpPr>
              <p:nvPr/>
            </p:nvSpPr>
            <p:spPr>
              <a:xfrm>
                <a:off x="1528202" y="1626427"/>
                <a:ext cx="2086597" cy="560538"/>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p:sp>
        <p:nvSpPr>
          <p:cNvPr id="20" name="矩形 19">
            <a:extLst>
              <a:ext uri="{FF2B5EF4-FFF2-40B4-BE49-F238E27FC236}">
                <a16:creationId xmlns:a16="http://schemas.microsoft.com/office/drawing/2014/main" id="{B4FE9C60-D2C9-4987-935F-D33A4FB7F143}"/>
              </a:ext>
            </a:extLst>
          </p:cNvPr>
          <p:cNvSpPr/>
          <p:nvPr/>
        </p:nvSpPr>
        <p:spPr>
          <a:xfrm>
            <a:off x="1179131" y="2280034"/>
            <a:ext cx="2784737" cy="342786"/>
          </a:xfrm>
          <a:prstGeom prst="rect">
            <a:avLst/>
          </a:prstGeom>
        </p:spPr>
        <p:txBody>
          <a:bodyPr wrap="none">
            <a:spAutoFit/>
          </a:bodyPr>
          <a:lstStyle/>
          <a:p>
            <a:pPr>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(2) Conservation of momentum</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F204E31-4AF7-43F6-866C-289013849E15}"/>
                  </a:ext>
                </a:extLst>
              </p:cNvPr>
              <p:cNvSpPr/>
              <p:nvPr/>
            </p:nvSpPr>
            <p:spPr>
              <a:xfrm>
                <a:off x="1417173" y="2611800"/>
                <a:ext cx="3732966" cy="838499"/>
              </a:xfrm>
              <a:prstGeom prst="rect">
                <a:avLst/>
              </a:prstGeom>
            </p:spPr>
            <p:txBody>
              <a:bodyPr wrap="squar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𝐸</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a:latin typeface="Times New Roman" panose="02040503050406030204" pitchFamily="18" charset="0"/>
                                  <a:ea typeface="SimSun"/>
                                  <a:cs typeface="Times New Roman"/>
                                </a:rPr>
                                <m:t>2</m:t>
                              </m:r>
                            </m:sup>
                          </m:sSup>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𝑃</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𝜇</m:t>
                          </m:r>
                          <m:d>
                            <m:dPr>
                              <m:ctrlPr>
                                <a:rPr lang="en-HK" sz="1600">
                                  <a:latin typeface="Times New Roman" panose="02040503050406030204" pitchFamily="18" charset="0"/>
                                  <a:ea typeface="SimSun"/>
                                  <a:cs typeface="Times New Roman"/>
                                </a:rPr>
                              </m:ctrlPr>
                            </m:dPr>
                            <m:e>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𝑢</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i="1">
                                      <a:latin typeface="Times New Roman" panose="02040503050406030204" pitchFamily="18" charset="0"/>
                                      <a:ea typeface="SimSun"/>
                                      <a:cs typeface="Times New Roman"/>
                                    </a:rPr>
                                    <m:t>𝑇</m:t>
                                  </m:r>
                                </m:sup>
                              </m:sSup>
                            </m:e>
                          </m:d>
                        </m:e>
                      </m:d>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𝑔</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𝐹</m:t>
                      </m:r>
                    </m:oMath>
                  </m:oMathPara>
                </a14:m>
                <a:endParaRPr lang="en-HK" sz="1600" dirty="0">
                  <a:latin typeface="Times New Roman"/>
                  <a:ea typeface="SimSun"/>
                  <a:cs typeface="Times New Roman"/>
                </a:endParaRPr>
              </a:p>
            </p:txBody>
          </p:sp>
        </mc:Choice>
        <mc:Fallback xmlns="">
          <p:sp>
            <p:nvSpPr>
              <p:cNvPr id="21" name="矩形 20">
                <a:extLst>
                  <a:ext uri="{FF2B5EF4-FFF2-40B4-BE49-F238E27FC236}">
                    <a16:creationId xmlns:a16="http://schemas.microsoft.com/office/drawing/2014/main" id="{2F204E31-4AF7-43F6-866C-289013849E15}"/>
                  </a:ext>
                </a:extLst>
              </p:cNvPr>
              <p:cNvSpPr>
                <a:spLocks noRot="1" noChangeAspect="1" noMove="1" noResize="1" noEditPoints="1" noAdjustHandles="1" noChangeArrowheads="1" noChangeShapeType="1" noTextEdit="1"/>
              </p:cNvSpPr>
              <p:nvPr/>
            </p:nvSpPr>
            <p:spPr>
              <a:xfrm>
                <a:off x="1417173" y="2611800"/>
                <a:ext cx="3732966" cy="838499"/>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p:sp>
        <p:nvSpPr>
          <p:cNvPr id="22" name="矩形 21">
            <a:extLst>
              <a:ext uri="{FF2B5EF4-FFF2-40B4-BE49-F238E27FC236}">
                <a16:creationId xmlns:a16="http://schemas.microsoft.com/office/drawing/2014/main" id="{0C38144E-90D3-4157-8395-F70A0D7FE96E}"/>
              </a:ext>
            </a:extLst>
          </p:cNvPr>
          <p:cNvSpPr/>
          <p:nvPr/>
        </p:nvSpPr>
        <p:spPr>
          <a:xfrm>
            <a:off x="1177327" y="3458983"/>
            <a:ext cx="1643399"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(3) Mass transfer </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489DAD21-4DD6-4C86-8037-4F26A74EBB81}"/>
                  </a:ext>
                </a:extLst>
              </p:cNvPr>
              <p:cNvSpPr/>
              <p:nvPr/>
            </p:nvSpPr>
            <p:spPr>
              <a:xfrm>
                <a:off x="1508428" y="3697032"/>
                <a:ext cx="3603935" cy="602601"/>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ℎ</m:t>
                          </m:r>
                        </m:e>
                        <m:sub>
                          <m:r>
                            <a:rPr lang="en-HK" sz="1600" i="1">
                              <a:latin typeface="Times New Roman" panose="02040503050406030204" pitchFamily="18" charset="0"/>
                              <a:ea typeface="SimSun"/>
                              <a:cs typeface="Times New Roman"/>
                            </a:rPr>
                            <m:t>𝑚𝑠</m:t>
                          </m:r>
                        </m:sub>
                      </m:sSub>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𝑡</m:t>
                                  </m:r>
                                </m:e>
                                <m:sub>
                                  <m:r>
                                    <a:rPr lang="en-HK" sz="1600" i="1">
                                      <a:latin typeface="Times New Roman" panose="02040503050406030204" pitchFamily="18" charset="0"/>
                                      <a:ea typeface="SimSun"/>
                                      <a:cs typeface="Times New Roman"/>
                                    </a:rPr>
                                    <m:t>𝑤</m:t>
                                  </m:r>
                                </m:sub>
                              </m:sSub>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e>
                      </m:d>
                      <m:r>
                        <a:rPr lang="en-HK" sz="1600" i="1">
                          <a:latin typeface="Times New Roman" panose="02040503050406030204" pitchFamily="18" charset="0"/>
                          <a:ea typeface="SimSun"/>
                          <a:cs typeface="Times New Roman"/>
                        </a:rPr>
                        <m:t>𝜎</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𝑑𝑥𝑑𝑦</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𝑑𝑦</m:t>
                      </m:r>
                    </m:oMath>
                  </m:oMathPara>
                </a14:m>
                <a:endParaRPr lang="en-HK" sz="1600" dirty="0">
                  <a:latin typeface="Times New Roman"/>
                  <a:ea typeface="SimSun"/>
                  <a:cs typeface="Times New Roman"/>
                </a:endParaRPr>
              </a:p>
            </p:txBody>
          </p:sp>
        </mc:Choice>
        <mc:Fallback xmlns="">
          <p:sp>
            <p:nvSpPr>
              <p:cNvPr id="23" name="矩形 22">
                <a:extLst>
                  <a:ext uri="{FF2B5EF4-FFF2-40B4-BE49-F238E27FC236}">
                    <a16:creationId xmlns:a16="http://schemas.microsoft.com/office/drawing/2014/main" id="{489DAD21-4DD6-4C86-8037-4F26A74EBB81}"/>
                  </a:ext>
                </a:extLst>
              </p:cNvPr>
              <p:cNvSpPr>
                <a:spLocks noRot="1" noChangeAspect="1" noMove="1" noResize="1" noEditPoints="1" noAdjustHandles="1" noChangeArrowheads="1" noChangeShapeType="1" noTextEdit="1"/>
              </p:cNvSpPr>
              <p:nvPr/>
            </p:nvSpPr>
            <p:spPr>
              <a:xfrm>
                <a:off x="1508428" y="3697032"/>
                <a:ext cx="3603935" cy="602601"/>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2DAD2746-6358-4584-A5F0-FC93C43A7218}"/>
                  </a:ext>
                </a:extLst>
              </p:cNvPr>
              <p:cNvSpPr/>
              <p:nvPr/>
            </p:nvSpPr>
            <p:spPr>
              <a:xfrm>
                <a:off x="1508428" y="4260928"/>
                <a:ext cx="1504836" cy="602601"/>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𝑒</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oMath>
                  </m:oMathPara>
                </a14:m>
                <a:endParaRPr lang="en-HK" sz="1600" dirty="0">
                  <a:latin typeface="Times New Roman"/>
                  <a:ea typeface="SimSun"/>
                  <a:cs typeface="Times New Roman"/>
                </a:endParaRPr>
              </a:p>
            </p:txBody>
          </p:sp>
        </mc:Choice>
        <mc:Fallback xmlns="">
          <p:sp>
            <p:nvSpPr>
              <p:cNvPr id="24" name="矩形 23">
                <a:extLst>
                  <a:ext uri="{FF2B5EF4-FFF2-40B4-BE49-F238E27FC236}">
                    <a16:creationId xmlns:a16="http://schemas.microsoft.com/office/drawing/2014/main" id="{2DAD2746-6358-4584-A5F0-FC93C43A7218}"/>
                  </a:ext>
                </a:extLst>
              </p:cNvPr>
              <p:cNvSpPr>
                <a:spLocks noRot="1" noChangeAspect="1" noMove="1" noResize="1" noEditPoints="1" noAdjustHandles="1" noChangeArrowheads="1" noChangeShapeType="1" noTextEdit="1"/>
              </p:cNvSpPr>
              <p:nvPr/>
            </p:nvSpPr>
            <p:spPr>
              <a:xfrm>
                <a:off x="1508428" y="4260928"/>
                <a:ext cx="1504836" cy="602601"/>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p:sp>
        <p:nvSpPr>
          <p:cNvPr id="25" name="矩形 24">
            <a:extLst>
              <a:ext uri="{FF2B5EF4-FFF2-40B4-BE49-F238E27FC236}">
                <a16:creationId xmlns:a16="http://schemas.microsoft.com/office/drawing/2014/main" id="{A47138F7-B70D-40EC-98CD-3CEFC7B16BBB}"/>
              </a:ext>
            </a:extLst>
          </p:cNvPr>
          <p:cNvSpPr/>
          <p:nvPr/>
        </p:nvSpPr>
        <p:spPr>
          <a:xfrm>
            <a:off x="1174139" y="4863529"/>
            <a:ext cx="2471639" cy="338554"/>
          </a:xfrm>
          <a:prstGeom prst="rect">
            <a:avLst/>
          </a:prstGeom>
        </p:spPr>
        <p:txBody>
          <a:bodyPr wrap="none">
            <a:spAutoFit/>
          </a:bodyPr>
          <a:lstStyle/>
          <a:p>
            <a:r>
              <a:rPr lang="en-HK" sz="1600" dirty="0">
                <a:latin typeface="Times New Roman" panose="02020603050405020304" pitchFamily="18" charset="0"/>
                <a:ea typeface="SimSun" panose="02010600030101010101" pitchFamily="2" charset="-122"/>
                <a:cs typeface="Times New Roman"/>
              </a:rPr>
              <a:t>(4) VOF multi-phase model</a:t>
            </a:r>
            <a:endParaRPr lang="en-HK" sz="1600"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84CEEDF-7DED-43EA-9FA3-6B3CE26FED7B}"/>
                  </a:ext>
                </a:extLst>
              </p:cNvPr>
              <p:cNvSpPr/>
              <p:nvPr/>
            </p:nvSpPr>
            <p:spPr>
              <a:xfrm>
                <a:off x="1531252" y="5252293"/>
                <a:ext cx="197182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ρ</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6" name="矩形 25">
                <a:extLst>
                  <a:ext uri="{FF2B5EF4-FFF2-40B4-BE49-F238E27FC236}">
                    <a16:creationId xmlns:a16="http://schemas.microsoft.com/office/drawing/2014/main" id="{084CEEDF-7DED-43EA-9FA3-6B3CE26FED7B}"/>
                  </a:ext>
                </a:extLst>
              </p:cNvPr>
              <p:cNvSpPr>
                <a:spLocks noRot="1" noChangeAspect="1" noMove="1" noResize="1" noEditPoints="1" noAdjustHandles="1" noChangeArrowheads="1" noChangeShapeType="1" noTextEdit="1"/>
              </p:cNvSpPr>
              <p:nvPr/>
            </p:nvSpPr>
            <p:spPr>
              <a:xfrm>
                <a:off x="1531252" y="5252293"/>
                <a:ext cx="1971822" cy="358560"/>
              </a:xfrm>
              <a:prstGeom prst="rect">
                <a:avLst/>
              </a:prstGeom>
              <a:blipFill>
                <a:blip r:embed="rId8"/>
                <a:stretch>
                  <a:fillRect b="-344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4F72ED22-F12F-4F37-8EC8-803AAA3928F7}"/>
                  </a:ext>
                </a:extLst>
              </p:cNvPr>
              <p:cNvSpPr/>
              <p:nvPr/>
            </p:nvSpPr>
            <p:spPr>
              <a:xfrm>
                <a:off x="1533707" y="5723243"/>
                <a:ext cx="198317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μ</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7" name="矩形 26">
                <a:extLst>
                  <a:ext uri="{FF2B5EF4-FFF2-40B4-BE49-F238E27FC236}">
                    <a16:creationId xmlns:a16="http://schemas.microsoft.com/office/drawing/2014/main" id="{4F72ED22-F12F-4F37-8EC8-803AAA3928F7}"/>
                  </a:ext>
                </a:extLst>
              </p:cNvPr>
              <p:cNvSpPr>
                <a:spLocks noRot="1" noChangeAspect="1" noMove="1" noResize="1" noEditPoints="1" noAdjustHandles="1" noChangeArrowheads="1" noChangeShapeType="1" noTextEdit="1"/>
              </p:cNvSpPr>
              <p:nvPr/>
            </p:nvSpPr>
            <p:spPr>
              <a:xfrm>
                <a:off x="1533707" y="5723243"/>
                <a:ext cx="1983172" cy="358560"/>
              </a:xfrm>
              <a:prstGeom prst="rect">
                <a:avLst/>
              </a:prstGeom>
              <a:blipFill>
                <a:blip r:embed="rId9"/>
                <a:stretch>
                  <a:fillRect b="-1695"/>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EBC87E3B-4DC7-4C08-8D39-DDA5612D9B4A}"/>
                  </a:ext>
                </a:extLst>
              </p:cNvPr>
              <p:cNvSpPr/>
              <p:nvPr/>
            </p:nvSpPr>
            <p:spPr>
              <a:xfrm>
                <a:off x="1507981" y="6124461"/>
                <a:ext cx="2203680" cy="567784"/>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𝑢</m:t>
                          </m:r>
                        </m:e>
                      </m:acc>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28" name="矩形 27">
                <a:extLst>
                  <a:ext uri="{FF2B5EF4-FFF2-40B4-BE49-F238E27FC236}">
                    <a16:creationId xmlns:a16="http://schemas.microsoft.com/office/drawing/2014/main" id="{EBC87E3B-4DC7-4C08-8D39-DDA5612D9B4A}"/>
                  </a:ext>
                </a:extLst>
              </p:cNvPr>
              <p:cNvSpPr>
                <a:spLocks noRot="1" noChangeAspect="1" noMove="1" noResize="1" noEditPoints="1" noAdjustHandles="1" noChangeArrowheads="1" noChangeShapeType="1" noTextEdit="1"/>
              </p:cNvSpPr>
              <p:nvPr/>
            </p:nvSpPr>
            <p:spPr>
              <a:xfrm>
                <a:off x="1507981" y="6124461"/>
                <a:ext cx="2203680" cy="567784"/>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p:sp>
        <p:nvSpPr>
          <p:cNvPr id="29" name="矩形 28">
            <a:extLst>
              <a:ext uri="{FF2B5EF4-FFF2-40B4-BE49-F238E27FC236}">
                <a16:creationId xmlns:a16="http://schemas.microsoft.com/office/drawing/2014/main" id="{3BA7EDA3-69FA-4DDC-BED3-86D5F6606E8F}"/>
              </a:ext>
            </a:extLst>
          </p:cNvPr>
          <p:cNvSpPr/>
          <p:nvPr/>
        </p:nvSpPr>
        <p:spPr>
          <a:xfrm>
            <a:off x="5176190" y="1336452"/>
            <a:ext cx="2880917"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(5) Discrete phase model (DPM)</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A42D7DB2-03BD-473E-8855-F0E657132544}"/>
                  </a:ext>
                </a:extLst>
              </p:cNvPr>
              <p:cNvSpPr/>
              <p:nvPr/>
            </p:nvSpPr>
            <p:spPr>
              <a:xfrm>
                <a:off x="5459711" y="1729399"/>
                <a:ext cx="1233799" cy="624338"/>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𝑋</m:t>
                                      </m:r>
                                    </m:e>
                                    <m:sub>
                                      <m:r>
                                        <a:rPr lang="en-HK" sz="1600" i="1">
                                          <a:latin typeface="Times New Roman" panose="02040503050406030204" pitchFamily="18" charset="0"/>
                                          <a:ea typeface="SimSun"/>
                                          <a:cs typeface="Times New Roman"/>
                                        </a:rPr>
                                        <m:t>𝑔</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𝑉</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0" name="矩形 29">
                <a:extLst>
                  <a:ext uri="{FF2B5EF4-FFF2-40B4-BE49-F238E27FC236}">
                    <a16:creationId xmlns:a16="http://schemas.microsoft.com/office/drawing/2014/main" id="{A42D7DB2-03BD-473E-8855-F0E657132544}"/>
                  </a:ext>
                </a:extLst>
              </p:cNvPr>
              <p:cNvSpPr>
                <a:spLocks noRot="1" noChangeAspect="1" noMove="1" noResize="1" noEditPoints="1" noAdjustHandles="1" noChangeArrowheads="1" noChangeShapeType="1" noTextEdit="1"/>
              </p:cNvSpPr>
              <p:nvPr/>
            </p:nvSpPr>
            <p:spPr>
              <a:xfrm>
                <a:off x="5459711" y="1729399"/>
                <a:ext cx="1233799" cy="624338"/>
              </a:xfrm>
              <a:prstGeom prst="rect">
                <a:avLst/>
              </a:prstGeom>
              <a:blipFill>
                <a:blip r:embed="rId11"/>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9CFF45E8-885C-4D77-91D9-E424F63501B3}"/>
                  </a:ext>
                </a:extLst>
              </p:cNvPr>
              <p:cNvSpPr/>
              <p:nvPr/>
            </p:nvSpPr>
            <p:spPr>
              <a:xfrm>
                <a:off x="5459710" y="2388185"/>
                <a:ext cx="1973169" cy="618439"/>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𝑚</m:t>
                                  </m:r>
                                </m:e>
                                <m:sub>
                                  <m:r>
                                    <a:rPr lang="en-HK" sz="1600" i="1">
                                      <a:latin typeface="Times New Roman" panose="02040503050406030204" pitchFamily="18" charset="0"/>
                                      <a:ea typeface="SimSun"/>
                                      <a:cs typeface="Times New Roman"/>
                                    </a:rPr>
                                    <m:t>𝑑</m:t>
                                  </m:r>
                                </m:sub>
                              </m:sSub>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𝑑</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𝐷</m:t>
                              </m:r>
                            </m:sub>
                          </m:sSub>
                        </m:e>
                      </m:acc>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1" name="矩形 30">
                <a:extLst>
                  <a:ext uri="{FF2B5EF4-FFF2-40B4-BE49-F238E27FC236}">
                    <a16:creationId xmlns:a16="http://schemas.microsoft.com/office/drawing/2014/main" id="{9CFF45E8-885C-4D77-91D9-E424F63501B3}"/>
                  </a:ext>
                </a:extLst>
              </p:cNvPr>
              <p:cNvSpPr>
                <a:spLocks noRot="1" noChangeAspect="1" noMove="1" noResize="1" noEditPoints="1" noAdjustHandles="1" noChangeArrowheads="1" noChangeShapeType="1" noTextEdit="1"/>
              </p:cNvSpPr>
              <p:nvPr/>
            </p:nvSpPr>
            <p:spPr>
              <a:xfrm>
                <a:off x="5459710" y="2388185"/>
                <a:ext cx="1973169" cy="618439"/>
              </a:xfrm>
              <a:prstGeom prst="rect">
                <a:avLst/>
              </a:prstGeom>
              <a:blipFill>
                <a:blip r:embed="rId12"/>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DDE7A3DE-B2BA-4BA8-9CA6-EA91F0447FFD}"/>
                  </a:ext>
                </a:extLst>
              </p:cNvPr>
              <p:cNvSpPr/>
              <p:nvPr/>
            </p:nvSpPr>
            <p:spPr>
              <a:xfrm>
                <a:off x="5459710" y="2862581"/>
                <a:ext cx="2236831" cy="51238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𝐹</m:t>
                              </m:r>
                            </m:e>
                          </m:acc>
                        </m:e>
                        <m:sub>
                          <m:r>
                            <a:rPr lang="en-HK" sz="1600" i="1">
                              <a:latin typeface="Times New Roman" panose="02040503050406030204" pitchFamily="18" charset="0"/>
                              <a:ea typeface="SimSun"/>
                              <a:cs typeface="Times New Roman"/>
                            </a:rPr>
                            <m:t>𝑑</m:t>
                          </m:r>
                        </m:sub>
                      </m:sSub>
                      <m:r>
                        <a:rPr lang="en-HK"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𝜋</m:t>
                          </m:r>
                        </m:num>
                        <m:den>
                          <m:r>
                            <a:rPr lang="en-HK" sz="1600">
                              <a:latin typeface="Times New Roman" panose="02040503050406030204" pitchFamily="18" charset="0"/>
                              <a:ea typeface="SimSun"/>
                              <a:cs typeface="Times New Roman"/>
                            </a:rPr>
                            <m:t>8</m:t>
                          </m:r>
                        </m:den>
                      </m:f>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𝐶</m:t>
                          </m:r>
                        </m:e>
                        <m:sub>
                          <m:r>
                            <a:rPr lang="en-HK" sz="1600" i="1">
                              <a:latin typeface="Times New Roman" panose="02040503050406030204" pitchFamily="18" charset="0"/>
                              <a:ea typeface="SimSun"/>
                              <a:cs typeface="Times New Roman"/>
                            </a:rPr>
                            <m:t>𝐷</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𝑎</m:t>
                          </m:r>
                        </m:sub>
                      </m:sSub>
                      <m:sSubSup>
                        <m:sSubSupPr>
                          <m:ctrlPr>
                            <a:rPr lang="en-HK" sz="1600" i="1">
                              <a:latin typeface="Times New Roman" panose="02040503050406030204" pitchFamily="18" charset="0"/>
                              <a:ea typeface="SimSun"/>
                              <a:cs typeface="Times New Roman"/>
                            </a:rPr>
                          </m:ctrlPr>
                        </m:sSubSupPr>
                        <m:e>
                          <m:r>
                            <a:rPr lang="en-HK" sz="1600" i="1">
                              <a:latin typeface="Times New Roman" panose="02040503050406030204" pitchFamily="18" charset="0"/>
                              <a:ea typeface="SimSun"/>
                              <a:cs typeface="Times New Roman"/>
                            </a:rPr>
                            <m:t>𝐷</m:t>
                          </m:r>
                        </m:e>
                        <m:sub>
                          <m:r>
                            <a:rPr lang="en-HK" sz="1600" i="1">
                              <a:latin typeface="Times New Roman" panose="02040503050406030204" pitchFamily="18" charset="0"/>
                              <a:ea typeface="SimSun"/>
                              <a:cs typeface="Times New Roman"/>
                            </a:rPr>
                            <m:t>𝑑</m:t>
                          </m:r>
                        </m:sub>
                        <m:sup>
                          <m:r>
                            <a:rPr lang="en-HK" sz="1600">
                              <a:latin typeface="Times New Roman" panose="02040503050406030204" pitchFamily="18" charset="0"/>
                              <a:ea typeface="SimSun"/>
                              <a:cs typeface="Times New Roman"/>
                            </a:rPr>
                            <m:t>2</m:t>
                          </m:r>
                        </m:sup>
                      </m:sSubSup>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d>
                        <m:dPr>
                          <m:begChr m:val="|"/>
                          <m:endChr m:val="|"/>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e>
                      </m:d>
                    </m:oMath>
                  </m:oMathPara>
                </a14:m>
                <a:endParaRPr lang="en-HK" sz="1600" dirty="0">
                  <a:latin typeface="Times New Roman"/>
                  <a:ea typeface="SimSun"/>
                  <a:cs typeface="Times New Roman"/>
                </a:endParaRPr>
              </a:p>
            </p:txBody>
          </p:sp>
        </mc:Choice>
        <mc:Fallback xmlns="">
          <p:sp>
            <p:nvSpPr>
              <p:cNvPr id="32" name="矩形 31">
                <a:extLst>
                  <a:ext uri="{FF2B5EF4-FFF2-40B4-BE49-F238E27FC236}">
                    <a16:creationId xmlns:a16="http://schemas.microsoft.com/office/drawing/2014/main" id="{DDE7A3DE-B2BA-4BA8-9CA6-EA91F0447FFD}"/>
                  </a:ext>
                </a:extLst>
              </p:cNvPr>
              <p:cNvSpPr>
                <a:spLocks noRot="1" noChangeAspect="1" noMove="1" noResize="1" noEditPoints="1" noAdjustHandles="1" noChangeArrowheads="1" noChangeShapeType="1" noTextEdit="1"/>
              </p:cNvSpPr>
              <p:nvPr/>
            </p:nvSpPr>
            <p:spPr>
              <a:xfrm>
                <a:off x="5459710" y="2862581"/>
                <a:ext cx="2236831" cy="512384"/>
              </a:xfrm>
              <a:prstGeom prst="rect">
                <a:avLst/>
              </a:prstGeom>
              <a:blipFill>
                <a:blip r:embed="rId13"/>
                <a:stretch>
                  <a:fillRect b="-3571"/>
                </a:stretch>
              </a:blipFill>
            </p:spPr>
            <p:txBody>
              <a:bodyPr/>
              <a:lstStyle/>
              <a:p>
                <a:r>
                  <a:rPr lang="en-US">
                    <a:noFill/>
                    <a:latin typeface="Times New Roman"/>
                    <a:ea typeface="SimSun"/>
                    <a:cs typeface="Times New Roman"/>
                  </a:rPr>
                  <a:t> </a:t>
                </a:r>
              </a:p>
            </p:txBody>
          </p:sp>
        </mc:Fallback>
      </mc:AlternateContent>
      <p:sp>
        <p:nvSpPr>
          <p:cNvPr id="33" name="矩形 32">
            <a:extLst>
              <a:ext uri="{FF2B5EF4-FFF2-40B4-BE49-F238E27FC236}">
                <a16:creationId xmlns:a16="http://schemas.microsoft.com/office/drawing/2014/main" id="{4C8FBD9D-EBC3-41B1-A099-270EFC7B604F}"/>
              </a:ext>
            </a:extLst>
          </p:cNvPr>
          <p:cNvSpPr/>
          <p:nvPr/>
        </p:nvSpPr>
        <p:spPr>
          <a:xfrm>
            <a:off x="5268673" y="3374965"/>
            <a:ext cx="1967462"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(6) Turbulence model</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CC0C75E1-F80A-42B8-9E91-E89C78BA5AFA}"/>
                  </a:ext>
                </a:extLst>
              </p:cNvPr>
              <p:cNvSpPr/>
              <p:nvPr/>
            </p:nvSpPr>
            <p:spPr>
              <a:xfrm>
                <a:off x="5459710" y="3791273"/>
                <a:ext cx="1480470" cy="33855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𝑅𝑒</m:t>
                          </m:r>
                        </m:e>
                        <m:sub>
                          <m:r>
                            <a:rPr lang="en-HK" sz="1600" i="1">
                              <a:latin typeface="Times New Roman" panose="02040503050406030204" pitchFamily="18" charset="0"/>
                              <a:ea typeface="SimSun"/>
                              <a:cs typeface="Times New Roman"/>
                            </a:rPr>
                            <m:t>𝑠</m:t>
                          </m:r>
                        </m:sub>
                      </m:sSub>
                      <m:r>
                        <a:rPr lang="en-HK" sz="1600">
                          <a:latin typeface="Times New Roman" panose="02040503050406030204" pitchFamily="18" charset="0"/>
                          <a:ea typeface="SimSun"/>
                          <a:cs typeface="Times New Roman"/>
                        </a:rPr>
                        <m:t>=4</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𝜔</m:t>
                          </m:r>
                        </m:e>
                      </m:acc>
                      <m:f>
                        <m:fPr>
                          <m:type m:val="lin"/>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𝛿</m:t>
                          </m:r>
                        </m:num>
                        <m:den>
                          <m:r>
                            <a:rPr lang="en-HK" sz="1600" i="1">
                              <a:latin typeface="Times New Roman" panose="02040503050406030204" pitchFamily="18" charset="0"/>
                              <a:ea typeface="SimSun"/>
                              <a:cs typeface="Times New Roman"/>
                            </a:rPr>
                            <m:t>𝑣</m:t>
                          </m:r>
                        </m:den>
                      </m:f>
                    </m:oMath>
                  </m:oMathPara>
                </a14:m>
                <a:endParaRPr lang="en-HK" sz="1600" dirty="0">
                  <a:latin typeface="Times New Roman"/>
                  <a:ea typeface="SimSun"/>
                  <a:cs typeface="Times New Roman"/>
                </a:endParaRPr>
              </a:p>
            </p:txBody>
          </p:sp>
        </mc:Choice>
        <mc:Fallback xmlns="">
          <p:sp>
            <p:nvSpPr>
              <p:cNvPr id="34" name="矩形 33">
                <a:extLst>
                  <a:ext uri="{FF2B5EF4-FFF2-40B4-BE49-F238E27FC236}">
                    <a16:creationId xmlns:a16="http://schemas.microsoft.com/office/drawing/2014/main" id="{CC0C75E1-F80A-42B8-9E91-E89C78BA5AFA}"/>
                  </a:ext>
                </a:extLst>
              </p:cNvPr>
              <p:cNvSpPr>
                <a:spLocks noRot="1" noChangeAspect="1" noMove="1" noResize="1" noEditPoints="1" noAdjustHandles="1" noChangeArrowheads="1" noChangeShapeType="1" noTextEdit="1"/>
              </p:cNvSpPr>
              <p:nvPr/>
            </p:nvSpPr>
            <p:spPr>
              <a:xfrm>
                <a:off x="5459710" y="3791273"/>
                <a:ext cx="1480470" cy="338554"/>
              </a:xfrm>
              <a:prstGeom prst="rect">
                <a:avLst/>
              </a:prstGeom>
              <a:blipFill>
                <a:blip r:embed="rId14"/>
                <a:stretch>
                  <a:fillRect t="-100000" r="-26033" b="-170909"/>
                </a:stretch>
              </a:blipFill>
            </p:spPr>
            <p:txBody>
              <a:bodyPr/>
              <a:lstStyle/>
              <a:p>
                <a:r>
                  <a:rPr lang="en-US">
                    <a:noFill/>
                    <a:latin typeface="Times New Roman"/>
                    <a:ea typeface="SimSun"/>
                    <a:cs typeface="Times New Roman"/>
                  </a:rPr>
                  <a:t> </a:t>
                </a:r>
              </a:p>
            </p:txBody>
          </p:sp>
        </mc:Fallback>
      </mc:AlternateContent>
      <p:pic>
        <p:nvPicPr>
          <p:cNvPr id="35" name="图片 34">
            <a:extLst>
              <a:ext uri="{FF2B5EF4-FFF2-40B4-BE49-F238E27FC236}">
                <a16:creationId xmlns:a16="http://schemas.microsoft.com/office/drawing/2014/main" id="{23EC7CA3-ABAA-4E7F-B3D8-608BD825342B}"/>
              </a:ext>
            </a:extLst>
          </p:cNvPr>
          <p:cNvPicPr/>
          <p:nvPr/>
        </p:nvPicPr>
        <p:blipFill>
          <a:blip r:embed="rId15" cstate="print">
            <a:extLst>
              <a:ext uri="{28A0092B-C50C-407E-A947-70E740481C1C}">
                <a14:useLocalDpi xmlns:a14="http://schemas.microsoft.com/office/drawing/2010/main" val="0"/>
              </a:ext>
            </a:extLst>
          </a:blip>
          <a:stretch>
            <a:fillRect/>
          </a:stretch>
        </p:blipFill>
        <p:spPr>
          <a:xfrm>
            <a:off x="8881800" y="2770302"/>
            <a:ext cx="1819115" cy="2868645"/>
          </a:xfrm>
          <a:prstGeom prst="rect">
            <a:avLst/>
          </a:prstGeom>
        </p:spPr>
      </p:pic>
      <p:sp>
        <p:nvSpPr>
          <p:cNvPr id="36" name="矩形 35">
            <a:extLst>
              <a:ext uri="{FF2B5EF4-FFF2-40B4-BE49-F238E27FC236}">
                <a16:creationId xmlns:a16="http://schemas.microsoft.com/office/drawing/2014/main" id="{3FA405FF-3B2A-417F-8A00-0A953952158C}"/>
              </a:ext>
            </a:extLst>
          </p:cNvPr>
          <p:cNvSpPr/>
          <p:nvPr/>
        </p:nvSpPr>
        <p:spPr>
          <a:xfrm>
            <a:off x="5282414" y="4529147"/>
            <a:ext cx="2093843"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(7) Calculation method</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37" name="矩形 36">
            <a:extLst>
              <a:ext uri="{FF2B5EF4-FFF2-40B4-BE49-F238E27FC236}">
                <a16:creationId xmlns:a16="http://schemas.microsoft.com/office/drawing/2014/main" id="{1A6987E3-F859-4074-9331-C20E4498BBB0}"/>
              </a:ext>
            </a:extLst>
          </p:cNvPr>
          <p:cNvSpPr/>
          <p:nvPr/>
        </p:nvSpPr>
        <p:spPr>
          <a:xfrm>
            <a:off x="5503120" y="4928467"/>
            <a:ext cx="2380780" cy="342786"/>
          </a:xfrm>
          <a:prstGeom prst="rect">
            <a:avLst/>
          </a:prstGeom>
        </p:spPr>
        <p:txBody>
          <a:bodyPr wrap="none">
            <a:spAutoFit/>
          </a:bodyPr>
          <a:lstStyle/>
          <a:p>
            <a:pPr algn="just">
              <a:lnSpc>
                <a:spcPct val="107000"/>
              </a:lnSpc>
              <a:spcAft>
                <a:spcPts val="800"/>
              </a:spcAft>
            </a:pPr>
            <a:r>
              <a:rPr lang="en-HK" sz="1600" dirty="0">
                <a:latin typeface="Times New Roman" panose="02020603050405020304" pitchFamily="18" charset="0"/>
                <a:ea typeface="SimSun" panose="02010600030101010101" pitchFamily="2" charset="-122"/>
                <a:cs typeface="Times New Roman" panose="02020603050405020304" pitchFamily="18" charset="0"/>
              </a:rPr>
              <a:t>EWF coupled DPM model</a:t>
            </a:r>
            <a:endParaRPr lang="en-HK" sz="1600" dirty="0">
              <a:latin typeface="Times New Roman" panose="020F0502020204030204" pitchFamily="34"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2EB13829-A891-44E9-8FDD-8E8A86C243E2}"/>
                  </a:ext>
                </a:extLst>
              </p:cNvPr>
              <p:cNvSpPr/>
              <p:nvPr/>
            </p:nvSpPr>
            <p:spPr>
              <a:xfrm>
                <a:off x="5499208" y="4100180"/>
                <a:ext cx="2912529" cy="338554"/>
              </a:xfrm>
              <a:prstGeom prst="rect">
                <a:avLst/>
              </a:prstGeom>
            </p:spPr>
            <p:txBody>
              <a:bodyPr wrap="none">
                <a:spAutoFit/>
              </a:bodyPr>
              <a:lstStyle/>
              <a:p>
                <a:r>
                  <a:rPr lang="en-HK" sz="1600" dirty="0">
                    <a:latin typeface="Times New Roman" panose="02020603050405020304" pitchFamily="18" charset="0"/>
                    <a:ea typeface="SimSun" panose="02010600030101010101" pitchFamily="2" charset="-122"/>
                    <a:cs typeface="Times New Roman"/>
                  </a:rPr>
                  <a:t>Applied</a:t>
                </a:r>
                <a:r>
                  <a:rPr lang="en-HK" sz="1600" dirty="0">
                    <a:latin typeface="Times New Roman"/>
                    <a:ea typeface="SimSun" panose="02010600030101010101" pitchFamily="2" charset="-122"/>
                    <a:cs typeface="Times New Roman" panose="02020603050405020304" pitchFamily="18" charset="0"/>
                  </a:rPr>
                  <a:t> </a:t>
                </a:r>
                <a14:m>
                  <m:oMath xmlns:m="http://schemas.openxmlformats.org/officeDocument/2006/math">
                    <m:r>
                      <a:rPr lang="en-HK" sz="1600" i="1">
                        <a:latin typeface="Times New Roman" panose="02040503050406030204" pitchFamily="18" charset="0"/>
                        <a:ea typeface="SimSun" panose="02010600030101010101" pitchFamily="2" charset="-122"/>
                        <a:cs typeface="Times New Roman" panose="02020603050405020304" pitchFamily="18" charset="0"/>
                      </a:rPr>
                      <m:t>𝑘</m:t>
                    </m:r>
                    <m:r>
                      <a:rPr lang="en-HK" sz="1600" i="1">
                        <a:latin typeface="Times New Roman" panose="02040503050406030204" pitchFamily="18" charset="0"/>
                        <a:ea typeface="SimSun" panose="02010600030101010101" pitchFamily="2" charset="-122"/>
                        <a:cs typeface="Times New Roman" panose="02020603050405020304" pitchFamily="18" charset="0"/>
                      </a:rPr>
                      <m:t>−</m:t>
                    </m:r>
                    <m:r>
                      <a:rPr lang="en-HK" sz="1600" i="1">
                        <a:latin typeface="Times New Roman" panose="02040503050406030204" pitchFamily="18" charset="0"/>
                        <a:ea typeface="SimSun" panose="02010600030101010101" pitchFamily="2" charset="-122"/>
                        <a:cs typeface="Times New Roman" panose="02020603050405020304" pitchFamily="18" charset="0"/>
                      </a:rPr>
                      <m:t>𝜀</m:t>
                    </m:r>
                  </m:oMath>
                </a14:m>
                <a:r>
                  <a:rPr lang="en-HK" sz="1600" dirty="0">
                    <a:latin typeface="Times New Roman" panose="02020603050405020304" pitchFamily="18" charset="0"/>
                    <a:ea typeface="SimSun" panose="02010600030101010101" pitchFamily="2" charset="-122"/>
                    <a:cs typeface="Times New Roman"/>
                  </a:rPr>
                  <a:t> turbulence model </a:t>
                </a:r>
                <a:endParaRPr lang="en-HK" sz="1600" dirty="0">
                  <a:latin typeface="Times New Roman"/>
                  <a:ea typeface="SimSun"/>
                  <a:cs typeface="Times New Roman"/>
                </a:endParaRPr>
              </a:p>
            </p:txBody>
          </p:sp>
        </mc:Choice>
        <mc:Fallback xmlns="">
          <p:sp>
            <p:nvSpPr>
              <p:cNvPr id="38" name="矩形 37">
                <a:extLst>
                  <a:ext uri="{FF2B5EF4-FFF2-40B4-BE49-F238E27FC236}">
                    <a16:creationId xmlns:a16="http://schemas.microsoft.com/office/drawing/2014/main" id="{2EB13829-A891-44E9-8FDD-8E8A86C243E2}"/>
                  </a:ext>
                </a:extLst>
              </p:cNvPr>
              <p:cNvSpPr>
                <a:spLocks noRot="1" noChangeAspect="1" noMove="1" noResize="1" noEditPoints="1" noAdjustHandles="1" noChangeArrowheads="1" noChangeShapeType="1" noTextEdit="1"/>
              </p:cNvSpPr>
              <p:nvPr/>
            </p:nvSpPr>
            <p:spPr>
              <a:xfrm>
                <a:off x="5499208" y="4100180"/>
                <a:ext cx="2912529" cy="338554"/>
              </a:xfrm>
              <a:prstGeom prst="rect">
                <a:avLst/>
              </a:prstGeom>
              <a:blipFill>
                <a:blip r:embed="rId16"/>
                <a:stretch>
                  <a:fillRect l="-1046" t="-5455" r="-209" b="-23636"/>
                </a:stretch>
              </a:blipFill>
            </p:spPr>
            <p:txBody>
              <a:bodyPr/>
              <a:lstStyle/>
              <a:p>
                <a:r>
                  <a:rPr lang="en-US">
                    <a:noFill/>
                    <a:latin typeface="Times New Roman"/>
                    <a:ea typeface="SimSun"/>
                    <a:cs typeface="Times New Roman"/>
                  </a:rPr>
                  <a:t> </a:t>
                </a:r>
              </a:p>
            </p:txBody>
          </p:sp>
        </mc:Fallback>
      </mc:AlternateContent>
      <p:sp>
        <p:nvSpPr>
          <p:cNvPr id="39" name="矩形 38">
            <a:extLst>
              <a:ext uri="{FF2B5EF4-FFF2-40B4-BE49-F238E27FC236}">
                <a16:creationId xmlns:a16="http://schemas.microsoft.com/office/drawing/2014/main" id="{A9D30FF3-9469-4424-B2D5-4563CAC6F326}"/>
              </a:ext>
            </a:extLst>
          </p:cNvPr>
          <p:cNvSpPr/>
          <p:nvPr/>
        </p:nvSpPr>
        <p:spPr>
          <a:xfrm>
            <a:off x="5499208" y="5302385"/>
            <a:ext cx="3298788" cy="338554"/>
          </a:xfrm>
          <a:prstGeom prst="rect">
            <a:avLst/>
          </a:prstGeom>
        </p:spPr>
        <p:txBody>
          <a:bodyPr wrap="none">
            <a:spAutoFit/>
          </a:bodyPr>
          <a:lstStyle/>
          <a:p>
            <a:r>
              <a:rPr lang="en-HK" sz="1600" dirty="0">
                <a:latin typeface="Times New Roman" panose="02020603050405020304" pitchFamily="18" charset="0"/>
                <a:ea typeface="SimSun" panose="02010600030101010101" pitchFamily="2" charset="-122"/>
                <a:cs typeface="Times New Roman" panose="02020603050405020304" pitchFamily="18" charset="0"/>
              </a:rPr>
              <a:t>The SIMPLE and </a:t>
            </a:r>
            <a:r>
              <a:rPr lang="en-US" sz="1600" dirty="0">
                <a:latin typeface="Times New Roman" panose="02020603050405020304" pitchFamily="18" charset="0"/>
                <a:ea typeface="SimSun" panose="02010600030101010101" pitchFamily="2" charset="-122"/>
                <a:cs typeface="Times New Roman" panose="02020603050405020304" pitchFamily="18" charset="0"/>
              </a:rPr>
              <a:t>PRESTO! pressure</a:t>
            </a:r>
            <a:r>
              <a:rPr lang="en-HK" sz="1600" dirty="0">
                <a:latin typeface="Times New Roman" panose="02020603050405020304" pitchFamily="18" charset="0"/>
                <a:ea typeface="SimSun" panose="02010600030101010101" pitchFamily="2" charset="-122"/>
                <a:cs typeface="Times New Roman" panose="02020603050405020304" pitchFamily="18" charset="0"/>
              </a:rPr>
              <a:t> </a:t>
            </a:r>
          </a:p>
        </p:txBody>
      </p:sp>
      <p:sp>
        <p:nvSpPr>
          <p:cNvPr id="40" name="矩形 39">
            <a:extLst>
              <a:ext uri="{FF2B5EF4-FFF2-40B4-BE49-F238E27FC236}">
                <a16:creationId xmlns:a16="http://schemas.microsoft.com/office/drawing/2014/main" id="{3F17D9C1-855F-414C-92BF-CFDF3B41B5BA}"/>
              </a:ext>
            </a:extLst>
          </p:cNvPr>
          <p:cNvSpPr/>
          <p:nvPr/>
        </p:nvSpPr>
        <p:spPr>
          <a:xfrm>
            <a:off x="8783641" y="5701047"/>
            <a:ext cx="3157011" cy="261610"/>
          </a:xfrm>
          <a:prstGeom prst="rect">
            <a:avLst/>
          </a:prstGeom>
        </p:spPr>
        <p:txBody>
          <a:bodyPr wrap="square">
            <a:spAutoFit/>
          </a:bodyPr>
          <a:lstStyle/>
          <a:p>
            <a:r>
              <a:rPr lang="en-HK" sz="1100" b="1" dirty="0">
                <a:latin typeface="Times New Roman" panose="02020603050405020304" pitchFamily="18" charset="0"/>
                <a:ea typeface="SimSun"/>
                <a:cs typeface="Times New Roman" panose="02020603050405020304" pitchFamily="18" charset="0"/>
              </a:rPr>
              <a:t>Fig.4.2.1 </a:t>
            </a:r>
            <a:r>
              <a:rPr lang="en-HK" sz="1100" dirty="0">
                <a:latin typeface="Times New Roman" panose="02020603050405020304" pitchFamily="18" charset="0"/>
                <a:ea typeface="SimSun"/>
                <a:cs typeface="Times New Roman" panose="02020603050405020304" pitchFamily="18" charset="0"/>
              </a:rPr>
              <a:t>Sketch of meshing in the model</a:t>
            </a:r>
          </a:p>
        </p:txBody>
      </p:sp>
      <p:sp>
        <p:nvSpPr>
          <p:cNvPr id="2" name="灯片编号占位符 1">
            <a:extLst>
              <a:ext uri="{FF2B5EF4-FFF2-40B4-BE49-F238E27FC236}">
                <a16:creationId xmlns:a16="http://schemas.microsoft.com/office/drawing/2014/main" id="{5A06B125-5902-4538-AEB1-33F0B3E7E28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27</a:t>
            </a:fld>
            <a:endParaRPr lang="en-US" altLang="zh-CN">
              <a:latin typeface="Times New Roman"/>
              <a:ea typeface="SimSun"/>
              <a:cs typeface="Times New Roman"/>
            </a:endParaRPr>
          </a:p>
        </p:txBody>
      </p:sp>
      <p:sp>
        <p:nvSpPr>
          <p:cNvPr id="45" name="矩形 44">
            <a:extLst>
              <a:ext uri="{FF2B5EF4-FFF2-40B4-BE49-F238E27FC236}">
                <a16:creationId xmlns:a16="http://schemas.microsoft.com/office/drawing/2014/main" id="{689AE2E5-5A55-4800-ADF6-BA5649DB4678}"/>
              </a:ext>
            </a:extLst>
          </p:cNvPr>
          <p:cNvSpPr/>
          <p:nvPr/>
        </p:nvSpPr>
        <p:spPr>
          <a:xfrm>
            <a:off x="9999754" y="4331116"/>
            <a:ext cx="120015" cy="42481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cxnSp>
        <p:nvCxnSpPr>
          <p:cNvPr id="46" name="直接箭头连接符 45">
            <a:extLst>
              <a:ext uri="{FF2B5EF4-FFF2-40B4-BE49-F238E27FC236}">
                <a16:creationId xmlns:a16="http://schemas.microsoft.com/office/drawing/2014/main" id="{B33F72BF-0B7F-4F6C-8C4F-89703A639675}"/>
              </a:ext>
            </a:extLst>
          </p:cNvPr>
          <p:cNvCxnSpPr>
            <a:cxnSpLocks/>
          </p:cNvCxnSpPr>
          <p:nvPr/>
        </p:nvCxnSpPr>
        <p:spPr>
          <a:xfrm flipV="1">
            <a:off x="10120404" y="4496851"/>
            <a:ext cx="878275" cy="1"/>
          </a:xfrm>
          <a:prstGeom prst="straightConnector1">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48"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模型方程</a:t>
            </a:r>
          </a:p>
        </p:txBody>
      </p:sp>
      <p:sp>
        <p:nvSpPr>
          <p:cNvPr id="49"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4.2 Model equations</a:t>
            </a:r>
          </a:p>
        </p:txBody>
      </p:sp>
      <p:sp>
        <p:nvSpPr>
          <p:cNvPr id="50"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5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0238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3" name="对象 22">
            <a:extLst>
              <a:ext uri="{FF2B5EF4-FFF2-40B4-BE49-F238E27FC236}">
                <a16:creationId xmlns:a16="http://schemas.microsoft.com/office/drawing/2014/main" id="{60C4AA45-821C-49F5-B928-C5C40E7526D8}"/>
              </a:ext>
            </a:extLst>
          </p:cNvPr>
          <p:cNvGraphicFramePr>
            <a:graphicFrameLocks noChangeAspect="1"/>
          </p:cNvGraphicFramePr>
          <p:nvPr>
            <p:extLst>
              <p:ext uri="{D42A27DB-BD31-4B8C-83A1-F6EECF244321}">
                <p14:modId xmlns:p14="http://schemas.microsoft.com/office/powerpoint/2010/main" val="2758621797"/>
              </p:ext>
            </p:extLst>
          </p:nvPr>
        </p:nvGraphicFramePr>
        <p:xfrm>
          <a:off x="6791255" y="1674622"/>
          <a:ext cx="4230818" cy="3521849"/>
        </p:xfrm>
        <a:graphic>
          <a:graphicData uri="http://schemas.openxmlformats.org/presentationml/2006/ole">
            <mc:AlternateContent xmlns:mc="http://schemas.openxmlformats.org/markup-compatibility/2006">
              <mc:Choice xmlns:v="urn:schemas-microsoft-com:vml" Requires="v">
                <p:oleObj name="Graph" r:id="rId3" imgW="6523715" imgH="5420971" progId="Origin95.Graph">
                  <p:embed/>
                </p:oleObj>
              </mc:Choice>
              <mc:Fallback>
                <p:oleObj name="Graph" r:id="rId3" imgW="6523715" imgH="5420971" progId="Origin95.Graph">
                  <p:embed/>
                  <p:pic>
                    <p:nvPicPr>
                      <p:cNvPr id="0" name="Object 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255" y="1674622"/>
                        <a:ext cx="4230818" cy="3521849"/>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064456A3-825F-41A6-9980-75AECC33CD3B}"/>
              </a:ext>
            </a:extLst>
          </p:cNvPr>
          <p:cNvSpPr/>
          <p:nvPr/>
        </p:nvSpPr>
        <p:spPr>
          <a:xfrm>
            <a:off x="6660241" y="1305290"/>
            <a:ext cx="2223686"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Grid independence</a:t>
            </a:r>
          </a:p>
        </p:txBody>
      </p:sp>
      <p:sp>
        <p:nvSpPr>
          <p:cNvPr id="7" name="矩形 6">
            <a:extLst>
              <a:ext uri="{FF2B5EF4-FFF2-40B4-BE49-F238E27FC236}">
                <a16:creationId xmlns:a16="http://schemas.microsoft.com/office/drawing/2014/main" id="{80D258E3-16A2-4582-8DFB-8660D91BF356}"/>
              </a:ext>
            </a:extLst>
          </p:cNvPr>
          <p:cNvSpPr/>
          <p:nvPr/>
        </p:nvSpPr>
        <p:spPr>
          <a:xfrm>
            <a:off x="576955" y="1305290"/>
            <a:ext cx="5371983"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Illustration of the </a:t>
            </a:r>
            <a:r>
              <a:rPr lang="en-US" altLang="zh-CN" sz="1800" dirty="0">
                <a:latin typeface="Times New Roman" panose="02020603050405020304" pitchFamily="18" charset="0"/>
                <a:ea typeface="SimSun"/>
                <a:cs typeface="Times New Roman" panose="02020603050405020304" pitchFamily="18" charset="0"/>
              </a:rPr>
              <a:t>experimental and numerical results</a:t>
            </a:r>
            <a:endParaRPr lang="en-HK" sz="1800" dirty="0">
              <a:latin typeface="Times New Roman" panose="02020603050405020304" pitchFamily="18" charset="0"/>
              <a:ea typeface="SimSun"/>
              <a:cs typeface="Times New Roman" panose="02020603050405020304" pitchFamily="18" charset="0"/>
            </a:endParaRPr>
          </a:p>
        </p:txBody>
      </p:sp>
      <p:sp>
        <p:nvSpPr>
          <p:cNvPr id="10" name="矩形 9">
            <a:extLst>
              <a:ext uri="{FF2B5EF4-FFF2-40B4-BE49-F238E27FC236}">
                <a16:creationId xmlns:a16="http://schemas.microsoft.com/office/drawing/2014/main" id="{4B84F03E-DC0E-4981-8621-C431E1B1C42E}"/>
              </a:ext>
            </a:extLst>
          </p:cNvPr>
          <p:cNvSpPr/>
          <p:nvPr/>
        </p:nvSpPr>
        <p:spPr>
          <a:xfrm>
            <a:off x="1035561" y="6129215"/>
            <a:ext cx="4635457" cy="584775"/>
          </a:xfrm>
          <a:prstGeom prst="rect">
            <a:avLst/>
          </a:prstGeom>
        </p:spPr>
        <p:txBody>
          <a:bodyPr wrap="square">
            <a:spAutoFit/>
          </a:bodyPr>
          <a:lstStyle/>
          <a:p>
            <a:pPr marL="285750" indent="-285750">
              <a:buFont typeface="Arial" panose="020B0604020202020204" pitchFamily="34" charset="0"/>
              <a:buChar char="•"/>
            </a:pPr>
            <a:r>
              <a:rPr lang="en-HK" sz="1600" dirty="0">
                <a:latin typeface="Times New Roman" panose="02020603050405020304" pitchFamily="18" charset="0"/>
                <a:ea typeface="SimSun"/>
                <a:cs typeface="Times New Roman" panose="02020603050405020304" pitchFamily="18" charset="0"/>
              </a:rPr>
              <a:t>The </a:t>
            </a:r>
            <a:r>
              <a:rPr lang="en-HK" sz="1600" b="1" dirty="0">
                <a:solidFill>
                  <a:srgbClr val="A60626"/>
                </a:solidFill>
                <a:latin typeface="Times New Roman" panose="02020603050405020304" pitchFamily="18" charset="0"/>
                <a:ea typeface="SimSun"/>
                <a:cs typeface="Times New Roman" panose="02020603050405020304" pitchFamily="18" charset="0"/>
              </a:rPr>
              <a:t>ICEM</a:t>
            </a:r>
            <a:r>
              <a:rPr lang="en-HK" sz="1600" dirty="0">
                <a:latin typeface="Times New Roman" panose="02020603050405020304" pitchFamily="18" charset="0"/>
                <a:ea typeface="SimSun"/>
                <a:cs typeface="Times New Roman" panose="02020603050405020304" pitchFamily="18" charset="0"/>
              </a:rPr>
              <a:t> software in ANSYS was applied to the mesh computational model.</a:t>
            </a:r>
          </a:p>
        </p:txBody>
      </p:sp>
      <p:sp>
        <p:nvSpPr>
          <p:cNvPr id="12" name="椭圆 11">
            <a:extLst>
              <a:ext uri="{FF2B5EF4-FFF2-40B4-BE49-F238E27FC236}">
                <a16:creationId xmlns:a16="http://schemas.microsoft.com/office/drawing/2014/main" id="{65F77BF4-E7CB-4B11-BE0F-ACEBD86B085A}"/>
              </a:ext>
            </a:extLst>
          </p:cNvPr>
          <p:cNvSpPr/>
          <p:nvPr/>
        </p:nvSpPr>
        <p:spPr>
          <a:xfrm>
            <a:off x="8551119" y="1811718"/>
            <a:ext cx="332808" cy="2925213"/>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sz="1400" dirty="0">
              <a:latin typeface="Times New Roman"/>
              <a:ea typeface="SimSun"/>
              <a:cs typeface="Times New Roman"/>
            </a:endParaRPr>
          </a:p>
        </p:txBody>
      </p:sp>
      <p:sp>
        <p:nvSpPr>
          <p:cNvPr id="16" name="矩形 15">
            <a:extLst>
              <a:ext uri="{FF2B5EF4-FFF2-40B4-BE49-F238E27FC236}">
                <a16:creationId xmlns:a16="http://schemas.microsoft.com/office/drawing/2014/main" id="{45D9223E-70D2-4655-8994-DCF81BC8338D}"/>
              </a:ext>
            </a:extLst>
          </p:cNvPr>
          <p:cNvSpPr/>
          <p:nvPr/>
        </p:nvSpPr>
        <p:spPr>
          <a:xfrm>
            <a:off x="7455810" y="5165837"/>
            <a:ext cx="3900666"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Fig.4.3.1 </a:t>
            </a:r>
            <a:r>
              <a:rPr lang="en-HK" sz="1200" dirty="0">
                <a:latin typeface="Times New Roman" panose="02020603050405020304" pitchFamily="18" charset="0"/>
                <a:ea typeface="SimSun"/>
                <a:cs typeface="Times New Roman" panose="02020603050405020304" pitchFamily="18" charset="0"/>
              </a:rPr>
              <a:t>Coverage ratio at different numbers of grid</a:t>
            </a:r>
          </a:p>
        </p:txBody>
      </p:sp>
      <p:sp>
        <p:nvSpPr>
          <p:cNvPr id="3" name="灯片编号占位符 2">
            <a:extLst>
              <a:ext uri="{FF2B5EF4-FFF2-40B4-BE49-F238E27FC236}">
                <a16:creationId xmlns:a16="http://schemas.microsoft.com/office/drawing/2014/main" id="{9D9371E1-430D-430F-986C-929F0405682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28</a:t>
            </a:fld>
            <a:endParaRPr lang="en-US" altLang="zh-CN">
              <a:latin typeface="Times New Roman"/>
              <a:ea typeface="SimSun"/>
              <a:cs typeface="Times New Roman"/>
            </a:endParaRPr>
          </a:p>
        </p:txBody>
      </p:sp>
      <p:pic>
        <p:nvPicPr>
          <p:cNvPr id="20" name="图片 19">
            <a:extLst>
              <a:ext uri="{FF2B5EF4-FFF2-40B4-BE49-F238E27FC236}">
                <a16:creationId xmlns:a16="http://schemas.microsoft.com/office/drawing/2014/main" id="{79E66591-B8EB-46AB-A9EF-7DCAAAD47AA6}"/>
              </a:ext>
            </a:extLst>
          </p:cNvPr>
          <p:cNvPicPr>
            <a:picLocks noChangeAspect="1"/>
          </p:cNvPicPr>
          <p:nvPr/>
        </p:nvPicPr>
        <p:blipFill>
          <a:blip r:embed="rId5">
            <a:extLst>
              <a:ext uri="{28A0092B-C50C-407E-A947-70E740481C1C}">
                <a14:useLocalDpi xmlns:a14="http://schemas.microsoft.com/office/drawing/2010/main" val="0"/>
              </a:ext>
            </a:extLst>
          </a:blip>
          <a:srcRect b="781"/>
          <a:stretch>
            <a:fillRect/>
          </a:stretch>
        </p:blipFill>
        <p:spPr bwMode="auto">
          <a:xfrm>
            <a:off x="2650762" y="3960758"/>
            <a:ext cx="1775675" cy="1800000"/>
          </a:xfrm>
          <a:prstGeom prst="rect">
            <a:avLst/>
          </a:prstGeom>
          <a:noFill/>
          <a:ln>
            <a:noFill/>
          </a:ln>
        </p:spPr>
      </p:pic>
      <p:sp>
        <p:nvSpPr>
          <p:cNvPr id="5" name="矩形 4">
            <a:extLst>
              <a:ext uri="{FF2B5EF4-FFF2-40B4-BE49-F238E27FC236}">
                <a16:creationId xmlns:a16="http://schemas.microsoft.com/office/drawing/2014/main" id="{43DFF2F3-4345-44AF-815A-C5419A0BEDF4}"/>
              </a:ext>
            </a:extLst>
          </p:cNvPr>
          <p:cNvSpPr/>
          <p:nvPr/>
        </p:nvSpPr>
        <p:spPr>
          <a:xfrm>
            <a:off x="1553290" y="3652981"/>
            <a:ext cx="1789272" cy="307777"/>
          </a:xfrm>
          <a:prstGeom prst="rect">
            <a:avLst/>
          </a:prstGeom>
        </p:spPr>
        <p:txBody>
          <a:bodyPr wrap="none">
            <a:spAutoFit/>
          </a:bodyPr>
          <a:lstStyle/>
          <a:p>
            <a:r>
              <a:rPr lang="en-US" sz="1400" dirty="0">
                <a:latin typeface="Times New Roman" panose="02020603050405020304" pitchFamily="18" charset="0"/>
                <a:ea typeface="SimSun"/>
                <a:cs typeface="Times New Roman" panose="02020603050405020304" pitchFamily="18" charset="0"/>
              </a:rPr>
              <a:t>(a) Experimental plate</a:t>
            </a:r>
          </a:p>
        </p:txBody>
      </p:sp>
      <p:sp>
        <p:nvSpPr>
          <p:cNvPr id="21" name="矩形 20">
            <a:extLst>
              <a:ext uri="{FF2B5EF4-FFF2-40B4-BE49-F238E27FC236}">
                <a16:creationId xmlns:a16="http://schemas.microsoft.com/office/drawing/2014/main" id="{84C10F30-1AC7-46CF-9B64-B90CD72EEE80}"/>
              </a:ext>
            </a:extLst>
          </p:cNvPr>
          <p:cNvSpPr/>
          <p:nvPr/>
        </p:nvSpPr>
        <p:spPr>
          <a:xfrm>
            <a:off x="3734637" y="3630295"/>
            <a:ext cx="1640193" cy="307777"/>
          </a:xfrm>
          <a:prstGeom prst="rect">
            <a:avLst/>
          </a:prstGeom>
        </p:spPr>
        <p:txBody>
          <a:bodyPr wrap="none">
            <a:spAutoFit/>
          </a:bodyPr>
          <a:lstStyle/>
          <a:p>
            <a:r>
              <a:rPr lang="en-US" sz="1400" dirty="0">
                <a:latin typeface="Times New Roman" panose="02020603050405020304" pitchFamily="18" charset="0"/>
                <a:ea typeface="SimSun"/>
                <a:cs typeface="Times New Roman" panose="02020603050405020304" pitchFamily="18" charset="0"/>
              </a:rPr>
              <a:t>(b) Numerical result</a:t>
            </a:r>
          </a:p>
        </p:txBody>
      </p:sp>
      <p:sp>
        <p:nvSpPr>
          <p:cNvPr id="22" name="矩形 21">
            <a:extLst>
              <a:ext uri="{FF2B5EF4-FFF2-40B4-BE49-F238E27FC236}">
                <a16:creationId xmlns:a16="http://schemas.microsoft.com/office/drawing/2014/main" id="{A3B3D0E2-335B-4FE7-9938-BF9FAFB0B6A5}"/>
              </a:ext>
            </a:extLst>
          </p:cNvPr>
          <p:cNvSpPr/>
          <p:nvPr/>
        </p:nvSpPr>
        <p:spPr>
          <a:xfrm>
            <a:off x="2339350" y="5737521"/>
            <a:ext cx="2587568" cy="307777"/>
          </a:xfrm>
          <a:prstGeom prst="rect">
            <a:avLst/>
          </a:prstGeom>
        </p:spPr>
        <p:txBody>
          <a:bodyPr wrap="none">
            <a:spAutoFit/>
          </a:bodyPr>
          <a:lstStyle/>
          <a:p>
            <a:r>
              <a:rPr lang="en-US" sz="1400" dirty="0">
                <a:latin typeface="Times New Roman" panose="02020603050405020304" pitchFamily="18" charset="0"/>
                <a:ea typeface="SimSun"/>
                <a:cs typeface="Times New Roman" panose="02020603050405020304" pitchFamily="18" charset="0"/>
              </a:rPr>
              <a:t>(c) Experimental result in ImageJ</a:t>
            </a:r>
          </a:p>
        </p:txBody>
      </p:sp>
      <p:sp>
        <p:nvSpPr>
          <p:cNvPr id="8" name="Rectangle 217">
            <a:extLst>
              <a:ext uri="{FF2B5EF4-FFF2-40B4-BE49-F238E27FC236}">
                <a16:creationId xmlns:a16="http://schemas.microsoft.com/office/drawing/2014/main" id="{258704E8-107F-4D40-9FD2-327B0A1A2800}"/>
              </a:ext>
            </a:extLst>
          </p:cNvPr>
          <p:cNvSpPr>
            <a:spLocks noChangeArrowheads="1"/>
          </p:cNvSpPr>
          <p:nvPr/>
        </p:nvSpPr>
        <p:spPr bwMode="auto">
          <a:xfrm>
            <a:off x="5868409" y="15793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24" name="图片 23">
            <a:extLst>
              <a:ext uri="{FF2B5EF4-FFF2-40B4-BE49-F238E27FC236}">
                <a16:creationId xmlns:a16="http://schemas.microsoft.com/office/drawing/2014/main" id="{786C0105-77AF-4D31-AC98-EEED70A33B85}"/>
              </a:ext>
            </a:extLst>
          </p:cNvPr>
          <p:cNvPicPr>
            <a:picLocks noChangeAspect="1"/>
          </p:cNvPicPr>
          <p:nvPr/>
        </p:nvPicPr>
        <p:blipFill>
          <a:blip r:embed="rId6"/>
          <a:stretch>
            <a:fillRect/>
          </a:stretch>
        </p:blipFill>
        <p:spPr>
          <a:xfrm>
            <a:off x="1401923" y="1807609"/>
            <a:ext cx="1832579" cy="1800000"/>
          </a:xfrm>
          <a:prstGeom prst="rect">
            <a:avLst/>
          </a:prstGeom>
        </p:spPr>
      </p:pic>
      <p:pic>
        <p:nvPicPr>
          <p:cNvPr id="25" name="图片 24">
            <a:extLst>
              <a:ext uri="{FF2B5EF4-FFF2-40B4-BE49-F238E27FC236}">
                <a16:creationId xmlns:a16="http://schemas.microsoft.com/office/drawing/2014/main" id="{8BFB16C4-D647-4E5B-BECB-32383676EA48}"/>
              </a:ext>
            </a:extLst>
          </p:cNvPr>
          <p:cNvPicPr>
            <a:picLocks noChangeAspect="1"/>
          </p:cNvPicPr>
          <p:nvPr/>
        </p:nvPicPr>
        <p:blipFill>
          <a:blip r:embed="rId7"/>
          <a:stretch>
            <a:fillRect/>
          </a:stretch>
        </p:blipFill>
        <p:spPr>
          <a:xfrm>
            <a:off x="3633134" y="1818952"/>
            <a:ext cx="1840269" cy="1800000"/>
          </a:xfrm>
          <a:prstGeom prst="rect">
            <a:avLst/>
          </a:prstGeom>
        </p:spPr>
      </p:pic>
      <p:sp>
        <p:nvSpPr>
          <p:cNvPr id="26"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模型验证</a:t>
            </a:r>
          </a:p>
        </p:txBody>
      </p:sp>
      <p:sp>
        <p:nvSpPr>
          <p:cNvPr id="27"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4.3 Model validation</a:t>
            </a:r>
          </a:p>
        </p:txBody>
      </p:sp>
      <p:sp>
        <p:nvSpPr>
          <p:cNvPr id="28"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2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0" name="矩形 12">
            <a:extLst>
              <a:ext uri="{FF2B5EF4-FFF2-40B4-BE49-F238E27FC236}">
                <a16:creationId xmlns:a16="http://schemas.microsoft.com/office/drawing/2014/main" id="{010268D4-C98E-42E1-B80C-BE2152297D0F}"/>
              </a:ext>
            </a:extLst>
          </p:cNvPr>
          <p:cNvSpPr/>
          <p:nvPr/>
        </p:nvSpPr>
        <p:spPr>
          <a:xfrm>
            <a:off x="6768490" y="5552710"/>
            <a:ext cx="4480895" cy="791210"/>
          </a:xfrm>
          <a:prstGeom prst="rect">
            <a:avLst/>
          </a:prstGeom>
          <a:ln>
            <a:noFill/>
          </a:ln>
        </p:spPr>
        <p:txBody>
          <a:bodyPr wrap="square" lIns="0" rIns="0" tIns="0" bIns="0">
            <a:noAutofit/>
          </a:bodyPr>
          <a:lstStyle/>
          <a:p>
            <a:pPr marL="0" indent="0" algn="l">
              <a:lnSpc>
                <a:spcPct val="108000"/>
              </a:lnSpc>
              <a:buNone/>
            </a:pPr>
            <a:r>
              <a:rPr lang="en-HK" sz="1500" dirty="0">
                <a:latin typeface="Times New Roman" panose="02020603050405020304" pitchFamily="18" charset="0"/>
                <a:ea typeface="SimSun"/>
                <a:cs typeface="Times New Roman" panose="02020603050405020304" pitchFamily="18" charset="0"/>
              </a:rPr>
              <a:t>The grid number of </a:t>
            </a:r>
            <a:r>
              <a:rPr lang="en-HK" sz="1500" b="1" dirty="0">
                <a:solidFill>
                  <a:srgbClr val="A60626"/>
                </a:solidFill>
                <a:latin typeface="Times New Roman" panose="02020603050405020304" pitchFamily="18" charset="0"/>
                <a:ea typeface="SimSun"/>
                <a:cs typeface="Times New Roman" panose="02020603050405020304" pitchFamily="18" charset="0"/>
              </a:rPr>
              <a:t>113200</a:t>
            </a:r>
            <a:r>
              <a:rPr lang="en-HK" sz="1500" dirty="0">
                <a:latin typeface="Times New Roman" panose="02020603050405020304" pitchFamily="18" charset="0"/>
                <a:ea typeface="SimSun"/>
                <a:cs typeface="Times New Roman" panose="02020603050405020304" pitchFamily="18" charset="0"/>
              </a:rPr>
              <a:t> could be decided as the simulation number for further research.</a:t>
            </a:r>
          </a:p>
        </p:txBody>
      </p:sp>
      <p:sp>
        <p:nvSpPr>
          <p:cNvPr id="31" name="TextBox 1"/>
          <p:cNvSpPr txBox="1"/>
          <p:nvPr/>
        </p:nvSpPr>
        <p:spPr>
          <a:xfrm>
            <a:off x="6768490" y="6028198"/>
            <a:ext cx="4480895" cy="315722"/>
          </a:xfrm>
          <a:prstGeom prst="rect">
            <a:avLst/>
          </a:prstGeom>
          <a:noFill/>
        </p:spPr>
        <p:txBody>
          <a:bodyPr wrap="square" lIns="0" rIns="0" tIns="0" bIns="0">
            <a:spAutoFit/>
          </a:bodyPr>
          <a:lstStyle/>
          <a:p>
            <a:pPr>
              <a:lnSpc>
                <a:spcPct val="105000"/>
              </a:lnSpc>
              <a:spcAft>
                <a:spcPts val="0"/>
              </a:spcAft>
            </a:pPr>
            <a:r>
              <a:rPr sz="1500" b="0">
                <a:solidFill>
                  <a:srgbClr val="24425A"/>
                </a:solidFill>
                <a:latin typeface="Times New Roman"/>
                <a:ea typeface="SimSun"/>
                <a:cs typeface="Times New Roman"/>
              </a:rPr>
              <a:t>后续模拟采用 113,200 个网格。</a:t>
            </a:r>
          </a:p>
        </p:txBody>
      </p:sp>
    </p:spTree>
    <p:extLst>
      <p:ext uri="{BB962C8B-B14F-4D97-AF65-F5344CB8AC3E}">
        <p14:creationId xmlns:p14="http://schemas.microsoft.com/office/powerpoint/2010/main" val="329482145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0DB48571-81F7-4F2B-A0D7-8CC87FE44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7013" y="1494937"/>
            <a:ext cx="3650638" cy="4320000"/>
          </a:xfrm>
          <a:prstGeom prst="rect">
            <a:avLst/>
          </a:prstGeom>
          <a:noFill/>
        </p:spPr>
      </p:pic>
      <p:sp>
        <p:nvSpPr>
          <p:cNvPr id="5" name="矩形 4">
            <a:extLst>
              <a:ext uri="{FF2B5EF4-FFF2-40B4-BE49-F238E27FC236}">
                <a16:creationId xmlns:a16="http://schemas.microsoft.com/office/drawing/2014/main" id="{CAF00261-34FA-4ECD-A573-3967B1E4F44B}"/>
              </a:ext>
            </a:extLst>
          </p:cNvPr>
          <p:cNvSpPr/>
          <p:nvPr/>
        </p:nvSpPr>
        <p:spPr>
          <a:xfrm>
            <a:off x="630078" y="1551392"/>
            <a:ext cx="1614545"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Conditions</a:t>
            </a:r>
            <a:r>
              <a:rPr lang="en-US" sz="1800" dirty="0">
                <a:solidFill>
                  <a:prstClr val="black"/>
                </a:solidFill>
                <a:latin typeface="Times New Roman" panose="020B0604020202020204" pitchFamily="34" charset="0"/>
                <a:ea typeface="SimSun"/>
                <a:cs typeface="Times New Roman" panose="020B0604020202020204" pitchFamily="34" charset="0"/>
              </a:rPr>
              <a:t>: </a:t>
            </a:r>
            <a:endParaRPr lang="en-HK" sz="1800" dirty="0">
              <a:solidFill>
                <a:prstClr val="black"/>
              </a:solidFill>
              <a:latin typeface="Times New Roman" panose="020B0604020202020204" pitchFamily="34" charset="0"/>
              <a:ea typeface="SimSun"/>
              <a:cs typeface="Times New Roman" panose="020B0604020202020204" pitchFamily="34" charset="0"/>
            </a:endParaRPr>
          </a:p>
        </p:txBody>
      </p:sp>
      <p:sp>
        <p:nvSpPr>
          <p:cNvPr id="7" name="矩形 6">
            <a:extLst>
              <a:ext uri="{FF2B5EF4-FFF2-40B4-BE49-F238E27FC236}">
                <a16:creationId xmlns:a16="http://schemas.microsoft.com/office/drawing/2014/main" id="{1D6E575A-1BAA-495C-9A4F-C625BE84BAF2}"/>
              </a:ext>
            </a:extLst>
          </p:cNvPr>
          <p:cNvSpPr/>
          <p:nvPr/>
        </p:nvSpPr>
        <p:spPr>
          <a:xfrm>
            <a:off x="7217651" y="1433145"/>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13" name="矩形 12">
            <a:extLst>
              <a:ext uri="{FF2B5EF4-FFF2-40B4-BE49-F238E27FC236}">
                <a16:creationId xmlns:a16="http://schemas.microsoft.com/office/drawing/2014/main" id="{3450D832-42A3-4396-AF51-9EEB6188644E}"/>
              </a:ext>
            </a:extLst>
          </p:cNvPr>
          <p:cNvSpPr/>
          <p:nvPr/>
        </p:nvSpPr>
        <p:spPr>
          <a:xfrm>
            <a:off x="8599912" y="5080566"/>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Fig.4.4.2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16" name="矩形 15">
            <a:extLst>
              <a:ext uri="{FF2B5EF4-FFF2-40B4-BE49-F238E27FC236}">
                <a16:creationId xmlns:a16="http://schemas.microsoft.com/office/drawing/2014/main" id="{1BA0274F-8C33-4B7C-9AEC-7734D827EDD8}"/>
              </a:ext>
            </a:extLst>
          </p:cNvPr>
          <p:cNvSpPr/>
          <p:nvPr/>
        </p:nvSpPr>
        <p:spPr>
          <a:xfrm>
            <a:off x="4418026" y="5876729"/>
            <a:ext cx="2602355"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Fig.4.4.1 </a:t>
            </a:r>
            <a:r>
              <a:rPr lang="en-HK" sz="1200" dirty="0">
                <a:latin typeface="Times New Roman" panose="02020603050405020304" pitchFamily="18" charset="0"/>
                <a:ea typeface="SimSun"/>
                <a:cs typeface="Times New Roman" panose="02020603050405020304" pitchFamily="18" charset="0"/>
              </a:rPr>
              <a:t>Experiment bench</a:t>
            </a:r>
          </a:p>
        </p:txBody>
      </p:sp>
      <p:sp>
        <p:nvSpPr>
          <p:cNvPr id="17" name="矩形 16">
            <a:extLst>
              <a:ext uri="{FF2B5EF4-FFF2-40B4-BE49-F238E27FC236}">
                <a16:creationId xmlns:a16="http://schemas.microsoft.com/office/drawing/2014/main" id="{5C6C3AE7-DE30-4069-956A-A66B44179A5E}"/>
              </a:ext>
            </a:extLst>
          </p:cNvPr>
          <p:cNvSpPr/>
          <p:nvPr/>
        </p:nvSpPr>
        <p:spPr>
          <a:xfrm>
            <a:off x="630078" y="3654937"/>
            <a:ext cx="1877437"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Requirements: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10" name="矩形 9">
            <a:extLst>
              <a:ext uri="{FF2B5EF4-FFF2-40B4-BE49-F238E27FC236}">
                <a16:creationId xmlns:a16="http://schemas.microsoft.com/office/drawing/2014/main" id="{8CCC74D0-844C-4C05-AC6A-2A8C1070422C}"/>
              </a:ext>
            </a:extLst>
          </p:cNvPr>
          <p:cNvSpPr/>
          <p:nvPr/>
        </p:nvSpPr>
        <p:spPr>
          <a:xfrm>
            <a:off x="1085265" y="4100473"/>
            <a:ext cx="4572000" cy="786754"/>
          </a:xfrm>
          <a:prstGeom prst="rect">
            <a:avLst/>
          </a:prstGeom>
        </p:spPr>
        <p:txBody>
          <a:bodyPr>
            <a:spAutoFit/>
          </a:bodyPr>
          <a:lstStyle/>
          <a:p>
            <a:pPr>
              <a:lnSpc>
                <a:spcPct val="150000"/>
              </a:lnSpc>
            </a:pPr>
            <a:r>
              <a:rPr lang="en-HK" sz="1600" dirty="0">
                <a:latin typeface="Times New Roman" panose="02020603050405020304" pitchFamily="18" charset="0"/>
                <a:ea typeface="SimSun"/>
                <a:cs typeface="Times New Roman" panose="02020603050405020304" pitchFamily="18" charset="0"/>
              </a:rPr>
              <a:t>Outermost transparent casing;</a:t>
            </a:r>
          </a:p>
          <a:p>
            <a:pPr>
              <a:lnSpc>
                <a:spcPct val="150000"/>
              </a:lnSpc>
            </a:pPr>
            <a:r>
              <a:rPr lang="en-HK" sz="1600" dirty="0">
                <a:latin typeface="Times New Roman" panose="02020603050405020304" pitchFamily="18" charset="0"/>
                <a:ea typeface="SimSun"/>
                <a:cs typeface="Times New Roman" panose="02020603050405020304" pitchFamily="18" charset="0"/>
              </a:rPr>
              <a:t>Sliding nozzles mounted on top</a:t>
            </a:r>
          </a:p>
        </p:txBody>
      </p:sp>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29</a:t>
            </a:fld>
            <a:endParaRPr lang="en-US" altLang="zh-CN">
              <a:latin typeface="Times New Roman"/>
              <a:ea typeface="SimSun"/>
              <a:cs typeface="Times New Roman"/>
            </a:endParaRP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8" name="对象 7">
            <a:extLst>
              <a:ext uri="{FF2B5EF4-FFF2-40B4-BE49-F238E27FC236}">
                <a16:creationId xmlns:a16="http://schemas.microsoft.com/office/drawing/2014/main" id="{3DDBFAEC-D5A7-4EFA-8F5B-020AB16ABD63}"/>
              </a:ext>
            </a:extLst>
          </p:cNvPr>
          <p:cNvGraphicFramePr>
            <a:graphicFrameLocks noChangeAspect="1"/>
          </p:cNvGraphicFramePr>
          <p:nvPr>
            <p:extLst>
              <p:ext uri="{D42A27DB-BD31-4B8C-83A1-F6EECF244321}">
                <p14:modId xmlns:p14="http://schemas.microsoft.com/office/powerpoint/2010/main" val="1660729710"/>
              </p:ext>
            </p:extLst>
          </p:nvPr>
        </p:nvGraphicFramePr>
        <p:xfrm>
          <a:off x="7454519" y="1860087"/>
          <a:ext cx="3900063" cy="3301369"/>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2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4519" y="1860087"/>
                        <a:ext cx="3900063" cy="3301369"/>
                      </a:xfrm>
                      <a:prstGeom prst="rect">
                        <a:avLst/>
                      </a:prstGeom>
                      <a:noFill/>
                    </p:spPr>
                  </p:pic>
                </p:oleObj>
              </mc:Fallback>
            </mc:AlternateContent>
          </a:graphicData>
        </a:graphic>
      </p:graphicFrame>
      <p:sp>
        <p:nvSpPr>
          <p:cNvPr id="23"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实验验证</a:t>
            </a:r>
          </a:p>
        </p:txBody>
      </p:sp>
      <p:sp>
        <p:nvSpPr>
          <p:cNvPr id="24"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4.4 Environment validation</a:t>
            </a:r>
          </a:p>
        </p:txBody>
      </p:sp>
      <p:sp>
        <p:nvSpPr>
          <p:cNvPr id="25"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26"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7" name="矩形 1">
            <a:extLst>
              <a:ext uri="{FF2B5EF4-FFF2-40B4-BE49-F238E27FC236}">
                <a16:creationId xmlns:a16="http://schemas.microsoft.com/office/drawing/2014/main" id="{AA203863-08F8-46E9-926E-0DF68D4222A3}"/>
              </a:ext>
            </a:extLst>
          </p:cNvPr>
          <p:cNvSpPr/>
          <p:nvPr/>
        </p:nvSpPr>
        <p:spPr>
          <a:xfrm>
            <a:off x="1117980" y="1876520"/>
            <a:ext cx="2253285" cy="516128"/>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Q=0.01 kg/s;</a:t>
            </a:r>
          </a:p>
        </p:txBody>
      </p:sp>
      <p:sp>
        <p:nvSpPr>
          <p:cNvPr id="28" name="TextBox 1"/>
          <p:cNvSpPr txBox="1"/>
          <p:nvPr/>
        </p:nvSpPr>
        <p:spPr>
          <a:xfrm>
            <a:off x="1117980" y="2105882"/>
            <a:ext cx="2253285"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流量 Q = 0.01 kg/s</a:t>
            </a:r>
          </a:p>
        </p:txBody>
      </p:sp>
      <p:sp>
        <p:nvSpPr>
          <p:cNvPr id="29" name="矩形 1">
            <a:extLst>
              <a:ext uri="{FF2B5EF4-FFF2-40B4-BE49-F238E27FC236}">
                <a16:creationId xmlns:a16="http://schemas.microsoft.com/office/drawing/2014/main" id="{AA203863-08F8-46E9-926E-0DF68D4222A3}"/>
              </a:ext>
            </a:extLst>
          </p:cNvPr>
          <p:cNvSpPr/>
          <p:nvPr/>
        </p:nvSpPr>
        <p:spPr>
          <a:xfrm>
            <a:off x="1117980" y="2392648"/>
            <a:ext cx="2253285" cy="516128"/>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Spray cone angle = 45°;</a:t>
            </a:r>
          </a:p>
        </p:txBody>
      </p:sp>
      <p:sp>
        <p:nvSpPr>
          <p:cNvPr id="30" name="TextBox 1"/>
          <p:cNvSpPr txBox="1"/>
          <p:nvPr/>
        </p:nvSpPr>
        <p:spPr>
          <a:xfrm>
            <a:off x="1117980" y="2622010"/>
            <a:ext cx="2253285"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喷雾锥角 = 45°</a:t>
            </a:r>
          </a:p>
        </p:txBody>
      </p:sp>
      <p:sp>
        <p:nvSpPr>
          <p:cNvPr id="31" name="矩形 1">
            <a:extLst>
              <a:ext uri="{FF2B5EF4-FFF2-40B4-BE49-F238E27FC236}">
                <a16:creationId xmlns:a16="http://schemas.microsoft.com/office/drawing/2014/main" id="{AA203863-08F8-46E9-926E-0DF68D4222A3}"/>
              </a:ext>
            </a:extLst>
          </p:cNvPr>
          <p:cNvSpPr/>
          <p:nvPr/>
        </p:nvSpPr>
        <p:spPr>
          <a:xfrm>
            <a:off x="1117980" y="2908776"/>
            <a:ext cx="2253285" cy="516128"/>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Nozzle height =150 mm</a:t>
            </a:r>
          </a:p>
        </p:txBody>
      </p:sp>
      <p:sp>
        <p:nvSpPr>
          <p:cNvPr id="32" name="TextBox 1"/>
          <p:cNvSpPr txBox="1"/>
          <p:nvPr/>
        </p:nvSpPr>
        <p:spPr>
          <a:xfrm>
            <a:off x="1117980" y="3138138"/>
            <a:ext cx="2253285"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喷嘴高度 = 150 mm</a:t>
            </a:r>
          </a:p>
        </p:txBody>
      </p:sp>
      <p:sp>
        <p:nvSpPr>
          <p:cNvPr id="33" name="矩形 20">
            <a:extLst>
              <a:ext uri="{FF2B5EF4-FFF2-40B4-BE49-F238E27FC236}">
                <a16:creationId xmlns:a16="http://schemas.microsoft.com/office/drawing/2014/main" id="{62A402BC-637D-41EB-96A1-02AC96781A3D}"/>
              </a:ext>
            </a:extLst>
          </p:cNvPr>
          <p:cNvSpPr/>
          <p:nvPr/>
        </p:nvSpPr>
        <p:spPr>
          <a:xfrm>
            <a:off x="7323000" y="5439170"/>
            <a:ext cx="4502377" cy="812927"/>
          </a:xfrm>
          <a:prstGeom prst="rect">
            <a:avLst/>
          </a:prstGeom>
          <a:ln>
            <a:noFill/>
          </a:ln>
        </p:spPr>
        <p:txBody>
          <a:bodyPr wrap="square" lIns="0" rIns="0" tIns="0" bIns="0">
            <a:noAutofit/>
          </a:bodyPr>
          <a:lstStyle/>
          <a:p>
            <a:pPr marL="0" indent="0" algn="l">
              <a:lnSpc>
                <a:spcPct val="108000"/>
              </a:lnSpc>
              <a:buNone/>
            </a:pPr>
            <a:r>
              <a:rPr lang="en-US" sz="1550"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5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7.1%</a:t>
            </a:r>
            <a:r>
              <a:rPr lang="en-US" sz="1550" dirty="0">
                <a:latin typeface="Times New Roman" panose="02020603050405020304" pitchFamily="18" charset="0"/>
                <a:ea typeface="SimSun" panose="02010600030101010101" pitchFamily="2" charset="-122"/>
                <a:cs typeface="Times New Roman" panose="02020603050405020304" pitchFamily="18" charset="0"/>
              </a:rPr>
              <a:t>, </a:t>
            </a:r>
            <a:r>
              <a:rPr lang="en-HK" sz="1550"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550" dirty="0">
                <a:latin typeface="Times New Roman" panose="02020603050405020304" pitchFamily="18" charset="0"/>
                <a:ea typeface="SimSun" panose="02010600030101010101" pitchFamily="2" charset="-122"/>
                <a:cs typeface="Times New Roman" panose="02020603050405020304" pitchFamily="18" charset="0"/>
              </a:rPr>
              <a:t> </a:t>
            </a:r>
            <a:endParaRPr lang="en-HK" sz="1600" dirty="0">
              <a:latin typeface="Times New Roman" panose="02020603050405020304" pitchFamily="18" charset="0"/>
              <a:ea typeface="SimSun"/>
              <a:cs typeface="Times New Roman" panose="02020603050405020304" pitchFamily="18" charset="0"/>
            </a:endParaRPr>
          </a:p>
        </p:txBody>
      </p:sp>
      <p:sp>
        <p:nvSpPr>
          <p:cNvPr id="34" name="TextBox 1"/>
          <p:cNvSpPr txBox="1"/>
          <p:nvPr/>
        </p:nvSpPr>
        <p:spPr>
          <a:xfrm>
            <a:off x="7323000" y="5929136"/>
            <a:ext cx="4502377"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最大偏差为 7.1%，满足后续分析要求。</a:t>
            </a:r>
          </a:p>
        </p:txBody>
      </p:sp>
    </p:spTree>
    <p:extLst>
      <p:ext uri="{BB962C8B-B14F-4D97-AF65-F5344CB8AC3E}">
        <p14:creationId xmlns:p14="http://schemas.microsoft.com/office/powerpoint/2010/main" val="417157392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AF00261-34FA-4ECD-A573-3967B1E4F44B}"/>
              </a:ext>
            </a:extLst>
          </p:cNvPr>
          <p:cNvSpPr/>
          <p:nvPr/>
        </p:nvSpPr>
        <p:spPr>
          <a:xfrm>
            <a:off x="630078" y="1551392"/>
            <a:ext cx="215956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Experiment bench</a:t>
            </a:r>
            <a:endParaRPr lang="en-HK" sz="1800" dirty="0">
              <a:solidFill>
                <a:prstClr val="black"/>
              </a:solidFill>
              <a:latin typeface="Times New Roman" panose="020B0604020202020204" pitchFamily="34" charset="0"/>
              <a:ea typeface="SimSun"/>
              <a:cs typeface="Times New Roman" panose="020B0604020202020204" pitchFamily="34" charset="0"/>
            </a:endParaRPr>
          </a:p>
        </p:txBody>
      </p:sp>
      <p:sp>
        <p:nvSpPr>
          <p:cNvPr id="7" name="矩形 6">
            <a:extLst>
              <a:ext uri="{FF2B5EF4-FFF2-40B4-BE49-F238E27FC236}">
                <a16:creationId xmlns:a16="http://schemas.microsoft.com/office/drawing/2014/main" id="{1D6E575A-1BAA-495C-9A4F-C625BE84BAF2}"/>
              </a:ext>
            </a:extLst>
          </p:cNvPr>
          <p:cNvSpPr/>
          <p:nvPr/>
        </p:nvSpPr>
        <p:spPr>
          <a:xfrm>
            <a:off x="7079628" y="1551392"/>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800" dirty="0">
              <a:solidFill>
                <a:prstClr val="black"/>
              </a:solidFill>
              <a:latin typeface="Times New Roman" panose="02020603050405020304" pitchFamily="18" charset="0"/>
              <a:ea typeface="SimSun"/>
              <a:cs typeface="Times New Roman" panose="02020603050405020304" pitchFamily="18" charset="0"/>
            </a:endParaRPr>
          </a:p>
        </p:txBody>
      </p:sp>
      <p:sp>
        <p:nvSpPr>
          <p:cNvPr id="13" name="矩形 12">
            <a:extLst>
              <a:ext uri="{FF2B5EF4-FFF2-40B4-BE49-F238E27FC236}">
                <a16:creationId xmlns:a16="http://schemas.microsoft.com/office/drawing/2014/main" id="{3450D832-42A3-4396-AF51-9EEB6188644E}"/>
              </a:ext>
            </a:extLst>
          </p:cNvPr>
          <p:cNvSpPr/>
          <p:nvPr/>
        </p:nvSpPr>
        <p:spPr>
          <a:xfrm>
            <a:off x="8538707" y="5268305"/>
            <a:ext cx="201920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Fig.4.4.4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30</a:t>
            </a:fld>
            <a:endParaRPr lang="en-US" altLang="zh-CN">
              <a:latin typeface="Times New Roman"/>
              <a:ea typeface="SimSun"/>
              <a:cs typeface="Times New Roman"/>
            </a:endParaRP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9" name="图片 18">
            <a:extLst>
              <a:ext uri="{FF2B5EF4-FFF2-40B4-BE49-F238E27FC236}">
                <a16:creationId xmlns:a16="http://schemas.microsoft.com/office/drawing/2014/main" id="{2DB0A7BF-2080-4A24-92AC-95090B602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115" y="2018735"/>
            <a:ext cx="5512971" cy="3600000"/>
          </a:xfrm>
          <a:prstGeom prst="rect">
            <a:avLst/>
          </a:prstGeom>
        </p:spPr>
      </p:pic>
      <p:sp>
        <p:nvSpPr>
          <p:cNvPr id="9" name="Rectangle 2">
            <a:extLst>
              <a:ext uri="{FF2B5EF4-FFF2-40B4-BE49-F238E27FC236}">
                <a16:creationId xmlns:a16="http://schemas.microsoft.com/office/drawing/2014/main" id="{0EC59F86-389A-485F-8724-09E44747A70A}"/>
              </a:ext>
            </a:extLst>
          </p:cNvPr>
          <p:cNvSpPr>
            <a:spLocks noChangeArrowheads="1"/>
          </p:cNvSpPr>
          <p:nvPr/>
        </p:nvSpPr>
        <p:spPr bwMode="auto">
          <a:xfrm>
            <a:off x="7217651" y="19524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1" name="对象 10">
            <a:extLst>
              <a:ext uri="{FF2B5EF4-FFF2-40B4-BE49-F238E27FC236}">
                <a16:creationId xmlns:a16="http://schemas.microsoft.com/office/drawing/2014/main" id="{C694B137-4033-4701-B03E-3B8C9EF35B95}"/>
              </a:ext>
            </a:extLst>
          </p:cNvPr>
          <p:cNvGraphicFramePr>
            <a:graphicFrameLocks noChangeAspect="1"/>
          </p:cNvGraphicFramePr>
          <p:nvPr>
            <p:extLst>
              <p:ext uri="{D42A27DB-BD31-4B8C-83A1-F6EECF244321}">
                <p14:modId xmlns:p14="http://schemas.microsoft.com/office/powerpoint/2010/main" val="1022724867"/>
              </p:ext>
            </p:extLst>
          </p:nvPr>
        </p:nvGraphicFramePr>
        <p:xfrm>
          <a:off x="7328008" y="2005795"/>
          <a:ext cx="3962183" cy="3326837"/>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8008" y="2005795"/>
                        <a:ext cx="3962183" cy="3326837"/>
                      </a:xfrm>
                      <a:prstGeom prst="rect">
                        <a:avLst/>
                      </a:prstGeom>
                      <a:noFill/>
                    </p:spPr>
                  </p:pic>
                </p:oleObj>
              </mc:Fallback>
            </mc:AlternateContent>
          </a:graphicData>
        </a:graphic>
      </p:graphicFrame>
      <p:sp>
        <p:nvSpPr>
          <p:cNvPr id="20" name="矩形 19">
            <a:extLst>
              <a:ext uri="{FF2B5EF4-FFF2-40B4-BE49-F238E27FC236}">
                <a16:creationId xmlns:a16="http://schemas.microsoft.com/office/drawing/2014/main" id="{1A42B36B-9477-4B63-AE31-5169BBDEC44A}"/>
              </a:ext>
            </a:extLst>
          </p:cNvPr>
          <p:cNvSpPr/>
          <p:nvPr/>
        </p:nvSpPr>
        <p:spPr>
          <a:xfrm>
            <a:off x="2994894" y="5716746"/>
            <a:ext cx="2019204"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Fig.4.4.3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3"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实验验证</a:t>
            </a:r>
          </a:p>
        </p:txBody>
      </p:sp>
      <p:sp>
        <p:nvSpPr>
          <p:cNvPr id="24"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4.4 Environment validation</a:t>
            </a:r>
          </a:p>
        </p:txBody>
      </p:sp>
      <p:sp>
        <p:nvSpPr>
          <p:cNvPr id="25"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26"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7" name="矩形 20">
            <a:extLst>
              <a:ext uri="{FF2B5EF4-FFF2-40B4-BE49-F238E27FC236}">
                <a16:creationId xmlns:a16="http://schemas.microsoft.com/office/drawing/2014/main" id="{62A402BC-637D-41EB-96A1-02AC96781A3D}"/>
              </a:ext>
            </a:extLst>
          </p:cNvPr>
          <p:cNvSpPr/>
          <p:nvPr/>
        </p:nvSpPr>
        <p:spPr>
          <a:xfrm>
            <a:off x="7328008" y="5678574"/>
            <a:ext cx="4502377" cy="704342"/>
          </a:xfrm>
          <a:prstGeom prst="rect">
            <a:avLst/>
          </a:prstGeom>
          <a:ln>
            <a:noFill/>
          </a:ln>
        </p:spPr>
        <p:txBody>
          <a:bodyPr wrap="square" lIns="0" rIns="0" tIns="0" bIns="0">
            <a:noAutofit/>
          </a:bodyPr>
          <a:lstStyle/>
          <a:p>
            <a:pPr marL="0" indent="0" algn="l">
              <a:lnSpc>
                <a:spcPct val="108000"/>
              </a:lnSpc>
              <a:buNone/>
            </a:pPr>
            <a:r>
              <a:rPr lang="en-US" sz="1300"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3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8.2%</a:t>
            </a:r>
            <a:r>
              <a:rPr lang="en-US" sz="1300" dirty="0">
                <a:latin typeface="Times New Roman" panose="02020603050405020304" pitchFamily="18" charset="0"/>
                <a:ea typeface="SimSun" panose="02010600030101010101" pitchFamily="2" charset="-122"/>
                <a:cs typeface="Times New Roman" panose="02020603050405020304" pitchFamily="18" charset="0"/>
              </a:rPr>
              <a:t>, </a:t>
            </a:r>
            <a:r>
              <a:rPr lang="en-HK" sz="1300"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300" dirty="0">
                <a:latin typeface="Times New Roman" panose="02020603050405020304" pitchFamily="18" charset="0"/>
                <a:ea typeface="SimSun" panose="02010600030101010101" pitchFamily="2" charset="-122"/>
                <a:cs typeface="Times New Roman" panose="02020603050405020304" pitchFamily="18" charset="0"/>
              </a:rPr>
              <a:t> </a:t>
            </a:r>
            <a:endParaRPr lang="en-HK" sz="1600" dirty="0">
              <a:latin typeface="Times New Roman" panose="02020603050405020304" pitchFamily="18" charset="0"/>
              <a:ea typeface="SimSun"/>
              <a:cs typeface="Times New Roman" panose="02020603050405020304" pitchFamily="18" charset="0"/>
            </a:endParaRPr>
          </a:p>
        </p:txBody>
      </p:sp>
      <p:sp>
        <p:nvSpPr>
          <p:cNvPr id="28" name="TextBox 1"/>
          <p:cNvSpPr txBox="1"/>
          <p:nvPr/>
        </p:nvSpPr>
        <p:spPr>
          <a:xfrm>
            <a:off x="7328008" y="6096150"/>
            <a:ext cx="4502377"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最大偏差为 8.2%，满足后续分析要求。</a:t>
            </a:r>
          </a:p>
        </p:txBody>
      </p:sp>
    </p:spTree>
    <p:extLst>
      <p:ext uri="{BB962C8B-B14F-4D97-AF65-F5344CB8AC3E}">
        <p14:creationId xmlns:p14="http://schemas.microsoft.com/office/powerpoint/2010/main" val="34003691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8FD1B34B-0BFD-4D75-8B26-4106966E69F8}"/>
              </a:ext>
            </a:extLst>
          </p:cNvPr>
          <p:cNvGraphicFramePr>
            <a:graphicFrameLocks noChangeAspect="1"/>
          </p:cNvGraphicFramePr>
          <p:nvPr/>
        </p:nvGraphicFramePr>
        <p:xfrm>
          <a:off x="6856674" y="1337638"/>
          <a:ext cx="4440300" cy="3305016"/>
        </p:xfrm>
        <a:graphic>
          <a:graphicData uri="http://schemas.openxmlformats.org/presentationml/2006/ole">
            <mc:AlternateContent xmlns:mc="http://schemas.openxmlformats.org/markup-compatibility/2006">
              <mc:Choice xmlns:v="urn:schemas-microsoft-com:vml" Requires="v">
                <p:oleObj name="Graph" r:id="rId3" imgW="6857410" imgH="5143222" progId="Origin95.Graph">
                  <p:embed/>
                </p:oleObj>
              </mc:Choice>
              <mc:Fallback>
                <p:oleObj name="Graph" r:id="rId3" imgW="6857410" imgH="5143222" progId="Origin95.Graph">
                  <p:embed/>
                  <p:pic>
                    <p:nvPicPr>
                      <p:cNvPr id="5" name="对象 4">
                        <a:extLst>
                          <a:ext uri="{FF2B5EF4-FFF2-40B4-BE49-F238E27FC236}">
                            <a16:creationId xmlns:a16="http://schemas.microsoft.com/office/drawing/2014/main" id="{8FD1B34B-0BFD-4D75-8B26-4106966E69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674" y="1337638"/>
                        <a:ext cx="4440300" cy="3305016"/>
                      </a:xfrm>
                      <a:prstGeom prst="rect">
                        <a:avLst/>
                      </a:prstGeom>
                      <a:noFill/>
                    </p:spPr>
                  </p:pic>
                </p:oleObj>
              </mc:Fallback>
            </mc:AlternateContent>
          </a:graphicData>
        </a:graphic>
      </p:graphicFrame>
      <p:sp>
        <p:nvSpPr>
          <p:cNvPr id="47" name="矩形 46">
            <a:extLst>
              <a:ext uri="{FF2B5EF4-FFF2-40B4-BE49-F238E27FC236}">
                <a16:creationId xmlns:a16="http://schemas.microsoft.com/office/drawing/2014/main" id="{A6753483-5E34-4527-A3C3-A492FDD07860}"/>
              </a:ext>
            </a:extLst>
          </p:cNvPr>
          <p:cNvSpPr/>
          <p:nvPr/>
        </p:nvSpPr>
        <p:spPr bwMode="auto">
          <a:xfrm>
            <a:off x="1334004" y="5267495"/>
            <a:ext cx="4267887" cy="1384400"/>
          </a:xfrm>
          <a:prstGeom prst="rect">
            <a:avLst/>
          </a:prstGeom>
          <a:ln>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36" name="矩形 35">
            <a:extLst>
              <a:ext uri="{FF2B5EF4-FFF2-40B4-BE49-F238E27FC236}">
                <a16:creationId xmlns:a16="http://schemas.microsoft.com/office/drawing/2014/main" id="{96BF9115-8775-4D40-81C7-6B6F64425C40}"/>
              </a:ext>
            </a:extLst>
          </p:cNvPr>
          <p:cNvSpPr/>
          <p:nvPr/>
        </p:nvSpPr>
        <p:spPr>
          <a:xfrm>
            <a:off x="861980" y="1617063"/>
            <a:ext cx="5718172" cy="338554"/>
          </a:xfrm>
          <a:prstGeom prst="rect">
            <a:avLst/>
          </a:prstGeom>
        </p:spPr>
        <p:txBody>
          <a:bodyPr wrap="square">
            <a:spAutoFit/>
          </a:bodyPr>
          <a:lstStyle/>
          <a:p>
            <a:r>
              <a:rPr lang="en-US" altLang="zh-CN" sz="1600" dirty="0">
                <a:latin typeface="Times New Roman" pitchFamily="18" charset="0"/>
                <a:ea typeface="SimSun"/>
                <a:cs typeface="Times New Roman" pitchFamily="18" charset="0"/>
              </a:rPr>
              <a:t>Theoretical mass flow rate is given by Lefebvre and </a:t>
            </a:r>
            <a:r>
              <a:rPr lang="en-US" altLang="zh-CN" sz="1600" dirty="0" err="1">
                <a:latin typeface="Times New Roman" pitchFamily="18" charset="0"/>
                <a:ea typeface="SimSun"/>
                <a:cs typeface="Times New Roman" pitchFamily="18" charset="0"/>
              </a:rPr>
              <a:t>McDonell</a:t>
            </a:r>
            <a:endParaRPr lang="zh-CN" altLang="en-US" sz="1600" dirty="0">
              <a:latin typeface="Times New Roman" pitchFamily="18" charset="0"/>
              <a:ea typeface="SimSun"/>
              <a:cs typeface="Times New Roman" pitchFamily="18" charset="0"/>
            </a:endParaRPr>
          </a:p>
        </p:txBody>
      </p: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04AEFD1A-F491-478B-AB3F-DEA2A908B11D}"/>
                  </a:ext>
                </a:extLst>
              </p:cNvPr>
              <p:cNvSpPr/>
              <p:nvPr/>
            </p:nvSpPr>
            <p:spPr>
              <a:xfrm>
                <a:off x="1947313" y="1910749"/>
                <a:ext cx="2424831" cy="596638"/>
              </a:xfrm>
              <a:prstGeom prst="rect">
                <a:avLst/>
              </a:prstGeom>
            </p:spPr>
            <p:txBody>
              <a:bodyPr wrap="square">
                <a:spAutoFit/>
              </a:bodyPr>
              <a:lstStyle/>
              <a:p>
                <a:pPr/>
                <a14:m>
                  <m:oMathPara xmlns:m="http://schemas.openxmlformats.org/officeDocument/2006/math">
                    <m:oMath>
                      <m:sSub>
                        <m:sSubPr>
                          <m:ctrlPr>
                            <a:rPr lang="zh-CN" altLang="zh-CN" sz="1600" i="1">
                              <a:latin typeface="Times New Roman" panose="02040503050406030204" pitchFamily="18" charset="0"/>
                              <a:ea typeface="SimSun"/>
                              <a:cs typeface="Times New Roman"/>
                            </a:rPr>
                          </m:ctrlPr>
                        </m:sSubPr>
                        <m:e>
                          <m:acc>
                            <m:accPr>
                              <m:chr m:val="̇"/>
                              <m:ctrlPr>
                                <a:rPr lang="en-US" altLang="zh-CN" sz="1600" i="1">
                                  <a:latin typeface="Times New Roman"/>
                                  <a:ea typeface="SimSun"/>
                                  <a:cs typeface="Times New Roman"/>
                                </a:rPr>
                              </m:ctrlPr>
                            </m:accPr>
                            <m:e>
                              <m:r>
                                <a:rPr lang="en-US" altLang="zh-CN" sz="1600" i="1">
                                  <a:latin typeface="Times New Roman"/>
                                  <a:ea typeface="SimSun"/>
                                  <a:cs typeface="Times New Roman"/>
                                </a:rPr>
                                <m:t>𝑚</m:t>
                              </m:r>
                            </m:e>
                          </m:acc>
                        </m:e>
                        <m:sub>
                          <m:r>
                            <a:rPr lang="en-US" altLang="zh-CN" sz="1600" i="1">
                              <a:latin typeface="Times New Roman"/>
                              <a:ea typeface="SimSun"/>
                              <a:cs typeface="Times New Roman"/>
                            </a:rPr>
                            <m:t>𝑡ℎ</m:t>
                          </m:r>
                        </m:sub>
                      </m:sSub>
                      <m:r>
                        <a:rPr lang="en-US" altLang="zh-CN" sz="1600" i="1">
                          <a:latin typeface="Times New Roman"/>
                          <a:ea typeface="SimSun"/>
                          <a:cs typeface="Times New Roman"/>
                        </a:rPr>
                        <m:t>=</m:t>
                      </m:r>
                      <m:r>
                        <a:rPr lang="en-US" altLang="zh-CN" sz="1600" i="1">
                          <a:latin typeface="Times New Roman"/>
                          <a:ea typeface="SimSun"/>
                          <a:cs typeface="Times New Roman"/>
                        </a:rPr>
                        <m:t>𝜌</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𝐴</m:t>
                          </m:r>
                        </m:e>
                        <m:sub>
                          <m:r>
                            <a:rPr lang="en-US" altLang="zh-CN" sz="1600" i="1">
                              <a:latin typeface="Times New Roman"/>
                              <a:ea typeface="SimSun"/>
                              <a:cs typeface="Times New Roman"/>
                            </a:rPr>
                            <m:t>𝑂</m:t>
                          </m:r>
                        </m:sub>
                      </m:sSub>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en-US" altLang="zh-CN" sz="1600" i="1">
                                  <a:latin typeface="Times New Roman"/>
                                  <a:ea typeface="SimSun"/>
                                  <a:cs typeface="Times New Roman"/>
                                </a:rPr>
                              </m:ctrlPr>
                            </m:fPr>
                            <m:num>
                              <m:r>
                                <a:rPr lang="en-US" altLang="zh-CN" sz="1600" i="1">
                                  <a:latin typeface="Times New Roman"/>
                                  <a:ea typeface="SimSun"/>
                                  <a:cs typeface="Times New Roman"/>
                                </a:rPr>
                                <m:t>2∆</m:t>
                              </m:r>
                              <m:r>
                                <a:rPr lang="en-US" altLang="zh-CN" sz="1600" i="1">
                                  <a:latin typeface="Times New Roman"/>
                                  <a:ea typeface="SimSun"/>
                                  <a:cs typeface="Times New Roman"/>
                                </a:rPr>
                                <m:t>𝑃</m:t>
                              </m:r>
                            </m:num>
                            <m:den>
                              <m:r>
                                <a:rPr lang="en-US" altLang="zh-CN" sz="1600" i="1">
                                  <a:latin typeface="Times New Roman"/>
                                  <a:ea typeface="SimSun"/>
                                  <a:cs typeface="Times New Roman"/>
                                </a:rPr>
                                <m:t>𝜌</m:t>
                              </m:r>
                            </m:den>
                          </m:f>
                          <m:r>
                            <a:rPr lang="en-US" altLang="zh-CN" sz="1600" i="1">
                              <a:latin typeface="Times New Roman"/>
                              <a:ea typeface="SimSun"/>
                              <a:cs typeface="Times New Roman"/>
                            </a:rPr>
                            <m:t>)</m:t>
                          </m:r>
                        </m:e>
                        <m:sup>
                          <m:r>
                            <a:rPr lang="en-US" altLang="zh-CN" sz="1600" i="1">
                              <a:latin typeface="Times New Roman"/>
                              <a:ea typeface="SimSun"/>
                              <a:cs typeface="Times New Roman"/>
                            </a:rPr>
                            <m:t>0.5</m:t>
                          </m:r>
                        </m:sup>
                      </m:sSup>
                    </m:oMath>
                  </m:oMathPara>
                </a14:m>
                <a:endParaRPr lang="zh-CN" altLang="zh-CN" sz="1600" dirty="0">
                  <a:latin typeface="Times New Roman"/>
                  <a:ea typeface="SimSun"/>
                  <a:cs typeface="Times New Roman"/>
                </a:endParaRPr>
              </a:p>
            </p:txBody>
          </p:sp>
        </mc:Choice>
        <mc:Fallback xmlns="">
          <p:sp>
            <p:nvSpPr>
              <p:cNvPr id="37" name="矩形 36">
                <a:extLst>
                  <a:ext uri="{FF2B5EF4-FFF2-40B4-BE49-F238E27FC236}">
                    <a16:creationId xmlns:a16="http://schemas.microsoft.com/office/drawing/2014/main" id="{04AEFD1A-F491-478B-AB3F-DEA2A908B11D}"/>
                  </a:ext>
                </a:extLst>
              </p:cNvPr>
              <p:cNvSpPr>
                <a:spLocks noRot="1" noChangeAspect="1" noMove="1" noResize="1" noEditPoints="1" noAdjustHandles="1" noChangeArrowheads="1" noChangeShapeType="1" noTextEdit="1"/>
              </p:cNvSpPr>
              <p:nvPr/>
            </p:nvSpPr>
            <p:spPr>
              <a:xfrm>
                <a:off x="1947313" y="1910749"/>
                <a:ext cx="2424831" cy="596638"/>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p:sp>
        <p:nvSpPr>
          <p:cNvPr id="38" name="矩形 37">
            <a:extLst>
              <a:ext uri="{FF2B5EF4-FFF2-40B4-BE49-F238E27FC236}">
                <a16:creationId xmlns:a16="http://schemas.microsoft.com/office/drawing/2014/main" id="{2791F8FC-218F-45C2-BE7B-62E9DB989D47}"/>
              </a:ext>
            </a:extLst>
          </p:cNvPr>
          <p:cNvSpPr/>
          <p:nvPr/>
        </p:nvSpPr>
        <p:spPr>
          <a:xfrm>
            <a:off x="861980" y="2541867"/>
            <a:ext cx="5439918" cy="584775"/>
          </a:xfrm>
          <a:prstGeom prst="rect">
            <a:avLst/>
          </a:prstGeom>
        </p:spPr>
        <p:txBody>
          <a:bodyPr wrap="square">
            <a:spAutoFit/>
          </a:bodyPr>
          <a:lstStyle/>
          <a:p>
            <a:r>
              <a:rPr lang="en-US" altLang="zh-CN" sz="1600" dirty="0">
                <a:latin typeface="Times New Roman" pitchFamily="18" charset="0"/>
                <a:ea typeface="SimSun"/>
                <a:cs typeface="Times New Roman" pitchFamily="18" charset="0"/>
              </a:rPr>
              <a:t>The average droplet diameter is obtained from the following equation:</a:t>
            </a:r>
            <a:endParaRPr lang="zh-CN" altLang="zh-CN" sz="1600" dirty="0">
              <a:latin typeface="Times New Roman" pitchFamily="18" charset="0"/>
              <a:ea typeface="SimSun"/>
              <a:cs typeface="Times New Roman" pitchFamily="18" charset="0"/>
            </a:endParaRPr>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5EF7F9EB-37AE-4981-B1A5-EE5B140C6B93}"/>
                  </a:ext>
                </a:extLst>
              </p:cNvPr>
              <p:cNvSpPr/>
              <p:nvPr/>
            </p:nvSpPr>
            <p:spPr>
              <a:xfrm>
                <a:off x="1832660" y="3061674"/>
                <a:ext cx="2654135" cy="35836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𝑑</m:t>
                      </m:r>
                      <m:r>
                        <a:rPr lang="en-US" altLang="zh-CN" sz="1600">
                          <a:latin typeface="Times New Roman"/>
                          <a:ea typeface="SimSun"/>
                          <a:cs typeface="Times New Roman"/>
                        </a:rPr>
                        <m:t>=9.5</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𝑑</m:t>
                          </m:r>
                        </m:e>
                        <m:sub>
                          <m:r>
                            <a:rPr lang="en-US" altLang="zh-CN" sz="1600" i="1">
                              <a:latin typeface="Times New Roman"/>
                              <a:ea typeface="SimSun"/>
                              <a:cs typeface="Times New Roman"/>
                            </a:rPr>
                            <m:t>𝑗</m:t>
                          </m:r>
                        </m:sub>
                      </m:sSub>
                      <m:r>
                        <a:rPr lang="en-US" altLang="zh-CN" sz="1600">
                          <a:latin typeface="Times New Roman"/>
                          <a:ea typeface="SimSun"/>
                          <a:cs typeface="Times New Roman"/>
                        </a:rPr>
                        <m:t>/(∆</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𝑃</m:t>
                          </m:r>
                        </m:e>
                        <m:sub>
                          <m:r>
                            <a:rPr lang="en-US" altLang="zh-CN" sz="1600">
                              <a:latin typeface="Times New Roman"/>
                              <a:ea typeface="SimSun"/>
                              <a:cs typeface="Times New Roman"/>
                            </a:rPr>
                            <m:t>1</m:t>
                          </m:r>
                        </m:sub>
                      </m:sSub>
                      <m:r>
                        <a:rPr lang="en-US" altLang="zh-CN" sz="1600" i="1">
                          <a:latin typeface="Times New Roman"/>
                          <a:ea typeface="SimSun"/>
                          <a:cs typeface="Times New Roman"/>
                        </a:rPr>
                        <m:t>𝑠𝑖𝑛</m:t>
                      </m:r>
                      <m:r>
                        <a:rPr lang="en-US" altLang="zh-CN" sz="1600">
                          <a:latin typeface="Times New Roman"/>
                          <a:ea typeface="SimSun"/>
                          <a:cs typeface="Times New Roman"/>
                        </a:rPr>
                        <m:t>(</m:t>
                      </m:r>
                      <m:r>
                        <a:rPr lang="en-US" altLang="zh-CN" sz="1600" i="1">
                          <a:latin typeface="Times New Roman"/>
                          <a:ea typeface="SimSun"/>
                          <a:cs typeface="Times New Roman"/>
                        </a:rPr>
                        <m:t>𝛼</m:t>
                      </m:r>
                      <m:r>
                        <a:rPr lang="en-US" altLang="zh-CN" sz="1600">
                          <a:latin typeface="Times New Roman"/>
                          <a:ea typeface="SimSun"/>
                          <a:cs typeface="Times New Roman"/>
                        </a:rPr>
                        <m:t>/2))</m:t>
                      </m:r>
                    </m:oMath>
                  </m:oMathPara>
                </a14:m>
                <a:endParaRPr lang="zh-CN" altLang="zh-CN" sz="1600" dirty="0">
                  <a:latin typeface="Times New Roman"/>
                  <a:ea typeface="SimSun"/>
                  <a:cs typeface="Times New Roman"/>
                </a:endParaRPr>
              </a:p>
            </p:txBody>
          </p:sp>
        </mc:Choice>
        <mc:Fallback xmlns="">
          <p:sp>
            <p:nvSpPr>
              <p:cNvPr id="39" name="矩形 38">
                <a:extLst>
                  <a:ext uri="{FF2B5EF4-FFF2-40B4-BE49-F238E27FC236}">
                    <a16:creationId xmlns:a16="http://schemas.microsoft.com/office/drawing/2014/main" id="{5EF7F9EB-37AE-4981-B1A5-EE5B140C6B93}"/>
                  </a:ext>
                </a:extLst>
              </p:cNvPr>
              <p:cNvSpPr>
                <a:spLocks noRot="1" noChangeAspect="1" noMove="1" noResize="1" noEditPoints="1" noAdjustHandles="1" noChangeArrowheads="1" noChangeShapeType="1" noTextEdit="1"/>
              </p:cNvSpPr>
              <p:nvPr/>
            </p:nvSpPr>
            <p:spPr>
              <a:xfrm>
                <a:off x="1832660" y="3061674"/>
                <a:ext cx="2654135" cy="358368"/>
              </a:xfrm>
              <a:prstGeom prst="rect">
                <a:avLst/>
              </a:prstGeom>
              <a:blipFill>
                <a:blip r:embed="rId7"/>
                <a:stretch>
                  <a:fillRect b="-6780"/>
                </a:stretch>
              </a:blipFill>
            </p:spPr>
            <p:txBody>
              <a:bodyPr/>
              <a:lstStyle/>
              <a:p>
                <a:r>
                  <a:rPr lang="en-US">
                    <a:noFill/>
                    <a:latin typeface="Times New Roman"/>
                    <a:ea typeface="SimSun"/>
                    <a:cs typeface="Times New Roman"/>
                  </a:rPr>
                  <a:t> </a:t>
                </a:r>
              </a:p>
            </p:txBody>
          </p:sp>
        </mc:Fallback>
      </mc:AlternateContent>
      <p:sp>
        <p:nvSpPr>
          <p:cNvPr id="40" name="矩形 39">
            <a:extLst>
              <a:ext uri="{FF2B5EF4-FFF2-40B4-BE49-F238E27FC236}">
                <a16:creationId xmlns:a16="http://schemas.microsoft.com/office/drawing/2014/main" id="{30CF54E5-5DAD-4CA1-90ED-33FCFC47D452}"/>
              </a:ext>
            </a:extLst>
          </p:cNvPr>
          <p:cNvSpPr/>
          <p:nvPr/>
        </p:nvSpPr>
        <p:spPr>
          <a:xfrm>
            <a:off x="857642" y="3579763"/>
            <a:ext cx="5439917" cy="584775"/>
          </a:xfrm>
          <a:prstGeom prst="rect">
            <a:avLst/>
          </a:prstGeom>
        </p:spPr>
        <p:txBody>
          <a:bodyPr wrap="square">
            <a:spAutoFit/>
          </a:bodyPr>
          <a:lstStyle/>
          <a:p>
            <a:r>
              <a:rPr lang="en-US" altLang="zh-CN" sz="1600" dirty="0">
                <a:latin typeface="Times New Roman" pitchFamily="18" charset="0"/>
                <a:ea typeface="SimSun"/>
                <a:cs typeface="Times New Roman" pitchFamily="18" charset="0"/>
              </a:rPr>
              <a:t>The correlation for spray cone angle based on inviscid theory (</a:t>
            </a:r>
            <a:r>
              <a:rPr lang="en-US" altLang="zh-CN" sz="1600" dirty="0">
                <a:latin typeface="Times New Roman" pitchFamily="18" charset="0"/>
                <a:ea typeface="SimSun"/>
                <a:cs typeface="Times New Roman" pitchFamily="18" charset="0"/>
                <a:hlinkClick r:id="rId8"/>
              </a:rPr>
              <a:t>Abramovich, 1944</a:t>
            </a:r>
            <a:r>
              <a:rPr lang="en-US" altLang="zh-CN" sz="1600" dirty="0">
                <a:latin typeface="Times New Roman" pitchFamily="18" charset="0"/>
                <a:ea typeface="SimSun"/>
                <a:cs typeface="Times New Roman" pitchFamily="18" charset="0"/>
              </a:rPr>
              <a:t>) overpredicts the spray cone angle by 25%.</a:t>
            </a:r>
            <a:endParaRPr lang="zh-CN" altLang="zh-CN" sz="1600" dirty="0">
              <a:latin typeface="Times New Roman" pitchFamily="18" charset="0"/>
              <a:ea typeface="SimSun"/>
              <a:cs typeface="Times New Roman" pitchFamily="18" charset="0"/>
            </a:endParaRPr>
          </a:p>
        </p:txBody>
      </p:sp>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498D7BEB-7674-4C14-9BA3-FC1800626FB4}"/>
                  </a:ext>
                </a:extLst>
              </p:cNvPr>
              <p:cNvSpPr/>
              <p:nvPr/>
            </p:nvSpPr>
            <p:spPr>
              <a:xfrm>
                <a:off x="1129740" y="4188537"/>
                <a:ext cx="4750666" cy="59522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2</m:t>
                      </m:r>
                      <m:r>
                        <a:rPr lang="en-US" altLang="zh-CN" sz="1600" i="1">
                          <a:latin typeface="Times New Roman"/>
                          <a:ea typeface="SimSun"/>
                          <a:cs typeface="Times New Roman"/>
                        </a:rPr>
                        <m:t>𝛼</m:t>
                      </m:r>
                      <m:r>
                        <a:rPr lang="en-US" altLang="zh-CN" sz="1600" i="1">
                          <a:latin typeface="Times New Roman"/>
                          <a:ea typeface="SimSun"/>
                          <a:cs typeface="Times New Roman"/>
                        </a:rPr>
                        <m:t>=334.32</m:t>
                      </m:r>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𝐾</m:t>
                          </m:r>
                        </m:e>
                        <m:sup>
                          <m:r>
                            <a:rPr lang="en-US" altLang="zh-CN" sz="1600" i="1">
                              <a:latin typeface="Times New Roman"/>
                              <a:ea typeface="SimSun"/>
                              <a:cs typeface="Times New Roman"/>
                            </a:rPr>
                            <m:t>−0.165</m:t>
                          </m:r>
                        </m:sup>
                      </m:sSup>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zh-CN" altLang="zh-CN" sz="1600" i="1">
                                  <a:latin typeface="Times New Roman"/>
                                  <a:ea typeface="SimSun"/>
                                  <a:cs typeface="Times New Roman"/>
                                </a:rPr>
                              </m:ctrlPr>
                            </m:fPr>
                            <m:num>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𝑆</m:t>
                                  </m:r>
                                </m:sub>
                              </m:sSub>
                            </m:num>
                            <m:den>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𝑂</m:t>
                                  </m:r>
                                </m:sub>
                              </m:sSub>
                            </m:den>
                          </m:f>
                          <m:r>
                            <a:rPr lang="en-US" altLang="zh-CN" sz="1600" i="1">
                              <a:latin typeface="Times New Roman"/>
                              <a:ea typeface="SimSun"/>
                              <a:cs typeface="Times New Roman"/>
                            </a:rPr>
                            <m:t>)</m:t>
                          </m:r>
                        </m:e>
                        <m:sup>
                          <m:r>
                            <a:rPr lang="en-US" altLang="zh-CN" sz="1600" i="1">
                              <a:latin typeface="Times New Roman"/>
                              <a:ea typeface="SimSun"/>
                              <a:cs typeface="Times New Roman"/>
                            </a:rPr>
                            <m:t>−0.484</m:t>
                          </m:r>
                        </m:sup>
                      </m:s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𝑊</m:t>
                          </m:r>
                        </m:e>
                        <m:sub>
                          <m:r>
                            <a:rPr lang="en-US" altLang="zh-CN" sz="1600" i="1">
                              <a:latin typeface="Times New Roman"/>
                              <a:ea typeface="SimSun"/>
                              <a:cs typeface="Times New Roman"/>
                            </a:rPr>
                            <m:t>𝑒</m:t>
                          </m:r>
                        </m:sub>
                        <m:sup>
                          <m:r>
                            <a:rPr lang="en-US" altLang="zh-CN" sz="1600" i="1">
                              <a:latin typeface="Times New Roman"/>
                              <a:ea typeface="SimSun"/>
                              <a:cs typeface="Times New Roman"/>
                            </a:rPr>
                            <m:t>0.043</m:t>
                          </m:r>
                        </m:sup>
                      </m:sSub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𝑅𝑒</m:t>
                          </m:r>
                        </m:e>
                        <m:sub>
                          <m:r>
                            <a:rPr lang="en-US" altLang="zh-CN" sz="1600" i="1">
                              <a:latin typeface="Times New Roman"/>
                              <a:ea typeface="SimSun"/>
                              <a:cs typeface="Times New Roman"/>
                            </a:rPr>
                            <m:t>𝑝</m:t>
                          </m:r>
                        </m:sub>
                        <m:sup>
                          <m:r>
                            <a:rPr lang="en-US" altLang="zh-CN" sz="1600" i="1">
                              <a:latin typeface="Times New Roman"/>
                              <a:ea typeface="SimSun"/>
                              <a:cs typeface="Times New Roman"/>
                            </a:rPr>
                            <m:t>−0.065</m:t>
                          </m:r>
                        </m:sup>
                      </m:sSubSup>
                    </m:oMath>
                  </m:oMathPara>
                </a14:m>
                <a:endParaRPr lang="zh-CN" altLang="zh-CN" sz="1600" dirty="0">
                  <a:latin typeface="Times New Roman"/>
                  <a:ea typeface="SimSun"/>
                  <a:cs typeface="Times New Roman"/>
                </a:endParaRPr>
              </a:p>
            </p:txBody>
          </p:sp>
        </mc:Choice>
        <mc:Fallback xmlns="">
          <p:sp>
            <p:nvSpPr>
              <p:cNvPr id="41" name="矩形 40">
                <a:extLst>
                  <a:ext uri="{FF2B5EF4-FFF2-40B4-BE49-F238E27FC236}">
                    <a16:creationId xmlns:a16="http://schemas.microsoft.com/office/drawing/2014/main" id="{498D7BEB-7674-4C14-9BA3-FC1800626FB4}"/>
                  </a:ext>
                </a:extLst>
              </p:cNvPr>
              <p:cNvSpPr>
                <a:spLocks noRot="1" noChangeAspect="1" noMove="1" noResize="1" noEditPoints="1" noAdjustHandles="1" noChangeArrowheads="1" noChangeShapeType="1" noTextEdit="1"/>
              </p:cNvSpPr>
              <p:nvPr/>
            </p:nvSpPr>
            <p:spPr>
              <a:xfrm>
                <a:off x="1129740" y="4188537"/>
                <a:ext cx="4750666" cy="595228"/>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p:sp>
        <p:nvSpPr>
          <p:cNvPr id="2" name="Rectangle 2">
            <a:extLst>
              <a:ext uri="{FF2B5EF4-FFF2-40B4-BE49-F238E27FC236}">
                <a16:creationId xmlns:a16="http://schemas.microsoft.com/office/drawing/2014/main" id="{2A1D18B0-DD8A-40D3-BED3-BC78BF78310A}"/>
              </a:ext>
            </a:extLst>
          </p:cNvPr>
          <p:cNvSpPr>
            <a:spLocks noChangeArrowheads="1"/>
          </p:cNvSpPr>
          <p:nvPr/>
        </p:nvSpPr>
        <p:spPr bwMode="auto">
          <a:xfrm>
            <a:off x="6126515" y="102713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4" name="矩形 43">
            <a:extLst>
              <a:ext uri="{FF2B5EF4-FFF2-40B4-BE49-F238E27FC236}">
                <a16:creationId xmlns:a16="http://schemas.microsoft.com/office/drawing/2014/main" id="{0CF10C1C-9B67-4E7E-BA3A-642DB8DBB3A0}"/>
              </a:ext>
            </a:extLst>
          </p:cNvPr>
          <p:cNvSpPr/>
          <p:nvPr/>
        </p:nvSpPr>
        <p:spPr>
          <a:xfrm>
            <a:off x="9747905" y="2833839"/>
            <a:ext cx="130302" cy="9592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sp>
        <p:nvSpPr>
          <p:cNvPr id="45" name="矩形 44">
            <a:extLst>
              <a:ext uri="{FF2B5EF4-FFF2-40B4-BE49-F238E27FC236}">
                <a16:creationId xmlns:a16="http://schemas.microsoft.com/office/drawing/2014/main" id="{444B6EC6-EA5E-48C6-ADA7-EAEF2EBCF809}"/>
              </a:ext>
            </a:extLst>
          </p:cNvPr>
          <p:cNvSpPr/>
          <p:nvPr/>
        </p:nvSpPr>
        <p:spPr>
          <a:xfrm>
            <a:off x="7717832" y="4612288"/>
            <a:ext cx="3013668"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8.4 </a:t>
            </a:r>
            <a:r>
              <a:rPr lang="en-HK" sz="1200" dirty="0">
                <a:latin typeface="Times New Roman" panose="02020603050405020304" pitchFamily="18" charset="0"/>
                <a:ea typeface="SimSun"/>
                <a:cs typeface="Times New Roman" panose="02020603050405020304" pitchFamily="18" charset="0"/>
              </a:rPr>
              <a:t>Nozzle spray characteristics</a:t>
            </a:r>
          </a:p>
        </p:txBody>
      </p:sp>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FD23F5F-A11C-43E3-B85B-3FE693F07103}"/>
                  </a:ext>
                </a:extLst>
              </p:cNvPr>
              <p:cNvSpPr/>
              <p:nvPr/>
            </p:nvSpPr>
            <p:spPr>
              <a:xfrm>
                <a:off x="6763482" y="5130995"/>
                <a:ext cx="5091236" cy="115493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Ideal object: nozzle with a orifice diameter of </a:t>
                </a:r>
                <a:r>
                  <a:rPr lang="en-HK" sz="1600" dirty="0">
                    <a:solidFill>
                      <a:srgbClr val="A60626"/>
                    </a:solidFill>
                    <a:latin typeface="Times New Roman" panose="02020603050405020304" pitchFamily="18" charset="0"/>
                    <a:ea typeface="SimSun" panose="02010600030101010101" pitchFamily="2" charset="-122"/>
                    <a:cs typeface="Times New Roman"/>
                  </a:rPr>
                  <a:t>3.0 mm</a:t>
                </a:r>
              </a:p>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Operating condition: at a pressure of </a:t>
                </a:r>
                <a:r>
                  <a:rPr lang="en-HK" sz="1600" dirty="0">
                    <a:solidFill>
                      <a:srgbClr val="A60626"/>
                    </a:solidFill>
                    <a:latin typeface="Times New Roman" panose="02020603050405020304" pitchFamily="18" charset="0"/>
                    <a:ea typeface="SimSun" panose="02010600030101010101" pitchFamily="2" charset="-122"/>
                    <a:cs typeface="Times New Roman"/>
                  </a:rPr>
                  <a:t>1.5 bar</a:t>
                </a:r>
                <a:r>
                  <a:rPr lang="en-HK" sz="1600" dirty="0">
                    <a:latin typeface="Times New Roman" panose="02020603050405020304" pitchFamily="18" charset="0"/>
                    <a:ea typeface="SimSun" panose="02010600030101010101" pitchFamily="2" charset="-122"/>
                    <a:cs typeface="Times New Roman"/>
                  </a:rPr>
                  <a:t>, the spray flow rate is </a:t>
                </a:r>
                <a:r>
                  <a:rPr lang="en-HK" sz="1600" dirty="0">
                    <a:solidFill>
                      <a:srgbClr val="A60626"/>
                    </a:solidFill>
                    <a:latin typeface="Times New Roman" panose="02020603050405020304" pitchFamily="18" charset="0"/>
                    <a:ea typeface="SimSun" panose="02010600030101010101" pitchFamily="2" charset="-122"/>
                    <a:cs typeface="Times New Roman"/>
                  </a:rPr>
                  <a:t>5.4 L/min, </a:t>
                </a:r>
                <a:r>
                  <a:rPr lang="en-HK" sz="1600" dirty="0">
                    <a:latin typeface="Times New Roman" panose="02020603050405020304" pitchFamily="18" charset="0"/>
                    <a:ea typeface="SimSun" panose="02010600030101010101" pitchFamily="2" charset="-122"/>
                    <a:cs typeface="Times New Roman"/>
                  </a:rPr>
                  <a:t>the spray cone angle is </a:t>
                </a:r>
                <a:r>
                  <a:rPr lang="en-HK" sz="1600" dirty="0">
                    <a:solidFill>
                      <a:srgbClr val="A60626"/>
                    </a:solidFill>
                    <a:latin typeface="Times New Roman" panose="02020603050405020304" pitchFamily="18" charset="0"/>
                    <a:ea typeface="SimSun" panose="02010600030101010101" pitchFamily="2" charset="-122"/>
                    <a:cs typeface="Times New Roman"/>
                  </a:rPr>
                  <a:t>68</a:t>
                </a:r>
                <a14:m>
                  <m:oMath xmlns:m="http://schemas.openxmlformats.org/officeDocument/2006/math">
                    <m:r>
                      <a:rPr lang="en-HK" sz="1600">
                        <a:solidFill>
                          <a:srgbClr val="A60626"/>
                        </a:solidFill>
                        <a:latin typeface="Times New Roman" panose="02040503050406030204" pitchFamily="18" charset="0"/>
                        <a:ea typeface="SimSun" panose="02010600030101010101" pitchFamily="2" charset="-122"/>
                        <a:cs typeface="Times New Roman" panose="02020603050405020304" pitchFamily="18" charset="0"/>
                      </a:rPr>
                      <m:t>°</m:t>
                    </m:r>
                  </m:oMath>
                </a14:m>
                <a:r>
                  <a:rPr lang="en-HK" sz="1600" dirty="0">
                    <a:solidFill>
                      <a:srgbClr val="A60626"/>
                    </a:solidFill>
                    <a:latin typeface="Times New Roman" panose="02020603050405020304" pitchFamily="18" charset="0"/>
                    <a:ea typeface="SimSun" panose="02010600030101010101" pitchFamily="2" charset="-122"/>
                    <a:cs typeface="Times New Roman"/>
                  </a:rPr>
                  <a:t>. </a:t>
                </a:r>
                <a:endParaRPr lang="en-HK" sz="1600" dirty="0">
                  <a:latin typeface="Times New Roman"/>
                  <a:ea typeface="SimSun"/>
                  <a:cs typeface="Times New Roman"/>
                </a:endParaRPr>
              </a:p>
            </p:txBody>
          </p:sp>
        </mc:Choice>
        <mc:Fallback xmlns="">
          <p:sp>
            <p:nvSpPr>
              <p:cNvPr id="46" name="矩形 45">
                <a:extLst>
                  <a:ext uri="{FF2B5EF4-FFF2-40B4-BE49-F238E27FC236}">
                    <a16:creationId xmlns:a16="http://schemas.microsoft.com/office/drawing/2014/main" id="{6FD23F5F-A11C-43E3-B85B-3FE693F07103}"/>
                  </a:ext>
                </a:extLst>
              </p:cNvPr>
              <p:cNvSpPr>
                <a:spLocks noRot="1" noChangeAspect="1" noMove="1" noResize="1" noEditPoints="1" noAdjustHandles="1" noChangeArrowheads="1" noChangeShapeType="1" noTextEdit="1"/>
              </p:cNvSpPr>
              <p:nvPr/>
            </p:nvSpPr>
            <p:spPr>
              <a:xfrm>
                <a:off x="6763482" y="5130995"/>
                <a:ext cx="5091236" cy="1154932"/>
              </a:xfrm>
              <a:prstGeom prst="rect">
                <a:avLst/>
              </a:prstGeom>
              <a:blipFill>
                <a:blip r:embed="rId10"/>
                <a:stretch>
                  <a:fillRect l="-478" r="-598" b="-6349"/>
                </a:stretch>
              </a:blipFill>
            </p:spPr>
            <p:txBody>
              <a:bodyPr/>
              <a:lstStyle/>
              <a:p>
                <a:r>
                  <a:rPr lang="en-US">
                    <a:noFill/>
                    <a:latin typeface="Times New Roman"/>
                    <a:ea typeface="SimSun"/>
                    <a:cs typeface="Times New Roman"/>
                  </a:rPr>
                  <a:t> </a:t>
                </a:r>
              </a:p>
            </p:txBody>
          </p:sp>
        </mc:Fallback>
      </mc:AlternateContent>
      <p:sp>
        <p:nvSpPr>
          <p:cNvPr id="48" name="箭头: 燕尾形 47">
            <a:extLst>
              <a:ext uri="{FF2B5EF4-FFF2-40B4-BE49-F238E27FC236}">
                <a16:creationId xmlns:a16="http://schemas.microsoft.com/office/drawing/2014/main" id="{8C7B6167-F2DA-43F8-A95A-3128EDD58F75}"/>
              </a:ext>
            </a:extLst>
          </p:cNvPr>
          <p:cNvSpPr/>
          <p:nvPr/>
        </p:nvSpPr>
        <p:spPr bwMode="auto">
          <a:xfrm rot="5400000">
            <a:off x="3259091" y="4888241"/>
            <a:ext cx="491963" cy="217058"/>
          </a:xfrm>
          <a:prstGeom prst="notchedRightArrow">
            <a:avLst/>
          </a:prstGeom>
          <a:solidFill>
            <a:srgbClr val="A6062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3" name="灯片编号占位符 2">
            <a:extLst>
              <a:ext uri="{FF2B5EF4-FFF2-40B4-BE49-F238E27FC236}">
                <a16:creationId xmlns:a16="http://schemas.microsoft.com/office/drawing/2014/main" id="{E147FB26-A310-475E-979C-ED0EBD2DAA3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31</a:t>
            </a:fld>
            <a:endParaRPr lang="en-US" altLang="zh-CN">
              <a:latin typeface="Times New Roman"/>
              <a:ea typeface="SimSun"/>
              <a:cs typeface="Times New Roman"/>
            </a:endParaRPr>
          </a:p>
        </p:txBody>
      </p:sp>
      <p:sp>
        <p:nvSpPr>
          <p:cNvPr id="4" name="Rectangle 219">
            <a:extLst>
              <a:ext uri="{FF2B5EF4-FFF2-40B4-BE49-F238E27FC236}">
                <a16:creationId xmlns:a16="http://schemas.microsoft.com/office/drawing/2014/main" id="{CD6700ED-B3FA-4462-8647-7EC8905D8390}"/>
              </a:ext>
            </a:extLst>
          </p:cNvPr>
          <p:cNvSpPr>
            <a:spLocks noChangeArrowheads="1"/>
          </p:cNvSpPr>
          <p:nvPr/>
        </p:nvSpPr>
        <p:spPr bwMode="auto">
          <a:xfrm>
            <a:off x="6301898" y="12045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4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喷雾特性</a:t>
            </a:r>
          </a:p>
        </p:txBody>
      </p:sp>
      <p:sp>
        <p:nvSpPr>
          <p:cNvPr id="5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Spray characteristics</a:t>
            </a:r>
          </a:p>
        </p:txBody>
      </p:sp>
      <p:sp>
        <p:nvSpPr>
          <p:cNvPr id="5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5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53" name="矩形 15">
            <a:extLst>
              <a:ext uri="{FF2B5EF4-FFF2-40B4-BE49-F238E27FC236}">
                <a16:creationId xmlns:a16="http://schemas.microsoft.com/office/drawing/2014/main" id="{EF24F0BF-8D97-4EA2-97A8-A5EA06AB6A50}"/>
              </a:ext>
            </a:extLst>
          </p:cNvPr>
          <p:cNvSpPr/>
          <p:nvPr/>
        </p:nvSpPr>
        <p:spPr>
          <a:xfrm>
            <a:off x="1394618" y="5120640"/>
            <a:ext cx="5212080" cy="574040"/>
          </a:xfrm>
          <a:prstGeom prst="rect">
            <a:avLst/>
          </a:prstGeom>
          <a:ln>
            <a:noFill/>
          </a:ln>
        </p:spPr>
        <p:txBody>
          <a:bodyPr wrap="square" lIns="0" rIns="0" tIns="0" bIns="0">
            <a:noAutofit/>
          </a:bodyPr>
          <a:lstStyle/>
          <a:p>
            <a:pPr marL="0" indent="0" algn="l">
              <a:lnSpc>
                <a:spcPct val="108000"/>
              </a:lnSpc>
              <a:buNone/>
            </a:pPr>
            <a:r>
              <a:rPr lang="en-HK" sz="1500" dirty="0">
                <a:latin typeface="Times New Roman" panose="02020603050405020304" pitchFamily="18" charset="0"/>
                <a:ea typeface="SimSun" panose="02010600030101010101" pitchFamily="2" charset="-122"/>
                <a:cs typeface="Times New Roman" panose="02020603050405020304" pitchFamily="18" charset="0"/>
              </a:rPr>
              <a:t>The parameters are </a:t>
            </a:r>
            <a:r>
              <a:rPr lang="en-HK" sz="1500"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interrelated</a:t>
            </a:r>
            <a:r>
              <a:rPr lang="en-HK" sz="1500" dirty="0">
                <a:latin typeface="Times New Roman" panose="02020603050405020304" pitchFamily="18" charset="0"/>
                <a:ea typeface="SimSun" panose="02010600030101010101" pitchFamily="2" charset="-122"/>
                <a:cs typeface="Times New Roman" panose="02020603050405020304" pitchFamily="18" charset="0"/>
              </a:rPr>
              <a:t> and cannot be adjusted individually.</a:t>
            </a:r>
          </a:p>
        </p:txBody>
      </p:sp>
      <p:sp>
        <p:nvSpPr>
          <p:cNvPr id="54" name="TextBox 1"/>
          <p:cNvSpPr txBox="1"/>
          <p:nvPr/>
        </p:nvSpPr>
        <p:spPr>
          <a:xfrm>
            <a:off x="1394618" y="5378957"/>
            <a:ext cx="5212080" cy="315722"/>
          </a:xfrm>
          <a:prstGeom prst="rect">
            <a:avLst/>
          </a:prstGeom>
          <a:noFill/>
        </p:spPr>
        <p:txBody>
          <a:bodyPr wrap="square" lIns="0" rIns="0" tIns="0" bIns="0">
            <a:spAutoFit/>
          </a:bodyPr>
          <a:lstStyle/>
          <a:p>
            <a:pPr>
              <a:lnSpc>
                <a:spcPct val="105000"/>
              </a:lnSpc>
              <a:spcAft>
                <a:spcPts val="0"/>
              </a:spcAft>
            </a:pPr>
            <a:r>
              <a:rPr sz="1500" b="0">
                <a:solidFill>
                  <a:srgbClr val="24425A"/>
                </a:solidFill>
                <a:latin typeface="Times New Roman"/>
                <a:ea typeface="SimSun"/>
                <a:cs typeface="Times New Roman"/>
              </a:rPr>
              <a:t>喷淋参数相互耦合，需综合优化水膜覆盖率。</a:t>
            </a:r>
          </a:p>
        </p:txBody>
      </p:sp>
      <p:sp>
        <p:nvSpPr>
          <p:cNvPr id="55" name="矩形 15">
            <a:extLst>
              <a:ext uri="{FF2B5EF4-FFF2-40B4-BE49-F238E27FC236}">
                <a16:creationId xmlns:a16="http://schemas.microsoft.com/office/drawing/2014/main" id="{EF24F0BF-8D97-4EA2-97A8-A5EA06AB6A50}"/>
              </a:ext>
            </a:extLst>
          </p:cNvPr>
          <p:cNvSpPr/>
          <p:nvPr/>
        </p:nvSpPr>
        <p:spPr>
          <a:xfrm>
            <a:off x="1394618" y="5694680"/>
            <a:ext cx="5212080" cy="574040"/>
          </a:xfrm>
          <a:prstGeom prst="rect">
            <a:avLst/>
          </a:prstGeom>
          <a:ln>
            <a:noFill/>
          </a:ln>
        </p:spPr>
        <p:txBody>
          <a:bodyPr wrap="square" lIns="0" rIns="0" tIns="0" bIns="0">
            <a:noAutofit/>
          </a:bodyPr>
          <a:lstStyle/>
          <a:p>
            <a:pPr marL="0" indent="0" algn="l">
              <a:lnSpc>
                <a:spcPct val="108000"/>
              </a:lnSpc>
              <a:buNone/>
            </a:pPr>
            <a:r>
              <a:rPr lang="en-HK" sz="1500" dirty="0">
                <a:latin typeface="Times New Roman" panose="02020603050405020304" pitchFamily="18" charset="0"/>
                <a:ea typeface="SimSun" panose="02010600030101010101" pitchFamily="2" charset="-122"/>
                <a:cs typeface="Times New Roman" panose="02020603050405020304" pitchFamily="18" charset="0"/>
              </a:rPr>
              <a:t>Maximise the film coverage and to </a:t>
            </a:r>
            <a:r>
              <a:rPr lang="en-HK" sz="1500"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balance the effects </a:t>
            </a:r>
            <a:r>
              <a:rPr lang="en-HK" sz="1500" dirty="0">
                <a:latin typeface="Times New Roman" panose="02020603050405020304" pitchFamily="18" charset="0"/>
                <a:ea typeface="SimSun" panose="02010600030101010101" pitchFamily="2" charset="-122"/>
                <a:cs typeface="Times New Roman" panose="02020603050405020304" pitchFamily="18" charset="0"/>
              </a:rPr>
              <a:t>of each factor. </a:t>
            </a:r>
          </a:p>
        </p:txBody>
      </p:sp>
    </p:spTree>
    <p:extLst>
      <p:ext uri="{BB962C8B-B14F-4D97-AF65-F5344CB8AC3E}">
        <p14:creationId xmlns:p14="http://schemas.microsoft.com/office/powerpoint/2010/main" val="32316251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16DBDCFE-81FA-4E17-AC4F-30B829BBCC04}"/>
              </a:ext>
            </a:extLst>
          </p:cNvPr>
          <p:cNvGraphicFramePr>
            <a:graphicFrameLocks noChangeAspect="1"/>
          </p:cNvGraphicFramePr>
          <p:nvPr>
            <p:extLst>
              <p:ext uri="{D42A27DB-BD31-4B8C-83A1-F6EECF244321}">
                <p14:modId xmlns:p14="http://schemas.microsoft.com/office/powerpoint/2010/main" val="1271130512"/>
              </p:ext>
            </p:extLst>
          </p:nvPr>
        </p:nvGraphicFramePr>
        <p:xfrm>
          <a:off x="6907294" y="1369223"/>
          <a:ext cx="3749793" cy="3078461"/>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7294" y="1369223"/>
                        <a:ext cx="3749793" cy="3078461"/>
                      </a:xfrm>
                      <a:prstGeom prst="rect">
                        <a:avLst/>
                      </a:prstGeom>
                      <a:noFill/>
                    </p:spPr>
                  </p:pic>
                </p:oleObj>
              </mc:Fallback>
            </mc:AlternateContent>
          </a:graphicData>
        </a:graphic>
      </p:graphicFrame>
      <p:sp>
        <p:nvSpPr>
          <p:cNvPr id="15" name="矩形 14">
            <a:extLst>
              <a:ext uri="{FF2B5EF4-FFF2-40B4-BE49-F238E27FC236}">
                <a16:creationId xmlns:a16="http://schemas.microsoft.com/office/drawing/2014/main" id="{AEA956CB-BB35-41F6-9808-F4F1B9FC2426}"/>
              </a:ext>
            </a:extLst>
          </p:cNvPr>
          <p:cNvSpPr/>
          <p:nvPr/>
        </p:nvSpPr>
        <p:spPr>
          <a:xfrm>
            <a:off x="1008449" y="1564606"/>
            <a:ext cx="2589170"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Spray droplet diameter</a:t>
            </a:r>
          </a:p>
        </p:txBody>
      </p:sp>
      <p:pic>
        <p:nvPicPr>
          <p:cNvPr id="26" name="图片 25">
            <a:extLst>
              <a:ext uri="{FF2B5EF4-FFF2-40B4-BE49-F238E27FC236}">
                <a16:creationId xmlns:a16="http://schemas.microsoft.com/office/drawing/2014/main" id="{7ED8E8C8-93B1-4351-9FD6-ECD4D8E0A531}"/>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329421" y="2126191"/>
            <a:ext cx="1620000" cy="1620000"/>
          </a:xfrm>
          <a:prstGeom prst="rect">
            <a:avLst/>
          </a:prstGeom>
        </p:spPr>
      </p:pic>
      <p:pic>
        <p:nvPicPr>
          <p:cNvPr id="27" name="图片 26">
            <a:extLst>
              <a:ext uri="{FF2B5EF4-FFF2-40B4-BE49-F238E27FC236}">
                <a16:creationId xmlns:a16="http://schemas.microsoft.com/office/drawing/2014/main" id="{2CE8FED2-C2F7-4E4D-99E8-EB83FEFEBB28}"/>
              </a:ext>
            </a:extLst>
          </p:cNvPr>
          <p:cNvPicPr/>
          <p:nvPr/>
        </p:nvPicPr>
        <p:blipFill>
          <a:blip r:embed="rId6">
            <a:extLst>
              <a:ext uri="{28A0092B-C50C-407E-A947-70E740481C1C}">
                <a14:useLocalDpi xmlns:a14="http://schemas.microsoft.com/office/drawing/2010/main" val="0"/>
              </a:ext>
            </a:extLst>
          </a:blip>
          <a:stretch>
            <a:fillRect/>
          </a:stretch>
        </p:blipFill>
        <p:spPr>
          <a:xfrm>
            <a:off x="2949421" y="2126191"/>
            <a:ext cx="1620000" cy="1620000"/>
          </a:xfrm>
          <a:prstGeom prst="rect">
            <a:avLst/>
          </a:prstGeom>
        </p:spPr>
      </p:pic>
      <p:pic>
        <p:nvPicPr>
          <p:cNvPr id="28" name="图片 27">
            <a:extLst>
              <a:ext uri="{FF2B5EF4-FFF2-40B4-BE49-F238E27FC236}">
                <a16:creationId xmlns:a16="http://schemas.microsoft.com/office/drawing/2014/main" id="{2725080A-6028-4072-BDB6-A337A3C4877F}"/>
              </a:ext>
            </a:extLst>
          </p:cNvPr>
          <p:cNvPicPr/>
          <p:nvPr/>
        </p:nvPicPr>
        <p:blipFill>
          <a:blip r:embed="rId7">
            <a:extLst>
              <a:ext uri="{28A0092B-C50C-407E-A947-70E740481C1C}">
                <a14:useLocalDpi xmlns:a14="http://schemas.microsoft.com/office/drawing/2010/main" val="0"/>
              </a:ext>
            </a:extLst>
          </a:blip>
          <a:stretch>
            <a:fillRect/>
          </a:stretch>
        </p:blipFill>
        <p:spPr>
          <a:xfrm>
            <a:off x="4569421" y="2126191"/>
            <a:ext cx="1620000" cy="1620000"/>
          </a:xfrm>
          <a:prstGeom prst="rect">
            <a:avLst/>
          </a:prstGeom>
        </p:spPr>
      </p:pic>
      <p:pic>
        <p:nvPicPr>
          <p:cNvPr id="29" name="图片 28">
            <a:extLst>
              <a:ext uri="{FF2B5EF4-FFF2-40B4-BE49-F238E27FC236}">
                <a16:creationId xmlns:a16="http://schemas.microsoft.com/office/drawing/2014/main" id="{3B9B6799-980D-4FD3-AA4F-ACC6A840B3BD}"/>
              </a:ext>
            </a:extLst>
          </p:cNvPr>
          <p:cNvPicPr/>
          <p:nvPr/>
        </p:nvPicPr>
        <p:blipFill>
          <a:blip r:embed="rId8">
            <a:extLst>
              <a:ext uri="{28A0092B-C50C-407E-A947-70E740481C1C}">
                <a14:useLocalDpi xmlns:a14="http://schemas.microsoft.com/office/drawing/2010/main" val="0"/>
              </a:ext>
            </a:extLst>
          </a:blip>
          <a:stretch>
            <a:fillRect/>
          </a:stretch>
        </p:blipFill>
        <p:spPr>
          <a:xfrm>
            <a:off x="2143010" y="4092486"/>
            <a:ext cx="1620000" cy="1620000"/>
          </a:xfrm>
          <a:prstGeom prst="rect">
            <a:avLst/>
          </a:prstGeom>
        </p:spPr>
      </p:pic>
      <p:pic>
        <p:nvPicPr>
          <p:cNvPr id="30" name="图片 29">
            <a:extLst>
              <a:ext uri="{FF2B5EF4-FFF2-40B4-BE49-F238E27FC236}">
                <a16:creationId xmlns:a16="http://schemas.microsoft.com/office/drawing/2014/main" id="{48B64F94-DDC6-4427-912F-CC95066593A2}"/>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3787544" y="4092486"/>
            <a:ext cx="1620000" cy="1620000"/>
          </a:xfrm>
          <a:prstGeom prst="rect">
            <a:avLst/>
          </a:prstGeom>
        </p:spPr>
      </p:pic>
      <p:sp>
        <p:nvSpPr>
          <p:cNvPr id="31" name="矩形 30">
            <a:extLst>
              <a:ext uri="{FF2B5EF4-FFF2-40B4-BE49-F238E27FC236}">
                <a16:creationId xmlns:a16="http://schemas.microsoft.com/office/drawing/2014/main" id="{E3BB488C-8ABF-4576-923D-B78811EAA501}"/>
              </a:ext>
            </a:extLst>
          </p:cNvPr>
          <p:cNvSpPr/>
          <p:nvPr/>
        </p:nvSpPr>
        <p:spPr>
          <a:xfrm>
            <a:off x="2285011" y="6009569"/>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4.5.1 </a:t>
            </a:r>
            <a:r>
              <a:rPr lang="en-HK" sz="1200" dirty="0">
                <a:latin typeface="Times New Roman" panose="02020603050405020304" pitchFamily="18" charset="0"/>
                <a:ea typeface="SimSun"/>
                <a:cs typeface="Times New Roman" panose="02020603050405020304" pitchFamily="18" charset="0"/>
              </a:rPr>
              <a:t>Coverage area with different diameter</a:t>
            </a:r>
          </a:p>
        </p:txBody>
      </p:sp>
      <p:sp>
        <p:nvSpPr>
          <p:cNvPr id="33" name="矩形 32">
            <a:extLst>
              <a:ext uri="{FF2B5EF4-FFF2-40B4-BE49-F238E27FC236}">
                <a16:creationId xmlns:a16="http://schemas.microsoft.com/office/drawing/2014/main" id="{F06103F3-88F8-430B-9F75-03F3A91EA4A9}"/>
              </a:ext>
            </a:extLst>
          </p:cNvPr>
          <p:cNvSpPr/>
          <p:nvPr/>
        </p:nvSpPr>
        <p:spPr>
          <a:xfrm>
            <a:off x="1688497" y="3712129"/>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0.05 mm</a:t>
            </a:r>
          </a:p>
        </p:txBody>
      </p:sp>
      <p:sp>
        <p:nvSpPr>
          <p:cNvPr id="36" name="矩形 35">
            <a:extLst>
              <a:ext uri="{FF2B5EF4-FFF2-40B4-BE49-F238E27FC236}">
                <a16:creationId xmlns:a16="http://schemas.microsoft.com/office/drawing/2014/main" id="{3E4945EF-DD5F-4ADB-8B02-F9267F83AF24}"/>
              </a:ext>
            </a:extLst>
          </p:cNvPr>
          <p:cNvSpPr/>
          <p:nvPr/>
        </p:nvSpPr>
        <p:spPr>
          <a:xfrm>
            <a:off x="3253571" y="3746192"/>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0.15 mm</a:t>
            </a:r>
          </a:p>
        </p:txBody>
      </p:sp>
      <p:sp>
        <p:nvSpPr>
          <p:cNvPr id="37" name="矩形 36">
            <a:extLst>
              <a:ext uri="{FF2B5EF4-FFF2-40B4-BE49-F238E27FC236}">
                <a16:creationId xmlns:a16="http://schemas.microsoft.com/office/drawing/2014/main" id="{B3DF0DDD-4B46-41EB-AFE4-E102B4A71FB6}"/>
              </a:ext>
            </a:extLst>
          </p:cNvPr>
          <p:cNvSpPr/>
          <p:nvPr/>
        </p:nvSpPr>
        <p:spPr>
          <a:xfrm>
            <a:off x="4941576" y="3746192"/>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0.25 mm</a:t>
            </a:r>
          </a:p>
        </p:txBody>
      </p:sp>
      <p:sp>
        <p:nvSpPr>
          <p:cNvPr id="38" name="矩形 37">
            <a:extLst>
              <a:ext uri="{FF2B5EF4-FFF2-40B4-BE49-F238E27FC236}">
                <a16:creationId xmlns:a16="http://schemas.microsoft.com/office/drawing/2014/main" id="{10CCBC60-5AED-4E93-9213-58255C146CEB}"/>
              </a:ext>
            </a:extLst>
          </p:cNvPr>
          <p:cNvSpPr/>
          <p:nvPr/>
        </p:nvSpPr>
        <p:spPr>
          <a:xfrm>
            <a:off x="2456628" y="5736043"/>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0.35 mm</a:t>
            </a:r>
          </a:p>
        </p:txBody>
      </p:sp>
      <p:sp>
        <p:nvSpPr>
          <p:cNvPr id="39" name="矩形 38">
            <a:extLst>
              <a:ext uri="{FF2B5EF4-FFF2-40B4-BE49-F238E27FC236}">
                <a16:creationId xmlns:a16="http://schemas.microsoft.com/office/drawing/2014/main" id="{1F95D3C9-D347-418E-B5B3-35C316F5F777}"/>
              </a:ext>
            </a:extLst>
          </p:cNvPr>
          <p:cNvSpPr/>
          <p:nvPr/>
        </p:nvSpPr>
        <p:spPr>
          <a:xfrm>
            <a:off x="4076628" y="5736043"/>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0.45 mm</a:t>
            </a:r>
          </a:p>
        </p:txBody>
      </p:sp>
      <p:sp>
        <p:nvSpPr>
          <p:cNvPr id="23" name="Rectangle 12">
            <a:extLst>
              <a:ext uri="{FF2B5EF4-FFF2-40B4-BE49-F238E27FC236}">
                <a16:creationId xmlns:a16="http://schemas.microsoft.com/office/drawing/2014/main" id="{A98DDBF6-D20F-4EA3-8782-CE156D7E8412}"/>
              </a:ext>
            </a:extLst>
          </p:cNvPr>
          <p:cNvSpPr>
            <a:spLocks noChangeArrowheads="1"/>
          </p:cNvSpPr>
          <p:nvPr/>
        </p:nvSpPr>
        <p:spPr bwMode="auto">
          <a:xfrm>
            <a:off x="6368996" y="172615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2" name="矩形 41">
            <a:extLst>
              <a:ext uri="{FF2B5EF4-FFF2-40B4-BE49-F238E27FC236}">
                <a16:creationId xmlns:a16="http://schemas.microsoft.com/office/drawing/2014/main" id="{FF8964B0-E1C9-40E5-B879-54D0D044323B}"/>
              </a:ext>
            </a:extLst>
          </p:cNvPr>
          <p:cNvSpPr/>
          <p:nvPr/>
        </p:nvSpPr>
        <p:spPr>
          <a:xfrm>
            <a:off x="7399937" y="436356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4.5.2 </a:t>
            </a:r>
            <a:r>
              <a:rPr lang="en-HK" sz="1200" dirty="0">
                <a:latin typeface="Times New Roman" panose="02020603050405020304" pitchFamily="18" charset="0"/>
                <a:ea typeface="SimSun"/>
                <a:cs typeface="Times New Roman" panose="02020603050405020304" pitchFamily="18" charset="0"/>
              </a:rPr>
              <a:t>Coverage ratio with different diameter</a:t>
            </a:r>
          </a:p>
        </p:txBody>
      </p:sp>
      <p:sp>
        <p:nvSpPr>
          <p:cNvPr id="44" name="椭圆 43">
            <a:extLst>
              <a:ext uri="{FF2B5EF4-FFF2-40B4-BE49-F238E27FC236}">
                <a16:creationId xmlns:a16="http://schemas.microsoft.com/office/drawing/2014/main" id="{EA761F19-2622-41F4-A302-E870D640F2E3}"/>
              </a:ext>
            </a:extLst>
          </p:cNvPr>
          <p:cNvSpPr/>
          <p:nvPr/>
        </p:nvSpPr>
        <p:spPr>
          <a:xfrm>
            <a:off x="8738750" y="1634755"/>
            <a:ext cx="413876" cy="2457731"/>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3" name="灯片编号占位符 2">
            <a:extLst>
              <a:ext uri="{FF2B5EF4-FFF2-40B4-BE49-F238E27FC236}">
                <a16:creationId xmlns:a16="http://schemas.microsoft.com/office/drawing/2014/main" id="{1BB02FD7-DB76-4A6C-9C77-68CD6D0D439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32</a:t>
            </a:fld>
            <a:endParaRPr lang="en-US" altLang="zh-CN">
              <a:latin typeface="Times New Roman"/>
              <a:ea typeface="SimSun"/>
              <a:cs typeface="Times New Roman"/>
            </a:endParaRPr>
          </a:p>
        </p:txBody>
      </p:sp>
      <p:sp>
        <p:nvSpPr>
          <p:cNvPr id="5" name="Rectangle 219">
            <a:extLst>
              <a:ext uri="{FF2B5EF4-FFF2-40B4-BE49-F238E27FC236}">
                <a16:creationId xmlns:a16="http://schemas.microsoft.com/office/drawing/2014/main" id="{BD433699-E2A8-4B25-9DCD-2DBDF2D9E730}"/>
              </a:ext>
            </a:extLst>
          </p:cNvPr>
          <p:cNvSpPr>
            <a:spLocks noChangeArrowheads="1"/>
          </p:cNvSpPr>
          <p:nvPr/>
        </p:nvSpPr>
        <p:spPr bwMode="auto">
          <a:xfrm>
            <a:off x="6819999" y="8903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34" name="矩形 33">
            <a:extLst>
              <a:ext uri="{FF2B5EF4-FFF2-40B4-BE49-F238E27FC236}">
                <a16:creationId xmlns:a16="http://schemas.microsoft.com/office/drawing/2014/main" id="{316E71C9-ED78-49D5-A467-40E77F824EF6}"/>
              </a:ext>
            </a:extLst>
          </p:cNvPr>
          <p:cNvSpPr/>
          <p:nvPr/>
        </p:nvSpPr>
        <p:spPr bwMode="auto">
          <a:xfrm>
            <a:off x="6819999" y="4713216"/>
            <a:ext cx="4568260" cy="1674447"/>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4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单喷嘴参数的影响</a:t>
            </a:r>
          </a:p>
        </p:txBody>
      </p:sp>
      <p:sp>
        <p:nvSpPr>
          <p:cNvPr id="4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4.5.1 Influence for single nozzle</a:t>
            </a:r>
          </a:p>
        </p:txBody>
      </p:sp>
      <p:sp>
        <p:nvSpPr>
          <p:cNvPr id="4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4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49" name="矩形 42">
            <a:extLst>
              <a:ext uri="{FF2B5EF4-FFF2-40B4-BE49-F238E27FC236}">
                <a16:creationId xmlns:a16="http://schemas.microsoft.com/office/drawing/2014/main" id="{13B2A23D-C721-44F2-B96D-620ED4B34ED1}"/>
              </a:ext>
            </a:extLst>
          </p:cNvPr>
          <p:cNvSpPr/>
          <p:nvPr/>
        </p:nvSpPr>
        <p:spPr>
          <a:xfrm>
            <a:off x="6952534" y="4849250"/>
            <a:ext cx="4400184" cy="704342"/>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Droplet flow is</a:t>
            </a:r>
            <a:r>
              <a:rPr lang="en-HK" sz="1300" dirty="0">
                <a:solidFill>
                  <a:srgbClr val="AF1E3B"/>
                </a:solidFill>
                <a:latin typeface="Times New Roman" panose="02020603050405020304" pitchFamily="18" charset="0"/>
                <a:ea typeface="SimSun"/>
                <a:cs typeface="Times New Roman" panose="02020603050405020304" pitchFamily="18" charset="0"/>
              </a:rPr>
              <a:t> </a:t>
            </a:r>
            <a:r>
              <a:rPr lang="en-HK" sz="1300" b="1" dirty="0">
                <a:solidFill>
                  <a:srgbClr val="AF1E3B"/>
                </a:solidFill>
                <a:latin typeface="Times New Roman" panose="02020603050405020304" pitchFamily="18" charset="0"/>
                <a:ea typeface="SimSun"/>
                <a:cs typeface="Times New Roman" panose="02020603050405020304" pitchFamily="18" charset="0"/>
              </a:rPr>
              <a:t>counter-current</a:t>
            </a:r>
            <a:r>
              <a:rPr lang="en-HK" sz="1300" dirty="0">
                <a:solidFill>
                  <a:srgbClr val="AF1E3B"/>
                </a:solidFill>
                <a:latin typeface="Times New Roman" panose="02020603050405020304" pitchFamily="18" charset="0"/>
                <a:ea typeface="SimSun"/>
                <a:cs typeface="Times New Roman" panose="02020603050405020304" pitchFamily="18" charset="0"/>
              </a:rPr>
              <a:t> </a:t>
            </a:r>
            <a:r>
              <a:rPr lang="en-HK" sz="1300" dirty="0">
                <a:latin typeface="Times New Roman" panose="02020603050405020304" pitchFamily="18" charset="0"/>
                <a:ea typeface="SimSun"/>
                <a:cs typeface="Times New Roman" panose="02020603050405020304" pitchFamily="18" charset="0"/>
              </a:rPr>
              <a:t>to the airflow.</a:t>
            </a:r>
          </a:p>
        </p:txBody>
      </p:sp>
      <p:sp>
        <p:nvSpPr>
          <p:cNvPr id="50" name="TextBox 1"/>
          <p:cNvSpPr txBox="1"/>
          <p:nvPr/>
        </p:nvSpPr>
        <p:spPr>
          <a:xfrm>
            <a:off x="6952534" y="5078612"/>
            <a:ext cx="4400184" cy="474979"/>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液滴过小易被气流吹离；过大则可能在接触板面前滑出湿通道。</a:t>
            </a:r>
          </a:p>
        </p:txBody>
      </p:sp>
      <p:sp>
        <p:nvSpPr>
          <p:cNvPr id="51" name="矩形 42">
            <a:extLst>
              <a:ext uri="{FF2B5EF4-FFF2-40B4-BE49-F238E27FC236}">
                <a16:creationId xmlns:a16="http://schemas.microsoft.com/office/drawing/2014/main" id="{13B2A23D-C721-44F2-B96D-620ED4B34ED1}"/>
              </a:ext>
            </a:extLst>
          </p:cNvPr>
          <p:cNvSpPr/>
          <p:nvPr/>
        </p:nvSpPr>
        <p:spPr>
          <a:xfrm>
            <a:off x="6952534" y="5553592"/>
            <a:ext cx="4400184" cy="327914"/>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Too small, be </a:t>
            </a:r>
            <a:r>
              <a:rPr lang="en-HK" sz="1300" b="1" dirty="0">
                <a:solidFill>
                  <a:srgbClr val="A60626"/>
                </a:solidFill>
                <a:latin typeface="Times New Roman" panose="02020603050405020304" pitchFamily="18" charset="0"/>
                <a:ea typeface="SimSun"/>
                <a:cs typeface="Times New Roman" panose="02020603050405020304" pitchFamily="18" charset="0"/>
              </a:rPr>
              <a:t>blown away </a:t>
            </a:r>
            <a:r>
              <a:rPr lang="en-HK" sz="1300" dirty="0">
                <a:latin typeface="Times New Roman" panose="02020603050405020304" pitchFamily="18" charset="0"/>
                <a:ea typeface="SimSun"/>
                <a:cs typeface="Times New Roman" panose="02020603050405020304" pitchFamily="18" charset="0"/>
              </a:rPr>
              <a:t>before contact with the plate surface.</a:t>
            </a:r>
          </a:p>
        </p:txBody>
      </p:sp>
      <p:sp>
        <p:nvSpPr>
          <p:cNvPr id="52" name="矩形 42">
            <a:extLst>
              <a:ext uri="{FF2B5EF4-FFF2-40B4-BE49-F238E27FC236}">
                <a16:creationId xmlns:a16="http://schemas.microsoft.com/office/drawing/2014/main" id="{13B2A23D-C721-44F2-B96D-620ED4B34ED1}"/>
              </a:ext>
            </a:extLst>
          </p:cNvPr>
          <p:cNvSpPr/>
          <p:nvPr/>
        </p:nvSpPr>
        <p:spPr>
          <a:xfrm>
            <a:off x="6952534" y="5881506"/>
            <a:ext cx="4400184" cy="516128"/>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Two large, </a:t>
            </a:r>
            <a:r>
              <a:rPr lang="en-HK" sz="1300" b="1" dirty="0">
                <a:solidFill>
                  <a:srgbClr val="A60626"/>
                </a:solidFill>
                <a:latin typeface="Times New Roman" panose="02020603050405020304" pitchFamily="18" charset="0"/>
                <a:ea typeface="SimSun"/>
                <a:cs typeface="Times New Roman" panose="02020603050405020304" pitchFamily="18" charset="0"/>
              </a:rPr>
              <a:t>slide out of the wet channel</a:t>
            </a:r>
            <a:r>
              <a:rPr lang="en-HK" sz="1300" b="1" dirty="0">
                <a:latin typeface="Times New Roman" panose="02020603050405020304" pitchFamily="18" charset="0"/>
                <a:ea typeface="SimSun"/>
                <a:cs typeface="Times New Roman" panose="02020603050405020304" pitchFamily="18" charset="0"/>
              </a:rPr>
              <a:t> </a:t>
            </a:r>
            <a:r>
              <a:rPr lang="en-HK" sz="1300" dirty="0">
                <a:latin typeface="Times New Roman" panose="02020603050405020304" pitchFamily="18" charset="0"/>
                <a:ea typeface="SimSun"/>
                <a:cs typeface="Times New Roman" panose="02020603050405020304" pitchFamily="18" charset="0"/>
              </a:rPr>
              <a:t>before making contact with the plate surface.</a:t>
            </a:r>
          </a:p>
        </p:txBody>
      </p:sp>
    </p:spTree>
    <p:extLst>
      <p:ext uri="{BB962C8B-B14F-4D97-AF65-F5344CB8AC3E}">
        <p14:creationId xmlns:p14="http://schemas.microsoft.com/office/powerpoint/2010/main" val="374373689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2E35C2B6-C808-4851-90E8-225E7B6DF41C}"/>
              </a:ext>
            </a:extLst>
          </p:cNvPr>
          <p:cNvGraphicFramePr>
            <a:graphicFrameLocks noChangeAspect="1"/>
          </p:cNvGraphicFramePr>
          <p:nvPr>
            <p:extLst>
              <p:ext uri="{D42A27DB-BD31-4B8C-83A1-F6EECF244321}">
                <p14:modId xmlns:p14="http://schemas.microsoft.com/office/powerpoint/2010/main" val="3048118860"/>
              </p:ext>
            </p:extLst>
          </p:nvPr>
        </p:nvGraphicFramePr>
        <p:xfrm>
          <a:off x="6653530" y="1228688"/>
          <a:ext cx="3589338" cy="2971800"/>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530" y="1228688"/>
                        <a:ext cx="3589338"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 name="图片 15">
            <a:extLst>
              <a:ext uri="{FF2B5EF4-FFF2-40B4-BE49-F238E27FC236}">
                <a16:creationId xmlns:a16="http://schemas.microsoft.com/office/drawing/2014/main" id="{B0036912-7C13-41FA-865B-09AEA14B9382}"/>
              </a:ext>
            </a:extLst>
          </p:cNvPr>
          <p:cNvPicPr/>
          <p:nvPr/>
        </p:nvPicPr>
        <p:blipFill>
          <a:blip r:embed="rId5">
            <a:extLst>
              <a:ext uri="{28A0092B-C50C-407E-A947-70E740481C1C}">
                <a14:useLocalDpi xmlns:a14="http://schemas.microsoft.com/office/drawing/2010/main" val="0"/>
              </a:ext>
            </a:extLst>
          </a:blip>
          <a:stretch>
            <a:fillRect/>
          </a:stretch>
        </p:blipFill>
        <p:spPr>
          <a:xfrm>
            <a:off x="1431914" y="1860473"/>
            <a:ext cx="1790700" cy="1799590"/>
          </a:xfrm>
          <a:prstGeom prst="rect">
            <a:avLst/>
          </a:prstGeom>
        </p:spPr>
      </p:pic>
      <p:pic>
        <p:nvPicPr>
          <p:cNvPr id="18" name="图片 17">
            <a:extLst>
              <a:ext uri="{FF2B5EF4-FFF2-40B4-BE49-F238E27FC236}">
                <a16:creationId xmlns:a16="http://schemas.microsoft.com/office/drawing/2014/main" id="{34D79A36-9E83-4D2E-B4D5-60B853C33161}"/>
              </a:ext>
            </a:extLst>
          </p:cNvPr>
          <p:cNvPicPr/>
          <p:nvPr/>
        </p:nvPicPr>
        <p:blipFill>
          <a:blip r:embed="rId6">
            <a:extLst>
              <a:ext uri="{28A0092B-C50C-407E-A947-70E740481C1C}">
                <a14:useLocalDpi xmlns:a14="http://schemas.microsoft.com/office/drawing/2010/main" val="0"/>
              </a:ext>
            </a:extLst>
          </a:blip>
          <a:stretch>
            <a:fillRect/>
          </a:stretch>
        </p:blipFill>
        <p:spPr>
          <a:xfrm>
            <a:off x="3331735" y="1860473"/>
            <a:ext cx="1790700" cy="1799590"/>
          </a:xfrm>
          <a:prstGeom prst="rect">
            <a:avLst/>
          </a:prstGeom>
        </p:spPr>
      </p:pic>
      <p:pic>
        <p:nvPicPr>
          <p:cNvPr id="19" name="图片 18">
            <a:extLst>
              <a:ext uri="{FF2B5EF4-FFF2-40B4-BE49-F238E27FC236}">
                <a16:creationId xmlns:a16="http://schemas.microsoft.com/office/drawing/2014/main" id="{C425DF99-1142-40E6-AB74-201B087D2027}"/>
              </a:ext>
            </a:extLst>
          </p:cNvPr>
          <p:cNvPicPr/>
          <p:nvPr/>
        </p:nvPicPr>
        <p:blipFill>
          <a:blip r:embed="rId7">
            <a:extLst>
              <a:ext uri="{28A0092B-C50C-407E-A947-70E740481C1C}">
                <a14:useLocalDpi xmlns:a14="http://schemas.microsoft.com/office/drawing/2010/main" val="0"/>
              </a:ext>
            </a:extLst>
          </a:blip>
          <a:stretch>
            <a:fillRect/>
          </a:stretch>
        </p:blipFill>
        <p:spPr>
          <a:xfrm>
            <a:off x="1431914" y="3919504"/>
            <a:ext cx="1794510" cy="1799590"/>
          </a:xfrm>
          <a:prstGeom prst="rect">
            <a:avLst/>
          </a:prstGeom>
        </p:spPr>
      </p:pic>
      <p:sp>
        <p:nvSpPr>
          <p:cNvPr id="20" name="矩形 19">
            <a:extLst>
              <a:ext uri="{FF2B5EF4-FFF2-40B4-BE49-F238E27FC236}">
                <a16:creationId xmlns:a16="http://schemas.microsoft.com/office/drawing/2014/main" id="{DED630E9-C456-4E4F-A92E-70EEF89E8706}"/>
              </a:ext>
            </a:extLst>
          </p:cNvPr>
          <p:cNvSpPr/>
          <p:nvPr/>
        </p:nvSpPr>
        <p:spPr>
          <a:xfrm>
            <a:off x="759413" y="1318613"/>
            <a:ext cx="1826141"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Spray distance</a:t>
            </a:r>
          </a:p>
        </p:txBody>
      </p:sp>
      <p:pic>
        <p:nvPicPr>
          <p:cNvPr id="21" name="图片 20">
            <a:extLst>
              <a:ext uri="{FF2B5EF4-FFF2-40B4-BE49-F238E27FC236}">
                <a16:creationId xmlns:a16="http://schemas.microsoft.com/office/drawing/2014/main" id="{4F090BC5-BEF5-40CE-ADE3-3226B8E39C60}"/>
              </a:ext>
            </a:extLst>
          </p:cNvPr>
          <p:cNvPicPr/>
          <p:nvPr/>
        </p:nvPicPr>
        <p:blipFill>
          <a:blip r:embed="rId8">
            <a:extLst>
              <a:ext uri="{28A0092B-C50C-407E-A947-70E740481C1C}">
                <a14:useLocalDpi xmlns:a14="http://schemas.microsoft.com/office/drawing/2010/main" val="0"/>
              </a:ext>
            </a:extLst>
          </a:blip>
          <a:stretch>
            <a:fillRect/>
          </a:stretch>
        </p:blipFill>
        <p:spPr>
          <a:xfrm>
            <a:off x="3333028" y="3919504"/>
            <a:ext cx="1794510" cy="1799590"/>
          </a:xfrm>
          <a:prstGeom prst="rect">
            <a:avLst/>
          </a:prstGeom>
        </p:spPr>
      </p:pic>
      <p:sp>
        <p:nvSpPr>
          <p:cNvPr id="2" name="Rectangle 2">
            <a:extLst>
              <a:ext uri="{FF2B5EF4-FFF2-40B4-BE49-F238E27FC236}">
                <a16:creationId xmlns:a16="http://schemas.microsoft.com/office/drawing/2014/main" id="{6BD5F9DA-DF46-46C4-BB61-C2CC6D719FCE}"/>
              </a:ext>
            </a:extLst>
          </p:cNvPr>
          <p:cNvSpPr>
            <a:spLocks noChangeArrowheads="1"/>
          </p:cNvSpPr>
          <p:nvPr/>
        </p:nvSpPr>
        <p:spPr bwMode="auto">
          <a:xfrm>
            <a:off x="6367183" y="15983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22" name="矩形 21">
            <a:extLst>
              <a:ext uri="{FF2B5EF4-FFF2-40B4-BE49-F238E27FC236}">
                <a16:creationId xmlns:a16="http://schemas.microsoft.com/office/drawing/2014/main" id="{EDEDEB91-B53F-4EA4-8C31-BB78C85F0680}"/>
              </a:ext>
            </a:extLst>
          </p:cNvPr>
          <p:cNvSpPr/>
          <p:nvPr/>
        </p:nvSpPr>
        <p:spPr>
          <a:xfrm>
            <a:off x="1929795" y="3657895"/>
            <a:ext cx="992765" cy="276999"/>
          </a:xfrm>
          <a:prstGeom prst="rect">
            <a:avLst/>
          </a:prstGeom>
        </p:spPr>
        <p:txBody>
          <a:bodyPr wrap="square">
            <a:spAutoFit/>
          </a:bodyPr>
          <a:lstStyle/>
          <a:p>
            <a:r>
              <a:rPr lang="en-HK" sz="1200" dirty="0">
                <a:latin typeface="Times New Roman" panose="02020603050405020304" pitchFamily="18" charset="0"/>
                <a:ea typeface="SimSun"/>
                <a:cs typeface="Times New Roman" panose="02020603050405020304" pitchFamily="18" charset="0"/>
              </a:rPr>
              <a:t>    0 mm</a:t>
            </a:r>
          </a:p>
        </p:txBody>
      </p:sp>
      <p:sp>
        <p:nvSpPr>
          <p:cNvPr id="24" name="矩形 23">
            <a:extLst>
              <a:ext uri="{FF2B5EF4-FFF2-40B4-BE49-F238E27FC236}">
                <a16:creationId xmlns:a16="http://schemas.microsoft.com/office/drawing/2014/main" id="{FBECE172-D203-4BE5-9F22-93F65AADA245}"/>
              </a:ext>
            </a:extLst>
          </p:cNvPr>
          <p:cNvSpPr/>
          <p:nvPr/>
        </p:nvSpPr>
        <p:spPr>
          <a:xfrm>
            <a:off x="3938730" y="3657895"/>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20 mm</a:t>
            </a:r>
          </a:p>
        </p:txBody>
      </p:sp>
      <p:sp>
        <p:nvSpPr>
          <p:cNvPr id="25" name="矩形 24">
            <a:extLst>
              <a:ext uri="{FF2B5EF4-FFF2-40B4-BE49-F238E27FC236}">
                <a16:creationId xmlns:a16="http://schemas.microsoft.com/office/drawing/2014/main" id="{97609E29-2D20-4D40-9972-D70D8AA096BC}"/>
              </a:ext>
            </a:extLst>
          </p:cNvPr>
          <p:cNvSpPr/>
          <p:nvPr/>
        </p:nvSpPr>
        <p:spPr>
          <a:xfrm>
            <a:off x="2000893" y="5716926"/>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40 mm</a:t>
            </a:r>
          </a:p>
        </p:txBody>
      </p:sp>
      <p:sp>
        <p:nvSpPr>
          <p:cNvPr id="26" name="矩形 25">
            <a:extLst>
              <a:ext uri="{FF2B5EF4-FFF2-40B4-BE49-F238E27FC236}">
                <a16:creationId xmlns:a16="http://schemas.microsoft.com/office/drawing/2014/main" id="{A440FCD2-35D8-4243-9064-D0B747EC8FAF}"/>
              </a:ext>
            </a:extLst>
          </p:cNvPr>
          <p:cNvSpPr/>
          <p:nvPr/>
        </p:nvSpPr>
        <p:spPr>
          <a:xfrm>
            <a:off x="3938730" y="5716926"/>
            <a:ext cx="655949" cy="276999"/>
          </a:xfrm>
          <a:prstGeom prst="rect">
            <a:avLst/>
          </a:prstGeom>
        </p:spPr>
        <p:txBody>
          <a:bodyPr wrap="none">
            <a:spAutoFit/>
          </a:bodyPr>
          <a:lstStyle/>
          <a:p>
            <a:r>
              <a:rPr lang="en-HK" sz="1200" dirty="0">
                <a:latin typeface="Times New Roman" panose="02020603050405020304" pitchFamily="18" charset="0"/>
                <a:ea typeface="SimSun"/>
                <a:cs typeface="Times New Roman" panose="02020603050405020304" pitchFamily="18" charset="0"/>
              </a:rPr>
              <a:t> 60 mm</a:t>
            </a:r>
          </a:p>
        </p:txBody>
      </p:sp>
      <p:sp>
        <p:nvSpPr>
          <p:cNvPr id="27" name="矩形 26">
            <a:extLst>
              <a:ext uri="{FF2B5EF4-FFF2-40B4-BE49-F238E27FC236}">
                <a16:creationId xmlns:a16="http://schemas.microsoft.com/office/drawing/2014/main" id="{C2454E48-F29D-4364-9DB3-DFB5068F0D78}"/>
              </a:ext>
            </a:extLst>
          </p:cNvPr>
          <p:cNvSpPr/>
          <p:nvPr/>
        </p:nvSpPr>
        <p:spPr>
          <a:xfrm>
            <a:off x="1935212" y="6009649"/>
            <a:ext cx="2793045"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4.5.3 </a:t>
            </a:r>
            <a:r>
              <a:rPr lang="en-HK" sz="1200" dirty="0">
                <a:latin typeface="Times New Roman" panose="02020603050405020304" pitchFamily="18" charset="0"/>
                <a:ea typeface="SimSun"/>
                <a:cs typeface="Times New Roman" panose="02020603050405020304" pitchFamily="18" charset="0"/>
              </a:rPr>
              <a:t>Variation of the nozzle distance </a:t>
            </a:r>
          </a:p>
        </p:txBody>
      </p:sp>
      <p:sp>
        <p:nvSpPr>
          <p:cNvPr id="28" name="矩形 27">
            <a:extLst>
              <a:ext uri="{FF2B5EF4-FFF2-40B4-BE49-F238E27FC236}">
                <a16:creationId xmlns:a16="http://schemas.microsoft.com/office/drawing/2014/main" id="{72B7FE64-53A0-4FD3-851B-9471A15D5037}"/>
              </a:ext>
            </a:extLst>
          </p:cNvPr>
          <p:cNvSpPr/>
          <p:nvPr/>
        </p:nvSpPr>
        <p:spPr>
          <a:xfrm>
            <a:off x="6799482" y="417297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4.5.4 </a:t>
            </a:r>
            <a:r>
              <a:rPr lang="en-HK" sz="1200" dirty="0">
                <a:latin typeface="Times New Roman" panose="02020603050405020304" pitchFamily="18" charset="0"/>
                <a:ea typeface="SimSun"/>
                <a:cs typeface="Times New Roman" panose="02020603050405020304" pitchFamily="18" charset="0"/>
              </a:rPr>
              <a:t>Impact of nozzle gap on coverage factor</a:t>
            </a:r>
          </a:p>
        </p:txBody>
      </p:sp>
      <p:sp>
        <p:nvSpPr>
          <p:cNvPr id="30" name="椭圆 29">
            <a:extLst>
              <a:ext uri="{FF2B5EF4-FFF2-40B4-BE49-F238E27FC236}">
                <a16:creationId xmlns:a16="http://schemas.microsoft.com/office/drawing/2014/main" id="{F02511E9-94CA-4840-ACCE-5CF48288727F}"/>
              </a:ext>
            </a:extLst>
          </p:cNvPr>
          <p:cNvSpPr/>
          <p:nvPr/>
        </p:nvSpPr>
        <p:spPr>
          <a:xfrm>
            <a:off x="8376308" y="1352803"/>
            <a:ext cx="286347" cy="2741315"/>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4" name="灯片编号占位符 3">
            <a:extLst>
              <a:ext uri="{FF2B5EF4-FFF2-40B4-BE49-F238E27FC236}">
                <a16:creationId xmlns:a16="http://schemas.microsoft.com/office/drawing/2014/main" id="{070B9FFF-D5A1-45B1-A6E6-843BEA93095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33</a:t>
            </a:fld>
            <a:endParaRPr lang="en-US" altLang="zh-CN">
              <a:latin typeface="Times New Roman"/>
              <a:ea typeface="SimSun"/>
              <a:cs typeface="Times New Roman"/>
            </a:endParaRPr>
          </a:p>
        </p:txBody>
      </p:sp>
      <p:sp>
        <p:nvSpPr>
          <p:cNvPr id="5" name="Rectangle 220">
            <a:extLst>
              <a:ext uri="{FF2B5EF4-FFF2-40B4-BE49-F238E27FC236}">
                <a16:creationId xmlns:a16="http://schemas.microsoft.com/office/drawing/2014/main" id="{BDF510A9-3CB9-4553-8D8C-12133F47EC4D}"/>
              </a:ext>
            </a:extLst>
          </p:cNvPr>
          <p:cNvSpPr>
            <a:spLocks noChangeArrowheads="1"/>
          </p:cNvSpPr>
          <p:nvPr/>
        </p:nvSpPr>
        <p:spPr bwMode="auto">
          <a:xfrm>
            <a:off x="2955198" y="11389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3" name="矩形 22">
            <a:extLst>
              <a:ext uri="{FF2B5EF4-FFF2-40B4-BE49-F238E27FC236}">
                <a16:creationId xmlns:a16="http://schemas.microsoft.com/office/drawing/2014/main" id="{E7284172-BF02-4333-B569-F5456C6F7229}"/>
              </a:ext>
            </a:extLst>
          </p:cNvPr>
          <p:cNvSpPr/>
          <p:nvPr/>
        </p:nvSpPr>
        <p:spPr bwMode="auto">
          <a:xfrm>
            <a:off x="6123371" y="4517625"/>
            <a:ext cx="5078568" cy="1975143"/>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34"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多喷嘴参数的影响</a:t>
            </a:r>
          </a:p>
        </p:txBody>
      </p:sp>
      <p:sp>
        <p:nvSpPr>
          <p:cNvPr id="35"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4.5.2 Influence for multiple nozzles</a:t>
            </a:r>
          </a:p>
        </p:txBody>
      </p:sp>
      <p:sp>
        <p:nvSpPr>
          <p:cNvPr id="36"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37"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8" name="矩形 28">
            <a:extLst>
              <a:ext uri="{FF2B5EF4-FFF2-40B4-BE49-F238E27FC236}">
                <a16:creationId xmlns:a16="http://schemas.microsoft.com/office/drawing/2014/main" id="{2CAF0D0D-21AB-457B-BDC4-7D3325C407E6}"/>
              </a:ext>
            </a:extLst>
          </p:cNvPr>
          <p:cNvSpPr/>
          <p:nvPr/>
        </p:nvSpPr>
        <p:spPr>
          <a:xfrm>
            <a:off x="6144768" y="4529770"/>
            <a:ext cx="5532120" cy="704342"/>
          </a:xfrm>
          <a:prstGeom prst="rect">
            <a:avLst/>
          </a:prstGeom>
          <a:ln>
            <a:noFill/>
          </a:ln>
        </p:spPr>
        <p:txBody>
          <a:bodyPr wrap="square" lIns="0" rIns="0" tIns="0" bIns="0">
            <a:noAutofit/>
          </a:bodyPr>
          <a:lstStyle/>
          <a:p>
            <a:pPr marL="0" indent="0" algn="l">
              <a:lnSpc>
                <a:spcPct val="108000"/>
              </a:lnSpc>
              <a:buNone/>
            </a:pPr>
            <a:r>
              <a:rPr lang="en-HK" sz="1300" dirty="0">
                <a:latin typeface="Times New Roman" panose="02020603050405020304" pitchFamily="18" charset="0"/>
                <a:ea typeface="SimSun"/>
                <a:cs typeface="Times New Roman" panose="02020603050405020304" pitchFamily="18" charset="0"/>
              </a:rPr>
              <a:t>The best wetting situation of the plate surface occurs at a nozzle of </a:t>
            </a:r>
            <a:r>
              <a:rPr lang="en-HK" sz="1300" b="1" dirty="0">
                <a:solidFill>
                  <a:srgbClr val="A60626"/>
                </a:solidFill>
                <a:latin typeface="Times New Roman" panose="02020603050405020304" pitchFamily="18" charset="0"/>
                <a:ea typeface="SimSun"/>
                <a:cs typeface="Times New Roman" panose="02020603050405020304" pitchFamily="18" charset="0"/>
              </a:rPr>
              <a:t>40 mm (1) </a:t>
            </a:r>
            <a:r>
              <a:rPr lang="en-HK" sz="1300" dirty="0">
                <a:latin typeface="Times New Roman" panose="02020603050405020304" pitchFamily="18" charset="0"/>
                <a:ea typeface="SimSun"/>
                <a:cs typeface="Times New Roman" panose="02020603050405020304" pitchFamily="18" charset="0"/>
              </a:rPr>
              <a:t>and the gap was </a:t>
            </a:r>
            <a:r>
              <a:rPr lang="en-HK" sz="1300" b="1" dirty="0">
                <a:solidFill>
                  <a:srgbClr val="A60626"/>
                </a:solidFill>
                <a:latin typeface="Times New Roman" panose="02020603050405020304" pitchFamily="18" charset="0"/>
                <a:ea typeface="SimSun"/>
                <a:cs typeface="Times New Roman" panose="02020603050405020304" pitchFamily="18" charset="0"/>
              </a:rPr>
              <a:t>80 mm (2)</a:t>
            </a:r>
            <a:r>
              <a:rPr lang="en-HK" sz="1300" b="1" dirty="0">
                <a:latin typeface="Times New Roman" panose="02020603050405020304" pitchFamily="18" charset="0"/>
                <a:ea typeface="SimSun"/>
                <a:cs typeface="Times New Roman" panose="02020603050405020304" pitchFamily="18" charset="0"/>
              </a:rPr>
              <a:t>.</a:t>
            </a:r>
          </a:p>
        </p:txBody>
      </p:sp>
      <p:sp>
        <p:nvSpPr>
          <p:cNvPr id="39" name="TextBox 1"/>
          <p:cNvSpPr txBox="1"/>
          <p:nvPr/>
        </p:nvSpPr>
        <p:spPr>
          <a:xfrm>
            <a:off x="6144768" y="4947346"/>
            <a:ext cx="5532120"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图示 40 mm、80 mm 参数下润湿效果最佳。</a:t>
            </a:r>
          </a:p>
        </p:txBody>
      </p:sp>
      <p:sp>
        <p:nvSpPr>
          <p:cNvPr id="40" name="矩形 28">
            <a:extLst>
              <a:ext uri="{FF2B5EF4-FFF2-40B4-BE49-F238E27FC236}">
                <a16:creationId xmlns:a16="http://schemas.microsoft.com/office/drawing/2014/main" id="{2CAF0D0D-21AB-457B-BDC4-7D3325C407E6}"/>
              </a:ext>
            </a:extLst>
          </p:cNvPr>
          <p:cNvSpPr/>
          <p:nvPr/>
        </p:nvSpPr>
        <p:spPr>
          <a:xfrm>
            <a:off x="6144768" y="5234112"/>
            <a:ext cx="5532120" cy="704342"/>
          </a:xfrm>
          <a:prstGeom prst="rect">
            <a:avLst/>
          </a:prstGeom>
          <a:ln>
            <a:noFill/>
          </a:ln>
        </p:spPr>
        <p:txBody>
          <a:bodyPr wrap="square" lIns="0" rIns="0" tIns="0" bIns="0">
            <a:noAutofit/>
          </a:bodyPr>
          <a:lstStyle/>
          <a:p>
            <a:pPr marL="0" indent="0" defTabSz="457200" eaLnBrk="1" fontAlgn="auto" hangingPunct="1" algn="l">
              <a:lnSpc>
                <a:spcPct val="108000"/>
              </a:lnSpc>
              <a:buNone/>
            </a:pPr>
            <a:r>
              <a:rPr lang="en-HK" sz="1300" dirty="0">
                <a:solidFill>
                  <a:prstClr val="black"/>
                </a:solidFill>
                <a:latin typeface="Times New Roman" panose="02020603050405020304" pitchFamily="18" charset="0"/>
                <a:ea typeface="SimSun"/>
                <a:cs typeface="Times New Roman" panose="02020603050405020304" pitchFamily="18" charset="0"/>
              </a:rPr>
              <a:t>The spray of nozzles are </a:t>
            </a:r>
            <a:r>
              <a:rPr lang="en-HK" sz="1300" b="1" dirty="0">
                <a:solidFill>
                  <a:srgbClr val="A60626"/>
                </a:solidFill>
                <a:latin typeface="Times New Roman" panose="02020603050405020304" pitchFamily="18" charset="0"/>
                <a:ea typeface="SimSun"/>
                <a:cs typeface="Times New Roman" panose="02020603050405020304" pitchFamily="18" charset="0"/>
              </a:rPr>
              <a:t>too far </a:t>
            </a:r>
            <a:r>
              <a:rPr lang="en-HK" sz="1300" dirty="0">
                <a:solidFill>
                  <a:prstClr val="black"/>
                </a:solidFill>
                <a:latin typeface="Times New Roman" panose="02020603050405020304" pitchFamily="18" charset="0"/>
                <a:ea typeface="SimSun"/>
                <a:cs typeface="Times New Roman" panose="02020603050405020304" pitchFamily="18" charset="0"/>
              </a:rPr>
              <a:t>apart causing some droplets to </a:t>
            </a:r>
            <a:r>
              <a:rPr lang="en-HK" sz="1300" b="1" dirty="0">
                <a:solidFill>
                  <a:srgbClr val="A60626"/>
                </a:solidFill>
                <a:latin typeface="Times New Roman" panose="02020603050405020304" pitchFamily="18" charset="0"/>
                <a:ea typeface="SimSun"/>
                <a:cs typeface="Times New Roman" panose="02020603050405020304" pitchFamily="18" charset="0"/>
              </a:rPr>
              <a:t>escape</a:t>
            </a:r>
            <a:r>
              <a:rPr lang="en-HK" sz="1300" dirty="0">
                <a:solidFill>
                  <a:prstClr val="black"/>
                </a:solidFill>
                <a:latin typeface="Times New Roman" panose="02020603050405020304" pitchFamily="18" charset="0"/>
                <a:ea typeface="SimSun"/>
                <a:cs typeface="Times New Roman" panose="02020603050405020304" pitchFamily="18" charset="0"/>
              </a:rPr>
              <a:t> from the boundary.</a:t>
            </a:r>
          </a:p>
        </p:txBody>
      </p:sp>
      <p:sp>
        <p:nvSpPr>
          <p:cNvPr id="41" name="TextBox 1"/>
          <p:cNvSpPr txBox="1"/>
          <p:nvPr/>
        </p:nvSpPr>
        <p:spPr>
          <a:xfrm>
            <a:off x="6144768" y="5651688"/>
            <a:ext cx="5532120"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喷嘴间距过大易使液滴逸出边界。</a:t>
            </a:r>
          </a:p>
        </p:txBody>
      </p:sp>
      <p:sp>
        <p:nvSpPr>
          <p:cNvPr id="42" name="矩形 28">
            <a:extLst>
              <a:ext uri="{FF2B5EF4-FFF2-40B4-BE49-F238E27FC236}">
                <a16:creationId xmlns:a16="http://schemas.microsoft.com/office/drawing/2014/main" id="{2CAF0D0D-21AB-457B-BDC4-7D3325C407E6}"/>
              </a:ext>
            </a:extLst>
          </p:cNvPr>
          <p:cNvSpPr/>
          <p:nvPr/>
        </p:nvSpPr>
        <p:spPr>
          <a:xfrm>
            <a:off x="6144768" y="5938454"/>
            <a:ext cx="5532120" cy="704342"/>
          </a:xfrm>
          <a:prstGeom prst="rect">
            <a:avLst/>
          </a:prstGeom>
          <a:ln>
            <a:noFill/>
          </a:ln>
        </p:spPr>
        <p:txBody>
          <a:bodyPr wrap="square" lIns="0" rIns="0" tIns="0" bIns="0">
            <a:noAutofit/>
          </a:bodyPr>
          <a:lstStyle/>
          <a:p>
            <a:pPr marL="0" indent="0" defTabSz="457200" eaLnBrk="1" fontAlgn="auto" hangingPunct="1" algn="l">
              <a:lnSpc>
                <a:spcPct val="108000"/>
              </a:lnSpc>
              <a:buNone/>
            </a:pPr>
            <a:r>
              <a:rPr lang="en-HK" sz="1300" dirty="0">
                <a:solidFill>
                  <a:prstClr val="black"/>
                </a:solidFill>
                <a:latin typeface="Times New Roman" panose="02020603050405020304" pitchFamily="18" charset="0"/>
                <a:ea typeface="SimSun"/>
                <a:cs typeface="Times New Roman" panose="02020603050405020304" pitchFamily="18" charset="0"/>
              </a:rPr>
              <a:t> While being </a:t>
            </a:r>
            <a:r>
              <a:rPr lang="en-HK" sz="1300" b="1" dirty="0">
                <a:solidFill>
                  <a:srgbClr val="A60626"/>
                </a:solidFill>
                <a:latin typeface="Times New Roman" panose="02020603050405020304" pitchFamily="18" charset="0"/>
                <a:ea typeface="SimSun"/>
                <a:cs typeface="Times New Roman" panose="02020603050405020304" pitchFamily="18" charset="0"/>
              </a:rPr>
              <a:t>too close </a:t>
            </a:r>
            <a:r>
              <a:rPr lang="en-HK" sz="1300" dirty="0">
                <a:solidFill>
                  <a:prstClr val="black"/>
                </a:solidFill>
                <a:latin typeface="Times New Roman" panose="02020603050405020304" pitchFamily="18" charset="0"/>
                <a:ea typeface="SimSun"/>
                <a:cs typeface="Times New Roman" panose="02020603050405020304" pitchFamily="18" charset="0"/>
              </a:rPr>
              <a:t>caused a large number of spray droplets to </a:t>
            </a:r>
            <a:r>
              <a:rPr lang="en-HK" sz="1300" b="1" dirty="0">
                <a:solidFill>
                  <a:srgbClr val="A60626"/>
                </a:solidFill>
                <a:latin typeface="Times New Roman" panose="02020603050405020304" pitchFamily="18" charset="0"/>
                <a:ea typeface="SimSun"/>
                <a:cs typeface="Times New Roman" panose="02020603050405020304" pitchFamily="18" charset="0"/>
              </a:rPr>
              <a:t>collide and splash </a:t>
            </a:r>
            <a:r>
              <a:rPr lang="en-HK" sz="1300" dirty="0">
                <a:solidFill>
                  <a:prstClr val="black"/>
                </a:solidFill>
                <a:latin typeface="Times New Roman" panose="02020603050405020304" pitchFamily="18" charset="0"/>
                <a:ea typeface="SimSun"/>
                <a:cs typeface="Times New Roman" panose="02020603050405020304" pitchFamily="18" charset="0"/>
              </a:rPr>
              <a:t>against each other.</a:t>
            </a:r>
          </a:p>
        </p:txBody>
      </p:sp>
      <p:sp>
        <p:nvSpPr>
          <p:cNvPr id="43" name="TextBox 1"/>
          <p:cNvSpPr txBox="1"/>
          <p:nvPr/>
        </p:nvSpPr>
        <p:spPr>
          <a:xfrm>
            <a:off x="6144768" y="6356030"/>
            <a:ext cx="5532120"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间距过小则会加剧液滴碰撞与飞溅。</a:t>
            </a:r>
          </a:p>
        </p:txBody>
      </p:sp>
    </p:spTree>
    <p:extLst>
      <p:ext uri="{BB962C8B-B14F-4D97-AF65-F5344CB8AC3E}">
        <p14:creationId xmlns:p14="http://schemas.microsoft.com/office/powerpoint/2010/main" val="19488530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2C53AAAB-BDD1-498E-8103-1D2013B0BB54}"/>
              </a:ext>
            </a:extLst>
          </p:cNvPr>
          <p:cNvSpPr>
            <a:spLocks noChangeArrowheads="1"/>
          </p:cNvSpPr>
          <p:nvPr/>
        </p:nvSpPr>
        <p:spPr bwMode="auto">
          <a:xfrm>
            <a:off x="1524001" y="113633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pic>
        <p:nvPicPr>
          <p:cNvPr id="6" name="图片 5">
            <a:extLst>
              <a:ext uri="{FF2B5EF4-FFF2-40B4-BE49-F238E27FC236}">
                <a16:creationId xmlns:a16="http://schemas.microsoft.com/office/drawing/2014/main" id="{B94C7286-4E25-43BC-A216-4DCFFA6497BA}"/>
              </a:ext>
            </a:extLst>
          </p:cNvPr>
          <p:cNvPicPr/>
          <p:nvPr/>
        </p:nvPicPr>
        <p:blipFill>
          <a:blip r:embed="rId3">
            <a:extLst>
              <a:ext uri="{28A0092B-C50C-407E-A947-70E740481C1C}">
                <a14:useLocalDpi xmlns:a14="http://schemas.microsoft.com/office/drawing/2010/main" val="0"/>
              </a:ext>
            </a:extLst>
          </a:blip>
          <a:stretch>
            <a:fillRect/>
          </a:stretch>
        </p:blipFill>
        <p:spPr>
          <a:xfrm>
            <a:off x="2718900" y="1569395"/>
            <a:ext cx="1183466" cy="1819826"/>
          </a:xfrm>
          <a:prstGeom prst="rect">
            <a:avLst/>
          </a:prstGeom>
        </p:spPr>
      </p:pic>
      <p:pic>
        <p:nvPicPr>
          <p:cNvPr id="8" name="图片 7">
            <a:extLst>
              <a:ext uri="{FF2B5EF4-FFF2-40B4-BE49-F238E27FC236}">
                <a16:creationId xmlns:a16="http://schemas.microsoft.com/office/drawing/2014/main" id="{D2557077-6601-42E4-BABD-EEB211D33AA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39729" y="3526805"/>
            <a:ext cx="1589103" cy="1692000"/>
          </a:xfrm>
          <a:prstGeom prst="rect">
            <a:avLst/>
          </a:prstGeom>
        </p:spPr>
      </p:pic>
      <p:pic>
        <p:nvPicPr>
          <p:cNvPr id="9" name="图片 8">
            <a:extLst>
              <a:ext uri="{FF2B5EF4-FFF2-40B4-BE49-F238E27FC236}">
                <a16:creationId xmlns:a16="http://schemas.microsoft.com/office/drawing/2014/main" id="{E4EF0899-5BA6-4834-A4FD-50B2A46BF633}"/>
              </a:ext>
            </a:extLst>
          </p:cNvPr>
          <p:cNvPicPr/>
          <p:nvPr/>
        </p:nvPicPr>
        <p:blipFill>
          <a:blip r:embed="rId5">
            <a:extLst>
              <a:ext uri="{28A0092B-C50C-407E-A947-70E740481C1C}">
                <a14:useLocalDpi xmlns:a14="http://schemas.microsoft.com/office/drawing/2010/main" val="0"/>
              </a:ext>
            </a:extLst>
          </a:blip>
          <a:stretch>
            <a:fillRect/>
          </a:stretch>
        </p:blipFill>
        <p:spPr>
          <a:xfrm>
            <a:off x="6433893" y="3540872"/>
            <a:ext cx="1587600" cy="1692000"/>
          </a:xfrm>
          <a:prstGeom prst="rect">
            <a:avLst/>
          </a:prstGeom>
        </p:spPr>
      </p:pic>
      <p:pic>
        <p:nvPicPr>
          <p:cNvPr id="13" name="图片 12">
            <a:extLst>
              <a:ext uri="{FF2B5EF4-FFF2-40B4-BE49-F238E27FC236}">
                <a16:creationId xmlns:a16="http://schemas.microsoft.com/office/drawing/2014/main" id="{69B26CE5-8C31-4A5E-B63A-B58AC3A1C85B}"/>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8169370" y="3526805"/>
            <a:ext cx="1587600" cy="1692000"/>
          </a:xfrm>
          <a:prstGeom prst="rect">
            <a:avLst/>
          </a:prstGeom>
        </p:spPr>
      </p:pic>
      <p:pic>
        <p:nvPicPr>
          <p:cNvPr id="14" name="图片 13">
            <a:extLst>
              <a:ext uri="{FF2B5EF4-FFF2-40B4-BE49-F238E27FC236}">
                <a16:creationId xmlns:a16="http://schemas.microsoft.com/office/drawing/2014/main" id="{6D699C5A-F61B-4B6E-B2F9-C05733C07FB1}"/>
              </a:ext>
            </a:extLst>
          </p:cNvPr>
          <p:cNvPicPr/>
          <p:nvPr/>
        </p:nvPicPr>
        <p:blipFill>
          <a:blip r:embed="rId7">
            <a:extLst>
              <a:ext uri="{28A0092B-C50C-407E-A947-70E740481C1C}">
                <a14:useLocalDpi xmlns:a14="http://schemas.microsoft.com/office/drawing/2010/main" val="0"/>
              </a:ext>
            </a:extLst>
          </a:blip>
          <a:stretch>
            <a:fillRect/>
          </a:stretch>
        </p:blipFill>
        <p:spPr>
          <a:xfrm>
            <a:off x="3334763" y="3526805"/>
            <a:ext cx="1587600" cy="1692000"/>
          </a:xfrm>
          <a:prstGeom prst="rect">
            <a:avLst/>
          </a:prstGeom>
        </p:spPr>
      </p:pic>
      <p:pic>
        <p:nvPicPr>
          <p:cNvPr id="15" name="图片 14">
            <a:extLst>
              <a:ext uri="{FF2B5EF4-FFF2-40B4-BE49-F238E27FC236}">
                <a16:creationId xmlns:a16="http://schemas.microsoft.com/office/drawing/2014/main" id="{E919D49D-35CC-4E2D-AFFC-B3D6F64C73AA}"/>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9904848" y="3520400"/>
            <a:ext cx="560151" cy="1776335"/>
          </a:xfrm>
          <a:prstGeom prst="rect">
            <a:avLst/>
          </a:prstGeom>
        </p:spPr>
      </p:pic>
      <p:pic>
        <p:nvPicPr>
          <p:cNvPr id="17" name="图片 16">
            <a:extLst>
              <a:ext uri="{FF2B5EF4-FFF2-40B4-BE49-F238E27FC236}">
                <a16:creationId xmlns:a16="http://schemas.microsoft.com/office/drawing/2014/main" id="{65FC5BA7-8EA7-4A3F-B5B7-8BD015C5BDD7}"/>
              </a:ext>
            </a:extLst>
          </p:cNvPr>
          <p:cNvPicPr/>
          <p:nvPr/>
        </p:nvPicPr>
        <p:blipFill>
          <a:blip r:embed="rId9">
            <a:extLst>
              <a:ext uri="{28A0092B-C50C-407E-A947-70E740481C1C}">
                <a14:useLocalDpi xmlns:a14="http://schemas.microsoft.com/office/drawing/2010/main" val="0"/>
              </a:ext>
            </a:extLst>
          </a:blip>
          <a:stretch>
            <a:fillRect/>
          </a:stretch>
        </p:blipFill>
        <p:spPr>
          <a:xfrm>
            <a:off x="7462480" y="1664897"/>
            <a:ext cx="1131574" cy="1819827"/>
          </a:xfrm>
          <a:prstGeom prst="rect">
            <a:avLst/>
          </a:prstGeom>
        </p:spPr>
      </p:pic>
      <p:sp>
        <p:nvSpPr>
          <p:cNvPr id="18" name="矩形 17">
            <a:extLst>
              <a:ext uri="{FF2B5EF4-FFF2-40B4-BE49-F238E27FC236}">
                <a16:creationId xmlns:a16="http://schemas.microsoft.com/office/drawing/2014/main" id="{A74AC3DC-9F2B-43F7-98E2-949706B09CC1}"/>
              </a:ext>
            </a:extLst>
          </p:cNvPr>
          <p:cNvSpPr/>
          <p:nvPr/>
        </p:nvSpPr>
        <p:spPr>
          <a:xfrm>
            <a:off x="641332" y="1207798"/>
            <a:ext cx="2467342"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Conventional scheme</a:t>
            </a:r>
          </a:p>
        </p:txBody>
      </p:sp>
      <p:sp>
        <p:nvSpPr>
          <p:cNvPr id="16" name="矩形 15">
            <a:extLst>
              <a:ext uri="{FF2B5EF4-FFF2-40B4-BE49-F238E27FC236}">
                <a16:creationId xmlns:a16="http://schemas.microsoft.com/office/drawing/2014/main" id="{A8B8747B-5344-484F-B7BF-75DF52EF940E}"/>
              </a:ext>
            </a:extLst>
          </p:cNvPr>
          <p:cNvSpPr/>
          <p:nvPr/>
        </p:nvSpPr>
        <p:spPr>
          <a:xfrm>
            <a:off x="6096000" y="1295565"/>
            <a:ext cx="2198038" cy="369332"/>
          </a:xfrm>
          <a:prstGeom prst="rect">
            <a:avLst/>
          </a:prstGeom>
        </p:spPr>
        <p:txBody>
          <a:bodyPr wrap="none">
            <a:spAutoFit/>
          </a:bodyPr>
          <a:lstStyle/>
          <a:p>
            <a:pPr marL="285750" indent="-285750">
              <a:buFont typeface="Wingdings" panose="05000000000000000000" pitchFamily="2" charset="2"/>
              <a:buChar char="Ø"/>
            </a:pPr>
            <a:r>
              <a:rPr lang="en-HK" sz="1800" dirty="0">
                <a:latin typeface="Times New Roman" panose="02020603050405020304" pitchFamily="18" charset="0"/>
                <a:ea typeface="SimSun"/>
                <a:cs typeface="Times New Roman" panose="02020603050405020304" pitchFamily="18" charset="0"/>
              </a:rPr>
              <a:t>Optimized scheme</a:t>
            </a:r>
          </a:p>
        </p:txBody>
      </p:sp>
      <p:sp>
        <p:nvSpPr>
          <p:cNvPr id="19" name="矩形 18">
            <a:extLst>
              <a:ext uri="{FF2B5EF4-FFF2-40B4-BE49-F238E27FC236}">
                <a16:creationId xmlns:a16="http://schemas.microsoft.com/office/drawing/2014/main" id="{E91ED908-327F-411E-92B5-A2C06380999B}"/>
              </a:ext>
            </a:extLst>
          </p:cNvPr>
          <p:cNvSpPr/>
          <p:nvPr/>
        </p:nvSpPr>
        <p:spPr>
          <a:xfrm>
            <a:off x="4042294" y="2325758"/>
            <a:ext cx="1935145" cy="369332"/>
          </a:xfrm>
          <a:prstGeom prst="rect">
            <a:avLst/>
          </a:prstGeom>
        </p:spPr>
        <p:txBody>
          <a:bodyPr wrap="none">
            <a:spAutoFit/>
          </a:bodyPr>
          <a:lstStyle/>
          <a:p>
            <a:r>
              <a:rPr lang="en-HK" sz="1800" i="1" dirty="0">
                <a:latin typeface="Times New Roman" panose="02020603050405020304" pitchFamily="18" charset="0"/>
                <a:ea typeface="SimSun"/>
                <a:cs typeface="Times New Roman" panose="02020603050405020304" pitchFamily="18" charset="0"/>
              </a:rPr>
              <a:t>Linear distribution</a:t>
            </a:r>
          </a:p>
        </p:txBody>
      </p:sp>
      <p:sp>
        <p:nvSpPr>
          <p:cNvPr id="20" name="矩形 19">
            <a:extLst>
              <a:ext uri="{FF2B5EF4-FFF2-40B4-BE49-F238E27FC236}">
                <a16:creationId xmlns:a16="http://schemas.microsoft.com/office/drawing/2014/main" id="{11174C3C-BA96-4A70-8728-796B8DDDE957}"/>
              </a:ext>
            </a:extLst>
          </p:cNvPr>
          <p:cNvSpPr/>
          <p:nvPr/>
        </p:nvSpPr>
        <p:spPr>
          <a:xfrm>
            <a:off x="8644412" y="2325758"/>
            <a:ext cx="2319930" cy="369332"/>
          </a:xfrm>
          <a:prstGeom prst="rect">
            <a:avLst/>
          </a:prstGeom>
        </p:spPr>
        <p:txBody>
          <a:bodyPr wrap="none">
            <a:spAutoFit/>
          </a:bodyPr>
          <a:lstStyle/>
          <a:p>
            <a:r>
              <a:rPr lang="en-HK" sz="1800" i="1" dirty="0">
                <a:latin typeface="Times New Roman" panose="02020603050405020304" pitchFamily="18" charset="0"/>
                <a:ea typeface="SimSun"/>
                <a:cs typeface="Times New Roman" panose="02020603050405020304" pitchFamily="18" charset="0"/>
              </a:rPr>
              <a:t>Triangular distribution</a:t>
            </a:r>
          </a:p>
        </p:txBody>
      </p:sp>
      <p:sp>
        <p:nvSpPr>
          <p:cNvPr id="21" name="矩形 20">
            <a:extLst>
              <a:ext uri="{FF2B5EF4-FFF2-40B4-BE49-F238E27FC236}">
                <a16:creationId xmlns:a16="http://schemas.microsoft.com/office/drawing/2014/main" id="{3BDACAE8-8823-4B7E-A0F2-913AECAC5B5C}"/>
              </a:ext>
            </a:extLst>
          </p:cNvPr>
          <p:cNvSpPr/>
          <p:nvPr/>
        </p:nvSpPr>
        <p:spPr>
          <a:xfrm>
            <a:off x="3852349" y="5349700"/>
            <a:ext cx="4792063" cy="276999"/>
          </a:xfrm>
          <a:prstGeom prst="rect">
            <a:avLst/>
          </a:prstGeom>
        </p:spPr>
        <p:txBody>
          <a:bodyPr wrap="square">
            <a:spAutoFit/>
          </a:bodyPr>
          <a:lstStyle/>
          <a:p>
            <a:r>
              <a:rPr lang="en-HK" sz="1200" b="1" dirty="0">
                <a:latin typeface="Times New Roman" panose="02020603050405020304" pitchFamily="18" charset="0"/>
                <a:ea typeface="SimSun"/>
                <a:cs typeface="Times New Roman" panose="02020603050405020304" pitchFamily="18" charset="0"/>
              </a:rPr>
              <a:t>Fig. 4.5.5 </a:t>
            </a:r>
            <a:r>
              <a:rPr lang="en-HK" sz="1200" dirty="0">
                <a:latin typeface="Times New Roman" panose="02020603050405020304" pitchFamily="18" charset="0"/>
                <a:ea typeface="SimSun"/>
                <a:cs typeface="Times New Roman" panose="02020603050405020304" pitchFamily="18" charset="0"/>
              </a:rPr>
              <a:t>Comparison between conventional and optimized schemes</a:t>
            </a:r>
          </a:p>
        </p:txBody>
      </p:sp>
      <p:sp>
        <p:nvSpPr>
          <p:cNvPr id="3" name="灯片编号占位符 2">
            <a:extLst>
              <a:ext uri="{FF2B5EF4-FFF2-40B4-BE49-F238E27FC236}">
                <a16:creationId xmlns:a16="http://schemas.microsoft.com/office/drawing/2014/main" id="{08B60D27-8ED0-4D3B-AB91-5A097580526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34</a:t>
            </a:fld>
            <a:endParaRPr lang="en-US" altLang="zh-CN">
              <a:latin typeface="Times New Roman"/>
              <a:ea typeface="SimSun"/>
              <a:cs typeface="Times New Roman"/>
            </a:endParaRPr>
          </a:p>
        </p:txBody>
      </p:sp>
      <p:sp>
        <p:nvSpPr>
          <p:cNvPr id="26"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对 IEC 性能的影响</a:t>
            </a:r>
          </a:p>
        </p:txBody>
      </p:sp>
      <p:sp>
        <p:nvSpPr>
          <p:cNvPr id="27"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4.5.3 Influence on IEC performance</a:t>
            </a:r>
          </a:p>
        </p:txBody>
      </p:sp>
      <p:sp>
        <p:nvSpPr>
          <p:cNvPr id="28"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2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0" name="矩形 1">
            <a:extLst>
              <a:ext uri="{FF2B5EF4-FFF2-40B4-BE49-F238E27FC236}">
                <a16:creationId xmlns:a16="http://schemas.microsoft.com/office/drawing/2014/main" id="{5B33E2A0-09B8-440D-B282-27A219213BC8}"/>
              </a:ext>
            </a:extLst>
          </p:cNvPr>
          <p:cNvSpPr/>
          <p:nvPr/>
        </p:nvSpPr>
        <p:spPr>
          <a:xfrm>
            <a:off x="640080" y="5596128"/>
            <a:ext cx="6040801" cy="277114"/>
          </a:xfrm>
          <a:prstGeom prst="rect">
            <a:avLst/>
          </a:prstGeom>
          <a:ln>
            <a:noFill/>
          </a:ln>
        </p:spPr>
        <p:txBody>
          <a:bodyPr wrap="square" lIns="0" rIns="0" tIns="0" bIns="0">
            <a:noAutofit/>
          </a:bodyPr>
          <a:lstStyle/>
          <a:p>
            <a:pPr marL="0" indent="0" algn="l">
              <a:lnSpc>
                <a:spcPct val="108000"/>
              </a:lnSpc>
              <a:buNone/>
            </a:pPr>
            <a:r>
              <a:rPr lang="en-HK" sz="1300" spc="-5" dirty="0">
                <a:latin typeface="Times New Roman" panose="02020603050405020304" pitchFamily="18" charset="0"/>
                <a:ea typeface="SimSun" panose="02010600030101010101" pitchFamily="2" charset="-122"/>
                <a:cs typeface="Times New Roman" panose="02020603050405020304" pitchFamily="18" charset="0"/>
              </a:rPr>
              <a:t>The water film coverage ratio of conventional and optimized schemes are </a:t>
            </a:r>
            <a:r>
              <a:rPr lang="en-HK" sz="1300" b="1" spc="-5"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0.72 and 0.91</a:t>
            </a:r>
            <a:r>
              <a:rPr lang="en-HK" sz="1300" spc="-5"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31" name="TextBox 1"/>
          <p:cNvSpPr txBox="1"/>
          <p:nvPr/>
        </p:nvSpPr>
        <p:spPr>
          <a:xfrm>
            <a:off x="7010064" y="5609844"/>
            <a:ext cx="4557095" cy="277114"/>
          </a:xfrm>
          <a:prstGeom prst="rect">
            <a:avLst/>
          </a:prstGeom>
          <a:noFill/>
        </p:spPr>
        <p:txBody>
          <a:bodyPr wrap="square" lIns="0" rIns="0" tIns="0" bIns="0">
            <a:spAutoFit/>
          </a:bodyPr>
          <a:lstStyle/>
          <a:p>
            <a:pPr>
              <a:lnSpc>
                <a:spcPct val="105000"/>
              </a:lnSpc>
              <a:spcAft>
                <a:spcPts val="0"/>
              </a:spcAft>
            </a:pPr>
            <a:r>
              <a:rPr sz="1300" b="0">
                <a:solidFill>
                  <a:srgbClr val="303030"/>
                </a:solidFill>
                <a:latin typeface="Times New Roman"/>
                <a:ea typeface="SimSun"/>
                <a:cs typeface="Times New Roman"/>
              </a:rPr>
              <a:t>水膜覆盖率由 0.72 提高至 0.91。</a:t>
            </a:r>
          </a:p>
        </p:txBody>
      </p:sp>
      <p:sp>
        <p:nvSpPr>
          <p:cNvPr id="32" name="矩形 1">
            <a:extLst>
              <a:ext uri="{FF2B5EF4-FFF2-40B4-BE49-F238E27FC236}">
                <a16:creationId xmlns:a16="http://schemas.microsoft.com/office/drawing/2014/main" id="{5B33E2A0-09B8-440D-B282-27A219213BC8}"/>
              </a:ext>
            </a:extLst>
          </p:cNvPr>
          <p:cNvSpPr/>
          <p:nvPr/>
        </p:nvSpPr>
        <p:spPr>
          <a:xfrm>
            <a:off x="640080" y="5873242"/>
            <a:ext cx="6040801" cy="465328"/>
          </a:xfrm>
          <a:prstGeom prst="rect">
            <a:avLst/>
          </a:prstGeom>
          <a:ln>
            <a:noFill/>
          </a:ln>
        </p:spPr>
        <p:txBody>
          <a:bodyPr wrap="square" lIns="0" rIns="0" tIns="0" bIns="0">
            <a:noAutofit/>
          </a:bodyPr>
          <a:lstStyle/>
          <a:p>
            <a:pPr marL="0" indent="0" algn="l">
              <a:lnSpc>
                <a:spcPct val="108000"/>
              </a:lnSpc>
              <a:buNone/>
            </a:pPr>
            <a:r>
              <a:rPr lang="en-HK" sz="13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Most rapid temperature drop </a:t>
            </a:r>
            <a:r>
              <a:rPr lang="en-HK" sz="1300" spc="-5" dirty="0">
                <a:latin typeface="Times New Roman" panose="02020603050405020304" pitchFamily="18" charset="0"/>
                <a:ea typeface="SimSun" panose="02010600030101010101" pitchFamily="2" charset="-122"/>
                <a:cs typeface="Times New Roman" panose="02020603050405020304" pitchFamily="18" charset="0"/>
              </a:rPr>
              <a:t>at the </a:t>
            </a:r>
            <a:r>
              <a:rPr lang="en-HK" sz="13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top</a:t>
            </a:r>
            <a:r>
              <a:rPr lang="en-HK" sz="1300" b="1" spc="-5" dirty="0">
                <a:latin typeface="Times New Roman" panose="02020603050405020304" pitchFamily="18" charset="0"/>
                <a:ea typeface="SimSun" panose="02010600030101010101" pitchFamily="2" charset="-122"/>
                <a:cs typeface="Times New Roman" panose="02020603050405020304" pitchFamily="18" charset="0"/>
              </a:rPr>
              <a:t> </a:t>
            </a:r>
            <a:r>
              <a:rPr lang="en-HK" sz="1300" spc="-5" dirty="0">
                <a:latin typeface="Times New Roman" panose="02020603050405020304" pitchFamily="18" charset="0"/>
                <a:ea typeface="SimSun" panose="02010600030101010101" pitchFamily="2" charset="-122"/>
                <a:cs typeface="Times New Roman" panose="02020603050405020304" pitchFamily="18" charset="0"/>
              </a:rPr>
              <a:t>of the heat exchanger plate, due to the </a:t>
            </a:r>
            <a:r>
              <a:rPr lang="en-HK" sz="13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widest area </a:t>
            </a:r>
            <a:r>
              <a:rPr lang="en-HK" sz="1300" spc="-5" dirty="0">
                <a:latin typeface="Times New Roman" panose="02020603050405020304" pitchFamily="18" charset="0"/>
                <a:ea typeface="SimSun" panose="02010600030101010101" pitchFamily="2" charset="-122"/>
                <a:cs typeface="Times New Roman" panose="02020603050405020304" pitchFamily="18" charset="0"/>
              </a:rPr>
              <a:t>covered by the water film and the </a:t>
            </a:r>
            <a:r>
              <a:rPr lang="en-HK" sz="1300"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longest contact </a:t>
            </a:r>
            <a:r>
              <a:rPr lang="en-HK" sz="1300" spc="-5" dirty="0">
                <a:latin typeface="Times New Roman" panose="02020603050405020304" pitchFamily="18" charset="0"/>
                <a:ea typeface="SimSun" panose="02010600030101010101" pitchFamily="2" charset="-122"/>
                <a:cs typeface="Times New Roman" panose="02020603050405020304" pitchFamily="18" charset="0"/>
              </a:rPr>
              <a:t>between airflow and water flow.</a:t>
            </a:r>
          </a:p>
        </p:txBody>
      </p:sp>
      <p:sp>
        <p:nvSpPr>
          <p:cNvPr id="33" name="TextBox 1"/>
          <p:cNvSpPr txBox="1"/>
          <p:nvPr/>
        </p:nvSpPr>
        <p:spPr>
          <a:xfrm>
            <a:off x="7010064" y="5886958"/>
            <a:ext cx="4557095" cy="465328"/>
          </a:xfrm>
          <a:prstGeom prst="rect">
            <a:avLst/>
          </a:prstGeom>
          <a:noFill/>
        </p:spPr>
        <p:txBody>
          <a:bodyPr wrap="square" lIns="0" rIns="0" tIns="0" bIns="0">
            <a:spAutoFit/>
          </a:bodyPr>
          <a:lstStyle/>
          <a:p>
            <a:pPr>
              <a:lnSpc>
                <a:spcPct val="105000"/>
              </a:lnSpc>
              <a:spcAft>
                <a:spcPts val="0"/>
              </a:spcAft>
            </a:pPr>
            <a:r>
              <a:rPr sz="1300" b="0">
                <a:solidFill>
                  <a:srgbClr val="303030"/>
                </a:solidFill>
                <a:latin typeface="Times New Roman"/>
                <a:ea typeface="SimSun"/>
                <a:cs typeface="Times New Roman"/>
              </a:rPr>
              <a:t>板面顶部润湿充分、气水接触时间长，因此降温最快。</a:t>
            </a:r>
          </a:p>
        </p:txBody>
      </p:sp>
    </p:spTree>
    <p:extLst>
      <p:ext uri="{BB962C8B-B14F-4D97-AF65-F5344CB8AC3E}">
        <p14:creationId xmlns:p14="http://schemas.microsoft.com/office/powerpoint/2010/main" val="30178090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384" y="4491509"/>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070" y="4583725"/>
            <a:ext cx="403860" cy="396240"/>
          </a:xfrm>
          <a:prstGeom prst="rect">
            <a:avLst/>
          </a:prstGeom>
        </p:spPr>
      </p:pic>
      <p:sp>
        <p:nvSpPr>
          <p:cNvPr id="8" name="Rectangle 6">
            <a:extLst>
              <a:ext uri="{FF2B5EF4-FFF2-40B4-BE49-F238E27FC236}">
                <a16:creationId xmlns:a16="http://schemas.microsoft.com/office/drawing/2014/main" id="{E383EE9A-9F5E-4063-9C6A-55A5668043D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10" name="Rectangle 8">
            <a:extLst>
              <a:ext uri="{FF2B5EF4-FFF2-40B4-BE49-F238E27FC236}">
                <a16:creationId xmlns:a16="http://schemas.microsoft.com/office/drawing/2014/main" id="{721AF35C-FCC9-4383-9531-785F4363FA83}"/>
              </a:ext>
            </a:extLst>
          </p:cNvPr>
          <p:cNvSpPr>
            <a:spLocks noChangeArrowheads="1"/>
          </p:cNvSpPr>
          <p:nvPr/>
        </p:nvSpPr>
        <p:spPr bwMode="auto">
          <a:xfrm>
            <a:off x="5163491" y="106750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19" name="矩形 18">
            <a:extLst>
              <a:ext uri="{FF2B5EF4-FFF2-40B4-BE49-F238E27FC236}">
                <a16:creationId xmlns:a16="http://schemas.microsoft.com/office/drawing/2014/main" id="{DC6732B8-9EC7-4041-91EA-67C615BDFF42}"/>
              </a:ext>
            </a:extLst>
          </p:cNvPr>
          <p:cNvSpPr/>
          <p:nvPr/>
        </p:nvSpPr>
        <p:spPr>
          <a:xfrm>
            <a:off x="821936" y="1275350"/>
            <a:ext cx="3082895" cy="338554"/>
          </a:xfrm>
          <a:prstGeom prst="rect">
            <a:avLst/>
          </a:prstGeom>
        </p:spPr>
        <p:txBody>
          <a:bodyPr wrap="none">
            <a:spAutoFit/>
          </a:bodyPr>
          <a:lstStyle/>
          <a:p>
            <a:pPr marL="285750" indent="-285750">
              <a:buFont typeface="Wingdings" panose="05000000000000000000" pitchFamily="2" charset="2"/>
              <a:buChar char="Ø"/>
            </a:pPr>
            <a:r>
              <a:rPr lang="en-HK" sz="1600" dirty="0">
                <a:latin typeface="Times New Roman" panose="02020603050405020304" pitchFamily="18" charset="0"/>
                <a:ea typeface="SimSun"/>
                <a:cs typeface="Times New Roman" panose="02020603050405020304" pitchFamily="18" charset="0"/>
              </a:rPr>
              <a:t>Inlet temperature of primary air</a:t>
            </a:r>
          </a:p>
        </p:txBody>
      </p:sp>
      <p:sp>
        <p:nvSpPr>
          <p:cNvPr id="20" name="矩形 19">
            <a:extLst>
              <a:ext uri="{FF2B5EF4-FFF2-40B4-BE49-F238E27FC236}">
                <a16:creationId xmlns:a16="http://schemas.microsoft.com/office/drawing/2014/main" id="{4169E0B4-7139-4227-B383-6C23FE34FF2F}"/>
              </a:ext>
            </a:extLst>
          </p:cNvPr>
          <p:cNvSpPr/>
          <p:nvPr/>
        </p:nvSpPr>
        <p:spPr>
          <a:xfrm>
            <a:off x="831018" y="3816559"/>
            <a:ext cx="2943434" cy="338554"/>
          </a:xfrm>
          <a:prstGeom prst="rect">
            <a:avLst/>
          </a:prstGeom>
        </p:spPr>
        <p:txBody>
          <a:bodyPr wrap="none">
            <a:spAutoFit/>
          </a:bodyPr>
          <a:lstStyle/>
          <a:p>
            <a:pPr marL="285750" indent="-285750">
              <a:buFont typeface="Wingdings" panose="05000000000000000000" pitchFamily="2" charset="2"/>
              <a:buChar char="Ø"/>
            </a:pPr>
            <a:r>
              <a:rPr lang="en-HK" sz="1600" dirty="0">
                <a:latin typeface="Times New Roman" panose="02020603050405020304" pitchFamily="18" charset="0"/>
                <a:ea typeface="SimSun"/>
                <a:cs typeface="Times New Roman" panose="02020603050405020304" pitchFamily="18" charset="0"/>
              </a:rPr>
              <a:t>Inlet velocity of </a:t>
            </a:r>
            <a:r>
              <a:rPr lang="en-US" altLang="zh-CN" sz="1600" dirty="0">
                <a:latin typeface="Times New Roman" panose="02020603050405020304" pitchFamily="18" charset="0"/>
                <a:ea typeface="SimSun"/>
                <a:cs typeface="Times New Roman" panose="02020603050405020304" pitchFamily="18" charset="0"/>
              </a:rPr>
              <a:t>secondary</a:t>
            </a:r>
            <a:r>
              <a:rPr lang="en-HK" sz="1600" dirty="0">
                <a:latin typeface="Times New Roman" panose="02020603050405020304" pitchFamily="18" charset="0"/>
                <a:ea typeface="SimSun"/>
                <a:cs typeface="Times New Roman" panose="02020603050405020304" pitchFamily="18" charset="0"/>
              </a:rPr>
              <a:t> air</a:t>
            </a:r>
          </a:p>
        </p:txBody>
      </p:sp>
      <p:sp>
        <p:nvSpPr>
          <p:cNvPr id="5" name="灯片编号占位符 4">
            <a:extLst>
              <a:ext uri="{FF2B5EF4-FFF2-40B4-BE49-F238E27FC236}">
                <a16:creationId xmlns:a16="http://schemas.microsoft.com/office/drawing/2014/main" id="{1A8E8B63-ED7B-49DA-BCD4-B3CED50117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35</a:t>
            </a:fld>
            <a:endParaRPr lang="en-US" altLang="zh-CN">
              <a:latin typeface="Times New Roman"/>
              <a:ea typeface="SimSun"/>
              <a:cs typeface="Times New Roman"/>
            </a:endParaRPr>
          </a:p>
        </p:txBody>
      </p:sp>
      <p:graphicFrame>
        <p:nvGraphicFramePr>
          <p:cNvPr id="22" name="对象 21">
            <a:extLst>
              <a:ext uri="{FF2B5EF4-FFF2-40B4-BE49-F238E27FC236}">
                <a16:creationId xmlns:a16="http://schemas.microsoft.com/office/drawing/2014/main" id="{A1F86B66-287F-40B1-8A5B-24DB2C4E9DEF}"/>
              </a:ext>
            </a:extLst>
          </p:cNvPr>
          <p:cNvGraphicFramePr>
            <a:graphicFrameLocks noChangeAspect="1"/>
          </p:cNvGraphicFramePr>
          <p:nvPr>
            <p:extLst>
              <p:ext uri="{D42A27DB-BD31-4B8C-83A1-F6EECF244321}">
                <p14:modId xmlns:p14="http://schemas.microsoft.com/office/powerpoint/2010/main" val="3507581767"/>
              </p:ext>
            </p:extLst>
          </p:nvPr>
        </p:nvGraphicFramePr>
        <p:xfrm>
          <a:off x="2003535" y="1532281"/>
          <a:ext cx="2858475" cy="2436679"/>
        </p:xfrm>
        <a:graphic>
          <a:graphicData uri="http://schemas.openxmlformats.org/presentationml/2006/ole">
            <mc:AlternateContent xmlns:mc="http://schemas.openxmlformats.org/markup-compatibility/2006">
              <mc:Choice xmlns:v="urn:schemas-microsoft-com:vml" Requires="v">
                <p:oleObj name="Graph" r:id="rId4" imgW="6246376" imgH="5282235" progId="Origin95.Graph">
                  <p:embed/>
                </p:oleObj>
              </mc:Choice>
              <mc:Fallback>
                <p:oleObj name="Graph" r:id="rId4" imgW="6246376" imgH="5282235" progId="Origin95.Graph">
                  <p:embed/>
                  <p:pic>
                    <p:nvPicPr>
                      <p:cNvPr id="0" name="Object 8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3535" y="1532281"/>
                        <a:ext cx="2858475" cy="2436679"/>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689F8228-0770-48C2-A443-432F99ABD21D}"/>
              </a:ext>
            </a:extLst>
          </p:cNvPr>
          <p:cNvGraphicFramePr>
            <a:graphicFrameLocks noChangeAspect="1"/>
          </p:cNvGraphicFramePr>
          <p:nvPr>
            <p:extLst>
              <p:ext uri="{D42A27DB-BD31-4B8C-83A1-F6EECF244321}">
                <p14:modId xmlns:p14="http://schemas.microsoft.com/office/powerpoint/2010/main" val="2332218823"/>
              </p:ext>
            </p:extLst>
          </p:nvPr>
        </p:nvGraphicFramePr>
        <p:xfrm>
          <a:off x="5249983" y="1563693"/>
          <a:ext cx="2790615" cy="2367697"/>
        </p:xfrm>
        <a:graphic>
          <a:graphicData uri="http://schemas.openxmlformats.org/presentationml/2006/ole">
            <mc:AlternateContent xmlns:mc="http://schemas.openxmlformats.org/markup-compatibility/2006">
              <mc:Choice xmlns:v="urn:schemas-microsoft-com:vml" Requires="v">
                <p:oleObj name="Graph" r:id="rId6" imgW="6246376" imgH="5282235" progId="Origin95.Graph">
                  <p:embed/>
                </p:oleObj>
              </mc:Choice>
              <mc:Fallback>
                <p:oleObj name="Graph" r:id="rId6" imgW="6246376" imgH="5282235" progId="Origin95.Graph">
                  <p:embed/>
                  <p:pic>
                    <p:nvPicPr>
                      <p:cNvPr id="0" name="Object 8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9983" y="1563693"/>
                        <a:ext cx="2790615" cy="2367697"/>
                      </a:xfrm>
                      <a:prstGeom prst="rect">
                        <a:avLst/>
                      </a:prstGeom>
                      <a:noFill/>
                    </p:spPr>
                  </p:pic>
                </p:oleObj>
              </mc:Fallback>
            </mc:AlternateContent>
          </a:graphicData>
        </a:graphic>
      </p:graphicFrame>
      <p:sp>
        <p:nvSpPr>
          <p:cNvPr id="26" name="Rectangle 879">
            <a:extLst>
              <a:ext uri="{FF2B5EF4-FFF2-40B4-BE49-F238E27FC236}">
                <a16:creationId xmlns:a16="http://schemas.microsoft.com/office/drawing/2014/main" id="{AB08D2DC-0635-4041-B9A8-7217A7DF6A7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7" name="矩形 6">
            <a:extLst>
              <a:ext uri="{FF2B5EF4-FFF2-40B4-BE49-F238E27FC236}">
                <a16:creationId xmlns:a16="http://schemas.microsoft.com/office/drawing/2014/main" id="{1141538D-DE06-43E7-9DA0-86363CCA35F4}"/>
              </a:ext>
            </a:extLst>
          </p:cNvPr>
          <p:cNvSpPr/>
          <p:nvPr/>
        </p:nvSpPr>
        <p:spPr bwMode="auto">
          <a:xfrm>
            <a:off x="8459822" y="2077149"/>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8" name="矩形 27">
            <a:extLst>
              <a:ext uri="{FF2B5EF4-FFF2-40B4-BE49-F238E27FC236}">
                <a16:creationId xmlns:a16="http://schemas.microsoft.com/office/drawing/2014/main" id="{A1EC48A8-71E7-4156-B12F-D9622D2A4132}"/>
              </a:ext>
            </a:extLst>
          </p:cNvPr>
          <p:cNvSpPr/>
          <p:nvPr/>
        </p:nvSpPr>
        <p:spPr bwMode="auto">
          <a:xfrm>
            <a:off x="8459822" y="4788206"/>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 name="Rectangle 1079">
            <a:extLst>
              <a:ext uri="{FF2B5EF4-FFF2-40B4-BE49-F238E27FC236}">
                <a16:creationId xmlns:a16="http://schemas.microsoft.com/office/drawing/2014/main" id="{BE0E741D-A968-46DC-9535-DF2080AA52F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4" name="对象 3">
            <a:extLst>
              <a:ext uri="{FF2B5EF4-FFF2-40B4-BE49-F238E27FC236}">
                <a16:creationId xmlns:a16="http://schemas.microsoft.com/office/drawing/2014/main" id="{7DAA5944-DD59-4B6A-8324-DD9DFCA3A571}"/>
              </a:ext>
            </a:extLst>
          </p:cNvPr>
          <p:cNvGraphicFramePr>
            <a:graphicFrameLocks noChangeAspect="1"/>
          </p:cNvGraphicFramePr>
          <p:nvPr>
            <p:extLst>
              <p:ext uri="{D42A27DB-BD31-4B8C-83A1-F6EECF244321}">
                <p14:modId xmlns:p14="http://schemas.microsoft.com/office/powerpoint/2010/main" val="4157509320"/>
              </p:ext>
            </p:extLst>
          </p:nvPr>
        </p:nvGraphicFramePr>
        <p:xfrm>
          <a:off x="1817634" y="4155113"/>
          <a:ext cx="3124302" cy="2534081"/>
        </p:xfrm>
        <a:graphic>
          <a:graphicData uri="http://schemas.openxmlformats.org/presentationml/2006/ole">
            <mc:AlternateContent xmlns:mc="http://schemas.openxmlformats.org/markup-compatibility/2006">
              <mc:Choice xmlns:v="urn:schemas-microsoft-com:vml" Requires="v">
                <p:oleObj name="Graph" r:id="rId8" imgW="6523715" imgH="5282235" progId="Origin95.Graph">
                  <p:embed/>
                </p:oleObj>
              </mc:Choice>
              <mc:Fallback>
                <p:oleObj name="Graph" r:id="rId8" imgW="6523715" imgH="5282235" progId="Origin95.Graph">
                  <p:embed/>
                  <p:pic>
                    <p:nvPicPr>
                      <p:cNvPr id="0" name="Object 107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7634" y="4155113"/>
                        <a:ext cx="3124302" cy="2534081"/>
                      </a:xfrm>
                      <a:prstGeom prst="rect">
                        <a:avLst/>
                      </a:prstGeom>
                      <a:noFill/>
                    </p:spPr>
                  </p:pic>
                </p:oleObj>
              </mc:Fallback>
            </mc:AlternateContent>
          </a:graphicData>
        </a:graphic>
      </p:graphicFrame>
      <p:sp>
        <p:nvSpPr>
          <p:cNvPr id="11" name="Rectangle 1081">
            <a:extLst>
              <a:ext uri="{FF2B5EF4-FFF2-40B4-BE49-F238E27FC236}">
                <a16:creationId xmlns:a16="http://schemas.microsoft.com/office/drawing/2014/main" id="{15E54F06-932A-4A33-B649-B41A3CD162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2" name="对象 11">
            <a:extLst>
              <a:ext uri="{FF2B5EF4-FFF2-40B4-BE49-F238E27FC236}">
                <a16:creationId xmlns:a16="http://schemas.microsoft.com/office/drawing/2014/main" id="{E3BC5D3A-D614-4D0A-8774-A375B2028AA1}"/>
              </a:ext>
            </a:extLst>
          </p:cNvPr>
          <p:cNvGraphicFramePr>
            <a:graphicFrameLocks noChangeAspect="1"/>
          </p:cNvGraphicFramePr>
          <p:nvPr>
            <p:extLst>
              <p:ext uri="{D42A27DB-BD31-4B8C-83A1-F6EECF244321}">
                <p14:modId xmlns:p14="http://schemas.microsoft.com/office/powerpoint/2010/main" val="2143832944"/>
              </p:ext>
            </p:extLst>
          </p:nvPr>
        </p:nvGraphicFramePr>
        <p:xfrm>
          <a:off x="5249983" y="4148516"/>
          <a:ext cx="2980790" cy="2517261"/>
        </p:xfrm>
        <a:graphic>
          <a:graphicData uri="http://schemas.openxmlformats.org/presentationml/2006/ole">
            <mc:AlternateContent xmlns:mc="http://schemas.openxmlformats.org/markup-compatibility/2006">
              <mc:Choice xmlns:v="urn:schemas-microsoft-com:vml" Requires="v">
                <p:oleObj name="Graph" r:id="rId10" imgW="6246376" imgH="5282235" progId="Origin95.Graph">
                  <p:embed/>
                </p:oleObj>
              </mc:Choice>
              <mc:Fallback>
                <p:oleObj name="Graph" r:id="rId10" imgW="6246376" imgH="5282235" progId="Origin95.Graph">
                  <p:embed/>
                  <p:pic>
                    <p:nvPicPr>
                      <p:cNvPr id="0" name="Object 10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49983" y="4148516"/>
                        <a:ext cx="2980790" cy="2517261"/>
                      </a:xfrm>
                      <a:prstGeom prst="rect">
                        <a:avLst/>
                      </a:prstGeom>
                      <a:noFill/>
                    </p:spPr>
                  </p:pic>
                </p:oleObj>
              </mc:Fallback>
            </mc:AlternateContent>
          </a:graphicData>
        </a:graphic>
      </p:graphicFrame>
      <p:sp>
        <p:nvSpPr>
          <p:cNvPr id="2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一次、二次空气入口参数的影响</a:t>
            </a:r>
          </a:p>
        </p:txBody>
      </p:sp>
      <p:sp>
        <p:nvSpPr>
          <p:cNvPr id="3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4.5.4 The effect of inlet parameter of primary air and secondary air</a:t>
            </a:r>
          </a:p>
        </p:txBody>
      </p:sp>
      <p:sp>
        <p:nvSpPr>
          <p:cNvPr id="3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4. Development of CFD model for IEC considering water film formation with spray parameter analysis</a:t>
            </a:r>
          </a:p>
        </p:txBody>
      </p:sp>
      <p:cxnSp>
        <p:nvCxnSpPr>
          <p:cNvPr id="3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3" name="矩形 15">
            <a:extLst>
              <a:ext uri="{FF2B5EF4-FFF2-40B4-BE49-F238E27FC236}">
                <a16:creationId xmlns:a16="http://schemas.microsoft.com/office/drawing/2014/main" id="{F9E8679B-C5F0-4F0B-864D-3FF5F15D3789}"/>
              </a:ext>
            </a:extLst>
          </p:cNvPr>
          <p:cNvSpPr/>
          <p:nvPr/>
        </p:nvSpPr>
        <p:spPr>
          <a:xfrm>
            <a:off x="8496894" y="2229405"/>
            <a:ext cx="2981691" cy="1261745"/>
          </a:xfrm>
          <a:prstGeom prst="rect">
            <a:avLst/>
          </a:prstGeom>
          <a:ln>
            <a:noFill/>
          </a:ln>
        </p:spPr>
        <p:txBody>
          <a:bodyPr wrap="square" lIns="0" rIns="0" tIns="0" bIns="0">
            <a:noAutofit/>
          </a:bodyPr>
          <a:lstStyle/>
          <a:p>
            <a:pPr marL="0" indent="0" algn="l">
              <a:lnSpc>
                <a:spcPct val="108000"/>
              </a:lnSpc>
              <a:buNone/>
            </a:pPr>
            <a:r>
              <a:rPr lang="en-HK" sz="1550" dirty="0">
                <a:latin typeface="Times New Roman" panose="02020603050405020304" pitchFamily="18" charset="0"/>
                <a:ea typeface="SimSun"/>
                <a:cs typeface="Times New Roman" panose="02020603050405020304" pitchFamily="18" charset="0"/>
              </a:rPr>
              <a:t>An inlet air temperature of</a:t>
            </a:r>
            <a:r>
              <a:rPr lang="en-HK" sz="1550" dirty="0">
                <a:solidFill>
                  <a:srgbClr val="A60626"/>
                </a:solidFill>
                <a:latin typeface="Times New Roman" panose="02020603050405020304" pitchFamily="18" charset="0"/>
                <a:ea typeface="SimSun"/>
                <a:cs typeface="Times New Roman" panose="02020603050405020304" pitchFamily="18" charset="0"/>
              </a:rPr>
              <a:t> 32°C, </a:t>
            </a:r>
            <a:r>
              <a:rPr lang="en-HK" sz="1550" dirty="0">
                <a:latin typeface="Times New Roman" panose="02020603050405020304" pitchFamily="18" charset="0"/>
                <a:ea typeface="SimSun"/>
                <a:cs typeface="Times New Roman" panose="02020603050405020304" pitchFamily="18" charset="0"/>
              </a:rPr>
              <a:t>with increases of </a:t>
            </a:r>
            <a:r>
              <a:rPr lang="en-HK" sz="1550" dirty="0">
                <a:solidFill>
                  <a:srgbClr val="A60626"/>
                </a:solidFill>
                <a:latin typeface="Times New Roman" panose="02020603050405020304" pitchFamily="18" charset="0"/>
                <a:ea typeface="SimSun"/>
                <a:cs typeface="Times New Roman" panose="02020603050405020304" pitchFamily="18" charset="0"/>
              </a:rPr>
              <a:t>15.1% and 17.6% </a:t>
            </a:r>
            <a:r>
              <a:rPr lang="en-HK" sz="1550" dirty="0">
                <a:latin typeface="Times New Roman" panose="02020603050405020304" pitchFamily="18" charset="0"/>
                <a:ea typeface="SimSun"/>
                <a:cs typeface="Times New Roman" panose="02020603050405020304" pitchFamily="18" charset="0"/>
              </a:rPr>
              <a:t>for</a:t>
            </a:r>
            <a:r>
              <a:rPr lang="en-HK" sz="1550" dirty="0">
                <a:solidFill>
                  <a:srgbClr val="A60626"/>
                </a:solidFill>
                <a:latin typeface="Times New Roman" panose="02020603050405020304" pitchFamily="18" charset="0"/>
                <a:ea typeface="SimSun"/>
                <a:cs typeface="Times New Roman" panose="02020603050405020304" pitchFamily="18" charset="0"/>
              </a:rPr>
              <a:t> 𝜀𝑤 and COP.</a:t>
            </a:r>
          </a:p>
        </p:txBody>
      </p:sp>
      <p:sp>
        <p:nvSpPr>
          <p:cNvPr id="34" name="TextBox 1"/>
          <p:cNvSpPr txBox="1"/>
          <p:nvPr/>
        </p:nvSpPr>
        <p:spPr>
          <a:xfrm>
            <a:off x="8496894" y="2943780"/>
            <a:ext cx="2981691" cy="547369"/>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入口温度为 32 ℃ 时，湿球效率与 COP 分别提高 15.1% 和 17.6%。</a:t>
            </a:r>
          </a:p>
        </p:txBody>
      </p:sp>
      <p:sp>
        <p:nvSpPr>
          <p:cNvPr id="35" name="矩形 2">
            <a:extLst>
              <a:ext uri="{FF2B5EF4-FFF2-40B4-BE49-F238E27FC236}">
                <a16:creationId xmlns:a16="http://schemas.microsoft.com/office/drawing/2014/main" id="{38A8C48D-5398-4E50-AE8B-953F25FB8D88}"/>
              </a:ext>
            </a:extLst>
          </p:cNvPr>
          <p:cNvSpPr/>
          <p:nvPr/>
        </p:nvSpPr>
        <p:spPr>
          <a:xfrm>
            <a:off x="8496894" y="4887749"/>
            <a:ext cx="2916816" cy="1261745"/>
          </a:xfrm>
          <a:prstGeom prst="rect">
            <a:avLst/>
          </a:prstGeom>
          <a:ln>
            <a:noFill/>
          </a:ln>
        </p:spPr>
        <p:txBody>
          <a:bodyPr wrap="square" lIns="0" rIns="0" tIns="0" bIns="0">
            <a:noAutofit/>
          </a:bodyPr>
          <a:lstStyle/>
          <a:p>
            <a:pPr marL="0" indent="0" algn="l">
              <a:lnSpc>
                <a:spcPct val="108000"/>
              </a:lnSpc>
              <a:buNone/>
            </a:pPr>
            <a:r>
              <a:rPr lang="en-HK" sz="1550" dirty="0">
                <a:latin typeface="Times New Roman" panose="02020603050405020304" pitchFamily="18" charset="0"/>
                <a:ea typeface="SimSun"/>
                <a:cs typeface="Times New Roman" panose="02020603050405020304" pitchFamily="18" charset="0"/>
              </a:rPr>
              <a:t>An inlet air velocity of </a:t>
            </a:r>
            <a:r>
              <a:rPr lang="en-HK" sz="1550" dirty="0">
                <a:solidFill>
                  <a:srgbClr val="A60626"/>
                </a:solidFill>
                <a:latin typeface="Times New Roman" panose="02020603050405020304" pitchFamily="18" charset="0"/>
                <a:ea typeface="SimSun"/>
                <a:cs typeface="Times New Roman" panose="02020603050405020304" pitchFamily="18" charset="0"/>
              </a:rPr>
              <a:t>2 m/s, </a:t>
            </a:r>
            <a:r>
              <a:rPr lang="en-HK" sz="1550" dirty="0">
                <a:latin typeface="Times New Roman" panose="02020603050405020304" pitchFamily="18" charset="0"/>
                <a:ea typeface="SimSun"/>
                <a:cs typeface="Times New Roman" panose="02020603050405020304" pitchFamily="18" charset="0"/>
              </a:rPr>
              <a:t>with increases of </a:t>
            </a:r>
            <a:r>
              <a:rPr lang="en-HK" sz="1550" dirty="0">
                <a:solidFill>
                  <a:srgbClr val="A60626"/>
                </a:solidFill>
                <a:latin typeface="Times New Roman" panose="02020603050405020304" pitchFamily="18" charset="0"/>
                <a:ea typeface="SimSun"/>
                <a:cs typeface="Times New Roman" panose="02020603050405020304" pitchFamily="18" charset="0"/>
              </a:rPr>
              <a:t>10.4% and 14.9% </a:t>
            </a:r>
            <a:r>
              <a:rPr lang="en-HK" sz="1550" dirty="0">
                <a:latin typeface="Times New Roman" panose="02020603050405020304" pitchFamily="18" charset="0"/>
                <a:ea typeface="SimSun"/>
                <a:cs typeface="Times New Roman" panose="02020603050405020304" pitchFamily="18" charset="0"/>
              </a:rPr>
              <a:t>for</a:t>
            </a:r>
            <a:r>
              <a:rPr lang="en-HK" sz="1550" dirty="0">
                <a:solidFill>
                  <a:srgbClr val="A60626"/>
                </a:solidFill>
                <a:latin typeface="Times New Roman" panose="02020603050405020304" pitchFamily="18" charset="0"/>
                <a:ea typeface="SimSun"/>
                <a:cs typeface="Times New Roman" panose="02020603050405020304" pitchFamily="18" charset="0"/>
              </a:rPr>
              <a:t> 𝜀</a:t>
            </a:r>
            <a:r>
              <a:rPr lang="en-HK" sz="1550" baseline="-25000" dirty="0">
                <a:solidFill>
                  <a:srgbClr val="A60626"/>
                </a:solidFill>
                <a:latin typeface="Times New Roman" panose="02020603050405020304" pitchFamily="18" charset="0"/>
                <a:ea typeface="SimSun"/>
                <a:cs typeface="Times New Roman" panose="02020603050405020304" pitchFamily="18" charset="0"/>
              </a:rPr>
              <a:t>𝑤</a:t>
            </a:r>
            <a:r>
              <a:rPr lang="en-HK" sz="1550" dirty="0">
                <a:solidFill>
                  <a:srgbClr val="A60626"/>
                </a:solidFill>
                <a:latin typeface="Times New Roman" panose="02020603050405020304" pitchFamily="18" charset="0"/>
                <a:ea typeface="SimSun"/>
                <a:cs typeface="Times New Roman" panose="02020603050405020304" pitchFamily="18" charset="0"/>
              </a:rPr>
              <a:t> and COP.</a:t>
            </a:r>
          </a:p>
        </p:txBody>
      </p:sp>
      <p:sp>
        <p:nvSpPr>
          <p:cNvPr id="36" name="TextBox 1"/>
          <p:cNvSpPr txBox="1"/>
          <p:nvPr/>
        </p:nvSpPr>
        <p:spPr>
          <a:xfrm>
            <a:off x="8496894" y="5602124"/>
            <a:ext cx="2916816" cy="547369"/>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入口速度为 2 m/s 时，湿球效率与 COP 分别提高 10.4% 和 14.9%。</a:t>
            </a:r>
          </a:p>
        </p:txBody>
      </p:sp>
    </p:spTree>
    <p:extLst>
      <p:ext uri="{BB962C8B-B14F-4D97-AF65-F5344CB8AC3E}">
        <p14:creationId xmlns:p14="http://schemas.microsoft.com/office/powerpoint/2010/main" val="36717583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36</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rgbClr val="C00000"/>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rgbClr val="C00000"/>
                </a:solidFill>
                <a:latin typeface="Times New Roman" panose="02020603050405020304" pitchFamily="18" charset="0"/>
                <a:ea typeface="SimSun"/>
                <a:cs typeface="Times New Roman" panose="02020603050405020304" pitchFamily="18" charset="0"/>
              </a:rPr>
              <a:t>modeling</a:t>
            </a:r>
            <a:r>
              <a:rPr lang="en-HK" sz="1600" b="1" dirty="0">
                <a:solidFill>
                  <a:srgbClr val="C00000"/>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34091266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3E9078E4-C115-4A20-899E-6D426CD8A4DD}"/>
              </a:ext>
            </a:extLst>
          </p:cNvPr>
          <p:cNvSpPr/>
          <p:nvPr/>
        </p:nvSpPr>
        <p:spPr bwMode="auto">
          <a:xfrm>
            <a:off x="6439711" y="3887039"/>
            <a:ext cx="4581727" cy="2669403"/>
          </a:xfrm>
          <a:prstGeom prst="roundRect">
            <a:avLst/>
          </a:prstGeom>
          <a:solidFill>
            <a:srgbClr val="AF1E3B">
              <a:alpha val="23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dirty="0">
              <a:ln>
                <a:noFill/>
              </a:ln>
              <a:solidFill>
                <a:schemeClr val="bg2"/>
              </a:solidFill>
              <a:effectLst/>
              <a:latin typeface="Times New Roman" charset="0"/>
              <a:ea typeface="SimSun"/>
              <a:cs typeface="Times New Roman"/>
            </a:endParaRPr>
          </a:p>
        </p:txBody>
      </p:sp>
      <p:pic>
        <p:nvPicPr>
          <p:cNvPr id="21" name="图片 20">
            <a:extLst>
              <a:ext uri="{FF2B5EF4-FFF2-40B4-BE49-F238E27FC236}">
                <a16:creationId xmlns:a16="http://schemas.microsoft.com/office/drawing/2014/main" id="{E1660BA4-447B-4242-9817-91C7A43F4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996" y="3805159"/>
            <a:ext cx="4973942" cy="252000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1868450" y="6370272"/>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Fig.5.1.1 </a:t>
            </a:r>
            <a:r>
              <a:rPr lang="en-HK" sz="1200" dirty="0">
                <a:solidFill>
                  <a:prstClr val="black"/>
                </a:solidFill>
                <a:latin typeface="Times New Roman" panose="02020603050405020304" pitchFamily="18" charset="0"/>
                <a:ea typeface="SimSun"/>
                <a:cs typeface="Times New Roman" panose="02020603050405020304" pitchFamily="18" charset="0"/>
              </a:rPr>
              <a:t>Schematic diagram of the IEC system </a:t>
            </a:r>
          </a:p>
        </p:txBody>
      </p:sp>
      <p:pic>
        <p:nvPicPr>
          <p:cNvPr id="15" name="图片 14">
            <a:extLst>
              <a:ext uri="{FF2B5EF4-FFF2-40B4-BE49-F238E27FC236}">
                <a16:creationId xmlns:a16="http://schemas.microsoft.com/office/drawing/2014/main" id="{5B6DA965-682F-43E0-A254-DC03A6176842}"/>
              </a:ext>
            </a:extLst>
          </p:cNvPr>
          <p:cNvPicPr>
            <a:picLocks noChangeAspect="1"/>
          </p:cNvPicPr>
          <p:nvPr/>
        </p:nvPicPr>
        <p:blipFill>
          <a:blip r:embed="rId4"/>
          <a:stretch>
            <a:fillRect/>
          </a:stretch>
        </p:blipFill>
        <p:spPr>
          <a:xfrm>
            <a:off x="6624725" y="1432387"/>
            <a:ext cx="4164461" cy="2195350"/>
          </a:xfrm>
          <a:prstGeom prst="rect">
            <a:avLst/>
          </a:prstGeom>
        </p:spPr>
      </p:pic>
      <p:sp>
        <p:nvSpPr>
          <p:cNvPr id="18" name="矩形 17">
            <a:extLst>
              <a:ext uri="{FF2B5EF4-FFF2-40B4-BE49-F238E27FC236}">
                <a16:creationId xmlns:a16="http://schemas.microsoft.com/office/drawing/2014/main" id="{B0BE6500-96CF-4098-BD87-31F2B1858CCD}"/>
              </a:ext>
            </a:extLst>
          </p:cNvPr>
          <p:cNvSpPr/>
          <p:nvPr/>
        </p:nvSpPr>
        <p:spPr>
          <a:xfrm>
            <a:off x="5997123" y="1213461"/>
            <a:ext cx="4792063"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Table 5.1.1 </a:t>
            </a:r>
            <a:r>
              <a:rPr lang="en-HK" sz="1400"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22" name="文本框 21">
            <a:extLst>
              <a:ext uri="{FF2B5EF4-FFF2-40B4-BE49-F238E27FC236}">
                <a16:creationId xmlns:a16="http://schemas.microsoft.com/office/drawing/2014/main" id="{41A6500A-464D-4FD0-941B-13435C71BC36}"/>
              </a:ext>
            </a:extLst>
          </p:cNvPr>
          <p:cNvSpPr txBox="1"/>
          <p:nvPr/>
        </p:nvSpPr>
        <p:spPr>
          <a:xfrm>
            <a:off x="849996" y="1329178"/>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Data preparation</a:t>
            </a:r>
            <a:endParaRPr lang="zh-CN" altLang="en-US" sz="1600" dirty="0">
              <a:latin typeface="Times New Roman"/>
              <a:ea typeface="SimSun"/>
              <a:cs typeface="Times New Roman"/>
            </a:endParaRPr>
          </a:p>
        </p:txBody>
      </p:sp>
      <p:sp>
        <p:nvSpPr>
          <p:cNvPr id="23" name="文本框 22">
            <a:extLst>
              <a:ext uri="{FF2B5EF4-FFF2-40B4-BE49-F238E27FC236}">
                <a16:creationId xmlns:a16="http://schemas.microsoft.com/office/drawing/2014/main" id="{FA861512-BAB0-468A-B0A7-A4D2B0FF270C}"/>
              </a:ext>
            </a:extLst>
          </p:cNvPr>
          <p:cNvSpPr txBox="1"/>
          <p:nvPr/>
        </p:nvSpPr>
        <p:spPr>
          <a:xfrm>
            <a:off x="849996" y="3548486"/>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Collection of experimental data </a:t>
            </a:r>
            <a:endParaRPr lang="zh-CN" altLang="en-US" sz="1600" dirty="0">
              <a:latin typeface="Times New Roman"/>
              <a:ea typeface="SimSun"/>
              <a:cs typeface="Times New Roman"/>
            </a:endParaRPr>
          </a:p>
        </p:txBody>
      </p:sp>
      <p:sp>
        <p:nvSpPr>
          <p:cNvPr id="16" name="灯片编号占位符 15">
            <a:extLst>
              <a:ext uri="{FF2B5EF4-FFF2-40B4-BE49-F238E27FC236}">
                <a16:creationId xmlns:a16="http://schemas.microsoft.com/office/drawing/2014/main" id="{BF110477-1DEF-423A-8E83-83A6099C6B60}"/>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37</a:t>
            </a:fld>
            <a:endParaRPr lang="en-US" altLang="zh-CN">
              <a:latin typeface="Times New Roman"/>
              <a:ea typeface="SimSun"/>
              <a:cs typeface="Times New Roman"/>
            </a:endParaRPr>
          </a:p>
        </p:txBody>
      </p:sp>
      <p:sp>
        <p:nvSpPr>
          <p:cNvPr id="3" name="矩形 2">
            <a:extLst>
              <a:ext uri="{FF2B5EF4-FFF2-40B4-BE49-F238E27FC236}">
                <a16:creationId xmlns:a16="http://schemas.microsoft.com/office/drawing/2014/main" id="{F846385A-0B21-4973-BD64-990769005F24}"/>
              </a:ext>
            </a:extLst>
          </p:cNvPr>
          <p:cNvSpPr/>
          <p:nvPr/>
        </p:nvSpPr>
        <p:spPr>
          <a:xfrm>
            <a:off x="7410170" y="3473848"/>
            <a:ext cx="1165704" cy="307777"/>
          </a:xfrm>
          <a:prstGeom prst="rect">
            <a:avLst/>
          </a:prstGeom>
        </p:spPr>
        <p:txBody>
          <a:bodyPr wrap="none">
            <a:spAutoFit/>
          </a:bodyPr>
          <a:lstStyle/>
          <a:p>
            <a:r>
              <a:rPr lang="en-US" sz="1400" dirty="0">
                <a:latin typeface="Times New Roman" panose="02020603050405020304" pitchFamily="18" charset="0"/>
                <a:ea typeface="SimSun"/>
                <a:cs typeface="Times New Roman" panose="02020603050405020304" pitchFamily="18" charset="0"/>
              </a:rPr>
              <a:t>(weight ratio)</a:t>
            </a:r>
          </a:p>
        </p:txBody>
      </p:sp>
      <p:sp>
        <p:nvSpPr>
          <p:cNvPr id="2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研究思路与模型建立</a:t>
            </a:r>
          </a:p>
        </p:txBody>
      </p:sp>
      <p:sp>
        <p:nvSpPr>
          <p:cNvPr id="2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5.1 Concept and model set up</a:t>
            </a:r>
          </a:p>
        </p:txBody>
      </p:sp>
      <p:sp>
        <p:nvSpPr>
          <p:cNvPr id="2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2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9" name="文本框 10">
            <a:extLst>
              <a:ext uri="{FF2B5EF4-FFF2-40B4-BE49-F238E27FC236}">
                <a16:creationId xmlns:a16="http://schemas.microsoft.com/office/drawing/2014/main" id="{0200EE70-2D6D-6085-98C4-D9B1EFFC1613}"/>
              </a:ext>
            </a:extLst>
          </p:cNvPr>
          <p:cNvSpPr txBox="1"/>
          <p:nvPr/>
        </p:nvSpPr>
        <p:spPr>
          <a:xfrm>
            <a:off x="6735361" y="4070697"/>
            <a:ext cx="4099415" cy="516128"/>
          </a:xfrm>
          <a:prstGeom prst="rect">
            <a:avLst/>
          </a:prstGeom>
          <a:noFill/>
          <a:ln>
            <a:noFill/>
          </a:ln>
        </p:spPr>
        <p:txBody>
          <a:bodyPr wrap="square" lIns="0" rIns="0" tIns="0" bIns="0">
            <a:noAutofit/>
          </a:bodyPr>
          <a:lstStyle/>
          <a:p>
            <a:pPr marL="0" indent="0" algn="l">
              <a:lnSpc>
                <a:spcPct val="108000"/>
              </a:lnSpc>
              <a:buNone/>
            </a:pPr>
            <a:r>
              <a:rPr lang="en-HK" altLang="zh-CN" sz="1300" dirty="0">
                <a:latin typeface="Times New Roman" panose="02020603050405020304" pitchFamily="18" charset="0"/>
                <a:ea typeface="SimSun" panose="02010600030101010101" pitchFamily="2" charset="-122"/>
                <a:cs typeface="Times New Roman"/>
              </a:rPr>
              <a:t>Conducted on a laboratory-scale prototype of the IEC system</a:t>
            </a:r>
            <a:endParaRPr lang="en-US" altLang="zh-CN" sz="1600" dirty="0">
              <a:latin typeface="Times New Roman" panose="02020603050405020304" pitchFamily="18" charset="0"/>
              <a:ea typeface="SimSun" panose="02010600030101010101" pitchFamily="2" charset="-122"/>
              <a:cs typeface="Times New Roman"/>
            </a:endParaRPr>
          </a:p>
        </p:txBody>
      </p:sp>
      <p:sp>
        <p:nvSpPr>
          <p:cNvPr id="30" name="TextBox 1"/>
          <p:cNvSpPr txBox="1"/>
          <p:nvPr/>
        </p:nvSpPr>
        <p:spPr>
          <a:xfrm>
            <a:off x="6735361" y="4300059"/>
            <a:ext cx="4099414"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采用实验室尺度的 IEC 原型开展研究。</a:t>
            </a:r>
          </a:p>
        </p:txBody>
      </p:sp>
      <p:sp>
        <p:nvSpPr>
          <p:cNvPr id="31" name="文本框 10">
            <a:extLst>
              <a:ext uri="{FF2B5EF4-FFF2-40B4-BE49-F238E27FC236}">
                <a16:creationId xmlns:a16="http://schemas.microsoft.com/office/drawing/2014/main" id="{0200EE70-2D6D-6085-98C4-D9B1EFFC1613}"/>
              </a:ext>
            </a:extLst>
          </p:cNvPr>
          <p:cNvSpPr txBox="1"/>
          <p:nvPr/>
        </p:nvSpPr>
        <p:spPr>
          <a:xfrm>
            <a:off x="6735361" y="4586825"/>
            <a:ext cx="4099415" cy="704342"/>
          </a:xfrm>
          <a:prstGeom prst="rect">
            <a:avLst/>
          </a:prstGeom>
          <a:noFill/>
          <a:ln>
            <a:noFill/>
          </a:ln>
        </p:spPr>
        <p:txBody>
          <a:bodyPr wrap="square" lIns="0" rIns="0" tIns="0" bIns="0">
            <a:noAutofit/>
          </a:bodyPr>
          <a:lstStyle/>
          <a:p>
            <a:pPr marL="0" indent="0" algn="l">
              <a:lnSpc>
                <a:spcPct val="108000"/>
              </a:lnSpc>
              <a:buNone/>
            </a:pPr>
            <a:r>
              <a:rPr lang="en-US" altLang="zh-CN" sz="1300" dirty="0">
                <a:latin typeface="Times New Roman" panose="02020603050405020304" pitchFamily="18" charset="0"/>
                <a:ea typeface="SimSun" panose="02010600030101010101" pitchFamily="2" charset="-122"/>
                <a:cs typeface="Times New Roman"/>
              </a:rPr>
              <a:t>Components</a:t>
            </a:r>
            <a:r>
              <a:rPr lang="en-HK" altLang="zh-CN" sz="1300" dirty="0">
                <a:latin typeface="Times New Roman" panose="02020603050405020304" pitchFamily="18" charset="0"/>
                <a:ea typeface="SimSun" panose="02010600030101010101" pitchFamily="2" charset="-122"/>
                <a:cs typeface="Times New Roman"/>
              </a:rPr>
              <a:t>: cross-flow heat exchanger, nozzles and water pump.</a:t>
            </a:r>
          </a:p>
        </p:txBody>
      </p:sp>
      <p:sp>
        <p:nvSpPr>
          <p:cNvPr id="32" name="TextBox 1"/>
          <p:cNvSpPr txBox="1"/>
          <p:nvPr/>
        </p:nvSpPr>
        <p:spPr>
          <a:xfrm>
            <a:off x="6735361" y="5004401"/>
            <a:ext cx="4099414" cy="286766"/>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主要部件：叉流换热器、喷嘴和水泵。</a:t>
            </a:r>
          </a:p>
        </p:txBody>
      </p:sp>
      <p:sp>
        <p:nvSpPr>
          <p:cNvPr id="33" name="文本框 10">
            <a:extLst>
              <a:ext uri="{FF2B5EF4-FFF2-40B4-BE49-F238E27FC236}">
                <a16:creationId xmlns:a16="http://schemas.microsoft.com/office/drawing/2014/main" id="{0200EE70-2D6D-6085-98C4-D9B1EFFC1613}"/>
              </a:ext>
            </a:extLst>
          </p:cNvPr>
          <p:cNvSpPr txBox="1"/>
          <p:nvPr/>
        </p:nvSpPr>
        <p:spPr>
          <a:xfrm>
            <a:off x="6735361" y="5291167"/>
            <a:ext cx="4099415" cy="892556"/>
          </a:xfrm>
          <a:prstGeom prst="rect">
            <a:avLst/>
          </a:prstGeom>
          <a:noFill/>
          <a:ln>
            <a:noFill/>
          </a:ln>
        </p:spPr>
        <p:txBody>
          <a:bodyPr wrap="square" lIns="0" rIns="0" tIns="0" bIns="0">
            <a:noAutofit/>
          </a:bodyPr>
          <a:lstStyle/>
          <a:p>
            <a:pPr marL="0" indent="0" algn="l">
              <a:lnSpc>
                <a:spcPct val="108000"/>
              </a:lnSpc>
              <a:buNone/>
            </a:pPr>
            <a:r>
              <a:rPr lang="en-HK" altLang="zh-CN" sz="1300" dirty="0">
                <a:latin typeface="Times New Roman" panose="02020603050405020304" pitchFamily="18" charset="0"/>
                <a:ea typeface="SimSun" panose="02010600030101010101" pitchFamily="2" charset="-122"/>
                <a:cs typeface="Times New Roman"/>
              </a:rPr>
              <a:t>Keep the other basic parameters of the IEC constant, change the six main parameters, and record the effects.</a:t>
            </a:r>
            <a:endParaRPr lang="zh-CN" altLang="en-US" sz="1600" dirty="0">
              <a:latin typeface="Times New Roman"/>
              <a:ea typeface="SimSun"/>
              <a:cs typeface="Times New Roman"/>
            </a:endParaRPr>
          </a:p>
        </p:txBody>
      </p:sp>
      <p:sp>
        <p:nvSpPr>
          <p:cNvPr id="34" name="TextBox 1"/>
          <p:cNvSpPr txBox="1"/>
          <p:nvPr/>
        </p:nvSpPr>
        <p:spPr>
          <a:xfrm>
            <a:off x="6735361" y="5708743"/>
            <a:ext cx="4099414" cy="474980"/>
          </a:xfrm>
          <a:prstGeom prst="rect">
            <a:avLst/>
          </a:prstGeom>
          <a:noFill/>
        </p:spPr>
        <p:txBody>
          <a:bodyPr wrap="square" lIns="0" rIns="0" tIns="0" bIns="0">
            <a:spAutoFit/>
          </a:bodyPr>
          <a:lstStyle/>
          <a:p>
            <a:pPr>
              <a:lnSpc>
                <a:spcPct val="105000"/>
              </a:lnSpc>
              <a:spcAft>
                <a:spcPts val="0"/>
              </a:spcAft>
            </a:pPr>
            <a:r>
              <a:rPr sz="1300" b="0">
                <a:solidFill>
                  <a:srgbClr val="24425A"/>
                </a:solidFill>
                <a:latin typeface="Times New Roman"/>
                <a:ea typeface="SimSun"/>
                <a:cs typeface="Times New Roman"/>
              </a:rPr>
              <a:t>保持其他基础参数不变，改变六项主要参数并记录性能变化。</a:t>
            </a:r>
          </a:p>
        </p:txBody>
      </p:sp>
      <p:sp>
        <p:nvSpPr>
          <p:cNvPr id="35" name="文本框 18">
            <a:extLst>
              <a:ext uri="{FF2B5EF4-FFF2-40B4-BE49-F238E27FC236}">
                <a16:creationId xmlns:a16="http://schemas.microsoft.com/office/drawing/2014/main" id="{16033E44-65C4-4D46-968B-3B12EFFAD4FB}"/>
              </a:ext>
            </a:extLst>
          </p:cNvPr>
          <p:cNvSpPr txBox="1"/>
          <p:nvPr/>
        </p:nvSpPr>
        <p:spPr>
          <a:xfrm>
            <a:off x="1016731" y="1510254"/>
            <a:ext cx="4098570" cy="1037336"/>
          </a:xfrm>
          <a:prstGeom prst="rect">
            <a:avLst/>
          </a:prstGeom>
          <a:noFill/>
          <a:ln>
            <a:noFill/>
          </a:ln>
        </p:spPr>
        <p:txBody>
          <a:bodyPr wrap="square" lIns="0" rIns="0" tIns="0" bIns="0">
            <a:noAutofit/>
          </a:bodyPr>
          <a:lstStyle/>
          <a:p>
            <a:pPr marL="0" indent="0" algn="l">
              <a:lnSpc>
                <a:spcPct val="108000"/>
              </a:lnSpc>
              <a:buNone/>
            </a:pPr>
            <a:r>
              <a:rPr lang="en-HK" altLang="zh-CN" sz="1550" dirty="0">
                <a:latin typeface="Times New Roman" panose="02020603050405020304" pitchFamily="18" charset="0"/>
                <a:ea typeface="SimSun" panose="02010600030101010101" pitchFamily="2" charset="-122"/>
                <a:cs typeface="Times New Roman"/>
              </a:rPr>
              <a:t>The </a:t>
            </a:r>
            <a:r>
              <a:rPr lang="en-HK" altLang="zh-CN" sz="1550" b="1" dirty="0">
                <a:solidFill>
                  <a:srgbClr val="AF1E3B"/>
                </a:solidFill>
                <a:latin typeface="Times New Roman" panose="02020603050405020304" pitchFamily="18" charset="0"/>
                <a:ea typeface="SimSun" panose="02010600030101010101" pitchFamily="2" charset="-122"/>
                <a:cs typeface="Times New Roman"/>
              </a:rPr>
              <a:t>six</a:t>
            </a:r>
            <a:r>
              <a:rPr lang="en-HK" altLang="zh-CN" sz="1550" dirty="0">
                <a:latin typeface="Times New Roman" panose="02020603050405020304" pitchFamily="18" charset="0"/>
                <a:ea typeface="SimSun" panose="02010600030101010101" pitchFamily="2" charset="-122"/>
                <a:cs typeface="Times New Roman"/>
              </a:rPr>
              <a:t> </a:t>
            </a:r>
            <a:r>
              <a:rPr lang="en-HK" altLang="zh-CN" sz="1550" b="1" dirty="0">
                <a:solidFill>
                  <a:srgbClr val="AF1E3B"/>
                </a:solidFill>
                <a:latin typeface="Times New Roman" panose="02020603050405020304" pitchFamily="18" charset="0"/>
                <a:ea typeface="SimSun" panose="02010600030101010101" pitchFamily="2" charset="-122"/>
                <a:cs typeface="Times New Roman"/>
              </a:rPr>
              <a:t>parameters </a:t>
            </a:r>
            <a:r>
              <a:rPr lang="en-HK" altLang="zh-CN" sz="1550" dirty="0">
                <a:latin typeface="Times New Roman" panose="02020603050405020304" pitchFamily="18" charset="0"/>
                <a:ea typeface="SimSun" panose="02010600030101010101" pitchFamily="2" charset="-122"/>
                <a:cs typeface="Times New Roman"/>
              </a:rPr>
              <a:t>of the spray system that affect the performance of IEC can be identified in the table.</a:t>
            </a:r>
          </a:p>
        </p:txBody>
      </p:sp>
      <p:sp>
        <p:nvSpPr>
          <p:cNvPr id="36" name="TextBox 1"/>
          <p:cNvSpPr txBox="1"/>
          <p:nvPr/>
        </p:nvSpPr>
        <p:spPr>
          <a:xfrm>
            <a:off x="1016731" y="2224629"/>
            <a:ext cx="4098570"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表中列出了影响 IEC 性能的六项喷淋参数。</a:t>
            </a:r>
          </a:p>
        </p:txBody>
      </p:sp>
      <p:sp>
        <p:nvSpPr>
          <p:cNvPr id="37" name="文本框 18">
            <a:extLst>
              <a:ext uri="{FF2B5EF4-FFF2-40B4-BE49-F238E27FC236}">
                <a16:creationId xmlns:a16="http://schemas.microsoft.com/office/drawing/2014/main" id="{16033E44-65C4-4D46-968B-3B12EFFAD4FB}"/>
              </a:ext>
            </a:extLst>
          </p:cNvPr>
          <p:cNvSpPr txBox="1"/>
          <p:nvPr/>
        </p:nvSpPr>
        <p:spPr>
          <a:xfrm>
            <a:off x="1016731" y="2547590"/>
            <a:ext cx="4098570" cy="812927"/>
          </a:xfrm>
          <a:prstGeom prst="rect">
            <a:avLst/>
          </a:prstGeom>
          <a:noFill/>
          <a:ln>
            <a:noFill/>
          </a:ln>
        </p:spPr>
        <p:txBody>
          <a:bodyPr wrap="square" lIns="0" rIns="0" tIns="0" bIns="0">
            <a:noAutofit/>
          </a:bodyPr>
          <a:lstStyle/>
          <a:p>
            <a:pPr marL="0" indent="0" algn="l">
              <a:lnSpc>
                <a:spcPct val="108000"/>
              </a:lnSpc>
              <a:buNone/>
            </a:pPr>
            <a:r>
              <a:rPr lang="en-HK" altLang="zh-CN" sz="1550" dirty="0">
                <a:latin typeface="Times New Roman" panose="02020603050405020304" pitchFamily="18" charset="0"/>
                <a:ea typeface="SimSun" panose="02010600030101010101" pitchFamily="2" charset="-122"/>
                <a:cs typeface="Times New Roman"/>
              </a:rPr>
              <a:t>Evaluation indexes: </a:t>
            </a:r>
            <a:r>
              <a:rPr lang="en-HK" altLang="zh-CN" sz="1550" b="1" dirty="0">
                <a:solidFill>
                  <a:srgbClr val="AF1E3B"/>
                </a:solidFill>
                <a:latin typeface="Times New Roman" panose="02020603050405020304" pitchFamily="18" charset="0"/>
                <a:ea typeface="SimSun" panose="02010600030101010101" pitchFamily="2" charset="-122"/>
                <a:cs typeface="Times New Roman"/>
              </a:rPr>
              <a:t>wet-bulb efficiency</a:t>
            </a:r>
            <a:r>
              <a:rPr lang="en-HK" altLang="zh-CN" sz="1550" dirty="0">
                <a:latin typeface="Times New Roman" panose="02020603050405020304" pitchFamily="18" charset="0"/>
                <a:ea typeface="SimSun" panose="02010600030101010101" pitchFamily="2" charset="-122"/>
                <a:cs typeface="Times New Roman"/>
              </a:rPr>
              <a:t> and </a:t>
            </a:r>
            <a:r>
              <a:rPr lang="en-HK" altLang="zh-CN" sz="1550" b="1" dirty="0">
                <a:solidFill>
                  <a:srgbClr val="AF1E3B"/>
                </a:solidFill>
                <a:latin typeface="Times New Roman" panose="02020603050405020304" pitchFamily="18" charset="0"/>
                <a:ea typeface="SimSun" panose="02010600030101010101" pitchFamily="2" charset="-122"/>
                <a:cs typeface="Times New Roman"/>
              </a:rPr>
              <a:t>pressure drop</a:t>
            </a:r>
            <a:r>
              <a:rPr lang="en-HK" altLang="zh-CN" sz="1550" dirty="0">
                <a:latin typeface="Times New Roman" panose="02020603050405020304" pitchFamily="18" charset="0"/>
                <a:ea typeface="SimSun" panose="02010600030101010101" pitchFamily="2" charset="-122"/>
                <a:cs typeface="Times New Roman"/>
              </a:rPr>
              <a:t>.</a:t>
            </a:r>
            <a:endParaRPr lang="zh-CN" altLang="en-US" sz="1600" dirty="0">
              <a:latin typeface="Times New Roman"/>
              <a:ea typeface="SimSun"/>
              <a:cs typeface="Times New Roman"/>
            </a:endParaRPr>
          </a:p>
        </p:txBody>
      </p:sp>
      <p:sp>
        <p:nvSpPr>
          <p:cNvPr id="38" name="TextBox 1"/>
          <p:cNvSpPr txBox="1"/>
          <p:nvPr/>
        </p:nvSpPr>
        <p:spPr>
          <a:xfrm>
            <a:off x="1016731" y="3037556"/>
            <a:ext cx="4098570"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评价指标：湿球效率与压降。</a:t>
            </a:r>
          </a:p>
        </p:txBody>
      </p:sp>
    </p:spTree>
    <p:extLst>
      <p:ext uri="{BB962C8B-B14F-4D97-AF65-F5344CB8AC3E}">
        <p14:creationId xmlns:p14="http://schemas.microsoft.com/office/powerpoint/2010/main" val="93238009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6DD5FBB7-A269-4047-BA87-946C37C02DDF}"/>
              </a:ext>
            </a:extLst>
          </p:cNvPr>
          <p:cNvPicPr/>
          <p:nvPr/>
        </p:nvPicPr>
        <p:blipFill>
          <a:blip r:embed="rId3">
            <a:extLst>
              <a:ext uri="{28A0092B-C50C-407E-A947-70E740481C1C}">
                <a14:useLocalDpi xmlns:a14="http://schemas.microsoft.com/office/drawing/2010/main" val="0"/>
              </a:ext>
            </a:extLst>
          </a:blip>
          <a:stretch>
            <a:fillRect/>
          </a:stretch>
        </p:blipFill>
        <p:spPr>
          <a:xfrm>
            <a:off x="5299174" y="2816213"/>
            <a:ext cx="5513070" cy="377952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6851339" y="6571944"/>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Fig.5.2.1 </a:t>
            </a:r>
            <a:r>
              <a:rPr lang="en-HK" sz="1200"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30F4554-0DA0-4692-9CD6-EA99E55F8553}"/>
                  </a:ext>
                </a:extLst>
              </p:cNvPr>
              <p:cNvSpPr txBox="1"/>
              <p:nvPr/>
            </p:nvSpPr>
            <p:spPr>
              <a:xfrm>
                <a:off x="1379756" y="3120815"/>
                <a:ext cx="3439494" cy="3734036"/>
              </a:xfrm>
              <a:prstGeom prst="rect">
                <a:avLst/>
              </a:prstGeom>
              <a:noFill/>
            </p:spPr>
            <p:txBody>
              <a:bodyPr wrap="square">
                <a:spAutoFit/>
              </a:bodyPr>
              <a:lstStyle/>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Input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𝑋</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𝑖</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𝑛𝑗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𝑓</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𝑎</m:t>
                              </m:r>
                            </m:e>
                            <m:sub>
                              <m:r>
                                <a:rPr lang="en-US" sz="1400" i="1">
                                  <a:latin typeface="Times New Roman" panose="02040503050406030204" pitchFamily="18" charset="0"/>
                                  <a:ea typeface="SimSun"/>
                                  <a:cs typeface="Times New Roman"/>
                                </a:rPr>
                                <m:t>𝑗</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𝐻</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𝑖</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𝑙𝑘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𝑙</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𝑔</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𝑏</m:t>
                              </m:r>
                            </m:e>
                            <m:sub>
                              <m:r>
                                <a:rPr lang="en-US" sz="1400" i="1">
                                  <a:latin typeface="Times New Roman" panose="02040503050406030204" pitchFamily="18" charset="0"/>
                                  <a:ea typeface="SimSun"/>
                                  <a:cs typeface="Times New Roman"/>
                                </a:rPr>
                                <m:t>𝑘</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𝑂</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𝑌</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zh-CN" altLang="zh-CN" sz="1400" dirty="0">
                  <a:latin typeface="Times New Roman" panose="020F0502020204030204" pitchFamily="34" charset="0"/>
                  <a:ea typeface="SimSun" panose="02010600030101010101" pitchFamily="2"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530F4554-0DA0-4692-9CD6-EA99E55F8553}"/>
                  </a:ext>
                </a:extLst>
              </p:cNvPr>
              <p:cNvSpPr txBox="1">
                <a:spLocks noRot="1" noChangeAspect="1" noMove="1" noResize="1" noEditPoints="1" noAdjustHandles="1" noChangeArrowheads="1" noChangeShapeType="1" noTextEdit="1"/>
              </p:cNvSpPr>
              <p:nvPr/>
            </p:nvSpPr>
            <p:spPr>
              <a:xfrm>
                <a:off x="1379756" y="3120815"/>
                <a:ext cx="3439494" cy="3734036"/>
              </a:xfrm>
              <a:prstGeom prst="rect">
                <a:avLst/>
              </a:prstGeom>
              <a:blipFill>
                <a:blip r:embed="rId4"/>
                <a:stretch>
                  <a:fillRect l="-708" t="-490"/>
                </a:stretch>
              </a:blipFill>
            </p:spPr>
            <p:txBody>
              <a:bodyPr/>
              <a:lstStyle/>
              <a:p>
                <a:r>
                  <a:rPr lang="en-US">
                    <a:noFill/>
                    <a:latin typeface="Times New Roman"/>
                    <a:ea typeface="SimSun"/>
                    <a:cs typeface="Times New Roman"/>
                  </a:rPr>
                  <a:t> </a:t>
                </a:r>
              </a:p>
            </p:txBody>
          </p:sp>
        </mc:Fallback>
      </mc:AlternateContent>
      <p:sp>
        <p:nvSpPr>
          <p:cNvPr id="20" name="文本框 19">
            <a:extLst>
              <a:ext uri="{FF2B5EF4-FFF2-40B4-BE49-F238E27FC236}">
                <a16:creationId xmlns:a16="http://schemas.microsoft.com/office/drawing/2014/main" id="{A6C969F7-829A-4462-A0B1-23FBF8E3028F}"/>
              </a:ext>
            </a:extLst>
          </p:cNvPr>
          <p:cNvSpPr txBox="1"/>
          <p:nvPr/>
        </p:nvSpPr>
        <p:spPr>
          <a:xfrm>
            <a:off x="1040777" y="2775772"/>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Equations describe the model </a:t>
            </a:r>
            <a:endParaRPr lang="zh-CN" altLang="en-US" sz="1600" dirty="0">
              <a:latin typeface="Times New Roman"/>
              <a:ea typeface="SimSun"/>
              <a:cs typeface="Times New Roman"/>
            </a:endParaRPr>
          </a:p>
        </p:txBody>
      </p:sp>
      <p:sp>
        <p:nvSpPr>
          <p:cNvPr id="3" name="灯片编号占位符 2">
            <a:extLst>
              <a:ext uri="{FF2B5EF4-FFF2-40B4-BE49-F238E27FC236}">
                <a16:creationId xmlns:a16="http://schemas.microsoft.com/office/drawing/2014/main" id="{EA9D3564-45AA-4278-A1FE-CFF2AB11C85D}"/>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38</a:t>
            </a:fld>
            <a:endParaRPr lang="en-US" altLang="zh-CN">
              <a:latin typeface="Times New Roman"/>
              <a:ea typeface="SimSun"/>
              <a:cs typeface="Times New Roman"/>
            </a:endParaRPr>
          </a:p>
        </p:txBody>
      </p:sp>
      <p:sp>
        <p:nvSpPr>
          <p:cNvPr id="2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神经网络模型设计</a:t>
            </a:r>
          </a:p>
        </p:txBody>
      </p:sp>
      <p:sp>
        <p:nvSpPr>
          <p:cNvPr id="2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5.2 Design of model setting</a:t>
            </a:r>
          </a:p>
        </p:txBody>
      </p:sp>
      <p:sp>
        <p:nvSpPr>
          <p:cNvPr id="2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2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9" name="文本框 18">
            <a:extLst>
              <a:ext uri="{FF2B5EF4-FFF2-40B4-BE49-F238E27FC236}">
                <a16:creationId xmlns:a16="http://schemas.microsoft.com/office/drawing/2014/main" id="{16033E44-65C4-4D46-968B-3B12EFFAD4FB}"/>
              </a:ext>
            </a:extLst>
          </p:cNvPr>
          <p:cNvSpPr txBox="1"/>
          <p:nvPr/>
        </p:nvSpPr>
        <p:spPr>
          <a:xfrm>
            <a:off x="1319197" y="1323307"/>
            <a:ext cx="4951056" cy="696976"/>
          </a:xfrm>
          <a:prstGeom prst="rect">
            <a:avLst/>
          </a:prstGeom>
          <a:noFill/>
          <a:ln>
            <a:noFill/>
          </a:ln>
        </p:spPr>
        <p:txBody>
          <a:bodyPr wrap="square" lIns="0" rIns="0" tIns="0" bIns="0">
            <a:noAutofit/>
          </a:bodyPr>
          <a:lstStyle/>
          <a:p>
            <a:pPr marL="0" indent="0" algn="l">
              <a:lnSpc>
                <a:spcPct val="108000"/>
              </a:lnSpc>
              <a:buNone/>
            </a:pPr>
            <a:r>
              <a:rPr lang="en-HK" altLang="zh-CN" sz="1400" dirty="0">
                <a:latin typeface="Times New Roman" panose="02020603050405020304" pitchFamily="18" charset="0"/>
                <a:ea typeface="SimSun" panose="02010600030101010101" pitchFamily="2" charset="-122"/>
                <a:cs typeface="Times New Roman"/>
              </a:rPr>
              <a:t>A </a:t>
            </a:r>
            <a:r>
              <a:rPr lang="en-HK" altLang="zh-CN" sz="1400" b="1" dirty="0">
                <a:solidFill>
                  <a:srgbClr val="AF1E3B"/>
                </a:solidFill>
                <a:latin typeface="Times New Roman" panose="02020603050405020304" pitchFamily="18" charset="0"/>
                <a:ea typeface="SimSun" panose="02010600030101010101" pitchFamily="2" charset="-122"/>
                <a:cs typeface="Times New Roman"/>
              </a:rPr>
              <a:t>3-layer</a:t>
            </a:r>
            <a:r>
              <a:rPr lang="en-HK" altLang="zh-CN" sz="1400" dirty="0">
                <a:latin typeface="Times New Roman" panose="02020603050405020304" pitchFamily="18" charset="0"/>
                <a:ea typeface="SimSun" panose="02010600030101010101" pitchFamily="2" charset="-122"/>
                <a:cs typeface="Times New Roman"/>
              </a:rPr>
              <a:t> network with a hidden layer comprising </a:t>
            </a:r>
            <a:r>
              <a:rPr lang="en-HK" altLang="zh-CN" sz="1400" b="1" dirty="0">
                <a:solidFill>
                  <a:srgbClr val="AF1E3B"/>
                </a:solidFill>
                <a:latin typeface="Times New Roman" panose="02020603050405020304" pitchFamily="18" charset="0"/>
                <a:ea typeface="SimSun" panose="02010600030101010101" pitchFamily="2" charset="-122"/>
                <a:cs typeface="Times New Roman"/>
              </a:rPr>
              <a:t>14 neurons</a:t>
            </a:r>
            <a:r>
              <a:rPr lang="en-HK" altLang="zh-CN" sz="1400" dirty="0">
                <a:latin typeface="Times New Roman" panose="02020603050405020304" pitchFamily="18" charset="0"/>
                <a:ea typeface="SimSun" panose="02010600030101010101" pitchFamily="2" charset="-122"/>
                <a:cs typeface="Times New Roman"/>
              </a:rPr>
              <a:t>, can effectively capture the relationship between the input and output variables.</a:t>
            </a:r>
          </a:p>
        </p:txBody>
      </p:sp>
      <p:sp>
        <p:nvSpPr>
          <p:cNvPr id="30" name="TextBox 1"/>
          <p:cNvSpPr txBox="1"/>
          <p:nvPr/>
        </p:nvSpPr>
        <p:spPr>
          <a:xfrm>
            <a:off x="6599437" y="1337023"/>
            <a:ext cx="3735007" cy="696975"/>
          </a:xfrm>
          <a:prstGeom prst="rect">
            <a:avLst/>
          </a:prstGeom>
          <a:noFill/>
        </p:spPr>
        <p:txBody>
          <a:bodyPr wrap="square" lIns="0" rIns="0" tIns="0" bIns="0">
            <a:spAutoFit/>
          </a:bodyPr>
          <a:lstStyle/>
          <a:p>
            <a:pPr>
              <a:lnSpc>
                <a:spcPct val="105000"/>
              </a:lnSpc>
              <a:spcAft>
                <a:spcPts val="0"/>
              </a:spcAft>
            </a:pPr>
            <a:r>
              <a:rPr sz="1400" b="0">
                <a:solidFill>
                  <a:srgbClr val="303030"/>
                </a:solidFill>
                <a:latin typeface="Times New Roman"/>
                <a:ea typeface="SimSun"/>
                <a:cs typeface="Times New Roman"/>
              </a:rPr>
              <a:t>采用三层神经网络，隐含层包含 14 个神经元，用于建立输入与输出变量之间的映射关系。</a:t>
            </a:r>
          </a:p>
        </p:txBody>
      </p:sp>
      <p:sp>
        <p:nvSpPr>
          <p:cNvPr id="31" name="文本框 18">
            <a:extLst>
              <a:ext uri="{FF2B5EF4-FFF2-40B4-BE49-F238E27FC236}">
                <a16:creationId xmlns:a16="http://schemas.microsoft.com/office/drawing/2014/main" id="{16033E44-65C4-4D46-968B-3B12EFFAD4FB}"/>
              </a:ext>
            </a:extLst>
          </p:cNvPr>
          <p:cNvSpPr txBox="1"/>
          <p:nvPr/>
        </p:nvSpPr>
        <p:spPr>
          <a:xfrm>
            <a:off x="1319197" y="2020283"/>
            <a:ext cx="4951056" cy="696976"/>
          </a:xfrm>
          <a:prstGeom prst="rect">
            <a:avLst/>
          </a:prstGeom>
          <a:noFill/>
          <a:ln>
            <a:noFill/>
          </a:ln>
        </p:spPr>
        <p:txBody>
          <a:bodyPr wrap="square" lIns="0" rIns="0" tIns="0" bIns="0">
            <a:noAutofit/>
          </a:bodyPr>
          <a:lstStyle/>
          <a:p>
            <a:pPr marL="0" indent="0" algn="l">
              <a:lnSpc>
                <a:spcPct val="108000"/>
              </a:lnSpc>
              <a:buNone/>
            </a:pPr>
            <a:r>
              <a:rPr lang="en-HK" altLang="zh-CN" sz="1400" dirty="0">
                <a:latin typeface="Times New Roman" panose="02020603050405020304" pitchFamily="18" charset="0"/>
                <a:ea typeface="SimSun" panose="02010600030101010101" pitchFamily="2" charset="-122"/>
                <a:cs typeface="Times New Roman"/>
              </a:rPr>
              <a:t>The dataset could be divided into three sections: the training dataset, validation dataset, and testing dataset, with portions of </a:t>
            </a:r>
            <a:r>
              <a:rPr lang="en-HK" altLang="zh-CN" sz="1400" b="1" dirty="0">
                <a:solidFill>
                  <a:srgbClr val="AF1E3B"/>
                </a:solidFill>
                <a:latin typeface="Times New Roman" panose="02020603050405020304" pitchFamily="18" charset="0"/>
                <a:ea typeface="SimSun" panose="02010600030101010101" pitchFamily="2" charset="-122"/>
                <a:cs typeface="Times New Roman"/>
              </a:rPr>
              <a:t>70%</a:t>
            </a:r>
            <a:r>
              <a:rPr lang="en-HK" altLang="zh-CN" sz="1400" dirty="0">
                <a:latin typeface="Times New Roman" panose="02020603050405020304" pitchFamily="18" charset="0"/>
                <a:ea typeface="SimSun" panose="02010600030101010101" pitchFamily="2" charset="-122"/>
                <a:cs typeface="Times New Roman"/>
              </a:rPr>
              <a:t>, </a:t>
            </a:r>
            <a:r>
              <a:rPr lang="en-HK" altLang="zh-CN" sz="1400" b="1" dirty="0">
                <a:solidFill>
                  <a:srgbClr val="AF1E3B"/>
                </a:solidFill>
                <a:latin typeface="Times New Roman" panose="02020603050405020304" pitchFamily="18" charset="0"/>
                <a:ea typeface="SimSun" panose="02010600030101010101" pitchFamily="2" charset="-122"/>
                <a:cs typeface="Times New Roman"/>
              </a:rPr>
              <a:t>15%</a:t>
            </a:r>
            <a:r>
              <a:rPr lang="en-HK" altLang="zh-CN" sz="1400" dirty="0">
                <a:latin typeface="Times New Roman" panose="02020603050405020304" pitchFamily="18" charset="0"/>
                <a:ea typeface="SimSun" panose="02010600030101010101" pitchFamily="2" charset="-122"/>
                <a:cs typeface="Times New Roman"/>
              </a:rPr>
              <a:t>, and </a:t>
            </a:r>
            <a:r>
              <a:rPr lang="en-HK" altLang="zh-CN" sz="1400" b="1" dirty="0">
                <a:solidFill>
                  <a:srgbClr val="AF1E3B"/>
                </a:solidFill>
                <a:latin typeface="Times New Roman" panose="02020603050405020304" pitchFamily="18" charset="0"/>
                <a:ea typeface="SimSun" panose="02010600030101010101" pitchFamily="2" charset="-122"/>
                <a:cs typeface="Times New Roman"/>
              </a:rPr>
              <a:t>15%</a:t>
            </a:r>
            <a:r>
              <a:rPr lang="en-HK" altLang="zh-CN" sz="1400" dirty="0">
                <a:latin typeface="Times New Roman" panose="02020603050405020304" pitchFamily="18" charset="0"/>
                <a:ea typeface="SimSun" panose="02010600030101010101" pitchFamily="2" charset="-122"/>
                <a:cs typeface="Times New Roman"/>
              </a:rPr>
              <a:t>, correspondingly</a:t>
            </a:r>
          </a:p>
        </p:txBody>
      </p:sp>
      <p:sp>
        <p:nvSpPr>
          <p:cNvPr id="32" name="TextBox 1"/>
          <p:cNvSpPr txBox="1"/>
          <p:nvPr/>
        </p:nvSpPr>
        <p:spPr>
          <a:xfrm>
            <a:off x="6599437" y="2033998"/>
            <a:ext cx="3735007" cy="696975"/>
          </a:xfrm>
          <a:prstGeom prst="rect">
            <a:avLst/>
          </a:prstGeom>
          <a:noFill/>
        </p:spPr>
        <p:txBody>
          <a:bodyPr wrap="square" lIns="0" rIns="0" tIns="0" bIns="0">
            <a:spAutoFit/>
          </a:bodyPr>
          <a:lstStyle/>
          <a:p>
            <a:pPr>
              <a:lnSpc>
                <a:spcPct val="105000"/>
              </a:lnSpc>
              <a:spcAft>
                <a:spcPts val="0"/>
              </a:spcAft>
            </a:pPr>
            <a:r>
              <a:rPr sz="1400" b="0">
                <a:solidFill>
                  <a:srgbClr val="303030"/>
                </a:solidFill>
                <a:latin typeface="Times New Roman"/>
                <a:ea typeface="SimSun"/>
                <a:cs typeface="Times New Roman"/>
              </a:rPr>
              <a:t>数据集按 70%、15%、15% 划分为训练集、验证集和测试集。</a:t>
            </a:r>
          </a:p>
        </p:txBody>
      </p:sp>
    </p:spTree>
    <p:extLst>
      <p:ext uri="{BB962C8B-B14F-4D97-AF65-F5344CB8AC3E}">
        <p14:creationId xmlns:p14="http://schemas.microsoft.com/office/powerpoint/2010/main" val="388358556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6033E44-65C4-4D46-968B-3B12EFFAD4FB}"/>
                  </a:ext>
                </a:extLst>
              </p:cNvPr>
              <p:cNvSpPr txBox="1"/>
              <p:nvPr/>
            </p:nvSpPr>
            <p:spPr>
              <a:xfrm>
                <a:off x="1280730" y="1499542"/>
                <a:ext cx="5965471" cy="1426224"/>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sz="1600" dirty="0">
                    <a:latin typeface="Times New Roman" panose="02020603050405020304" pitchFamily="18" charset="0"/>
                    <a:ea typeface="SimSun"/>
                    <a:cs typeface="Times New Roman" panose="02020603050405020304" pitchFamily="18" charset="0"/>
                  </a:rPr>
                  <a:t>Coefficient of determination (</a:t>
                </a:r>
                <a:r>
                  <a:rPr lang="en-US" sz="1600" i="1" dirty="0">
                    <a:latin typeface="Times New Roman" panose="02020603050405020304" pitchFamily="18" charset="0"/>
                    <a:ea typeface="SimSun"/>
                    <a:cs typeface="Times New Roman" panose="02020603050405020304" pitchFamily="18" charset="0"/>
                  </a:rPr>
                  <a:t>r</a:t>
                </a:r>
                <a:r>
                  <a:rPr lang="en-US" sz="1600" i="1" baseline="30000" dirty="0">
                    <a:latin typeface="Times New Roman" panose="02020603050405020304" pitchFamily="18" charset="0"/>
                    <a:ea typeface="SimSun"/>
                    <a:cs typeface="Times New Roman" panose="02020603050405020304" pitchFamily="18" charset="0"/>
                  </a:rPr>
                  <a:t>2</a:t>
                </a:r>
                <a:r>
                  <a:rPr lang="en-US" sz="1600" dirty="0">
                    <a:latin typeface="Times New Roman" panose="02020603050405020304" pitchFamily="18" charset="0"/>
                    <a:ea typeface="SimSun"/>
                    <a:cs typeface="Times New Roman" panose="02020603050405020304" pitchFamily="18" charset="0"/>
                  </a:rPr>
                  <a:t>)</a:t>
                </a:r>
              </a:p>
              <a:p>
                <a:pPr/>
                <a14:m>
                  <m:oMathPara xmlns:m="http://schemas.openxmlformats.org/officeDocument/2006/math">
                    <m:oMathParaPr>
                      <m:jc m:val="left"/>
                    </m:oMathParaPr>
                    <m:oMath>
                      <m:sSup>
                        <m:sSupPr>
                          <m:ctrlPr>
                            <a:rPr lang="en-US" sz="1400" i="1">
                              <a:latin typeface="Times New Roman" panose="02040503050406030204" pitchFamily="18" charset="0"/>
                              <a:ea typeface="SimSun"/>
                              <a:cs typeface="Times New Roman"/>
                            </a:rPr>
                          </m:ctrlPr>
                        </m:sSupPr>
                        <m:e>
                          <m:r>
                            <a:rPr lang="en-US" sz="1400" i="1">
                              <a:latin typeface="Times New Roman" panose="02040503050406030204" pitchFamily="18" charset="0"/>
                              <a:ea typeface="SimSun"/>
                              <a:cs typeface="Times New Roman"/>
                            </a:rPr>
                            <m:t>𝑟</m:t>
                          </m:r>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𝑛</m:t>
                          </m:r>
                          <m:sSup>
                            <m:sSupPr>
                              <m:ctrlPr>
                                <a:rPr lang="en-HK" sz="1400" i="1">
                                  <a:latin typeface="Times New Roman" panose="02040503050406030204" pitchFamily="18" charset="0"/>
                                  <a:ea typeface="SimSun"/>
                                  <a:cs typeface="Times New Roman"/>
                                </a:rPr>
                              </m:ctrlPr>
                            </m:sSup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d>
                                    <m:dPr>
                                      <m:begChr m:val="["/>
                                      <m:endChr m:val="]"/>
                                      <m:ctrlPr>
                                        <a:rPr lang="en-HK" sz="1400" i="1">
                                          <a:latin typeface="Times New Roman" panose="02040503050406030204" pitchFamily="18" charset="0"/>
                                          <a:ea typeface="SimSun"/>
                                          <a:cs typeface="Times New Roman"/>
                                        </a:rPr>
                                      </m:ctrlPr>
                                    </m:d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nary>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den>
                      </m:f>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9" name="文本框 18">
                <a:extLst>
                  <a:ext uri="{FF2B5EF4-FFF2-40B4-BE49-F238E27FC236}">
                    <a16:creationId xmlns:a16="http://schemas.microsoft.com/office/drawing/2014/main" id="{16033E44-65C4-4D46-968B-3B12EFFAD4FB}"/>
                  </a:ext>
                </a:extLst>
              </p:cNvPr>
              <p:cNvSpPr txBox="1">
                <a:spLocks noRot="1" noChangeAspect="1" noMove="1" noResize="1" noEditPoints="1" noAdjustHandles="1" noChangeArrowheads="1" noChangeShapeType="1" noTextEdit="1"/>
              </p:cNvSpPr>
              <p:nvPr/>
            </p:nvSpPr>
            <p:spPr>
              <a:xfrm>
                <a:off x="1280730" y="1499542"/>
                <a:ext cx="5965471" cy="1426224"/>
              </a:xfrm>
              <a:prstGeom prst="rect">
                <a:avLst/>
              </a:prstGeom>
              <a:blipFill>
                <a:blip r:embed="rId3"/>
                <a:stretch>
                  <a:fillRect l="-409"/>
                </a:stretch>
              </a:blipFill>
            </p:spPr>
            <p:txBody>
              <a:bodyPr/>
              <a:lstStyle/>
              <a:p>
                <a:r>
                  <a:rPr lang="en-US">
                    <a:noFill/>
                    <a:latin typeface="Times New Roman"/>
                    <a:ea typeface="SimSun"/>
                    <a:cs typeface="Times New Roman"/>
                  </a:rPr>
                  <a:t> </a:t>
                </a:r>
              </a:p>
            </p:txBody>
          </p:sp>
        </mc:Fallback>
      </mc:AlternateContent>
      <p:sp>
        <p:nvSpPr>
          <p:cNvPr id="22" name="文本框 21">
            <a:extLst>
              <a:ext uri="{FF2B5EF4-FFF2-40B4-BE49-F238E27FC236}">
                <a16:creationId xmlns:a16="http://schemas.microsoft.com/office/drawing/2014/main" id="{41A6500A-464D-4FD0-941B-13435C71BC36}"/>
              </a:ext>
            </a:extLst>
          </p:cNvPr>
          <p:cNvSpPr txBox="1"/>
          <p:nvPr/>
        </p:nvSpPr>
        <p:spPr>
          <a:xfrm>
            <a:off x="1087738" y="1334252"/>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Evaluation metrics of neural network</a:t>
            </a:r>
            <a:endParaRPr lang="zh-CN" altLang="en-US" sz="1600" dirty="0">
              <a:latin typeface="Times New Roman"/>
              <a:ea typeface="SimSun"/>
              <a:cs typeface="Times New Roman"/>
            </a:endParaRPr>
          </a:p>
        </p:txBody>
      </p:sp>
      <p:sp>
        <p:nvSpPr>
          <p:cNvPr id="23" name="文本框 22">
            <a:extLst>
              <a:ext uri="{FF2B5EF4-FFF2-40B4-BE49-F238E27FC236}">
                <a16:creationId xmlns:a16="http://schemas.microsoft.com/office/drawing/2014/main" id="{FA861512-BAB0-468A-B0A7-A4D2B0FF270C}"/>
              </a:ext>
            </a:extLst>
          </p:cNvPr>
          <p:cNvSpPr txBox="1"/>
          <p:nvPr/>
        </p:nvSpPr>
        <p:spPr>
          <a:xfrm>
            <a:off x="1084796" y="2748362"/>
            <a:ext cx="208121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Validation results</a:t>
            </a:r>
            <a:endParaRPr lang="zh-CN" altLang="en-US" sz="1600"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3E09337-770C-4F81-814A-1BC14FDF9430}"/>
                  </a:ext>
                </a:extLst>
              </p:cNvPr>
              <p:cNvSpPr txBox="1"/>
              <p:nvPr/>
            </p:nvSpPr>
            <p:spPr>
              <a:xfrm>
                <a:off x="6912792" y="1497232"/>
                <a:ext cx="3194230" cy="1467518"/>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sz="1600" dirty="0">
                    <a:latin typeface="Times New Roman" panose="02020603050405020304" pitchFamily="18" charset="0"/>
                    <a:ea typeface="SimSun"/>
                    <a:cs typeface="Times New Roman" panose="02020603050405020304" pitchFamily="18" charset="0"/>
                  </a:rPr>
                  <a:t>Root mean square error (RMSE)</a:t>
                </a:r>
                <a:endParaRPr lang="en-US" sz="1600" dirty="0">
                  <a:latin typeface="Times New Roman" panose="02020603050405020304" pitchFamily="18" charset="0"/>
                  <a:ea typeface="SimSun"/>
                  <a:cs typeface="Times New Roman" panose="02020603050405020304" pitchFamily="18" charset="0"/>
                </a:endParaRPr>
              </a:p>
              <a:p>
                <a:pPr/>
                <a14:m>
                  <m:oMathPara xmlns:m="http://schemas.openxmlformats.org/officeDocument/2006/math">
                    <m:oMathParaPr>
                      <m:jc m:val="left"/>
                    </m:oMathParaPr>
                    <m:oMath>
                      <m:r>
                        <a:rPr lang="en-US" sz="1400" i="1">
                          <a:latin typeface="Times New Roman" panose="02040503050406030204" pitchFamily="18" charset="0"/>
                          <a:ea typeface="SimSun"/>
                          <a:cs typeface="Times New Roman"/>
                        </a:rPr>
                        <m:t>𝑅𝑀𝑆𝐸</m:t>
                      </m:r>
                      <m:r>
                        <a:rPr lang="en-US" sz="1400" i="1">
                          <a:latin typeface="Times New Roman" panose="02040503050406030204" pitchFamily="18" charset="0"/>
                          <a:ea typeface="SimSun"/>
                          <a:cs typeface="Times New Roman"/>
                        </a:rPr>
                        <m:t>=</m:t>
                      </m:r>
                      <m:rad>
                        <m:radPr>
                          <m:degHide m:val="on"/>
                          <m:ctrlPr>
                            <a:rPr lang="en-HK" sz="1400" i="1">
                              <a:latin typeface="Times New Roman" panose="02040503050406030204" pitchFamily="18" charset="0"/>
                              <a:ea typeface="SimSun"/>
                              <a:cs typeface="Times New Roman"/>
                            </a:rPr>
                          </m:ctrlPr>
                        </m:radPr>
                        <m:deg/>
                        <m:e>
                          <m:f>
                            <m:fPr>
                              <m:ctrlPr>
                                <a:rPr lang="en-HK" sz="1400" i="1">
                                  <a:latin typeface="Times New Roman" panose="02040503050406030204" pitchFamily="18" charset="0"/>
                                  <a:ea typeface="SimSun"/>
                                  <a:cs typeface="Times New Roman"/>
                                </a:rPr>
                              </m:ctrlPr>
                            </m:fPr>
                            <m:num>
                              <m:f>
                                <m:fPr>
                                  <m:ctrlPr>
                                    <a:rPr lang="en-US" sz="1400" i="1">
                                      <a:latin typeface="Times New Roman" panose="02040503050406030204" pitchFamily="18" charset="0"/>
                                      <a:ea typeface="SimSun"/>
                                      <a:cs typeface="Times New Roman"/>
                                    </a:rPr>
                                  </m:ctrlPr>
                                </m:fPr>
                                <m:num>
                                  <m:r>
                                    <a:rPr lang="en-US" sz="1400" i="1">
                                      <a:latin typeface="Times New Roman" panose="02040503050406030204" pitchFamily="18" charset="0"/>
                                      <a:ea typeface="SimSun"/>
                                      <a:cs typeface="Times New Roman"/>
                                    </a:rPr>
                                    <m:t>𝑛</m:t>
                                  </m:r>
                                </m:num>
                                <m:den>
                                  <m:r>
                                    <a:rPr lang="en-US" sz="1400" i="1">
                                      <a:latin typeface="Times New Roman" panose="02040503050406030204" pitchFamily="18" charset="0"/>
                                      <a:ea typeface="SimSun"/>
                                      <a:cs typeface="Times New Roman"/>
                                    </a:rPr>
                                    <m:t>𝑖</m:t>
                                  </m:r>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𝑘</m:t>
                                  </m:r>
                                </m:den>
                              </m:f>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𝑛</m:t>
                              </m:r>
                            </m:den>
                          </m:f>
                        </m:e>
                      </m:rad>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4" name="文本框 13">
                <a:extLst>
                  <a:ext uri="{FF2B5EF4-FFF2-40B4-BE49-F238E27FC236}">
                    <a16:creationId xmlns:a16="http://schemas.microsoft.com/office/drawing/2014/main" id="{A3E09337-770C-4F81-814A-1BC14FDF9430}"/>
                  </a:ext>
                </a:extLst>
              </p:cNvPr>
              <p:cNvSpPr txBox="1">
                <a:spLocks noRot="1" noChangeAspect="1" noMove="1" noResize="1" noEditPoints="1" noAdjustHandles="1" noChangeArrowheads="1" noChangeShapeType="1" noTextEdit="1"/>
              </p:cNvSpPr>
              <p:nvPr/>
            </p:nvSpPr>
            <p:spPr>
              <a:xfrm>
                <a:off x="6912792" y="1497232"/>
                <a:ext cx="3194230" cy="1467518"/>
              </a:xfrm>
              <a:prstGeom prst="rect">
                <a:avLst/>
              </a:prstGeom>
              <a:blipFill>
                <a:blip r:embed="rId4"/>
                <a:stretch>
                  <a:fillRect l="-763"/>
                </a:stretch>
              </a:blipFill>
            </p:spPr>
            <p:txBody>
              <a:bodyPr/>
              <a:lstStyle/>
              <a:p>
                <a:r>
                  <a:rPr lang="en-US">
                    <a:noFill/>
                    <a:latin typeface="Times New Roman"/>
                    <a:ea typeface="SimSun"/>
                    <a:cs typeface="Times New Roman"/>
                  </a:rPr>
                  <a:t> </a:t>
                </a:r>
              </a:p>
            </p:txBody>
          </p:sp>
        </mc:Fallback>
      </mc:AlternateContent>
      <p:pic>
        <p:nvPicPr>
          <p:cNvPr id="16" name="图片 15">
            <a:extLst>
              <a:ext uri="{FF2B5EF4-FFF2-40B4-BE49-F238E27FC236}">
                <a16:creationId xmlns:a16="http://schemas.microsoft.com/office/drawing/2014/main" id="{D76045D2-33B3-4FFE-AEFE-93DA0A36FDCE}"/>
              </a:ext>
            </a:extLst>
          </p:cNvPr>
          <p:cNvPicPr>
            <a:picLocks noChangeAspect="1"/>
          </p:cNvPicPr>
          <p:nvPr/>
        </p:nvPicPr>
        <p:blipFill rotWithShape="1">
          <a:blip r:embed="rId5"/>
          <a:srcRect r="51647"/>
          <a:stretch/>
        </p:blipFill>
        <p:spPr>
          <a:xfrm>
            <a:off x="1712967" y="3511592"/>
            <a:ext cx="3622514" cy="2880000"/>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35A6205-58C3-4CCF-8CD9-85301F663455}"/>
                  </a:ext>
                </a:extLst>
              </p:cNvPr>
              <p:cNvSpPr txBox="1"/>
              <p:nvPr/>
            </p:nvSpPr>
            <p:spPr>
              <a:xfrm>
                <a:off x="1349740" y="3136913"/>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US" sz="1400" i="1">
                            <a:latin typeface="Times New Roman" panose="02040503050406030204" pitchFamily="18" charset="0"/>
                            <a:ea typeface="SimSun"/>
                            <a:cs typeface="Times New Roman"/>
                          </a:rPr>
                          <m:t>𝑤𝑏</m:t>
                        </m:r>
                      </m:sub>
                    </m:sSub>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0" name="文本框 19">
                <a:extLst>
                  <a:ext uri="{FF2B5EF4-FFF2-40B4-BE49-F238E27FC236}">
                    <a16:creationId xmlns:a16="http://schemas.microsoft.com/office/drawing/2014/main" id="{E35A6205-58C3-4CCF-8CD9-85301F663455}"/>
                  </a:ext>
                </a:extLst>
              </p:cNvPr>
              <p:cNvSpPr txBox="1">
                <a:spLocks noRot="1" noChangeAspect="1" noMove="1" noResize="1" noEditPoints="1" noAdjustHandles="1" noChangeArrowheads="1" noChangeShapeType="1" noTextEdit="1"/>
              </p:cNvSpPr>
              <p:nvPr/>
            </p:nvSpPr>
            <p:spPr>
              <a:xfrm>
                <a:off x="1349740" y="3136913"/>
                <a:ext cx="2602596" cy="338554"/>
              </a:xfrm>
              <a:prstGeom prst="rect">
                <a:avLst/>
              </a:prstGeom>
              <a:blipFill>
                <a:blip r:embed="rId6"/>
                <a:stretch>
                  <a:fillRect l="-937" t="-5455" b="-2363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39</a:t>
            </a:fld>
            <a:endParaRPr lang="en-US" altLang="zh-CN">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487ACB5-A7B5-403E-9789-1804E92592F8}"/>
                  </a:ext>
                </a:extLst>
              </p:cNvPr>
              <p:cNvSpPr txBox="1"/>
              <p:nvPr/>
            </p:nvSpPr>
            <p:spPr>
              <a:xfrm>
                <a:off x="6258917" y="3130040"/>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r>
                      <a:rPr lang="en-HK" sz="1400" i="1" smtClean="0">
                        <a:latin typeface="Times New Roman" panose="02040503050406030204" pitchFamily="18" charset="0"/>
                        <a:ea typeface="SimSun" panose="02040503050406030204" pitchFamily="18" charset="0"/>
                        <a:cs typeface="Times New Roman"/>
                      </a:rPr>
                      <m:t>∆</m:t>
                    </m:r>
                    <m:r>
                      <a:rPr lang="en-HK" sz="1400" b="0" i="1" smtClean="0">
                        <a:latin typeface="Times New Roman" panose="02040503050406030204" pitchFamily="18" charset="0"/>
                        <a:ea typeface="SimSun" panose="02040503050406030204" pitchFamily="18" charset="0"/>
                        <a:cs typeface="Times New Roman"/>
                      </a:rPr>
                      <m:t>𝑃</m:t>
                    </m:r>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D487ACB5-A7B5-403E-9789-1804E92592F8}"/>
                  </a:ext>
                </a:extLst>
              </p:cNvPr>
              <p:cNvSpPr txBox="1">
                <a:spLocks noRot="1" noChangeAspect="1" noMove="1" noResize="1" noEditPoints="1" noAdjustHandles="1" noChangeArrowheads="1" noChangeShapeType="1" noTextEdit="1"/>
              </p:cNvSpPr>
              <p:nvPr/>
            </p:nvSpPr>
            <p:spPr>
              <a:xfrm>
                <a:off x="6258917" y="3130040"/>
                <a:ext cx="2602596" cy="338554"/>
              </a:xfrm>
              <a:prstGeom prst="rect">
                <a:avLst/>
              </a:prstGeom>
              <a:blipFill>
                <a:blip r:embed="rId7"/>
                <a:stretch>
                  <a:fillRect l="-937" t="-5357" b="-21429"/>
                </a:stretch>
              </a:blipFill>
            </p:spPr>
            <p:txBody>
              <a:bodyPr/>
              <a:lstStyle/>
              <a:p>
                <a:r>
                  <a:rPr lang="en-US">
                    <a:noFill/>
                    <a:latin typeface="Times New Roman"/>
                    <a:ea typeface="SimSun"/>
                    <a:cs typeface="Times New Roman"/>
                  </a:rPr>
                  <a:t> </a:t>
                </a:r>
              </a:p>
            </p:txBody>
          </p:sp>
        </mc:Fallback>
      </mc:AlternateContent>
      <p:sp>
        <p:nvSpPr>
          <p:cNvPr id="25" name="矩形 24">
            <a:extLst>
              <a:ext uri="{FF2B5EF4-FFF2-40B4-BE49-F238E27FC236}">
                <a16:creationId xmlns:a16="http://schemas.microsoft.com/office/drawing/2014/main" id="{0CC38A83-65F3-4D8A-8550-520315C097C1}"/>
              </a:ext>
            </a:extLst>
          </p:cNvPr>
          <p:cNvSpPr/>
          <p:nvPr/>
        </p:nvSpPr>
        <p:spPr>
          <a:xfrm>
            <a:off x="4495800" y="6436925"/>
            <a:ext cx="4014107"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Fig.5.3.1 </a:t>
            </a:r>
            <a:r>
              <a:rPr lang="en-HK" sz="1200" dirty="0">
                <a:solidFill>
                  <a:prstClr val="black"/>
                </a:solidFill>
                <a:latin typeface="Times New Roman" panose="02020603050405020304" pitchFamily="18" charset="0"/>
                <a:ea typeface="SimSun"/>
                <a:cs typeface="Times New Roman" panose="02020603050405020304" pitchFamily="18" charset="0"/>
              </a:rPr>
              <a:t>Validation results of the proposed IEC-ANN model</a:t>
            </a:r>
          </a:p>
        </p:txBody>
      </p:sp>
      <p:pic>
        <p:nvPicPr>
          <p:cNvPr id="15" name="图片 14">
            <a:extLst>
              <a:ext uri="{FF2B5EF4-FFF2-40B4-BE49-F238E27FC236}">
                <a16:creationId xmlns:a16="http://schemas.microsoft.com/office/drawing/2014/main" id="{1660DE93-ED6A-4240-A8F7-6AEAB9A9875D}"/>
              </a:ext>
            </a:extLst>
          </p:cNvPr>
          <p:cNvPicPr>
            <a:picLocks noChangeAspect="1"/>
          </p:cNvPicPr>
          <p:nvPr/>
        </p:nvPicPr>
        <p:blipFill rotWithShape="1">
          <a:blip r:embed="rId5"/>
          <a:srcRect l="51647"/>
          <a:stretch/>
        </p:blipFill>
        <p:spPr>
          <a:xfrm>
            <a:off x="6856519" y="3475587"/>
            <a:ext cx="3622514" cy="2880000"/>
          </a:xfrm>
          <a:prstGeom prst="rect">
            <a:avLst/>
          </a:prstGeom>
        </p:spPr>
      </p:pic>
      <p:sp>
        <p:nvSpPr>
          <p:cNvPr id="2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模型验证</a:t>
            </a:r>
          </a:p>
        </p:txBody>
      </p:sp>
      <p:sp>
        <p:nvSpPr>
          <p:cNvPr id="2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5.3 Model validations</a:t>
            </a:r>
          </a:p>
        </p:txBody>
      </p:sp>
      <p:sp>
        <p:nvSpPr>
          <p:cNvPr id="29"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30"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626729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B7E1D35F-5594-44B9-8F64-FD30AA64157B}"/>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bwMode="auto">
          <a:xfrm>
            <a:off x="995038" y="1784146"/>
            <a:ext cx="5273588" cy="2232000"/>
          </a:xfrm>
          <a:prstGeom prst="rect">
            <a:avLst/>
          </a:prstGeom>
          <a:ln>
            <a:noFill/>
          </a:ln>
          <a:extLst>
            <a:ext uri="{53640926-AAD7-44D8-BBD7-CCE9431645EC}">
              <a14:shadowObscured xmlns:a14="http://schemas.microsoft.com/office/drawing/2010/main"/>
            </a:ext>
          </a:extLst>
        </p:spPr>
      </p:pic>
      <p:sp>
        <p:nvSpPr>
          <p:cNvPr id="22" name="文本框 21">
            <a:extLst>
              <a:ext uri="{FF2B5EF4-FFF2-40B4-BE49-F238E27FC236}">
                <a16:creationId xmlns:a16="http://schemas.microsoft.com/office/drawing/2014/main" id="{41A6500A-464D-4FD0-941B-13435C71BC36}"/>
              </a:ext>
            </a:extLst>
          </p:cNvPr>
          <p:cNvSpPr txBox="1"/>
          <p:nvPr/>
        </p:nvSpPr>
        <p:spPr>
          <a:xfrm>
            <a:off x="849994" y="1623109"/>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Nozzle characteristics parameters</a:t>
            </a:r>
            <a:endParaRPr lang="zh-CN" altLang="en-US" sz="1600" dirty="0">
              <a:latin typeface="Times New Roman"/>
              <a:ea typeface="SimSun"/>
              <a:cs typeface="Times New Roman"/>
            </a:endParaRPr>
          </a:p>
        </p:txBody>
      </p:sp>
      <p:sp>
        <p:nvSpPr>
          <p:cNvPr id="20" name="文本框 19">
            <a:extLst>
              <a:ext uri="{FF2B5EF4-FFF2-40B4-BE49-F238E27FC236}">
                <a16:creationId xmlns:a16="http://schemas.microsoft.com/office/drawing/2014/main" id="{E35A6205-58C3-4CCF-8CD9-85301F663455}"/>
              </a:ext>
            </a:extLst>
          </p:cNvPr>
          <p:cNvSpPr txBox="1"/>
          <p:nvPr/>
        </p:nvSpPr>
        <p:spPr>
          <a:xfrm>
            <a:off x="6413670" y="1474234"/>
            <a:ext cx="5302303" cy="338554"/>
          </a:xfrm>
          <a:prstGeom prst="rect">
            <a:avLst/>
          </a:prstGeom>
          <a:noFill/>
        </p:spPr>
        <p:txBody>
          <a:bodyPr wrap="square">
            <a:spAutoFit/>
          </a:bodyPr>
          <a:lstStyle/>
          <a:p>
            <a:pPr marL="285750" indent="-285750">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panose="02020603050405020304" pitchFamily="18" charset="0"/>
              </a:rPr>
              <a:t>Effect of pressure on droplet diameter and coverage ratio</a:t>
            </a:r>
            <a:endParaRPr lang="en-HK" altLang="zh-CN" sz="1400" dirty="0">
              <a:latin typeface="Times New Roman" panose="02020603050405020304" pitchFamily="18" charset="0"/>
              <a:ea typeface="SimSun" panose="02010600030101010101" pitchFamily="2" charset="-122"/>
              <a:cs typeface="Times New Roman"/>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40</a:t>
            </a:fld>
            <a:endParaRPr lang="en-US" altLang="zh-CN">
              <a:latin typeface="Times New Roman"/>
              <a:ea typeface="SimSun"/>
              <a:cs typeface="Times New Roman"/>
            </a:endParaRPr>
          </a:p>
        </p:txBody>
      </p:sp>
      <p:pic>
        <p:nvPicPr>
          <p:cNvPr id="18" name="图片 17">
            <a:extLst>
              <a:ext uri="{FF2B5EF4-FFF2-40B4-BE49-F238E27FC236}">
                <a16:creationId xmlns:a16="http://schemas.microsoft.com/office/drawing/2014/main" id="{E62731A7-292E-45B0-A46C-6B489F40F25F}"/>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bwMode="auto">
          <a:xfrm>
            <a:off x="2367083" y="4118891"/>
            <a:ext cx="2639411" cy="2232000"/>
          </a:xfrm>
          <a:prstGeom prst="rect">
            <a:avLst/>
          </a:prstGeom>
          <a:ln>
            <a:noFill/>
          </a:ln>
          <a:extLst>
            <a:ext uri="{53640926-AAD7-44D8-BBD7-CCE9431645EC}">
              <a14:shadowObscured xmlns:a14="http://schemas.microsoft.com/office/drawing/2010/main"/>
            </a:ext>
          </a:extLst>
        </p:spPr>
      </p:pic>
      <p:pic>
        <p:nvPicPr>
          <p:cNvPr id="21" name="图片 20">
            <a:extLst>
              <a:ext uri="{FF2B5EF4-FFF2-40B4-BE49-F238E27FC236}">
                <a16:creationId xmlns:a16="http://schemas.microsoft.com/office/drawing/2014/main" id="{D4EBCA21-22F1-448C-8450-6CE54E29159D}"/>
              </a:ext>
            </a:extLst>
          </p:cNvPr>
          <p:cNvPicPr>
            <a:picLocks noChangeAspect="1"/>
          </p:cNvPicPr>
          <p:nvPr/>
        </p:nvPicPr>
        <p:blipFill>
          <a:blip r:embed="rId5"/>
          <a:stretch>
            <a:fillRect/>
          </a:stretch>
        </p:blipFill>
        <p:spPr>
          <a:xfrm>
            <a:off x="6797452" y="1865962"/>
            <a:ext cx="4813746" cy="2880000"/>
          </a:xfrm>
          <a:prstGeom prst="rect">
            <a:avLst/>
          </a:prstGeom>
        </p:spPr>
      </p:pic>
      <p:sp>
        <p:nvSpPr>
          <p:cNvPr id="26" name="矩形 25">
            <a:extLst>
              <a:ext uri="{FF2B5EF4-FFF2-40B4-BE49-F238E27FC236}">
                <a16:creationId xmlns:a16="http://schemas.microsoft.com/office/drawing/2014/main" id="{BCF04087-4373-4225-81AE-D93EABDE08B5}"/>
              </a:ext>
            </a:extLst>
          </p:cNvPr>
          <p:cNvSpPr/>
          <p:nvPr/>
        </p:nvSpPr>
        <p:spPr>
          <a:xfrm>
            <a:off x="2081893" y="6521217"/>
            <a:ext cx="4014107"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Fig.5.4.1 </a:t>
            </a:r>
            <a:r>
              <a:rPr lang="en-HK" sz="1200" dirty="0">
                <a:solidFill>
                  <a:prstClr val="black"/>
                </a:solidFill>
                <a:latin typeface="Times New Roman" panose="02020603050405020304" pitchFamily="18" charset="0"/>
                <a:ea typeface="SimSun"/>
                <a:cs typeface="Times New Roman" panose="02020603050405020304" pitchFamily="18" charset="0"/>
              </a:rPr>
              <a:t>The effect of nozzle pressure variations</a:t>
            </a:r>
          </a:p>
        </p:txBody>
      </p:sp>
      <p:sp>
        <p:nvSpPr>
          <p:cNvPr id="27" name="矩形 26">
            <a:extLst>
              <a:ext uri="{FF2B5EF4-FFF2-40B4-BE49-F238E27FC236}">
                <a16:creationId xmlns:a16="http://schemas.microsoft.com/office/drawing/2014/main" id="{F0F03C77-6E9D-437B-8F34-A512AD95C2D3}"/>
              </a:ext>
            </a:extLst>
          </p:cNvPr>
          <p:cNvSpPr/>
          <p:nvPr/>
        </p:nvSpPr>
        <p:spPr>
          <a:xfrm>
            <a:off x="1234314" y="4006473"/>
            <a:ext cx="2426604" cy="276999"/>
          </a:xfrm>
          <a:prstGeom prst="rect">
            <a:avLst/>
          </a:prstGeom>
        </p:spPr>
        <p:txBody>
          <a:bodyPr wrap="square">
            <a:spAutoFit/>
          </a:bodyPr>
          <a:lstStyle/>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(a) Effect of pressure on cone angle</a:t>
            </a:r>
          </a:p>
        </p:txBody>
      </p:sp>
      <p:sp>
        <p:nvSpPr>
          <p:cNvPr id="28" name="矩形 27">
            <a:extLst>
              <a:ext uri="{FF2B5EF4-FFF2-40B4-BE49-F238E27FC236}">
                <a16:creationId xmlns:a16="http://schemas.microsoft.com/office/drawing/2014/main" id="{0B325B03-B4CB-402E-94A7-573CBE2E4B14}"/>
              </a:ext>
            </a:extLst>
          </p:cNvPr>
          <p:cNvSpPr/>
          <p:nvPr/>
        </p:nvSpPr>
        <p:spPr>
          <a:xfrm>
            <a:off x="3842022" y="4006473"/>
            <a:ext cx="2426604" cy="276999"/>
          </a:xfrm>
          <a:prstGeom prst="rect">
            <a:avLst/>
          </a:prstGeom>
        </p:spPr>
        <p:txBody>
          <a:bodyPr wrap="square">
            <a:spAutoFit/>
          </a:bodyPr>
          <a:lstStyle/>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(b) Effect of pressure on flow rate</a:t>
            </a: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3D740581-7BC4-4D11-9A15-4D931444F47A}"/>
                  </a:ext>
                </a:extLst>
              </p:cNvPr>
              <p:cNvSpPr/>
              <p:nvPr/>
            </p:nvSpPr>
            <p:spPr>
              <a:xfrm>
                <a:off x="2657506" y="6271205"/>
                <a:ext cx="2426604" cy="276999"/>
              </a:xfrm>
              <a:prstGeom prst="rect">
                <a:avLst/>
              </a:prstGeom>
            </p:spPr>
            <p:txBody>
              <a:bodyPr wrap="square">
                <a:spAutoFit/>
              </a:bodyPr>
              <a:lstStyle/>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(c) Effect of pressure on </a:t>
                </a:r>
                <a14:m>
                  <m:oMath xmlns:m="http://schemas.openxmlformats.org/officeDocument/2006/math">
                    <m:sSub>
                      <m:sSubPr>
                        <m:ctrlPr>
                          <a:rPr lang="en-US" sz="1200" i="1">
                            <a:latin typeface="Times New Roman" panose="02040503050406030204" pitchFamily="18" charset="0"/>
                            <a:ea typeface="SimSun"/>
                            <a:cs typeface="Times New Roman"/>
                          </a:rPr>
                        </m:ctrlPr>
                      </m:sSubPr>
                      <m:e>
                        <m:r>
                          <a:rPr lang="en-US" sz="1200" i="1">
                            <a:latin typeface="Times New Roman" panose="02040503050406030204" pitchFamily="18" charset="0"/>
                            <a:ea typeface="SimSun"/>
                            <a:cs typeface="Times New Roman"/>
                          </a:rPr>
                          <m:t>𝜀</m:t>
                        </m:r>
                      </m:e>
                      <m:sub>
                        <m:r>
                          <a:rPr lang="en-US" sz="1200" i="1">
                            <a:latin typeface="Times New Roman" panose="02040503050406030204" pitchFamily="18" charset="0"/>
                            <a:ea typeface="SimSun"/>
                            <a:cs typeface="Times New Roman"/>
                          </a:rPr>
                          <m:t>𝑤𝑏</m:t>
                        </m:r>
                      </m:sub>
                    </m:sSub>
                  </m:oMath>
                </a14:m>
                <a:r>
                  <a:rPr lang="en-HK" sz="12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9" name="矩形 28">
                <a:extLst>
                  <a:ext uri="{FF2B5EF4-FFF2-40B4-BE49-F238E27FC236}">
                    <a16:creationId xmlns:a16="http://schemas.microsoft.com/office/drawing/2014/main" id="{3D740581-7BC4-4D11-9A15-4D931444F47A}"/>
                  </a:ext>
                </a:extLst>
              </p:cNvPr>
              <p:cNvSpPr>
                <a:spLocks noRot="1" noChangeAspect="1" noMove="1" noResize="1" noEditPoints="1" noAdjustHandles="1" noChangeArrowheads="1" noChangeShapeType="1" noTextEdit="1"/>
              </p:cNvSpPr>
              <p:nvPr/>
            </p:nvSpPr>
            <p:spPr>
              <a:xfrm>
                <a:off x="2657506" y="6271205"/>
                <a:ext cx="2426604" cy="276999"/>
              </a:xfrm>
              <a:prstGeom prst="rect">
                <a:avLst/>
              </a:prstGeom>
              <a:blipFill>
                <a:blip r:embed="rId6"/>
                <a:stretch>
                  <a:fillRect l="-251" t="-2222" b="-1777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6B69FB8-A4E2-4EB5-9DCB-5948840A5D54}"/>
                  </a:ext>
                </a:extLst>
              </p:cNvPr>
              <p:cNvSpPr txBox="1"/>
              <p:nvPr/>
            </p:nvSpPr>
            <p:spPr>
              <a:xfrm>
                <a:off x="6004981" y="4963251"/>
                <a:ext cx="6119680" cy="1894749"/>
              </a:xfrm>
              <a:prstGeom prst="rect">
                <a:avLst/>
              </a:prstGeom>
              <a:noFill/>
            </p:spPr>
            <p:txBody>
              <a:bodyPr wrap="square">
                <a:spAutoFit/>
              </a:bodyPr>
              <a:lstStyle/>
              <a:p>
                <a:pPr>
                  <a:lnSpc>
                    <a:spcPct val="150000"/>
                  </a:lnSpc>
                </a:pPr>
                <a:r>
                  <a:rPr lang="en-HK" altLang="zh-CN" sz="1600" dirty="0">
                    <a:latin typeface="Times New Roman" panose="02020603050405020304" pitchFamily="18" charset="0"/>
                    <a:ea typeface="SimSun" panose="02010600030101010101" pitchFamily="2" charset="-122"/>
                    <a:cs typeface="Times New Roman"/>
                  </a:rPr>
                  <a:t>(a) The peak value of 67°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a:lnSpc>
                    <a:spcPct val="150000"/>
                  </a:lnSpc>
                </a:pPr>
                <a:r>
                  <a:rPr lang="en-US" altLang="zh-CN" sz="1600" dirty="0">
                    <a:latin typeface="Times New Roman" panose="02020603050405020304" pitchFamily="18" charset="0"/>
                    <a:ea typeface="SimSun" panose="02010600030101010101" pitchFamily="2" charset="-122"/>
                    <a:cs typeface="Times New Roman"/>
                  </a:rPr>
                  <a:t>(b) T</a:t>
                </a:r>
                <a:r>
                  <a:rPr lang="en-HK" altLang="zh-CN" sz="1600" dirty="0">
                    <a:latin typeface="Times New Roman" panose="02020603050405020304" pitchFamily="18" charset="0"/>
                    <a:ea typeface="SimSun" panose="02010600030101010101" pitchFamily="2" charset="-122"/>
                    <a:cs typeface="Times New Roman"/>
                  </a:rPr>
                  <a:t>he increasing trend of spray flow rate with the rise in pressure. </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(c) The trend of </a:t>
                </a:r>
                <a14:m>
                  <m:oMath xmlns:m="http://schemas.openxmlformats.org/officeDocument/2006/math">
                    <m:sSub>
                      <m:sSubPr>
                        <m:ctrlPr>
                          <a:rPr lang="en-US" sz="1600" b="1" i="1">
                            <a:solidFill>
                              <a:srgbClr val="C00000"/>
                            </a:solidFill>
                            <a:latin typeface="Times New Roman" panose="02040503050406030204" pitchFamily="18" charset="0"/>
                            <a:ea typeface="SimSun"/>
                            <a:cs typeface="Times New Roman"/>
                          </a:rPr>
                        </m:ctrlPr>
                      </m:sSubPr>
                      <m:e>
                        <m:r>
                          <a:rPr lang="en-US" sz="1600" b="1" i="1">
                            <a:solidFill>
                              <a:srgbClr val="C00000"/>
                            </a:solidFill>
                            <a:latin typeface="Times New Roman" panose="02040503050406030204" pitchFamily="18" charset="0"/>
                            <a:ea typeface="SimSun"/>
                            <a:cs typeface="Times New Roman"/>
                          </a:rPr>
                          <m:t>𝜺</m:t>
                        </m:r>
                      </m:e>
                      <m:sub>
                        <m:r>
                          <a:rPr lang="en-US" sz="1600" b="1" i="1">
                            <a:solidFill>
                              <a:srgbClr val="C00000"/>
                            </a:solidFill>
                            <a:latin typeface="Times New Roman" panose="02040503050406030204" pitchFamily="18" charset="0"/>
                            <a:ea typeface="SimSun"/>
                            <a:cs typeface="Times New Roman"/>
                          </a:rPr>
                          <m:t>𝒘𝒃</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dirty="0">
                    <a:latin typeface="Times New Roman" panose="02020603050405020304" pitchFamily="18" charset="0"/>
                    <a:ea typeface="SimSun" panose="02010600030101010101" pitchFamily="2" charset="-122"/>
                    <a:cs typeface="Times New Roman"/>
                  </a:rPr>
                  <a:t>with pressure is consistent with spray angle.</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(d) The maximum coverage ratio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p>
              <a:p>
                <a:pPr>
                  <a:lnSpc>
                    <a:spcPct val="150000"/>
                  </a:lnSpc>
                </a:pPr>
                <a:endParaRPr lang="en-US"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0" name="文本框 29">
                <a:extLst>
                  <a:ext uri="{FF2B5EF4-FFF2-40B4-BE49-F238E27FC236}">
                    <a16:creationId xmlns:a16="http://schemas.microsoft.com/office/drawing/2014/main" id="{16B69FB8-A4E2-4EB5-9DCB-5948840A5D54}"/>
                  </a:ext>
                </a:extLst>
              </p:cNvPr>
              <p:cNvSpPr txBox="1">
                <a:spLocks noRot="1" noChangeAspect="1" noMove="1" noResize="1" noEditPoints="1" noAdjustHandles="1" noChangeArrowheads="1" noChangeShapeType="1" noTextEdit="1"/>
              </p:cNvSpPr>
              <p:nvPr/>
            </p:nvSpPr>
            <p:spPr>
              <a:xfrm>
                <a:off x="6004981" y="4963251"/>
                <a:ext cx="6119680" cy="1894749"/>
              </a:xfrm>
              <a:prstGeom prst="rect">
                <a:avLst/>
              </a:prstGeom>
              <a:blipFill>
                <a:blip r:embed="rId7"/>
                <a:stretch>
                  <a:fillRect l="-498"/>
                </a:stretch>
              </a:blipFill>
            </p:spPr>
            <p:txBody>
              <a:bodyPr/>
              <a:lstStyle/>
              <a:p>
                <a:r>
                  <a:rPr lang="en-US">
                    <a:noFill/>
                    <a:latin typeface="Times New Roman"/>
                    <a:ea typeface="SimSun"/>
                    <a:cs typeface="Times New Roman"/>
                  </a:rPr>
                  <a:t> </a:t>
                </a:r>
              </a:p>
            </p:txBody>
          </p:sp>
        </mc:Fallback>
      </mc:AlternateContent>
      <p:sp>
        <p:nvSpPr>
          <p:cNvPr id="31"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单因素变化的影响</a:t>
            </a:r>
          </a:p>
        </p:txBody>
      </p:sp>
      <p:sp>
        <p:nvSpPr>
          <p:cNvPr id="32"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5.4.1 Effect of variations in a single factor</a:t>
            </a:r>
          </a:p>
        </p:txBody>
      </p:sp>
      <p:sp>
        <p:nvSpPr>
          <p:cNvPr id="33"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34"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51623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6E60EA61-5FA0-403D-923C-4F5BEA884405}"/>
              </a:ext>
            </a:extLst>
          </p:cNvPr>
          <p:cNvPicPr>
            <a:picLocks noChangeAspect="1"/>
          </p:cNvPicPr>
          <p:nvPr/>
        </p:nvPicPr>
        <p:blipFill>
          <a:blip r:embed="rId3"/>
          <a:stretch>
            <a:fillRect/>
          </a:stretch>
        </p:blipFill>
        <p:spPr>
          <a:xfrm>
            <a:off x="1569643" y="2208740"/>
            <a:ext cx="9277220" cy="2520000"/>
          </a:xfrm>
          <a:prstGeom prst="rect">
            <a:avLst/>
          </a:prstGeom>
        </p:spPr>
      </p:pic>
      <p:sp>
        <p:nvSpPr>
          <p:cNvPr id="22" name="文本框 21">
            <a:extLst>
              <a:ext uri="{FF2B5EF4-FFF2-40B4-BE49-F238E27FC236}">
                <a16:creationId xmlns:a16="http://schemas.microsoft.com/office/drawing/2014/main" id="{41A6500A-464D-4FD0-941B-13435C71BC36}"/>
              </a:ext>
            </a:extLst>
          </p:cNvPr>
          <p:cNvSpPr txBox="1"/>
          <p:nvPr/>
        </p:nvSpPr>
        <p:spPr>
          <a:xfrm>
            <a:off x="1434648" y="1797411"/>
            <a:ext cx="2369454"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Nozzle spacing</a:t>
            </a:r>
            <a:endParaRPr lang="zh-CN" altLang="en-US" sz="1600" dirty="0">
              <a:latin typeface="Times New Roman"/>
              <a:ea typeface="SimSun"/>
              <a:cs typeface="Times New Roman"/>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41</a:t>
            </a:fld>
            <a:endParaRPr lang="en-US" altLang="zh-CN" dirty="0">
              <a:latin typeface="Times New Roman"/>
              <a:ea typeface="SimSun"/>
              <a:cs typeface="Times New Roman"/>
            </a:endParaRPr>
          </a:p>
        </p:txBody>
      </p:sp>
      <p:sp>
        <p:nvSpPr>
          <p:cNvPr id="26" name="矩形 25">
            <a:extLst>
              <a:ext uri="{FF2B5EF4-FFF2-40B4-BE49-F238E27FC236}">
                <a16:creationId xmlns:a16="http://schemas.microsoft.com/office/drawing/2014/main" id="{BCF04087-4373-4225-81AE-D93EABDE08B5}"/>
              </a:ext>
            </a:extLst>
          </p:cNvPr>
          <p:cNvSpPr/>
          <p:nvPr/>
        </p:nvSpPr>
        <p:spPr>
          <a:xfrm>
            <a:off x="3731692" y="4800108"/>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Fig.5.4.2 </a:t>
            </a:r>
            <a:r>
              <a:rPr lang="en-HK" sz="1400" dirty="0">
                <a:solidFill>
                  <a:prstClr val="black"/>
                </a:solidFill>
                <a:latin typeface="Times New Roman" panose="02020603050405020304" pitchFamily="18" charset="0"/>
                <a:ea typeface="SimSun"/>
                <a:cs typeface="Times New Roman" panose="02020603050405020304" pitchFamily="18" charset="0"/>
              </a:rPr>
              <a:t>The effect of three other nozzle parameters variations</a:t>
            </a:r>
          </a:p>
        </p:txBody>
      </p:sp>
      <p:sp>
        <p:nvSpPr>
          <p:cNvPr id="19" name="文本框 18">
            <a:extLst>
              <a:ext uri="{FF2B5EF4-FFF2-40B4-BE49-F238E27FC236}">
                <a16:creationId xmlns:a16="http://schemas.microsoft.com/office/drawing/2014/main" id="{F73BA449-0F05-4605-836B-0A296C6D1A21}"/>
              </a:ext>
            </a:extLst>
          </p:cNvPr>
          <p:cNvSpPr txBox="1"/>
          <p:nvPr/>
        </p:nvSpPr>
        <p:spPr>
          <a:xfrm>
            <a:off x="4596948" y="1798818"/>
            <a:ext cx="189910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Nozzle aperture</a:t>
            </a:r>
            <a:endParaRPr lang="zh-CN" altLang="en-US" sz="1600" dirty="0">
              <a:latin typeface="Times New Roman"/>
              <a:ea typeface="SimSun"/>
              <a:cs typeface="Times New Roman"/>
            </a:endParaRPr>
          </a:p>
        </p:txBody>
      </p:sp>
      <p:sp>
        <p:nvSpPr>
          <p:cNvPr id="23" name="文本框 22">
            <a:extLst>
              <a:ext uri="{FF2B5EF4-FFF2-40B4-BE49-F238E27FC236}">
                <a16:creationId xmlns:a16="http://schemas.microsoft.com/office/drawing/2014/main" id="{C73A1540-F6B4-4960-8DF0-7C62AF258952}"/>
              </a:ext>
            </a:extLst>
          </p:cNvPr>
          <p:cNvSpPr txBox="1"/>
          <p:nvPr/>
        </p:nvSpPr>
        <p:spPr>
          <a:xfrm>
            <a:off x="7702098" y="1797411"/>
            <a:ext cx="189910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Nozzle count</a:t>
            </a:r>
            <a:endParaRPr lang="zh-CN" altLang="en-US" sz="1600"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08C1CF8-DBF4-4D1A-9146-E6B69EBBDC7C}"/>
                  </a:ext>
                </a:extLst>
              </p:cNvPr>
              <p:cNvSpPr txBox="1"/>
              <p:nvPr/>
            </p:nvSpPr>
            <p:spPr>
              <a:xfrm>
                <a:off x="1386307" y="5284113"/>
                <a:ext cx="9805395" cy="11560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peak value of wet-bulb efficiency is achieved at a spacing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80 mm</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initially increases </a:t>
                </a:r>
                <a:r>
                  <a:rPr lang="en-HK" altLang="zh-CN" sz="1600" dirty="0">
                    <a:latin typeface="Times New Roman" panose="02020603050405020304" pitchFamily="18" charset="0"/>
                    <a:ea typeface="SimSun" panose="02010600030101010101" pitchFamily="2" charset="-122"/>
                    <a:cs typeface="Times New Roman"/>
                  </a:rPr>
                  <a:t>with increasing nozzle aperture size and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decreases</a:t>
                </a:r>
                <a:r>
                  <a:rPr lang="en-HK" altLang="zh-CN" sz="1600" dirty="0">
                    <a:latin typeface="Times New Roman" panose="02020603050405020304" pitchFamily="18" charset="0"/>
                    <a:ea typeface="SimSun" panose="02010600030101010101" pitchFamily="2" charset="-122"/>
                    <a:cs typeface="Times New Roman"/>
                  </a:rPr>
                  <a:t> with apertures larger than 6 mm.</a:t>
                </a: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r>
                      <a:rPr lang="en-US" sz="1600" i="1">
                        <a:latin typeface="Times New Roman" panose="02040503050406030204" pitchFamily="18" charset="0"/>
                        <a:ea typeface="SimSun"/>
                        <a:cs typeface="Times New Roman"/>
                      </a:rPr>
                      <m:t> </m:t>
                    </m:r>
                  </m:oMath>
                </a14:m>
                <a:r>
                  <a:rPr lang="en-HK" altLang="zh-CN" sz="1600" dirty="0">
                    <a:latin typeface="Times New Roman" panose="02020603050405020304" pitchFamily="18" charset="0"/>
                    <a:ea typeface="SimSun" panose="02010600030101010101" pitchFamily="2" charset="-122"/>
                    <a:cs typeface="Times New Roman"/>
                  </a:rPr>
                  <a:t>demonstrates an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 increase </a:t>
                </a:r>
                <a:r>
                  <a:rPr lang="en-HK" altLang="zh-CN" sz="1600" dirty="0">
                    <a:latin typeface="Times New Roman" panose="02020603050405020304" pitchFamily="18" charset="0"/>
                    <a:ea typeface="SimSun" panose="02010600030101010101" pitchFamily="2" charset="-122"/>
                    <a:cs typeface="Times New Roman"/>
                  </a:rPr>
                  <a:t>as the number of nozzles increases, but it starts to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decline</a:t>
                </a:r>
                <a:r>
                  <a:rPr lang="en-HK" altLang="zh-CN" sz="1600" dirty="0">
                    <a:latin typeface="Times New Roman" panose="02020603050405020304" pitchFamily="18" charset="0"/>
                    <a:ea typeface="SimSun" panose="02010600030101010101" pitchFamily="2" charset="-122"/>
                    <a:cs typeface="Times New Roman"/>
                  </a:rPr>
                  <a:t> when n≥10.</a:t>
                </a:r>
                <a:endParaRPr lang="zh-CN" altLang="en-US" sz="16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C08C1CF8-DBF4-4D1A-9146-E6B69EBBDC7C}"/>
                  </a:ext>
                </a:extLst>
              </p:cNvPr>
              <p:cNvSpPr txBox="1">
                <a:spLocks noRot="1" noChangeAspect="1" noMove="1" noResize="1" noEditPoints="1" noAdjustHandles="1" noChangeArrowheads="1" noChangeShapeType="1" noTextEdit="1"/>
              </p:cNvSpPr>
              <p:nvPr/>
            </p:nvSpPr>
            <p:spPr>
              <a:xfrm>
                <a:off x="1386307" y="5284113"/>
                <a:ext cx="9805395" cy="1156086"/>
              </a:xfrm>
              <a:prstGeom prst="rect">
                <a:avLst/>
              </a:prstGeom>
              <a:blipFill>
                <a:blip r:embed="rId4"/>
                <a:stretch>
                  <a:fillRect l="-249" b="-6349"/>
                </a:stretch>
              </a:blipFill>
            </p:spPr>
            <p:txBody>
              <a:bodyPr/>
              <a:lstStyle/>
              <a:p>
                <a:r>
                  <a:rPr lang="en-US">
                    <a:noFill/>
                    <a:latin typeface="Times New Roman"/>
                    <a:ea typeface="SimSun"/>
                    <a:cs typeface="Times New Roman"/>
                  </a:rPr>
                  <a:t> </a:t>
                </a:r>
              </a:p>
            </p:txBody>
          </p:sp>
        </mc:Fallback>
      </mc:AlternateContent>
      <p:sp>
        <p:nvSpPr>
          <p:cNvPr id="3" name="椭圆 2">
            <a:extLst>
              <a:ext uri="{FF2B5EF4-FFF2-40B4-BE49-F238E27FC236}">
                <a16:creationId xmlns:a16="http://schemas.microsoft.com/office/drawing/2014/main" id="{51BD5558-EEEB-4B5C-AEAB-D377FF6377B0}"/>
              </a:ext>
            </a:extLst>
          </p:cNvPr>
          <p:cNvSpPr/>
          <p:nvPr/>
        </p:nvSpPr>
        <p:spPr bwMode="auto">
          <a:xfrm>
            <a:off x="2459115" y="2361460"/>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7" name="椭圆 16">
            <a:extLst>
              <a:ext uri="{FF2B5EF4-FFF2-40B4-BE49-F238E27FC236}">
                <a16:creationId xmlns:a16="http://schemas.microsoft.com/office/drawing/2014/main" id="{11FD431D-0744-4501-BF84-5621D30D5786}"/>
              </a:ext>
            </a:extLst>
          </p:cNvPr>
          <p:cNvSpPr/>
          <p:nvPr/>
        </p:nvSpPr>
        <p:spPr bwMode="auto">
          <a:xfrm>
            <a:off x="6289005" y="2356265"/>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8" name="椭圆 17">
            <a:extLst>
              <a:ext uri="{FF2B5EF4-FFF2-40B4-BE49-F238E27FC236}">
                <a16:creationId xmlns:a16="http://schemas.microsoft.com/office/drawing/2014/main" id="{B6F28FE5-003F-4195-9006-30CBF9A557E9}"/>
              </a:ext>
            </a:extLst>
          </p:cNvPr>
          <p:cNvSpPr/>
          <p:nvPr/>
        </p:nvSpPr>
        <p:spPr bwMode="auto">
          <a:xfrm>
            <a:off x="9368901" y="2330251"/>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单因素变化的影响</a:t>
            </a:r>
          </a:p>
        </p:txBody>
      </p:sp>
      <p:sp>
        <p:nvSpPr>
          <p:cNvPr id="2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5.4.1 Effect of variations in a single factor</a:t>
            </a:r>
          </a:p>
        </p:txBody>
      </p:sp>
      <p:sp>
        <p:nvSpPr>
          <p:cNvPr id="29"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30"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9171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BC113EA7-5BB6-409E-A5D2-B97D45B8C941}"/>
              </a:ext>
            </a:extLst>
          </p:cNvPr>
          <p:cNvSpPr/>
          <p:nvPr/>
        </p:nvSpPr>
        <p:spPr bwMode="auto">
          <a:xfrm>
            <a:off x="947051" y="4515495"/>
            <a:ext cx="4959640" cy="2015853"/>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pic>
        <p:nvPicPr>
          <p:cNvPr id="22" name="图片 21">
            <a:extLst>
              <a:ext uri="{FF2B5EF4-FFF2-40B4-BE49-F238E27FC236}">
                <a16:creationId xmlns:a16="http://schemas.microsoft.com/office/drawing/2014/main" id="{1A942D7F-F762-4804-9C9C-CCBA95737A1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bwMode="auto">
          <a:xfrm>
            <a:off x="6213811" y="4351363"/>
            <a:ext cx="2913533" cy="2232000"/>
          </a:xfrm>
          <a:prstGeom prst="rect">
            <a:avLst/>
          </a:prstGeom>
          <a:ln>
            <a:noFill/>
          </a:ln>
          <a:extLst>
            <a:ext uri="{53640926-AAD7-44D8-BBD7-CCE9431645EC}">
              <a14:shadowObscured xmlns:a14="http://schemas.microsoft.com/office/drawing/2010/main"/>
            </a:ext>
          </a:extLst>
        </p:spPr>
      </p:pic>
      <p:pic>
        <p:nvPicPr>
          <p:cNvPr id="23" name="图片 22">
            <a:extLst>
              <a:ext uri="{FF2B5EF4-FFF2-40B4-BE49-F238E27FC236}">
                <a16:creationId xmlns:a16="http://schemas.microsoft.com/office/drawing/2014/main" id="{AB440F50-E763-492C-8DC7-F71932D0E36B}"/>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bwMode="auto">
          <a:xfrm>
            <a:off x="3524241" y="1963442"/>
            <a:ext cx="2894120" cy="2232000"/>
          </a:xfrm>
          <a:prstGeom prst="rect">
            <a:avLst/>
          </a:prstGeom>
          <a:ln>
            <a:noFill/>
          </a:ln>
          <a:extLst>
            <a:ext uri="{53640926-AAD7-44D8-BBD7-CCE9431645EC}">
              <a14:shadowObscured xmlns:a14="http://schemas.microsoft.com/office/drawing/2010/main"/>
            </a:ext>
          </a:extLst>
        </p:spPr>
      </p:pic>
      <p:sp>
        <p:nvSpPr>
          <p:cNvPr id="6" name="矩形 5">
            <a:extLst>
              <a:ext uri="{FF2B5EF4-FFF2-40B4-BE49-F238E27FC236}">
                <a16:creationId xmlns:a16="http://schemas.microsoft.com/office/drawing/2014/main" id="{4C7AB77A-745A-4F7F-8668-9437FD15EA4B}"/>
              </a:ext>
            </a:extLst>
          </p:cNvPr>
          <p:cNvSpPr/>
          <p:nvPr/>
        </p:nvSpPr>
        <p:spPr bwMode="auto">
          <a:xfrm>
            <a:off x="6822785" y="1851946"/>
            <a:ext cx="4824718" cy="2112249"/>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pic>
        <p:nvPicPr>
          <p:cNvPr id="17" name="图片 16">
            <a:extLst>
              <a:ext uri="{FF2B5EF4-FFF2-40B4-BE49-F238E27FC236}">
                <a16:creationId xmlns:a16="http://schemas.microsoft.com/office/drawing/2014/main" id="{16355CD3-E2C1-404C-8275-10B65859F0EC}"/>
              </a:ext>
            </a:extLst>
          </p:cNvPr>
          <p:cNvPicPr>
            <a:picLocks noChangeAspect="1"/>
          </p:cNvPicPr>
          <p:nvPr/>
        </p:nvPicPr>
        <p:blipFill rotWithShape="1">
          <a:blip r:embed="rId5">
            <a:extLst>
              <a:ext uri="{28A0092B-C50C-407E-A947-70E740481C1C}">
                <a14:useLocalDpi xmlns:a14="http://schemas.microsoft.com/office/drawing/2010/main"/>
              </a:ext>
            </a:extLst>
          </a:blip>
          <a:srcRect l="51923"/>
          <a:stretch/>
        </p:blipFill>
        <p:spPr bwMode="auto">
          <a:xfrm>
            <a:off x="9069483" y="4351363"/>
            <a:ext cx="2844801" cy="2232000"/>
          </a:xfrm>
          <a:prstGeom prst="rect">
            <a:avLst/>
          </a:prstGeom>
          <a:ln>
            <a:noFill/>
          </a:ln>
          <a:extLst>
            <a:ext uri="{53640926-AAD7-44D8-BBD7-CCE9431645EC}">
              <a14:shadowObscured xmlns:a14="http://schemas.microsoft.com/office/drawing/2010/main"/>
            </a:ext>
          </a:extLst>
        </p:spPr>
      </p:pic>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42</a:t>
            </a:fld>
            <a:endParaRPr lang="en-US" altLang="zh-CN"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CF04087-4373-4225-81AE-D93EABDE08B5}"/>
                  </a:ext>
                </a:extLst>
              </p:cNvPr>
              <p:cNvSpPr/>
              <p:nvPr/>
            </p:nvSpPr>
            <p:spPr>
              <a:xfrm>
                <a:off x="1918325" y="4151133"/>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Fig.5.4.3 </a:t>
                </a:r>
                <a:r>
                  <a:rPr lang="en-HK" sz="1400" dirty="0">
                    <a:solidFill>
                      <a:prstClr val="black"/>
                    </a:solidFill>
                    <a:latin typeface="Times New Roman" panose="02020603050405020304" pitchFamily="18" charset="0"/>
                    <a:ea typeface="SimSun"/>
                    <a:cs typeface="Times New Roman" panose="02020603050405020304" pitchFamily="18" charset="0"/>
                  </a:rPr>
                  <a:t>The effect of operation parameters on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HK" sz="1400" b="0" i="1" smtClean="0">
                            <a:latin typeface="Times New Roman" panose="02040503050406030204" pitchFamily="18" charset="0"/>
                            <a:ea typeface="SimSun"/>
                            <a:cs typeface="Times New Roman"/>
                          </a:rPr>
                          <m:t>𝑤𝑏</m:t>
                        </m:r>
                      </m:sub>
                    </m:sSub>
                  </m:oMath>
                </a14:m>
                <a:r>
                  <a:rPr lang="en-HK" sz="14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6" name="矩形 25">
                <a:extLst>
                  <a:ext uri="{FF2B5EF4-FFF2-40B4-BE49-F238E27FC236}">
                    <a16:creationId xmlns:a16="http://schemas.microsoft.com/office/drawing/2014/main" id="{BCF04087-4373-4225-81AE-D93EABDE08B5}"/>
                  </a:ext>
                </a:extLst>
              </p:cNvPr>
              <p:cNvSpPr>
                <a:spLocks noRot="1" noChangeAspect="1" noMove="1" noResize="1" noEditPoints="1" noAdjustHandles="1" noChangeArrowheads="1" noChangeShapeType="1" noTextEdit="1"/>
              </p:cNvSpPr>
              <p:nvPr/>
            </p:nvSpPr>
            <p:spPr>
              <a:xfrm>
                <a:off x="1918325" y="4151133"/>
                <a:ext cx="5211308" cy="307777"/>
              </a:xfrm>
              <a:prstGeom prst="rect">
                <a:avLst/>
              </a:prstGeom>
              <a:blipFill>
                <a:blip r:embed="rId6"/>
                <a:stretch>
                  <a:fillRect l="-351" t="-4000" b="-20000"/>
                </a:stretch>
              </a:blipFill>
            </p:spPr>
            <p:txBody>
              <a:bodyPr/>
              <a:lstStyle/>
              <a:p>
                <a:r>
                  <a:rPr lang="en-US">
                    <a:noFill/>
                    <a:latin typeface="Times New Roman"/>
                    <a:ea typeface="SimSun"/>
                    <a:cs typeface="Times New Roman"/>
                  </a:rPr>
                  <a:t> </a:t>
                </a:r>
              </a:p>
            </p:txBody>
          </p:sp>
        </mc:Fallback>
      </mc:AlternateContent>
      <p:pic>
        <p:nvPicPr>
          <p:cNvPr id="11" name="图片 10">
            <a:extLst>
              <a:ext uri="{FF2B5EF4-FFF2-40B4-BE49-F238E27FC236}">
                <a16:creationId xmlns:a16="http://schemas.microsoft.com/office/drawing/2014/main" id="{E0FF88A8-F43A-49F2-8051-CBF2A39E565C}"/>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bwMode="auto">
          <a:xfrm>
            <a:off x="696084" y="1956712"/>
            <a:ext cx="2831160" cy="2232000"/>
          </a:xfrm>
          <a:prstGeom prst="rect">
            <a:avLst/>
          </a:prstGeom>
          <a:ln>
            <a:noFill/>
          </a:ln>
          <a:extLst>
            <a:ext uri="{53640926-AAD7-44D8-BBD7-CCE9431645EC}">
              <a14:shadowObscured xmlns:a14="http://schemas.microsoft.com/office/drawing/2010/main"/>
            </a:ext>
          </a:extLst>
        </p:spPr>
      </p:pic>
      <p:sp>
        <p:nvSpPr>
          <p:cNvPr id="18" name="文本框 17">
            <a:extLst>
              <a:ext uri="{FF2B5EF4-FFF2-40B4-BE49-F238E27FC236}">
                <a16:creationId xmlns:a16="http://schemas.microsoft.com/office/drawing/2014/main" id="{F40C4369-DFA1-4532-9CEB-61316E0CA766}"/>
              </a:ext>
            </a:extLst>
          </p:cNvPr>
          <p:cNvSpPr txBox="1"/>
          <p:nvPr/>
        </p:nvSpPr>
        <p:spPr>
          <a:xfrm>
            <a:off x="811894" y="1587380"/>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Operation characteristics parameters</a:t>
            </a:r>
            <a:endParaRPr lang="zh-CN" altLang="en-US" sz="1600" dirty="0">
              <a:latin typeface="Times New Roman"/>
              <a:ea typeface="SimSun"/>
              <a:cs typeface="Times New Roman"/>
            </a:endParaRPr>
          </a:p>
        </p:txBody>
      </p:sp>
      <p:sp>
        <p:nvSpPr>
          <p:cNvPr id="20" name="矩形 19">
            <a:extLst>
              <a:ext uri="{FF2B5EF4-FFF2-40B4-BE49-F238E27FC236}">
                <a16:creationId xmlns:a16="http://schemas.microsoft.com/office/drawing/2014/main" id="{E7D6BDAB-5D97-45FF-9EE7-983C589C645E}"/>
              </a:ext>
            </a:extLst>
          </p:cNvPr>
          <p:cNvSpPr/>
          <p:nvPr/>
        </p:nvSpPr>
        <p:spPr>
          <a:xfrm>
            <a:off x="6822785" y="6531348"/>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Fig.5.4.4 </a:t>
            </a:r>
            <a:r>
              <a:rPr lang="en-HK" sz="1400" dirty="0">
                <a:solidFill>
                  <a:prstClr val="black"/>
                </a:solidFill>
                <a:latin typeface="Times New Roman" panose="02020603050405020304" pitchFamily="18" charset="0"/>
                <a:ea typeface="SimSun"/>
                <a:cs typeface="Times New Roman" panose="02020603050405020304" pitchFamily="18" charset="0"/>
              </a:rPr>
              <a:t>The effect of operation parameters on pressure drop  </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72FE34C-052C-4910-BE0B-10F97CC2FA8F}"/>
                  </a:ext>
                </a:extLst>
              </p:cNvPr>
              <p:cNvSpPr txBox="1"/>
              <p:nvPr/>
            </p:nvSpPr>
            <p:spPr>
              <a:xfrm>
                <a:off x="6932546" y="1851947"/>
                <a:ext cx="4627944" cy="197169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Ratio of air to water</a:t>
                </a:r>
              </a:p>
              <a:p>
                <a:pPr marL="285750" indent="-285750" algn="just">
                  <a:lnSpc>
                    <a:spcPct val="150000"/>
                  </a:lnSpc>
                  <a:spcBef>
                    <a:spcPts val="0"/>
                  </a:spcBef>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Initial stage:</a:t>
                </a:r>
                <a:r>
                  <a:rPr lang="zh-CN" altLang="en-US"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improves the convective heat and mass transfer coefficient, thus optimising 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a:t>
                </a:r>
              </a:p>
              <a:p>
                <a:pPr marL="285750" indent="-285750" algn="just">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Later stage: disrupts the formation of a water film, increasing the pressure drop</a:t>
                </a:r>
              </a:p>
            </p:txBody>
          </p:sp>
        </mc:Choice>
        <mc:Fallback xmlns="">
          <p:sp>
            <p:nvSpPr>
              <p:cNvPr id="21" name="文本框 20">
                <a:extLst>
                  <a:ext uri="{FF2B5EF4-FFF2-40B4-BE49-F238E27FC236}">
                    <a16:creationId xmlns:a16="http://schemas.microsoft.com/office/drawing/2014/main" id="{572FE34C-052C-4910-BE0B-10F97CC2FA8F}"/>
                  </a:ext>
                </a:extLst>
              </p:cNvPr>
              <p:cNvSpPr txBox="1">
                <a:spLocks noRot="1" noChangeAspect="1" noMove="1" noResize="1" noEditPoints="1" noAdjustHandles="1" noChangeArrowheads="1" noChangeShapeType="1" noTextEdit="1"/>
              </p:cNvSpPr>
              <p:nvPr/>
            </p:nvSpPr>
            <p:spPr>
              <a:xfrm>
                <a:off x="6932546" y="1851947"/>
                <a:ext cx="4627944" cy="1971694"/>
              </a:xfrm>
              <a:prstGeom prst="rect">
                <a:avLst/>
              </a:prstGeom>
              <a:blipFill>
                <a:blip r:embed="rId8"/>
                <a:stretch>
                  <a:fillRect l="-527" r="-791" b="-3406"/>
                </a:stretch>
              </a:blipFill>
            </p:spPr>
            <p:txBody>
              <a:bodyPr/>
              <a:lstStyle/>
              <a:p>
                <a:r>
                  <a:rPr lang="en-US">
                    <a:noFill/>
                    <a:latin typeface="Times New Roman"/>
                    <a:ea typeface="SimSun"/>
                    <a:cs typeface="Times New Roman"/>
                  </a:rPr>
                  <a:t> </a:t>
                </a:r>
              </a:p>
            </p:txBody>
          </p:sp>
        </mc:Fallback>
      </mc:AlternateContent>
      <p:sp>
        <p:nvSpPr>
          <p:cNvPr id="2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单因素变化的影响</a:t>
            </a:r>
          </a:p>
        </p:txBody>
      </p:sp>
      <p:sp>
        <p:nvSpPr>
          <p:cNvPr id="2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5.4.1 Effect of variations in a single factor</a:t>
            </a:r>
          </a:p>
        </p:txBody>
      </p:sp>
      <p:sp>
        <p:nvSpPr>
          <p:cNvPr id="29"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30"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1" name="文本框 24">
            <a:extLst>
              <a:ext uri="{FF2B5EF4-FFF2-40B4-BE49-F238E27FC236}">
                <a16:creationId xmlns:a16="http://schemas.microsoft.com/office/drawing/2014/main" id="{776B95AA-D971-4D4E-B56F-D7F1FEE29B0D}"/>
              </a:ext>
            </a:extLst>
          </p:cNvPr>
          <p:cNvSpPr txBox="1"/>
          <p:nvPr/>
        </p:nvSpPr>
        <p:spPr>
          <a:xfrm>
            <a:off x="1112899" y="4424901"/>
            <a:ext cx="4627944" cy="530606"/>
          </a:xfrm>
          <a:prstGeom prst="rect">
            <a:avLst/>
          </a:prstGeom>
          <a:noFill/>
          <a:ln>
            <a:noFill/>
          </a:ln>
        </p:spPr>
        <p:txBody>
          <a:bodyPr wrap="square" lIns="0" rIns="0" tIns="0" bIns="0">
            <a:noAutofit/>
          </a:bodyPr>
          <a:lstStyle/>
          <a:p>
            <a:pPr marL="0" indent="0" algn="l">
              <a:lnSpc>
                <a:spcPct val="108000"/>
              </a:lnSpc>
              <a:buNone/>
            </a:pPr>
            <a:r>
              <a:rPr lang="en-HK" altLang="zh-CN" sz="1350" dirty="0">
                <a:latin typeface="Times New Roman" panose="02020603050405020304" pitchFamily="18" charset="0"/>
                <a:ea typeface="SimSun" panose="02010600030101010101" pitchFamily="2" charset="-122"/>
                <a:cs typeface="Times New Roman"/>
              </a:rPr>
              <a:t>Spray density</a:t>
            </a:r>
          </a:p>
        </p:txBody>
      </p:sp>
      <p:sp>
        <p:nvSpPr>
          <p:cNvPr id="32" name="TextBox 1"/>
          <p:cNvSpPr txBox="1"/>
          <p:nvPr/>
        </p:nvSpPr>
        <p:spPr>
          <a:xfrm>
            <a:off x="1112899" y="4661502"/>
            <a:ext cx="4627944" cy="294005"/>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喷淋密度的影响</a:t>
            </a:r>
          </a:p>
        </p:txBody>
      </p:sp>
      <p:sp>
        <p:nvSpPr>
          <p:cNvPr id="33" name="文本框 24">
            <a:extLst>
              <a:ext uri="{FF2B5EF4-FFF2-40B4-BE49-F238E27FC236}">
                <a16:creationId xmlns:a16="http://schemas.microsoft.com/office/drawing/2014/main" id="{776B95AA-D971-4D4E-B56F-D7F1FEE29B0D}"/>
              </a:ext>
            </a:extLst>
          </p:cNvPr>
          <p:cNvSpPr txBox="1"/>
          <p:nvPr/>
        </p:nvSpPr>
        <p:spPr>
          <a:xfrm>
            <a:off x="1112899" y="4955507"/>
            <a:ext cx="4627944" cy="530606"/>
          </a:xfrm>
          <a:prstGeom prst="rect">
            <a:avLst/>
          </a:prstGeom>
          <a:noFill/>
          <a:ln>
            <a:noFill/>
          </a:ln>
        </p:spPr>
        <p:txBody>
          <a:bodyPr wrap="square" lIns="0" rIns="0" tIns="0" bIns="0">
            <a:noAutofit/>
          </a:bodyPr>
          <a:lstStyle/>
          <a:p>
            <a:pPr marL="0" indent="0" algn="l">
              <a:lnSpc>
                <a:spcPct val="108000"/>
              </a:lnSpc>
              <a:buNone/>
            </a:pPr>
            <a:r>
              <a:rPr lang="en-HK" altLang="zh-CN" sz="1350" dirty="0">
                <a:latin typeface="Times New Roman" panose="02020603050405020304" pitchFamily="18" charset="0"/>
                <a:ea typeface="SimSun" panose="02010600030101010101" pitchFamily="2" charset="-122"/>
                <a:cs typeface="Times New Roman"/>
              </a:rPr>
              <a:t>L</a:t>
            </a:r>
            <a:r>
              <a:rPr lang="en-US" altLang="zh-CN" sz="1350" dirty="0" err="1">
                <a:latin typeface="Times New Roman" panose="02020603050405020304" pitchFamily="18" charset="0"/>
                <a:ea typeface="SimSun" panose="02010600030101010101" pitchFamily="2" charset="-122"/>
                <a:cs typeface="Times New Roman"/>
              </a:rPr>
              <a:t>ower</a:t>
            </a:r>
            <a:r>
              <a:rPr lang="en-US" altLang="zh-CN" sz="1350" dirty="0">
                <a:latin typeface="Times New Roman" panose="02020603050405020304" pitchFamily="18" charset="0"/>
                <a:ea typeface="SimSun" panose="02010600030101010101" pitchFamily="2" charset="-122"/>
                <a:cs typeface="Times New Roman"/>
              </a:rPr>
              <a:t> stage</a:t>
            </a:r>
            <a:r>
              <a:rPr lang="en-HK" altLang="zh-CN" sz="1350" dirty="0">
                <a:latin typeface="Times New Roman" panose="02020603050405020304" pitchFamily="18" charset="0"/>
                <a:ea typeface="SimSun" panose="02010600030101010101" pitchFamily="2" charset="-122"/>
                <a:cs typeface="Times New Roman"/>
              </a:rPr>
              <a:t>:</a:t>
            </a:r>
            <a:r>
              <a:rPr lang="zh-CN" altLang="en-US" sz="1350" dirty="0">
                <a:latin typeface="Times New Roman" panose="02020603050405020304" pitchFamily="18" charset="0"/>
                <a:ea typeface="SimSun" panose="02010600030101010101" pitchFamily="2" charset="-122"/>
                <a:cs typeface="Times New Roman"/>
              </a:rPr>
              <a:t> </a:t>
            </a:r>
            <a:r>
              <a:rPr lang="en-HK" altLang="zh-CN" sz="1350" dirty="0">
                <a:latin typeface="Times New Roman" panose="02020603050405020304" pitchFamily="18" charset="0"/>
                <a:ea typeface="SimSun" panose="02010600030101010101" pitchFamily="2" charset="-122"/>
                <a:cs typeface="Times New Roman"/>
              </a:rPr>
              <a:t>Uneven water film distribution, presence of dry areas</a:t>
            </a:r>
          </a:p>
        </p:txBody>
      </p:sp>
      <p:sp>
        <p:nvSpPr>
          <p:cNvPr id="34" name="TextBox 1"/>
          <p:cNvSpPr txBox="1"/>
          <p:nvPr/>
        </p:nvSpPr>
        <p:spPr>
          <a:xfrm>
            <a:off x="1112899" y="5192108"/>
            <a:ext cx="4627944" cy="294005"/>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喷淋密度较低：水膜分布不均，存在干区。</a:t>
            </a:r>
          </a:p>
        </p:txBody>
      </p:sp>
      <p:sp>
        <p:nvSpPr>
          <p:cNvPr id="35" name="文本框 24">
            <a:extLst>
              <a:ext uri="{FF2B5EF4-FFF2-40B4-BE49-F238E27FC236}">
                <a16:creationId xmlns:a16="http://schemas.microsoft.com/office/drawing/2014/main" id="{776B95AA-D971-4D4E-B56F-D7F1FEE29B0D}"/>
              </a:ext>
            </a:extLst>
          </p:cNvPr>
          <p:cNvSpPr txBox="1"/>
          <p:nvPr/>
        </p:nvSpPr>
        <p:spPr>
          <a:xfrm>
            <a:off x="1112899" y="5486113"/>
            <a:ext cx="4627944" cy="921512"/>
          </a:xfrm>
          <a:prstGeom prst="rect">
            <a:avLst/>
          </a:prstGeom>
          <a:noFill/>
          <a:ln>
            <a:noFill/>
          </a:ln>
        </p:spPr>
        <p:txBody>
          <a:bodyPr wrap="square" lIns="0" rIns="0" tIns="0" bIns="0">
            <a:noAutofit/>
          </a:bodyPr>
          <a:lstStyle/>
          <a:p>
            <a:pPr marL="0" indent="0" algn="l">
              <a:lnSpc>
                <a:spcPct val="108000"/>
              </a:lnSpc>
              <a:buNone/>
            </a:pPr>
            <a:r>
              <a:rPr lang="en-HK" altLang="zh-CN" sz="1350" dirty="0">
                <a:latin typeface="Times New Roman" panose="02020603050405020304" pitchFamily="18" charset="0"/>
                <a:ea typeface="SimSun" panose="02010600030101010101" pitchFamily="2" charset="-122"/>
                <a:cs typeface="Times New Roman"/>
              </a:rPr>
              <a:t>Higher stage: thicker water film lead to clogging of secondary air channel, increasing air resistance.</a:t>
            </a:r>
          </a:p>
        </p:txBody>
      </p:sp>
      <p:sp>
        <p:nvSpPr>
          <p:cNvPr id="36" name="TextBox 1"/>
          <p:cNvSpPr txBox="1"/>
          <p:nvPr/>
        </p:nvSpPr>
        <p:spPr>
          <a:xfrm>
            <a:off x="1112899" y="5918167"/>
            <a:ext cx="4627944" cy="489458"/>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喷淋密度较高：水膜增厚，可能堵塞二次空气通道并增大空气阻力。</a:t>
            </a:r>
          </a:p>
        </p:txBody>
      </p:sp>
    </p:spTree>
    <p:extLst>
      <p:ext uri="{BB962C8B-B14F-4D97-AF65-F5344CB8AC3E}">
        <p14:creationId xmlns:p14="http://schemas.microsoft.com/office/powerpoint/2010/main" val="73889755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9C31EF2F-1855-48F7-A274-EE81D147E5A1}"/>
              </a:ext>
            </a:extLst>
          </p:cNvPr>
          <p:cNvSpPr/>
          <p:nvPr/>
        </p:nvSpPr>
        <p:spPr bwMode="auto">
          <a:xfrm>
            <a:off x="1192168" y="4611495"/>
            <a:ext cx="5127723" cy="2020197"/>
          </a:xfrm>
          <a:prstGeom prst="roundRect">
            <a:avLst/>
          </a:prstGeom>
          <a:noFill/>
          <a:ln w="19050" cap="flat" cmpd="sng" algn="ctr">
            <a:solidFill>
              <a:srgbClr val="AF1E3B"/>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43</a:t>
            </a:fld>
            <a:endParaRPr lang="en-US" altLang="zh-CN" dirty="0">
              <a:latin typeface="Times New Roman"/>
              <a:ea typeface="SimSun"/>
              <a:cs typeface="Times New Roman"/>
            </a:endParaRPr>
          </a:p>
        </p:txBody>
      </p:sp>
      <p:sp>
        <p:nvSpPr>
          <p:cNvPr id="18" name="文本框 17">
            <a:extLst>
              <a:ext uri="{FF2B5EF4-FFF2-40B4-BE49-F238E27FC236}">
                <a16:creationId xmlns:a16="http://schemas.microsoft.com/office/drawing/2014/main" id="{F40C4369-DFA1-4532-9CEB-61316E0CA766}"/>
              </a:ext>
            </a:extLst>
          </p:cNvPr>
          <p:cNvSpPr txBox="1"/>
          <p:nvPr/>
        </p:nvSpPr>
        <p:spPr>
          <a:xfrm>
            <a:off x="392303" y="1712549"/>
            <a:ext cx="2219391"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Spacing and pressure</a:t>
            </a:r>
            <a:endParaRPr lang="zh-CN" altLang="en-US" sz="1600" dirty="0">
              <a:latin typeface="Times New Roman"/>
              <a:ea typeface="SimSun"/>
              <a:cs typeface="Times New Roman"/>
            </a:endParaRPr>
          </a:p>
        </p:txBody>
      </p:sp>
      <p:pic>
        <p:nvPicPr>
          <p:cNvPr id="14" name="图片 13">
            <a:extLst>
              <a:ext uri="{FF2B5EF4-FFF2-40B4-BE49-F238E27FC236}">
                <a16:creationId xmlns:a16="http://schemas.microsoft.com/office/drawing/2014/main" id="{DB624EFF-8ED2-4907-939C-14BAF5D79B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138" y="2109640"/>
            <a:ext cx="3031927" cy="2160000"/>
          </a:xfrm>
          <a:prstGeom prst="rect">
            <a:avLst/>
          </a:prstGeom>
        </p:spPr>
      </p:pic>
      <p:pic>
        <p:nvPicPr>
          <p:cNvPr id="19" name="图片 18">
            <a:extLst>
              <a:ext uri="{FF2B5EF4-FFF2-40B4-BE49-F238E27FC236}">
                <a16:creationId xmlns:a16="http://schemas.microsoft.com/office/drawing/2014/main" id="{B94CD3CA-1F56-4FD8-A05D-76B883319F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8689" y="2109640"/>
            <a:ext cx="2935929" cy="2160000"/>
          </a:xfrm>
          <a:prstGeom prst="rect">
            <a:avLst/>
          </a:prstGeom>
        </p:spPr>
      </p:pic>
      <p:sp>
        <p:nvSpPr>
          <p:cNvPr id="25" name="文本框 24">
            <a:extLst>
              <a:ext uri="{FF2B5EF4-FFF2-40B4-BE49-F238E27FC236}">
                <a16:creationId xmlns:a16="http://schemas.microsoft.com/office/drawing/2014/main" id="{0E0C6A71-5910-45AE-AA36-4527C723483A}"/>
              </a:ext>
            </a:extLst>
          </p:cNvPr>
          <p:cNvSpPr txBox="1"/>
          <p:nvPr/>
        </p:nvSpPr>
        <p:spPr>
          <a:xfrm>
            <a:off x="3434964" y="1722138"/>
            <a:ext cx="247656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Aperture and pressure</a:t>
            </a:r>
            <a:endParaRPr lang="zh-CN" altLang="en-US" sz="1600" dirty="0">
              <a:latin typeface="Times New Roman"/>
              <a:ea typeface="SimSun"/>
              <a:cs typeface="Times New Roman"/>
            </a:endParaRPr>
          </a:p>
        </p:txBody>
      </p:sp>
      <p:cxnSp>
        <p:nvCxnSpPr>
          <p:cNvPr id="34" name="直接连接符 33">
            <a:extLst>
              <a:ext uri="{FF2B5EF4-FFF2-40B4-BE49-F238E27FC236}">
                <a16:creationId xmlns:a16="http://schemas.microsoft.com/office/drawing/2014/main" id="{928D7627-E5B3-45C8-A69C-FAEB4BA114AF}"/>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5" name="文本框 34">
            <a:extLst>
              <a:ext uri="{FF2B5EF4-FFF2-40B4-BE49-F238E27FC236}">
                <a16:creationId xmlns:a16="http://schemas.microsoft.com/office/drawing/2014/main" id="{D7FACD9B-841E-43E7-8A76-488CF4D8AD04}"/>
              </a:ext>
            </a:extLst>
          </p:cNvPr>
          <p:cNvSpPr txBox="1"/>
          <p:nvPr/>
        </p:nvSpPr>
        <p:spPr>
          <a:xfrm>
            <a:off x="7130448" y="1437635"/>
            <a:ext cx="4301553"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The importance of different design parameters</a:t>
            </a:r>
            <a:endParaRPr lang="zh-CN" altLang="en-US" sz="1600" dirty="0">
              <a:latin typeface="Times New Roman"/>
              <a:ea typeface="SimSun"/>
              <a:cs typeface="Times New Roman"/>
            </a:endParaRPr>
          </a:p>
        </p:txBody>
      </p:sp>
      <p:pic>
        <p:nvPicPr>
          <p:cNvPr id="36" name="图片 35">
            <a:extLst>
              <a:ext uri="{FF2B5EF4-FFF2-40B4-BE49-F238E27FC236}">
                <a16:creationId xmlns:a16="http://schemas.microsoft.com/office/drawing/2014/main" id="{560F1C2B-8F45-41B7-A25E-A08FF4319A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0588" y="1790708"/>
            <a:ext cx="4233202" cy="2880000"/>
          </a:xfrm>
          <a:prstGeom prst="rect">
            <a:avLst/>
          </a:prstGeom>
        </p:spPr>
      </p:pic>
      <p:cxnSp>
        <p:nvCxnSpPr>
          <p:cNvPr id="37" name="直接连接符 36">
            <a:extLst>
              <a:ext uri="{FF2B5EF4-FFF2-40B4-BE49-F238E27FC236}">
                <a16:creationId xmlns:a16="http://schemas.microsoft.com/office/drawing/2014/main" id="{38752550-5659-4DDE-9536-D32F28C15AAB}"/>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BC2B341A-347E-497E-BAAD-DFC3411178C6}"/>
                  </a:ext>
                </a:extLst>
              </p:cNvPr>
              <p:cNvSpPr txBox="1"/>
              <p:nvPr/>
            </p:nvSpPr>
            <p:spPr>
              <a:xfrm>
                <a:off x="7431141" y="4800596"/>
                <a:ext cx="4132649" cy="1602362"/>
              </a:xfrm>
              <a:prstGeom prst="rect">
                <a:avLst/>
              </a:prstGeom>
              <a:noFill/>
            </p:spPr>
            <p:txBody>
              <a:bodyPr wrap="square">
                <a:spAutoFit/>
              </a:bodyPr>
              <a:lstStyle/>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Ratio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 </m:t>
                    </m:r>
                  </m:oMath>
                </a14:m>
                <a:r>
                  <a:rPr lang="en-HK" altLang="zh-CN" sz="1600" dirty="0">
                    <a:latin typeface="Times New Roman" panose="02020603050405020304" pitchFamily="18" charset="0"/>
                    <a:ea typeface="SimSun" panose="02010600030101010101" pitchFamily="2" charset="-122"/>
                    <a:cs typeface="Times New Roman"/>
                  </a:rPr>
                  <a:t>Count </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Density</a:t>
                </a:r>
                <a:r>
                  <a:rPr lang="en-HK" altLang="zh-CN" sz="1600" dirty="0">
                    <a:latin typeface="Times New Roman"/>
                    <a:ea typeface="SimSun" panose="02040503050406030204" pitchFamily="18" charset="0"/>
                    <a:cs typeface="Times New Roman"/>
                  </a:rPr>
                  <a:t>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Pressure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Spacing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Aperture</a:t>
                </a:r>
              </a:p>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smallest impact factor with a correlation coefficient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0.5228</a:t>
                </a:r>
                <a:r>
                  <a:rPr lang="en-HK" altLang="zh-CN" sz="1600" dirty="0">
                    <a:latin typeface="Times New Roman" panose="02020603050405020304" pitchFamily="18" charset="0"/>
                    <a:ea typeface="SimSun" panose="02010600030101010101" pitchFamily="2" charset="-122"/>
                    <a:cs typeface="Times New Roman"/>
                  </a:rPr>
                  <a:t>, remains important.</a:t>
                </a:r>
              </a:p>
            </p:txBody>
          </p:sp>
        </mc:Choice>
        <mc:Fallback xmlns="">
          <p:sp>
            <p:nvSpPr>
              <p:cNvPr id="38" name="文本框 37">
                <a:extLst>
                  <a:ext uri="{FF2B5EF4-FFF2-40B4-BE49-F238E27FC236}">
                    <a16:creationId xmlns:a16="http://schemas.microsoft.com/office/drawing/2014/main" id="{BC2B341A-347E-497E-BAAD-DFC3411178C6}"/>
                  </a:ext>
                </a:extLst>
              </p:cNvPr>
              <p:cNvSpPr txBox="1">
                <a:spLocks noRot="1" noChangeAspect="1" noMove="1" noResize="1" noEditPoints="1" noAdjustHandles="1" noChangeArrowheads="1" noChangeShapeType="1" noTextEdit="1"/>
              </p:cNvSpPr>
              <p:nvPr/>
            </p:nvSpPr>
            <p:spPr>
              <a:xfrm>
                <a:off x="7431141" y="4800596"/>
                <a:ext cx="4132649" cy="1602362"/>
              </a:xfrm>
              <a:prstGeom prst="rect">
                <a:avLst/>
              </a:prstGeom>
              <a:blipFill>
                <a:blip r:embed="rId6"/>
                <a:stretch>
                  <a:fillRect l="-590" r="-885" b="-418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04B8C3A7-E0B9-4663-BC11-FE2739F5EFF3}"/>
                  </a:ext>
                </a:extLst>
              </p:cNvPr>
              <p:cNvSpPr txBox="1"/>
              <p:nvPr/>
            </p:nvSpPr>
            <p:spPr>
              <a:xfrm>
                <a:off x="1307733" y="4724335"/>
                <a:ext cx="4804067" cy="2125582"/>
              </a:xfrm>
              <a:prstGeom prst="rect">
                <a:avLst/>
              </a:prstGeom>
              <a:noFill/>
            </p:spPr>
            <p:txBody>
              <a:bodyPr wrap="square">
                <a:spAutoFit/>
              </a:bodyPr>
              <a:lstStyle/>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Small </a:t>
                </a:r>
                <a:r>
                  <a:rPr lang="en-HK" altLang="zh-CN" sz="1600" dirty="0">
                    <a:solidFill>
                      <a:srgbClr val="C00000"/>
                    </a:solidFill>
                    <a:latin typeface="Times New Roman" panose="02020603050405020304" pitchFamily="18" charset="0"/>
                    <a:ea typeface="SimSun" panose="02010600030101010101" pitchFamily="2" charset="-122"/>
                    <a:cs typeface="Times New Roman"/>
                  </a:rPr>
                  <a:t>spacing</a:t>
                </a:r>
                <a:r>
                  <a:rPr lang="en-HK" altLang="zh-CN" sz="1600" dirty="0">
                    <a:latin typeface="Times New Roman" panose="02020603050405020304" pitchFamily="18" charset="0"/>
                    <a:ea typeface="SimSun" panose="02010600030101010101" pitchFamily="2" charset="-122"/>
                    <a:cs typeface="Times New Roman"/>
                  </a:rPr>
                  <a:t>: increasing the pressure rapidly brings the IEC performance to its peak and then decreases.</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Low </a:t>
                </a:r>
                <a:r>
                  <a:rPr lang="en-HK"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HK" altLang="zh-CN" sz="1600" dirty="0">
                    <a:latin typeface="Times New Roman" panose="02020603050405020304" pitchFamily="18" charset="0"/>
                    <a:ea typeface="SimSun" panose="02010600030101010101" pitchFamily="2" charset="-122"/>
                    <a:cs typeface="Times New Roman"/>
                  </a:rPr>
                  <a:t>: aperture  </a:t>
                </a:r>
                <a14:m>
                  <m:oMath xmlns:m="http://schemas.openxmlformats.org/officeDocument/2006/math">
                    <m:sSub>
                      <m:sSubPr>
                        <m:ctrlPr>
                          <a:rPr lang="en-HK" sz="1600" b="0" i="1" smtClean="0">
                            <a:latin typeface="Times New Roman" panose="02040503050406030204" pitchFamily="18" charset="0"/>
                            <a:ea typeface="SimSun"/>
                            <a:cs typeface="Times New Roman"/>
                          </a:rPr>
                        </m:ctrlPr>
                      </m:sSubPr>
                      <m:e>
                        <m:r>
                          <a:rPr lang="en-HK" sz="1600" b="0" i="1" smtClean="0">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H</a:t>
                </a:r>
                <a:r>
                  <a:rPr lang="en-US" altLang="zh-CN" sz="1600" dirty="0" err="1">
                    <a:latin typeface="Times New Roman" panose="02020603050405020304" pitchFamily="18" charset="0"/>
                    <a:ea typeface="SimSun" panose="02010600030101010101" pitchFamily="2" charset="-122"/>
                    <a:cs typeface="Times New Roman"/>
                  </a:rPr>
                  <a:t>igh</a:t>
                </a:r>
                <a:r>
                  <a:rPr lang="en-US" altLang="zh-CN" sz="1600" dirty="0">
                    <a:latin typeface="Times New Roman" panose="02020603050405020304" pitchFamily="18" charset="0"/>
                    <a:ea typeface="SimSun" panose="02010600030101010101" pitchFamily="2" charset="-122"/>
                    <a:cs typeface="Times New Roman"/>
                  </a:rPr>
                  <a:t> </a:t>
                </a:r>
                <a:r>
                  <a:rPr lang="en-US"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US" altLang="zh-CN"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aperture  </a:t>
                </a:r>
                <a14:m>
                  <m:oMath xmlns:m="http://schemas.openxmlformats.org/officeDocument/2006/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9" name="文本框 38">
                <a:extLst>
                  <a:ext uri="{FF2B5EF4-FFF2-40B4-BE49-F238E27FC236}">
                    <a16:creationId xmlns:a16="http://schemas.microsoft.com/office/drawing/2014/main" id="{04B8C3A7-E0B9-4663-BC11-FE2739F5EFF3}"/>
                  </a:ext>
                </a:extLst>
              </p:cNvPr>
              <p:cNvSpPr txBox="1">
                <a:spLocks noRot="1" noChangeAspect="1" noMove="1" noResize="1" noEditPoints="1" noAdjustHandles="1" noChangeArrowheads="1" noChangeShapeType="1" noTextEdit="1"/>
              </p:cNvSpPr>
              <p:nvPr/>
            </p:nvSpPr>
            <p:spPr>
              <a:xfrm>
                <a:off x="1307733" y="4724335"/>
                <a:ext cx="4804067" cy="2125582"/>
              </a:xfrm>
              <a:prstGeom prst="rect">
                <a:avLst/>
              </a:prstGeom>
              <a:blipFill>
                <a:blip r:embed="rId7"/>
                <a:stretch>
                  <a:fillRect l="-508" r="-635"/>
                </a:stretch>
              </a:blipFill>
            </p:spPr>
            <p:txBody>
              <a:bodyPr/>
              <a:lstStyle/>
              <a:p>
                <a:r>
                  <a:rPr lang="en-US">
                    <a:noFill/>
                    <a:latin typeface="Times New Roman"/>
                    <a:ea typeface="SimSun"/>
                    <a:cs typeface="Times New Roman"/>
                  </a:rPr>
                  <a:t> </a:t>
                </a:r>
              </a:p>
            </p:txBody>
          </p:sp>
        </mc:Fallback>
      </mc:AlternateContent>
      <p:cxnSp>
        <p:nvCxnSpPr>
          <p:cNvPr id="3" name="直接箭头连接符 2">
            <a:extLst>
              <a:ext uri="{FF2B5EF4-FFF2-40B4-BE49-F238E27FC236}">
                <a16:creationId xmlns:a16="http://schemas.microsoft.com/office/drawing/2014/main" id="{FF856D8F-0275-FB94-C872-CFCC7F1B3E98}"/>
              </a:ext>
            </a:extLst>
          </p:cNvPr>
          <p:cNvCxnSpPr>
            <a:cxnSpLocks/>
          </p:cNvCxnSpPr>
          <p:nvPr/>
        </p:nvCxnSpPr>
        <p:spPr bwMode="auto">
          <a:xfrm flipV="1">
            <a:off x="3648689" y="5585183"/>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4" name="直接箭头连接符 3">
            <a:extLst>
              <a:ext uri="{FF2B5EF4-FFF2-40B4-BE49-F238E27FC236}">
                <a16:creationId xmlns:a16="http://schemas.microsoft.com/office/drawing/2014/main" id="{015E9621-5EA7-8830-497E-079F4E048EF8}"/>
              </a:ext>
            </a:extLst>
          </p:cNvPr>
          <p:cNvCxnSpPr>
            <a:cxnSpLocks/>
          </p:cNvCxnSpPr>
          <p:nvPr/>
        </p:nvCxnSpPr>
        <p:spPr bwMode="auto">
          <a:xfrm flipV="1">
            <a:off x="3657843" y="6039395"/>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1B209BCA-4732-5F0D-A2D1-79AFE9E3CB6B}"/>
              </a:ext>
            </a:extLst>
          </p:cNvPr>
          <p:cNvCxnSpPr>
            <a:cxnSpLocks/>
          </p:cNvCxnSpPr>
          <p:nvPr/>
        </p:nvCxnSpPr>
        <p:spPr bwMode="auto">
          <a:xfrm>
            <a:off x="4127131" y="6039395"/>
            <a:ext cx="0" cy="310313"/>
          </a:xfrm>
          <a:prstGeom prst="straightConnector1">
            <a:avLst/>
          </a:prstGeom>
          <a:noFill/>
          <a:ln w="38100" cap="flat" cmpd="sng" algn="ctr">
            <a:solidFill>
              <a:srgbClr val="B96E87"/>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91AD7B73-9DD3-44EA-ABD8-7C88794E8EFC}"/>
              </a:ext>
            </a:extLst>
          </p:cNvPr>
          <p:cNvCxnSpPr>
            <a:cxnSpLocks/>
          </p:cNvCxnSpPr>
          <p:nvPr/>
        </p:nvCxnSpPr>
        <p:spPr bwMode="auto">
          <a:xfrm flipV="1">
            <a:off x="4127131" y="5585183"/>
            <a:ext cx="0" cy="290151"/>
          </a:xfrm>
          <a:prstGeom prst="straightConnector1">
            <a:avLst/>
          </a:prstGeom>
          <a:noFill/>
          <a:ln w="38100" cap="flat" cmpd="sng" algn="ctr">
            <a:solidFill>
              <a:srgbClr val="B96E87"/>
            </a:solidFill>
            <a:prstDash val="solid"/>
            <a:round/>
            <a:headEnd type="none" w="med" len="med"/>
            <a:tailEnd type="triangle"/>
          </a:ln>
          <a:effectLst/>
        </p:spPr>
      </p:cxnSp>
      <p:sp>
        <p:nvSpPr>
          <p:cNvPr id="40"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双因素变化的耦合影响</a:t>
            </a:r>
          </a:p>
        </p:txBody>
      </p:sp>
      <p:sp>
        <p:nvSpPr>
          <p:cNvPr id="41"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5.4.2 Combined effect of variations in two factors</a:t>
            </a:r>
          </a:p>
        </p:txBody>
      </p:sp>
      <p:sp>
        <p:nvSpPr>
          <p:cNvPr id="42"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43"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995192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a:xfrm>
            <a:off x="9309100"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44</a:t>
            </a:fld>
            <a:endParaRPr lang="en-US" altLang="zh-CN" dirty="0">
              <a:latin typeface="Times New Roman"/>
              <a:ea typeface="SimSun"/>
              <a:cs typeface="Times New Roman"/>
            </a:endParaRP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1973354"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Genetic algorithm </a:t>
            </a:r>
            <a:endParaRPr lang="zh-CN" altLang="en-US" sz="1600" dirty="0">
              <a:latin typeface="Times New Roman"/>
              <a:ea typeface="SimSun"/>
              <a:cs typeface="Times New Roman"/>
            </a:endParaRPr>
          </a:p>
        </p:txBody>
      </p:sp>
      <p:pic>
        <p:nvPicPr>
          <p:cNvPr id="16" name="图片 15">
            <a:extLst>
              <a:ext uri="{FF2B5EF4-FFF2-40B4-BE49-F238E27FC236}">
                <a16:creationId xmlns:a16="http://schemas.microsoft.com/office/drawing/2014/main" id="{1ADC7978-BE55-459A-94AE-C6AEA8B33D9C}"/>
              </a:ext>
            </a:extLst>
          </p:cNvPr>
          <p:cNvPicPr/>
          <p:nvPr/>
        </p:nvPicPr>
        <p:blipFill>
          <a:blip r:embed="rId3">
            <a:extLst>
              <a:ext uri="{28A0092B-C50C-407E-A947-70E740481C1C}">
                <a14:useLocalDpi xmlns:a14="http://schemas.microsoft.com/office/drawing/2010/main" val="0"/>
              </a:ext>
            </a:extLst>
          </a:blip>
          <a:stretch>
            <a:fillRect/>
          </a:stretch>
        </p:blipFill>
        <p:spPr>
          <a:xfrm>
            <a:off x="6890385" y="1543368"/>
            <a:ext cx="4837430" cy="5039995"/>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E12DBFC-4A90-4CA1-94BE-0B48E124C0BC}"/>
                  </a:ext>
                </a:extLst>
              </p:cNvPr>
              <p:cNvSpPr/>
              <p:nvPr/>
            </p:nvSpPr>
            <p:spPr>
              <a:xfrm>
                <a:off x="1767507" y="5486520"/>
                <a:ext cx="3534109" cy="596510"/>
              </a:xfrm>
              <a:prstGeom prst="rect">
                <a:avLst/>
              </a:prstGeom>
            </p:spPr>
            <p:txBody>
              <a:bodyPr wrap="none">
                <a:spAutoFit/>
              </a:bodyPr>
              <a:lstStyle/>
              <a:p>
                <a:pPr/>
                <a14:m>
                  <m:oMathPara xmlns:m="http://schemas.openxmlformats.org/officeDocument/2006/math">
                    <m:oMath>
                      <m:r>
                        <m:rPr>
                          <m:sty m:val="p"/>
                        </m:rPr>
                        <a:rPr lang="en-US" sz="1600">
                          <a:latin typeface="Times New Roman" panose="02040503050406030204" pitchFamily="18" charset="0"/>
                          <a:ea typeface="SimSun"/>
                          <a:cs typeface="Times New Roman"/>
                        </a:rPr>
                        <m:t>J</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𝑠</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𝑑</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𝑛</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𝛤</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𝑣</m:t>
                      </m:r>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1</m:t>
                          </m:r>
                        </m:sub>
                      </m:sSub>
                      <m:f>
                        <m:fPr>
                          <m:ctrlPr>
                            <a:rPr lang="en-US"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num>
                        <m:den>
                          <m:r>
                            <a:rPr lang="en-US" sz="1600" i="1">
                              <a:latin typeface="Times New Roman" panose="02040503050406030204" pitchFamily="18" charset="0"/>
                              <a:ea typeface="SimSun"/>
                              <a:cs typeface="Times New Roman"/>
                            </a:rPr>
                            <m:t>𝑅</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den>
                      </m:f>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2</m:t>
                          </m:r>
                        </m:sub>
                      </m:sSub>
                      <m:f>
                        <m:fPr>
                          <m:ctrlPr>
                            <a:rPr lang="en-US" sz="1600" i="1">
                              <a:latin typeface="Times New Roman" panose="02040503050406030204" pitchFamily="18" charset="0"/>
                              <a:ea typeface="SimSun"/>
                              <a:cs typeface="Times New Roman"/>
                            </a:rPr>
                          </m:ctrlPr>
                        </m:fPr>
                        <m:num>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𝑅</m:t>
                          </m:r>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den>
                      </m:f>
                    </m:oMath>
                  </m:oMathPara>
                </a14:m>
                <a:endParaRPr lang="en-US" sz="1600" dirty="0">
                  <a:latin typeface="Times New Roman" panose="02020603050405020304" pitchFamily="18" charset="0"/>
                  <a:ea typeface="SimSun"/>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E12DBFC-4A90-4CA1-94BE-0B48E124C0BC}"/>
                  </a:ext>
                </a:extLst>
              </p:cNvPr>
              <p:cNvSpPr>
                <a:spLocks noRot="1" noChangeAspect="1" noMove="1" noResize="1" noEditPoints="1" noAdjustHandles="1" noChangeArrowheads="1" noChangeShapeType="1" noTextEdit="1"/>
              </p:cNvSpPr>
              <p:nvPr/>
            </p:nvSpPr>
            <p:spPr>
              <a:xfrm>
                <a:off x="1767507" y="5486520"/>
                <a:ext cx="3534109" cy="596510"/>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p:sp>
        <p:nvSpPr>
          <p:cNvPr id="10" name="文本框 9">
            <a:extLst>
              <a:ext uri="{FF2B5EF4-FFF2-40B4-BE49-F238E27FC236}">
                <a16:creationId xmlns:a16="http://schemas.microsoft.com/office/drawing/2014/main" id="{1521DE8B-51E7-4945-BE0F-B1DB4470CFDC}"/>
              </a:ext>
            </a:extLst>
          </p:cNvPr>
          <p:cNvSpPr txBox="1"/>
          <p:nvPr/>
        </p:nvSpPr>
        <p:spPr>
          <a:xfrm>
            <a:off x="474572" y="3429000"/>
            <a:ext cx="3296330"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Multi-objectives optimization</a:t>
            </a:r>
            <a:endParaRPr lang="zh-CN" altLang="en-US" sz="1600" dirty="0">
              <a:latin typeface="Times New Roman"/>
              <a:ea typeface="SimSun"/>
              <a:cs typeface="Times New Roman"/>
            </a:endParaRPr>
          </a:p>
        </p:txBody>
      </p:sp>
      <p:sp>
        <p:nvSpPr>
          <p:cNvPr id="19" name="矩形 18">
            <a:extLst>
              <a:ext uri="{FF2B5EF4-FFF2-40B4-BE49-F238E27FC236}">
                <a16:creationId xmlns:a16="http://schemas.microsoft.com/office/drawing/2014/main" id="{5457C2C6-5FB7-4F83-AF77-1023F4F1D97F}"/>
              </a:ext>
            </a:extLst>
          </p:cNvPr>
          <p:cNvSpPr/>
          <p:nvPr/>
        </p:nvSpPr>
        <p:spPr>
          <a:xfrm>
            <a:off x="7735284" y="6581001"/>
            <a:ext cx="2996216"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Fig.5.4.3 </a:t>
            </a:r>
            <a:r>
              <a:rPr lang="en-HK" sz="1200" dirty="0">
                <a:solidFill>
                  <a:prstClr val="black"/>
                </a:solidFill>
                <a:latin typeface="Times New Roman" panose="02020603050405020304" pitchFamily="18" charset="0"/>
                <a:ea typeface="SimSun"/>
                <a:cs typeface="Times New Roman" panose="02020603050405020304" pitchFamily="18" charset="0"/>
              </a:rPr>
              <a:t>The flow of GA-ANN optimization</a:t>
            </a:r>
          </a:p>
        </p:txBody>
      </p:sp>
      <p:cxnSp>
        <p:nvCxnSpPr>
          <p:cNvPr id="20" name="直接箭头连接符 19">
            <a:extLst>
              <a:ext uri="{FF2B5EF4-FFF2-40B4-BE49-F238E27FC236}">
                <a16:creationId xmlns:a16="http://schemas.microsoft.com/office/drawing/2014/main" id="{D30C4A18-44D9-4835-B3E7-786B4AAE7EBA}"/>
              </a:ext>
            </a:extLst>
          </p:cNvPr>
          <p:cNvCxnSpPr>
            <a:cxnSpLocks/>
          </p:cNvCxnSpPr>
          <p:nvPr/>
        </p:nvCxnSpPr>
        <p:spPr bwMode="auto">
          <a:xfrm flipV="1">
            <a:off x="4453094" y="3907061"/>
            <a:ext cx="0" cy="290151"/>
          </a:xfrm>
          <a:prstGeom prst="straightConnector1">
            <a:avLst/>
          </a:prstGeom>
          <a:noFill/>
          <a:ln w="38100" cap="flat" cmpd="sng" algn="ctr">
            <a:solidFill>
              <a:srgbClr val="AF1E3B"/>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5853C08C-8BF9-4EB7-9502-9572CAFB120A}"/>
              </a:ext>
            </a:extLst>
          </p:cNvPr>
          <p:cNvCxnSpPr>
            <a:cxnSpLocks/>
          </p:cNvCxnSpPr>
          <p:nvPr/>
        </p:nvCxnSpPr>
        <p:spPr bwMode="auto">
          <a:xfrm>
            <a:off x="6082226" y="3907061"/>
            <a:ext cx="0" cy="315817"/>
          </a:xfrm>
          <a:prstGeom prst="straightConnector1">
            <a:avLst/>
          </a:prstGeom>
          <a:noFill/>
          <a:ln w="38100" cap="flat" cmpd="sng" algn="ctr">
            <a:solidFill>
              <a:srgbClr val="AF1E3B"/>
            </a:solidFill>
            <a:prstDash val="solid"/>
            <a:round/>
            <a:headEnd type="none" w="med" len="med"/>
            <a:tailEnd type="triangle"/>
          </a:ln>
          <a:effectLst/>
        </p:spPr>
      </p:cxnSp>
      <p:sp>
        <p:nvSpPr>
          <p:cNvPr id="24"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基于遗传算法的 IEC–ANN 模型优化</a:t>
            </a:r>
          </a:p>
        </p:txBody>
      </p:sp>
      <p:sp>
        <p:nvSpPr>
          <p:cNvPr id="25"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5.4.3 Optimization of IEC-ANN model based on Genetic algorithm</a:t>
            </a:r>
          </a:p>
        </p:txBody>
      </p:sp>
      <p:sp>
        <p:nvSpPr>
          <p:cNvPr id="26"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27"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8" name="文本框 16">
            <a:extLst>
              <a:ext uri="{FF2B5EF4-FFF2-40B4-BE49-F238E27FC236}">
                <a16:creationId xmlns:a16="http://schemas.microsoft.com/office/drawing/2014/main" id="{6AF4C4CC-D4DC-4AEB-AA94-6A000AE3FB51}"/>
              </a:ext>
            </a:extLst>
          </p:cNvPr>
          <p:cNvSpPr txBox="1"/>
          <p:nvPr/>
        </p:nvSpPr>
        <p:spPr>
          <a:xfrm>
            <a:off x="653677" y="2062425"/>
            <a:ext cx="5990024" cy="1261745"/>
          </a:xfrm>
          <a:prstGeom prst="rect">
            <a:avLst/>
          </a:prstGeom>
          <a:noFill/>
          <a:ln>
            <a:noFill/>
          </a:ln>
        </p:spPr>
        <p:txBody>
          <a:bodyPr wrap="square" lIns="0" rIns="0" tIns="0" bIns="0">
            <a:noAutofit/>
          </a:bodyPr>
          <a:lstStyle/>
          <a:p>
            <a:pPr marL="0" indent="0" algn="l">
              <a:lnSpc>
                <a:spcPct val="108000"/>
              </a:lnSpc>
              <a:buNone/>
            </a:pPr>
            <a:r>
              <a:rPr lang="en-HK" altLang="zh-CN" sz="1550" dirty="0">
                <a:latin typeface="Times New Roman" panose="02020603050405020304" pitchFamily="18" charset="0"/>
                <a:ea typeface="SimSun" panose="02010600030101010101" pitchFamily="2" charset="-122"/>
                <a:cs typeface="Times New Roman"/>
              </a:rPr>
              <a:t>Four key aspects: determining the basic operating parameters, chromosome encoding and decoding, evaluating individual fitness, and implementing the three genetic operators.</a:t>
            </a:r>
          </a:p>
        </p:txBody>
      </p:sp>
      <p:sp>
        <p:nvSpPr>
          <p:cNvPr id="29" name="TextBox 1"/>
          <p:cNvSpPr txBox="1"/>
          <p:nvPr/>
        </p:nvSpPr>
        <p:spPr>
          <a:xfrm>
            <a:off x="653677" y="2776800"/>
            <a:ext cx="5990024" cy="547369"/>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四个关键环节：确定基本运行参数、染色体编码与解码、个体适应度评价，以及执行三种遗传操作。</a:t>
            </a:r>
          </a:p>
        </p:txBody>
      </p:sp>
      <p:sp>
        <p:nvSpPr>
          <p:cNvPr id="30" name="文本框 10">
            <a:extLst>
              <a:ext uri="{FF2B5EF4-FFF2-40B4-BE49-F238E27FC236}">
                <a16:creationId xmlns:a16="http://schemas.microsoft.com/office/drawing/2014/main" id="{E6F462EE-4B69-40DC-8FFD-09B919FEF25F}"/>
              </a:ext>
            </a:extLst>
          </p:cNvPr>
          <p:cNvSpPr txBox="1"/>
          <p:nvPr/>
        </p:nvSpPr>
        <p:spPr>
          <a:xfrm>
            <a:off x="653675" y="3807964"/>
            <a:ext cx="6489905" cy="812927"/>
          </a:xfrm>
          <a:prstGeom prst="rect">
            <a:avLst/>
          </a:prstGeom>
          <a:noFill/>
          <a:ln>
            <a:noFill/>
          </a:ln>
        </p:spPr>
        <p:txBody>
          <a:bodyPr wrap="square" lIns="0" rIns="0" tIns="0" bIns="0">
            <a:noAutofit/>
          </a:bodyPr>
          <a:lstStyle/>
          <a:p>
            <a:pPr marL="0" indent="0" algn="l">
              <a:lnSpc>
                <a:spcPct val="108000"/>
              </a:lnSpc>
              <a:buNone/>
            </a:pPr>
            <a:r>
              <a:rPr lang="en-HK" altLang="zh-CN" sz="1550" dirty="0">
                <a:latin typeface="Times New Roman" panose="02020603050405020304" pitchFamily="18" charset="0"/>
                <a:ea typeface="SimSun" panose="02010600030101010101" pitchFamily="2" charset="-122"/>
                <a:cs typeface="Times New Roman"/>
              </a:rPr>
              <a:t>Optimization targets: wet-bulb efficiency   and pressure drop     </a:t>
            </a:r>
            <a:r>
              <a:rPr lang="en-HK" altLang="zh-CN" sz="1550" b="1" dirty="0">
                <a:solidFill>
                  <a:srgbClr val="C00000"/>
                </a:solidFill>
                <a:latin typeface="Times New Roman" panose="02020603050405020304" pitchFamily="18" charset="0"/>
                <a:ea typeface="SimSun" panose="02010600030101010101" pitchFamily="2" charset="-122"/>
                <a:cs typeface="Times New Roman"/>
              </a:rPr>
              <a:t>Minimizing</a:t>
            </a:r>
            <a:r>
              <a:rPr lang="en-HK" altLang="zh-CN" sz="1550" dirty="0">
                <a:latin typeface="Times New Roman" panose="02020603050405020304" pitchFamily="18" charset="0"/>
                <a:ea typeface="SimSun" panose="02010600030101010101" pitchFamily="2" charset="-122"/>
                <a:cs typeface="Times New Roman"/>
              </a:rPr>
              <a:t> power consumption &amp; </a:t>
            </a:r>
            <a:r>
              <a:rPr lang="en-HK" altLang="zh-CN" sz="1550" b="1" dirty="0">
                <a:solidFill>
                  <a:srgbClr val="C00000"/>
                </a:solidFill>
                <a:latin typeface="Times New Roman" panose="02020603050405020304" pitchFamily="18" charset="0"/>
                <a:ea typeface="SimSun" panose="02010600030101010101" pitchFamily="2" charset="-122"/>
                <a:cs typeface="Times New Roman"/>
              </a:rPr>
              <a:t>Maximizing</a:t>
            </a:r>
            <a:r>
              <a:rPr lang="en-HK" altLang="zh-CN" sz="1550" dirty="0">
                <a:latin typeface="Times New Roman" panose="02020603050405020304" pitchFamily="18" charset="0"/>
                <a:ea typeface="SimSun" panose="02010600030101010101" pitchFamily="2" charset="-122"/>
                <a:cs typeface="Times New Roman"/>
              </a:rPr>
              <a:t> cooling performance.</a:t>
            </a:r>
          </a:p>
        </p:txBody>
      </p:sp>
      <p:sp>
        <p:nvSpPr>
          <p:cNvPr id="31" name="TextBox 1"/>
          <p:cNvSpPr txBox="1"/>
          <p:nvPr/>
        </p:nvSpPr>
        <p:spPr>
          <a:xfrm>
            <a:off x="653675" y="4297930"/>
            <a:ext cx="6489905"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优化指标：湿球效率与压降。</a:t>
            </a:r>
          </a:p>
        </p:txBody>
      </p:sp>
      <p:sp>
        <p:nvSpPr>
          <p:cNvPr id="32" name="文本框 10">
            <a:extLst>
              <a:ext uri="{FF2B5EF4-FFF2-40B4-BE49-F238E27FC236}">
                <a16:creationId xmlns:a16="http://schemas.microsoft.com/office/drawing/2014/main" id="{E6F462EE-4B69-40DC-8FFD-09B919FEF25F}"/>
              </a:ext>
            </a:extLst>
          </p:cNvPr>
          <p:cNvSpPr txBox="1"/>
          <p:nvPr/>
        </p:nvSpPr>
        <p:spPr>
          <a:xfrm>
            <a:off x="653675" y="4620891"/>
            <a:ext cx="6489905" cy="1037336"/>
          </a:xfrm>
          <a:prstGeom prst="rect">
            <a:avLst/>
          </a:prstGeom>
          <a:noFill/>
          <a:ln>
            <a:noFill/>
          </a:ln>
        </p:spPr>
        <p:txBody>
          <a:bodyPr wrap="square" lIns="0" rIns="0" tIns="0" bIns="0">
            <a:noAutofit/>
          </a:bodyPr>
          <a:lstStyle/>
          <a:p>
            <a:pPr marL="0" indent="0" algn="l">
              <a:lnSpc>
                <a:spcPct val="108000"/>
              </a:lnSpc>
              <a:buNone/>
            </a:pPr>
            <a:r>
              <a:rPr lang="en-HK" altLang="zh-CN" sz="1550" dirty="0">
                <a:latin typeface="Times New Roman" panose="02020603050405020304" pitchFamily="18" charset="0"/>
                <a:ea typeface="SimSun" panose="02010600030101010101" pitchFamily="2" charset="-122"/>
                <a:cs typeface="Times New Roman"/>
              </a:rPr>
              <a:t>The optimization function comprises of both a fitness as well as a constraint function.</a:t>
            </a:r>
          </a:p>
        </p:txBody>
      </p:sp>
      <p:sp>
        <p:nvSpPr>
          <p:cNvPr id="33" name="TextBox 1"/>
          <p:cNvSpPr txBox="1"/>
          <p:nvPr/>
        </p:nvSpPr>
        <p:spPr>
          <a:xfrm>
            <a:off x="653675" y="5110857"/>
            <a:ext cx="6489905" cy="54737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目标：降低能耗，同时提升制冷性能。 优化函数由适应度函数与约束函数组成。</a:t>
            </a:r>
          </a:p>
        </p:txBody>
      </p:sp>
    </p:spTree>
    <p:extLst>
      <p:ext uri="{BB962C8B-B14F-4D97-AF65-F5344CB8AC3E}">
        <p14:creationId xmlns:p14="http://schemas.microsoft.com/office/powerpoint/2010/main" val="9372467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45</a:t>
            </a:fld>
            <a:endParaRPr lang="en-US" altLang="zh-CN" dirty="0">
              <a:latin typeface="Times New Roman"/>
              <a:ea typeface="SimSun"/>
              <a:cs typeface="Times New Roman"/>
            </a:endParaRP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3716428"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Results derived from GA</a:t>
            </a:r>
            <a:endParaRPr lang="zh-CN" altLang="en-US" sz="1600" dirty="0">
              <a:latin typeface="Times New Roman"/>
              <a:ea typeface="SimSun"/>
              <a:cs typeface="Times New Roman"/>
            </a:endParaRPr>
          </a:p>
        </p:txBody>
      </p:sp>
      <p:pic>
        <p:nvPicPr>
          <p:cNvPr id="4" name="图片 3">
            <a:extLst>
              <a:ext uri="{FF2B5EF4-FFF2-40B4-BE49-F238E27FC236}">
                <a16:creationId xmlns:a16="http://schemas.microsoft.com/office/drawing/2014/main" id="{7E56BBAF-0DA2-4115-968B-0B74F13609D6}"/>
              </a:ext>
            </a:extLst>
          </p:cNvPr>
          <p:cNvPicPr>
            <a:picLocks noChangeAspect="1"/>
          </p:cNvPicPr>
          <p:nvPr/>
        </p:nvPicPr>
        <p:blipFill>
          <a:blip r:embed="rId3"/>
          <a:stretch>
            <a:fillRect/>
          </a:stretch>
        </p:blipFill>
        <p:spPr>
          <a:xfrm>
            <a:off x="1743472" y="2062425"/>
            <a:ext cx="8705055" cy="2340000"/>
          </a:xfrm>
          <a:prstGeom prst="rect">
            <a:avLst/>
          </a:prstGeom>
        </p:spPr>
      </p:pic>
      <p:sp>
        <p:nvSpPr>
          <p:cNvPr id="3" name="矩形 2">
            <a:extLst>
              <a:ext uri="{FF2B5EF4-FFF2-40B4-BE49-F238E27FC236}">
                <a16:creationId xmlns:a16="http://schemas.microsoft.com/office/drawing/2014/main" id="{0F41B2EE-A33A-4BFA-85C9-27179892DD50}"/>
              </a:ext>
            </a:extLst>
          </p:cNvPr>
          <p:cNvSpPr/>
          <p:nvPr/>
        </p:nvSpPr>
        <p:spPr bwMode="auto">
          <a:xfrm>
            <a:off x="1743472" y="3293616"/>
            <a:ext cx="8705055" cy="381739"/>
          </a:xfrm>
          <a:prstGeom prst="rect">
            <a:avLst/>
          </a:prstGeom>
          <a:noFill/>
          <a:ln w="28575" cap="flat" cmpd="sng" algn="ctr">
            <a:solidFill>
              <a:srgbClr val="AF1E3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4"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基于遗传算法的 IEC–ANN 模型优化</a:t>
            </a:r>
          </a:p>
        </p:txBody>
      </p:sp>
      <p:sp>
        <p:nvSpPr>
          <p:cNvPr id="25"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5.4.3 Optimization of IEC-ANN model based on Genetic algorithm</a:t>
            </a:r>
          </a:p>
        </p:txBody>
      </p:sp>
      <p:sp>
        <p:nvSpPr>
          <p:cNvPr id="26"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5. Performance assessment and optimization of water spray strategy for IEC based on ANN modeling and GA</a:t>
            </a:r>
          </a:p>
        </p:txBody>
      </p:sp>
      <p:cxnSp>
        <p:nvCxnSpPr>
          <p:cNvPr id="27"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8" name="文本框 10">
            <a:extLst>
              <a:ext uri="{FF2B5EF4-FFF2-40B4-BE49-F238E27FC236}">
                <a16:creationId xmlns:a16="http://schemas.microsoft.com/office/drawing/2014/main" id="{1ACDB8AD-B3DD-4014-A855-8CF9DE015A24}"/>
              </a:ext>
            </a:extLst>
          </p:cNvPr>
          <p:cNvSpPr txBox="1"/>
          <p:nvPr/>
        </p:nvSpPr>
        <p:spPr>
          <a:xfrm>
            <a:off x="1279743" y="4737521"/>
            <a:ext cx="5302896" cy="566674"/>
          </a:xfrm>
          <a:prstGeom prst="rect">
            <a:avLst/>
          </a:prstGeom>
          <a:noFill/>
          <a:ln>
            <a:noFill/>
          </a:ln>
        </p:spPr>
        <p:txBody>
          <a:bodyPr wrap="square" lIns="0" rIns="0" tIns="0" bIns="0">
            <a:noAutofit/>
          </a:bodyPr>
          <a:lstStyle/>
          <a:p>
            <a:pPr marL="0" indent="0" algn="l">
              <a:lnSpc>
                <a:spcPct val="108000"/>
              </a:lnSpc>
              <a:buNone/>
            </a:pPr>
            <a:r>
              <a:rPr lang="en-HK" altLang="zh-CN" sz="1650" dirty="0">
                <a:latin typeface="Times New Roman" panose="02020603050405020304" pitchFamily="18" charset="0"/>
                <a:ea typeface="SimSun" panose="02010600030101010101" pitchFamily="2" charset="-122"/>
                <a:cs typeface="Times New Roman"/>
              </a:rPr>
              <a:t>An </a:t>
            </a:r>
            <a:r>
              <a:rPr lang="en-HK" altLang="zh-CN" sz="1650" b="1" dirty="0">
                <a:solidFill>
                  <a:srgbClr val="C00000"/>
                </a:solidFill>
                <a:latin typeface="Times New Roman" panose="02020603050405020304" pitchFamily="18" charset="0"/>
                <a:ea typeface="SimSun" panose="02010600030101010101" pitchFamily="2" charset="-122"/>
                <a:cs typeface="Times New Roman"/>
              </a:rPr>
              <a:t>equal-weight distribution </a:t>
            </a:r>
            <a:r>
              <a:rPr lang="en-HK" altLang="zh-CN" sz="1650" dirty="0">
                <a:latin typeface="Times New Roman" panose="02020603050405020304" pitchFamily="18" charset="0"/>
                <a:ea typeface="SimSun" panose="02010600030101010101" pitchFamily="2" charset="-122"/>
                <a:cs typeface="Times New Roman"/>
              </a:rPr>
              <a:t>yields the best conditions for optimization </a:t>
            </a:r>
            <a:r>
              <a:rPr lang="en-US" altLang="zh-CN" sz="1650" dirty="0">
                <a:latin typeface="Times New Roman" panose="02020603050405020304" pitchFamily="18" charset="0"/>
                <a:ea typeface="SimSun" panose="02010600030101010101" pitchFamily="2" charset="-122"/>
                <a:cs typeface="Times New Roman"/>
              </a:rPr>
              <a:t>of</a:t>
            </a:r>
            <a:r>
              <a:rPr lang="en-HK" altLang="zh-CN" sz="1650" dirty="0">
                <a:latin typeface="Times New Roman" panose="02020603050405020304" pitchFamily="18" charset="0"/>
                <a:ea typeface="SimSun" panose="02010600030101010101" pitchFamily="2" charset="-122"/>
                <a:cs typeface="Times New Roman"/>
              </a:rPr>
              <a:t> IEC performance.</a:t>
            </a:r>
          </a:p>
        </p:txBody>
      </p:sp>
      <p:sp>
        <p:nvSpPr>
          <p:cNvPr id="29" name="TextBox 1"/>
          <p:cNvSpPr txBox="1"/>
          <p:nvPr/>
        </p:nvSpPr>
        <p:spPr>
          <a:xfrm>
            <a:off x="6911823" y="4751236"/>
            <a:ext cx="4000430" cy="566674"/>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采用等权重分配时，IEC 获得最佳综合优化效果。</a:t>
            </a:r>
          </a:p>
        </p:txBody>
      </p:sp>
      <p:sp>
        <p:nvSpPr>
          <p:cNvPr id="30" name="文本框 10">
            <a:extLst>
              <a:ext uri="{FF2B5EF4-FFF2-40B4-BE49-F238E27FC236}">
                <a16:creationId xmlns:a16="http://schemas.microsoft.com/office/drawing/2014/main" id="{1ACDB8AD-B3DD-4014-A855-8CF9DE015A24}"/>
              </a:ext>
            </a:extLst>
          </p:cNvPr>
          <p:cNvSpPr txBox="1"/>
          <p:nvPr/>
        </p:nvSpPr>
        <p:spPr>
          <a:xfrm>
            <a:off x="1279743" y="5304195"/>
            <a:ext cx="5302896" cy="805561"/>
          </a:xfrm>
          <a:prstGeom prst="rect">
            <a:avLst/>
          </a:prstGeom>
          <a:noFill/>
          <a:ln>
            <a:noFill/>
          </a:ln>
        </p:spPr>
        <p:txBody>
          <a:bodyPr wrap="square" lIns="0" rIns="0" tIns="0" bIns="0">
            <a:noAutofit/>
          </a:bodyPr>
          <a:lstStyle/>
          <a:p>
            <a:pPr marL="0" indent="0" algn="l">
              <a:lnSpc>
                <a:spcPct val="108000"/>
              </a:lnSpc>
              <a:buNone/>
            </a:pPr>
            <a:r>
              <a:rPr lang="en-HK" altLang="zh-CN" sz="1650" dirty="0">
                <a:latin typeface="Times New Roman" panose="02020603050405020304" pitchFamily="18" charset="0"/>
                <a:ea typeface="SimSun" panose="02010600030101010101" pitchFamily="2" charset="-122"/>
                <a:cs typeface="Times New Roman"/>
              </a:rPr>
              <a:t>Under this condition, the optimal operating parameters are fixed, which is an increase of </a:t>
            </a:r>
            <a:r>
              <a:rPr lang="en-HK" altLang="zh-CN" sz="1650" b="1" dirty="0">
                <a:solidFill>
                  <a:srgbClr val="C00000"/>
                </a:solidFill>
                <a:latin typeface="Times New Roman" panose="02020603050405020304" pitchFamily="18" charset="0"/>
                <a:ea typeface="SimSun" panose="02010600030101010101" pitchFamily="2" charset="-122"/>
                <a:cs typeface="Times New Roman"/>
              </a:rPr>
              <a:t>23.2%</a:t>
            </a:r>
            <a:r>
              <a:rPr lang="en-HK" altLang="zh-CN" sz="1650" dirty="0">
                <a:latin typeface="Times New Roman" panose="02020603050405020304" pitchFamily="18" charset="0"/>
                <a:ea typeface="SimSun" panose="02010600030101010101" pitchFamily="2" charset="-122"/>
                <a:cs typeface="Times New Roman"/>
              </a:rPr>
              <a:t> in comparison with the base system.</a:t>
            </a:r>
          </a:p>
        </p:txBody>
      </p:sp>
      <p:sp>
        <p:nvSpPr>
          <p:cNvPr id="31" name="TextBox 1"/>
          <p:cNvSpPr txBox="1"/>
          <p:nvPr/>
        </p:nvSpPr>
        <p:spPr>
          <a:xfrm>
            <a:off x="6911823" y="5317910"/>
            <a:ext cx="4000430"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据此确定最优运行参数，相比基准系统，性能提升 23.2%。</a:t>
            </a:r>
          </a:p>
        </p:txBody>
      </p:sp>
    </p:spTree>
    <p:extLst>
      <p:ext uri="{BB962C8B-B14F-4D97-AF65-F5344CB8AC3E}">
        <p14:creationId xmlns:p14="http://schemas.microsoft.com/office/powerpoint/2010/main" val="15018247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46</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rgbClr val="C00000"/>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rgbClr val="C00000"/>
                </a:solidFill>
                <a:latin typeface="Times New Roman" panose="02020603050405020304" pitchFamily="18" charset="0"/>
                <a:ea typeface="SimSun"/>
                <a:cs typeface="Times New Roman" panose="02020603050405020304" pitchFamily="18" charset="0"/>
              </a:rPr>
              <a:t>centers</a:t>
            </a:r>
            <a:endParaRPr lang="en-HK" sz="2400" b="1" dirty="0">
              <a:solidFill>
                <a:srgbClr val="C00000"/>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Conclusions </a:t>
            </a:r>
            <a:r>
              <a:rPr lang="en-HK" sz="1600" b="1" dirty="0">
                <a:solidFill>
                  <a:schemeClr val="tx1"/>
                </a:solidFill>
                <a:latin typeface="Times New Roman" panose="02020603050405020304" pitchFamily="18" charset="0"/>
                <a:ea typeface="SimSun"/>
                <a:cs typeface="Times New Roman" panose="02020603050405020304" pitchFamily="18" charset="0"/>
              </a:rPr>
              <a:t>and</a:t>
            </a:r>
            <a:r>
              <a:rPr lang="zh-CN" altLang="en-US" sz="1600" b="1" dirty="0">
                <a:solidFill>
                  <a:schemeClr val="tx1"/>
                </a:solidFill>
                <a:latin typeface="Times New Roman" panose="02020603050405020304" pitchFamily="18" charset="0"/>
                <a:ea typeface="SimSun"/>
                <a:cs typeface="Times New Roman" panose="02020603050405020304" pitchFamily="18" charset="0"/>
              </a:rPr>
              <a:t> </a:t>
            </a:r>
            <a:r>
              <a:rPr lang="en-HK" altLang="zh-CN" sz="1600"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24974830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0F5F6BD-6F55-DA11-D5DD-AE8D8D335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9780" y="3845845"/>
            <a:ext cx="5205095" cy="251968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2606800" y="3680920"/>
            <a:ext cx="3722980"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Fig.6.1.1 </a:t>
            </a:r>
            <a:r>
              <a:rPr lang="en-HK" sz="1200" dirty="0">
                <a:solidFill>
                  <a:prstClr val="black"/>
                </a:solidFill>
                <a:latin typeface="Times New Roman" panose="02020603050405020304" pitchFamily="18" charset="0"/>
                <a:ea typeface="SimSun"/>
                <a:cs typeface="Times New Roman" panose="02020603050405020304" pitchFamily="18" charset="0"/>
              </a:rPr>
              <a:t>A typical IEC air-conditioning system of DC </a:t>
            </a:r>
          </a:p>
        </p:txBody>
      </p:sp>
      <p:pic>
        <p:nvPicPr>
          <p:cNvPr id="3" name="图片 2">
            <a:extLst>
              <a:ext uri="{FF2B5EF4-FFF2-40B4-BE49-F238E27FC236}">
                <a16:creationId xmlns:a16="http://schemas.microsoft.com/office/drawing/2014/main" id="{B93E4263-9CC6-F33B-3000-D32D73E7E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788" y="1305932"/>
            <a:ext cx="5713736" cy="2407982"/>
          </a:xfrm>
          <a:prstGeom prst="rect">
            <a:avLst/>
          </a:prstGeom>
        </p:spPr>
      </p:pic>
      <p:sp>
        <p:nvSpPr>
          <p:cNvPr id="4" name="矩形 3">
            <a:extLst>
              <a:ext uri="{FF2B5EF4-FFF2-40B4-BE49-F238E27FC236}">
                <a16:creationId xmlns:a16="http://schemas.microsoft.com/office/drawing/2014/main" id="{80E78822-42E2-AA63-4847-819ADD4701B7}"/>
              </a:ext>
            </a:extLst>
          </p:cNvPr>
          <p:cNvSpPr/>
          <p:nvPr/>
        </p:nvSpPr>
        <p:spPr>
          <a:xfrm>
            <a:off x="7146524" y="6422768"/>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6.1.2 </a:t>
            </a:r>
            <a:r>
              <a:rPr lang="en-HK" sz="1200" dirty="0">
                <a:solidFill>
                  <a:prstClr val="black"/>
                </a:solidFill>
                <a:latin typeface="Times New Roman" panose="02020603050405020304" pitchFamily="18" charset="0"/>
                <a:ea typeface="SimSun"/>
                <a:cs typeface="Times New Roman" panose="02020603050405020304" pitchFamily="18" charset="0"/>
              </a:rPr>
              <a:t>Two types of IEC models set up in work bench</a:t>
            </a:r>
          </a:p>
        </p:txBody>
      </p:sp>
      <p:sp>
        <p:nvSpPr>
          <p:cNvPr id="11" name="文本框 10">
            <a:extLst>
              <a:ext uri="{FF2B5EF4-FFF2-40B4-BE49-F238E27FC236}">
                <a16:creationId xmlns:a16="http://schemas.microsoft.com/office/drawing/2014/main" id="{0200EE70-2D6D-6085-98C4-D9B1EFFC1613}"/>
              </a:ext>
            </a:extLst>
          </p:cNvPr>
          <p:cNvSpPr txBox="1"/>
          <p:nvPr/>
        </p:nvSpPr>
        <p:spPr>
          <a:xfrm>
            <a:off x="1614148" y="4767171"/>
            <a:ext cx="3932638" cy="1077218"/>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a:rPr>
              <a:t>Diamond shaped IEC: </a:t>
            </a:r>
            <a:r>
              <a:rPr lang="en-US" altLang="zh-CN" sz="1600" dirty="0">
                <a:solidFill>
                  <a:srgbClr val="C00000"/>
                </a:solidFill>
                <a:latin typeface="Times New Roman" panose="02020603050405020304" pitchFamily="18" charset="0"/>
                <a:ea typeface="SimSun" panose="02010600030101010101" pitchFamily="2" charset="-122"/>
                <a:cs typeface="Times New Roman"/>
              </a:rPr>
              <a:t>compactness and flexible</a:t>
            </a:r>
            <a:r>
              <a:rPr lang="en-US" altLang="zh-CN" sz="1600" dirty="0">
                <a:latin typeface="Times New Roman" panose="02020603050405020304" pitchFamily="18" charset="0"/>
                <a:ea typeface="SimSun" panose="02010600030101010101" pitchFamily="2" charset="-122"/>
                <a:cs typeface="Times New Roman"/>
              </a:rPr>
              <a:t> arrangement</a:t>
            </a:r>
          </a:p>
          <a:p>
            <a:pPr marL="285750" indent="-285750">
              <a:buFont typeface="Arial" panose="020B0604020202020204" pitchFamily="34" charset="0"/>
              <a:buChar char="•"/>
            </a:pPr>
            <a:endParaRPr lang="en-US"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a:rPr>
              <a:t>Space claim in </a:t>
            </a:r>
            <a:r>
              <a:rPr lang="en-US" altLang="zh-CN" sz="1600" b="1" dirty="0">
                <a:solidFill>
                  <a:srgbClr val="C00000"/>
                </a:solidFill>
                <a:latin typeface="Times New Roman" panose="02020603050405020304" pitchFamily="18" charset="0"/>
                <a:ea typeface="SimSun" panose="02010600030101010101" pitchFamily="2" charset="-122"/>
                <a:cs typeface="Times New Roman"/>
              </a:rPr>
              <a:t>ANSYS</a:t>
            </a:r>
            <a:r>
              <a:rPr lang="en-US" altLang="zh-CN" sz="1600" dirty="0">
                <a:latin typeface="Times New Roman" panose="02020603050405020304" pitchFamily="18" charset="0"/>
                <a:ea typeface="SimSun" panose="02010600030101010101" pitchFamily="2" charset="-122"/>
                <a:cs typeface="Times New Roman"/>
              </a:rPr>
              <a:t> work bench</a:t>
            </a:r>
            <a:endParaRPr lang="zh-CN" altLang="en-US" sz="1600" dirty="0">
              <a:latin typeface="Times New Roman"/>
              <a:ea typeface="SimSun"/>
              <a:cs typeface="Times New Roman"/>
            </a:endParaRPr>
          </a:p>
        </p:txBody>
      </p:sp>
      <p:sp>
        <p:nvSpPr>
          <p:cNvPr id="2" name="灯片编号占位符 1">
            <a:extLst>
              <a:ext uri="{FF2B5EF4-FFF2-40B4-BE49-F238E27FC236}">
                <a16:creationId xmlns:a16="http://schemas.microsoft.com/office/drawing/2014/main" id="{DEC737C3-B032-4FAB-88B7-96B6E45587B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47</a:t>
            </a:fld>
            <a:endParaRPr lang="en-US" altLang="zh-CN">
              <a:latin typeface="Times New Roman"/>
              <a:ea typeface="SimSun"/>
              <a:cs typeface="Times New Roman"/>
            </a:endParaRPr>
          </a:p>
        </p:txBody>
      </p:sp>
      <p:sp>
        <p:nvSpPr>
          <p:cNvPr id="14" name="矩形 13">
            <a:extLst>
              <a:ext uri="{FF2B5EF4-FFF2-40B4-BE49-F238E27FC236}">
                <a16:creationId xmlns:a16="http://schemas.microsoft.com/office/drawing/2014/main" id="{C8984D22-AF77-4D00-B1D6-DEF1ECE79B35}"/>
              </a:ext>
            </a:extLst>
          </p:cNvPr>
          <p:cNvSpPr/>
          <p:nvPr/>
        </p:nvSpPr>
        <p:spPr bwMode="auto">
          <a:xfrm>
            <a:off x="1323325" y="4575610"/>
            <a:ext cx="4340627"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5" name="矩形 14">
            <a:extLst>
              <a:ext uri="{FF2B5EF4-FFF2-40B4-BE49-F238E27FC236}">
                <a16:creationId xmlns:a16="http://schemas.microsoft.com/office/drawing/2014/main" id="{5F04088B-4381-4B9B-8619-AC5ACC62EF64}"/>
              </a:ext>
            </a:extLst>
          </p:cNvPr>
          <p:cNvSpPr/>
          <p:nvPr/>
        </p:nvSpPr>
        <p:spPr bwMode="auto">
          <a:xfrm>
            <a:off x="7736617" y="1735344"/>
            <a:ext cx="3934921" cy="180684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8"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模型描述</a:t>
            </a:r>
          </a:p>
        </p:txBody>
      </p:sp>
      <p:sp>
        <p:nvSpPr>
          <p:cNvPr id="19"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6.1 Model description</a:t>
            </a:r>
          </a:p>
        </p:txBody>
      </p:sp>
      <p:sp>
        <p:nvSpPr>
          <p:cNvPr id="20"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2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2" name="文本框 6">
            <a:extLst>
              <a:ext uri="{FF2B5EF4-FFF2-40B4-BE49-F238E27FC236}">
                <a16:creationId xmlns:a16="http://schemas.microsoft.com/office/drawing/2014/main" id="{1CA9619B-1A2F-D4E9-8BE6-232966E07D46}"/>
              </a:ext>
            </a:extLst>
          </p:cNvPr>
          <p:cNvSpPr txBox="1"/>
          <p:nvPr/>
        </p:nvSpPr>
        <p:spPr>
          <a:xfrm>
            <a:off x="7819876" y="1801503"/>
            <a:ext cx="3628337" cy="545084"/>
          </a:xfrm>
          <a:prstGeom prst="rect">
            <a:avLst/>
          </a:prstGeom>
          <a:noFill/>
          <a:ln>
            <a:noFill/>
          </a:ln>
        </p:spPr>
        <p:txBody>
          <a:bodyPr wrap="square" lIns="0" rIns="0" tIns="0" bIns="0">
            <a:noAutofit/>
          </a:bodyPr>
          <a:lstStyle/>
          <a:p>
            <a:pPr marL="0" indent="0" algn="l">
              <a:lnSpc>
                <a:spcPct val="108000"/>
              </a:lnSpc>
              <a:buNone/>
            </a:pP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Internal circulation</a:t>
            </a:r>
          </a:p>
        </p:txBody>
      </p:sp>
      <p:sp>
        <p:nvSpPr>
          <p:cNvPr id="23" name="TextBox 1"/>
          <p:cNvSpPr txBox="1"/>
          <p:nvPr/>
        </p:nvSpPr>
        <p:spPr>
          <a:xfrm>
            <a:off x="7819876" y="2045343"/>
            <a:ext cx="3628337" cy="301244"/>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内循环模式</a:t>
            </a:r>
          </a:p>
        </p:txBody>
      </p:sp>
      <p:sp>
        <p:nvSpPr>
          <p:cNvPr id="24" name="文本框 6">
            <a:extLst>
              <a:ext uri="{FF2B5EF4-FFF2-40B4-BE49-F238E27FC236}">
                <a16:creationId xmlns:a16="http://schemas.microsoft.com/office/drawing/2014/main" id="{1CA9619B-1A2F-D4E9-8BE6-232966E07D46}"/>
              </a:ext>
            </a:extLst>
          </p:cNvPr>
          <p:cNvSpPr txBox="1"/>
          <p:nvPr/>
        </p:nvSpPr>
        <p:spPr>
          <a:xfrm>
            <a:off x="7819876" y="2346587"/>
            <a:ext cx="3628337" cy="545084"/>
          </a:xfrm>
          <a:prstGeom prst="rect">
            <a:avLst/>
          </a:prstGeom>
          <a:noFill/>
          <a:ln>
            <a:noFill/>
          </a:ln>
        </p:spPr>
        <p:txBody>
          <a:bodyPr wrap="square" lIns="0" rIns="0" tIns="0" bIns="0">
            <a:noAutofit/>
          </a:bodyPr>
          <a:lstStyle/>
          <a:p>
            <a:pPr marL="0" indent="0" algn="l">
              <a:lnSpc>
                <a:spcPct val="108000"/>
              </a:lnSpc>
              <a:buNone/>
            </a:pP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Fresh air as the working air </a:t>
            </a:r>
          </a:p>
        </p:txBody>
      </p:sp>
      <p:sp>
        <p:nvSpPr>
          <p:cNvPr id="25" name="TextBox 1"/>
          <p:cNvSpPr txBox="1"/>
          <p:nvPr/>
        </p:nvSpPr>
        <p:spPr>
          <a:xfrm>
            <a:off x="7819876" y="2590427"/>
            <a:ext cx="3628337" cy="301244"/>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新风作为工作空气，室内回风作为送风。</a:t>
            </a:r>
          </a:p>
        </p:txBody>
      </p:sp>
      <p:sp>
        <p:nvSpPr>
          <p:cNvPr id="26" name="文本框 6">
            <a:extLst>
              <a:ext uri="{FF2B5EF4-FFF2-40B4-BE49-F238E27FC236}">
                <a16:creationId xmlns:a16="http://schemas.microsoft.com/office/drawing/2014/main" id="{1CA9619B-1A2F-D4E9-8BE6-232966E07D46}"/>
              </a:ext>
            </a:extLst>
          </p:cNvPr>
          <p:cNvSpPr txBox="1"/>
          <p:nvPr/>
        </p:nvSpPr>
        <p:spPr>
          <a:xfrm>
            <a:off x="7819876" y="2891671"/>
            <a:ext cx="3628337" cy="545084"/>
          </a:xfrm>
          <a:prstGeom prst="rect">
            <a:avLst/>
          </a:prstGeom>
          <a:noFill/>
          <a:ln>
            <a:noFill/>
          </a:ln>
        </p:spPr>
        <p:txBody>
          <a:bodyPr wrap="square" lIns="0" rIns="0" tIns="0" bIns="0">
            <a:noAutofit/>
          </a:bodyPr>
          <a:lstStyle/>
          <a:p>
            <a:pPr marL="0" indent="0" algn="l">
              <a:lnSpc>
                <a:spcPct val="108000"/>
              </a:lnSpc>
              <a:buNone/>
            </a:pP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Indoor return air as supply air</a:t>
            </a:r>
          </a:p>
        </p:txBody>
      </p:sp>
      <p:sp>
        <p:nvSpPr>
          <p:cNvPr id="27" name="TextBox 1"/>
          <p:cNvSpPr txBox="1"/>
          <p:nvPr/>
        </p:nvSpPr>
        <p:spPr>
          <a:xfrm>
            <a:off x="7819876" y="3135511"/>
            <a:ext cx="3628337" cy="301244"/>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独立通道可避免气流交叉污染。</a:t>
            </a:r>
          </a:p>
        </p:txBody>
      </p:sp>
      <p:sp>
        <p:nvSpPr>
          <p:cNvPr id="28" name="文本框 6">
            <a:extLst>
              <a:ext uri="{FF2B5EF4-FFF2-40B4-BE49-F238E27FC236}">
                <a16:creationId xmlns:a16="http://schemas.microsoft.com/office/drawing/2014/main" id="{1CA9619B-1A2F-D4E9-8BE6-232966E07D46}"/>
              </a:ext>
            </a:extLst>
          </p:cNvPr>
          <p:cNvSpPr txBox="1"/>
          <p:nvPr/>
        </p:nvSpPr>
        <p:spPr>
          <a:xfrm>
            <a:off x="7819876" y="3436755"/>
            <a:ext cx="3628337" cy="342392"/>
          </a:xfrm>
          <a:prstGeom prst="rect">
            <a:avLst/>
          </a:prstGeom>
          <a:noFill/>
          <a:ln>
            <a:noFill/>
          </a:ln>
        </p:spPr>
        <p:txBody>
          <a:bodyPr wrap="square" lIns="0" rIns="0" tIns="0" bIns="0">
            <a:noAutofit/>
          </a:bodyPr>
          <a:lstStyle/>
          <a:p>
            <a:pPr marL="0" indent="0" algn="l">
              <a:lnSpc>
                <a:spcPct val="108000"/>
              </a:lnSpc>
              <a:buNone/>
            </a:pP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Separated channels avoid the cross-contamination.</a:t>
            </a:r>
            <a:endParaRPr lang="zh-CN" altLang="zh-CN" sz="1600" dirty="0">
              <a:latin typeface="Times New Roman"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850531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25B5AD8-AB6B-D040-7290-C734B12E2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0738" y="1297218"/>
            <a:ext cx="5562600" cy="2411730"/>
          </a:xfrm>
          <a:prstGeom prst="rect">
            <a:avLst/>
          </a:prstGeom>
        </p:spPr>
      </p:pic>
      <p:sp>
        <p:nvSpPr>
          <p:cNvPr id="6" name="Rectangle 2">
            <a:extLst>
              <a:ext uri="{FF2B5EF4-FFF2-40B4-BE49-F238E27FC236}">
                <a16:creationId xmlns:a16="http://schemas.microsoft.com/office/drawing/2014/main" id="{17B39C91-A46A-244A-105E-52982B7A7EB4}"/>
              </a:ext>
            </a:extLst>
          </p:cNvPr>
          <p:cNvSpPr>
            <a:spLocks noChangeArrowheads="1"/>
          </p:cNvSpPr>
          <p:nvPr/>
        </p:nvSpPr>
        <p:spPr bwMode="auto">
          <a:xfrm>
            <a:off x="3357131" y="35309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3" name="Rectangle 2">
            <a:extLst>
              <a:ext uri="{FF2B5EF4-FFF2-40B4-BE49-F238E27FC236}">
                <a16:creationId xmlns:a16="http://schemas.microsoft.com/office/drawing/2014/main" id="{39BE77DA-9DC9-D907-4DE1-1D7939F23FB2}"/>
              </a:ext>
            </a:extLst>
          </p:cNvPr>
          <p:cNvSpPr>
            <a:spLocks noChangeArrowheads="1"/>
          </p:cNvSpPr>
          <p:nvPr/>
        </p:nvSpPr>
        <p:spPr bwMode="auto">
          <a:xfrm>
            <a:off x="4942243" y="361932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8" name="Rectangle 4">
            <a:extLst>
              <a:ext uri="{FF2B5EF4-FFF2-40B4-BE49-F238E27FC236}">
                <a16:creationId xmlns:a16="http://schemas.microsoft.com/office/drawing/2014/main" id="{67B81B42-3F59-4AFE-2683-1078649D09AF}"/>
              </a:ext>
            </a:extLst>
          </p:cNvPr>
          <p:cNvSpPr>
            <a:spLocks noChangeArrowheads="1"/>
          </p:cNvSpPr>
          <p:nvPr/>
        </p:nvSpPr>
        <p:spPr bwMode="auto">
          <a:xfrm>
            <a:off x="5652843" y="3506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4" name="文本框 13">
            <a:extLst>
              <a:ext uri="{FF2B5EF4-FFF2-40B4-BE49-F238E27FC236}">
                <a16:creationId xmlns:a16="http://schemas.microsoft.com/office/drawing/2014/main" id="{2D0332F8-D07C-37CC-DD75-C4A0E8EABC80}"/>
              </a:ext>
            </a:extLst>
          </p:cNvPr>
          <p:cNvSpPr txBox="1"/>
          <p:nvPr/>
        </p:nvSpPr>
        <p:spPr>
          <a:xfrm>
            <a:off x="1245184" y="1337617"/>
            <a:ext cx="2516226"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Boundary conditions</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0925ADA4-0B49-5937-F455-FABA97001F29}"/>
              </a:ext>
            </a:extLst>
          </p:cNvPr>
          <p:cNvSpPr txBox="1"/>
          <p:nvPr/>
        </p:nvSpPr>
        <p:spPr>
          <a:xfrm>
            <a:off x="5991380" y="3662349"/>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Model validation</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16" name="文本框 15">
            <a:extLst>
              <a:ext uri="{FF2B5EF4-FFF2-40B4-BE49-F238E27FC236}">
                <a16:creationId xmlns:a16="http://schemas.microsoft.com/office/drawing/2014/main" id="{C72CFE9F-45D9-598D-4A1B-B8D5D2E89A99}"/>
              </a:ext>
            </a:extLst>
          </p:cNvPr>
          <p:cNvSpPr txBox="1"/>
          <p:nvPr/>
        </p:nvSpPr>
        <p:spPr>
          <a:xfrm>
            <a:off x="1684612" y="3631531"/>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Grid independence</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2" name="矩形 1">
            <a:extLst>
              <a:ext uri="{FF2B5EF4-FFF2-40B4-BE49-F238E27FC236}">
                <a16:creationId xmlns:a16="http://schemas.microsoft.com/office/drawing/2014/main" id="{F874A747-0D24-4507-925A-4E820B64C7E4}"/>
              </a:ext>
            </a:extLst>
          </p:cNvPr>
          <p:cNvSpPr/>
          <p:nvPr/>
        </p:nvSpPr>
        <p:spPr bwMode="auto">
          <a:xfrm>
            <a:off x="3795866" y="3953240"/>
            <a:ext cx="401947" cy="247450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3200">
              <a:solidFill>
                <a:schemeClr val="bg2"/>
              </a:solidFill>
              <a:latin typeface="Times New Roman" charset="0"/>
              <a:ea typeface="SimSun"/>
              <a:cs typeface="Times New Roman"/>
            </a:endParaRPr>
          </a:p>
        </p:txBody>
      </p:sp>
      <p:sp>
        <p:nvSpPr>
          <p:cNvPr id="5" name="矩形 4">
            <a:extLst>
              <a:ext uri="{FF2B5EF4-FFF2-40B4-BE49-F238E27FC236}">
                <a16:creationId xmlns:a16="http://schemas.microsoft.com/office/drawing/2014/main" id="{748EB5D6-AF5B-4BC6-8369-7F09E7E389B8}"/>
              </a:ext>
            </a:extLst>
          </p:cNvPr>
          <p:cNvSpPr/>
          <p:nvPr/>
        </p:nvSpPr>
        <p:spPr>
          <a:xfrm>
            <a:off x="5027688" y="6368458"/>
            <a:ext cx="934871" cy="369332"/>
          </a:xfrm>
          <a:prstGeom prst="rect">
            <a:avLst/>
          </a:prstGeom>
        </p:spPr>
        <p:txBody>
          <a:bodyPr wrap="none">
            <a:spAutoFit/>
          </a:bodyPr>
          <a:lstStyle/>
          <a:p>
            <a:r>
              <a:rPr lang="en-US" sz="1800" b="1" i="1" dirty="0">
                <a:solidFill>
                  <a:srgbClr val="C00000"/>
                </a:solidFill>
                <a:latin typeface="Times New Roman" panose="02020603050405020304" pitchFamily="18" charset="0"/>
                <a:ea typeface="SimSun" panose="02010600030101010101" pitchFamily="2" charset="-122"/>
                <a:cs typeface="Times New Roman"/>
              </a:rPr>
              <a:t>450,000</a:t>
            </a:r>
            <a:endParaRPr lang="en-HK" sz="1800" b="1" i="1" dirty="0">
              <a:solidFill>
                <a:srgbClr val="C00000"/>
              </a:solidFill>
              <a:latin typeface="Times New Roman"/>
              <a:ea typeface="SimSun"/>
              <a:cs typeface="Times New Roman"/>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1F9B08C-A429-4E32-9B16-5FF15056A025}"/>
                  </a:ext>
                </a:extLst>
              </p:cNvPr>
              <p:cNvSpPr/>
              <p:nvPr/>
            </p:nvSpPr>
            <p:spPr>
              <a:xfrm>
                <a:off x="9976679" y="6347408"/>
                <a:ext cx="425116" cy="369332"/>
              </a:xfrm>
              <a:prstGeom prst="rect">
                <a:avLst/>
              </a:prstGeom>
            </p:spPr>
            <p:txBody>
              <a:bodyPr wrap="none">
                <a:spAutoFit/>
              </a:bodyPr>
              <a:lstStyle/>
              <a:p>
                <a:pPr/>
                <a14:m>
                  <m:oMathPara xmlns:m="http://schemas.openxmlformats.org/officeDocument/2006/math">
                    <m:oMath>
                      <m:r>
                        <a:rPr lang="en-HK" sz="1800" b="1" i="1">
                          <a:solidFill>
                            <a:srgbClr val="C00000"/>
                          </a:solidFill>
                          <a:latin typeface="Times New Roman" panose="02040503050406030204" pitchFamily="18" charset="0"/>
                          <a:ea typeface="SimSun" panose="02040503050406030204" pitchFamily="18" charset="0"/>
                          <a:cs typeface="Times New Roman"/>
                        </a:rPr>
                        <m:t>≤</m:t>
                      </m:r>
                    </m:oMath>
                  </m:oMathPara>
                </a14:m>
                <a:endParaRPr lang="en-HK" sz="1800" b="1" i="1" dirty="0">
                  <a:solidFill>
                    <a:srgbClr val="C00000"/>
                  </a:solidFill>
                  <a:latin typeface="Times New Roman"/>
                  <a:ea typeface="SimSun"/>
                  <a:cs typeface="Times New Roman"/>
                </a:endParaRPr>
              </a:p>
            </p:txBody>
          </p:sp>
        </mc:Choice>
        <mc:Fallback xmlns="">
          <p:sp>
            <p:nvSpPr>
              <p:cNvPr id="17" name="矩形 16">
                <a:extLst>
                  <a:ext uri="{FF2B5EF4-FFF2-40B4-BE49-F238E27FC236}">
                    <a16:creationId xmlns:a16="http://schemas.microsoft.com/office/drawing/2014/main" id="{E1F9B08C-A429-4E32-9B16-5FF15056A025}"/>
                  </a:ext>
                </a:extLst>
              </p:cNvPr>
              <p:cNvSpPr>
                <a:spLocks noRot="1" noChangeAspect="1" noMove="1" noResize="1" noEditPoints="1" noAdjustHandles="1" noChangeArrowheads="1" noChangeShapeType="1" noTextEdit="1"/>
              </p:cNvSpPr>
              <p:nvPr/>
            </p:nvSpPr>
            <p:spPr>
              <a:xfrm>
                <a:off x="9976679" y="6347408"/>
                <a:ext cx="425116" cy="369332"/>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p:sp>
        <p:nvSpPr>
          <p:cNvPr id="9" name="灯片编号占位符 8">
            <a:extLst>
              <a:ext uri="{FF2B5EF4-FFF2-40B4-BE49-F238E27FC236}">
                <a16:creationId xmlns:a16="http://schemas.microsoft.com/office/drawing/2014/main" id="{C2350BCB-A1AB-4007-A788-DC26265DFF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48</a:t>
            </a:fld>
            <a:endParaRPr lang="en-US" altLang="zh-CN" dirty="0">
              <a:latin typeface="Times New Roman"/>
              <a:ea typeface="SimSun"/>
              <a:cs typeface="Times New Roman"/>
            </a:endParaRPr>
          </a:p>
        </p:txBody>
      </p:sp>
      <p:graphicFrame>
        <p:nvGraphicFramePr>
          <p:cNvPr id="18" name="对象 17">
            <a:extLst>
              <a:ext uri="{FF2B5EF4-FFF2-40B4-BE49-F238E27FC236}">
                <a16:creationId xmlns:a16="http://schemas.microsoft.com/office/drawing/2014/main" id="{651A0531-672E-440F-99D4-6820BB4DF9EE}"/>
              </a:ext>
            </a:extLst>
          </p:cNvPr>
          <p:cNvGraphicFramePr>
            <a:graphicFrameLocks noChangeAspect="1"/>
          </p:cNvGraphicFramePr>
          <p:nvPr>
            <p:extLst>
              <p:ext uri="{D42A27DB-BD31-4B8C-83A1-F6EECF244321}">
                <p14:modId xmlns:p14="http://schemas.microsoft.com/office/powerpoint/2010/main" val="1039372178"/>
              </p:ext>
            </p:extLst>
          </p:nvPr>
        </p:nvGraphicFramePr>
        <p:xfrm>
          <a:off x="1348601" y="3826539"/>
          <a:ext cx="3954931" cy="3031461"/>
        </p:xfrm>
        <a:graphic>
          <a:graphicData uri="http://schemas.openxmlformats.org/presentationml/2006/ole">
            <mc:AlternateContent xmlns:mc="http://schemas.openxmlformats.org/markup-compatibility/2006">
              <mc:Choice xmlns:v="urn:schemas-microsoft-com:vml" Requires="v">
                <p:oleObj name="Graph" r:id="rId6" imgW="6884339" imgH="5282235" progId="Origin95.Graph">
                  <p:embed/>
                </p:oleObj>
              </mc:Choice>
              <mc:Fallback>
                <p:oleObj name="Graph" r:id="rId6" imgW="6884339" imgH="5282235" progId="Origin95.Graph">
                  <p:embed/>
                  <p:pic>
                    <p:nvPicPr>
                      <p:cNvPr id="0" name="Object 5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8601" y="3826539"/>
                        <a:ext cx="3954931" cy="3031461"/>
                      </a:xfrm>
                      <a:prstGeom prst="rect">
                        <a:avLst/>
                      </a:prstGeom>
                      <a:noFill/>
                    </p:spPr>
                  </p:pic>
                </p:oleObj>
              </mc:Fallback>
            </mc:AlternateContent>
          </a:graphicData>
        </a:graphic>
      </p:graphicFrame>
      <p:sp>
        <p:nvSpPr>
          <p:cNvPr id="21" name="矩形 20">
            <a:extLst>
              <a:ext uri="{FF2B5EF4-FFF2-40B4-BE49-F238E27FC236}">
                <a16:creationId xmlns:a16="http://schemas.microsoft.com/office/drawing/2014/main" id="{385C92E5-FEC9-4B15-8182-28FBECE803AE}"/>
              </a:ext>
            </a:extLst>
          </p:cNvPr>
          <p:cNvSpPr/>
          <p:nvPr/>
        </p:nvSpPr>
        <p:spPr>
          <a:xfrm>
            <a:off x="10235540" y="6345517"/>
            <a:ext cx="607859" cy="369332"/>
          </a:xfrm>
          <a:prstGeom prst="rect">
            <a:avLst/>
          </a:prstGeom>
        </p:spPr>
        <p:txBody>
          <a:bodyPr wrap="none">
            <a:spAutoFit/>
          </a:bodyPr>
          <a:lstStyle/>
          <a:p>
            <a:r>
              <a:rPr lang="en-US" sz="1800" b="1" i="1" dirty="0">
                <a:solidFill>
                  <a:srgbClr val="C00000"/>
                </a:solidFill>
                <a:latin typeface="Times New Roman" panose="02020603050405020304" pitchFamily="18" charset="0"/>
                <a:ea typeface="SimSun" panose="02010600030101010101" pitchFamily="2" charset="-122"/>
                <a:cs typeface="Times New Roman"/>
              </a:rPr>
              <a:t>10%</a:t>
            </a:r>
            <a:endParaRPr lang="en-HK" sz="1800" b="1" i="1" dirty="0">
              <a:solidFill>
                <a:srgbClr val="C00000"/>
              </a:solidFill>
              <a:latin typeface="Times New Roman"/>
              <a:ea typeface="SimSun"/>
              <a:cs typeface="Times New Roman"/>
            </a:endParaRPr>
          </a:p>
        </p:txBody>
      </p:sp>
      <p:graphicFrame>
        <p:nvGraphicFramePr>
          <p:cNvPr id="23" name="对象 22">
            <a:extLst>
              <a:ext uri="{FF2B5EF4-FFF2-40B4-BE49-F238E27FC236}">
                <a16:creationId xmlns:a16="http://schemas.microsoft.com/office/drawing/2014/main" id="{309FD80B-887D-42D7-89E3-210D538D88B8}"/>
              </a:ext>
            </a:extLst>
          </p:cNvPr>
          <p:cNvGraphicFramePr>
            <a:graphicFrameLocks noChangeAspect="1"/>
          </p:cNvGraphicFramePr>
          <p:nvPr>
            <p:extLst>
              <p:ext uri="{D42A27DB-BD31-4B8C-83A1-F6EECF244321}">
                <p14:modId xmlns:p14="http://schemas.microsoft.com/office/powerpoint/2010/main" val="3955678954"/>
              </p:ext>
            </p:extLst>
          </p:nvPr>
        </p:nvGraphicFramePr>
        <p:xfrm>
          <a:off x="6392860" y="3826539"/>
          <a:ext cx="3690224" cy="3058102"/>
        </p:xfrm>
        <a:graphic>
          <a:graphicData uri="http://schemas.openxmlformats.org/presentationml/2006/ole">
            <mc:AlternateContent xmlns:mc="http://schemas.openxmlformats.org/markup-compatibility/2006">
              <mc:Choice xmlns:v="urn:schemas-microsoft-com:vml" Requires="v">
                <p:oleObj name="Graph" r:id="rId8" imgW="6384906" imgH="5171581" progId="Origin95.Graph">
                  <p:embed/>
                </p:oleObj>
              </mc:Choice>
              <mc:Fallback>
                <p:oleObj name="Graph" r:id="rId8" imgW="6384906" imgH="5171581" progId="Origin95.Graph">
                  <p:embed/>
                  <p:pic>
                    <p:nvPicPr>
                      <p:cNvPr id="0" name="Object 5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2860" y="3826539"/>
                        <a:ext cx="3690224" cy="3058102"/>
                      </a:xfrm>
                      <a:prstGeom prst="rect">
                        <a:avLst/>
                      </a:prstGeom>
                      <a:noFill/>
                    </p:spPr>
                  </p:pic>
                </p:oleObj>
              </mc:Fallback>
            </mc:AlternateContent>
          </a:graphicData>
        </a:graphic>
      </p:graphicFrame>
      <p:sp>
        <p:nvSpPr>
          <p:cNvPr id="24"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模型细节</a:t>
            </a:r>
          </a:p>
        </p:txBody>
      </p:sp>
      <p:sp>
        <p:nvSpPr>
          <p:cNvPr id="25"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6.2 Model details</a:t>
            </a:r>
          </a:p>
        </p:txBody>
      </p:sp>
      <p:sp>
        <p:nvSpPr>
          <p:cNvPr id="26"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27"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140756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20">
            <a:extLst>
              <a:ext uri="{FF2B5EF4-FFF2-40B4-BE49-F238E27FC236}">
                <a16:creationId xmlns:a16="http://schemas.microsoft.com/office/drawing/2014/main" id="{240FE68F-CE47-056E-018A-E9F257D175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014"/>
          <a:stretch/>
        </p:blipFill>
        <p:spPr bwMode="auto">
          <a:xfrm>
            <a:off x="3143959" y="1797320"/>
            <a:ext cx="176509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8" name="图片 20">
            <a:extLst>
              <a:ext uri="{FF2B5EF4-FFF2-40B4-BE49-F238E27FC236}">
                <a16:creationId xmlns:a16="http://schemas.microsoft.com/office/drawing/2014/main" id="{D0754689-0958-7707-14EC-913F547B2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9933"/>
          <a:stretch/>
        </p:blipFill>
        <p:spPr bwMode="auto">
          <a:xfrm>
            <a:off x="1025163" y="1750923"/>
            <a:ext cx="186181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7" name="图片 22">
            <a:extLst>
              <a:ext uri="{FF2B5EF4-FFF2-40B4-BE49-F238E27FC236}">
                <a16:creationId xmlns:a16="http://schemas.microsoft.com/office/drawing/2014/main" id="{08572188-F078-599B-6E53-911389A29A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1581"/>
          <a:stretch/>
        </p:blipFill>
        <p:spPr bwMode="auto">
          <a:xfrm>
            <a:off x="1048256" y="4016484"/>
            <a:ext cx="1812830" cy="172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5" name="Rectangle 4">
            <a:extLst>
              <a:ext uri="{FF2B5EF4-FFF2-40B4-BE49-F238E27FC236}">
                <a16:creationId xmlns:a16="http://schemas.microsoft.com/office/drawing/2014/main" id="{1BF55B6F-295B-7DFA-9CB9-B98822123908}"/>
              </a:ext>
            </a:extLst>
          </p:cNvPr>
          <p:cNvSpPr>
            <a:spLocks noChangeArrowheads="1"/>
          </p:cNvSpPr>
          <p:nvPr/>
        </p:nvSpPr>
        <p:spPr bwMode="auto">
          <a:xfrm>
            <a:off x="956110" y="3444696"/>
            <a:ext cx="423404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 </a:t>
            </a:r>
            <a:endParaRPr lang="en-US" altLang="zh-CN" sz="1400" dirty="0">
              <a:latin typeface="Times New Roman"/>
              <a:ea typeface="SimSun"/>
              <a:cs typeface="Times New Roman"/>
            </a:endParaRPr>
          </a:p>
        </p:txBody>
      </p:sp>
      <p:sp>
        <p:nvSpPr>
          <p:cNvPr id="8" name="Rectangle 5">
            <a:extLst>
              <a:ext uri="{FF2B5EF4-FFF2-40B4-BE49-F238E27FC236}">
                <a16:creationId xmlns:a16="http://schemas.microsoft.com/office/drawing/2014/main" id="{E1AE0C76-9A4B-8467-1D3F-AE147808B0C9}"/>
              </a:ext>
            </a:extLst>
          </p:cNvPr>
          <p:cNvSpPr>
            <a:spLocks noChangeArrowheads="1"/>
          </p:cNvSpPr>
          <p:nvPr/>
        </p:nvSpPr>
        <p:spPr bwMode="auto">
          <a:xfrm>
            <a:off x="875280" y="5741662"/>
            <a:ext cx="44903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0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endParaRPr lang="en-US" altLang="zh-CN" sz="1400" dirty="0">
              <a:latin typeface="Times New Roman" panose="020B0604020202020204" pitchFamily="34" charset="0"/>
              <a:ea typeface="SimSun"/>
              <a:cs typeface="Times New Roman"/>
            </a:endParaRPr>
          </a:p>
        </p:txBody>
      </p:sp>
      <p:pic>
        <p:nvPicPr>
          <p:cNvPr id="4" name="图片 22">
            <a:extLst>
              <a:ext uri="{FF2B5EF4-FFF2-40B4-BE49-F238E27FC236}">
                <a16:creationId xmlns:a16="http://schemas.microsoft.com/office/drawing/2014/main" id="{5B9DB2D8-0FF5-E62E-4A66-AEBBA503C4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582"/>
          <a:stretch/>
        </p:blipFill>
        <p:spPr bwMode="auto">
          <a:xfrm>
            <a:off x="3096225" y="4059698"/>
            <a:ext cx="1812830" cy="1728000"/>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直接连接符 17">
            <a:extLst>
              <a:ext uri="{FF2B5EF4-FFF2-40B4-BE49-F238E27FC236}">
                <a16:creationId xmlns:a16="http://schemas.microsoft.com/office/drawing/2014/main" id="{0D4BBCB4-FB40-154E-1C8E-D8AB432AE671}"/>
              </a:ext>
            </a:extLst>
          </p:cNvPr>
          <p:cNvCxnSpPr>
            <a:cxnSpLocks/>
          </p:cNvCxnSpPr>
          <p:nvPr/>
        </p:nvCxnSpPr>
        <p:spPr bwMode="auto">
          <a:xfrm>
            <a:off x="5968723" y="1112077"/>
            <a:ext cx="0" cy="5653849"/>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8" name="文本框 27">
            <a:extLst>
              <a:ext uri="{FF2B5EF4-FFF2-40B4-BE49-F238E27FC236}">
                <a16:creationId xmlns:a16="http://schemas.microsoft.com/office/drawing/2014/main" id="{BD13ED3E-861F-8BB1-3E9B-A6F2ED18859A}"/>
              </a:ext>
            </a:extLst>
          </p:cNvPr>
          <p:cNvSpPr txBox="1"/>
          <p:nvPr/>
        </p:nvSpPr>
        <p:spPr>
          <a:xfrm>
            <a:off x="6398527" y="1127229"/>
            <a:ext cx="4626428" cy="369332"/>
          </a:xfrm>
          <a:prstGeom prst="rect">
            <a:avLst/>
          </a:prstGeom>
          <a:noFill/>
        </p:spPr>
        <p:txBody>
          <a:bodyPr wrap="square">
            <a:spAutoFit/>
          </a:bodyPr>
          <a:lstStyle/>
          <a:p>
            <a:pPr marL="285750" indent="-285750">
              <a:buFont typeface="Wingdings" panose="05000000000000000000" pitchFamily="2" charset="2"/>
              <a:buChar char="Ø"/>
            </a:pPr>
            <a:r>
              <a:rPr lang="en-US" altLang="zh-CN" sz="1800" dirty="0">
                <a:latin typeface="Times New Roman" panose="02020603050405020304" pitchFamily="18" charset="0"/>
                <a:ea typeface="SimSun" panose="02010600030101010101" pitchFamily="2" charset="-122"/>
                <a:cs typeface="Times New Roman"/>
              </a:rPr>
              <a:t>Determination of the test water flow rate</a:t>
            </a:r>
            <a:endParaRPr lang="zh-CN" altLang="en-US" sz="1800" dirty="0">
              <a:latin typeface="Times New Roman"/>
              <a:ea typeface="SimSun"/>
              <a:cs typeface="Times New Roman"/>
            </a:endParaRPr>
          </a:p>
        </p:txBody>
      </p:sp>
      <p:sp>
        <p:nvSpPr>
          <p:cNvPr id="16" name="矩形 15">
            <a:extLst>
              <a:ext uri="{FF2B5EF4-FFF2-40B4-BE49-F238E27FC236}">
                <a16:creationId xmlns:a16="http://schemas.microsoft.com/office/drawing/2014/main" id="{A4DD048A-98AC-469E-9A69-DCA311B028CF}"/>
              </a:ext>
            </a:extLst>
          </p:cNvPr>
          <p:cNvSpPr/>
          <p:nvPr/>
        </p:nvSpPr>
        <p:spPr>
          <a:xfrm>
            <a:off x="7269967" y="6437786"/>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6.3.1 </a:t>
            </a:r>
            <a:r>
              <a:rPr lang="en-HK" sz="1200" dirty="0">
                <a:solidFill>
                  <a:prstClr val="black"/>
                </a:solidFill>
                <a:latin typeface="Times New Roman" panose="02020603050405020304" pitchFamily="18" charset="0"/>
                <a:ea typeface="SimSun"/>
                <a:cs typeface="Times New Roman" panose="02020603050405020304" pitchFamily="18" charset="0"/>
              </a:rPr>
              <a:t>The determination of test spray flow rate</a:t>
            </a:r>
          </a:p>
        </p:txBody>
      </p:sp>
      <p:sp>
        <p:nvSpPr>
          <p:cNvPr id="9" name="灯片编号占位符 8">
            <a:extLst>
              <a:ext uri="{FF2B5EF4-FFF2-40B4-BE49-F238E27FC236}">
                <a16:creationId xmlns:a16="http://schemas.microsoft.com/office/drawing/2014/main" id="{920A9CA6-BB2D-435A-A016-724DFB2EA35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49</a:t>
            </a:fld>
            <a:endParaRPr lang="en-US" altLang="zh-CN">
              <a:latin typeface="Times New Roman"/>
              <a:ea typeface="SimSun"/>
              <a:cs typeface="Times New Roman"/>
            </a:endParaRPr>
          </a:p>
        </p:txBody>
      </p:sp>
      <p:sp>
        <p:nvSpPr>
          <p:cNvPr id="12" name="Rectangle 223">
            <a:extLst>
              <a:ext uri="{FF2B5EF4-FFF2-40B4-BE49-F238E27FC236}">
                <a16:creationId xmlns:a16="http://schemas.microsoft.com/office/drawing/2014/main" id="{2DE7D3CA-B230-4034-93E8-AAD17A688F34}"/>
              </a:ext>
            </a:extLst>
          </p:cNvPr>
          <p:cNvSpPr>
            <a:spLocks noChangeArrowheads="1"/>
          </p:cNvSpPr>
          <p:nvPr/>
        </p:nvSpPr>
        <p:spPr bwMode="auto">
          <a:xfrm>
            <a:off x="6500248" y="33041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7905834A-609A-4F9C-B188-EACE69D81311}"/>
              </a:ext>
            </a:extLst>
          </p:cNvPr>
          <p:cNvGraphicFramePr>
            <a:graphicFrameLocks noChangeAspect="1"/>
          </p:cNvGraphicFramePr>
          <p:nvPr>
            <p:extLst>
              <p:ext uri="{D42A27DB-BD31-4B8C-83A1-F6EECF244321}">
                <p14:modId xmlns:p14="http://schemas.microsoft.com/office/powerpoint/2010/main" val="498488436"/>
              </p:ext>
            </p:extLst>
          </p:nvPr>
        </p:nvGraphicFramePr>
        <p:xfrm>
          <a:off x="6849294" y="3304184"/>
          <a:ext cx="3903209" cy="3240433"/>
        </p:xfrm>
        <a:graphic>
          <a:graphicData uri="http://schemas.openxmlformats.org/presentationml/2006/ole">
            <mc:AlternateContent xmlns:mc="http://schemas.openxmlformats.org/markup-compatibility/2006">
              <mc:Choice xmlns:v="urn:schemas-microsoft-com:vml" Requires="v">
                <p:oleObj name="Graph" r:id="rId5" imgW="6662246" imgH="5282235" progId="Origin95.Graph">
                  <p:embed/>
                </p:oleObj>
              </mc:Choice>
              <mc:Fallback>
                <p:oleObj name="Graph" r:id="rId5" imgW="6662246" imgH="5282235" progId="Origin95.Graph">
                  <p:embed/>
                  <p:pic>
                    <p:nvPicPr>
                      <p:cNvPr id="0" name="Object 2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9294" y="3304184"/>
                        <a:ext cx="3903209" cy="3240433"/>
                      </a:xfrm>
                      <a:prstGeom prst="rect">
                        <a:avLst/>
                      </a:prstGeom>
                      <a:noFill/>
                    </p:spPr>
                  </p:pic>
                </p:oleObj>
              </mc:Fallback>
            </mc:AlternateContent>
          </a:graphicData>
        </a:graphic>
      </p:graphicFrame>
      <p:sp>
        <p:nvSpPr>
          <p:cNvPr id="921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四种喷嘴布置方案</a:t>
            </a:r>
          </a:p>
        </p:txBody>
      </p:sp>
      <p:sp>
        <p:nvSpPr>
          <p:cNvPr id="922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6.3 Four schemes of nozzle configurations</a:t>
            </a:r>
          </a:p>
        </p:txBody>
      </p:sp>
      <p:sp>
        <p:nvSpPr>
          <p:cNvPr id="922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922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9223" name="文本框 29">
            <a:extLst>
              <a:ext uri="{FF2B5EF4-FFF2-40B4-BE49-F238E27FC236}">
                <a16:creationId xmlns:a16="http://schemas.microsoft.com/office/drawing/2014/main" id="{DAF76E3D-99D8-7F56-F0C2-B15FA2F69F96}"/>
              </a:ext>
            </a:extLst>
          </p:cNvPr>
          <p:cNvSpPr txBox="1"/>
          <p:nvPr/>
        </p:nvSpPr>
        <p:spPr>
          <a:xfrm>
            <a:off x="6731467" y="1674443"/>
            <a:ext cx="4302810" cy="726059"/>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a:cs typeface="Times New Roman" panose="02020603050405020304" pitchFamily="18" charset="0"/>
              </a:rPr>
              <a:t>The </a:t>
            </a:r>
            <a:r>
              <a:rPr lang="en-US" altLang="zh-CN" sz="1350" b="1" dirty="0">
                <a:solidFill>
                  <a:srgbClr val="C00000"/>
                </a:solidFill>
                <a:latin typeface="Times New Roman" panose="02020603050405020304" pitchFamily="18" charset="0"/>
                <a:ea typeface="SimSun"/>
                <a:cs typeface="Times New Roman" panose="02020603050405020304" pitchFamily="18" charset="0"/>
              </a:rPr>
              <a:t>wet-bulb efficiency </a:t>
            </a:r>
            <a:r>
              <a:rPr lang="en-US" altLang="zh-CN" sz="1350" dirty="0">
                <a:latin typeface="Times New Roman" panose="02020603050405020304" pitchFamily="18" charset="0"/>
                <a:ea typeface="SimSun"/>
                <a:cs typeface="Times New Roman" panose="02020603050405020304" pitchFamily="18" charset="0"/>
              </a:rPr>
              <a:t>grows with the increase of </a:t>
            </a:r>
            <a:r>
              <a:rPr lang="en-US" altLang="zh-CN" sz="1350" b="1" dirty="0">
                <a:solidFill>
                  <a:srgbClr val="C00000"/>
                </a:solidFill>
                <a:latin typeface="Times New Roman" panose="02020603050405020304" pitchFamily="18" charset="0"/>
                <a:ea typeface="SimSun"/>
                <a:cs typeface="Times New Roman" panose="02020603050405020304" pitchFamily="18" charset="0"/>
              </a:rPr>
              <a:t>water supply flow rate</a:t>
            </a:r>
            <a:r>
              <a:rPr lang="en-US" altLang="zh-CN" sz="1350" dirty="0">
                <a:latin typeface="Times New Roman" panose="02020603050405020304" pitchFamily="18" charset="0"/>
                <a:ea typeface="SimSun"/>
                <a:cs typeface="Times New Roman" panose="02020603050405020304" pitchFamily="18" charset="0"/>
              </a:rPr>
              <a:t>.</a:t>
            </a:r>
          </a:p>
        </p:txBody>
      </p:sp>
      <p:sp>
        <p:nvSpPr>
          <p:cNvPr id="9224" name="TextBox 1"/>
          <p:cNvSpPr txBox="1"/>
          <p:nvPr/>
        </p:nvSpPr>
        <p:spPr>
          <a:xfrm>
            <a:off x="6731467" y="2106497"/>
            <a:ext cx="4302810" cy="294004"/>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湿球效率随供水流量增加而提高。</a:t>
            </a:r>
          </a:p>
        </p:txBody>
      </p:sp>
      <p:sp>
        <p:nvSpPr>
          <p:cNvPr id="9225" name="文本框 29">
            <a:extLst>
              <a:ext uri="{FF2B5EF4-FFF2-40B4-BE49-F238E27FC236}">
                <a16:creationId xmlns:a16="http://schemas.microsoft.com/office/drawing/2014/main" id="{DAF76E3D-99D8-7F56-F0C2-B15FA2F69F96}"/>
              </a:ext>
            </a:extLst>
          </p:cNvPr>
          <p:cNvSpPr txBox="1"/>
          <p:nvPr/>
        </p:nvSpPr>
        <p:spPr>
          <a:xfrm>
            <a:off x="6731467" y="2400502"/>
            <a:ext cx="4302810" cy="726059"/>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a:cs typeface="Times New Roman" panose="02020603050405020304" pitchFamily="18" charset="0"/>
              </a:rPr>
              <a:t>and stabilizes at a maximum value when the flow rate arrives </a:t>
            </a:r>
            <a:r>
              <a:rPr lang="en-US" altLang="zh-CN" sz="1350" b="1" dirty="0">
                <a:solidFill>
                  <a:srgbClr val="C00000"/>
                </a:solidFill>
                <a:latin typeface="Times New Roman" panose="02020603050405020304" pitchFamily="18" charset="0"/>
                <a:ea typeface="SimSun"/>
                <a:cs typeface="Times New Roman" panose="02020603050405020304" pitchFamily="18" charset="0"/>
              </a:rPr>
              <a:t>65 L/s.</a:t>
            </a:r>
            <a:endParaRPr lang="zh-CN" altLang="en-US" sz="1600" b="1" dirty="0">
              <a:solidFill>
                <a:srgbClr val="C00000"/>
              </a:solidFill>
              <a:latin typeface="Times New Roman" panose="02020603050405020304" pitchFamily="18" charset="0"/>
              <a:ea typeface="SimSun"/>
              <a:cs typeface="Times New Roman" panose="02020603050405020304" pitchFamily="18" charset="0"/>
            </a:endParaRPr>
          </a:p>
        </p:txBody>
      </p:sp>
      <p:sp>
        <p:nvSpPr>
          <p:cNvPr id="9226" name="TextBox 1"/>
          <p:cNvSpPr txBox="1"/>
          <p:nvPr/>
        </p:nvSpPr>
        <p:spPr>
          <a:xfrm>
            <a:off x="6731467" y="2832556"/>
            <a:ext cx="4302810" cy="294004"/>
          </a:xfrm>
          <a:prstGeom prst="rect">
            <a:avLst/>
          </a:prstGeom>
          <a:noFill/>
        </p:spPr>
        <p:txBody>
          <a:bodyPr wrap="square" lIns="0" rIns="0" tIns="0" bIns="0">
            <a:spAutoFit/>
          </a:bodyPr>
          <a:lstStyle/>
          <a:p>
            <a:pPr>
              <a:lnSpc>
                <a:spcPct val="105000"/>
              </a:lnSpc>
              <a:spcAft>
                <a:spcPts val="0"/>
              </a:spcAft>
            </a:pPr>
            <a:r>
              <a:rPr sz="1350" b="0">
                <a:solidFill>
                  <a:srgbClr val="24425A"/>
                </a:solidFill>
                <a:latin typeface="Times New Roman"/>
                <a:ea typeface="SimSun"/>
                <a:cs typeface="Times New Roman"/>
              </a:rPr>
              <a:t>当流量达到 65 L/s 时，湿球效率趋于最大值并保持稳定。</a:t>
            </a:r>
          </a:p>
        </p:txBody>
      </p:sp>
    </p:spTree>
    <p:extLst>
      <p:ext uri="{BB962C8B-B14F-4D97-AF65-F5344CB8AC3E}">
        <p14:creationId xmlns:p14="http://schemas.microsoft.com/office/powerpoint/2010/main" val="3734549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pic>
        <p:nvPicPr>
          <p:cNvPr id="10244" name="图片 21">
            <a:extLst>
              <a:ext uri="{FF2B5EF4-FFF2-40B4-BE49-F238E27FC236}">
                <a16:creationId xmlns:a16="http://schemas.microsoft.com/office/drawing/2014/main" id="{69256179-B68B-F48F-7AE5-0F957AAFF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91" y="1683363"/>
            <a:ext cx="1985963"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3" name="图片 31">
            <a:extLst>
              <a:ext uri="{FF2B5EF4-FFF2-40B4-BE49-F238E27FC236}">
                <a16:creationId xmlns:a16="http://schemas.microsoft.com/office/drawing/2014/main" id="{0B4169FB-E23F-17DF-4427-35408ACB0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776" t="10007" r="14946" b="15715"/>
          <a:stretch>
            <a:fillRect/>
          </a:stretch>
        </p:blipFill>
        <p:spPr bwMode="auto">
          <a:xfrm>
            <a:off x="3939947" y="1683363"/>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2" name="图片 23">
            <a:extLst>
              <a:ext uri="{FF2B5EF4-FFF2-40B4-BE49-F238E27FC236}">
                <a16:creationId xmlns:a16="http://schemas.microsoft.com/office/drawing/2014/main" id="{231E7C05-5E0F-915A-7D30-6388DB7E6A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8215" y="1700461"/>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1" name="图片 26">
            <a:extLst>
              <a:ext uri="{FF2B5EF4-FFF2-40B4-BE49-F238E27FC236}">
                <a16:creationId xmlns:a16="http://schemas.microsoft.com/office/drawing/2014/main" id="{A7FCC450-3BCE-99A0-132A-5066AC831E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2425" y="1688125"/>
            <a:ext cx="1985963" cy="19764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pic>
        <p:nvPicPr>
          <p:cNvPr id="10255" name="图片 3">
            <a:extLst>
              <a:ext uri="{FF2B5EF4-FFF2-40B4-BE49-F238E27FC236}">
                <a16:creationId xmlns:a16="http://schemas.microsoft.com/office/drawing/2014/main" id="{9288BB41-D5C0-4C9D-36A2-6F057F40A4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8429" y="3977795"/>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4" name="图片 13">
            <a:extLst>
              <a:ext uri="{FF2B5EF4-FFF2-40B4-BE49-F238E27FC236}">
                <a16:creationId xmlns:a16="http://schemas.microsoft.com/office/drawing/2014/main" id="{E76D5247-3812-D4C6-A356-954217AB71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5834" y="3967185"/>
            <a:ext cx="1995488"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3" name="图片 4">
            <a:extLst>
              <a:ext uri="{FF2B5EF4-FFF2-40B4-BE49-F238E27FC236}">
                <a16:creationId xmlns:a16="http://schemas.microsoft.com/office/drawing/2014/main" id="{DE80AAC3-B12C-2C2D-94F7-D257D127A6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58388" y="3859600"/>
            <a:ext cx="709613" cy="2162175"/>
          </a:xfrm>
          <a:prstGeom prst="rect">
            <a:avLst/>
          </a:prstGeom>
          <a:noFill/>
          <a:extLst>
            <a:ext uri="{909E8E84-426E-40DD-AFC4-6F175D3DCCD1}">
              <a14:hiddenFill xmlns:a14="http://schemas.microsoft.com/office/drawing/2010/main">
                <a:solidFill>
                  <a:srgbClr val="FFFFFF"/>
                </a:solidFill>
              </a14:hiddenFill>
            </a:ext>
          </a:extLst>
        </p:spPr>
      </p:pic>
      <p:pic>
        <p:nvPicPr>
          <p:cNvPr id="10252" name="图片 15">
            <a:extLst>
              <a:ext uri="{FF2B5EF4-FFF2-40B4-BE49-F238E27FC236}">
                <a16:creationId xmlns:a16="http://schemas.microsoft.com/office/drawing/2014/main" id="{CB597D4E-7570-E16D-C129-508E85E884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483" y="396718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1" name="图片 18">
            <a:extLst>
              <a:ext uri="{FF2B5EF4-FFF2-40B4-BE49-F238E27FC236}">
                <a16:creationId xmlns:a16="http://schemas.microsoft.com/office/drawing/2014/main" id="{100BC387-F153-4454-F0FD-B1293720BA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18256" y="3950087"/>
            <a:ext cx="1985963" cy="19812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25" name="文本框 24">
            <a:extLst>
              <a:ext uri="{FF2B5EF4-FFF2-40B4-BE49-F238E27FC236}">
                <a16:creationId xmlns:a16="http://schemas.microsoft.com/office/drawing/2014/main" id="{9C8C7525-E425-4A9F-0957-4B99D5839A8D}"/>
              </a:ext>
            </a:extLst>
          </p:cNvPr>
          <p:cNvSpPr txBox="1"/>
          <p:nvPr/>
        </p:nvSpPr>
        <p:spPr>
          <a:xfrm>
            <a:off x="1186147" y="1334199"/>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Water film distribution</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26" name="文本框 25">
            <a:extLst>
              <a:ext uri="{FF2B5EF4-FFF2-40B4-BE49-F238E27FC236}">
                <a16:creationId xmlns:a16="http://schemas.microsoft.com/office/drawing/2014/main" id="{F6E0FF28-998E-AB4F-A4C3-0EF35C84B52C}"/>
              </a:ext>
            </a:extLst>
          </p:cNvPr>
          <p:cNvSpPr txBox="1"/>
          <p:nvPr/>
        </p:nvSpPr>
        <p:spPr>
          <a:xfrm>
            <a:off x="1186147" y="3645605"/>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Temperature distribution</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27" name="矩形 26">
            <a:extLst>
              <a:ext uri="{FF2B5EF4-FFF2-40B4-BE49-F238E27FC236}">
                <a16:creationId xmlns:a16="http://schemas.microsoft.com/office/drawing/2014/main" id="{6E3FACF8-7BCA-482F-EF5E-25C958B4E431}"/>
              </a:ext>
            </a:extLst>
          </p:cNvPr>
          <p:cNvSpPr/>
          <p:nvPr/>
        </p:nvSpPr>
        <p:spPr bwMode="auto">
          <a:xfrm>
            <a:off x="5952949" y="1487865"/>
            <a:ext cx="1963623" cy="5010207"/>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dirty="0">
              <a:solidFill>
                <a:schemeClr val="bg2"/>
              </a:solidFill>
              <a:latin typeface="Times New Roman" charset="0"/>
              <a:ea typeface="SimSun"/>
              <a:cs typeface="Times New Roman"/>
            </a:endParaRPr>
          </a:p>
        </p:txBody>
      </p:sp>
      <p:sp>
        <p:nvSpPr>
          <p:cNvPr id="28" name="Content Placeholder 23">
            <a:extLst>
              <a:ext uri="{FF2B5EF4-FFF2-40B4-BE49-F238E27FC236}">
                <a16:creationId xmlns:a16="http://schemas.microsoft.com/office/drawing/2014/main" id="{612E446F-6937-E2D0-4115-6FD6EBCE5D96}"/>
              </a:ext>
            </a:extLst>
          </p:cNvPr>
          <p:cNvSpPr txBox="1">
            <a:spLocks/>
          </p:cNvSpPr>
          <p:nvPr/>
        </p:nvSpPr>
        <p:spPr bwMode="auto">
          <a:xfrm>
            <a:off x="2628629" y="6111298"/>
            <a:ext cx="683759" cy="379118"/>
          </a:xfrm>
          <a:prstGeom prst="rect">
            <a:avLst/>
          </a:prstGeom>
          <a:noFill/>
          <a:ln>
            <a:noFill/>
          </a:ln>
        </p:spPr>
        <p:txBody>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1200"/>
              </a:spcBef>
              <a:spcAft>
                <a:spcPts val="1200"/>
              </a:spcAft>
              <a:buClrTx/>
              <a:buNone/>
              <a:defRPr>
                <a:latin typeface="Times New Roman"/>
                <a:ea typeface="SimSun"/>
                <a:cs typeface="Times New Roman"/>
              </a:defRPr>
            </a:pPr>
            <a:r>
              <a:rPr lang="en-US" altLang="en-US" sz="1800" kern="0" dirty="0">
                <a:latin typeface="Times New Roman" panose="02020603050405020304" pitchFamily="18" charset="0"/>
                <a:ea typeface="SimSun"/>
                <a:cs typeface="Times New Roman" panose="02020603050405020304" pitchFamily="18" charset="0"/>
              </a:rPr>
              <a:t>TOP</a:t>
            </a:r>
          </a:p>
        </p:txBody>
      </p:sp>
      <p:sp>
        <p:nvSpPr>
          <p:cNvPr id="29" name="Content Placeholder 23">
            <a:extLst>
              <a:ext uri="{FF2B5EF4-FFF2-40B4-BE49-F238E27FC236}">
                <a16:creationId xmlns:a16="http://schemas.microsoft.com/office/drawing/2014/main" id="{1674DC4D-36F8-B1AA-B3CF-69DDE620D1C7}"/>
              </a:ext>
            </a:extLst>
          </p:cNvPr>
          <p:cNvSpPr txBox="1">
            <a:spLocks/>
          </p:cNvSpPr>
          <p:nvPr/>
        </p:nvSpPr>
        <p:spPr bwMode="auto">
          <a:xfrm>
            <a:off x="4383536" y="6113443"/>
            <a:ext cx="1263653" cy="379118"/>
          </a:xfrm>
          <a:prstGeom prst="rect">
            <a:avLst/>
          </a:prstGeom>
          <a:noFill/>
          <a:ln>
            <a:noFill/>
          </a:ln>
        </p:spPr>
        <p:txBody>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1200"/>
              </a:spcBef>
              <a:spcAft>
                <a:spcPts val="1200"/>
              </a:spcAft>
              <a:buClrTx/>
              <a:buNone/>
              <a:defRPr>
                <a:latin typeface="Times New Roman"/>
                <a:ea typeface="SimSun"/>
                <a:cs typeface="Times New Roman"/>
              </a:defRPr>
            </a:pPr>
            <a:r>
              <a:rPr lang="en-US" altLang="en-US" sz="1800" kern="0" dirty="0">
                <a:latin typeface="Times New Roman" panose="02020603050405020304" pitchFamily="18" charset="0"/>
                <a:ea typeface="SimSun"/>
                <a:cs typeface="Times New Roman" panose="02020603050405020304" pitchFamily="18" charset="0"/>
              </a:rPr>
              <a:t>BOTTOM</a:t>
            </a:r>
          </a:p>
        </p:txBody>
      </p:sp>
      <p:sp>
        <p:nvSpPr>
          <p:cNvPr id="30" name="Content Placeholder 23">
            <a:extLst>
              <a:ext uri="{FF2B5EF4-FFF2-40B4-BE49-F238E27FC236}">
                <a16:creationId xmlns:a16="http://schemas.microsoft.com/office/drawing/2014/main" id="{4DA368F3-1F37-F80D-410F-E8AB2040C96F}"/>
              </a:ext>
            </a:extLst>
          </p:cNvPr>
          <p:cNvSpPr txBox="1">
            <a:spLocks/>
          </p:cNvSpPr>
          <p:nvPr/>
        </p:nvSpPr>
        <p:spPr bwMode="auto">
          <a:xfrm>
            <a:off x="6275458" y="6118954"/>
            <a:ext cx="1408225" cy="379118"/>
          </a:xfrm>
          <a:prstGeom prst="rect">
            <a:avLst/>
          </a:prstGeom>
          <a:noFill/>
          <a:ln>
            <a:noFill/>
          </a:ln>
        </p:spPr>
        <p:txBody>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1200"/>
              </a:spcBef>
              <a:spcAft>
                <a:spcPts val="1200"/>
              </a:spcAft>
              <a:buClrTx/>
              <a:buNone/>
              <a:defRPr>
                <a:latin typeface="Times New Roman"/>
                <a:ea typeface="SimSun"/>
                <a:cs typeface="Times New Roman"/>
              </a:defRPr>
            </a:pPr>
            <a:r>
              <a:rPr lang="en-US" altLang="en-US" sz="1800" kern="0" dirty="0">
                <a:latin typeface="Times New Roman" panose="02020603050405020304" pitchFamily="18" charset="0"/>
                <a:ea typeface="SimSun"/>
                <a:cs typeface="Times New Roman" panose="02020603050405020304" pitchFamily="18" charset="0"/>
              </a:rPr>
              <a:t>Upper side</a:t>
            </a:r>
          </a:p>
        </p:txBody>
      </p:sp>
      <p:sp>
        <p:nvSpPr>
          <p:cNvPr id="31" name="Content Placeholder 23">
            <a:extLst>
              <a:ext uri="{FF2B5EF4-FFF2-40B4-BE49-F238E27FC236}">
                <a16:creationId xmlns:a16="http://schemas.microsoft.com/office/drawing/2014/main" id="{6306B550-901E-B39E-A75C-214E6F829FE0}"/>
              </a:ext>
            </a:extLst>
          </p:cNvPr>
          <p:cNvSpPr txBox="1">
            <a:spLocks/>
          </p:cNvSpPr>
          <p:nvPr/>
        </p:nvSpPr>
        <p:spPr bwMode="auto">
          <a:xfrm>
            <a:off x="8223174" y="6118954"/>
            <a:ext cx="1408225" cy="379118"/>
          </a:xfrm>
          <a:prstGeom prst="rect">
            <a:avLst/>
          </a:prstGeom>
          <a:noFill/>
          <a:ln>
            <a:noFill/>
          </a:ln>
        </p:spPr>
        <p:txBody>
          <a:bodyPr/>
          <a:lst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1200"/>
              </a:spcBef>
              <a:spcAft>
                <a:spcPts val="1200"/>
              </a:spcAft>
              <a:buClrTx/>
              <a:buNone/>
              <a:defRPr>
                <a:latin typeface="Times New Roman"/>
                <a:ea typeface="SimSun"/>
                <a:cs typeface="Times New Roman"/>
              </a:defRPr>
            </a:pPr>
            <a:r>
              <a:rPr lang="en-US" altLang="en-US" sz="1800" kern="0" dirty="0">
                <a:latin typeface="Times New Roman" panose="02020603050405020304" pitchFamily="18" charset="0"/>
                <a:ea typeface="SimSun"/>
                <a:cs typeface="Times New Roman" panose="02020603050405020304" pitchFamily="18" charset="0"/>
              </a:rPr>
              <a:t>Lower side</a:t>
            </a: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50</a:t>
            </a:fld>
            <a:endParaRPr lang="en-US" altLang="zh-CN">
              <a:latin typeface="Times New Roman"/>
              <a:ea typeface="SimSun"/>
              <a:cs typeface="Times New Roman"/>
            </a:endParaRPr>
          </a:p>
        </p:txBody>
      </p:sp>
      <p:sp>
        <p:nvSpPr>
          <p:cNvPr id="10256"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四种喷嘴布置方案（铝板）</a:t>
            </a:r>
          </a:p>
        </p:txBody>
      </p:sp>
      <p:sp>
        <p:nvSpPr>
          <p:cNvPr id="10257"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6.3 Four schemes of nozzle configurations (aluminium)</a:t>
            </a:r>
          </a:p>
        </p:txBody>
      </p:sp>
      <p:sp>
        <p:nvSpPr>
          <p:cNvPr id="10258"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1025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251355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25" name="文本框 24">
            <a:extLst>
              <a:ext uri="{FF2B5EF4-FFF2-40B4-BE49-F238E27FC236}">
                <a16:creationId xmlns:a16="http://schemas.microsoft.com/office/drawing/2014/main" id="{9C8C7525-E425-4A9F-0957-4B99D5839A8D}"/>
              </a:ext>
            </a:extLst>
          </p:cNvPr>
          <p:cNvSpPr txBox="1"/>
          <p:nvPr/>
        </p:nvSpPr>
        <p:spPr>
          <a:xfrm>
            <a:off x="683672" y="1292307"/>
            <a:ext cx="1865387"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Film formation</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51</a:t>
            </a:fld>
            <a:endParaRPr lang="en-US" altLang="zh-CN">
              <a:latin typeface="Times New Roman"/>
              <a:ea typeface="SimSun"/>
              <a:cs typeface="Times New Roman"/>
            </a:endParaRPr>
          </a:p>
        </p:txBody>
      </p:sp>
      <p:pic>
        <p:nvPicPr>
          <p:cNvPr id="32775" name="图片 3">
            <a:extLst>
              <a:ext uri="{FF2B5EF4-FFF2-40B4-BE49-F238E27FC236}">
                <a16:creationId xmlns:a16="http://schemas.microsoft.com/office/drawing/2014/main" id="{4E1CEAB8-A03A-4C57-8E5F-F165DE46E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294" y="1854334"/>
            <a:ext cx="403225"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74" name="图片 2">
            <a:extLst>
              <a:ext uri="{FF2B5EF4-FFF2-40B4-BE49-F238E27FC236}">
                <a16:creationId xmlns:a16="http://schemas.microsoft.com/office/drawing/2014/main" id="{2577F1F6-D5A0-449F-8C41-CBC505DDC7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309" y="1860684"/>
            <a:ext cx="403225" cy="245427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FEC9938E-47B8-49A4-9150-8065A6E117E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16" name="Rectangle 10">
            <a:extLst>
              <a:ext uri="{FF2B5EF4-FFF2-40B4-BE49-F238E27FC236}">
                <a16:creationId xmlns:a16="http://schemas.microsoft.com/office/drawing/2014/main" id="{D3EADA22-C25F-4BD0-92BF-75F10BA68F50}"/>
              </a:ext>
            </a:extLst>
          </p:cNvPr>
          <p:cNvSpPr>
            <a:spLocks noChangeArrowheads="1"/>
          </p:cNvSpPr>
          <p:nvPr/>
        </p:nvSpPr>
        <p:spPr bwMode="auto">
          <a:xfrm>
            <a:off x="383463" y="4457439"/>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pic>
        <p:nvPicPr>
          <p:cNvPr id="32781" name="图片 1019128321">
            <a:extLst>
              <a:ext uri="{FF2B5EF4-FFF2-40B4-BE49-F238E27FC236}">
                <a16:creationId xmlns:a16="http://schemas.microsoft.com/office/drawing/2014/main" id="{26D224AF-44E7-4E2A-956E-E3BEED4AC3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752" t="1244" r="10335" b="1295"/>
          <a:stretch>
            <a:fillRect/>
          </a:stretch>
        </p:blipFill>
        <p:spPr bwMode="auto">
          <a:xfrm>
            <a:off x="5350631" y="1852746"/>
            <a:ext cx="388938" cy="2476500"/>
          </a:xfrm>
          <a:prstGeom prst="rect">
            <a:avLst/>
          </a:prstGeom>
          <a:noFill/>
          <a:extLst>
            <a:ext uri="{909E8E84-426E-40DD-AFC4-6F175D3DCCD1}">
              <a14:hiddenFill xmlns:a14="http://schemas.microsoft.com/office/drawing/2010/main">
                <a:solidFill>
                  <a:srgbClr val="FFFFFF"/>
                </a:solidFill>
              </a14:hiddenFill>
            </a:ext>
          </a:extLst>
        </p:spPr>
      </p:pic>
      <p:pic>
        <p:nvPicPr>
          <p:cNvPr id="32780" name="图片 1019128322">
            <a:extLst>
              <a:ext uri="{FF2B5EF4-FFF2-40B4-BE49-F238E27FC236}">
                <a16:creationId xmlns:a16="http://schemas.microsoft.com/office/drawing/2014/main" id="{F34280D5-CFAB-4786-9623-25DC1F41FD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9283" t="1295" r="9802" b="1350"/>
          <a:stretch>
            <a:fillRect/>
          </a:stretch>
        </p:blipFill>
        <p:spPr bwMode="auto">
          <a:xfrm>
            <a:off x="5918966" y="1852746"/>
            <a:ext cx="388938" cy="2484438"/>
          </a:xfrm>
          <a:prstGeom prst="rect">
            <a:avLst/>
          </a:prstGeom>
          <a:noFill/>
          <a:extLst>
            <a:ext uri="{909E8E84-426E-40DD-AFC4-6F175D3DCCD1}">
              <a14:hiddenFill xmlns:a14="http://schemas.microsoft.com/office/drawing/2010/main">
                <a:solidFill>
                  <a:srgbClr val="FFFFFF"/>
                </a:solidFill>
              </a14:hiddenFill>
            </a:ext>
          </a:extLst>
        </p:spPr>
      </p:pic>
      <p:pic>
        <p:nvPicPr>
          <p:cNvPr id="32779" name="图片 1019128323">
            <a:extLst>
              <a:ext uri="{FF2B5EF4-FFF2-40B4-BE49-F238E27FC236}">
                <a16:creationId xmlns:a16="http://schemas.microsoft.com/office/drawing/2014/main" id="{D1AF116C-A7AA-4941-9E4B-A790AF4D4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7301" y="2049126"/>
            <a:ext cx="892175" cy="225583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14">
            <a:extLst>
              <a:ext uri="{FF2B5EF4-FFF2-40B4-BE49-F238E27FC236}">
                <a16:creationId xmlns:a16="http://schemas.microsoft.com/office/drawing/2014/main" id="{B919B231-416D-46A9-A9D5-48B03CDB05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imes New Roman" panose="020B0604020202020204" pitchFamily="34" charset="0"/>
                <a:ea typeface="SimSun"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B0604020202020204" pitchFamily="34" charset="0"/>
              <a:ea typeface="SimSun"/>
              <a:cs typeface="Times New Roman"/>
            </a:endParaRPr>
          </a:p>
        </p:txBody>
      </p:sp>
      <p:pic>
        <p:nvPicPr>
          <p:cNvPr id="32788" name="图片 1019128324">
            <a:extLst>
              <a:ext uri="{FF2B5EF4-FFF2-40B4-BE49-F238E27FC236}">
                <a16:creationId xmlns:a16="http://schemas.microsoft.com/office/drawing/2014/main" id="{00A43010-A7B9-4428-94A9-7F86D8B473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800000">
            <a:off x="8920162" y="1874971"/>
            <a:ext cx="388938" cy="2454275"/>
          </a:xfrm>
          <a:prstGeom prst="rect">
            <a:avLst/>
          </a:prstGeom>
          <a:noFill/>
          <a:extLst>
            <a:ext uri="{909E8E84-426E-40DD-AFC4-6F175D3DCCD1}">
              <a14:hiddenFill xmlns:a14="http://schemas.microsoft.com/office/drawing/2010/main">
                <a:solidFill>
                  <a:srgbClr val="FFFFFF"/>
                </a:solidFill>
              </a14:hiddenFill>
            </a:ext>
          </a:extLst>
        </p:spPr>
      </p:pic>
      <p:pic>
        <p:nvPicPr>
          <p:cNvPr id="32787" name="图片 1019128325">
            <a:extLst>
              <a:ext uri="{FF2B5EF4-FFF2-40B4-BE49-F238E27FC236}">
                <a16:creationId xmlns:a16="http://schemas.microsoft.com/office/drawing/2014/main" id="{C7D73420-5F7F-4D04-B75D-B97B3F7079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800000">
            <a:off x="9439334" y="1887523"/>
            <a:ext cx="388938"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86" name="图片 1019128326">
            <a:extLst>
              <a:ext uri="{FF2B5EF4-FFF2-40B4-BE49-F238E27FC236}">
                <a16:creationId xmlns:a16="http://schemas.microsoft.com/office/drawing/2014/main" id="{0A1392BF-0B62-4973-8737-7D9745D542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94365" y="2051594"/>
            <a:ext cx="823863" cy="2257200"/>
          </a:xfrm>
          <a:prstGeom prst="rect">
            <a:avLst/>
          </a:prstGeom>
          <a:noFill/>
          <a:extLst>
            <a:ext uri="{909E8E84-426E-40DD-AFC4-6F175D3DCCD1}">
              <a14:hiddenFill xmlns:a14="http://schemas.microsoft.com/office/drawing/2010/main">
                <a:solidFill>
                  <a:srgbClr val="FFFFFF"/>
                </a:solidFill>
              </a14:hiddenFill>
            </a:ext>
          </a:extLst>
        </p:spPr>
      </p:pic>
      <p:sp>
        <p:nvSpPr>
          <p:cNvPr id="65" name="矩形: 圆角 64">
            <a:extLst>
              <a:ext uri="{FF2B5EF4-FFF2-40B4-BE49-F238E27FC236}">
                <a16:creationId xmlns:a16="http://schemas.microsoft.com/office/drawing/2014/main" id="{7EC147A9-217C-4376-BD2B-C2C4E205D393}"/>
              </a:ext>
            </a:extLst>
          </p:cNvPr>
          <p:cNvSpPr/>
          <p:nvPr/>
        </p:nvSpPr>
        <p:spPr bwMode="auto">
          <a:xfrm>
            <a:off x="1195907"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0" name="文本框 69">
            <a:extLst>
              <a:ext uri="{FF2B5EF4-FFF2-40B4-BE49-F238E27FC236}">
                <a16:creationId xmlns:a16="http://schemas.microsoft.com/office/drawing/2014/main" id="{91539BC0-C797-4DCF-A041-2DAB55C73F8D}"/>
              </a:ext>
            </a:extLst>
          </p:cNvPr>
          <p:cNvSpPr txBox="1"/>
          <p:nvPr/>
        </p:nvSpPr>
        <p:spPr>
          <a:xfrm>
            <a:off x="4145640" y="1301262"/>
            <a:ext cx="3518653"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water vapor content distribution</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71" name="文本框 70">
            <a:extLst>
              <a:ext uri="{FF2B5EF4-FFF2-40B4-BE49-F238E27FC236}">
                <a16:creationId xmlns:a16="http://schemas.microsoft.com/office/drawing/2014/main" id="{C8ED595B-2F95-422C-8683-2C4A0B9FA15F}"/>
              </a:ext>
            </a:extLst>
          </p:cNvPr>
          <p:cNvSpPr txBox="1"/>
          <p:nvPr/>
        </p:nvSpPr>
        <p:spPr>
          <a:xfrm>
            <a:off x="7614860" y="1298386"/>
            <a:ext cx="302151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Temperature distribution </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75" name="矩形: 圆角 74">
            <a:extLst>
              <a:ext uri="{FF2B5EF4-FFF2-40B4-BE49-F238E27FC236}">
                <a16:creationId xmlns:a16="http://schemas.microsoft.com/office/drawing/2014/main" id="{C77DBACA-4A7F-4C7A-9404-C77D41B272CD}"/>
              </a:ext>
            </a:extLst>
          </p:cNvPr>
          <p:cNvSpPr/>
          <p:nvPr/>
        </p:nvSpPr>
        <p:spPr bwMode="auto">
          <a:xfrm>
            <a:off x="4683154"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6" name="Rectangle 10">
            <a:extLst>
              <a:ext uri="{FF2B5EF4-FFF2-40B4-BE49-F238E27FC236}">
                <a16:creationId xmlns:a16="http://schemas.microsoft.com/office/drawing/2014/main" id="{66FFF9CA-BF16-443A-9901-26029A31E8E5}"/>
              </a:ext>
            </a:extLst>
          </p:cNvPr>
          <p:cNvSpPr>
            <a:spLocks noChangeArrowheads="1"/>
          </p:cNvSpPr>
          <p:nvPr/>
        </p:nvSpPr>
        <p:spPr bwMode="auto">
          <a:xfrm>
            <a:off x="3664579" y="4447443"/>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77" name="矩形: 圆角 76">
            <a:extLst>
              <a:ext uri="{FF2B5EF4-FFF2-40B4-BE49-F238E27FC236}">
                <a16:creationId xmlns:a16="http://schemas.microsoft.com/office/drawing/2014/main" id="{4A8C5921-FDC4-4B78-91E9-C32B4C77DA4F}"/>
              </a:ext>
            </a:extLst>
          </p:cNvPr>
          <p:cNvSpPr/>
          <p:nvPr/>
        </p:nvSpPr>
        <p:spPr bwMode="auto">
          <a:xfrm>
            <a:off x="8240174" y="1690094"/>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78" name="Rectangle 10">
            <a:extLst>
              <a:ext uri="{FF2B5EF4-FFF2-40B4-BE49-F238E27FC236}">
                <a16:creationId xmlns:a16="http://schemas.microsoft.com/office/drawing/2014/main" id="{ECE3E36B-9730-4908-B11D-232D823BF142}"/>
              </a:ext>
            </a:extLst>
          </p:cNvPr>
          <p:cNvSpPr>
            <a:spLocks noChangeArrowheads="1"/>
          </p:cNvSpPr>
          <p:nvPr/>
        </p:nvSpPr>
        <p:spPr bwMode="auto">
          <a:xfrm>
            <a:off x="7364344" y="4435650"/>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800"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3278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不同布置的轴向特性对比</a:t>
            </a:r>
          </a:p>
        </p:txBody>
      </p:sp>
      <p:sp>
        <p:nvSpPr>
          <p:cNvPr id="3279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Comparison of configurations of axial characteristics</a:t>
            </a:r>
          </a:p>
        </p:txBody>
      </p:sp>
      <p:sp>
        <p:nvSpPr>
          <p:cNvPr id="3279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3279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2793" name="文本框 71">
            <a:extLst>
              <a:ext uri="{FF2B5EF4-FFF2-40B4-BE49-F238E27FC236}">
                <a16:creationId xmlns:a16="http://schemas.microsoft.com/office/drawing/2014/main" id="{36D099DA-3C31-4C24-8C1F-9D03BA893B1A}"/>
              </a:ext>
            </a:extLst>
          </p:cNvPr>
          <p:cNvSpPr txBox="1"/>
          <p:nvPr/>
        </p:nvSpPr>
        <p:spPr>
          <a:xfrm>
            <a:off x="664564" y="4828032"/>
            <a:ext cx="3481076" cy="545084"/>
          </a:xfrm>
          <a:prstGeom prst="rect">
            <a:avLst/>
          </a:prstGeom>
          <a:noFill/>
          <a:ln>
            <a:noFill/>
          </a:ln>
        </p:spPr>
        <p:txBody>
          <a:bodyPr wrap="square" lIns="0" rIns="0" tIns="0" bIns="0">
            <a:noAutofit/>
          </a:bodyPr>
          <a:lstStyle/>
          <a:p>
            <a:pPr marL="0" indent="0" algn="l">
              <a:lnSpc>
                <a:spcPct val="108000"/>
              </a:lnSpc>
              <a:buNone/>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More smooth and diffuse continuous water film.</a:t>
            </a:r>
          </a:p>
        </p:txBody>
      </p:sp>
      <p:sp>
        <p:nvSpPr>
          <p:cNvPr id="32794" name="TextBox 1"/>
          <p:cNvSpPr txBox="1"/>
          <p:nvPr/>
        </p:nvSpPr>
        <p:spPr>
          <a:xfrm>
            <a:off x="664564" y="5071872"/>
            <a:ext cx="3481076" cy="301244"/>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水膜连续均匀，可增强传热传质。</a:t>
            </a:r>
          </a:p>
        </p:txBody>
      </p:sp>
      <p:sp>
        <p:nvSpPr>
          <p:cNvPr id="32795" name="文本框 71">
            <a:extLst>
              <a:ext uri="{FF2B5EF4-FFF2-40B4-BE49-F238E27FC236}">
                <a16:creationId xmlns:a16="http://schemas.microsoft.com/office/drawing/2014/main" id="{36D099DA-3C31-4C24-8C1F-9D03BA893B1A}"/>
              </a:ext>
            </a:extLst>
          </p:cNvPr>
          <p:cNvSpPr txBox="1"/>
          <p:nvPr/>
        </p:nvSpPr>
        <p:spPr>
          <a:xfrm>
            <a:off x="664564" y="5373116"/>
            <a:ext cx="3481076" cy="950468"/>
          </a:xfrm>
          <a:prstGeom prst="rect">
            <a:avLst/>
          </a:prstGeom>
          <a:noFill/>
          <a:ln>
            <a:noFill/>
          </a:ln>
        </p:spPr>
        <p:txBody>
          <a:bodyPr wrap="square" lIns="0" rIns="0" tIns="0" bIns="0">
            <a:noAutofit/>
          </a:bodyPr>
          <a:lstStyle/>
          <a:p>
            <a:pPr marL="0" indent="0" algn="l">
              <a:lnSpc>
                <a:spcPct val="108000"/>
              </a:lnSpc>
              <a:buNone/>
            </a:pP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Incomplete water film coverage due to aggregation from </a:t>
            </a:r>
            <a:r>
              <a:rPr lang="en-HK" altLang="zh-CN" sz="14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uneven gravity distribution</a:t>
            </a: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32796" name="TextBox 1"/>
          <p:cNvSpPr txBox="1"/>
          <p:nvPr/>
        </p:nvSpPr>
        <p:spPr>
          <a:xfrm>
            <a:off x="664564" y="5819648"/>
            <a:ext cx="3481076" cy="503936"/>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重力分布不均易使液体聚集，造成覆盖不足。</a:t>
            </a:r>
          </a:p>
        </p:txBody>
      </p:sp>
      <p:sp>
        <p:nvSpPr>
          <p:cNvPr id="32797" name="文本框 73">
            <a:extLst>
              <a:ext uri="{FF2B5EF4-FFF2-40B4-BE49-F238E27FC236}">
                <a16:creationId xmlns:a16="http://schemas.microsoft.com/office/drawing/2014/main" id="{D7A5FF66-7C65-405F-B8AF-C00D5C43656D}"/>
              </a:ext>
            </a:extLst>
          </p:cNvPr>
          <p:cNvSpPr txBox="1"/>
          <p:nvPr/>
        </p:nvSpPr>
        <p:spPr>
          <a:xfrm>
            <a:off x="8146034" y="4828032"/>
            <a:ext cx="3364475" cy="559562"/>
          </a:xfrm>
          <a:prstGeom prst="rect">
            <a:avLst/>
          </a:prstGeom>
          <a:noFill/>
          <a:ln>
            <a:noFill/>
          </a:ln>
        </p:spPr>
        <p:txBody>
          <a:bodyPr wrap="square" lIns="0" rIns="0" tIns="0" bIns="0">
            <a:noAutofit/>
          </a:bodyPr>
          <a:lstStyle/>
          <a:p>
            <a:pPr marL="0" indent="0" algn="l">
              <a:lnSpc>
                <a:spcPct val="108000"/>
              </a:lnSpc>
              <a:buNone/>
            </a:pPr>
            <a:r>
              <a:rPr lang="en-HK" altLang="zh-CN" sz="1450" dirty="0">
                <a:latin typeface="Times New Roman" panose="02020603050405020304" pitchFamily="18" charset="0"/>
                <a:ea typeface="SimSun" panose="02010600030101010101" pitchFamily="2" charset="-122"/>
                <a:cs typeface="Times New Roman" panose="02020603050405020304" pitchFamily="18" charset="0"/>
              </a:rPr>
              <a:t>More temperature drop.</a:t>
            </a:r>
          </a:p>
        </p:txBody>
      </p:sp>
      <p:sp>
        <p:nvSpPr>
          <p:cNvPr id="32798" name="TextBox 1"/>
          <p:cNvSpPr txBox="1"/>
          <p:nvPr/>
        </p:nvSpPr>
        <p:spPr>
          <a:xfrm>
            <a:off x="8146034" y="5079111"/>
            <a:ext cx="3364475" cy="308483"/>
          </a:xfrm>
          <a:prstGeom prst="rect">
            <a:avLst/>
          </a:prstGeom>
          <a:noFill/>
        </p:spPr>
        <p:txBody>
          <a:bodyPr wrap="square" lIns="0" rIns="0" tIns="0" bIns="0">
            <a:spAutoFit/>
          </a:bodyPr>
          <a:lstStyle/>
          <a:p>
            <a:pPr>
              <a:lnSpc>
                <a:spcPct val="105000"/>
              </a:lnSpc>
              <a:spcAft>
                <a:spcPts val="0"/>
              </a:spcAft>
            </a:pPr>
            <a:r>
              <a:rPr sz="1450" b="0">
                <a:solidFill>
                  <a:srgbClr val="24425A"/>
                </a:solidFill>
                <a:latin typeface="Times New Roman"/>
                <a:ea typeface="SimSun"/>
                <a:cs typeface="Times New Roman"/>
              </a:rPr>
              <a:t>降温幅度更大。</a:t>
            </a:r>
          </a:p>
        </p:txBody>
      </p:sp>
      <p:sp>
        <p:nvSpPr>
          <p:cNvPr id="32799" name="文本框 73">
            <a:extLst>
              <a:ext uri="{FF2B5EF4-FFF2-40B4-BE49-F238E27FC236}">
                <a16:creationId xmlns:a16="http://schemas.microsoft.com/office/drawing/2014/main" id="{D7A5FF66-7C65-405F-B8AF-C00D5C43656D}"/>
              </a:ext>
            </a:extLst>
          </p:cNvPr>
          <p:cNvSpPr txBox="1"/>
          <p:nvPr/>
        </p:nvSpPr>
        <p:spPr>
          <a:xfrm>
            <a:off x="8146034" y="5387594"/>
            <a:ext cx="3364475" cy="979424"/>
          </a:xfrm>
          <a:prstGeom prst="rect">
            <a:avLst/>
          </a:prstGeom>
          <a:noFill/>
          <a:ln>
            <a:noFill/>
          </a:ln>
        </p:spPr>
        <p:txBody>
          <a:bodyPr wrap="square" lIns="0" rIns="0" tIns="0" bIns="0">
            <a:noAutofit/>
          </a:bodyPr>
          <a:lstStyle/>
          <a:p>
            <a:pPr marL="0" indent="0" algn="l">
              <a:lnSpc>
                <a:spcPct val="108000"/>
              </a:lnSpc>
              <a:buNone/>
            </a:pPr>
            <a:r>
              <a:rPr lang="en-HK" altLang="zh-CN" sz="1450" dirty="0">
                <a:latin typeface="Times New Roman" panose="02020603050405020304" pitchFamily="18" charset="0"/>
                <a:ea typeface="SimSun" panose="02010600030101010101" pitchFamily="2" charset="-122"/>
                <a:cs typeface="Times New Roman" panose="02020603050405020304" pitchFamily="18" charset="0"/>
              </a:rPr>
              <a:t>The temperature drop follows the same trend as the increase in water vapour concentration.</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32800" name="TextBox 1"/>
          <p:cNvSpPr txBox="1"/>
          <p:nvPr/>
        </p:nvSpPr>
        <p:spPr>
          <a:xfrm>
            <a:off x="8146034" y="6058535"/>
            <a:ext cx="3364475" cy="308482"/>
          </a:xfrm>
          <a:prstGeom prst="rect">
            <a:avLst/>
          </a:prstGeom>
          <a:noFill/>
        </p:spPr>
        <p:txBody>
          <a:bodyPr wrap="square" lIns="0" rIns="0" tIns="0" bIns="0">
            <a:spAutoFit/>
          </a:bodyPr>
          <a:lstStyle/>
          <a:p>
            <a:pPr>
              <a:lnSpc>
                <a:spcPct val="105000"/>
              </a:lnSpc>
              <a:spcAft>
                <a:spcPts val="0"/>
              </a:spcAft>
            </a:pPr>
            <a:r>
              <a:rPr sz="1450" b="0">
                <a:solidFill>
                  <a:srgbClr val="24425A"/>
                </a:solidFill>
                <a:latin typeface="Times New Roman"/>
                <a:ea typeface="SimSun"/>
                <a:cs typeface="Times New Roman"/>
              </a:rPr>
              <a:t>温降与水蒸气浓度增加呈相同变化趋势。</a:t>
            </a:r>
          </a:p>
        </p:txBody>
      </p:sp>
      <p:sp>
        <p:nvSpPr>
          <p:cNvPr id="32801" name="文本框 78">
            <a:extLst>
              <a:ext uri="{FF2B5EF4-FFF2-40B4-BE49-F238E27FC236}">
                <a16:creationId xmlns:a16="http://schemas.microsoft.com/office/drawing/2014/main" id="{DDBB30D2-0C98-4E78-9C08-19036B22342E}"/>
              </a:ext>
            </a:extLst>
          </p:cNvPr>
          <p:cNvSpPr txBox="1"/>
          <p:nvPr/>
        </p:nvSpPr>
        <p:spPr>
          <a:xfrm>
            <a:off x="4424317" y="4828032"/>
            <a:ext cx="3296686" cy="1008380"/>
          </a:xfrm>
          <a:prstGeom prst="rect">
            <a:avLst/>
          </a:prstGeom>
          <a:noFill/>
          <a:ln>
            <a:noFill/>
          </a:ln>
        </p:spPr>
        <p:txBody>
          <a:bodyPr wrap="square" lIns="0" rIns="0" tIns="0" bIns="0">
            <a:noAutofit/>
          </a:bodyPr>
          <a:lstStyle/>
          <a:p>
            <a:pPr marL="0" indent="0" algn="l">
              <a:lnSpc>
                <a:spcPct val="108000"/>
              </a:lnSpc>
              <a:buNone/>
            </a:pP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The water vapor concentration significantly </a:t>
            </a:r>
            <a:r>
              <a:rPr lang="en-HK" altLang="zh-CN" sz="15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higher</a:t>
            </a: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32802" name="TextBox 1"/>
          <p:cNvSpPr txBox="1"/>
          <p:nvPr/>
        </p:nvSpPr>
        <p:spPr>
          <a:xfrm>
            <a:off x="4424317" y="5303520"/>
            <a:ext cx="3296686" cy="532892"/>
          </a:xfrm>
          <a:prstGeom prst="rect">
            <a:avLst/>
          </a:prstGeom>
          <a:noFill/>
        </p:spPr>
        <p:txBody>
          <a:bodyPr wrap="square" lIns="0" rIns="0" tIns="0" bIns="0">
            <a:spAutoFit/>
          </a:bodyPr>
          <a:lstStyle/>
          <a:p>
            <a:pPr>
              <a:lnSpc>
                <a:spcPct val="105000"/>
              </a:lnSpc>
              <a:spcAft>
                <a:spcPts val="0"/>
              </a:spcAft>
            </a:pPr>
            <a:r>
              <a:rPr sz="1500" b="0">
                <a:solidFill>
                  <a:srgbClr val="24425A"/>
                </a:solidFill>
                <a:latin typeface="Times New Roman"/>
                <a:ea typeface="SimSun"/>
                <a:cs typeface="Times New Roman"/>
              </a:rPr>
              <a:t>水蒸气浓度更高，水膜向气流传递的水分更多。</a:t>
            </a:r>
          </a:p>
        </p:txBody>
      </p:sp>
      <p:sp>
        <p:nvSpPr>
          <p:cNvPr id="32803" name="文本框 78">
            <a:extLst>
              <a:ext uri="{FF2B5EF4-FFF2-40B4-BE49-F238E27FC236}">
                <a16:creationId xmlns:a16="http://schemas.microsoft.com/office/drawing/2014/main" id="{DDBB30D2-0C98-4E78-9C08-19036B22342E}"/>
              </a:ext>
            </a:extLst>
          </p:cNvPr>
          <p:cNvSpPr txBox="1"/>
          <p:nvPr/>
        </p:nvSpPr>
        <p:spPr>
          <a:xfrm>
            <a:off x="4424317" y="5836412"/>
            <a:ext cx="3296686" cy="574040"/>
          </a:xfrm>
          <a:prstGeom prst="rect">
            <a:avLst/>
          </a:prstGeom>
          <a:noFill/>
          <a:ln>
            <a:noFill/>
          </a:ln>
        </p:spPr>
        <p:txBody>
          <a:bodyPr wrap="square" lIns="0" rIns="0" tIns="0" bIns="0">
            <a:noAutofit/>
          </a:bodyPr>
          <a:lstStyle/>
          <a:p>
            <a:pPr marL="0" indent="0" algn="l">
              <a:lnSpc>
                <a:spcPct val="108000"/>
              </a:lnSpc>
              <a:buNone/>
            </a:pPr>
            <a:r>
              <a:rPr lang="en-HK" altLang="zh-CN" sz="1500" dirty="0">
                <a:latin typeface="Times New Roman" panose="02020603050405020304" pitchFamily="18" charset="0"/>
                <a:ea typeface="SimSun" panose="02010600030101010101" pitchFamily="2" charset="-122"/>
                <a:cs typeface="Times New Roman" panose="02020603050405020304" pitchFamily="18" charset="0"/>
              </a:rPr>
              <a:t>The water membrane transfers more mass to the airflow.</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7184887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52</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sp>
        <p:nvSpPr>
          <p:cNvPr id="21"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四种布置方案的性能差异</a:t>
            </a:r>
          </a:p>
        </p:txBody>
      </p:sp>
      <p:sp>
        <p:nvSpPr>
          <p:cNvPr id="22"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Specific gaps in the four configurations</a:t>
            </a:r>
          </a:p>
        </p:txBody>
      </p:sp>
      <p:sp>
        <p:nvSpPr>
          <p:cNvPr id="23"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4"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5" name="文本框 11">
            <a:extLst>
              <a:ext uri="{FF2B5EF4-FFF2-40B4-BE49-F238E27FC236}">
                <a16:creationId xmlns:a16="http://schemas.microsoft.com/office/drawing/2014/main" id="{5A6E6B83-037F-337A-2F2C-BA728907C8FA}"/>
              </a:ext>
            </a:extLst>
          </p:cNvPr>
          <p:cNvSpPr txBox="1"/>
          <p:nvPr/>
        </p:nvSpPr>
        <p:spPr>
          <a:xfrm>
            <a:off x="1891380" y="5437664"/>
            <a:ext cx="4802263" cy="479806"/>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26" name="TextBox 1"/>
          <p:cNvSpPr txBox="1"/>
          <p:nvPr/>
        </p:nvSpPr>
        <p:spPr>
          <a:xfrm>
            <a:off x="7022826" y="5451379"/>
            <a:ext cx="3622759" cy="479806"/>
          </a:xfrm>
          <a:prstGeom prst="rect">
            <a:avLst/>
          </a:prstGeom>
          <a:noFill/>
        </p:spPr>
        <p:txBody>
          <a:bodyPr wrap="square" lIns="0" rIns="0" tIns="0" bIns="0">
            <a:spAutoFit/>
          </a:bodyPr>
          <a:lstStyle/>
          <a:p>
            <a:pPr>
              <a:lnSpc>
                <a:spcPct val="105000"/>
              </a:lnSpc>
              <a:spcAft>
                <a:spcPts val="0"/>
              </a:spcAft>
            </a:pPr>
            <a:r>
              <a:rPr sz="1350" b="0">
                <a:solidFill>
                  <a:srgbClr val="303030"/>
                </a:solidFill>
                <a:latin typeface="Times New Roman"/>
                <a:ea typeface="SimSun"/>
                <a:cs typeface="Times New Roman"/>
              </a:rPr>
              <a:t>温降与水膜覆盖系数呈相同变化趋势。</a:t>
            </a:r>
          </a:p>
        </p:txBody>
      </p:sp>
      <p:sp>
        <p:nvSpPr>
          <p:cNvPr id="27" name="文本框 11">
            <a:extLst>
              <a:ext uri="{FF2B5EF4-FFF2-40B4-BE49-F238E27FC236}">
                <a16:creationId xmlns:a16="http://schemas.microsoft.com/office/drawing/2014/main" id="{5A6E6B83-037F-337A-2F2C-BA728907C8FA}"/>
              </a:ext>
            </a:extLst>
          </p:cNvPr>
          <p:cNvSpPr txBox="1"/>
          <p:nvPr/>
        </p:nvSpPr>
        <p:spPr>
          <a:xfrm>
            <a:off x="1891380" y="5917470"/>
            <a:ext cx="4802263" cy="479806"/>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p>
        </p:txBody>
      </p:sp>
      <p:sp>
        <p:nvSpPr>
          <p:cNvPr id="28" name="TextBox 1"/>
          <p:cNvSpPr txBox="1"/>
          <p:nvPr/>
        </p:nvSpPr>
        <p:spPr>
          <a:xfrm>
            <a:off x="7022826" y="5931186"/>
            <a:ext cx="3622759" cy="479806"/>
          </a:xfrm>
          <a:prstGeom prst="rect">
            <a:avLst/>
          </a:prstGeom>
          <a:noFill/>
        </p:spPr>
        <p:txBody>
          <a:bodyPr wrap="square" lIns="0" rIns="0" tIns="0" bIns="0">
            <a:spAutoFit/>
          </a:bodyPr>
          <a:lstStyle/>
          <a:p>
            <a:pPr>
              <a:lnSpc>
                <a:spcPct val="105000"/>
              </a:lnSpc>
              <a:spcAft>
                <a:spcPts val="0"/>
              </a:spcAft>
            </a:pPr>
            <a:r>
              <a:rPr sz="1350" b="0">
                <a:solidFill>
                  <a:srgbClr val="303030"/>
                </a:solidFill>
                <a:latin typeface="Times New Roman"/>
                <a:ea typeface="SimSun"/>
                <a:cs typeface="Times New Roman"/>
              </a:rPr>
              <a:t>上侧布置的效果最佳；与最差方案相比，两项性能指标分别提升 59.2% 和 27.4%。</a:t>
            </a:r>
          </a:p>
        </p:txBody>
      </p:sp>
    </p:spTree>
    <p:extLst>
      <p:ext uri="{BB962C8B-B14F-4D97-AF65-F5344CB8AC3E}">
        <p14:creationId xmlns:p14="http://schemas.microsoft.com/office/powerpoint/2010/main" val="320442060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dirty="0">
              <a:latin typeface="Times New Roman"/>
              <a:ea typeface="SimSun"/>
              <a:cs typeface="Times New Roman"/>
            </a:endParaRPr>
          </a:p>
        </p:txBody>
      </p:sp>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779004" y="57672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pic>
        <p:nvPicPr>
          <p:cNvPr id="12294" name="图片 28">
            <a:extLst>
              <a:ext uri="{FF2B5EF4-FFF2-40B4-BE49-F238E27FC236}">
                <a16:creationId xmlns:a16="http://schemas.microsoft.com/office/drawing/2014/main" id="{44D582F8-18F3-4DEC-0F26-A67449609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099" y="4679707"/>
            <a:ext cx="197167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2293" name="图片 19">
            <a:extLst>
              <a:ext uri="{FF2B5EF4-FFF2-40B4-BE49-F238E27FC236}">
                <a16:creationId xmlns:a16="http://schemas.microsoft.com/office/drawing/2014/main" id="{55A18780-3657-33A9-3010-C344F3D9E6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183" y="4699175"/>
            <a:ext cx="2005013" cy="19812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pic>
        <p:nvPicPr>
          <p:cNvPr id="12301" name="图片 16">
            <a:extLst>
              <a:ext uri="{FF2B5EF4-FFF2-40B4-BE49-F238E27FC236}">
                <a16:creationId xmlns:a16="http://schemas.microsoft.com/office/drawing/2014/main" id="{B787976E-0295-D959-6756-4C54785DD7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240" y="4681814"/>
            <a:ext cx="1990725" cy="1976438"/>
          </a:xfrm>
          <a:prstGeom prst="rect">
            <a:avLst/>
          </a:prstGeom>
          <a:noFill/>
          <a:extLst>
            <a:ext uri="{909E8E84-426E-40DD-AFC4-6F175D3DCCD1}">
              <a14:hiddenFill xmlns:a14="http://schemas.microsoft.com/office/drawing/2010/main">
                <a:solidFill>
                  <a:srgbClr val="FFFFFF"/>
                </a:solidFill>
              </a14:hiddenFill>
            </a:ext>
          </a:extLst>
        </p:spPr>
      </p:pic>
      <p:pic>
        <p:nvPicPr>
          <p:cNvPr id="12300" name="图片 10">
            <a:extLst>
              <a:ext uri="{FF2B5EF4-FFF2-40B4-BE49-F238E27FC236}">
                <a16:creationId xmlns:a16="http://schemas.microsoft.com/office/drawing/2014/main" id="{22E7B2F8-133F-7230-6BA2-4AC6104C30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7215" y="4699175"/>
            <a:ext cx="1995488" cy="198120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14">
            <a:extLst>
              <a:ext uri="{FF2B5EF4-FFF2-40B4-BE49-F238E27FC236}">
                <a16:creationId xmlns:a16="http://schemas.microsoft.com/office/drawing/2014/main" id="{EBCCB8FA-719F-CE4B-F3AA-02975446B696}"/>
              </a:ext>
            </a:extLst>
          </p:cNvPr>
          <p:cNvSpPr>
            <a:spLocks noChangeArrowheads="1"/>
          </p:cNvSpPr>
          <p:nvPr/>
        </p:nvSpPr>
        <p:spPr bwMode="auto">
          <a:xfrm>
            <a:off x="5790583" y="242501"/>
            <a:ext cx="9156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200">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pic>
        <p:nvPicPr>
          <p:cNvPr id="31" name="图片 30">
            <a:extLst>
              <a:ext uri="{FF2B5EF4-FFF2-40B4-BE49-F238E27FC236}">
                <a16:creationId xmlns:a16="http://schemas.microsoft.com/office/drawing/2014/main" id="{1F590254-124A-054D-2EAD-9E3BDB1948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59937" y="1724473"/>
            <a:ext cx="1699717" cy="2880000"/>
          </a:xfrm>
          <a:prstGeom prst="rect">
            <a:avLst/>
          </a:prstGeom>
        </p:spPr>
      </p:pic>
      <p:sp>
        <p:nvSpPr>
          <p:cNvPr id="34" name="文本框 33">
            <a:extLst>
              <a:ext uri="{FF2B5EF4-FFF2-40B4-BE49-F238E27FC236}">
                <a16:creationId xmlns:a16="http://schemas.microsoft.com/office/drawing/2014/main" id="{6B54303A-CEA9-54E3-7C6C-6E4C19CB6349}"/>
              </a:ext>
            </a:extLst>
          </p:cNvPr>
          <p:cNvSpPr txBox="1"/>
          <p:nvPr/>
        </p:nvSpPr>
        <p:spPr>
          <a:xfrm>
            <a:off x="418910" y="1310895"/>
            <a:ext cx="5520637"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Hydrophilic coating (Epoxy coating-Hydrophilic lacquer)</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35" name="文本框 34">
            <a:extLst>
              <a:ext uri="{FF2B5EF4-FFF2-40B4-BE49-F238E27FC236}">
                <a16:creationId xmlns:a16="http://schemas.microsoft.com/office/drawing/2014/main" id="{3B141EB2-BE23-5665-A1D8-CB4399D6F961}"/>
              </a:ext>
            </a:extLst>
          </p:cNvPr>
          <p:cNvSpPr txBox="1"/>
          <p:nvPr/>
        </p:nvSpPr>
        <p:spPr>
          <a:xfrm>
            <a:off x="6159499" y="1338301"/>
            <a:ext cx="4981245"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Fiber coating (</a:t>
            </a:r>
            <a:r>
              <a:rPr lang="en-HK" altLang="zh-CN" sz="1600" b="1" dirty="0">
                <a:latin typeface="Times New Roman" panose="02020603050405020304" pitchFamily="18" charset="0"/>
                <a:ea typeface="SimSun" panose="02010600030101010101" pitchFamily="2" charset="-122"/>
                <a:cs typeface="Times New Roman" panose="02020603050405020304" pitchFamily="18" charset="0"/>
              </a:rPr>
              <a:t>70% rayon + 30% polyester textile</a:t>
            </a: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1" dirty="0">
              <a:latin typeface="Times New Roman" panose="02020603050405020304" pitchFamily="18" charset="0"/>
              <a:ea typeface="SimSun"/>
              <a:cs typeface="Times New Roman" panose="02020603050405020304" pitchFamily="18" charset="0"/>
            </a:endParaRPr>
          </a:p>
        </p:txBody>
      </p:sp>
      <p:pic>
        <p:nvPicPr>
          <p:cNvPr id="7" name="图片 6">
            <a:extLst>
              <a:ext uri="{FF2B5EF4-FFF2-40B4-BE49-F238E27FC236}">
                <a16:creationId xmlns:a16="http://schemas.microsoft.com/office/drawing/2014/main" id="{AF6F6F8B-EB72-3852-61D0-0C80928DC1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16401" y="1767490"/>
            <a:ext cx="3658617" cy="2880000"/>
          </a:xfrm>
          <a:prstGeom prst="rect">
            <a:avLst/>
          </a:prstGeom>
        </p:spPr>
      </p:pic>
      <p:sp>
        <p:nvSpPr>
          <p:cNvPr id="37" name="文本框 36">
            <a:extLst>
              <a:ext uri="{FF2B5EF4-FFF2-40B4-BE49-F238E27FC236}">
                <a16:creationId xmlns:a16="http://schemas.microsoft.com/office/drawing/2014/main" id="{7449E9A1-15F7-7570-0F4E-0C7E61E37CDE}"/>
              </a:ext>
            </a:extLst>
          </p:cNvPr>
          <p:cNvSpPr txBox="1"/>
          <p:nvPr/>
        </p:nvSpPr>
        <p:spPr>
          <a:xfrm>
            <a:off x="4394478" y="3383568"/>
            <a:ext cx="1174048" cy="400110"/>
          </a:xfrm>
          <a:prstGeom prst="rect">
            <a:avLst/>
          </a:prstGeom>
          <a:noFill/>
        </p:spPr>
        <p:txBody>
          <a:bodyPr wrap="square">
            <a:spAutoFit/>
          </a:bodyPr>
          <a:lstStyle/>
          <a:p>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57.8°</a:t>
            </a:r>
            <a:endParaRPr lang="zh-CN" altLang="en-US" sz="2000" dirty="0">
              <a:latin typeface="Times New Roman"/>
              <a:ea typeface="SimSun"/>
              <a:cs typeface="Times New Roman"/>
            </a:endParaRPr>
          </a:p>
        </p:txBody>
      </p:sp>
      <p:sp>
        <p:nvSpPr>
          <p:cNvPr id="38" name="文本框 37">
            <a:extLst>
              <a:ext uri="{FF2B5EF4-FFF2-40B4-BE49-F238E27FC236}">
                <a16:creationId xmlns:a16="http://schemas.microsoft.com/office/drawing/2014/main" id="{B76911C3-9765-E347-726E-21D654A39527}"/>
              </a:ext>
            </a:extLst>
          </p:cNvPr>
          <p:cNvSpPr txBox="1"/>
          <p:nvPr/>
        </p:nvSpPr>
        <p:spPr>
          <a:xfrm>
            <a:off x="4393627" y="2413145"/>
            <a:ext cx="1174048" cy="400110"/>
          </a:xfrm>
          <a:prstGeom prst="rect">
            <a:avLst/>
          </a:prstGeom>
          <a:noFill/>
        </p:spPr>
        <p:txBody>
          <a:bodyPr wrap="square">
            <a:spAutoFit/>
          </a:bodyPr>
          <a:lstStyle/>
          <a:p>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77.8°</a:t>
            </a:r>
            <a:endParaRPr lang="zh-CN" altLang="en-US" sz="2000" dirty="0">
              <a:latin typeface="Times New Roman"/>
              <a:ea typeface="SimSun"/>
              <a:cs typeface="Times New Roman"/>
            </a:endParaRPr>
          </a:p>
        </p:txBody>
      </p:sp>
      <p:sp>
        <p:nvSpPr>
          <p:cNvPr id="39" name="箭头: 上 38">
            <a:extLst>
              <a:ext uri="{FF2B5EF4-FFF2-40B4-BE49-F238E27FC236}">
                <a16:creationId xmlns:a16="http://schemas.microsoft.com/office/drawing/2014/main" id="{FD2E61FC-80EB-D29D-1E6D-E4A1B5127912}"/>
              </a:ext>
            </a:extLst>
          </p:cNvPr>
          <p:cNvSpPr/>
          <p:nvPr/>
        </p:nvSpPr>
        <p:spPr bwMode="auto">
          <a:xfrm rot="10800000">
            <a:off x="4640139" y="2813255"/>
            <a:ext cx="168800" cy="545219"/>
          </a:xfrm>
          <a:prstGeom prst="up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sp>
        <p:nvSpPr>
          <p:cNvPr id="40" name="文本框 39">
            <a:extLst>
              <a:ext uri="{FF2B5EF4-FFF2-40B4-BE49-F238E27FC236}">
                <a16:creationId xmlns:a16="http://schemas.microsoft.com/office/drawing/2014/main" id="{F3C7B98F-7DCA-1477-5CAC-21E7AAAB40E1}"/>
              </a:ext>
            </a:extLst>
          </p:cNvPr>
          <p:cNvSpPr txBox="1"/>
          <p:nvPr/>
        </p:nvSpPr>
        <p:spPr>
          <a:xfrm>
            <a:off x="4041547" y="1820942"/>
            <a:ext cx="1622534" cy="369332"/>
          </a:xfrm>
          <a:prstGeom prst="rect">
            <a:avLst/>
          </a:prstGeom>
          <a:noFill/>
        </p:spPr>
        <p:txBody>
          <a:bodyPr wrap="square">
            <a:spAutoFit/>
          </a:bodyPr>
          <a:lstStyle/>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Contact angle</a:t>
            </a:r>
            <a:endParaRPr lang="zh-CN" altLang="en-US" sz="1800" dirty="0">
              <a:latin typeface="Times New Roman"/>
              <a:ea typeface="SimSun"/>
              <a:cs typeface="Times New Roman"/>
            </a:endParaRPr>
          </a:p>
        </p:txBody>
      </p:sp>
      <p:sp>
        <p:nvSpPr>
          <p:cNvPr id="41" name="文本框 40">
            <a:extLst>
              <a:ext uri="{FF2B5EF4-FFF2-40B4-BE49-F238E27FC236}">
                <a16:creationId xmlns:a16="http://schemas.microsoft.com/office/drawing/2014/main" id="{1F21BD32-7354-E7D0-3786-180D65BF865D}"/>
              </a:ext>
            </a:extLst>
          </p:cNvPr>
          <p:cNvSpPr txBox="1"/>
          <p:nvPr/>
        </p:nvSpPr>
        <p:spPr>
          <a:xfrm>
            <a:off x="10108631" y="1833227"/>
            <a:ext cx="1622534" cy="369332"/>
          </a:xfrm>
          <a:prstGeom prst="rect">
            <a:avLst/>
          </a:prstGeom>
          <a:noFill/>
        </p:spPr>
        <p:txBody>
          <a:bodyPr wrap="square">
            <a:spAutoFit/>
          </a:bodyPr>
          <a:lstStyle/>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Contact angle</a:t>
            </a:r>
            <a:endParaRPr lang="zh-CN" altLang="en-US" sz="1800"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2F6D8629-5047-366A-F737-676469A2D7C9}"/>
                  </a:ext>
                </a:extLst>
              </p:cNvPr>
              <p:cNvSpPr txBox="1"/>
              <p:nvPr/>
            </p:nvSpPr>
            <p:spPr>
              <a:xfrm>
                <a:off x="10442704" y="2146979"/>
                <a:ext cx="322203" cy="369332"/>
              </a:xfrm>
              <a:prstGeom prst="rect">
                <a:avLst/>
              </a:prstGeom>
              <a:noFill/>
            </p:spPr>
            <p:txBody>
              <a:bodyPr wrap="none" lIns="0" tIns="0" rIns="0" bIns="0" rtlCol="0">
                <a:spAutoFit/>
              </a:bodyPr>
              <a:lstStyle/>
              <a:p>
                <a:pPr/>
                <a14:m>
                  <m:oMathPara xmlns:m="http://schemas.openxmlformats.org/officeDocument/2006/math">
                    <m:oMath>
                      <m:r>
                        <a:rPr lang="zh-CN" altLang="en-US" i="1">
                          <a:latin typeface="Times New Roman" panose="02040503050406030204" pitchFamily="18" charset="0"/>
                          <a:ea typeface="SimSun"/>
                          <a:cs typeface="Times New Roman"/>
                        </a:rPr>
                        <m:t>≈</m:t>
                      </m:r>
                    </m:oMath>
                  </m:oMathPara>
                </a14:m>
                <a:endParaRPr lang="zh-CN" altLang="en-US" dirty="0">
                  <a:latin typeface="Times New Roman"/>
                  <a:ea typeface="SimSun"/>
                  <a:cs typeface="Times New Roman"/>
                </a:endParaRPr>
              </a:p>
            </p:txBody>
          </p:sp>
        </mc:Choice>
        <mc:Fallback xmlns="">
          <p:sp>
            <p:nvSpPr>
              <p:cNvPr id="42" name="文本框 41">
                <a:extLst>
                  <a:ext uri="{FF2B5EF4-FFF2-40B4-BE49-F238E27FC236}">
                    <a16:creationId xmlns:a16="http://schemas.microsoft.com/office/drawing/2014/main" id="{2F6D8629-5047-366A-F737-676469A2D7C9}"/>
                  </a:ext>
                </a:extLst>
              </p:cNvPr>
              <p:cNvSpPr txBox="1">
                <a:spLocks noRot="1" noChangeAspect="1" noMove="1" noResize="1" noEditPoints="1" noAdjustHandles="1" noChangeArrowheads="1" noChangeShapeType="1" noTextEdit="1"/>
              </p:cNvSpPr>
              <p:nvPr/>
            </p:nvSpPr>
            <p:spPr>
              <a:xfrm>
                <a:off x="10442704" y="2146979"/>
                <a:ext cx="322203" cy="369332"/>
              </a:xfrm>
              <a:prstGeom prst="rect">
                <a:avLst/>
              </a:prstGeom>
              <a:blipFill>
                <a:blip r:embed="rId9"/>
                <a:stretch>
                  <a:fillRect l="-5660" r="-7547"/>
                </a:stretch>
              </a:blipFill>
            </p:spPr>
            <p:txBody>
              <a:bodyPr/>
              <a:lstStyle/>
              <a:p>
                <a:r>
                  <a:rPr lang="en-US">
                    <a:noFill/>
                    <a:latin typeface="Times New Roman"/>
                    <a:ea typeface="SimSun"/>
                    <a:cs typeface="Times New Roman"/>
                  </a:rPr>
                  <a:t> </a:t>
                </a:r>
              </a:p>
            </p:txBody>
          </p:sp>
        </mc:Fallback>
      </mc:AlternateContent>
      <p:sp>
        <p:nvSpPr>
          <p:cNvPr id="44" name="文本框 43">
            <a:extLst>
              <a:ext uri="{FF2B5EF4-FFF2-40B4-BE49-F238E27FC236}">
                <a16:creationId xmlns:a16="http://schemas.microsoft.com/office/drawing/2014/main" id="{C4BF3078-89FA-E744-2B24-A7E46432A287}"/>
              </a:ext>
            </a:extLst>
          </p:cNvPr>
          <p:cNvSpPr txBox="1"/>
          <p:nvPr/>
        </p:nvSpPr>
        <p:spPr>
          <a:xfrm>
            <a:off x="10780218" y="2129385"/>
            <a:ext cx="710170" cy="461665"/>
          </a:xfrm>
          <a:prstGeom prst="rect">
            <a:avLst/>
          </a:prstGeom>
          <a:noFill/>
        </p:spPr>
        <p:txBody>
          <a:bodyPr wrap="square">
            <a:spAutoFit/>
          </a:bodyPr>
          <a:lstStyle/>
          <a:p>
            <a:r>
              <a:rPr lang="en-US" altLang="zh-CN" b="1" dirty="0">
                <a:latin typeface="Times New Roman" panose="02020603050405020304" pitchFamily="18" charset="0"/>
                <a:ea typeface="SimSun" panose="02010600030101010101" pitchFamily="2" charset="-122"/>
                <a:cs typeface="Times New Roman" panose="02020603050405020304" pitchFamily="18" charset="0"/>
              </a:rPr>
              <a:t>0°</a:t>
            </a:r>
            <a:endParaRPr lang="zh-CN" altLang="en-US" dirty="0">
              <a:latin typeface="Times New Roman"/>
              <a:ea typeface="SimSun"/>
              <a:cs typeface="Times New Roman"/>
            </a:endParaRPr>
          </a:p>
        </p:txBody>
      </p:sp>
      <p:cxnSp>
        <p:nvCxnSpPr>
          <p:cNvPr id="45" name="直接连接符 44">
            <a:extLst>
              <a:ext uri="{FF2B5EF4-FFF2-40B4-BE49-F238E27FC236}">
                <a16:creationId xmlns:a16="http://schemas.microsoft.com/office/drawing/2014/main" id="{8CF17AC2-6B84-8E4A-5963-65BD2A58164F}"/>
              </a:ext>
            </a:extLst>
          </p:cNvPr>
          <p:cNvCxnSpPr>
            <a:cxnSpLocks/>
          </p:cNvCxnSpPr>
          <p:nvPr/>
        </p:nvCxnSpPr>
        <p:spPr bwMode="auto">
          <a:xfrm>
            <a:off x="5870855" y="1326028"/>
            <a:ext cx="0" cy="5341472"/>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0" name="文本框 49">
            <a:extLst>
              <a:ext uri="{FF2B5EF4-FFF2-40B4-BE49-F238E27FC236}">
                <a16:creationId xmlns:a16="http://schemas.microsoft.com/office/drawing/2014/main" id="{1C365F99-A87E-A483-7595-A9C235F024AE}"/>
              </a:ext>
            </a:extLst>
          </p:cNvPr>
          <p:cNvSpPr txBox="1"/>
          <p:nvPr/>
        </p:nvSpPr>
        <p:spPr>
          <a:xfrm>
            <a:off x="1009056" y="6625523"/>
            <a:ext cx="4026032" cy="276999"/>
          </a:xfrm>
          <a:prstGeom prst="rect">
            <a:avLst/>
          </a:prstGeom>
          <a:noFill/>
        </p:spPr>
        <p:txBody>
          <a:bodyPr wrap="square">
            <a:spAutoFit/>
          </a:bodyPr>
          <a:lstStyle/>
          <a:p>
            <a:r>
              <a:rPr lang="en-US" altLang="zh-CN" sz="1200" dirty="0">
                <a:latin typeface="Times New Roman"/>
                <a:ea typeface="SimSun"/>
                <a:cs typeface="Times New Roman"/>
              </a:rPr>
              <a:t> </a:t>
            </a:r>
            <a:r>
              <a:rPr lang="en-US" altLang="zh-CN" sz="1200"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1200" dirty="0">
              <a:latin typeface="Times New Roman" panose="02020603050405020304" pitchFamily="18" charset="0"/>
              <a:ea typeface="SimSun"/>
              <a:cs typeface="Times New Roman" panose="02020603050405020304" pitchFamily="18" charset="0"/>
            </a:endParaRPr>
          </a:p>
        </p:txBody>
      </p:sp>
      <p:sp>
        <p:nvSpPr>
          <p:cNvPr id="51" name="文本框 50">
            <a:extLst>
              <a:ext uri="{FF2B5EF4-FFF2-40B4-BE49-F238E27FC236}">
                <a16:creationId xmlns:a16="http://schemas.microsoft.com/office/drawing/2014/main" id="{E8F10DAA-1B87-26D8-3295-90220589847F}"/>
              </a:ext>
            </a:extLst>
          </p:cNvPr>
          <p:cNvSpPr txBox="1"/>
          <p:nvPr/>
        </p:nvSpPr>
        <p:spPr>
          <a:xfrm>
            <a:off x="6287838" y="6630999"/>
            <a:ext cx="4026032" cy="276999"/>
          </a:xfrm>
          <a:prstGeom prst="rect">
            <a:avLst/>
          </a:prstGeom>
          <a:noFill/>
        </p:spPr>
        <p:txBody>
          <a:bodyPr wrap="square">
            <a:spAutoFit/>
          </a:bodyPr>
          <a:lstStyle/>
          <a:p>
            <a:r>
              <a:rPr lang="en-US" altLang="zh-CN" sz="1200" dirty="0">
                <a:latin typeface="Times New Roman"/>
                <a:ea typeface="SimSun"/>
                <a:cs typeface="Times New Roman"/>
              </a:rPr>
              <a:t> </a:t>
            </a:r>
            <a:r>
              <a:rPr lang="en-US" altLang="zh-CN" sz="1200"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1200" dirty="0">
              <a:latin typeface="Times New Roman" panose="02020603050405020304" pitchFamily="18" charset="0"/>
              <a:ea typeface="SimSun"/>
              <a:cs typeface="Times New Roman" panose="02020603050405020304" pitchFamily="18" charset="0"/>
            </a:endParaRPr>
          </a:p>
        </p:txBody>
      </p:sp>
      <p:sp>
        <p:nvSpPr>
          <p:cNvPr id="36" name="文本框 35">
            <a:extLst>
              <a:ext uri="{FF2B5EF4-FFF2-40B4-BE49-F238E27FC236}">
                <a16:creationId xmlns:a16="http://schemas.microsoft.com/office/drawing/2014/main" id="{010AF22C-C85B-4839-B91D-C8BECB1E531A}"/>
              </a:ext>
            </a:extLst>
          </p:cNvPr>
          <p:cNvSpPr txBox="1"/>
          <p:nvPr/>
        </p:nvSpPr>
        <p:spPr>
          <a:xfrm>
            <a:off x="10442703" y="2635685"/>
            <a:ext cx="1622534" cy="369332"/>
          </a:xfrm>
          <a:prstGeom prst="rect">
            <a:avLst/>
          </a:prstGeom>
          <a:noFill/>
        </p:spPr>
        <p:txBody>
          <a:bodyPr wrap="square">
            <a:spAutoFit/>
          </a:bodyPr>
          <a:lstStyle/>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diffusion</a:t>
            </a:r>
            <a:endParaRPr lang="zh-CN" altLang="en-US" sz="1800" dirty="0">
              <a:latin typeface="Times New Roman"/>
              <a:ea typeface="SimSun"/>
              <a:cs typeface="Times New Roman"/>
            </a:endParaRPr>
          </a:p>
        </p:txBody>
      </p:sp>
      <p:sp>
        <p:nvSpPr>
          <p:cNvPr id="2" name="灯片编号占位符 1">
            <a:extLst>
              <a:ext uri="{FF2B5EF4-FFF2-40B4-BE49-F238E27FC236}">
                <a16:creationId xmlns:a16="http://schemas.microsoft.com/office/drawing/2014/main" id="{D382A779-A490-47CF-8456-61598D49840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53</a:t>
            </a:fld>
            <a:endParaRPr lang="en-US" altLang="zh-CN">
              <a:latin typeface="Times New Roman"/>
              <a:ea typeface="SimSun"/>
              <a:cs typeface="Times New Roman"/>
            </a:endParaRPr>
          </a:p>
        </p:txBody>
      </p:sp>
      <p:sp>
        <p:nvSpPr>
          <p:cNvPr id="12302"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制冷性能强化措施</a:t>
            </a:r>
          </a:p>
        </p:txBody>
      </p:sp>
      <p:sp>
        <p:nvSpPr>
          <p:cNvPr id="12303"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6.4 Approaches for cooling performance enhancement</a:t>
            </a:r>
          </a:p>
        </p:txBody>
      </p:sp>
      <p:sp>
        <p:nvSpPr>
          <p:cNvPr id="12304"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12305"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84719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2" name="Rectangle 9">
            <a:extLst>
              <a:ext uri="{FF2B5EF4-FFF2-40B4-BE49-F238E27FC236}">
                <a16:creationId xmlns:a16="http://schemas.microsoft.com/office/drawing/2014/main" id="{9A2CD8E0-562C-7D40-5D09-97609FC84490}"/>
              </a:ext>
            </a:extLst>
          </p:cNvPr>
          <p:cNvSpPr>
            <a:spLocks noChangeArrowheads="1"/>
          </p:cNvSpPr>
          <p:nvPr/>
        </p:nvSpPr>
        <p:spPr bwMode="auto">
          <a:xfrm>
            <a:off x="4178649" y="8862983"/>
            <a:ext cx="38347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Fig. 11. The water film distribution of the four nozzle configurations</a:t>
            </a:r>
            <a:endParaRPr lang="en-US" altLang="zh-CN" sz="1800">
              <a:latin typeface="Times New Roman" panose="020B0604020202020204" pitchFamily="34" charset="0"/>
              <a:ea typeface="SimSun"/>
              <a:cs typeface="Times New Roman"/>
            </a:endParaRPr>
          </a:p>
        </p:txBody>
      </p:sp>
      <p:sp>
        <p:nvSpPr>
          <p:cNvPr id="13" name="Rectangle 16">
            <a:extLst>
              <a:ext uri="{FF2B5EF4-FFF2-40B4-BE49-F238E27FC236}">
                <a16:creationId xmlns:a16="http://schemas.microsoft.com/office/drawing/2014/main" id="{7079ADA1-6077-D0F4-96B2-9B52E3482C9B}"/>
              </a:ext>
            </a:extLst>
          </p:cNvPr>
          <p:cNvSpPr>
            <a:spLocks noChangeArrowheads="1"/>
          </p:cNvSpPr>
          <p:nvPr/>
        </p:nvSpPr>
        <p:spPr bwMode="auto">
          <a:xfrm>
            <a:off x="6285225" y="3544544"/>
            <a:ext cx="922047"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6" name="Rectangle 19">
            <a:extLst>
              <a:ext uri="{FF2B5EF4-FFF2-40B4-BE49-F238E27FC236}">
                <a16:creationId xmlns:a16="http://schemas.microsoft.com/office/drawing/2014/main" id="{5E372CFD-AED2-99D9-953E-AC44B6632B41}"/>
              </a:ext>
            </a:extLst>
          </p:cNvPr>
          <p:cNvSpPr>
            <a:spLocks noChangeArrowheads="1"/>
          </p:cNvSpPr>
          <p:nvPr/>
        </p:nvSpPr>
        <p:spPr bwMode="auto">
          <a:xfrm>
            <a:off x="4909848" y="10277975"/>
            <a:ext cx="36728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a:t>
            </a:r>
            <a:endParaRPr lang="en-US" altLang="zh-CN" sz="400">
              <a:latin typeface="Times New Roman"/>
              <a:ea typeface="SimSun"/>
              <a:cs typeface="Times New Roman"/>
            </a:endParaRPr>
          </a:p>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5" name="Rectangle 2">
            <a:extLst>
              <a:ext uri="{FF2B5EF4-FFF2-40B4-BE49-F238E27FC236}">
                <a16:creationId xmlns:a16="http://schemas.microsoft.com/office/drawing/2014/main" id="{D3F246CD-5242-42C5-7BAF-F3BD7108C82B}"/>
              </a:ext>
            </a:extLst>
          </p:cNvPr>
          <p:cNvSpPr>
            <a:spLocks noChangeArrowheads="1"/>
          </p:cNvSpPr>
          <p:nvPr/>
        </p:nvSpPr>
        <p:spPr bwMode="auto">
          <a:xfrm>
            <a:off x="3177363" y="178847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1" name="Rectangle 7">
            <a:extLst>
              <a:ext uri="{FF2B5EF4-FFF2-40B4-BE49-F238E27FC236}">
                <a16:creationId xmlns:a16="http://schemas.microsoft.com/office/drawing/2014/main" id="{046FEBD5-1092-2CC6-EEFD-A1D95DA62367}"/>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25" name="Rectangle 15">
            <a:extLst>
              <a:ext uri="{FF2B5EF4-FFF2-40B4-BE49-F238E27FC236}">
                <a16:creationId xmlns:a16="http://schemas.microsoft.com/office/drawing/2014/main" id="{3C2848A0-313A-CE4D-13D5-B2C2451C03AF}"/>
              </a:ext>
            </a:extLst>
          </p:cNvPr>
          <p:cNvSpPr>
            <a:spLocks noChangeArrowheads="1"/>
          </p:cNvSpPr>
          <p:nvPr/>
        </p:nvSpPr>
        <p:spPr bwMode="auto">
          <a:xfrm>
            <a:off x="6091947" y="2455233"/>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8" name="文本框 7">
            <a:extLst>
              <a:ext uri="{FF2B5EF4-FFF2-40B4-BE49-F238E27FC236}">
                <a16:creationId xmlns:a16="http://schemas.microsoft.com/office/drawing/2014/main" id="{F18CDE3D-6B05-B651-E8E8-5FA790D2CF83}"/>
              </a:ext>
            </a:extLst>
          </p:cNvPr>
          <p:cNvSpPr txBox="1"/>
          <p:nvPr/>
        </p:nvSpPr>
        <p:spPr>
          <a:xfrm>
            <a:off x="998525" y="1324026"/>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Effect on coverage ratio and contact angle</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22" name="文本框 21">
            <a:extLst>
              <a:ext uri="{FF2B5EF4-FFF2-40B4-BE49-F238E27FC236}">
                <a16:creationId xmlns:a16="http://schemas.microsoft.com/office/drawing/2014/main" id="{105313E4-50FC-FB4C-44AC-873064AFEB0E}"/>
              </a:ext>
            </a:extLst>
          </p:cNvPr>
          <p:cNvSpPr txBox="1"/>
          <p:nvPr/>
        </p:nvSpPr>
        <p:spPr>
          <a:xfrm>
            <a:off x="5886406" y="1343997"/>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600" b="1" dirty="0">
                <a:latin typeface="Times New Roman" panose="02020603050405020304" pitchFamily="18" charset="0"/>
                <a:ea typeface="SimSun" panose="02010600030101010101" pitchFamily="2" charset="-122"/>
                <a:cs typeface="Times New Roman" panose="02020603050405020304" pitchFamily="18" charset="0"/>
              </a:rPr>
              <a:t>Comparison of the three performance indexes</a:t>
            </a:r>
            <a:endParaRPr lang="zh-CN" altLang="en-US" sz="1600" b="1" dirty="0">
              <a:latin typeface="Times New Roman" panose="02020603050405020304" pitchFamily="18" charset="0"/>
              <a:ea typeface="SimSun"/>
              <a:cs typeface="Times New Roman" panose="02020603050405020304" pitchFamily="18" charset="0"/>
            </a:endParaRPr>
          </a:p>
        </p:txBody>
      </p:sp>
      <p:sp>
        <p:nvSpPr>
          <p:cNvPr id="9" name="灯片编号占位符 8">
            <a:extLst>
              <a:ext uri="{FF2B5EF4-FFF2-40B4-BE49-F238E27FC236}">
                <a16:creationId xmlns:a16="http://schemas.microsoft.com/office/drawing/2014/main" id="{E7E9F06F-6E16-48F3-8603-287868FEF054}"/>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54</a:t>
            </a:fld>
            <a:endParaRPr lang="en-US" altLang="zh-CN">
              <a:latin typeface="Times New Roman"/>
              <a:ea typeface="SimSun"/>
              <a:cs typeface="Times New Roman"/>
            </a:endParaRPr>
          </a:p>
        </p:txBody>
      </p:sp>
      <p:sp>
        <p:nvSpPr>
          <p:cNvPr id="14" name="Rectangle 443">
            <a:extLst>
              <a:ext uri="{FF2B5EF4-FFF2-40B4-BE49-F238E27FC236}">
                <a16:creationId xmlns:a16="http://schemas.microsoft.com/office/drawing/2014/main" id="{EA3FDF09-59A2-4EAD-8C3A-D15ACC545777}"/>
              </a:ext>
            </a:extLst>
          </p:cNvPr>
          <p:cNvSpPr>
            <a:spLocks noChangeArrowheads="1"/>
          </p:cNvSpPr>
          <p:nvPr/>
        </p:nvSpPr>
        <p:spPr bwMode="auto">
          <a:xfrm>
            <a:off x="1506104" y="169211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0" name="对象 19">
            <a:extLst>
              <a:ext uri="{FF2B5EF4-FFF2-40B4-BE49-F238E27FC236}">
                <a16:creationId xmlns:a16="http://schemas.microsoft.com/office/drawing/2014/main" id="{75421DBD-6E01-4D05-A197-5DEE6CA9ED28}"/>
              </a:ext>
            </a:extLst>
          </p:cNvPr>
          <p:cNvGraphicFramePr>
            <a:graphicFrameLocks noChangeAspect="1"/>
          </p:cNvGraphicFramePr>
          <p:nvPr>
            <p:extLst>
              <p:ext uri="{D42A27DB-BD31-4B8C-83A1-F6EECF244321}">
                <p14:modId xmlns:p14="http://schemas.microsoft.com/office/powerpoint/2010/main" val="3336905763"/>
              </p:ext>
            </p:extLst>
          </p:nvPr>
        </p:nvGraphicFramePr>
        <p:xfrm>
          <a:off x="1514058" y="1708062"/>
          <a:ext cx="4194558" cy="3032013"/>
        </p:xfrm>
        <a:graphic>
          <a:graphicData uri="http://schemas.openxmlformats.org/presentationml/2006/ole">
            <mc:AlternateContent xmlns:mc="http://schemas.openxmlformats.org/markup-compatibility/2006">
              <mc:Choice xmlns:v="urn:schemas-microsoft-com:vml" Requires="v">
                <p:oleObj name="Graph" r:id="rId3" imgW="6940973" imgH="5004486" progId="Origin95.Graph">
                  <p:embed/>
                </p:oleObj>
              </mc:Choice>
              <mc:Fallback>
                <p:oleObj name="Graph" r:id="rId3" imgW="6940973" imgH="5004486" progId="Origin95.Graph">
                  <p:embed/>
                  <p:pic>
                    <p:nvPicPr>
                      <p:cNvPr id="0" name="Object 4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405" y="1697537"/>
                        <a:ext cx="3187864" cy="2304330"/>
                      </a:xfrm>
                      <a:prstGeom prst="rect">
                        <a:avLst/>
                      </a:prstGeom>
                      <a:noFill/>
                    </p:spPr>
                  </p:pic>
                </p:oleObj>
              </mc:Fallback>
            </mc:AlternateContent>
          </a:graphicData>
        </a:graphic>
      </p:graphicFrame>
      <p:sp>
        <p:nvSpPr>
          <p:cNvPr id="23" name="Rectangle 445">
            <a:extLst>
              <a:ext uri="{FF2B5EF4-FFF2-40B4-BE49-F238E27FC236}">
                <a16:creationId xmlns:a16="http://schemas.microsoft.com/office/drawing/2014/main" id="{4DC83E49-3467-4F97-A462-DF65394B886E}"/>
              </a:ext>
            </a:extLst>
          </p:cNvPr>
          <p:cNvSpPr>
            <a:spLocks noChangeArrowheads="1"/>
          </p:cNvSpPr>
          <p:nvPr/>
        </p:nvSpPr>
        <p:spPr bwMode="auto">
          <a:xfrm>
            <a:off x="6483384" y="17884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4" name="对象 23">
            <a:extLst>
              <a:ext uri="{FF2B5EF4-FFF2-40B4-BE49-F238E27FC236}">
                <a16:creationId xmlns:a16="http://schemas.microsoft.com/office/drawing/2014/main" id="{D9C79B53-37D9-4791-8735-1C77A46A907A}"/>
              </a:ext>
            </a:extLst>
          </p:cNvPr>
          <p:cNvGraphicFramePr>
            <a:graphicFrameLocks noChangeAspect="1"/>
          </p:cNvGraphicFramePr>
          <p:nvPr>
            <p:extLst>
              <p:ext uri="{D42A27DB-BD31-4B8C-83A1-F6EECF244321}">
                <p14:modId xmlns:p14="http://schemas.microsoft.com/office/powerpoint/2010/main" val="2327258298"/>
              </p:ext>
            </p:extLst>
          </p:nvPr>
        </p:nvGraphicFramePr>
        <p:xfrm>
          <a:off x="6355250" y="1692111"/>
          <a:ext cx="4014154" cy="3018681"/>
        </p:xfrm>
        <a:graphic>
          <a:graphicData uri="http://schemas.openxmlformats.org/presentationml/2006/ole">
            <mc:AlternateContent xmlns:mc="http://schemas.openxmlformats.org/markup-compatibility/2006">
              <mc:Choice xmlns:v="urn:schemas-microsoft-com:vml" Requires="v">
                <p:oleObj name="Graph" r:id="rId5" imgW="6662246" imgH="5004486" progId="Origin95.Graph">
                  <p:embed/>
                </p:oleObj>
              </mc:Choice>
              <mc:Fallback>
                <p:oleObj name="Graph" r:id="rId5" imgW="6662246" imgH="5004486" progId="Origin95.Graph">
                  <p:embed/>
                  <p:pic>
                    <p:nvPicPr>
                      <p:cNvPr id="0" name="Object 4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6948" y="1685414"/>
                        <a:ext cx="3050757" cy="2294198"/>
                      </a:xfrm>
                      <a:prstGeom prst="rect">
                        <a:avLst/>
                      </a:prstGeom>
                      <a:noFill/>
                    </p:spPr>
                  </p:pic>
                </p:oleObj>
              </mc:Fallback>
            </mc:AlternateContent>
          </a:graphicData>
        </a:graphic>
      </p:graphicFrame>
      <p:sp>
        <p:nvSpPr>
          <p:cNvPr id="32"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性能强化效果评价</a:t>
            </a:r>
          </a:p>
        </p:txBody>
      </p:sp>
      <p:sp>
        <p:nvSpPr>
          <p:cNvPr id="33"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6.5 Assessment of the degree of enhancement</a:t>
            </a:r>
          </a:p>
        </p:txBody>
      </p:sp>
      <p:sp>
        <p:nvSpPr>
          <p:cNvPr id="34"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6. Performance analysis and nozzle setting optimization of IEC for energy recovery in data centers</a:t>
            </a:r>
          </a:p>
        </p:txBody>
      </p:sp>
      <p:cxnSp>
        <p:nvCxnSpPr>
          <p:cNvPr id="35"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6" name="文本框 25">
            <a:extLst>
              <a:ext uri="{FF2B5EF4-FFF2-40B4-BE49-F238E27FC236}">
                <a16:creationId xmlns:a16="http://schemas.microsoft.com/office/drawing/2014/main" id="{AABEC4E5-8661-85F7-8E76-3E526B969F0B}"/>
              </a:ext>
            </a:extLst>
          </p:cNvPr>
          <p:cNvSpPr txBox="1"/>
          <p:nvPr/>
        </p:nvSpPr>
        <p:spPr>
          <a:xfrm>
            <a:off x="1364380" y="3931920"/>
            <a:ext cx="5201791" cy="508762"/>
          </a:xfrm>
          <a:prstGeom prst="rect">
            <a:avLst/>
          </a:prstGeom>
          <a:noFill/>
          <a:ln>
            <a:noFill/>
          </a:ln>
        </p:spPr>
        <p:txBody>
          <a:bodyPr wrap="square" lIns="0" rIns="0" tIns="0" bIns="0">
            <a:noAutofit/>
          </a:bodyPr>
          <a:lstStyle/>
          <a:p>
            <a:pPr marL="0" indent="0" algn="l">
              <a:lnSpc>
                <a:spcPct val="108000"/>
              </a:lnSpc>
              <a:buNone/>
            </a:pP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Both the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coating increase the wetting ratio by decreasing the contact angle</a:t>
            </a:r>
          </a:p>
        </p:txBody>
      </p:sp>
      <p:sp>
        <p:nvSpPr>
          <p:cNvPr id="37" name="TextBox 1"/>
          <p:cNvSpPr txBox="1"/>
          <p:nvPr/>
        </p:nvSpPr>
        <p:spPr>
          <a:xfrm>
            <a:off x="6895354" y="3945635"/>
            <a:ext cx="3924158" cy="508761"/>
          </a:xfrm>
          <a:prstGeom prst="rect">
            <a:avLst/>
          </a:prstGeom>
          <a:noFill/>
        </p:spPr>
        <p:txBody>
          <a:bodyPr wrap="square" lIns="0" rIns="0" tIns="0" bIns="0">
            <a:spAutoFit/>
          </a:bodyPr>
          <a:lstStyle/>
          <a:p>
            <a:pPr>
              <a:lnSpc>
                <a:spcPct val="105000"/>
              </a:lnSpc>
              <a:spcAft>
                <a:spcPts val="0"/>
              </a:spcAft>
            </a:pPr>
            <a:r>
              <a:rPr sz="1450" b="0">
                <a:solidFill>
                  <a:srgbClr val="303030"/>
                </a:solidFill>
                <a:latin typeface="Times New Roman"/>
                <a:ea typeface="SimSun"/>
                <a:cs typeface="Times New Roman"/>
              </a:rPr>
              <a:t>亲水涂层与纤维涂层均可通过减小接触角提高润湿率。</a:t>
            </a:r>
          </a:p>
        </p:txBody>
      </p:sp>
      <p:sp>
        <p:nvSpPr>
          <p:cNvPr id="38" name="文本框 25">
            <a:extLst>
              <a:ext uri="{FF2B5EF4-FFF2-40B4-BE49-F238E27FC236}">
                <a16:creationId xmlns:a16="http://schemas.microsoft.com/office/drawing/2014/main" id="{AABEC4E5-8661-85F7-8E76-3E526B969F0B}"/>
              </a:ext>
            </a:extLst>
          </p:cNvPr>
          <p:cNvSpPr txBox="1"/>
          <p:nvPr/>
        </p:nvSpPr>
        <p:spPr>
          <a:xfrm>
            <a:off x="1364380" y="4440682"/>
            <a:ext cx="5201791" cy="718693"/>
          </a:xfrm>
          <a:prstGeom prst="rect">
            <a:avLst/>
          </a:prstGeom>
          <a:noFill/>
          <a:ln>
            <a:noFill/>
          </a:ln>
        </p:spPr>
        <p:txBody>
          <a:bodyPr wrap="square" lIns="0" rIns="0" tIns="0" bIns="0">
            <a:noAutofit/>
          </a:bodyPr>
          <a:lstStyle/>
          <a:p>
            <a:pPr marL="0" indent="0" algn="l">
              <a:lnSpc>
                <a:spcPct val="108000"/>
              </a:lnSpc>
              <a:buNone/>
            </a:pP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Besides, the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coating also increases the diffusion rate of the water film compared to the hydrophilic one, thus achieving a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wetting ratio </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close to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which is regarded as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complete wetting</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39" name="TextBox 1"/>
          <p:cNvSpPr txBox="1"/>
          <p:nvPr/>
        </p:nvSpPr>
        <p:spPr>
          <a:xfrm>
            <a:off x="6895354" y="4454397"/>
            <a:ext cx="3924158" cy="718693"/>
          </a:xfrm>
          <a:prstGeom prst="rect">
            <a:avLst/>
          </a:prstGeom>
          <a:noFill/>
        </p:spPr>
        <p:txBody>
          <a:bodyPr wrap="square" lIns="0" rIns="0" tIns="0" bIns="0">
            <a:spAutoFit/>
          </a:bodyPr>
          <a:lstStyle/>
          <a:p>
            <a:pPr>
              <a:lnSpc>
                <a:spcPct val="105000"/>
              </a:lnSpc>
              <a:spcAft>
                <a:spcPts val="0"/>
              </a:spcAft>
            </a:pPr>
            <a:r>
              <a:rPr sz="1450" b="0">
                <a:solidFill>
                  <a:srgbClr val="303030"/>
                </a:solidFill>
                <a:latin typeface="Times New Roman"/>
                <a:ea typeface="SimSun"/>
                <a:cs typeface="Times New Roman"/>
              </a:rPr>
              <a:t>纤维涂层还能提高水膜扩散速率，使润湿率接近 1，达到近乎完全润湿。</a:t>
            </a:r>
          </a:p>
        </p:txBody>
      </p:sp>
      <p:sp>
        <p:nvSpPr>
          <p:cNvPr id="40" name="文本框 25">
            <a:extLst>
              <a:ext uri="{FF2B5EF4-FFF2-40B4-BE49-F238E27FC236}">
                <a16:creationId xmlns:a16="http://schemas.microsoft.com/office/drawing/2014/main" id="{AABEC4E5-8661-85F7-8E76-3E526B969F0B}"/>
              </a:ext>
            </a:extLst>
          </p:cNvPr>
          <p:cNvSpPr txBox="1"/>
          <p:nvPr/>
        </p:nvSpPr>
        <p:spPr>
          <a:xfrm>
            <a:off x="1364380" y="5159375"/>
            <a:ext cx="5201791" cy="718693"/>
          </a:xfrm>
          <a:prstGeom prst="rect">
            <a:avLst/>
          </a:prstGeom>
          <a:noFill/>
          <a:ln>
            <a:noFill/>
          </a:ln>
        </p:spPr>
        <p:txBody>
          <a:bodyPr wrap="square" lIns="0" rIns="0" tIns="0" bIns="0">
            <a:noAutofit/>
          </a:bodyPr>
          <a:lstStyle/>
          <a:p>
            <a:pPr marL="0" indent="0" algn="l">
              <a:lnSpc>
                <a:spcPct val="108000"/>
              </a:lnSpc>
              <a:buNone/>
            </a:pP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wet-bulb efficiency </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of the IEC was optimized for both the increased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coating on the plate surface, by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5.7%</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14.5%</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 respectively.</a:t>
            </a:r>
          </a:p>
        </p:txBody>
      </p:sp>
      <p:sp>
        <p:nvSpPr>
          <p:cNvPr id="41" name="TextBox 1"/>
          <p:cNvSpPr txBox="1"/>
          <p:nvPr/>
        </p:nvSpPr>
        <p:spPr>
          <a:xfrm>
            <a:off x="6895354" y="5173090"/>
            <a:ext cx="3924158" cy="718693"/>
          </a:xfrm>
          <a:prstGeom prst="rect">
            <a:avLst/>
          </a:prstGeom>
          <a:noFill/>
        </p:spPr>
        <p:txBody>
          <a:bodyPr wrap="square" lIns="0" rIns="0" tIns="0" bIns="0">
            <a:spAutoFit/>
          </a:bodyPr>
          <a:lstStyle/>
          <a:p>
            <a:pPr>
              <a:lnSpc>
                <a:spcPct val="105000"/>
              </a:lnSpc>
              <a:spcAft>
                <a:spcPts val="0"/>
              </a:spcAft>
            </a:pPr>
            <a:r>
              <a:rPr sz="1450" b="0">
                <a:solidFill>
                  <a:srgbClr val="303030"/>
                </a:solidFill>
                <a:latin typeface="Times New Roman"/>
                <a:ea typeface="SimSun"/>
                <a:cs typeface="Times New Roman"/>
              </a:rPr>
              <a:t>亲水涂层与纤维涂层分别使湿球效率提高 5.7% 和 14.5%。</a:t>
            </a:r>
          </a:p>
        </p:txBody>
      </p:sp>
      <p:sp>
        <p:nvSpPr>
          <p:cNvPr id="42" name="文本框 25">
            <a:extLst>
              <a:ext uri="{FF2B5EF4-FFF2-40B4-BE49-F238E27FC236}">
                <a16:creationId xmlns:a16="http://schemas.microsoft.com/office/drawing/2014/main" id="{AABEC4E5-8661-85F7-8E76-3E526B969F0B}"/>
              </a:ext>
            </a:extLst>
          </p:cNvPr>
          <p:cNvSpPr txBox="1"/>
          <p:nvPr/>
        </p:nvSpPr>
        <p:spPr>
          <a:xfrm>
            <a:off x="1364380" y="5878068"/>
            <a:ext cx="5201791" cy="508762"/>
          </a:xfrm>
          <a:prstGeom prst="rect">
            <a:avLst/>
          </a:prstGeom>
          <a:noFill/>
          <a:ln>
            <a:noFill/>
          </a:ln>
        </p:spPr>
        <p:txBody>
          <a:bodyPr wrap="square" lIns="0" rIns="0" tIns="0" bIns="0">
            <a:noAutofit/>
          </a:bodyPr>
          <a:lstStyle/>
          <a:p>
            <a:pPr marL="0" indent="0" algn="l">
              <a:lnSpc>
                <a:spcPct val="108000"/>
              </a:lnSpc>
              <a:buNone/>
            </a:pP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The energy saving by pump resulting in a further increase for fiber coating in the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COP </a:t>
            </a:r>
            <a:r>
              <a:rPr lang="en-US" altLang="zh-CN" sz="1450" dirty="0">
                <a:latin typeface="Times New Roman" panose="02020603050405020304" pitchFamily="18" charset="0"/>
                <a:ea typeface="SimSun" panose="02010600030101010101" pitchFamily="2" charset="-122"/>
                <a:cs typeface="Times New Roman" panose="02020603050405020304" pitchFamily="18" charset="0"/>
              </a:rPr>
              <a:t>value of </a:t>
            </a:r>
            <a:r>
              <a:rPr lang="en-US" altLang="zh-CN" sz="14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16.1%.</a:t>
            </a:r>
          </a:p>
        </p:txBody>
      </p:sp>
      <p:sp>
        <p:nvSpPr>
          <p:cNvPr id="43" name="TextBox 1"/>
          <p:cNvSpPr txBox="1"/>
          <p:nvPr/>
        </p:nvSpPr>
        <p:spPr>
          <a:xfrm>
            <a:off x="6895354" y="5891783"/>
            <a:ext cx="3924158" cy="508761"/>
          </a:xfrm>
          <a:prstGeom prst="rect">
            <a:avLst/>
          </a:prstGeom>
          <a:noFill/>
        </p:spPr>
        <p:txBody>
          <a:bodyPr wrap="square" lIns="0" rIns="0" tIns="0" bIns="0">
            <a:spAutoFit/>
          </a:bodyPr>
          <a:lstStyle/>
          <a:p>
            <a:pPr>
              <a:lnSpc>
                <a:spcPct val="105000"/>
              </a:lnSpc>
              <a:spcAft>
                <a:spcPts val="0"/>
              </a:spcAft>
            </a:pPr>
            <a:r>
              <a:rPr sz="1450" b="0">
                <a:solidFill>
                  <a:srgbClr val="303030"/>
                </a:solidFill>
                <a:latin typeface="Times New Roman"/>
                <a:ea typeface="SimSun"/>
                <a:cs typeface="Times New Roman"/>
              </a:rPr>
              <a:t>纤维涂层还可降低水泵能耗，使 COP 提高 16.1%。</a:t>
            </a:r>
          </a:p>
        </p:txBody>
      </p:sp>
    </p:spTree>
    <p:extLst>
      <p:ext uri="{BB962C8B-B14F-4D97-AF65-F5344CB8AC3E}">
        <p14:creationId xmlns:p14="http://schemas.microsoft.com/office/powerpoint/2010/main" val="9863508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55</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汇报提纲</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Outline</a:t>
            </a:r>
          </a:p>
        </p:txBody>
      </p:sp>
      <p:cxnSp>
        <p:nvCxnSpPr>
          <p:cNvPr id="11"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2" name="TextBox 1"/>
          <p:cNvSpPr txBox="1"/>
          <p:nvPr/>
        </p:nvSpPr>
        <p:spPr>
          <a:xfrm>
            <a:off x="594360" y="135331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1</a:t>
            </a:r>
          </a:p>
        </p:txBody>
      </p:sp>
      <p:sp>
        <p:nvSpPr>
          <p:cNvPr id="13"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135331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p:txBody>
      </p:sp>
      <p:sp>
        <p:nvSpPr>
          <p:cNvPr id="14" name="TextBox 1"/>
          <p:cNvSpPr txBox="1"/>
          <p:nvPr/>
        </p:nvSpPr>
        <p:spPr>
          <a:xfrm>
            <a:off x="7909560" y="138988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研究背景与文献综述</a:t>
            </a:r>
          </a:p>
        </p:txBody>
      </p:sp>
      <p:sp>
        <p:nvSpPr>
          <p:cNvPr id="15" name="TextBox 1"/>
          <p:cNvSpPr txBox="1"/>
          <p:nvPr/>
        </p:nvSpPr>
        <p:spPr>
          <a:xfrm>
            <a:off x="594360" y="205740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2</a:t>
            </a:r>
          </a:p>
        </p:txBody>
      </p:sp>
      <p:sp>
        <p:nvSpPr>
          <p:cNvPr id="16"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057400"/>
            <a:ext cx="6537960" cy="594360"/>
          </a:xfrm>
          <a:ln>
            <a:noFill/>
          </a:ln>
        </p:spPr>
        <p:txBody>
          <a:bodyPr lIns="0" rIns="0" tIns="0" bIns="0" wrap="square">
            <a:noAutofit/>
          </a:bodyPr>
          <a:lstStyle/>
          <a:p>
            <a:pPr marL="0" indent="0" algn="l">
              <a:lnSpc>
                <a:spcPct val="108000"/>
              </a:lnSpc>
              <a:buNone/>
            </a:pPr>
            <a:r>
              <a:rPr lang="en-US" sz="1600" b="1" dirty="0">
                <a:solidFill>
                  <a:schemeClr val="tx1"/>
                </a:solidFill>
                <a:latin typeface="Times New Roman" panose="02020603050405020304" pitchFamily="18" charset="0"/>
                <a:ea typeface="SimSun"/>
                <a:cs typeface="Times New Roman" panose="02020603050405020304" pitchFamily="18" charset="0"/>
              </a:rPr>
              <a:t>Research gaps and objectives</a:t>
            </a:r>
          </a:p>
        </p:txBody>
      </p:sp>
      <p:sp>
        <p:nvSpPr>
          <p:cNvPr id="17" name="TextBox 1"/>
          <p:cNvSpPr txBox="1"/>
          <p:nvPr/>
        </p:nvSpPr>
        <p:spPr>
          <a:xfrm>
            <a:off x="7909560" y="209397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研究不足与研究目标</a:t>
            </a:r>
          </a:p>
        </p:txBody>
      </p:sp>
      <p:sp>
        <p:nvSpPr>
          <p:cNvPr id="18" name="TextBox 1"/>
          <p:cNvSpPr txBox="1"/>
          <p:nvPr/>
        </p:nvSpPr>
        <p:spPr>
          <a:xfrm>
            <a:off x="594360" y="2761488"/>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3</a:t>
            </a:r>
          </a:p>
        </p:txBody>
      </p:sp>
      <p:sp>
        <p:nvSpPr>
          <p:cNvPr id="19"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2761488"/>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p:txBody>
      </p:sp>
      <p:sp>
        <p:nvSpPr>
          <p:cNvPr id="20" name="TextBox 1"/>
          <p:cNvSpPr txBox="1"/>
          <p:nvPr/>
        </p:nvSpPr>
        <p:spPr>
          <a:xfrm>
            <a:off x="7909560" y="2798064"/>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喷淋分布的 FDM 建模与优化</a:t>
            </a:r>
          </a:p>
        </p:txBody>
      </p:sp>
      <p:sp>
        <p:nvSpPr>
          <p:cNvPr id="21" name="TextBox 1"/>
          <p:cNvSpPr txBox="1"/>
          <p:nvPr/>
        </p:nvSpPr>
        <p:spPr>
          <a:xfrm>
            <a:off x="594360" y="3465576"/>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4</a:t>
            </a:r>
          </a:p>
        </p:txBody>
      </p:sp>
      <p:sp>
        <p:nvSpPr>
          <p:cNvPr id="22"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3465576"/>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p:txBody>
      </p:sp>
      <p:sp>
        <p:nvSpPr>
          <p:cNvPr id="23" name="TextBox 1"/>
          <p:cNvSpPr txBox="1"/>
          <p:nvPr/>
        </p:nvSpPr>
        <p:spPr>
          <a:xfrm>
            <a:off x="7909560" y="3502152"/>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考虑水膜形成的 CFD 模型与喷淋参数分析</a:t>
            </a:r>
          </a:p>
        </p:txBody>
      </p:sp>
      <p:sp>
        <p:nvSpPr>
          <p:cNvPr id="24" name="TextBox 1"/>
          <p:cNvSpPr txBox="1"/>
          <p:nvPr/>
        </p:nvSpPr>
        <p:spPr>
          <a:xfrm>
            <a:off x="594360" y="4169664"/>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5</a:t>
            </a:r>
          </a:p>
        </p:txBody>
      </p:sp>
      <p:sp>
        <p:nvSpPr>
          <p:cNvPr id="25"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169664"/>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600" b="1" dirty="0" err="1">
                <a:solidFill>
                  <a:schemeClr val="tx1"/>
                </a:solidFill>
                <a:latin typeface="Times New Roman" panose="02020603050405020304" pitchFamily="18" charset="0"/>
                <a:ea typeface="SimSun"/>
                <a:cs typeface="Times New Roman" panose="02020603050405020304" pitchFamily="18" charset="0"/>
              </a:rPr>
              <a:t>modeling</a:t>
            </a:r>
            <a:r>
              <a:rPr lang="en-HK" sz="1600" b="1" dirty="0">
                <a:solidFill>
                  <a:schemeClr val="tx1"/>
                </a:solidFill>
                <a:latin typeface="Times New Roman" panose="02020603050405020304" pitchFamily="18" charset="0"/>
                <a:ea typeface="SimSun"/>
                <a:cs typeface="Times New Roman" panose="02020603050405020304" pitchFamily="18" charset="0"/>
              </a:rPr>
              <a:t> and GA</a:t>
            </a:r>
          </a:p>
        </p:txBody>
      </p:sp>
      <p:sp>
        <p:nvSpPr>
          <p:cNvPr id="26" name="TextBox 1"/>
          <p:cNvSpPr txBox="1"/>
          <p:nvPr/>
        </p:nvSpPr>
        <p:spPr>
          <a:xfrm>
            <a:off x="7909560" y="4206240"/>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基于 ANN–GA 的喷淋策略评价与优化</a:t>
            </a:r>
          </a:p>
        </p:txBody>
      </p:sp>
      <p:sp>
        <p:nvSpPr>
          <p:cNvPr id="27" name="TextBox 1"/>
          <p:cNvSpPr txBox="1"/>
          <p:nvPr/>
        </p:nvSpPr>
        <p:spPr>
          <a:xfrm>
            <a:off x="594360" y="4873752"/>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6</a:t>
            </a:r>
          </a:p>
        </p:txBody>
      </p:sp>
      <p:sp>
        <p:nvSpPr>
          <p:cNvPr id="28"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4873752"/>
            <a:ext cx="6537960" cy="594360"/>
          </a:xfrm>
          <a:ln>
            <a:noFill/>
          </a:ln>
        </p:spPr>
        <p:txBody>
          <a:bodyPr lIns="0" rIns="0" tIns="0" bIns="0" wrap="square">
            <a:noAutofit/>
          </a:bodyPr>
          <a:lstStyle/>
          <a:p>
            <a:pPr marL="0" indent="0" algn="l">
              <a:lnSpc>
                <a:spcPct val="108000"/>
              </a:lnSpc>
              <a:buNone/>
            </a:pPr>
            <a:r>
              <a:rPr lang="en-HK" sz="1600"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600" b="1" dirty="0" err="1">
                <a:solidFill>
                  <a:schemeClr val="tx1"/>
                </a:solidFill>
                <a:latin typeface="Times New Roman" panose="02020603050405020304" pitchFamily="18" charset="0"/>
                <a:ea typeface="SimSun"/>
                <a:cs typeface="Times New Roman" panose="02020603050405020304" pitchFamily="18" charset="0"/>
              </a:rPr>
              <a:t>centers</a:t>
            </a:r>
            <a:endParaRPr lang="en-HK" sz="2400" b="1" dirty="0">
              <a:solidFill>
                <a:schemeClr val="tx1"/>
              </a:solidFill>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7909560" y="4910328"/>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数据中心 IEC 性能分析与喷嘴优化</a:t>
            </a:r>
          </a:p>
        </p:txBody>
      </p:sp>
      <p:sp>
        <p:nvSpPr>
          <p:cNvPr id="30" name="TextBox 1"/>
          <p:cNvSpPr txBox="1"/>
          <p:nvPr/>
        </p:nvSpPr>
        <p:spPr>
          <a:xfrm>
            <a:off x="594360" y="5577840"/>
            <a:ext cx="274320" cy="274320"/>
          </a:xfrm>
          <a:prstGeom prst="rect">
            <a:avLst/>
          </a:prstGeom>
          <a:noFill/>
        </p:spPr>
        <p:txBody>
          <a:bodyPr wrap="square" lIns="0" rIns="0" tIns="0" bIns="0">
            <a:spAutoFit/>
          </a:bodyPr>
          <a:lstStyle/>
          <a:p>
            <a:pPr>
              <a:lnSpc>
                <a:spcPct val="105000"/>
              </a:lnSpc>
              <a:spcAft>
                <a:spcPts val="0"/>
              </a:spcAft>
            </a:pPr>
            <a:r>
              <a:rPr sz="1600" b="1">
                <a:solidFill>
                  <a:srgbClr val="8C172D"/>
                </a:solidFill>
                <a:latin typeface="Times New Roman"/>
                <a:ea typeface="SimSun"/>
                <a:cs typeface="Times New Roman"/>
              </a:rPr>
              <a:t>7</a:t>
            </a:r>
          </a:p>
        </p:txBody>
      </p:sp>
      <p:sp>
        <p:nvSpPr>
          <p:cNvPr id="31"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960120" y="5577840"/>
            <a:ext cx="6537960" cy="594360"/>
          </a:xfrm>
          <a:ln>
            <a:noFill/>
          </a:ln>
        </p:spPr>
        <p:txBody>
          <a:bodyPr lIns="0" rIns="0" tIns="0" bIns="0" wrap="square">
            <a:noAutofit/>
          </a:bodyPr>
          <a:lstStyle/>
          <a:p>
            <a:pPr marL="0" indent="0" algn="l">
              <a:lnSpc>
                <a:spcPct val="108000"/>
              </a:lnSpc>
              <a:buNone/>
            </a:pPr>
            <a:r>
              <a:rPr lang="en-US" sz="1600" b="1" dirty="0">
                <a:solidFill>
                  <a:srgbClr val="C00000"/>
                </a:solidFill>
                <a:latin typeface="Times New Roman" panose="02020603050405020304" pitchFamily="18" charset="0"/>
                <a:ea typeface="SimSun"/>
                <a:cs typeface="Times New Roman" panose="02020603050405020304" pitchFamily="18" charset="0"/>
              </a:rPr>
              <a:t>Conclusions </a:t>
            </a:r>
            <a:r>
              <a:rPr lang="en-HK" sz="1600" b="1" dirty="0">
                <a:solidFill>
                  <a:srgbClr val="C00000"/>
                </a:solidFill>
                <a:latin typeface="Times New Roman" panose="02020603050405020304" pitchFamily="18" charset="0"/>
                <a:ea typeface="SimSun"/>
                <a:cs typeface="Times New Roman" panose="02020603050405020304" pitchFamily="18" charset="0"/>
              </a:rPr>
              <a:t>and</a:t>
            </a:r>
            <a:r>
              <a:rPr lang="zh-CN" altLang="en-US" sz="1600" b="1" dirty="0">
                <a:solidFill>
                  <a:srgbClr val="C00000"/>
                </a:solidFill>
                <a:latin typeface="Times New Roman" panose="02020603050405020304" pitchFamily="18" charset="0"/>
                <a:ea typeface="SimSun"/>
                <a:cs typeface="Times New Roman" panose="02020603050405020304" pitchFamily="18" charset="0"/>
              </a:rPr>
              <a:t> </a:t>
            </a:r>
            <a:r>
              <a:rPr lang="en-HK" altLang="zh-CN" sz="1600" b="1" dirty="0">
                <a:solidFill>
                  <a:srgbClr val="C00000"/>
                </a:solidFill>
                <a:latin typeface="Times New Roman" panose="02020603050405020304" pitchFamily="18" charset="0"/>
                <a:ea typeface="SimSun"/>
                <a:cs typeface="Times New Roman" panose="02020603050405020304" pitchFamily="18" charset="0"/>
              </a:rPr>
              <a:t>recommendations for future work</a:t>
            </a:r>
            <a:endParaRPr lang="en-US" sz="2400" b="1" dirty="0">
              <a:solidFill>
                <a:srgbClr val="C00000"/>
              </a:solidFill>
              <a:latin typeface="Times New Roman" panose="02020603050405020304" pitchFamily="18" charset="0"/>
              <a:ea typeface="SimSun"/>
              <a:cs typeface="Times New Roman" panose="02020603050405020304" pitchFamily="18" charset="0"/>
            </a:endParaRPr>
          </a:p>
        </p:txBody>
      </p:sp>
      <p:sp>
        <p:nvSpPr>
          <p:cNvPr id="32" name="TextBox 1"/>
          <p:cNvSpPr txBox="1"/>
          <p:nvPr/>
        </p:nvSpPr>
        <p:spPr>
          <a:xfrm>
            <a:off x="7909560" y="5614416"/>
            <a:ext cx="3520440" cy="548640"/>
          </a:xfrm>
          <a:prstGeom prst="rect">
            <a:avLst/>
          </a:prstGeom>
          <a:noFill/>
        </p:spPr>
        <p:txBody>
          <a:bodyPr wrap="square" lIns="0" rIns="0" tIns="0" bIns="0">
            <a:spAutoFit/>
          </a:bodyPr>
          <a:lstStyle/>
          <a:p>
            <a:pPr>
              <a:lnSpc>
                <a:spcPct val="105000"/>
              </a:lnSpc>
              <a:spcAft>
                <a:spcPts val="0"/>
              </a:spcAft>
            </a:pPr>
            <a:r>
              <a:rPr sz="1700" b="0">
                <a:solidFill>
                  <a:srgbClr val="2D2D2D"/>
                </a:solidFill>
                <a:latin typeface="Times New Roman"/>
                <a:ea typeface="SimSun"/>
                <a:cs typeface="Times New Roman"/>
              </a:rPr>
              <a:t>研究结论与未来展望</a:t>
            </a:r>
          </a:p>
        </p:txBody>
      </p:sp>
    </p:spTree>
    <p:extLst>
      <p:ext uri="{BB962C8B-B14F-4D97-AF65-F5344CB8AC3E}">
        <p14:creationId xmlns:p14="http://schemas.microsoft.com/office/powerpoint/2010/main" val="29946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56</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研究结论</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7.1 Conclusions</a:t>
            </a:r>
          </a:p>
        </p:txBody>
      </p:sp>
      <p:sp>
        <p:nvSpPr>
          <p:cNvPr id="1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7. Conclusions and recommendations for future work</a:t>
            </a:r>
          </a:p>
        </p:txBody>
      </p:sp>
      <p:cxnSp>
        <p:nvCxnSpPr>
          <p:cNvPr id="1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3"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5578229" cy="5521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b="1" dirty="0">
                <a:latin typeface="Times New Roman" panose="02020603050405020304" pitchFamily="18" charset="0"/>
                <a:ea typeface="SimSun"/>
                <a:cs typeface="Times New Roman" panose="02020603050405020304" pitchFamily="18" charset="0"/>
              </a:rPr>
              <a:t>1. We developed a </a:t>
            </a:r>
            <a:r>
              <a:rPr lang="en-HK" altLang="zh-CN" sz="1600" b="1" dirty="0">
                <a:solidFill>
                  <a:srgbClr val="C00000"/>
                </a:solidFill>
                <a:latin typeface="Times New Roman" panose="02020603050405020304" pitchFamily="18" charset="0"/>
                <a:ea typeface="SimSun"/>
                <a:cs typeface="Times New Roman" panose="02020603050405020304" pitchFamily="18" charset="0"/>
              </a:rPr>
              <a:t>FDM model </a:t>
            </a:r>
            <a:r>
              <a:rPr lang="en-HK" altLang="zh-CN" sz="1600" b="1" dirty="0">
                <a:latin typeface="Times New Roman" panose="02020603050405020304" pitchFamily="18" charset="0"/>
                <a:ea typeface="SimSun"/>
                <a:cs typeface="Times New Roman" panose="02020603050405020304" pitchFamily="18" charset="0"/>
              </a:rPr>
              <a:t>to simulate the spray distribution above heat exchanger.</a:t>
            </a:r>
          </a:p>
        </p:txBody>
      </p:sp>
      <p:cxnSp>
        <p:nvCxnSpPr>
          <p:cNvPr id="14" name="Connector 1"/>
          <p:cNvCxnSpPr/>
          <p:nvPr/>
        </p:nvCxnSpPr>
        <p:spPr>
          <a:xfrm>
            <a:off x="1038225" y="1831612"/>
            <a:ext cx="10115550"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5" name="TextBox 1"/>
          <p:cNvSpPr txBox="1"/>
          <p:nvPr/>
        </p:nvSpPr>
        <p:spPr>
          <a:xfrm>
            <a:off x="6945637" y="1334279"/>
            <a:ext cx="4208137" cy="552195"/>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1. 建立了预测换热器上方喷淋分布的 FDM 模型。</a:t>
            </a:r>
          </a:p>
        </p:txBody>
      </p:sp>
      <p:sp>
        <p:nvSpPr>
          <p:cNvPr id="16"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872760"/>
            <a:ext cx="5578229" cy="78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dirty="0">
                <a:latin typeface="Times New Roman" panose="02020603050405020304" pitchFamily="18" charset="0"/>
                <a:ea typeface="SimSun"/>
                <a:cs typeface="Times New Roman" panose="02020603050405020304" pitchFamily="18" charset="0"/>
              </a:rPr>
              <a:t>For the IEC with 400 mm length and width, the optimal nozzle arrangement scheme is the scheme with four nozzles separated by 160 mm along the </a:t>
            </a:r>
            <a:r>
              <a:rPr lang="en-HK" altLang="zh-CN" sz="1600" dirty="0" err="1">
                <a:latin typeface="Times New Roman" panose="02020603050405020304" pitchFamily="18" charset="0"/>
                <a:ea typeface="SimSun"/>
                <a:cs typeface="Times New Roman" panose="02020603050405020304" pitchFamily="18" charset="0"/>
              </a:rPr>
              <a:t>centerline</a:t>
            </a:r>
            <a:r>
              <a:rPr lang="en-HK" altLang="zh-CN" sz="1600" dirty="0">
                <a:latin typeface="Times New Roman" panose="02020603050405020304" pitchFamily="18" charset="0"/>
                <a:ea typeface="SimSun"/>
                <a:cs typeface="Times New Roman" panose="02020603050405020304" pitchFamily="18" charset="0"/>
              </a:rPr>
              <a:t>.</a:t>
            </a:r>
          </a:p>
        </p:txBody>
      </p:sp>
      <p:cxnSp>
        <p:nvCxnSpPr>
          <p:cNvPr id="17" name="Connector 1"/>
          <p:cNvCxnSpPr/>
          <p:nvPr/>
        </p:nvCxnSpPr>
        <p:spPr>
          <a:xfrm>
            <a:off x="1038225" y="2615456"/>
            <a:ext cx="10115550"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8" name="TextBox 1"/>
          <p:cNvSpPr txBox="1"/>
          <p:nvPr/>
        </p:nvSpPr>
        <p:spPr>
          <a:xfrm>
            <a:off x="6945637" y="1886476"/>
            <a:ext cx="4208137" cy="783844"/>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对于长、宽均为 400 mm 的 IEC，最优方案为四个喷嘴沿中心线布置，间距为 160 mm。</a:t>
            </a:r>
          </a:p>
        </p:txBody>
      </p:sp>
      <p:sp>
        <p:nvSpPr>
          <p:cNvPr id="19"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2656604"/>
            <a:ext cx="5578229" cy="78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dirty="0">
                <a:latin typeface="Times New Roman" panose="02020603050405020304" pitchFamily="18" charset="0"/>
                <a:ea typeface="SimSun"/>
                <a:cs typeface="Times New Roman" panose="02020603050405020304" pitchFamily="18" charset="0"/>
              </a:rPr>
              <a:t>With the same water flow rate supplied (220 L/h), the optimized </a:t>
            </a:r>
            <a:r>
              <a:rPr lang="en-HK" altLang="zh-CN" sz="1600" dirty="0" err="1">
                <a:latin typeface="Times New Roman" panose="02020603050405020304" pitchFamily="18" charset="0"/>
                <a:ea typeface="SimSun"/>
                <a:cs typeface="Times New Roman" panose="02020603050405020304" pitchFamily="18" charset="0"/>
              </a:rPr>
              <a:t>centerline</a:t>
            </a:r>
            <a:r>
              <a:rPr lang="en-HK" altLang="zh-CN" sz="1600" dirty="0">
                <a:latin typeface="Times New Roman" panose="02020603050405020304" pitchFamily="18" charset="0"/>
                <a:ea typeface="SimSun"/>
                <a:cs typeface="Times New Roman" panose="02020603050405020304" pitchFamily="18" charset="0"/>
              </a:rPr>
              <a:t> scheme could increase the wettability factor of the IEC plate surface from 0.48 to 0.89, and the COP is increased up to 16%.</a:t>
            </a:r>
            <a:endParaRPr lang="en-US" altLang="zh-CN" sz="1800" dirty="0">
              <a:latin typeface="Times New Roman" panose="02020603050405020304" pitchFamily="18" charset="0"/>
              <a:ea typeface="SimSun"/>
              <a:cs typeface="Times New Roman" panose="02020603050405020304" pitchFamily="18" charset="0"/>
            </a:endParaRPr>
          </a:p>
        </p:txBody>
      </p:sp>
      <p:cxnSp>
        <p:nvCxnSpPr>
          <p:cNvPr id="20" name="Connector 1"/>
          <p:cNvCxnSpPr/>
          <p:nvPr/>
        </p:nvCxnSpPr>
        <p:spPr>
          <a:xfrm>
            <a:off x="1038225" y="3399300"/>
            <a:ext cx="10115550"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1" name="TextBox 1"/>
          <p:cNvSpPr txBox="1"/>
          <p:nvPr/>
        </p:nvSpPr>
        <p:spPr>
          <a:xfrm>
            <a:off x="6945637" y="2670320"/>
            <a:ext cx="4208137" cy="783844"/>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在相同供水量（220 L/h）下，优化方案使板面润湿系数由 0.48 提高至 0.89，COP 提高达 16%。</a:t>
            </a:r>
          </a:p>
        </p:txBody>
      </p:sp>
      <p:sp>
        <p:nvSpPr>
          <p:cNvPr id="22"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3440448"/>
            <a:ext cx="5578229" cy="78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b="1" dirty="0">
                <a:latin typeface="Times New Roman" panose="02020603050405020304" pitchFamily="18" charset="0"/>
                <a:ea typeface="SimSun"/>
                <a:cs typeface="Times New Roman" panose="02020603050405020304" pitchFamily="18" charset="0"/>
              </a:rPr>
              <a:t>2. We proposed a novel </a:t>
            </a:r>
            <a:r>
              <a:rPr lang="en-HK" altLang="zh-CN" sz="1600" b="1" dirty="0">
                <a:solidFill>
                  <a:srgbClr val="C00000"/>
                </a:solidFill>
                <a:latin typeface="Times New Roman" panose="02020603050405020304" pitchFamily="18" charset="0"/>
                <a:ea typeface="SimSun"/>
                <a:cs typeface="Times New Roman" panose="02020603050405020304" pitchFamily="18" charset="0"/>
              </a:rPr>
              <a:t>3D CFD model </a:t>
            </a:r>
            <a:r>
              <a:rPr lang="en-HK" altLang="zh-CN" sz="1600" b="1" dirty="0">
                <a:latin typeface="Times New Roman" panose="02020603050405020304" pitchFamily="18" charset="0"/>
                <a:ea typeface="SimSun"/>
                <a:cs typeface="Times New Roman" panose="02020603050405020304" pitchFamily="18" charset="0"/>
              </a:rPr>
              <a:t>to investigate the water film inside wet channels, and the cooling performance of the whole IEC system.</a:t>
            </a:r>
          </a:p>
        </p:txBody>
      </p:sp>
      <p:cxnSp>
        <p:nvCxnSpPr>
          <p:cNvPr id="23" name="Connector 1"/>
          <p:cNvCxnSpPr/>
          <p:nvPr/>
        </p:nvCxnSpPr>
        <p:spPr>
          <a:xfrm>
            <a:off x="1038225" y="4183144"/>
            <a:ext cx="10115550"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4" name="TextBox 1"/>
          <p:cNvSpPr txBox="1"/>
          <p:nvPr/>
        </p:nvSpPr>
        <p:spPr>
          <a:xfrm>
            <a:off x="6945637" y="3454164"/>
            <a:ext cx="4208137" cy="783844"/>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2. 建立了研究湿通道水膜及 IEC 整体制冷性能的三维 CFD 模型。</a:t>
            </a:r>
          </a:p>
        </p:txBody>
      </p:sp>
      <p:sp>
        <p:nvSpPr>
          <p:cNvPr id="2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4224292"/>
            <a:ext cx="5578229" cy="78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dirty="0">
                <a:latin typeface="Times New Roman" panose="02020603050405020304" pitchFamily="18" charset="0"/>
                <a:ea typeface="SimSun"/>
                <a:cs typeface="Times New Roman" panose="02020603050405020304" pitchFamily="18" charset="0"/>
              </a:rPr>
              <a:t>Optimal nozzle parameters for maximum coverage were determined to be a droplet diameter of </a:t>
            </a:r>
            <a:r>
              <a:rPr lang="en-HK" altLang="zh-CN" sz="1600" dirty="0">
                <a:solidFill>
                  <a:srgbClr val="C00000"/>
                </a:solidFill>
                <a:latin typeface="Times New Roman" panose="02020603050405020304" pitchFamily="18" charset="0"/>
                <a:ea typeface="SimSun"/>
                <a:cs typeface="Times New Roman" panose="02020603050405020304" pitchFamily="18" charset="0"/>
              </a:rPr>
              <a:t>0.25 mm</a:t>
            </a:r>
            <a:r>
              <a:rPr lang="en-HK" altLang="zh-CN" sz="1600" dirty="0">
                <a:latin typeface="Times New Roman" panose="02020603050405020304" pitchFamily="18" charset="0"/>
                <a:ea typeface="SimSun"/>
                <a:cs typeface="Times New Roman" panose="02020603050405020304" pitchFamily="18" charset="0"/>
              </a:rPr>
              <a:t>, a pressure of </a:t>
            </a:r>
            <a:r>
              <a:rPr lang="en-HK" altLang="zh-CN" sz="1600" dirty="0">
                <a:solidFill>
                  <a:srgbClr val="C00000"/>
                </a:solidFill>
                <a:latin typeface="Times New Roman" panose="02020603050405020304" pitchFamily="18" charset="0"/>
                <a:ea typeface="SimSun"/>
                <a:cs typeface="Times New Roman" panose="02020603050405020304" pitchFamily="18" charset="0"/>
              </a:rPr>
              <a:t>1.5 bar</a:t>
            </a:r>
            <a:r>
              <a:rPr lang="en-HK" altLang="zh-CN" sz="1600" dirty="0">
                <a:latin typeface="Times New Roman" panose="02020603050405020304" pitchFamily="18" charset="0"/>
                <a:ea typeface="SimSun"/>
                <a:cs typeface="Times New Roman" panose="02020603050405020304" pitchFamily="18" charset="0"/>
              </a:rPr>
              <a:t>, a flow rate of </a:t>
            </a:r>
            <a:r>
              <a:rPr lang="en-HK" altLang="zh-CN" sz="1600" dirty="0">
                <a:solidFill>
                  <a:srgbClr val="C00000"/>
                </a:solidFill>
                <a:latin typeface="Times New Roman" panose="02020603050405020304" pitchFamily="18" charset="0"/>
                <a:ea typeface="SimSun"/>
                <a:cs typeface="Times New Roman" panose="02020603050405020304" pitchFamily="18" charset="0"/>
              </a:rPr>
              <a:t>5.4 L/min</a:t>
            </a:r>
            <a:r>
              <a:rPr lang="en-HK" altLang="zh-CN" sz="1600" dirty="0">
                <a:latin typeface="Times New Roman" panose="02020603050405020304" pitchFamily="18" charset="0"/>
                <a:ea typeface="SimSun"/>
                <a:cs typeface="Times New Roman" panose="02020603050405020304" pitchFamily="18" charset="0"/>
              </a:rPr>
              <a:t>, and a spray cone angle of 68°</a:t>
            </a:r>
            <a:r>
              <a:rPr lang="en-US" altLang="zh-CN" sz="1600" dirty="0">
                <a:latin typeface="Times New Roman" panose="02020603050405020304" pitchFamily="18" charset="0"/>
                <a:ea typeface="SimSun"/>
                <a:cs typeface="Times New Roman" panose="02020603050405020304" pitchFamily="18" charset="0"/>
              </a:rPr>
              <a:t>. </a:t>
            </a:r>
          </a:p>
        </p:txBody>
      </p:sp>
      <p:cxnSp>
        <p:nvCxnSpPr>
          <p:cNvPr id="26" name="Connector 1"/>
          <p:cNvCxnSpPr/>
          <p:nvPr/>
        </p:nvCxnSpPr>
        <p:spPr>
          <a:xfrm>
            <a:off x="1038225" y="4966988"/>
            <a:ext cx="10115550"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7" name="TextBox 1"/>
          <p:cNvSpPr txBox="1"/>
          <p:nvPr/>
        </p:nvSpPr>
        <p:spPr>
          <a:xfrm>
            <a:off x="6945637" y="4238008"/>
            <a:ext cx="4208137" cy="783844"/>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最大覆盖率对应的最优参数为：液滴直径 0.25 mm、压力 1.5 bar、流量 5.4 L/min、喷雾锥角 68°。</a:t>
            </a:r>
          </a:p>
        </p:txBody>
      </p:sp>
      <p:sp>
        <p:nvSpPr>
          <p:cNvPr id="28"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5008136"/>
            <a:ext cx="5578229" cy="12471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00" dirty="0">
                <a:latin typeface="Times New Roman" panose="02020603050405020304" pitchFamily="18" charset="0"/>
                <a:ea typeface="SimSun"/>
                <a:cs typeface="Times New Roman" panose="02020603050405020304" pitchFamily="18" charset="0"/>
              </a:rPr>
              <a:t>The refined IEC water distribution system employs a triangular nozzle arrangement based on distance analysis. This optimized configuration enhances water film coverage by </a:t>
            </a:r>
            <a:r>
              <a:rPr lang="en-HK" altLang="zh-CN" sz="1600" dirty="0">
                <a:solidFill>
                  <a:srgbClr val="C00000"/>
                </a:solidFill>
                <a:latin typeface="Times New Roman" panose="02020603050405020304" pitchFamily="18" charset="0"/>
                <a:ea typeface="SimSun"/>
                <a:cs typeface="Times New Roman" panose="02020603050405020304" pitchFamily="18" charset="0"/>
              </a:rPr>
              <a:t>20.9%</a:t>
            </a:r>
            <a:r>
              <a:rPr lang="en-HK" altLang="zh-CN" sz="1600" dirty="0">
                <a:latin typeface="Times New Roman" panose="02020603050405020304" pitchFamily="18" charset="0"/>
                <a:ea typeface="SimSun"/>
                <a:cs typeface="Times New Roman" panose="02020603050405020304" pitchFamily="18" charset="0"/>
              </a:rPr>
              <a:t> and significantly improves wet-bulb efficiency and COP by </a:t>
            </a:r>
            <a:r>
              <a:rPr lang="en-HK" altLang="zh-CN" sz="1600" dirty="0">
                <a:solidFill>
                  <a:srgbClr val="C00000"/>
                </a:solidFill>
                <a:latin typeface="Times New Roman" panose="02020603050405020304" pitchFamily="18" charset="0"/>
                <a:ea typeface="SimSun"/>
                <a:cs typeface="Times New Roman" panose="02020603050405020304" pitchFamily="18" charset="0"/>
              </a:rPr>
              <a:t>15.1%</a:t>
            </a:r>
            <a:r>
              <a:rPr lang="en-HK" altLang="zh-CN" sz="1600" dirty="0">
                <a:latin typeface="Times New Roman" panose="02020603050405020304" pitchFamily="18" charset="0"/>
                <a:ea typeface="SimSun"/>
                <a:cs typeface="Times New Roman" panose="02020603050405020304" pitchFamily="18" charset="0"/>
              </a:rPr>
              <a:t> and </a:t>
            </a:r>
            <a:r>
              <a:rPr lang="en-HK" altLang="zh-CN" sz="1600" dirty="0">
                <a:solidFill>
                  <a:srgbClr val="C00000"/>
                </a:solidFill>
                <a:latin typeface="Times New Roman" panose="02020603050405020304" pitchFamily="18" charset="0"/>
                <a:ea typeface="SimSun"/>
                <a:cs typeface="Times New Roman" panose="02020603050405020304" pitchFamily="18" charset="0"/>
              </a:rPr>
              <a:t>17.6%</a:t>
            </a:r>
            <a:r>
              <a:rPr lang="en-HK" altLang="zh-CN" sz="1600" dirty="0">
                <a:latin typeface="Times New Roman" panose="02020603050405020304" pitchFamily="18" charset="0"/>
                <a:ea typeface="SimSun"/>
                <a:cs typeface="Times New Roman" panose="02020603050405020304" pitchFamily="18" charset="0"/>
              </a:rPr>
              <a:t>, respectively.</a:t>
            </a:r>
            <a:endParaRPr lang="en-US" altLang="zh-CN" sz="1600" dirty="0">
              <a:latin typeface="Times New Roman" panose="02020603050405020304" pitchFamily="18" charset="0"/>
              <a:ea typeface="SimSun"/>
              <a:cs typeface="Times New Roman" panose="02020603050405020304" pitchFamily="18" charset="0"/>
            </a:endParaRPr>
          </a:p>
        </p:txBody>
      </p:sp>
      <p:sp>
        <p:nvSpPr>
          <p:cNvPr id="29" name="TextBox 1"/>
          <p:cNvSpPr txBox="1"/>
          <p:nvPr/>
        </p:nvSpPr>
        <p:spPr>
          <a:xfrm>
            <a:off x="6945637" y="5021852"/>
            <a:ext cx="4208137" cy="1247139"/>
          </a:xfrm>
          <a:prstGeom prst="rect">
            <a:avLst/>
          </a:prstGeom>
          <a:noFill/>
        </p:spPr>
        <p:txBody>
          <a:bodyPr wrap="square" lIns="0" rIns="0" tIns="0" bIns="0">
            <a:spAutoFit/>
          </a:bodyPr>
          <a:lstStyle/>
          <a:p>
            <a:pPr>
              <a:lnSpc>
                <a:spcPct val="105000"/>
              </a:lnSpc>
              <a:spcAft>
                <a:spcPts val="0"/>
              </a:spcAft>
            </a:pPr>
            <a:r>
              <a:rPr sz="1600" b="0">
                <a:solidFill>
                  <a:srgbClr val="303030"/>
                </a:solidFill>
                <a:latin typeface="Times New Roman"/>
                <a:ea typeface="SimSun"/>
                <a:cs typeface="Times New Roman"/>
              </a:rPr>
              <a:t>基于间距分析采用三角形喷嘴布置后，水膜覆盖率提高 20.9%，湿球效率与 COP 分别提高 15.1% 和 17.6%。</a:t>
            </a:r>
          </a:p>
        </p:txBody>
      </p:sp>
    </p:spTree>
    <p:extLst>
      <p:ext uri="{BB962C8B-B14F-4D97-AF65-F5344CB8AC3E}">
        <p14:creationId xmlns:p14="http://schemas.microsoft.com/office/powerpoint/2010/main" val="2392556481"/>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57</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研究结论</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7.1 Conclusions</a:t>
            </a:r>
          </a:p>
        </p:txBody>
      </p:sp>
      <p:sp>
        <p:nvSpPr>
          <p:cNvPr id="1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7. Conclusions and recommendations for future work</a:t>
            </a:r>
          </a:p>
        </p:txBody>
      </p:sp>
      <p:cxnSp>
        <p:nvCxnSpPr>
          <p:cNvPr id="1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xmlns:a14="http://schemas.microsoft.com/office/drawing/2010/main">
        <p:nvSpPr>
          <p:cNvPr id="13"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5578229" cy="805561"/>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b="1" dirty="0">
                <a:latin typeface="Times New Roman" panose="02020603050405020304" pitchFamily="18" charset="0"/>
                <a:ea typeface="SimSun"/>
                <a:cs typeface="Times New Roman" panose="02020603050405020304" pitchFamily="18" charset="0"/>
              </a:rPr>
              <a:t>3. We trained a ML-based prediction model to estimate the performance of the IEC system, and GA was applied to optimize the </a:t>
            </a:r>
            <a:r>
              <a:rPr lang="en-HK" altLang="zh-CN" sz="1650" b="1" dirty="0">
                <a:solidFill>
                  <a:srgbClr val="C00000"/>
                </a:solidFill>
                <a:latin typeface="Times New Roman" panose="02020603050405020304" pitchFamily="18" charset="0"/>
                <a:ea typeface="SimSun"/>
                <a:cs typeface="Times New Roman" panose="02020603050405020304" pitchFamily="18" charset="0"/>
              </a:rPr>
              <a:t>IEC-ANN model</a:t>
            </a:r>
            <a:r>
              <a:rPr lang="en-HK" altLang="zh-CN" sz="1650" b="1" dirty="0">
                <a:latin typeface="Times New Roman" panose="02020603050405020304" pitchFamily="18" charset="0"/>
                <a:ea typeface="SimSun"/>
                <a:cs typeface="Times New Roman" panose="02020603050405020304" pitchFamily="18" charset="0"/>
              </a:rPr>
              <a:t>.</a:t>
            </a:r>
          </a:p>
        </p:txBody>
      </p:sp>
      <p:sp>
        <p:nvSpPr>
          <p:cNvPr id="14" name="TextBox 1"/>
          <p:cNvSpPr txBox="1"/>
          <p:nvPr/>
        </p:nvSpPr>
        <p:spPr>
          <a:xfrm>
            <a:off x="6945637" y="1334279"/>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3. 建立机器学习预测模型，并采用 GA 优化 IEC–ANN 模型。</a:t>
            </a:r>
          </a:p>
        </p:txBody>
      </p:sp>
      <p:sp xmlns:a14="http://schemas.microsoft.com/office/drawing/2010/main">
        <p:nvSpPr>
          <p:cNvPr id="1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2126125"/>
            <a:ext cx="5578229" cy="805561"/>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optimal parameters were found to be: nozzle pressure of </a:t>
            </a:r>
            <a:r>
              <a:rPr lang="en-HK" altLang="zh-CN" sz="1650" dirty="0">
                <a:solidFill>
                  <a:srgbClr val="C00000"/>
                </a:solidFill>
                <a:latin typeface="Times New Roman" panose="02020603050405020304" pitchFamily="18" charset="0"/>
                <a:ea typeface="SimSun"/>
                <a:cs typeface="Times New Roman" panose="02020603050405020304" pitchFamily="18" charset="0"/>
              </a:rPr>
              <a:t>0.15 MPa</a:t>
            </a:r>
            <a:r>
              <a:rPr lang="en-HK" altLang="zh-CN" sz="1650" dirty="0">
                <a:latin typeface="Times New Roman" panose="02020603050405020304" pitchFamily="18" charset="0"/>
                <a:ea typeface="SimSun"/>
                <a:cs typeface="Times New Roman" panose="02020603050405020304" pitchFamily="18" charset="0"/>
              </a:rPr>
              <a:t>, spacing of 85 mm, aperture of 6 mm, count of 11, spray density of 0.85 kg/(s</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HK" altLang="zh-CN" sz="1650" dirty="0">
                <a:latin typeface="Times New Roman" panose="02020603050405020304" pitchFamily="18" charset="0"/>
                <a:ea typeface="SimSun"/>
                <a:cs typeface="Times New Roman" panose="02020603050405020304" pitchFamily="18" charset="0"/>
              </a:rPr>
              <a:t>m2), and air velocity of 2 m/s.</a:t>
            </a:r>
          </a:p>
        </p:txBody>
      </p:sp>
      <p:sp>
        <p:nvSpPr>
          <p:cNvPr id="16" name="TextBox 1"/>
          <p:cNvSpPr txBox="1"/>
          <p:nvPr/>
        </p:nvSpPr>
        <p:spPr>
          <a:xfrm>
            <a:off x="6945637" y="2139841"/>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最优参数：喷嘴压力 0.15 MPa、间距 85 mm、孔径 6 mm、数量 11、喷淋密度 0.85 kg/(s·m²)、风速 2 m/s。</a:t>
            </a:r>
          </a:p>
        </p:txBody>
      </p:sp>
      <p:sp xmlns:a14="http://schemas.microsoft.com/office/drawing/2010/main">
        <p:nvSpPr>
          <p:cNvPr id="17"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2931686"/>
            <a:ext cx="5578229" cy="805561"/>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wet-bulb efficiency is 0.85, the pressure drop is 210 Pa, and the COP is 12.4, which represents a </a:t>
            </a:r>
            <a:r>
              <a:rPr lang="en-HK" altLang="zh-CN" sz="1650" dirty="0">
                <a:solidFill>
                  <a:srgbClr val="C00000"/>
                </a:solidFill>
                <a:latin typeface="Times New Roman" panose="02020603050405020304" pitchFamily="18" charset="0"/>
                <a:ea typeface="SimSun"/>
                <a:cs typeface="Times New Roman" panose="02020603050405020304" pitchFamily="18" charset="0"/>
              </a:rPr>
              <a:t>23.2%</a:t>
            </a:r>
            <a:r>
              <a:rPr lang="en-HK" altLang="zh-CN" sz="1650" dirty="0">
                <a:latin typeface="Times New Roman" panose="02020603050405020304" pitchFamily="18" charset="0"/>
                <a:ea typeface="SimSun"/>
                <a:cs typeface="Times New Roman" panose="02020603050405020304" pitchFamily="18" charset="0"/>
              </a:rPr>
              <a:t> improvement over the baseline system.</a:t>
            </a:r>
            <a:endParaRPr lang="en-US" altLang="zh-CN" sz="1800" dirty="0">
              <a:latin typeface="Times New Roman" panose="02020603050405020304" pitchFamily="18" charset="0"/>
              <a:ea typeface="SimSun"/>
              <a:cs typeface="Times New Roman" panose="02020603050405020304" pitchFamily="18" charset="0"/>
            </a:endParaRPr>
          </a:p>
        </p:txBody>
      </p:sp>
      <p:sp>
        <p:nvSpPr>
          <p:cNvPr id="18" name="TextBox 1"/>
          <p:cNvSpPr txBox="1"/>
          <p:nvPr/>
        </p:nvSpPr>
        <p:spPr>
          <a:xfrm>
            <a:off x="6945637" y="2945402"/>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湿球效率为 0.85，压降为 210 Pa，COP 为 12.4，较基准系统提高 23.2%。</a:t>
            </a:r>
          </a:p>
        </p:txBody>
      </p:sp>
      <p:sp xmlns:a14="http://schemas.microsoft.com/office/drawing/2010/main">
        <p:nvSpPr>
          <p:cNvPr id="19"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3737247"/>
            <a:ext cx="5578229" cy="805561"/>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b="1" dirty="0">
                <a:latin typeface="Times New Roman" panose="02020603050405020304" pitchFamily="18" charset="0"/>
                <a:ea typeface="SimSun"/>
                <a:cs typeface="Times New Roman" panose="02020603050405020304" pitchFamily="18" charset="0"/>
              </a:rPr>
              <a:t>4. We developed a CFD model based on the </a:t>
            </a:r>
            <a:r>
              <a:rPr lang="en-HK" altLang="zh-CN" sz="1650" b="1" dirty="0">
                <a:solidFill>
                  <a:srgbClr val="C00000"/>
                </a:solidFill>
                <a:latin typeface="Times New Roman" panose="02020603050405020304" pitchFamily="18" charset="0"/>
                <a:ea typeface="SimSun"/>
                <a:cs typeface="Times New Roman" panose="02020603050405020304" pitchFamily="18" charset="0"/>
              </a:rPr>
              <a:t>diamond-shaped IEC </a:t>
            </a:r>
            <a:r>
              <a:rPr lang="en-HK" altLang="zh-CN" sz="1650" b="1" dirty="0">
                <a:latin typeface="Times New Roman" panose="02020603050405020304" pitchFamily="18" charset="0"/>
                <a:ea typeface="SimSun"/>
                <a:cs typeface="Times New Roman" panose="02020603050405020304" pitchFamily="18" charset="0"/>
              </a:rPr>
              <a:t>to explore the air-water flow, heat transfer, and mass transfer capabilities of the IEC as a heat recovery unit in data </a:t>
            </a:r>
            <a:r>
              <a:rPr lang="en-HK" altLang="zh-CN" sz="1650" b="1" dirty="0" err="1">
                <a:latin typeface="Times New Roman" panose="02020603050405020304" pitchFamily="18" charset="0"/>
                <a:ea typeface="SimSun"/>
                <a:cs typeface="Times New Roman" panose="02020603050405020304" pitchFamily="18" charset="0"/>
              </a:rPr>
              <a:t>centers</a:t>
            </a:r>
            <a:r>
              <a:rPr lang="en-HK" altLang="zh-CN" sz="1650" b="1" dirty="0">
                <a:latin typeface="Times New Roman" panose="02020603050405020304" pitchFamily="18" charset="0"/>
                <a:ea typeface="SimSun"/>
                <a:cs typeface="Times New Roman" panose="02020603050405020304" pitchFamily="18" charset="0"/>
              </a:rPr>
              <a:t>.</a:t>
            </a:r>
          </a:p>
        </p:txBody>
      </p:sp>
      <p:sp>
        <p:nvSpPr>
          <p:cNvPr id="20" name="TextBox 1"/>
          <p:cNvSpPr txBox="1"/>
          <p:nvPr/>
        </p:nvSpPr>
        <p:spPr>
          <a:xfrm>
            <a:off x="6945637" y="3750962"/>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4. 建立菱形 IEC 的 CFD 模型，研究其在数据中心能量回收中的气水流动与传热传质性能。</a:t>
            </a:r>
          </a:p>
        </p:txBody>
      </p:sp>
      <p:sp xmlns:a14="http://schemas.microsoft.com/office/drawing/2010/main">
        <p:nvSpPr>
          <p:cNvPr id="21"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4542808"/>
            <a:ext cx="5578229" cy="1044448"/>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The nozzles are installed as upper side configuration when the water film distribution area in the wet channel is the largest and the temperature drop is the best, with </a:t>
            </a:r>
            <a:r>
              <a:rPr lang="en-HK" altLang="zh-CN" sz="1650" dirty="0">
                <a:solidFill>
                  <a:srgbClr val="C00000"/>
                </a:solidFill>
                <a:latin typeface="Times New Roman" panose="02020603050405020304" pitchFamily="18" charset="0"/>
                <a:ea typeface="SimSun"/>
                <a:cs typeface="Times New Roman" panose="02020603050405020304" pitchFamily="18" charset="0"/>
              </a:rPr>
              <a:t>59.2%</a:t>
            </a:r>
            <a:r>
              <a:rPr lang="en-HK" altLang="zh-CN" sz="1650" dirty="0">
                <a:latin typeface="Times New Roman" panose="02020603050405020304" pitchFamily="18" charset="0"/>
                <a:ea typeface="SimSun"/>
                <a:cs typeface="Times New Roman" panose="02020603050405020304" pitchFamily="18" charset="0"/>
              </a:rPr>
              <a:t> and </a:t>
            </a:r>
            <a:r>
              <a:rPr lang="en-HK" altLang="zh-CN" sz="1650" dirty="0">
                <a:solidFill>
                  <a:srgbClr val="C00000"/>
                </a:solidFill>
                <a:latin typeface="Times New Roman" panose="02020603050405020304" pitchFamily="18" charset="0"/>
                <a:ea typeface="SimSun"/>
                <a:cs typeface="Times New Roman" panose="02020603050405020304" pitchFamily="18" charset="0"/>
              </a:rPr>
              <a:t>27.4%</a:t>
            </a:r>
            <a:r>
              <a:rPr lang="en-HK" altLang="zh-CN" sz="1650" dirty="0">
                <a:latin typeface="Times New Roman" panose="02020603050405020304" pitchFamily="18" charset="0"/>
                <a:ea typeface="SimSun"/>
                <a:cs typeface="Times New Roman" panose="02020603050405020304" pitchFamily="18" charset="0"/>
              </a:rPr>
              <a:t> improvement over the worst case</a:t>
            </a:r>
            <a:r>
              <a:rPr lang="en-US" altLang="zh-CN" sz="1650" dirty="0">
                <a:latin typeface="Times New Roman" panose="02020603050405020304" pitchFamily="18" charset="0"/>
                <a:ea typeface="SimSun"/>
                <a:cs typeface="Times New Roman" panose="02020603050405020304" pitchFamily="18" charset="0"/>
              </a:rPr>
              <a:t>. </a:t>
            </a:r>
          </a:p>
        </p:txBody>
      </p:sp>
      <p:sp>
        <p:nvSpPr>
          <p:cNvPr id="22" name="TextBox 1"/>
          <p:cNvSpPr txBox="1"/>
          <p:nvPr/>
        </p:nvSpPr>
        <p:spPr>
          <a:xfrm>
            <a:off x="6945637" y="4556523"/>
            <a:ext cx="4208137" cy="1044448"/>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上侧喷嘴布置效果最佳，水膜分布面积与温降较最差方案分别改善 59.2% 和 27.4%。</a:t>
            </a:r>
          </a:p>
        </p:txBody>
      </p:sp>
      <p:sp xmlns:a14="http://schemas.microsoft.com/office/drawing/2010/main">
        <p:nvSpPr>
          <p:cNvPr id="23"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5587256"/>
            <a:ext cx="5578229" cy="805561"/>
          </a:xfrm>
          <a:prstGeom prst="rect">
            <a:avLst/>
          </a:prstGeo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Benefit from the addition of hydrophilic coatings and fibre coatings, the water film coverage </a:t>
            </a:r>
            <a:r>
              <a:rPr lang="en-US" altLang="zh-CN" sz="1650" dirty="0">
                <a:latin typeface="Times New Roman" panose="02020603050405020304" pitchFamily="18" charset="0"/>
                <a:ea typeface="SimSun"/>
                <a:cs typeface="Times New Roman" panose="02020603050405020304" pitchFamily="18" charset="0"/>
              </a:rPr>
              <a:t>and</a:t>
            </a:r>
            <a:r>
              <a:rPr lang="en-HK" altLang="zh-CN" sz="1650" dirty="0">
                <a:latin typeface="Times New Roman" panose="02020603050405020304" pitchFamily="18" charset="0"/>
                <a:ea typeface="SimSun"/>
                <a:cs typeface="Times New Roman" panose="02020603050405020304" pitchFamily="18" charset="0"/>
              </a:rPr>
              <a:t> COP are increased by </a:t>
            </a:r>
            <a:r>
              <a:rPr lang="en-HK" altLang="zh-CN" sz="1650" dirty="0">
                <a:solidFill>
                  <a:srgbClr val="C00000"/>
                </a:solidFill>
                <a:latin typeface="Times New Roman" panose="02020603050405020304" pitchFamily="18" charset="0"/>
                <a:ea typeface="SimSun"/>
                <a:cs typeface="Times New Roman" panose="02020603050405020304" pitchFamily="18" charset="0"/>
              </a:rPr>
              <a:t>7.4%</a:t>
            </a:r>
            <a:r>
              <a:rPr lang="en-HK" altLang="zh-CN" sz="1650" dirty="0">
                <a:latin typeface="Times New Roman" panose="02020603050405020304" pitchFamily="18" charset="0"/>
                <a:ea typeface="SimSun"/>
                <a:cs typeface="Times New Roman" panose="02020603050405020304" pitchFamily="18" charset="0"/>
              </a:rPr>
              <a:t> and </a:t>
            </a:r>
            <a:r>
              <a:rPr lang="en-HK" altLang="zh-CN" sz="1650" dirty="0">
                <a:solidFill>
                  <a:srgbClr val="C00000"/>
                </a:solidFill>
                <a:latin typeface="Times New Roman" panose="02020603050405020304" pitchFamily="18" charset="0"/>
                <a:ea typeface="SimSun"/>
                <a:cs typeface="Times New Roman" panose="02020603050405020304" pitchFamily="18" charset="0"/>
              </a:rPr>
              <a:t>16.1%</a:t>
            </a:r>
            <a:r>
              <a:rPr lang="en-HK" altLang="zh-CN" sz="1650" dirty="0">
                <a:latin typeface="Times New Roman" panose="02020603050405020304" pitchFamily="18" charset="0"/>
                <a:ea typeface="SimSun"/>
                <a:cs typeface="Times New Roman" panose="02020603050405020304" pitchFamily="18" charset="0"/>
              </a:rPr>
              <a:t>, respectively. </a:t>
            </a:r>
            <a:endParaRPr lang="en-US" altLang="zh-CN" sz="1600" dirty="0">
              <a:latin typeface="Times New Roman" panose="02020603050405020304" pitchFamily="18" charset="0"/>
              <a:ea typeface="SimSun"/>
              <a:cs typeface="Times New Roman" panose="02020603050405020304" pitchFamily="18" charset="0"/>
            </a:endParaRPr>
          </a:p>
        </p:txBody>
      </p:sp>
      <p:sp>
        <p:nvSpPr>
          <p:cNvPr id="24" name="TextBox 1"/>
          <p:cNvSpPr txBox="1"/>
          <p:nvPr/>
        </p:nvSpPr>
        <p:spPr>
          <a:xfrm>
            <a:off x="6945637" y="5600971"/>
            <a:ext cx="4208137"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采用亲水和纤维涂层后，水膜覆盖率与 COP 分别提高 7.4% 和 16.1%。</a:t>
            </a:r>
          </a:p>
        </p:txBody>
      </p:sp>
    </p:spTree>
    <p:extLst>
      <p:ext uri="{BB962C8B-B14F-4D97-AF65-F5344CB8AC3E}">
        <p14:creationId xmlns:p14="http://schemas.microsoft.com/office/powerpoint/2010/main" val="862976375"/>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58</a:t>
            </a:fld>
            <a:endParaRPr lang="en-US" altLang="zh-CN">
              <a:latin typeface="Times New Roman"/>
              <a:ea typeface="SimSun"/>
              <a:cs typeface="Times New Roman"/>
            </a:endParaRPr>
          </a:p>
        </p:txBody>
      </p:sp>
      <p:sp>
        <p:nvSpPr>
          <p:cNvPr id="9"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未来研究方向</a:t>
            </a:r>
          </a:p>
        </p:txBody>
      </p:sp>
      <p:sp>
        <p:nvSpPr>
          <p:cNvPr id="10"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7.2 Future work</a:t>
            </a:r>
          </a:p>
        </p:txBody>
      </p:sp>
      <p:sp>
        <p:nvSpPr>
          <p:cNvPr id="11"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7. Conclusions and recommendations for future work</a:t>
            </a:r>
          </a:p>
        </p:txBody>
      </p:sp>
      <p:cxnSp>
        <p:nvCxnSpPr>
          <p:cNvPr id="12"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13" name="文本框 2">
            <a:extLst>
              <a:ext uri="{FF2B5EF4-FFF2-40B4-BE49-F238E27FC236}">
                <a16:creationId xmlns:a16="http://schemas.microsoft.com/office/drawing/2014/main" id="{63BAE8E9-9F5B-4EBD-8AFF-5264AC060110}"/>
              </a:ext>
            </a:extLst>
          </p:cNvPr>
          <p:cNvSpPr txBox="1">
            <a:spLocks noChangeArrowheads="1"/>
          </p:cNvSpPr>
          <p:nvPr/>
        </p:nvSpPr>
        <p:spPr bwMode="auto">
          <a:xfrm>
            <a:off x="920318" y="1579744"/>
            <a:ext cx="5729509" cy="12833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The primary focus of this study is on the common cross-flow plate-type IEC, which may not be applicable to other specialized types, such as tubular IEC. Therefore, it is necessary to conduct extensive simulations and experimental research on </a:t>
            </a:r>
            <a:r>
              <a:rPr lang="en-US" altLang="zh-CN" sz="1650" b="1" dirty="0">
                <a:solidFill>
                  <a:srgbClr val="AF1E3B"/>
                </a:solidFill>
                <a:latin typeface="Times New Roman" panose="02020603050405020304" pitchFamily="18" charset="0"/>
                <a:ea typeface="SimSun"/>
                <a:cs typeface="Times New Roman" panose="02020603050405020304" pitchFamily="18" charset="0"/>
              </a:rPr>
              <a:t>various types of IEC </a:t>
            </a:r>
            <a:r>
              <a:rPr lang="en-US" altLang="zh-CN" sz="1650" dirty="0">
                <a:latin typeface="Times New Roman" panose="02020603050405020304" pitchFamily="18" charset="0"/>
                <a:ea typeface="SimSun"/>
                <a:cs typeface="Times New Roman" panose="02020603050405020304" pitchFamily="18" charset="0"/>
              </a:rPr>
              <a:t>in the future to generalize the findings</a:t>
            </a:r>
            <a:r>
              <a:rPr lang="en-HK" altLang="zh-CN" sz="1650" dirty="0">
                <a:latin typeface="Times New Roman" panose="02020603050405020304" pitchFamily="18" charset="0"/>
                <a:ea typeface="SimSun"/>
                <a:cs typeface="Times New Roman" panose="02020603050405020304" pitchFamily="18" charset="0"/>
              </a:rPr>
              <a:t>.</a:t>
            </a:r>
            <a:endParaRPr lang="en-US" altLang="zh-CN" sz="1800" dirty="0">
              <a:latin typeface="Times New Roman" panose="02020603050405020304" pitchFamily="18" charset="0"/>
              <a:ea typeface="SimSun"/>
              <a:cs typeface="Times New Roman" panose="02020603050405020304" pitchFamily="18" charset="0"/>
            </a:endParaRPr>
          </a:p>
        </p:txBody>
      </p:sp>
      <p:sp>
        <p:nvSpPr>
          <p:cNvPr id="14" name="TextBox 1"/>
          <p:cNvSpPr txBox="1"/>
          <p:nvPr/>
        </p:nvSpPr>
        <p:spPr>
          <a:xfrm>
            <a:off x="618565" y="1579744"/>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1</a:t>
            </a:r>
          </a:p>
        </p:txBody>
      </p:sp>
      <p:cxnSp>
        <p:nvCxnSpPr>
          <p:cNvPr id="15" name="Connector 1"/>
          <p:cNvCxnSpPr/>
          <p:nvPr/>
        </p:nvCxnSpPr>
        <p:spPr>
          <a:xfrm>
            <a:off x="920317" y="2821931"/>
            <a:ext cx="10380956"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16" name="TextBox 1"/>
          <p:cNvSpPr txBox="1"/>
          <p:nvPr/>
        </p:nvSpPr>
        <p:spPr>
          <a:xfrm>
            <a:off x="6979011" y="1593460"/>
            <a:ext cx="4322261" cy="1283335"/>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本研究主要针对常规叉流板式 IEC，结论未必适用于管式等其他结构。未来需对不同类型 IEC 开展更多模拟与实验，以拓展结论的适用范围。</a:t>
            </a:r>
          </a:p>
        </p:txBody>
      </p:sp>
      <p:sp>
        <p:nvSpPr>
          <p:cNvPr id="17" name="文本框 2">
            <a:extLst>
              <a:ext uri="{FF2B5EF4-FFF2-40B4-BE49-F238E27FC236}">
                <a16:creationId xmlns:a16="http://schemas.microsoft.com/office/drawing/2014/main" id="{63BAE8E9-9F5B-4EBD-8AFF-5264AC060110}"/>
              </a:ext>
            </a:extLst>
          </p:cNvPr>
          <p:cNvSpPr txBox="1">
            <a:spLocks noChangeArrowheads="1"/>
          </p:cNvSpPr>
          <p:nvPr/>
        </p:nvSpPr>
        <p:spPr bwMode="auto">
          <a:xfrm>
            <a:off x="920318" y="2863079"/>
            <a:ext cx="5729509" cy="12833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US" altLang="zh-CN" sz="1650" dirty="0">
                <a:latin typeface="Times New Roman" panose="02020603050405020304" pitchFamily="18" charset="0"/>
                <a:ea typeface="SimSun"/>
                <a:cs typeface="Times New Roman" panose="02020603050405020304" pitchFamily="18" charset="0"/>
              </a:rPr>
              <a:t>For the </a:t>
            </a:r>
            <a:r>
              <a:rPr lang="en-US" altLang="zh-CN" sz="1650" b="1" dirty="0">
                <a:solidFill>
                  <a:srgbClr val="AF1E3B"/>
                </a:solidFill>
                <a:latin typeface="Times New Roman" panose="02020603050405020304" pitchFamily="18" charset="0"/>
                <a:ea typeface="SimSun"/>
                <a:cs typeface="Times New Roman" panose="02020603050405020304" pitchFamily="18" charset="0"/>
              </a:rPr>
              <a:t>three operating modes </a:t>
            </a:r>
            <a:r>
              <a:rPr lang="en-US" altLang="zh-CN" sz="1650" dirty="0">
                <a:latin typeface="Times New Roman" panose="02020603050405020304" pitchFamily="18" charset="0"/>
                <a:ea typeface="SimSun"/>
                <a:cs typeface="Times New Roman" panose="02020603050405020304" pitchFamily="18" charset="0"/>
              </a:rPr>
              <a:t>of the IEC system in data centers, it is crucial to regulate the start and stop cycles of the water spray system to meet indoor requirements while minimizing the energy consumption. Therefore, it is necessary to further control the activation states of the three modes based on climatic conditions.</a:t>
            </a:r>
          </a:p>
        </p:txBody>
      </p:sp>
      <p:sp>
        <p:nvSpPr>
          <p:cNvPr id="18" name="TextBox 1"/>
          <p:cNvSpPr txBox="1"/>
          <p:nvPr/>
        </p:nvSpPr>
        <p:spPr>
          <a:xfrm>
            <a:off x="618565" y="2863079"/>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2</a:t>
            </a:r>
          </a:p>
        </p:txBody>
      </p:sp>
      <p:cxnSp>
        <p:nvCxnSpPr>
          <p:cNvPr id="19" name="Connector 1"/>
          <p:cNvCxnSpPr/>
          <p:nvPr/>
        </p:nvCxnSpPr>
        <p:spPr>
          <a:xfrm>
            <a:off x="920317" y="4105266"/>
            <a:ext cx="10380956" cy="0"/>
          </a:xfrm>
          <a:prstGeom prst="line">
            <a:avLst/>
          </a:prstGeom>
          <a:ln w="12700">
            <a:solidFill>
              <a:srgbClr val="E5E5E5"/>
            </a:solidFill>
          </a:ln>
        </p:spPr>
        <p:style>
          <a:lnRef idx="2">
            <a:schemeClr val="accent1"/>
          </a:lnRef>
          <a:fillRef idx="0">
            <a:schemeClr val="accent1"/>
          </a:fillRef>
          <a:effectRef idx="1">
            <a:schemeClr val="accent1"/>
          </a:effectRef>
          <a:fontRef idx="minor">
            <a:schemeClr val="tx1"/>
          </a:fontRef>
        </p:style>
      </p:cxnSp>
      <p:sp>
        <p:nvSpPr>
          <p:cNvPr id="20" name="TextBox 1"/>
          <p:cNvSpPr txBox="1"/>
          <p:nvPr/>
        </p:nvSpPr>
        <p:spPr>
          <a:xfrm>
            <a:off x="6979011" y="2876795"/>
            <a:ext cx="4322261" cy="1283335"/>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针对数据中心 IEC 的三种运行模式，应根据气候条件优化模式切换及喷淋启停，在满足室内需求的同时降低能耗。</a:t>
            </a:r>
          </a:p>
        </p:txBody>
      </p:sp>
      <p:sp>
        <p:nvSpPr>
          <p:cNvPr id="21" name="文本框 2">
            <a:extLst>
              <a:ext uri="{FF2B5EF4-FFF2-40B4-BE49-F238E27FC236}">
                <a16:creationId xmlns:a16="http://schemas.microsoft.com/office/drawing/2014/main" id="{63BAE8E9-9F5B-4EBD-8AFF-5264AC060110}"/>
              </a:ext>
            </a:extLst>
          </p:cNvPr>
          <p:cNvSpPr txBox="1">
            <a:spLocks noChangeArrowheads="1"/>
          </p:cNvSpPr>
          <p:nvPr/>
        </p:nvSpPr>
        <p:spPr bwMode="auto">
          <a:xfrm>
            <a:off x="920318" y="4146414"/>
            <a:ext cx="5729509" cy="8055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ln>
            <a:noFill/>
          </a:ln>
        </p:spPr>
        <p:txBody>
          <a:bodyPr wrap="square" lIns="0" rIns="0" tIns="0" bIns="0">
            <a:no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l">
              <a:lnSpc>
                <a:spcPct val="108000"/>
              </a:lnSpc>
              <a:buNone/>
            </a:pPr>
            <a:r>
              <a:rPr lang="en-HK" altLang="zh-CN" sz="1650" dirty="0">
                <a:latin typeface="Times New Roman" panose="02020603050405020304" pitchFamily="18" charset="0"/>
                <a:ea typeface="SimSun"/>
                <a:cs typeface="Times New Roman" panose="02020603050405020304" pitchFamily="18" charset="0"/>
              </a:rPr>
              <a:t>Future work will involve the development of ANN models for different spray parameters under </a:t>
            </a:r>
            <a:r>
              <a:rPr lang="en-HK" altLang="zh-CN" sz="1650" b="1" dirty="0">
                <a:solidFill>
                  <a:srgbClr val="AF1E3B"/>
                </a:solidFill>
                <a:latin typeface="Times New Roman" panose="02020603050405020304" pitchFamily="18" charset="0"/>
                <a:ea typeface="SimSun"/>
                <a:cs typeface="Times New Roman" panose="02020603050405020304" pitchFamily="18" charset="0"/>
              </a:rPr>
              <a:t>various climatic conditions</a:t>
            </a:r>
            <a:r>
              <a:rPr lang="en-HK" altLang="zh-CN" sz="1650" dirty="0">
                <a:solidFill>
                  <a:srgbClr val="AF1E3B"/>
                </a:solidFill>
                <a:latin typeface="Times New Roman" panose="02020603050405020304" pitchFamily="18" charset="0"/>
                <a:ea typeface="SimSun"/>
                <a:cs typeface="Times New Roman" panose="02020603050405020304" pitchFamily="18" charset="0"/>
              </a:rPr>
              <a:t> </a:t>
            </a:r>
            <a:r>
              <a:rPr lang="en-HK" altLang="zh-CN" sz="1650" dirty="0">
                <a:latin typeface="Times New Roman" panose="02020603050405020304" pitchFamily="18" charset="0"/>
                <a:ea typeface="SimSun"/>
                <a:cs typeface="Times New Roman" panose="02020603050405020304" pitchFamily="18" charset="0"/>
              </a:rPr>
              <a:t>to achieve a more comprehensive analysis and optimization of the IEC system.</a:t>
            </a:r>
            <a:endParaRPr lang="en-US" altLang="zh-CN" sz="1800" dirty="0">
              <a:latin typeface="Times New Roman" panose="02020603050405020304" pitchFamily="18" charset="0"/>
              <a:ea typeface="SimSun"/>
              <a:cs typeface="Times New Roman" panose="02020603050405020304" pitchFamily="18" charset="0"/>
            </a:endParaRPr>
          </a:p>
        </p:txBody>
      </p:sp>
      <p:sp>
        <p:nvSpPr>
          <p:cNvPr id="22" name="TextBox 1"/>
          <p:cNvSpPr txBox="1"/>
          <p:nvPr/>
        </p:nvSpPr>
        <p:spPr>
          <a:xfrm>
            <a:off x="618565" y="4146414"/>
            <a:ext cx="237744" cy="256032"/>
          </a:xfrm>
          <a:prstGeom prst="rect">
            <a:avLst/>
          </a:prstGeom>
          <a:noFill/>
        </p:spPr>
        <p:txBody>
          <a:bodyPr wrap="square" lIns="0" rIns="0" tIns="0" bIns="0">
            <a:spAutoFit/>
          </a:bodyPr>
          <a:lstStyle/>
          <a:p>
            <a:pPr>
              <a:lnSpc>
                <a:spcPct val="105000"/>
              </a:lnSpc>
              <a:spcAft>
                <a:spcPts val="0"/>
              </a:spcAft>
            </a:pPr>
            <a:r>
              <a:rPr sz="1650" b="1">
                <a:solidFill>
                  <a:srgbClr val="8C172D"/>
                </a:solidFill>
                <a:latin typeface="Times New Roman"/>
                <a:ea typeface="SimSun"/>
                <a:cs typeface="Times New Roman"/>
              </a:rPr>
              <a:t>3</a:t>
            </a:r>
          </a:p>
        </p:txBody>
      </p:sp>
      <p:sp>
        <p:nvSpPr>
          <p:cNvPr id="23" name="TextBox 1"/>
          <p:cNvSpPr txBox="1"/>
          <p:nvPr/>
        </p:nvSpPr>
        <p:spPr>
          <a:xfrm>
            <a:off x="6979011" y="4160129"/>
            <a:ext cx="4322261" cy="805560"/>
          </a:xfrm>
          <a:prstGeom prst="rect">
            <a:avLst/>
          </a:prstGeom>
          <a:noFill/>
        </p:spPr>
        <p:txBody>
          <a:bodyPr wrap="square" lIns="0" rIns="0" tIns="0" bIns="0">
            <a:spAutoFit/>
          </a:bodyPr>
          <a:lstStyle/>
          <a:p>
            <a:pPr>
              <a:lnSpc>
                <a:spcPct val="105000"/>
              </a:lnSpc>
              <a:spcAft>
                <a:spcPts val="0"/>
              </a:spcAft>
            </a:pPr>
            <a:r>
              <a:rPr sz="1650" b="0">
                <a:solidFill>
                  <a:srgbClr val="303030"/>
                </a:solidFill>
                <a:latin typeface="Times New Roman"/>
                <a:ea typeface="SimSun"/>
                <a:cs typeface="Times New Roman"/>
              </a:rPr>
              <a:t>未来可建立覆盖不同气候条件与喷淋参数的 ANN 模型，实现更全面的 IEC 性能分析与优化。</a:t>
            </a:r>
          </a:p>
        </p:txBody>
      </p:sp>
    </p:spTree>
    <p:extLst>
      <p:ext uri="{BB962C8B-B14F-4D97-AF65-F5344CB8AC3E}">
        <p14:creationId xmlns:p14="http://schemas.microsoft.com/office/powerpoint/2010/main" val="3747626483"/>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299D7EE-06FF-4935-BCDC-2BDB7DF62424}"/>
              </a:ext>
            </a:extLst>
          </p:cNvPr>
          <p:cNvSpPr txBox="1"/>
          <p:nvPr/>
        </p:nvSpPr>
        <p:spPr>
          <a:xfrm>
            <a:off x="507521" y="1082832"/>
            <a:ext cx="11319294" cy="5683094"/>
          </a:xfrm>
          <a:prstGeom prst="rect">
            <a:avLst/>
          </a:prstGeom>
          <a:noFill/>
        </p:spPr>
        <p:txBody>
          <a:bodyPr wrap="square" rtlCol="0">
            <a:spAutoFit/>
          </a:bodyPr>
          <a:lstStyle/>
          <a:p>
            <a:pPr algn="just">
              <a:spcAft>
                <a:spcPts val="800"/>
              </a:spcAft>
            </a:pPr>
            <a:r>
              <a:rPr lang="en-US" altLang="zh-CN" sz="1800" b="1" i="1" dirty="0">
                <a:latin typeface="Times New Roman" panose="02020603050405020304" pitchFamily="18" charset="0"/>
                <a:ea typeface="SimSun" panose="02010600030101010101" pitchFamily="2" charset="-122"/>
                <a:cs typeface="Times New Roman" panose="02020603050405020304" pitchFamily="18" charset="0"/>
              </a:rPr>
              <a:t>Published papers:</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[1] X. Ma, W. Shi, and H. Yang, “Study on water spraying distribution to improve the energy recovery performance of indirect evaporative coolers with nozzle arrangement optimization,” Applied Energy, vol. 318, 2022.</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[2] X. Ma, W. Shi, and H. Yang, “Improving the performance of indirect evaporative cooler for energy recovery from the perspective of nozzle configuration: A CFD model analysis,” Journal of Building Engineering, vol. 76, p. 107195, 2023/10/01/ 2023.</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[3] X. Ma, W. Shi, and H. Yang, “Spray parameter analysis and performance optimization of indirect evaporative cooler considering surface wettability,” Journal of Building Engineering, vol. 82, p. 108175, 2024/04/01/ 2024.</a:t>
            </a:r>
          </a:p>
          <a:p>
            <a:pPr>
              <a:lnSpc>
                <a:spcPct val="107000"/>
              </a:lnSpc>
              <a:spcAft>
                <a:spcPts val="800"/>
              </a:spcAft>
            </a:pPr>
            <a:r>
              <a:rPr lang="en-HK" altLang="zh-CN" sz="1600" dirty="0">
                <a:latin typeface="Times New Roman" panose="02020603050405020304" pitchFamily="18" charset="0"/>
                <a:ea typeface="SimSun" panose="02010600030101010101" pitchFamily="2" charset="-122"/>
                <a:cs typeface="Times New Roman"/>
              </a:rPr>
              <a:t>[4] X. Ma, W. Shi, Lin Lu and H. Yang, “Performance assessment and optimization of water spray strategy for indirect evaporative cooler based on artificial neural network </a:t>
            </a:r>
            <a:r>
              <a:rPr lang="en-HK" altLang="zh-CN" sz="1600" dirty="0" err="1">
                <a:latin typeface="Times New Roman" panose="02020603050405020304" pitchFamily="18" charset="0"/>
                <a:ea typeface="SimSun" panose="02010600030101010101" pitchFamily="2" charset="-122"/>
                <a:cs typeface="Times New Roman"/>
              </a:rPr>
              <a:t>modeling</a:t>
            </a:r>
            <a:r>
              <a:rPr lang="en-HK" altLang="zh-CN" sz="1600" dirty="0">
                <a:latin typeface="Times New Roman" panose="02020603050405020304" pitchFamily="18" charset="0"/>
                <a:ea typeface="SimSun" panose="02010600030101010101" pitchFamily="2" charset="-122"/>
                <a:cs typeface="Times New Roman"/>
              </a:rPr>
              <a:t> and genetic algorithm,” Applied Energy, vol. 318, 2024.</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algn="just">
              <a:spcBef>
                <a:spcPts val="600"/>
              </a:spcBef>
              <a:spcAft>
                <a:spcPts val="600"/>
              </a:spcAft>
            </a:pPr>
            <a:r>
              <a:rPr lang="en-US" altLang="zh-CN" sz="1800" b="1" i="1" dirty="0">
                <a:latin typeface="Times New Roman" panose="02020603050405020304" pitchFamily="18" charset="0"/>
                <a:ea typeface="SimSun" panose="02010600030101010101" pitchFamily="2" charset="-122"/>
                <a:cs typeface="Times New Roman" panose="02020603050405020304" pitchFamily="18" charset="0"/>
              </a:rPr>
              <a:t>Conference papers:</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[1] X. MA, W. Shi, and H. Yang. Study on water spraying distribution for improvement of indirect evaporative coolers with nozzle arrangement optimization. The 13th International Conference on Applied Energy (ICAE2021), virtual, 29 Nov - 2 Dec, 2021.</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[2] X. MA, W. Shi, and H. Yang. Effect of spray nozzle parameters on surface wettability and performance improvement of indirect evaporative cooler. The 2022 MIT "A+B" Applied Energy Symposium (MITAB 2022), virtual, 5-8 July, 2022.</a:t>
            </a:r>
          </a:p>
          <a:p>
            <a:pPr algn="just">
              <a:spcBef>
                <a:spcPts val="600"/>
              </a:spcBef>
              <a:spcAft>
                <a:spcPts val="600"/>
              </a:spcAft>
            </a:pPr>
            <a:r>
              <a:rPr lang="en-HK" altLang="zh-CN" sz="1600" dirty="0">
                <a:latin typeface="Times New Roman" panose="02020603050405020304" pitchFamily="18" charset="0"/>
                <a:ea typeface="SimSun" panose="02010600030101010101" pitchFamily="2" charset="-122"/>
                <a:cs typeface="Times New Roman"/>
              </a:rPr>
              <a:t>[3] X. MA, W. Shi, and H. Yang. Development of a wettability combined CFD model of indirect evaporative cooler with spray and water film optimization. The 14th International Conference on Applied Energy (ICAE2022), Bochum, Germany, 8-11 Aug, 2022.</a:t>
            </a:r>
          </a:p>
          <a:p>
            <a:pPr algn="just">
              <a:spcBef>
                <a:spcPts val="600"/>
              </a:spcBef>
              <a:spcAft>
                <a:spcPts val="600"/>
              </a:spcAft>
            </a:pPr>
            <a:endParaRPr lang="en-US" altLang="zh-CN" sz="1600" dirty="0">
              <a:latin typeface="Times New Roman" panose="02020603050405020304" pitchFamily="18" charset="0"/>
              <a:ea typeface="SimSun" panose="02010600030101010101" pitchFamily="2" charset="-122"/>
              <a:cs typeface="Times New Roman"/>
            </a:endParaRPr>
          </a:p>
        </p:txBody>
      </p:sp>
      <p:sp>
        <p:nvSpPr>
          <p:cNvPr id="2" name="灯片编号占位符 1">
            <a:extLst>
              <a:ext uri="{FF2B5EF4-FFF2-40B4-BE49-F238E27FC236}">
                <a16:creationId xmlns:a16="http://schemas.microsoft.com/office/drawing/2014/main" id="{902CC68C-4AA8-48E0-9062-C9841BB473E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59</a:t>
            </a:fld>
            <a:endParaRPr lang="en-US" altLang="zh-CN">
              <a:latin typeface="Times New Roman"/>
              <a:ea typeface="SimSun"/>
              <a:cs typeface="Times New Roman"/>
            </a:endParaRPr>
          </a:p>
        </p:txBody>
      </p:sp>
      <p:sp>
        <p:nvSpPr>
          <p:cNvPr id="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学术成果</a:t>
            </a:r>
          </a:p>
        </p:txBody>
      </p:sp>
      <p:sp>
        <p:nvSpPr>
          <p:cNvPr id="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Academic contributions</a:t>
            </a:r>
          </a:p>
        </p:txBody>
      </p:sp>
      <p:cxnSp>
        <p:nvCxnSpPr>
          <p:cNvPr id="9"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355228"/>
      </p:ext>
    </p:extLst>
  </p:cSld>
  <p:clrMapOvr>
    <a:masterClrMapping/>
  </p:clrMapOvr>
  <mc:AlternateContent xmlns:mc="http://schemas.openxmlformats.org/markup-compatibility/2006" xmlns:p14="http://schemas.microsoft.com/office/powerpoint/2010/main">
    <mc:Choice Requires="p14">
      <p:transition spd="slow" p14:dur="2000" advTm="4687"/>
    </mc:Choice>
    <mc:Fallback xmlns="">
      <p:transition spd="slow" advTm="4687"/>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Sp="1">
  <p:cSld>
    <p:spTree>
      <p:nvGrpSpPr>
        <p:cNvPr id="1" name=""/>
        <p:cNvGrpSpPr/>
        <p:nvPr/>
      </p:nvGrpSpPr>
      <p:grpSpPr>
        <a:xfrm>
          <a:off x="0" y="0"/>
          <a:ext cx="0" cy="0"/>
          <a:chOff x="0" y="0"/>
          <a:chExt cx="0" cy="0"/>
        </a:xfrm>
      </p:grpSpPr>
      <p:sp>
        <p:nvSpPr>
          <p:cNvPr id="19459" name="Rectangle 5"/>
          <p:cNvSpPr>
            <a:spLocks noChangeArrowheads="1"/>
          </p:cNvSpPr>
          <p:nvPr/>
        </p:nvSpPr>
        <p:spPr bwMode="auto">
          <a:xfrm>
            <a:off x="2192866" y="44196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7" name="矩形 6">
            <a:extLst>
              <a:ext uri="{FF2B5EF4-FFF2-40B4-BE49-F238E27FC236}">
                <a16:creationId xmlns:a16="http://schemas.microsoft.com/office/drawing/2014/main" id="{67B468AD-3765-4211-97AE-355D9398DFA4}"/>
              </a:ext>
            </a:extLst>
          </p:cNvPr>
          <p:cNvSpPr/>
          <p:nvPr/>
        </p:nvSpPr>
        <p:spPr bwMode="auto">
          <a:xfrm>
            <a:off x="6875253" y="0"/>
            <a:ext cx="5316747" cy="120466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sp>
        <p:nvSpPr>
          <p:cNvPr id="9" name="灯片编号占位符 3">
            <a:extLst>
              <a:ext uri="{FF2B5EF4-FFF2-40B4-BE49-F238E27FC236}">
                <a16:creationId xmlns:a16="http://schemas.microsoft.com/office/drawing/2014/main" id="{6536BF76-C0A7-4A5C-858D-470D1876950F}"/>
              </a:ext>
            </a:extLst>
          </p:cNvPr>
          <p:cNvSpPr txBox="1">
            <a:spLocks/>
          </p:cNvSpPr>
          <p:nvPr/>
        </p:nvSpPr>
        <p:spPr>
          <a:xfrm>
            <a:off x="10058400" y="6395053"/>
            <a:ext cx="2133600" cy="365125"/>
          </a:xfrm>
          <a:prstGeom prst="rect">
            <a:avLst/>
          </a:prstGeom>
        </p:spPr>
        <p:txBody>
          <a:bodyPr/>
          <a:ls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r">
              <a:defRPr>
                <a:latin typeface="Times New Roman"/>
                <a:ea typeface="SimSun"/>
                <a:cs typeface="Times New Roman"/>
              </a:defRPr>
            </a:pPr>
            <a:fld id="{15884886-3D85-4AFD-9D94-33E4AF7428DD}" type="slidenum">
              <a:rPr lang="en-US" altLang="zh-CN" sz="1200">
                <a:solidFill>
                  <a:srgbClr val="898989"/>
                </a:solidFill>
                <a:latin typeface="Times New Roman"/>
                <a:ea typeface="SimSun"/>
                <a:cs typeface="Times New Roman"/>
              </a:rPr>
              <a:pPr algn="r">
                <a:defRPr>
                  <a:latin typeface="Times New Roman"/>
                  <a:ea typeface="SimSun"/>
                  <a:cs typeface="Times New Roman"/>
                </a:defRPr>
              </a:pPr>
              <a:t>60</a:t>
            </a:fld>
            <a:endParaRPr lang="en-US" altLang="zh-CN" sz="1200" dirty="0">
              <a:solidFill>
                <a:srgbClr val="898989"/>
              </a:solidFill>
              <a:latin typeface="Times New Roman"/>
              <a:ea typeface="SimSun"/>
              <a:cs typeface="Times New Roman"/>
            </a:endParaRPr>
          </a:p>
        </p:txBody>
      </p:sp>
      <p:sp>
        <p:nvSpPr>
          <p:cNvPr id="2" name="矩形 1">
            <a:extLst>
              <a:ext uri="{FF2B5EF4-FFF2-40B4-BE49-F238E27FC236}">
                <a16:creationId xmlns:a16="http://schemas.microsoft.com/office/drawing/2014/main" id="{8278B0D7-5E4A-4E2D-B1F8-C498ECFB25C3}"/>
              </a:ext>
            </a:extLst>
          </p:cNvPr>
          <p:cNvSpPr/>
          <p:nvPr/>
        </p:nvSpPr>
        <p:spPr bwMode="auto">
          <a:xfrm>
            <a:off x="10075653" y="146649"/>
            <a:ext cx="2346385" cy="1112593"/>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9464" name="TextBox 1"/>
          <p:cNvSpPr txBox="1"/>
          <p:nvPr/>
        </p:nvSpPr>
        <p:spPr>
          <a:xfrm>
            <a:off x="1645920" y="2651760"/>
            <a:ext cx="8915400" cy="548640"/>
          </a:xfrm>
          <a:prstGeom prst="rect">
            <a:avLst/>
          </a:prstGeom>
          <a:noFill/>
        </p:spPr>
        <p:txBody>
          <a:bodyPr wrap="square" lIns="0" rIns="0" tIns="0" bIns="0">
            <a:spAutoFit/>
          </a:bodyPr>
          <a:lstStyle/>
          <a:p>
            <a:pPr algn="ctr">
              <a:lnSpc>
                <a:spcPct val="105000"/>
              </a:lnSpc>
              <a:spcAft>
                <a:spcPts val="0"/>
              </a:spcAft>
            </a:pPr>
            <a:r>
              <a:rPr sz="3600" b="1">
                <a:solidFill>
                  <a:srgbClr val="FFFFFF"/>
                </a:solidFill>
                <a:latin typeface="Times New Roman"/>
                <a:ea typeface="SimSun"/>
                <a:cs typeface="Times New Roman"/>
              </a:rPr>
              <a:t>Thank you!</a:t>
            </a:r>
          </a:p>
        </p:txBody>
      </p:sp>
      <p:sp>
        <p:nvSpPr>
          <p:cNvPr id="19465" name="TextBox 1"/>
          <p:cNvSpPr txBox="1"/>
          <p:nvPr/>
        </p:nvSpPr>
        <p:spPr>
          <a:xfrm>
            <a:off x="1645920" y="3337560"/>
            <a:ext cx="8915400" cy="548640"/>
          </a:xfrm>
          <a:prstGeom prst="rect">
            <a:avLst/>
          </a:prstGeom>
          <a:noFill/>
        </p:spPr>
        <p:txBody>
          <a:bodyPr wrap="square" lIns="0" rIns="0" tIns="0" bIns="0">
            <a:spAutoFit/>
          </a:bodyPr>
          <a:lstStyle/>
          <a:p>
            <a:pPr algn="ctr">
              <a:lnSpc>
                <a:spcPct val="105000"/>
              </a:lnSpc>
              <a:spcAft>
                <a:spcPts val="0"/>
              </a:spcAft>
            </a:pPr>
            <a:r>
              <a:rPr sz="2500" b="1">
                <a:solidFill>
                  <a:srgbClr val="FFFFFF"/>
                </a:solidFill>
                <a:latin typeface="Times New Roman"/>
                <a:ea typeface="SimSun"/>
                <a:cs typeface="Times New Roman"/>
              </a:rPr>
              <a:t>谢谢，敬请指正</a:t>
            </a:r>
          </a:p>
        </p:txBody>
      </p:sp>
    </p:spTree>
    <p:extLst>
      <p:ext uri="{BB962C8B-B14F-4D97-AF65-F5344CB8AC3E}">
        <p14:creationId xmlns:p14="http://schemas.microsoft.com/office/powerpoint/2010/main" val="3499825183"/>
      </p:ext>
    </p:extLst>
  </p:cSld>
  <p:clrMapOvr>
    <a:masterClrMapping/>
  </p:clrMapOvr>
  <p:transition spd="slow" advTm="22901"/>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61</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6" name="图片 15">
            <a:extLst>
              <a:ext uri="{FF2B5EF4-FFF2-40B4-BE49-F238E27FC236}">
                <a16:creationId xmlns:a16="http://schemas.microsoft.com/office/drawing/2014/main" id="{EEE6AE59-936D-4886-9C6E-93468EC9E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721" y="1411964"/>
            <a:ext cx="3397479" cy="3036684"/>
          </a:xfrm>
          <a:prstGeom prst="rect">
            <a:avLst/>
          </a:prstGeom>
        </p:spPr>
      </p:pic>
      <p:sp>
        <p:nvSpPr>
          <p:cNvPr id="21" name="矩形 20">
            <a:extLst>
              <a:ext uri="{FF2B5EF4-FFF2-40B4-BE49-F238E27FC236}">
                <a16:creationId xmlns:a16="http://schemas.microsoft.com/office/drawing/2014/main" id="{4C39DAEE-41EF-4805-9722-7800E5711F56}"/>
              </a:ext>
            </a:extLst>
          </p:cNvPr>
          <p:cNvSpPr/>
          <p:nvPr/>
        </p:nvSpPr>
        <p:spPr>
          <a:xfrm>
            <a:off x="911441" y="4535650"/>
            <a:ext cx="4792063"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 8.2 </a:t>
            </a:r>
            <a:r>
              <a:rPr lang="en-HK" sz="1200"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1200" baseline="30000" dirty="0">
                <a:solidFill>
                  <a:prstClr val="black"/>
                </a:solidFill>
                <a:latin typeface="Times New Roman" panose="02020603050405020304" pitchFamily="18" charset="0"/>
                <a:ea typeface="SimSun"/>
                <a:cs typeface="Times New Roman" panose="02020603050405020304" pitchFamily="18" charset="0"/>
              </a:rPr>
              <a:t> [1]</a:t>
            </a:r>
            <a:endParaRPr lang="en-HK" sz="1200" dirty="0">
              <a:solidFill>
                <a:prstClr val="black"/>
              </a:solidFill>
              <a:latin typeface="Times New Roman" panose="02020603050405020304" pitchFamily="18" charset="0"/>
              <a:ea typeface="SimSun"/>
              <a:cs typeface="Times New Roman" panose="02020603050405020304" pitchFamily="18" charset="0"/>
            </a:endParaRPr>
          </a:p>
        </p:txBody>
      </p:sp>
      <p:sp>
        <p:nvSpPr>
          <p:cNvPr id="24" name="矩形 23">
            <a:extLst>
              <a:ext uri="{FF2B5EF4-FFF2-40B4-BE49-F238E27FC236}">
                <a16:creationId xmlns:a16="http://schemas.microsoft.com/office/drawing/2014/main" id="{AC39DB47-7C7D-4D48-B6E0-93C6E5F05628}"/>
              </a:ext>
            </a:extLst>
          </p:cNvPr>
          <p:cNvSpPr/>
          <p:nvPr/>
        </p:nvSpPr>
        <p:spPr bwMode="auto">
          <a:xfrm>
            <a:off x="5207748" y="1439745"/>
            <a:ext cx="5830366" cy="117708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25"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模型假设与适用性</a:t>
            </a:r>
          </a:p>
        </p:txBody>
      </p:sp>
      <p:sp>
        <p:nvSpPr>
          <p:cNvPr id="26"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Working principle</a:t>
            </a:r>
          </a:p>
        </p:txBody>
      </p:sp>
      <p:sp>
        <p:nvSpPr>
          <p:cNvPr id="27"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8"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9" name="文本框 11">
            <a:extLst>
              <a:ext uri="{FF2B5EF4-FFF2-40B4-BE49-F238E27FC236}">
                <a16:creationId xmlns:a16="http://schemas.microsoft.com/office/drawing/2014/main" id="{5A6E6B83-037F-337A-2F2C-BA728907C8FA}"/>
              </a:ext>
            </a:extLst>
          </p:cNvPr>
          <p:cNvSpPr txBox="1"/>
          <p:nvPr/>
        </p:nvSpPr>
        <p:spPr>
          <a:xfrm>
            <a:off x="5570146" y="2890109"/>
            <a:ext cx="5565133" cy="747776"/>
          </a:xfrm>
          <a:prstGeom prst="rect">
            <a:avLst/>
          </a:prstGeom>
          <a:noFill/>
          <a:ln>
            <a:noFill/>
          </a:ln>
        </p:spPr>
        <p:txBody>
          <a:bodyPr wrap="square" lIns="0" rIns="0" tIns="0" bIns="0">
            <a:noAutofit/>
          </a:bodyPr>
          <a:lstStyle/>
          <a:p>
            <a:pPr marL="0" indent="0" algn="l">
              <a:lnSpc>
                <a:spcPct val="108000"/>
              </a:lnSpc>
              <a:buNone/>
            </a:pPr>
            <a:r>
              <a:rPr lang="en-HK" altLang="zh-CN" sz="1400" b="1" dirty="0">
                <a:latin typeface="Times New Roman" panose="02020603050405020304" pitchFamily="18" charset="0"/>
                <a:ea typeface="SimSun" panose="02010600030101010101" pitchFamily="2" charset="-122"/>
                <a:cs typeface="Times New Roman" panose="02020603050405020304" pitchFamily="18" charset="0"/>
              </a:rPr>
              <a:t>Non-Uniform Edges</a:t>
            </a: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 In reality, the edges of the spray area might not be perfectly straight or uniformly distributed.</a:t>
            </a:r>
          </a:p>
        </p:txBody>
      </p:sp>
      <p:sp>
        <p:nvSpPr>
          <p:cNvPr id="30" name="TextBox 1"/>
          <p:cNvSpPr txBox="1"/>
          <p:nvPr/>
        </p:nvSpPr>
        <p:spPr>
          <a:xfrm>
            <a:off x="5570146" y="3336641"/>
            <a:ext cx="5565133" cy="301244"/>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边界不均匀：实际喷淋区域的边缘未必平直，分布也未必均匀。</a:t>
            </a:r>
          </a:p>
        </p:txBody>
      </p:sp>
      <p:sp>
        <p:nvSpPr>
          <p:cNvPr id="31" name="文本框 11">
            <a:extLst>
              <a:ext uri="{FF2B5EF4-FFF2-40B4-BE49-F238E27FC236}">
                <a16:creationId xmlns:a16="http://schemas.microsoft.com/office/drawing/2014/main" id="{5A6E6B83-037F-337A-2F2C-BA728907C8FA}"/>
              </a:ext>
            </a:extLst>
          </p:cNvPr>
          <p:cNvSpPr txBox="1"/>
          <p:nvPr/>
        </p:nvSpPr>
        <p:spPr>
          <a:xfrm>
            <a:off x="5570146" y="3637885"/>
            <a:ext cx="5565133" cy="1153160"/>
          </a:xfrm>
          <a:prstGeom prst="rect">
            <a:avLst/>
          </a:prstGeom>
          <a:noFill/>
          <a:ln>
            <a:noFill/>
          </a:ln>
        </p:spPr>
        <p:txBody>
          <a:bodyPr wrap="square" lIns="0" rIns="0" tIns="0" bIns="0">
            <a:noAutofit/>
          </a:bodyPr>
          <a:lstStyle/>
          <a:p>
            <a:pPr marL="0" indent="0" algn="l">
              <a:lnSpc>
                <a:spcPct val="108000"/>
              </a:lnSpc>
              <a:buNone/>
            </a:pPr>
            <a:r>
              <a:rPr lang="en-HK" altLang="zh-CN" sz="1400" b="1" dirty="0">
                <a:latin typeface="Times New Roman" panose="02020603050405020304" pitchFamily="18" charset="0"/>
                <a:ea typeface="SimSun" panose="02010600030101010101" pitchFamily="2" charset="-122"/>
                <a:cs typeface="Times New Roman" panose="02020603050405020304" pitchFamily="18" charset="0"/>
              </a:rPr>
              <a:t>Complex Geometries</a:t>
            </a:r>
            <a:r>
              <a:rPr lang="en-HK" altLang="zh-CN" sz="1400" dirty="0">
                <a:latin typeface="Times New Roman" panose="02020603050405020304" pitchFamily="18" charset="0"/>
                <a:ea typeface="SimSun" panose="02010600030101010101" pitchFamily="2" charset="-122"/>
                <a:cs typeface="Times New Roman" panose="02020603050405020304" pitchFamily="18" charset="0"/>
              </a:rPr>
              <a:t>: The actual spray might have a more complex geometry, such as an elliptical or fan-shaped distribution, which is oversimplified by a cone.</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32" name="TextBox 1"/>
          <p:cNvSpPr txBox="1"/>
          <p:nvPr/>
        </p:nvSpPr>
        <p:spPr>
          <a:xfrm>
            <a:off x="5570146" y="4287108"/>
            <a:ext cx="5565133" cy="503936"/>
          </a:xfrm>
          <a:prstGeom prst="rect">
            <a:avLst/>
          </a:prstGeom>
          <a:noFill/>
        </p:spPr>
        <p:txBody>
          <a:bodyPr wrap="square" lIns="0" rIns="0" tIns="0" bIns="0">
            <a:spAutoFit/>
          </a:bodyPr>
          <a:lstStyle/>
          <a:p>
            <a:pPr>
              <a:lnSpc>
                <a:spcPct val="105000"/>
              </a:lnSpc>
              <a:spcAft>
                <a:spcPts val="0"/>
              </a:spcAft>
            </a:pPr>
            <a:r>
              <a:rPr sz="1400" b="0">
                <a:solidFill>
                  <a:srgbClr val="24425A"/>
                </a:solidFill>
                <a:latin typeface="Times New Roman"/>
                <a:ea typeface="SimSun"/>
                <a:cs typeface="Times New Roman"/>
              </a:rPr>
              <a:t>复杂几何形态：实际喷雾可能呈椭圆形或扇形，圆锥模型对其进行了简化。</a:t>
            </a:r>
          </a:p>
        </p:txBody>
      </p:sp>
      <p:sp>
        <p:nvSpPr>
          <p:cNvPr id="33" name="矩形 21">
            <a:extLst>
              <a:ext uri="{FF2B5EF4-FFF2-40B4-BE49-F238E27FC236}">
                <a16:creationId xmlns:a16="http://schemas.microsoft.com/office/drawing/2014/main" id="{22F085F9-31D7-47A5-AEDD-519917B26AE2}"/>
              </a:ext>
            </a:extLst>
          </p:cNvPr>
          <p:cNvSpPr/>
          <p:nvPr/>
        </p:nvSpPr>
        <p:spPr>
          <a:xfrm>
            <a:off x="5396696" y="1439745"/>
            <a:ext cx="5641418" cy="588518"/>
          </a:xfrm>
          <a:prstGeom prst="rect">
            <a:avLst/>
          </a:prstGeom>
          <a:ln>
            <a:noFill/>
          </a:ln>
        </p:spPr>
        <p:txBody>
          <a:bodyPr wrap="square" lIns="0" rIns="0" tIns="0" bIns="0">
            <a:noAutofit/>
          </a:bodyPr>
          <a:lstStyle/>
          <a:p>
            <a:pPr marL="0" indent="0" algn="l">
              <a:lnSpc>
                <a:spcPct val="108000"/>
              </a:lnSpc>
              <a:buNone/>
            </a:pPr>
            <a:r>
              <a:rPr lang="en-HK" sz="1550" b="1" dirty="0">
                <a:latin typeface="Times New Roman" panose="02020603050405020304" pitchFamily="18" charset="0"/>
                <a:ea typeface="SimSun"/>
                <a:cs typeface="Times New Roman" panose="02020603050405020304" pitchFamily="18" charset="0"/>
              </a:rPr>
              <a:t>Assumption</a:t>
            </a:r>
            <a:r>
              <a:rPr lang="zh-CN" altLang="en-US" sz="1550" b="1" dirty="0">
                <a:latin typeface="Times New Roman" panose="02020603050405020304" pitchFamily="18" charset="0"/>
                <a:ea typeface="SimSun"/>
                <a:cs typeface="Times New Roman" panose="02020603050405020304" pitchFamily="18" charset="0"/>
              </a:rPr>
              <a:t>：</a:t>
            </a:r>
            <a:endParaRPr lang="en-HK" altLang="zh-CN" sz="1600" b="1" dirty="0">
              <a:latin typeface="Times New Roman" panose="02020603050405020304" pitchFamily="18" charset="0"/>
              <a:ea typeface="SimSun"/>
              <a:cs typeface="Times New Roman" panose="02020603050405020304" pitchFamily="18" charset="0"/>
            </a:endParaRPr>
          </a:p>
        </p:txBody>
      </p:sp>
      <p:sp>
        <p:nvSpPr>
          <p:cNvPr id="34" name="TextBox 1"/>
          <p:cNvSpPr txBox="1"/>
          <p:nvPr/>
        </p:nvSpPr>
        <p:spPr>
          <a:xfrm>
            <a:off x="5396696" y="1705302"/>
            <a:ext cx="5641418"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模型假设：</a:t>
            </a:r>
          </a:p>
        </p:txBody>
      </p:sp>
      <p:sp>
        <p:nvSpPr>
          <p:cNvPr id="35" name="矩形 21">
            <a:extLst>
              <a:ext uri="{FF2B5EF4-FFF2-40B4-BE49-F238E27FC236}">
                <a16:creationId xmlns:a16="http://schemas.microsoft.com/office/drawing/2014/main" id="{22F085F9-31D7-47A5-AEDD-519917B26AE2}"/>
              </a:ext>
            </a:extLst>
          </p:cNvPr>
          <p:cNvSpPr/>
          <p:nvPr/>
        </p:nvSpPr>
        <p:spPr>
          <a:xfrm>
            <a:off x="5396696" y="2028263"/>
            <a:ext cx="5641418" cy="812927"/>
          </a:xfrm>
          <a:prstGeom prst="rect">
            <a:avLst/>
          </a:prstGeom>
          <a:ln>
            <a:noFill/>
          </a:ln>
        </p:spPr>
        <p:txBody>
          <a:bodyPr wrap="square" lIns="0" rIns="0" tIns="0" bIns="0">
            <a:noAutofit/>
          </a:bodyPr>
          <a:lstStyle/>
          <a:p>
            <a:pPr marL="0" indent="0" algn="l">
              <a:lnSpc>
                <a:spcPct val="108000"/>
              </a:lnSpc>
              <a:buNone/>
            </a:pPr>
            <a:r>
              <a:rPr lang="en-HK" sz="1550"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550" dirty="0" err="1">
                <a:latin typeface="Times New Roman" panose="02020603050405020304" pitchFamily="18" charset="0"/>
                <a:ea typeface="SimSun"/>
                <a:cs typeface="Times New Roman" panose="02020603050405020304" pitchFamily="18" charset="0"/>
              </a:rPr>
              <a:t>centered</a:t>
            </a:r>
            <a:r>
              <a:rPr lang="en-HK" sz="1550" dirty="0">
                <a:latin typeface="Times New Roman" panose="02020603050405020304" pitchFamily="18" charset="0"/>
                <a:ea typeface="SimSun"/>
                <a:cs typeface="Times New Roman" panose="02020603050405020304" pitchFamily="18" charset="0"/>
              </a:rPr>
              <a:t> at the spray orifice.</a:t>
            </a:r>
          </a:p>
        </p:txBody>
      </p:sp>
      <p:sp>
        <p:nvSpPr>
          <p:cNvPr id="36" name="TextBox 1"/>
          <p:cNvSpPr txBox="1"/>
          <p:nvPr/>
        </p:nvSpPr>
        <p:spPr>
          <a:xfrm>
            <a:off x="5396696" y="2518228"/>
            <a:ext cx="5641418"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总喷淋流量 Q 在以喷口为球心的任一球面上均匀分布。</a:t>
            </a:r>
          </a:p>
        </p:txBody>
      </p:sp>
      <p:sp>
        <p:nvSpPr>
          <p:cNvPr id="37" name="文本框 22">
            <a:extLst>
              <a:ext uri="{FF2B5EF4-FFF2-40B4-BE49-F238E27FC236}">
                <a16:creationId xmlns:a16="http://schemas.microsoft.com/office/drawing/2014/main" id="{3A92D006-AA92-4C25-A9DD-5947F2234E6F}"/>
              </a:ext>
            </a:extLst>
          </p:cNvPr>
          <p:cNvSpPr txBox="1"/>
          <p:nvPr/>
        </p:nvSpPr>
        <p:spPr>
          <a:xfrm>
            <a:off x="1219312" y="5138950"/>
            <a:ext cx="5568419" cy="1029970"/>
          </a:xfrm>
          <a:prstGeom prst="rect">
            <a:avLst/>
          </a:prstGeom>
          <a:noFill/>
          <a:ln>
            <a:noFill/>
          </a:ln>
        </p:spPr>
        <p:txBody>
          <a:bodyPr wrap="square" lIns="0" rIns="0" tIns="0" bIns="0">
            <a:noAutofit/>
          </a:bodyPr>
          <a:lstStyle/>
          <a:p>
            <a:pPr marL="0" indent="0" algn="l">
              <a:lnSpc>
                <a:spcPct val="108000"/>
              </a:lnSpc>
              <a:buNone/>
            </a:pPr>
            <a:r>
              <a:rPr lang="en-HK" altLang="zh-CN" sz="1300" dirty="0">
                <a:latin typeface="Times New Roman" panose="02020603050405020304" pitchFamily="18" charset="0"/>
                <a:ea typeface="SimSun" panose="02010600030101010101" pitchFamily="2" charset="-122"/>
                <a:cs typeface="Times New Roman" panose="02020603050405020304" pitchFamily="18" charset="0"/>
              </a:rPr>
              <a:t>However, the results we obtain do not necessitate </a:t>
            </a:r>
            <a:r>
              <a:rPr lang="en-HK" altLang="zh-CN" sz="130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fine-grained precision </a:t>
            </a:r>
            <a:r>
              <a:rPr lang="en-HK" altLang="zh-CN" sz="1300" dirty="0">
                <a:latin typeface="Times New Roman" panose="02020603050405020304" pitchFamily="18" charset="0"/>
                <a:ea typeface="SimSun" panose="02010600030101010101" pitchFamily="2" charset="-122"/>
                <a:cs typeface="Times New Roman" panose="02020603050405020304" pitchFamily="18" charset="0"/>
              </a:rPr>
              <a:t>at every line and point, but rather within individual small grids. The </a:t>
            </a:r>
            <a:r>
              <a:rPr lang="en-HK" altLang="zh-CN" sz="130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foundational model </a:t>
            </a:r>
            <a:r>
              <a:rPr lang="en-HK" altLang="zh-CN" sz="1300" dirty="0">
                <a:latin typeface="Times New Roman" panose="02020603050405020304" pitchFamily="18" charset="0"/>
                <a:ea typeface="SimSun" panose="02010600030101010101" pitchFamily="2" charset="-122"/>
                <a:cs typeface="Times New Roman" panose="02020603050405020304" pitchFamily="18" charset="0"/>
              </a:rPr>
              <a:t>has already been validated, and the model we are using has also been successfully verified. To achieve more accurate analysis, we have employed the </a:t>
            </a:r>
            <a:r>
              <a:rPr lang="en-HK" altLang="zh-CN" sz="1300"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Discrete Phase Model (DPM) </a:t>
            </a:r>
            <a:r>
              <a:rPr lang="en-HK" altLang="zh-CN" sz="1300" dirty="0">
                <a:latin typeface="Times New Roman" panose="02020603050405020304" pitchFamily="18" charset="0"/>
                <a:ea typeface="SimSun" panose="02010600030101010101" pitchFamily="2" charset="-122"/>
                <a:cs typeface="Times New Roman" panose="02020603050405020304" pitchFamily="18" charset="0"/>
              </a:rPr>
              <a:t>in subsequent models to simulate the dispersion of spray droplets.</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38" name="TextBox 1"/>
          <p:cNvSpPr txBox="1"/>
          <p:nvPr/>
        </p:nvSpPr>
        <p:spPr>
          <a:xfrm>
            <a:off x="7116915" y="5152666"/>
            <a:ext cx="4200737" cy="1029970"/>
          </a:xfrm>
          <a:prstGeom prst="rect">
            <a:avLst/>
          </a:prstGeom>
          <a:noFill/>
        </p:spPr>
        <p:txBody>
          <a:bodyPr wrap="square" lIns="0" rIns="0" tIns="0" bIns="0">
            <a:spAutoFit/>
          </a:bodyPr>
          <a:lstStyle/>
          <a:p>
            <a:pPr>
              <a:lnSpc>
                <a:spcPct val="105000"/>
              </a:lnSpc>
              <a:spcAft>
                <a:spcPts val="0"/>
              </a:spcAft>
            </a:pPr>
            <a:r>
              <a:rPr sz="1300" b="0">
                <a:solidFill>
                  <a:srgbClr val="303030"/>
                </a:solidFill>
                <a:latin typeface="Times New Roman"/>
                <a:ea typeface="SimSun"/>
                <a:cs typeface="Times New Roman"/>
              </a:rPr>
              <a:t>本研究关注各微小网格内的平均结果，而非每条线、每个点的精细分布。基础模型与本研究模型均已通过验证。为提高分析精度，后续模型采用离散相模型（DPM）模拟喷雾液滴的弥散过程。</a:t>
            </a:r>
          </a:p>
        </p:txBody>
      </p:sp>
    </p:spTree>
    <p:extLst>
      <p:ext uri="{BB962C8B-B14F-4D97-AF65-F5344CB8AC3E}">
        <p14:creationId xmlns:p14="http://schemas.microsoft.com/office/powerpoint/2010/main" val="23031893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800"/>
              </a:spcAft>
            </a:pPr>
            <a:r>
              <a:rPr lang="en-US" altLang="zh-CN" sz="1200"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1200"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62</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sp>
        <p:nvSpPr>
          <p:cNvPr id="21"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四种布置方案的性能差异</a:t>
            </a:r>
          </a:p>
        </p:txBody>
      </p:sp>
      <p:sp>
        <p:nvSpPr>
          <p:cNvPr id="22"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Specific gaps in the four configurations</a:t>
            </a:r>
          </a:p>
        </p:txBody>
      </p:sp>
      <p:sp>
        <p:nvSpPr>
          <p:cNvPr id="23"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4"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25" name="文本框 11">
            <a:extLst>
              <a:ext uri="{FF2B5EF4-FFF2-40B4-BE49-F238E27FC236}">
                <a16:creationId xmlns:a16="http://schemas.microsoft.com/office/drawing/2014/main" id="{5A6E6B83-037F-337A-2F2C-BA728907C8FA}"/>
              </a:ext>
            </a:extLst>
          </p:cNvPr>
          <p:cNvSpPr txBox="1"/>
          <p:nvPr/>
        </p:nvSpPr>
        <p:spPr>
          <a:xfrm>
            <a:off x="1891380" y="5437664"/>
            <a:ext cx="4802263" cy="479806"/>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a:t>
            </a:r>
          </a:p>
        </p:txBody>
      </p:sp>
      <p:sp>
        <p:nvSpPr>
          <p:cNvPr id="26" name="TextBox 1"/>
          <p:cNvSpPr txBox="1"/>
          <p:nvPr/>
        </p:nvSpPr>
        <p:spPr>
          <a:xfrm>
            <a:off x="7022826" y="5451379"/>
            <a:ext cx="3622759" cy="479806"/>
          </a:xfrm>
          <a:prstGeom prst="rect">
            <a:avLst/>
          </a:prstGeom>
          <a:noFill/>
        </p:spPr>
        <p:txBody>
          <a:bodyPr wrap="square" lIns="0" rIns="0" tIns="0" bIns="0">
            <a:spAutoFit/>
          </a:bodyPr>
          <a:lstStyle/>
          <a:p>
            <a:pPr>
              <a:lnSpc>
                <a:spcPct val="105000"/>
              </a:lnSpc>
              <a:spcAft>
                <a:spcPts val="0"/>
              </a:spcAft>
            </a:pPr>
            <a:r>
              <a:rPr sz="1350" b="0">
                <a:solidFill>
                  <a:srgbClr val="303030"/>
                </a:solidFill>
                <a:latin typeface="Times New Roman"/>
                <a:ea typeface="SimSun"/>
                <a:cs typeface="Times New Roman"/>
              </a:rPr>
              <a:t>温降与水膜覆盖系数呈相同变化趋势。</a:t>
            </a:r>
          </a:p>
        </p:txBody>
      </p:sp>
      <p:sp>
        <p:nvSpPr>
          <p:cNvPr id="27" name="文本框 11">
            <a:extLst>
              <a:ext uri="{FF2B5EF4-FFF2-40B4-BE49-F238E27FC236}">
                <a16:creationId xmlns:a16="http://schemas.microsoft.com/office/drawing/2014/main" id="{5A6E6B83-037F-337A-2F2C-BA728907C8FA}"/>
              </a:ext>
            </a:extLst>
          </p:cNvPr>
          <p:cNvSpPr txBox="1"/>
          <p:nvPr/>
        </p:nvSpPr>
        <p:spPr>
          <a:xfrm>
            <a:off x="1891380" y="5917470"/>
            <a:ext cx="4802263" cy="479806"/>
          </a:xfrm>
          <a:prstGeom prst="rect">
            <a:avLst/>
          </a:prstGeom>
          <a:noFill/>
          <a:ln>
            <a:noFill/>
          </a:ln>
        </p:spPr>
        <p:txBody>
          <a:bodyPr wrap="square" lIns="0" rIns="0" tIns="0" bIns="0">
            <a:noAutofit/>
          </a:bodyPr>
          <a:lstStyle/>
          <a:p>
            <a:pPr marL="0" indent="0" algn="l">
              <a:lnSpc>
                <a:spcPct val="108000"/>
              </a:lnSpc>
              <a:buNone/>
            </a:pP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35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350"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p>
        </p:txBody>
      </p:sp>
      <p:sp>
        <p:nvSpPr>
          <p:cNvPr id="28" name="TextBox 1"/>
          <p:cNvSpPr txBox="1"/>
          <p:nvPr/>
        </p:nvSpPr>
        <p:spPr>
          <a:xfrm>
            <a:off x="7022826" y="5931186"/>
            <a:ext cx="3622759" cy="479806"/>
          </a:xfrm>
          <a:prstGeom prst="rect">
            <a:avLst/>
          </a:prstGeom>
          <a:noFill/>
        </p:spPr>
        <p:txBody>
          <a:bodyPr wrap="square" lIns="0" rIns="0" tIns="0" bIns="0">
            <a:spAutoFit/>
          </a:bodyPr>
          <a:lstStyle/>
          <a:p>
            <a:pPr>
              <a:lnSpc>
                <a:spcPct val="105000"/>
              </a:lnSpc>
              <a:spcAft>
                <a:spcPts val="0"/>
              </a:spcAft>
            </a:pPr>
            <a:r>
              <a:rPr sz="1350" b="0">
                <a:solidFill>
                  <a:srgbClr val="303030"/>
                </a:solidFill>
                <a:latin typeface="Times New Roman"/>
                <a:ea typeface="SimSun"/>
                <a:cs typeface="Times New Roman"/>
              </a:rPr>
              <a:t>上侧布置的效果最佳；与最差方案相比，两项性能指标分别提升 59.2% 和 27.4%。</a:t>
            </a:r>
          </a:p>
        </p:txBody>
      </p:sp>
    </p:spTree>
    <p:extLst>
      <p:ext uri="{BB962C8B-B14F-4D97-AF65-F5344CB8AC3E}">
        <p14:creationId xmlns:p14="http://schemas.microsoft.com/office/powerpoint/2010/main" val="23711433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63</a:t>
            </a:fld>
            <a:endParaRPr lang="en-US" altLang="zh-CN">
              <a:latin typeface="Times New Roman"/>
              <a:ea typeface="SimSun"/>
              <a:cs typeface="Times New Roman"/>
            </a:endParaRPr>
          </a:p>
        </p:txBody>
      </p:sp>
      <p:pic>
        <p:nvPicPr>
          <p:cNvPr id="25" name="图片 24">
            <a:extLst>
              <a:ext uri="{FF2B5EF4-FFF2-40B4-BE49-F238E27FC236}">
                <a16:creationId xmlns:a16="http://schemas.microsoft.com/office/drawing/2014/main" id="{94BC13B0-4A28-422E-A87C-E913D3996445}"/>
              </a:ext>
            </a:extLst>
          </p:cNvPr>
          <p:cNvPicPr/>
          <p:nvPr/>
        </p:nvPicPr>
        <p:blipFill>
          <a:blip r:embed="rId3">
            <a:extLst>
              <a:ext uri="{28A0092B-C50C-407E-A947-70E740481C1C}">
                <a14:useLocalDpi xmlns:a14="http://schemas.microsoft.com/office/drawing/2010/main" val="0"/>
              </a:ext>
            </a:extLst>
          </a:blip>
          <a:stretch>
            <a:fillRect/>
          </a:stretch>
        </p:blipFill>
        <p:spPr>
          <a:xfrm>
            <a:off x="410447" y="1746191"/>
            <a:ext cx="5513070" cy="3779520"/>
          </a:xfrm>
          <a:prstGeom prst="rect">
            <a:avLst/>
          </a:prstGeom>
        </p:spPr>
      </p:pic>
      <p:sp>
        <p:nvSpPr>
          <p:cNvPr id="26" name="矩形 25">
            <a:extLst>
              <a:ext uri="{FF2B5EF4-FFF2-40B4-BE49-F238E27FC236}">
                <a16:creationId xmlns:a16="http://schemas.microsoft.com/office/drawing/2014/main" id="{DF470D1D-9E7F-4D72-A435-F6956581D399}"/>
              </a:ext>
            </a:extLst>
          </p:cNvPr>
          <p:cNvSpPr/>
          <p:nvPr/>
        </p:nvSpPr>
        <p:spPr>
          <a:xfrm>
            <a:off x="1962612" y="5501922"/>
            <a:ext cx="3246851" cy="276999"/>
          </a:xfrm>
          <a:prstGeom prst="rect">
            <a:avLst/>
          </a:prstGeom>
        </p:spPr>
        <p:txBody>
          <a:bodyPr wrap="squar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SimSun"/>
                <a:cs typeface="Times New Roman" panose="02020603050405020304" pitchFamily="18" charset="0"/>
              </a:rPr>
              <a:t>Fig.8.6 </a:t>
            </a:r>
            <a:r>
              <a:rPr lang="en-HK" sz="1200"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p:sp>
        <p:nvSpPr>
          <p:cNvPr id="27"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IEC–ANN 模型</a:t>
            </a:r>
          </a:p>
        </p:txBody>
      </p:sp>
      <p:sp>
        <p:nvSpPr>
          <p:cNvPr id="28"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IEC-ANN model</a:t>
            </a:r>
          </a:p>
        </p:txBody>
      </p:sp>
      <p:sp>
        <p:nvSpPr>
          <p:cNvPr id="29"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30"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
        <p:nvSpPr>
          <p:cNvPr id="31" name="文本框 11">
            <a:extLst>
              <a:ext uri="{FF2B5EF4-FFF2-40B4-BE49-F238E27FC236}">
                <a16:creationId xmlns:a16="http://schemas.microsoft.com/office/drawing/2014/main" id="{5A6E6B83-037F-337A-2F2C-BA728907C8FA}"/>
              </a:ext>
            </a:extLst>
          </p:cNvPr>
          <p:cNvSpPr txBox="1"/>
          <p:nvPr/>
        </p:nvSpPr>
        <p:spPr>
          <a:xfrm>
            <a:off x="6268483" y="1660745"/>
            <a:ext cx="5222033" cy="812927"/>
          </a:xfrm>
          <a:prstGeom prst="rect">
            <a:avLst/>
          </a:prstGeom>
          <a:noFill/>
          <a:ln>
            <a:noFill/>
          </a:ln>
        </p:spPr>
        <p:txBody>
          <a:bodyPr wrap="square" lIns="0" rIns="0" tIns="0" bIns="0">
            <a:noAutofit/>
          </a:bodyPr>
          <a:lstStyle/>
          <a:p>
            <a:pPr marL="0" indent="0" algn="l">
              <a:lnSpc>
                <a:spcPct val="108000"/>
              </a:lnSpc>
              <a:buNone/>
            </a:pPr>
            <a:r>
              <a:rPr lang="en-HK" altLang="zh-CN" sz="1550" b="1" dirty="0">
                <a:latin typeface="Times New Roman" panose="02020603050405020304" pitchFamily="18" charset="0"/>
                <a:ea typeface="SimSun" panose="02010600030101010101" pitchFamily="2" charset="-122"/>
                <a:cs typeface="Times New Roman" panose="02020603050405020304" pitchFamily="18" charset="0"/>
              </a:rPr>
              <a:t>Accurate measurements: </a:t>
            </a:r>
            <a:r>
              <a:rPr lang="en-HK" altLang="zh-CN" sz="1550" dirty="0">
                <a:latin typeface="Times New Roman" panose="02020603050405020304" pitchFamily="18" charset="0"/>
                <a:ea typeface="SimSun" panose="02010600030101010101" pitchFamily="2" charset="-122"/>
                <a:cs typeface="Times New Roman" panose="02020603050405020304" pitchFamily="18" charset="0"/>
              </a:rPr>
              <a:t>Use precise instruments to collect data. Regularly maintain equipment to ensure consistent accuracy.</a:t>
            </a:r>
          </a:p>
        </p:txBody>
      </p:sp>
      <p:sp>
        <p:nvSpPr>
          <p:cNvPr id="32" name="TextBox 1"/>
          <p:cNvSpPr txBox="1"/>
          <p:nvPr/>
        </p:nvSpPr>
        <p:spPr>
          <a:xfrm>
            <a:off x="6268483" y="2150711"/>
            <a:ext cx="5222033"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精确测量：采用高精度仪器采集数据，并定期维护设备。</a:t>
            </a:r>
          </a:p>
        </p:txBody>
      </p:sp>
      <p:sp>
        <p:nvSpPr>
          <p:cNvPr id="33" name="文本框 11">
            <a:extLst>
              <a:ext uri="{FF2B5EF4-FFF2-40B4-BE49-F238E27FC236}">
                <a16:creationId xmlns:a16="http://schemas.microsoft.com/office/drawing/2014/main" id="{5A6E6B83-037F-337A-2F2C-BA728907C8FA}"/>
              </a:ext>
            </a:extLst>
          </p:cNvPr>
          <p:cNvSpPr txBox="1"/>
          <p:nvPr/>
        </p:nvSpPr>
        <p:spPr>
          <a:xfrm>
            <a:off x="6268483" y="2473672"/>
            <a:ext cx="5222033" cy="812927"/>
          </a:xfrm>
          <a:prstGeom prst="rect">
            <a:avLst/>
          </a:prstGeom>
          <a:noFill/>
          <a:ln>
            <a:noFill/>
          </a:ln>
        </p:spPr>
        <p:txBody>
          <a:bodyPr wrap="square" lIns="0" rIns="0" tIns="0" bIns="0">
            <a:noAutofit/>
          </a:bodyPr>
          <a:lstStyle/>
          <a:p>
            <a:pPr marL="0" indent="0" algn="l">
              <a:lnSpc>
                <a:spcPct val="108000"/>
              </a:lnSpc>
              <a:buNone/>
            </a:pPr>
            <a:r>
              <a:rPr lang="en-HK" altLang="zh-CN" sz="1550" b="1" dirty="0">
                <a:latin typeface="Times New Roman" panose="02020603050405020304" pitchFamily="18" charset="0"/>
                <a:ea typeface="SimSun" panose="02010600030101010101" pitchFamily="2" charset="-122"/>
                <a:cs typeface="Times New Roman" panose="02020603050405020304" pitchFamily="18" charset="0"/>
              </a:rPr>
              <a:t>Replication and Validation</a:t>
            </a:r>
            <a:r>
              <a:rPr lang="en-HK" altLang="zh-CN" sz="1550" dirty="0">
                <a:latin typeface="Times New Roman" panose="02020603050405020304" pitchFamily="18" charset="0"/>
                <a:ea typeface="SimSun" panose="02010600030101010101" pitchFamily="2" charset="-122"/>
                <a:cs typeface="Times New Roman" panose="02020603050405020304" pitchFamily="18" charset="0"/>
              </a:rPr>
              <a:t>: Conduct multiple trials and replicate experiments to validate results.</a:t>
            </a:r>
          </a:p>
        </p:txBody>
      </p:sp>
      <p:sp>
        <p:nvSpPr>
          <p:cNvPr id="34" name="TextBox 1"/>
          <p:cNvSpPr txBox="1"/>
          <p:nvPr/>
        </p:nvSpPr>
        <p:spPr>
          <a:xfrm>
            <a:off x="6268483" y="2963637"/>
            <a:ext cx="5222033"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重复与验证：开展多次重复实验，验证结果的可靠性。</a:t>
            </a:r>
          </a:p>
        </p:txBody>
      </p:sp>
      <p:sp>
        <p:nvSpPr>
          <p:cNvPr id="35" name="文本框 11">
            <a:extLst>
              <a:ext uri="{FF2B5EF4-FFF2-40B4-BE49-F238E27FC236}">
                <a16:creationId xmlns:a16="http://schemas.microsoft.com/office/drawing/2014/main" id="{5A6E6B83-037F-337A-2F2C-BA728907C8FA}"/>
              </a:ext>
            </a:extLst>
          </p:cNvPr>
          <p:cNvSpPr txBox="1"/>
          <p:nvPr/>
        </p:nvSpPr>
        <p:spPr>
          <a:xfrm>
            <a:off x="6268483" y="3286599"/>
            <a:ext cx="5222033" cy="1037336"/>
          </a:xfrm>
          <a:prstGeom prst="rect">
            <a:avLst/>
          </a:prstGeom>
          <a:noFill/>
          <a:ln>
            <a:noFill/>
          </a:ln>
        </p:spPr>
        <p:txBody>
          <a:bodyPr wrap="square" lIns="0" rIns="0" tIns="0" bIns="0">
            <a:noAutofit/>
          </a:bodyPr>
          <a:lstStyle/>
          <a:p>
            <a:pPr marL="0" indent="0" algn="l">
              <a:lnSpc>
                <a:spcPct val="108000"/>
              </a:lnSpc>
              <a:buNone/>
            </a:pPr>
            <a:r>
              <a:rPr lang="en-HK" altLang="zh-CN" sz="1550" b="1" dirty="0">
                <a:latin typeface="Times New Roman" panose="02020603050405020304" pitchFamily="18" charset="0"/>
                <a:ea typeface="SimSun" panose="02010600030101010101" pitchFamily="2" charset="-122"/>
                <a:cs typeface="Times New Roman" panose="02020603050405020304" pitchFamily="18" charset="0"/>
              </a:rPr>
              <a:t>Normalization and standardization</a:t>
            </a:r>
            <a:r>
              <a:rPr lang="en-HK" altLang="zh-CN" sz="1550" dirty="0">
                <a:latin typeface="Times New Roman" panose="02020603050405020304" pitchFamily="18" charset="0"/>
                <a:ea typeface="SimSun" panose="02010600030101010101" pitchFamily="2" charset="-122"/>
                <a:cs typeface="Times New Roman" panose="02020603050405020304" pitchFamily="18" charset="0"/>
              </a:rPr>
              <a:t>: Normalize data to ensure that different features contribute equally to the model training process.</a:t>
            </a:r>
          </a:p>
        </p:txBody>
      </p:sp>
      <p:sp>
        <p:nvSpPr>
          <p:cNvPr id="36" name="TextBox 1"/>
          <p:cNvSpPr txBox="1"/>
          <p:nvPr/>
        </p:nvSpPr>
        <p:spPr>
          <a:xfrm>
            <a:off x="6268483" y="3776565"/>
            <a:ext cx="5222033" cy="54737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归一化与标准化：统一特征尺度，避免不同量纲影响模型训练。</a:t>
            </a:r>
          </a:p>
        </p:txBody>
      </p:sp>
      <p:sp>
        <p:nvSpPr>
          <p:cNvPr id="37" name="文本框 11">
            <a:extLst>
              <a:ext uri="{FF2B5EF4-FFF2-40B4-BE49-F238E27FC236}">
                <a16:creationId xmlns:a16="http://schemas.microsoft.com/office/drawing/2014/main" id="{5A6E6B83-037F-337A-2F2C-BA728907C8FA}"/>
              </a:ext>
            </a:extLst>
          </p:cNvPr>
          <p:cNvSpPr txBox="1"/>
          <p:nvPr/>
        </p:nvSpPr>
        <p:spPr>
          <a:xfrm>
            <a:off x="6268483" y="4323935"/>
            <a:ext cx="5222033" cy="1037336"/>
          </a:xfrm>
          <a:prstGeom prst="rect">
            <a:avLst/>
          </a:prstGeom>
          <a:noFill/>
          <a:ln>
            <a:noFill/>
          </a:ln>
        </p:spPr>
        <p:txBody>
          <a:bodyPr wrap="square" lIns="0" rIns="0" tIns="0" bIns="0">
            <a:noAutofit/>
          </a:bodyPr>
          <a:lstStyle/>
          <a:p>
            <a:pPr marL="0" indent="0" algn="l">
              <a:lnSpc>
                <a:spcPct val="108000"/>
              </a:lnSpc>
              <a:buNone/>
            </a:pPr>
            <a:r>
              <a:rPr lang="en-HK" altLang="zh-CN" sz="1550" b="1" dirty="0">
                <a:latin typeface="Times New Roman" panose="02020603050405020304" pitchFamily="18" charset="0"/>
                <a:ea typeface="SimSun" panose="02010600030101010101" pitchFamily="2" charset="-122"/>
                <a:cs typeface="Times New Roman" panose="02020603050405020304" pitchFamily="18" charset="0"/>
              </a:rPr>
              <a:t>Cross-Validation: </a:t>
            </a:r>
            <a:r>
              <a:rPr lang="en-HK" altLang="zh-CN" sz="1550" dirty="0">
                <a:latin typeface="Times New Roman" panose="02020603050405020304" pitchFamily="18" charset="0"/>
                <a:ea typeface="SimSun" panose="02010600030101010101" pitchFamily="2" charset="-122"/>
                <a:cs typeface="Times New Roman" panose="02020603050405020304" pitchFamily="18" charset="0"/>
              </a:rPr>
              <a:t>Use cross-validation techniques to assess the performance of the machine learning model. This helps in ensuring that the model generalizes well to unseen data.</a:t>
            </a:r>
          </a:p>
        </p:txBody>
      </p:sp>
      <p:sp>
        <p:nvSpPr>
          <p:cNvPr id="38" name="TextBox 1"/>
          <p:cNvSpPr txBox="1"/>
          <p:nvPr/>
        </p:nvSpPr>
        <p:spPr>
          <a:xfrm>
            <a:off x="6268483" y="5038309"/>
            <a:ext cx="5222033"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交叉验证：评估模型对未见数据的泛化能力。</a:t>
            </a:r>
          </a:p>
        </p:txBody>
      </p:sp>
      <p:sp>
        <p:nvSpPr>
          <p:cNvPr id="39" name="文本框 11">
            <a:extLst>
              <a:ext uri="{FF2B5EF4-FFF2-40B4-BE49-F238E27FC236}">
                <a16:creationId xmlns:a16="http://schemas.microsoft.com/office/drawing/2014/main" id="{5A6E6B83-037F-337A-2F2C-BA728907C8FA}"/>
              </a:ext>
            </a:extLst>
          </p:cNvPr>
          <p:cNvSpPr txBox="1"/>
          <p:nvPr/>
        </p:nvSpPr>
        <p:spPr>
          <a:xfrm>
            <a:off x="6268483" y="5361271"/>
            <a:ext cx="5222033" cy="812927"/>
          </a:xfrm>
          <a:prstGeom prst="rect">
            <a:avLst/>
          </a:prstGeom>
          <a:noFill/>
          <a:ln>
            <a:noFill/>
          </a:ln>
        </p:spPr>
        <p:txBody>
          <a:bodyPr wrap="square" lIns="0" rIns="0" tIns="0" bIns="0">
            <a:noAutofit/>
          </a:bodyPr>
          <a:lstStyle/>
          <a:p>
            <a:pPr marL="0" indent="0" algn="l">
              <a:lnSpc>
                <a:spcPct val="108000"/>
              </a:lnSpc>
              <a:buNone/>
            </a:pPr>
            <a:r>
              <a:rPr lang="en-HK" altLang="zh-CN" sz="1550" b="1" dirty="0">
                <a:latin typeface="Times New Roman" panose="02020603050405020304" pitchFamily="18" charset="0"/>
                <a:ea typeface="SimSun" panose="02010600030101010101" pitchFamily="2" charset="-122"/>
                <a:cs typeface="Times New Roman" panose="02020603050405020304" pitchFamily="18" charset="0"/>
              </a:rPr>
              <a:t>Evaluation metrics: </a:t>
            </a:r>
            <a:r>
              <a:rPr lang="en-HK" altLang="zh-CN" sz="1550" dirty="0">
                <a:latin typeface="Times New Roman" panose="02020603050405020304" pitchFamily="18" charset="0"/>
                <a:ea typeface="SimSun" panose="02010600030101010101" pitchFamily="2" charset="-122"/>
                <a:cs typeface="Times New Roman" panose="02020603050405020304" pitchFamily="18" charset="0"/>
              </a:rPr>
              <a:t>The reliability of the model was verified with the evaluation parameters</a:t>
            </a:r>
          </a:p>
        </p:txBody>
      </p:sp>
      <p:sp>
        <p:nvSpPr>
          <p:cNvPr id="40" name="TextBox 1"/>
          <p:cNvSpPr txBox="1"/>
          <p:nvPr/>
        </p:nvSpPr>
        <p:spPr>
          <a:xfrm>
            <a:off x="6268483" y="5851236"/>
            <a:ext cx="5222033" cy="322960"/>
          </a:xfrm>
          <a:prstGeom prst="rect">
            <a:avLst/>
          </a:prstGeom>
          <a:noFill/>
        </p:spPr>
        <p:txBody>
          <a:bodyPr wrap="square" lIns="0" rIns="0" tIns="0" bIns="0">
            <a:spAutoFit/>
          </a:bodyPr>
          <a:lstStyle/>
          <a:p>
            <a:pPr>
              <a:lnSpc>
                <a:spcPct val="105000"/>
              </a:lnSpc>
              <a:spcAft>
                <a:spcPts val="0"/>
              </a:spcAft>
            </a:pPr>
            <a:r>
              <a:rPr sz="1550" b="0">
                <a:solidFill>
                  <a:srgbClr val="24425A"/>
                </a:solidFill>
                <a:latin typeface="Times New Roman"/>
                <a:ea typeface="SimSun"/>
                <a:cs typeface="Times New Roman"/>
              </a:rPr>
              <a:t>评价指标：采用模型评价参数验证预测可靠性。</a:t>
            </a:r>
          </a:p>
        </p:txBody>
      </p:sp>
    </p:spTree>
    <p:extLst>
      <p:ext uri="{BB962C8B-B14F-4D97-AF65-F5344CB8AC3E}">
        <p14:creationId xmlns:p14="http://schemas.microsoft.com/office/powerpoint/2010/main" val="153008397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r>
              <a:rPr lang="en-US" altLang="zh-CN" sz="1100"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100">
                <a:latin typeface="Times New Roman" panose="020F0502020204030204" pitchFamily="34" charset="0"/>
                <a:ea typeface="SimSun" panose="02010600030101010101" pitchFamily="2" charset="-122"/>
                <a:cs typeface="Times New Roman" panose="02020603050405020304" pitchFamily="18" charset="0"/>
              </a:rPr>
              <a:t> </a:t>
            </a:r>
            <a:endParaRPr lang="en-US" altLang="zh-CN" sz="400">
              <a:latin typeface="Times New Roman"/>
              <a:ea typeface="SimSun"/>
              <a:cs typeface="Times New Roman"/>
            </a:endParaRPr>
          </a:p>
          <a:p>
            <a:pPr algn="ctr"/>
            <a:r>
              <a:rPr lang="en-US" altLang="zh-CN" sz="100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800">
              <a:latin typeface="Times New Roman" panose="020B0604020202020204" pitchFamily="34" charset="0"/>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64</a:t>
            </a:fld>
            <a:endParaRPr lang="en-US" altLang="zh-CN">
              <a:latin typeface="Times New Roman"/>
              <a:ea typeface="SimSun"/>
              <a:cs typeface="Times New Roman"/>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8" name="对象 7">
            <a:extLst>
              <a:ext uri="{FF2B5EF4-FFF2-40B4-BE49-F238E27FC236}">
                <a16:creationId xmlns:a16="http://schemas.microsoft.com/office/drawing/2014/main" id="{D5119FC1-DE95-4D40-81E9-985D8969E4BF}"/>
              </a:ext>
            </a:extLst>
          </p:cNvPr>
          <p:cNvGraphicFramePr>
            <a:graphicFrameLocks noChangeAspect="1"/>
          </p:cNvGraphicFramePr>
          <p:nvPr>
            <p:extLst>
              <p:ext uri="{D42A27DB-BD31-4B8C-83A1-F6EECF244321}">
                <p14:modId xmlns:p14="http://schemas.microsoft.com/office/powerpoint/2010/main" val="3488640969"/>
              </p:ext>
            </p:extLst>
          </p:nvPr>
        </p:nvGraphicFramePr>
        <p:xfrm>
          <a:off x="3914607" y="1340418"/>
          <a:ext cx="3810000" cy="3216275"/>
        </p:xfrm>
        <a:graphic>
          <a:graphicData uri="http://schemas.openxmlformats.org/presentationml/2006/ole">
            <mc:AlternateContent xmlns:mc="http://schemas.openxmlformats.org/markup-compatibility/2006">
              <mc:Choice xmlns:v="urn:schemas-microsoft-com:vml" Requires="v">
                <p:oleObj name="Graph" r:id="rId3" imgW="6246376" imgH="5282235" progId="Origin95.Graph">
                  <p:embed/>
                </p:oleObj>
              </mc:Choice>
              <mc:Fallback>
                <p:oleObj name="Graph" r:id="rId3" imgW="6246376" imgH="5282235" progId="Origin95.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607" y="1340418"/>
                        <a:ext cx="3810000" cy="321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3">
            <a:extLst>
              <a:ext uri="{FF2B5EF4-FFF2-40B4-BE49-F238E27FC236}">
                <a16:creationId xmlns:a16="http://schemas.microsoft.com/office/drawing/2014/main" id="{4E3D6147-4C76-42AA-B17D-C4B6E87525EC}"/>
              </a:ext>
            </a:extLst>
          </p:cNvPr>
          <p:cNvSpPr>
            <a:spLocks noChangeArrowheads="1"/>
          </p:cNvSpPr>
          <p:nvPr/>
        </p:nvSpPr>
        <p:spPr bwMode="auto">
          <a:xfrm>
            <a:off x="3116146" y="4460937"/>
            <a:ext cx="59597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b="1" dirty="0" bmk="_Toc168350228">
                <a:latin typeface="Times New Roman" panose="02020603050405020304" pitchFamily="18" charset="0"/>
                <a:ea typeface="SimSun" panose="02010600030101010101" pitchFamily="2" charset="-122"/>
                <a:cs typeface="Times New Roman" panose="02020603050405020304" pitchFamily="18" charset="0"/>
              </a:rPr>
              <a:t>Fig. 8.7 </a:t>
            </a:r>
            <a:r>
              <a:rPr lang="en-US" altLang="en-US" sz="1200" dirty="0" err="1" bmk="_Toc168350228">
                <a:latin typeface="Times New Roman" panose="02020603050405020304" pitchFamily="18" charset="0"/>
                <a:ea typeface="SimSun" panose="02010600030101010101" pitchFamily="2" charset="-122"/>
                <a:cs typeface="Times New Roman" panose="02020603050405020304" pitchFamily="18" charset="0"/>
              </a:rPr>
              <a:t>Valdation</a:t>
            </a:r>
            <a:r>
              <a:rPr lang="en-US" altLang="en-US" sz="1200" dirty="0" bmk="_Toc168350228">
                <a:latin typeface="Times New Roman" panose="02020603050405020304" pitchFamily="18" charset="0"/>
                <a:ea typeface="SimSun" panose="02010600030101010101" pitchFamily="2" charset="-122"/>
                <a:cs typeface="Times New Roman" panose="02020603050405020304" pitchFamily="18" charset="0"/>
              </a:rPr>
              <a:t> of film thickness between simulation results and Nusselt empirical formula</a:t>
            </a:r>
            <a:endParaRPr lang="en-US" altLang="en-US" sz="12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4" name="图片 13">
            <a:extLst>
              <a:ext uri="{FF2B5EF4-FFF2-40B4-BE49-F238E27FC236}">
                <a16:creationId xmlns:a16="http://schemas.microsoft.com/office/drawing/2014/main" id="{5FD60F98-ACFF-41DC-B62B-D643BCE5C681}"/>
              </a:ext>
            </a:extLst>
          </p:cNvPr>
          <p:cNvPicPr>
            <a:picLocks noChangeAspect="1"/>
          </p:cNvPicPr>
          <p:nvPr/>
        </p:nvPicPr>
        <p:blipFill>
          <a:blip r:embed="rId5"/>
          <a:stretch>
            <a:fillRect/>
          </a:stretch>
        </p:blipFill>
        <p:spPr>
          <a:xfrm>
            <a:off x="1326804" y="2786825"/>
            <a:ext cx="2468359" cy="642175"/>
          </a:xfrm>
          <a:prstGeom prst="rect">
            <a:avLst/>
          </a:prstGeom>
        </p:spPr>
      </p:pic>
      <p:pic>
        <p:nvPicPr>
          <p:cNvPr id="21" name="图片 20">
            <a:extLst>
              <a:ext uri="{FF2B5EF4-FFF2-40B4-BE49-F238E27FC236}">
                <a16:creationId xmlns:a16="http://schemas.microsoft.com/office/drawing/2014/main" id="{8B772533-C987-4453-BCC5-D5778C960FE7}"/>
              </a:ext>
            </a:extLst>
          </p:cNvPr>
          <p:cNvPicPr>
            <a:picLocks noChangeAspect="1"/>
          </p:cNvPicPr>
          <p:nvPr/>
        </p:nvPicPr>
        <p:blipFill>
          <a:blip r:embed="rId6"/>
          <a:stretch>
            <a:fillRect/>
          </a:stretch>
        </p:blipFill>
        <p:spPr>
          <a:xfrm>
            <a:off x="3635560" y="5434987"/>
            <a:ext cx="4847656" cy="906337"/>
          </a:xfrm>
          <a:prstGeom prst="rect">
            <a:avLst/>
          </a:prstGeom>
        </p:spPr>
      </p:pic>
      <p:sp>
        <p:nvSpPr>
          <p:cNvPr id="22" name="文本框 21">
            <a:extLst>
              <a:ext uri="{FF2B5EF4-FFF2-40B4-BE49-F238E27FC236}">
                <a16:creationId xmlns:a16="http://schemas.microsoft.com/office/drawing/2014/main" id="{85402440-9961-409A-BC48-AA94924C7796}"/>
              </a:ext>
            </a:extLst>
          </p:cNvPr>
          <p:cNvSpPr txBox="1"/>
          <p:nvPr/>
        </p:nvSpPr>
        <p:spPr>
          <a:xfrm>
            <a:off x="976980" y="5348561"/>
            <a:ext cx="2298065" cy="338041"/>
          </a:xfrm>
          <a:prstGeom prst="rect">
            <a:avLst/>
          </a:prstGeom>
          <a:noFill/>
        </p:spPr>
        <p:txBody>
          <a:bodyPr wrap="square">
            <a:spAutoFit/>
          </a:bodyPr>
          <a:lstStyle/>
          <a:p>
            <a:pPr marL="285750" indent="-285750" algn="just">
              <a:lnSpc>
                <a:spcPct val="107000"/>
              </a:lnSpc>
              <a:spcAft>
                <a:spcPts val="800"/>
              </a:spcAft>
              <a:buFont typeface="Wingdings" panose="05000000000000000000" pitchFamily="2" charset="2"/>
              <a:buChar char="Ø"/>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Uncertainty analysis:</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A4FFE56-DB2D-4766-A2FF-992EBB70A6BE}"/>
                  </a:ext>
                </a:extLst>
              </p:cNvPr>
              <p:cNvSpPr txBox="1"/>
              <p:nvPr/>
            </p:nvSpPr>
            <p:spPr>
              <a:xfrm>
                <a:off x="9309100" y="5719307"/>
                <a:ext cx="2298065" cy="338041"/>
              </a:xfrm>
              <a:prstGeom prst="rect">
                <a:avLst/>
              </a:prstGeom>
              <a:noFill/>
            </p:spPr>
            <p:txBody>
              <a:bodyPr wrap="square">
                <a:spAutoFit/>
              </a:bodyPr>
              <a:lstStyle/>
              <a:p>
                <a:pPr algn="just">
                  <a:lnSpc>
                    <a:spcPct val="107000"/>
                  </a:lnSpc>
                  <a:spcAft>
                    <a:spcPts val="800"/>
                  </a:spcAft>
                </a:pPr>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Less than </a:t>
                </a:r>
                <a14:m>
                  <m:oMath xmlns:m="http://schemas.openxmlformats.org/officeDocument/2006/math">
                    <m:r>
                      <a:rPr lang="en-US"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2.5%</a:t>
                </a:r>
              </a:p>
            </p:txBody>
          </p:sp>
        </mc:Choice>
        <mc:Fallback xmlns="">
          <p:sp>
            <p:nvSpPr>
              <p:cNvPr id="23" name="文本框 22">
                <a:extLst>
                  <a:ext uri="{FF2B5EF4-FFF2-40B4-BE49-F238E27FC236}">
                    <a16:creationId xmlns:a16="http://schemas.microsoft.com/office/drawing/2014/main" id="{9A4FFE56-DB2D-4766-A2FF-992EBB70A6BE}"/>
                  </a:ext>
                </a:extLst>
              </p:cNvPr>
              <p:cNvSpPr txBox="1">
                <a:spLocks noRot="1" noChangeAspect="1" noMove="1" noResize="1" noEditPoints="1" noAdjustHandles="1" noChangeArrowheads="1" noChangeShapeType="1" noTextEdit="1"/>
              </p:cNvSpPr>
              <p:nvPr/>
            </p:nvSpPr>
            <p:spPr>
              <a:xfrm>
                <a:off x="9309100" y="5719307"/>
                <a:ext cx="2298065" cy="338041"/>
              </a:xfrm>
              <a:prstGeom prst="rect">
                <a:avLst/>
              </a:prstGeom>
              <a:blipFill>
                <a:blip r:embed="rId8"/>
                <a:stretch>
                  <a:fillRect l="-1326" t="-5357" b="-21429"/>
                </a:stretch>
              </a:blipFill>
            </p:spPr>
            <p:txBody>
              <a:bodyPr/>
              <a:lstStyle/>
              <a:p>
                <a:r>
                  <a:rPr lang="en-US">
                    <a:noFill/>
                    <a:latin typeface="Times New Roman"/>
                    <a:ea typeface="SimSun"/>
                    <a:cs typeface="Times New Roman"/>
                  </a:rPr>
                  <a:t> </a:t>
                </a:r>
              </a:p>
            </p:txBody>
          </p:sp>
        </mc:Fallback>
      </mc:AlternateContent>
      <p:sp>
        <p:nvSpPr>
          <p:cNvPr id="24" name="TextBox 1"/>
          <p:cNvSpPr txBox="1"/>
          <p:nvPr/>
        </p:nvSpPr>
        <p:spPr>
          <a:xfrm>
            <a:off x="530352" y="155448"/>
            <a:ext cx="7360920" cy="365760"/>
          </a:xfrm>
          <a:prstGeom prst="rect">
            <a:avLst/>
          </a:prstGeom>
          <a:noFill/>
        </p:spPr>
        <p:txBody>
          <a:bodyPr wrap="square" lIns="0" rIns="0" tIns="0" bIns="0">
            <a:spAutoFit/>
          </a:bodyPr>
          <a:lstStyle/>
          <a:p>
            <a:pPr>
              <a:lnSpc>
                <a:spcPct val="105000"/>
              </a:lnSpc>
              <a:spcAft>
                <a:spcPts val="0"/>
              </a:spcAft>
            </a:pPr>
            <a:r>
              <a:rPr sz="2200" b="1">
                <a:solidFill>
                  <a:srgbClr val="8C172D"/>
                </a:solidFill>
                <a:latin typeface="Times New Roman"/>
                <a:ea typeface="SimSun"/>
                <a:cs typeface="Times New Roman"/>
              </a:rPr>
              <a:t>水膜厚度验证</a:t>
            </a:r>
          </a:p>
        </p:txBody>
      </p:sp>
      <p:sp>
        <p:nvSpPr>
          <p:cNvPr id="25" name="TextBox 1"/>
          <p:cNvSpPr txBox="1"/>
          <p:nvPr/>
        </p:nvSpPr>
        <p:spPr>
          <a:xfrm>
            <a:off x="548640" y="630936"/>
            <a:ext cx="8961120" cy="393192"/>
          </a:xfrm>
          <a:prstGeom prst="rect">
            <a:avLst/>
          </a:prstGeom>
          <a:noFill/>
        </p:spPr>
        <p:txBody>
          <a:bodyPr wrap="square" lIns="0" rIns="0" tIns="0" bIns="0">
            <a:spAutoFit/>
          </a:bodyPr>
          <a:lstStyle/>
          <a:p>
            <a:pPr>
              <a:lnSpc>
                <a:spcPct val="105000"/>
              </a:lnSpc>
              <a:spcAft>
                <a:spcPts val="0"/>
              </a:spcAft>
            </a:pPr>
            <a:r>
              <a:rPr sz="1500" b="0">
                <a:solidFill>
                  <a:srgbClr val="353535"/>
                </a:solidFill>
                <a:latin typeface="Times New Roman"/>
                <a:ea typeface="SimSun"/>
                <a:cs typeface="Times New Roman"/>
              </a:rPr>
              <a:t>Validation of the film thickness</a:t>
            </a:r>
          </a:p>
        </p:txBody>
      </p:sp>
      <p:sp>
        <p:nvSpPr>
          <p:cNvPr id="26" name="TextBox 1"/>
          <p:cNvSpPr txBox="1"/>
          <p:nvPr/>
        </p:nvSpPr>
        <p:spPr>
          <a:xfrm>
            <a:off x="8641080" y="173736"/>
            <a:ext cx="2971800" cy="667512"/>
          </a:xfrm>
          <a:prstGeom prst="rect">
            <a:avLst/>
          </a:prstGeom>
          <a:noFill/>
        </p:spPr>
        <p:txBody>
          <a:bodyPr wrap="square" lIns="0" rIns="0" tIns="0" bIns="0">
            <a:spAutoFit/>
          </a:bodyPr>
          <a:lstStyle/>
          <a:p>
            <a:pPr>
              <a:lnSpc>
                <a:spcPct val="105000"/>
              </a:lnSpc>
              <a:spcAft>
                <a:spcPts val="0"/>
              </a:spcAft>
            </a:pPr>
            <a:r>
              <a:rPr sz="1050" b="0">
                <a:solidFill>
                  <a:srgbClr val="727272"/>
                </a:solidFill>
                <a:latin typeface="Times New Roman"/>
                <a:ea typeface="SimSun"/>
                <a:cs typeface="Times New Roman"/>
              </a:rPr>
              <a:t>Appendix</a:t>
            </a:r>
          </a:p>
        </p:txBody>
      </p:sp>
      <p:cxnSp>
        <p:nvCxnSpPr>
          <p:cNvPr id="27" name="Connector 1"/>
          <p:cNvCxnSpPr/>
          <p:nvPr/>
        </p:nvCxnSpPr>
        <p:spPr>
          <a:xfrm>
            <a:off x="530352" y="1078992"/>
            <a:ext cx="11100816" cy="0"/>
          </a:xfrm>
          <a:prstGeom prst="line">
            <a:avLst/>
          </a:prstGeom>
          <a:ln w="12700">
            <a:solidFill>
              <a:srgbClr val="A3203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96878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theme/theme1.xml><?xml version="1.0" encoding="utf-8"?>
<a:theme xmlns:a="http://schemas.openxmlformats.org/drawingml/2006/main" name="EBPS Template">
  <a:themeElements>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fontScheme name="EBPS Template">
      <a:majorFont>
        <a:latin typeface="Times New Roman"/>
        <a:ea typeface="SimSun"/>
        <a:cs typeface="Times New Roman"/>
      </a:majorFont>
      <a:minorFont>
        <a:latin typeface="Times New Roman"/>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lnDef>
  </a:objectDefaults>
  <a:extraClrSchemeLst>
    <a:extraClrScheme>
      <a:clrScheme name="EBPS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BPS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BPS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BPS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BPS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BPS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BPS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EBPS Template 8">
        <a:dk1>
          <a:srgbClr val="000000"/>
        </a:dk1>
        <a:lt1>
          <a:srgbClr val="FFFFFF"/>
        </a:lt1>
        <a:dk2>
          <a:srgbClr val="000000"/>
        </a:dk2>
        <a:lt2>
          <a:srgbClr val="FFFFFF"/>
        </a:lt2>
        <a:accent1>
          <a:srgbClr val="5E8AC5"/>
        </a:accent1>
        <a:accent2>
          <a:srgbClr val="3333CC"/>
        </a:accent2>
        <a:accent3>
          <a:srgbClr val="AAAAAA"/>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9">
        <a:dk1>
          <a:srgbClr val="000000"/>
        </a:dk1>
        <a:lt1>
          <a:srgbClr val="FFFFFF"/>
        </a:lt1>
        <a:dk2>
          <a:srgbClr val="5F5F5F"/>
        </a:dk2>
        <a:lt2>
          <a:srgbClr val="FFFFFF"/>
        </a:lt2>
        <a:accent1>
          <a:srgbClr val="5E8AC5"/>
        </a:accent1>
        <a:accent2>
          <a:srgbClr val="3333CC"/>
        </a:accent2>
        <a:accent3>
          <a:srgbClr val="B6B6B6"/>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AE2D7EAEC63C4EB9A6CCE48167703A" ma:contentTypeVersion="11" ma:contentTypeDescription="Create a new document." ma:contentTypeScope="" ma:versionID="70f15698264e66e04027c1909e0eec60">
  <xsd:schema xmlns:xsd="http://www.w3.org/2001/XMLSchema" xmlns:xs="http://www.w3.org/2001/XMLSchema" xmlns:p="http://schemas.microsoft.com/office/2006/metadata/properties" xmlns:ns3="78d7862b-e3f7-4a3f-b8de-7e8da3dc00f5" targetNamespace="http://schemas.microsoft.com/office/2006/metadata/properties" ma:root="true" ma:fieldsID="0ee9222f9d4052335be8fc4654c5d93b" ns3:_="">
    <xsd:import namespace="78d7862b-e3f7-4a3f-b8de-7e8da3dc00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d7862b-e3f7-4a3f-b8de-7e8da3dc00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D513AF-6D58-416C-9136-CD82D9B364A5}">
  <ds:schemaRefs>
    <ds:schemaRef ds:uri="http://purl.org/dc/terms/"/>
    <ds:schemaRef ds:uri="http://schemas.microsoft.com/office/infopath/2007/PartnerControls"/>
    <ds:schemaRef ds:uri="http://purl.org/dc/dcmitype/"/>
    <ds:schemaRef ds:uri="http://schemas.microsoft.com/office/2006/documentManagement/types"/>
    <ds:schemaRef ds:uri="78d7862b-e3f7-4a3f-b8de-7e8da3dc00f5"/>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D17963-6BF6-40F3-902C-7AE728A366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d7862b-e3f7-4a3f-b8de-7e8da3dc00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8F1482-78C7-4663-8EFF-B922E2EA20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Foundry</Template>
  <TotalTime>15686</TotalTime>
  <Words>6467</Words>
  <Application>Microsoft Office PowerPoint</Application>
  <PresentationFormat>宽屏</PresentationFormat>
  <Paragraphs>872</Paragraphs>
  <Slides>64</Slides>
  <Notes>61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7" baseType="lpstr">
      <vt:lpstr>Arial Unicode MS</vt:lpstr>
      <vt:lpstr>等线</vt:lpstr>
      <vt:lpstr>Arial</vt:lpstr>
      <vt:lpstr>Calibri</vt:lpstr>
      <vt:lpstr>Cambria Math</vt:lpstr>
      <vt:lpstr>Helvetica</vt:lpstr>
      <vt:lpstr>Tahoma</vt:lpstr>
      <vt:lpstr>Times</vt:lpstr>
      <vt:lpstr>Times New Roman</vt:lpstr>
      <vt:lpstr>Wingdings</vt:lpstr>
      <vt:lpstr>EBPS Template</vt:lpstr>
      <vt:lpstr>Visio</vt:lpstr>
      <vt:lpstr>Graph</vt:lpstr>
      <vt:lpstr>Development of new water spray strategies for improving the energy performance of indirect evaporative cooling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lpstr>PowerPoint 演示文稿</vt:lpstr>
      <vt:lpstr>PowerPoint 演示文稿</vt:lpstr>
      <vt:lpstr>PowerPoint 演示文稿</vt:lpstr>
      <vt:lpstr>PowerPoint 演示文稿</vt:lpstr>
    </vt:vector>
  </TitlesOfParts>
  <Company>Sharat Naik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Xiaochen MA</cp:lastModifiedBy>
  <cp:revision>380</cp:revision>
  <cp:lastPrinted>2020-11-02T12:22:48Z</cp:lastPrinted>
  <dcterms:created xsi:type="dcterms:W3CDTF">2000-03-11T19:50:14Z</dcterms:created>
  <dcterms:modified xsi:type="dcterms:W3CDTF">2026-10-26T00:20:06Z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0x010100DFAE2D7EAEC63C4EB9A6CCE48167703A</vt:lpwstr>
  </property>
</Properties>
</file>